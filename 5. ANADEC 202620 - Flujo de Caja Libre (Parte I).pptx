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32" r:id="rId1"/>
  </p:sldMasterIdLst>
  <p:notesMasterIdLst>
    <p:notesMasterId r:id="rId65"/>
  </p:notesMasterIdLst>
  <p:handoutMasterIdLst>
    <p:handoutMasterId r:id="rId66"/>
  </p:handoutMasterIdLst>
  <p:sldIdLst>
    <p:sldId id="398" r:id="rId2"/>
    <p:sldId id="354" r:id="rId3"/>
    <p:sldId id="638" r:id="rId4"/>
    <p:sldId id="321" r:id="rId5"/>
    <p:sldId id="322" r:id="rId6"/>
    <p:sldId id="323" r:id="rId7"/>
    <p:sldId id="556" r:id="rId8"/>
    <p:sldId id="637" r:id="rId9"/>
    <p:sldId id="557" r:id="rId10"/>
    <p:sldId id="273" r:id="rId11"/>
    <p:sldId id="558" r:id="rId12"/>
    <p:sldId id="559" r:id="rId13"/>
    <p:sldId id="650" r:id="rId14"/>
    <p:sldId id="286" r:id="rId15"/>
    <p:sldId id="560" r:id="rId16"/>
    <p:sldId id="562" r:id="rId17"/>
    <p:sldId id="651" r:id="rId18"/>
    <p:sldId id="567" r:id="rId19"/>
    <p:sldId id="564" r:id="rId20"/>
    <p:sldId id="570" r:id="rId21"/>
    <p:sldId id="576" r:id="rId22"/>
    <p:sldId id="652" r:id="rId23"/>
    <p:sldId id="593" r:id="rId24"/>
    <p:sldId id="581" r:id="rId25"/>
    <p:sldId id="577" r:id="rId26"/>
    <p:sldId id="583" r:id="rId27"/>
    <p:sldId id="584" r:id="rId28"/>
    <p:sldId id="585" r:id="rId29"/>
    <p:sldId id="594" r:id="rId30"/>
    <p:sldId id="587" r:id="rId31"/>
    <p:sldId id="595" r:id="rId32"/>
    <p:sldId id="644" r:id="rId33"/>
    <p:sldId id="597" r:id="rId34"/>
    <p:sldId id="645" r:id="rId35"/>
    <p:sldId id="592" r:id="rId36"/>
    <p:sldId id="287" r:id="rId37"/>
    <p:sldId id="653" r:id="rId38"/>
    <p:sldId id="599" r:id="rId39"/>
    <p:sldId id="639" r:id="rId40"/>
    <p:sldId id="600" r:id="rId41"/>
    <p:sldId id="601" r:id="rId42"/>
    <p:sldId id="602" r:id="rId43"/>
    <p:sldId id="603" r:id="rId44"/>
    <p:sldId id="604" r:id="rId45"/>
    <p:sldId id="642" r:id="rId46"/>
    <p:sldId id="605" r:id="rId47"/>
    <p:sldId id="646" r:id="rId48"/>
    <p:sldId id="647" r:id="rId49"/>
    <p:sldId id="608" r:id="rId50"/>
    <p:sldId id="641" r:id="rId51"/>
    <p:sldId id="626" r:id="rId52"/>
    <p:sldId id="648" r:id="rId53"/>
    <p:sldId id="649" r:id="rId54"/>
    <p:sldId id="628" r:id="rId55"/>
    <p:sldId id="643" r:id="rId56"/>
    <p:sldId id="614" r:id="rId57"/>
    <p:sldId id="615" r:id="rId58"/>
    <p:sldId id="618" r:id="rId59"/>
    <p:sldId id="619" r:id="rId60"/>
    <p:sldId id="629" r:id="rId61"/>
    <p:sldId id="630" r:id="rId62"/>
    <p:sldId id="632" r:id="rId63"/>
    <p:sldId id="403" r:id="rId6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stian Joseph Sanchez Oyola" initials="SJSO" lastIdx="1" clrIdx="0">
    <p:extLst>
      <p:ext uri="{19B8F6BF-5375-455C-9EA6-DF929625EA0E}">
        <p15:presenceInfo xmlns:p15="http://schemas.microsoft.com/office/powerpoint/2012/main" userId="Sebastian Joseph Sanchez Oyo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EEDA"/>
    <a:srgbClr val="F5DCCA"/>
    <a:srgbClr val="DFFFFF"/>
    <a:srgbClr val="D7A700"/>
    <a:srgbClr val="FF6600"/>
    <a:srgbClr val="155E26"/>
    <a:srgbClr val="FFF4E6"/>
    <a:srgbClr val="002F90"/>
    <a:srgbClr val="E8F8FA"/>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75091E-9CA0-4044-9E80-21E33B4D83E0}" v="1" dt="2026-09-08T18:23:03.256"/>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41"/>
    <p:restoredTop sz="94691"/>
  </p:normalViewPr>
  <p:slideViewPr>
    <p:cSldViewPr snapToGrid="0">
      <p:cViewPr varScale="1">
        <p:scale>
          <a:sx n="213" d="100"/>
          <a:sy n="213" d="100"/>
        </p:scale>
        <p:origin x="95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73"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igitte Castañeda Rodriguez" userId="5c201908-82f6-498c-9281-7eaa96fb17b4" providerId="ADAL" clId="{938F7A95-1314-5A0F-843E-287C4A35EE59}"/>
    <pc:docChg chg="addSld delSld">
      <pc:chgData name="Brigitte Castañeda Rodriguez" userId="5c201908-82f6-498c-9281-7eaa96fb17b4" providerId="ADAL" clId="{938F7A95-1314-5A0F-843E-287C4A35EE59}" dt="2026-09-08T18:23:27.368" v="1" actId="2696"/>
      <pc:docMkLst>
        <pc:docMk/>
      </pc:docMkLst>
      <pc:sldChg chg="new del">
        <pc:chgData name="Brigitte Castañeda Rodriguez" userId="5c201908-82f6-498c-9281-7eaa96fb17b4" providerId="ADAL" clId="{938F7A95-1314-5A0F-843E-287C4A35EE59}" dt="2026-09-08T18:23:27.368" v="1" actId="2696"/>
        <pc:sldMkLst>
          <pc:docMk/>
          <pc:sldMk cId="1000033617" sldId="65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7909239-6EB4-4F64-9166-01BA8CB152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a:extLst>
              <a:ext uri="{FF2B5EF4-FFF2-40B4-BE49-F238E27FC236}">
                <a16:creationId xmlns:a16="http://schemas.microsoft.com/office/drawing/2014/main" id="{C0D4A5E1-CC2B-4E68-93DE-1741C2D8FC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EBC9B1-33DC-462F-829C-1E37E99682B9}" type="datetimeFigureOut">
              <a:rPr lang="es-CO" smtClean="0"/>
              <a:t>8/09/26</a:t>
            </a:fld>
            <a:endParaRPr lang="es-CO"/>
          </a:p>
        </p:txBody>
      </p:sp>
      <p:sp>
        <p:nvSpPr>
          <p:cNvPr id="4" name="Marcador de pie de página 3">
            <a:extLst>
              <a:ext uri="{FF2B5EF4-FFF2-40B4-BE49-F238E27FC236}">
                <a16:creationId xmlns:a16="http://schemas.microsoft.com/office/drawing/2014/main" id="{36E42B93-8418-4C73-AFC5-AD8733D561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2BF5AB0F-F981-4352-8DA3-CAD02A4EF5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216A6-D02D-421D-81B5-58C62FCB13EF}" type="slidenum">
              <a:rPr lang="es-CO" smtClean="0"/>
              <a:t>‹#›</a:t>
            </a:fld>
            <a:endParaRPr lang="es-CO"/>
          </a:p>
        </p:txBody>
      </p:sp>
    </p:spTree>
    <p:extLst>
      <p:ext uri="{BB962C8B-B14F-4D97-AF65-F5344CB8AC3E}">
        <p14:creationId xmlns:p14="http://schemas.microsoft.com/office/powerpoint/2010/main" val="309424763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ED2E0-4743-4E03-93B8-12386FF60236}" type="datetimeFigureOut">
              <a:rPr lang="es-CO" smtClean="0"/>
              <a:t>8/09/26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B8670-524E-4520-AA44-FE672760293D}" type="slidenum">
              <a:rPr lang="es-CO" smtClean="0"/>
              <a:t>‹#›</a:t>
            </a:fld>
            <a:endParaRPr lang="es-CO"/>
          </a:p>
        </p:txBody>
      </p:sp>
    </p:spTree>
    <p:extLst>
      <p:ext uri="{BB962C8B-B14F-4D97-AF65-F5344CB8AC3E}">
        <p14:creationId xmlns:p14="http://schemas.microsoft.com/office/powerpoint/2010/main" val="304425867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94F50-B4FB-3B70-DECA-79DA5808D7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76BF9A-EB42-2852-8833-3712B06F2D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1C4C8B-5615-B5B6-687E-F37CF8377FBB}"/>
              </a:ext>
            </a:extLst>
          </p:cNvPr>
          <p:cNvSpPr>
            <a:spLocks noGrp="1"/>
          </p:cNvSpPr>
          <p:nvPr>
            <p:ph type="body" idx="1"/>
          </p:nvPr>
        </p:nvSpPr>
        <p:spPr/>
        <p:txBody>
          <a:bodyPr/>
          <a:lstStyle/>
          <a:p>
            <a:pPr marL="171450" indent="-171450">
              <a:buFont typeface="Arial"/>
              <a:buChar char="•"/>
            </a:pPr>
            <a:endParaRPr lang="en-US"/>
          </a:p>
        </p:txBody>
      </p:sp>
      <p:sp>
        <p:nvSpPr>
          <p:cNvPr id="4" name="Slide Number Placeholder 3">
            <a:extLst>
              <a:ext uri="{FF2B5EF4-FFF2-40B4-BE49-F238E27FC236}">
                <a16:creationId xmlns:a16="http://schemas.microsoft.com/office/drawing/2014/main" id="{CC2C2A73-C9E9-8F6B-7647-ADEFD8C7B084}"/>
              </a:ext>
            </a:extLst>
          </p:cNvPr>
          <p:cNvSpPr>
            <a:spLocks noGrp="1"/>
          </p:cNvSpPr>
          <p:nvPr>
            <p:ph type="sldNum" sz="quarter" idx="10"/>
          </p:nvPr>
        </p:nvSpPr>
        <p:spPr/>
        <p:txBody>
          <a:bodyPr/>
          <a:lstStyle/>
          <a:p>
            <a:fld id="{602C4E94-3DB4-C84A-925E-628A397D8BB4}" type="slidenum">
              <a:rPr lang="en-US" smtClean="0"/>
              <a:t>13</a:t>
            </a:fld>
            <a:endParaRPr lang="en-US"/>
          </a:p>
        </p:txBody>
      </p:sp>
    </p:spTree>
    <p:extLst>
      <p:ext uri="{BB962C8B-B14F-4D97-AF65-F5344CB8AC3E}">
        <p14:creationId xmlns:p14="http://schemas.microsoft.com/office/powerpoint/2010/main" val="35458983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14</a:t>
            </a:fld>
            <a:endParaRPr lang="en-US"/>
          </a:p>
        </p:txBody>
      </p:sp>
    </p:spTree>
    <p:extLst>
      <p:ext uri="{BB962C8B-B14F-4D97-AF65-F5344CB8AC3E}">
        <p14:creationId xmlns:p14="http://schemas.microsoft.com/office/powerpoint/2010/main" val="2216756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Tree>
    <p:extLst>
      <p:ext uri="{BB962C8B-B14F-4D97-AF65-F5344CB8AC3E}">
        <p14:creationId xmlns:p14="http://schemas.microsoft.com/office/powerpoint/2010/main" val="3438440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Tree>
    <p:extLst>
      <p:ext uri="{BB962C8B-B14F-4D97-AF65-F5344CB8AC3E}">
        <p14:creationId xmlns:p14="http://schemas.microsoft.com/office/powerpoint/2010/main" val="10332183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36</a:t>
            </a:fld>
            <a:endParaRPr lang="en-US"/>
          </a:p>
        </p:txBody>
      </p:sp>
    </p:spTree>
    <p:extLst>
      <p:ext uri="{BB962C8B-B14F-4D97-AF65-F5344CB8AC3E}">
        <p14:creationId xmlns:p14="http://schemas.microsoft.com/office/powerpoint/2010/main" val="2216756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O" dirty="0"/>
              <a:t>"Ahora les hago la pregunta clave de la clase: </a:t>
            </a:r>
            <a:r>
              <a:rPr lang="en-CO" i="1" dirty="0"/>
              <a:t>¿Podemos usar la Utilidad Neta del Estado de Resultados directamente como el Flujo de Caja para evaluar si el proyecto es rentable?</a:t>
            </a:r>
            <a:endParaRPr lang="es-ES_tradnl" dirty="0"/>
          </a:p>
        </p:txBody>
      </p:sp>
    </p:spTree>
    <p:extLst>
      <p:ext uri="{BB962C8B-B14F-4D97-AF65-F5344CB8AC3E}">
        <p14:creationId xmlns:p14="http://schemas.microsoft.com/office/powerpoint/2010/main" val="6567277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20997135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MX"/>
              <a:t>Haz clic para modificar el estilo de título del patrón</a:t>
            </a:r>
            <a:endParaRPr lang="en-US"/>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AFD365D-553E-437E-906F-693C2E6CE28D}" type="datetime1">
              <a:rPr lang="en-US" smtClean="0"/>
              <a:t>9/8/26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7467212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ES_tradnl"/>
          </a:p>
        </p:txBody>
      </p:sp>
      <p:sp>
        <p:nvSpPr>
          <p:cNvPr id="2"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Content Placeholder 2"/>
          <p:cNvSpPr>
            <a:spLocks noGrp="1"/>
          </p:cNvSpPr>
          <p:nvPr>
            <p:ph idx="1"/>
          </p:nvPr>
        </p:nvSpPr>
        <p:spPr>
          <a:xfrm>
            <a:off x="581192" y="2180496"/>
            <a:ext cx="11029615" cy="3678303"/>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A523018D-1CC0-468E-BE3B-579A148A0691}" type="datetime1">
              <a:rPr lang="en-US" smtClean="0"/>
              <a:t>9/8/26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808640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MX"/>
              <a:t>Haz clic para modificar el estilo de título del patrón</a:t>
            </a:r>
            <a:endParaRPr lang="en-US"/>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E7F702F-46BE-40AA-9A05-7C69E0403EE7}" type="datetime1">
              <a:rPr lang="en-US" smtClean="0"/>
              <a:t>9/8/26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839716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Date Placeholder 4"/>
          <p:cNvSpPr>
            <a:spLocks noGrp="1"/>
          </p:cNvSpPr>
          <p:nvPr>
            <p:ph type="dt" sz="half" idx="10"/>
          </p:nvPr>
        </p:nvSpPr>
        <p:spPr/>
        <p:txBody>
          <a:bodyPr/>
          <a:lstStyle/>
          <a:p>
            <a:fld id="{C51F0D08-E4F7-43DB-810A-34BADF6468F7}" type="datetime1">
              <a:rPr lang="en-US" smtClean="0"/>
              <a:t>9/8/26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796037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7" name="Date Placeholder 6"/>
          <p:cNvSpPr>
            <a:spLocks noGrp="1"/>
          </p:cNvSpPr>
          <p:nvPr>
            <p:ph type="dt" sz="half" idx="10"/>
          </p:nvPr>
        </p:nvSpPr>
        <p:spPr/>
        <p:txBody>
          <a:bodyPr/>
          <a:lstStyle/>
          <a:p>
            <a:fld id="{ADFE1DAC-EC09-4DEA-BBB4-788DDBA09515}" type="datetime1">
              <a:rPr lang="en-US" smtClean="0"/>
              <a:t>9/8/26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818604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MX"/>
              <a:t>Haz clic para modificar el estilo de título del patrón</a:t>
            </a:r>
            <a:endParaRPr lang="en-US"/>
          </a:p>
        </p:txBody>
      </p:sp>
      <p:sp>
        <p:nvSpPr>
          <p:cNvPr id="3" name="Date Placeholder 2"/>
          <p:cNvSpPr>
            <a:spLocks noGrp="1"/>
          </p:cNvSpPr>
          <p:nvPr>
            <p:ph type="dt" sz="half" idx="10"/>
          </p:nvPr>
        </p:nvSpPr>
        <p:spPr/>
        <p:txBody>
          <a:bodyPr/>
          <a:lstStyle/>
          <a:p>
            <a:fld id="{A9BFF582-E74C-4A8A-87B2-214B0CF47F99}" type="datetime1">
              <a:rPr lang="en-US" smtClean="0"/>
              <a:t>9/8/26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911111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FC8AEA-E303-4B9D-B167-0A45CB59E0C2}" type="datetime1">
              <a:rPr lang="en-US" smtClean="0"/>
              <a:t>9/8/26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5295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MX"/>
              <a:t>Haz clic para modificar el estilo de título del patrón</a:t>
            </a:r>
            <a:endParaRPr lang="en-US"/>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EBE2AAB-C9FD-4A72-8C62-A7C81FA189B4}" type="datetime1">
              <a:rPr lang="en-US" smtClean="0"/>
              <a:t>9/8/26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17207751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MX"/>
              <a:t>Haz clic para modificar el estilo de título del patrón</a:t>
            </a:r>
            <a:endParaRPr lang="en-US"/>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F4D9D4CC-5FC5-4711-9ACC-A7971700D612}" type="datetime1">
              <a:rPr lang="en-US" smtClean="0"/>
              <a:t>9/8/26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73386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5326DF8C-FC0D-41BB-BB53-20BBB44E4230}" type="datetime1">
              <a:rPr lang="en-US" smtClean="0"/>
              <a:t>9/8/26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397913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MX"/>
              <a:t>Haz clic para modificar el estilo de título del patrón</a:t>
            </a:r>
            <a:endParaRPr lang="en-US"/>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D119C4A7-5D51-4E42-9C0C-1785329211C5}" type="datetime1">
              <a:rPr lang="en-US" smtClean="0"/>
              <a:t>9/8/26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5048015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MX"/>
              <a:t>Haz clic para modificar el estilo de título del patrón</a:t>
            </a:r>
            <a:endParaRPr lang="en-US"/>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D8027E5A-4482-46C4-A2DC-45BEF00C1E0A}" type="datetime1">
              <a:rPr lang="en-US" smtClean="0"/>
              <a:t>9/8/26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989323100"/>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6.gi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37.jpeg"/></Relationships>
</file>

<file path=ppt/slides/_rels/slide63.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86108" y="1822352"/>
            <a:ext cx="10550396" cy="826833"/>
          </a:xfrm>
        </p:spPr>
        <p:txBody>
          <a:bodyPr>
            <a:noAutofit/>
          </a:bodyPr>
          <a:lstStyle/>
          <a:p>
            <a:r>
              <a:rPr lang="es-CO" sz="3200">
                <a:latin typeface="Century Gothic"/>
              </a:rPr>
              <a:t>LA CONSTRUCCIÓN DEL FLUJO DE CAJA LIBRE DE UN PROYECTO (</a:t>
            </a:r>
            <a:r>
              <a:rPr lang="es-CO" sz="3200">
                <a:solidFill>
                  <a:srgbClr val="D7A700"/>
                </a:solidFill>
                <a:latin typeface="Century Gothic"/>
              </a:rPr>
              <a:t>parte i</a:t>
            </a:r>
            <a:r>
              <a:rPr lang="es-CO" sz="3200">
                <a:latin typeface="Century Gothic"/>
              </a:rPr>
              <a:t>)</a:t>
            </a:r>
            <a:endParaRPr lang="es-CO" sz="3200">
              <a:latin typeface="Century Gothic" panose="020B0502020202020204" pitchFamily="34" charset="0"/>
            </a:endParaRPr>
          </a:p>
        </p:txBody>
      </p:sp>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89A2F7FD-DB75-B2F6-96F6-C7A714073C9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5" name="Gráfico 4" descr="Open book contorno">
            <a:extLst>
              <a:ext uri="{FF2B5EF4-FFF2-40B4-BE49-F238E27FC236}">
                <a16:creationId xmlns:a16="http://schemas.microsoft.com/office/drawing/2014/main" id="{3D62EEA9-E977-2B15-6DB5-97AE283992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34957" y="3342889"/>
            <a:ext cx="2695807" cy="2695807"/>
          </a:xfrm>
          <a:prstGeom prst="rect">
            <a:avLst/>
          </a:prstGeom>
        </p:spPr>
      </p:pic>
      <p:sp>
        <p:nvSpPr>
          <p:cNvPr id="7" name="CuadroTexto 6">
            <a:extLst>
              <a:ext uri="{FF2B5EF4-FFF2-40B4-BE49-F238E27FC236}">
                <a16:creationId xmlns:a16="http://schemas.microsoft.com/office/drawing/2014/main" id="{CDACCAD9-71B4-2FA0-1592-3F9D80605EB2}"/>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latin typeface="Century Gothic"/>
              </a:rPr>
              <a:t>													</a:t>
            </a:r>
            <a:endParaRPr lang="es-CO" sz="2000" b="1" u="sng">
              <a:solidFill>
                <a:schemeClr val="bg1"/>
              </a:solidFill>
              <a:latin typeface="Century Gothic"/>
            </a:endParaRPr>
          </a:p>
          <a:p>
            <a:endParaRPr lang="es-CO" sz="1000" b="1">
              <a:solidFill>
                <a:schemeClr val="bg1"/>
              </a:solidFill>
              <a:latin typeface="Century Gothic" panose="020B0502020202020204" pitchFamily="34" charset="0"/>
            </a:endParaRPr>
          </a:p>
          <a:p>
            <a:r>
              <a:rPr lang="es-CO" sz="2000" b="1">
                <a:solidFill>
                  <a:schemeClr val="bg1"/>
                </a:solidFill>
                <a:latin typeface="Century Gothic"/>
              </a:rPr>
              <a:t>DEPARTAMENTO DE INGENIERÍA INDUSTRIAL</a:t>
            </a:r>
          </a:p>
          <a:p>
            <a:r>
              <a:rPr lang="es-CO" sz="2000" b="1">
                <a:solidFill>
                  <a:schemeClr val="bg1"/>
                </a:solidFill>
                <a:latin typeface="Century Gothic"/>
              </a:rPr>
              <a:t>FACULTAD DE INGENIERÍA</a:t>
            </a:r>
          </a:p>
          <a:p>
            <a:r>
              <a:rPr lang="es-CO" sz="1000" b="1" u="sng">
                <a:solidFill>
                  <a:schemeClr val="bg1"/>
                </a:solidFill>
                <a:latin typeface="Century Gothic"/>
              </a:rPr>
              <a:t>													</a:t>
            </a:r>
          </a:p>
          <a:p>
            <a:endParaRPr lang="es-CO" sz="2000" b="1">
              <a:solidFill>
                <a:schemeClr val="bg1"/>
              </a:solidFill>
              <a:latin typeface="Century Gothic" panose="020B0502020202020204" pitchFamily="34" charset="0"/>
            </a:endParaRPr>
          </a:p>
          <a:p>
            <a:r>
              <a:rPr lang="es-CO" sz="2000" b="1">
                <a:solidFill>
                  <a:schemeClr val="bg1"/>
                </a:solidFill>
                <a:latin typeface="Century Gothic"/>
              </a:rPr>
              <a:t>Curso       </a:t>
            </a:r>
            <a:r>
              <a:rPr lang="es-CO" sz="2000">
                <a:solidFill>
                  <a:schemeClr val="bg1"/>
                </a:solidFill>
                <a:latin typeface="Century Gothic"/>
              </a:rPr>
              <a:t>ANÁLISIS DE DECISIONES DE INVERSIÓN</a:t>
            </a:r>
          </a:p>
          <a:p>
            <a:r>
              <a:rPr lang="es-CO" sz="2000" b="1">
                <a:solidFill>
                  <a:schemeClr val="bg1"/>
                </a:solidFill>
                <a:latin typeface="Century Gothic"/>
              </a:rPr>
              <a:t>Correo     </a:t>
            </a:r>
            <a:r>
              <a:rPr lang="es-CO" sz="2000">
                <a:solidFill>
                  <a:schemeClr val="bg1"/>
                </a:solidFill>
                <a:latin typeface="Century Gothic"/>
              </a:rPr>
              <a:t>cursoanadec@uniandes.edu.co</a:t>
            </a:r>
          </a:p>
          <a:p>
            <a:endParaRPr lang="es-CO" sz="2000" b="1">
              <a:solidFill>
                <a:schemeClr val="bg1"/>
              </a:solidFill>
              <a:latin typeface="Century Gothic" panose="020B0502020202020204" pitchFamily="34" charset="0"/>
            </a:endParaRPr>
          </a:p>
        </p:txBody>
      </p:sp>
    </p:spTree>
    <p:extLst>
      <p:ext uri="{BB962C8B-B14F-4D97-AF65-F5344CB8AC3E}">
        <p14:creationId xmlns:p14="http://schemas.microsoft.com/office/powerpoint/2010/main" val="1142674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416707"/>
            <a:ext cx="8540907" cy="3046988"/>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a:solidFill>
                  <a:schemeClr val="accent1"/>
                </a:solidFill>
                <a:latin typeface="Century Gothic"/>
                <a:cs typeface="Arial"/>
              </a:rPr>
              <a:t>Construcción del Flujo de Caja Libre.</a:t>
            </a:r>
            <a:endParaRPr lang="es-ES" sz="1600">
              <a:solidFill>
                <a:schemeClr val="accent1"/>
              </a:solidFill>
              <a:latin typeface="Century Gothic"/>
              <a:cs typeface="Arial"/>
            </a:endParaRPr>
          </a:p>
          <a:p>
            <a:pPr marL="342900" indent="-342900">
              <a:buClr>
                <a:srgbClr val="2C7C9F"/>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Principios de Contabilidad.</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Principio de Causación VS. Principio de Caja.</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Principio de Pertinencia.</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Gastos No Efectivos.</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Flujo de Caja Libre (FCL).</a:t>
            </a:r>
            <a:endParaRPr lang="es-CO" sz="1600">
              <a:solidFill>
                <a:schemeClr val="accent1"/>
              </a:solidFill>
              <a:latin typeface="Century Gothic" panose="020B0502020202020204" pitchFamily="34" charset="0"/>
              <a:cs typeface="Arial"/>
            </a:endParaRPr>
          </a:p>
          <a:p>
            <a:pPr>
              <a:buClr>
                <a:schemeClr val="accent3">
                  <a:lumMod val="75000"/>
                </a:schemeClr>
              </a:buClr>
            </a:pPr>
            <a:endParaRPr lang="es-CO" sz="160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0A804F0A-3A31-D532-1D1D-5395A053AC0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254971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416707"/>
            <a:ext cx="8540907" cy="3046988"/>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a:solidFill>
                  <a:schemeClr val="accent1"/>
                </a:solidFill>
                <a:latin typeface="Century Gothic"/>
                <a:cs typeface="Arial"/>
              </a:rPr>
              <a:t>Construcción del Flujo de Caja Libre.</a:t>
            </a:r>
            <a:endParaRPr lang="es-ES" sz="1600">
              <a:solidFill>
                <a:schemeClr val="accent1"/>
              </a:solidFill>
              <a:latin typeface="Century Gothic"/>
              <a:cs typeface="Arial"/>
            </a:endParaRPr>
          </a:p>
          <a:p>
            <a:pPr marL="342900" indent="-342900">
              <a:buClr>
                <a:srgbClr val="2C7C9F"/>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Principios de Contabilidad.</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 de Causación VS. Principio de Caja.</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 de Pertinencia.</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Gastos No Efectivos.</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Flujo de Caja Libre (FCL).</a:t>
            </a:r>
            <a:endParaRPr lang="es-CO" sz="1600">
              <a:solidFill>
                <a:schemeClr val="tx2">
                  <a:lumMod val="20000"/>
                  <a:lumOff val="80000"/>
                </a:schemeClr>
              </a:solidFill>
              <a:latin typeface="Century Gothic" panose="020B0502020202020204" pitchFamily="34" charset="0"/>
              <a:cs typeface="Arial"/>
            </a:endParaRPr>
          </a:p>
          <a:p>
            <a:pPr>
              <a:buClr>
                <a:schemeClr val="accent3">
                  <a:lumMod val="75000"/>
                </a:schemeClr>
              </a:buClr>
            </a:pPr>
            <a:endParaRPr lang="es-CO" sz="160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38947FF6-FDB9-EE78-466B-05090F4BD4E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7B79B7A6-E6EA-D254-F9CC-BB1BE6B2D65B}"/>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a:t>
            </a:fld>
            <a:endParaRPr lang="en-US" sz="2000" b="1">
              <a:latin typeface="Century Gothic" panose="020B0502020202020204" pitchFamily="34" charset="0"/>
            </a:endParaRPr>
          </a:p>
        </p:txBody>
      </p:sp>
    </p:spTree>
    <p:extLst>
      <p:ext uri="{BB962C8B-B14F-4D97-AF65-F5344CB8AC3E}">
        <p14:creationId xmlns:p14="http://schemas.microsoft.com/office/powerpoint/2010/main" val="918560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964890" y="1935803"/>
            <a:ext cx="8301567" cy="3670767"/>
          </a:xfrm>
        </p:spPr>
        <p:txBody>
          <a:bodyPr>
            <a:normAutofit/>
          </a:bodyPr>
          <a:lstStyle/>
          <a:p>
            <a:pPr marL="0" indent="0" algn="ctr">
              <a:buNone/>
            </a:pPr>
            <a:r>
              <a:rPr lang="es-ES" sz="2000" b="1">
                <a:solidFill>
                  <a:srgbClr val="C00000"/>
                </a:solidFill>
                <a:latin typeface="Century Gothic" panose="020B0502020202020204" pitchFamily="34" charset="0"/>
              </a:rPr>
              <a:t>¿Qué temas se han visto a lo largo del curso?</a:t>
            </a:r>
          </a:p>
          <a:p>
            <a:pPr marL="0" indent="0" algn="ctr">
              <a:buNone/>
            </a:pPr>
            <a:endParaRPr lang="es-ES" sz="2000" b="1">
              <a:solidFill>
                <a:schemeClr val="accent6"/>
              </a:solidFill>
              <a:latin typeface="Century Gothic" panose="020B0502020202020204" pitchFamily="34" charset="0"/>
            </a:endParaRPr>
          </a:p>
          <a:p>
            <a:r>
              <a:rPr lang="es-ES">
                <a:solidFill>
                  <a:schemeClr val="accent1"/>
                </a:solidFill>
                <a:latin typeface="Century Gothic" panose="020B0502020202020204" pitchFamily="34" charset="0"/>
              </a:rPr>
              <a:t>Valor del Dinero en el Tiempo (VDT)</a:t>
            </a:r>
          </a:p>
          <a:p>
            <a:r>
              <a:rPr lang="es-ES">
                <a:solidFill>
                  <a:schemeClr val="accent1"/>
                </a:solidFill>
                <a:latin typeface="Century Gothic" panose="020B0502020202020204" pitchFamily="34" charset="0"/>
              </a:rPr>
              <a:t>Costo de Oportunidad</a:t>
            </a:r>
          </a:p>
          <a:p>
            <a:r>
              <a:rPr lang="es-ES">
                <a:solidFill>
                  <a:schemeClr val="accent1"/>
                </a:solidFill>
                <a:latin typeface="Century Gothic" panose="020B0502020202020204" pitchFamily="34" charset="0"/>
              </a:rPr>
              <a:t>Concepto de Interés</a:t>
            </a:r>
          </a:p>
          <a:p>
            <a:r>
              <a:rPr lang="es-ES">
                <a:solidFill>
                  <a:schemeClr val="accent1"/>
                </a:solidFill>
                <a:latin typeface="Century Gothic" panose="020B0502020202020204" pitchFamily="34" charset="0"/>
              </a:rPr>
              <a:t>Relaciones de Equivalencia</a:t>
            </a:r>
          </a:p>
          <a:p>
            <a:r>
              <a:rPr lang="es-ES">
                <a:solidFill>
                  <a:schemeClr val="accent1"/>
                </a:solidFill>
                <a:latin typeface="Century Gothic" panose="020B0502020202020204" pitchFamily="34" charset="0"/>
              </a:rPr>
              <a:t>Indicadores de Bondad Financiera (IBF)</a:t>
            </a:r>
          </a:p>
        </p:txBody>
      </p:sp>
      <p:pic>
        <p:nvPicPr>
          <p:cNvPr id="1028" name="Picture 4" descr="Resultado de imagen para nerd dibujos animados"/>
          <p:cNvPicPr>
            <a:picLocks noChangeAspect="1" noChangeArrowheads="1"/>
          </p:cNvPicPr>
          <p:nvPr/>
        </p:nvPicPr>
        <p:blipFill>
          <a:blip r:embed="rId2">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7426902" y="2948536"/>
            <a:ext cx="2289854" cy="2798710"/>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E19F1C21-00CC-1C32-B3D9-02AB43BE435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18939CEC-D7B4-033D-8912-BF98BC4588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A1B9CE03-D06E-CC8C-7596-8573383904E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A8BC043E-3E26-3E2A-5F64-726F14C6712E}"/>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a:t>
            </a:fld>
            <a:endParaRPr lang="en-US" sz="2000" b="1">
              <a:latin typeface="Century Gothic" panose="020B0502020202020204" pitchFamily="34" charset="0"/>
            </a:endParaRPr>
          </a:p>
        </p:txBody>
      </p:sp>
    </p:spTree>
    <p:extLst>
      <p:ext uri="{BB962C8B-B14F-4D97-AF65-F5344CB8AC3E}">
        <p14:creationId xmlns:p14="http://schemas.microsoft.com/office/powerpoint/2010/main" val="4043471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Construcción del flujo de caja libre</a:t>
            </a:r>
          </a:p>
        </p:txBody>
      </p:sp>
      <p:sp>
        <p:nvSpPr>
          <p:cNvPr id="3" name="Marcador de contenido 2"/>
          <p:cNvSpPr>
            <a:spLocks noGrp="1"/>
          </p:cNvSpPr>
          <p:nvPr>
            <p:ph idx="1"/>
          </p:nvPr>
        </p:nvSpPr>
        <p:spPr>
          <a:xfrm>
            <a:off x="581193" y="1431496"/>
            <a:ext cx="11029615" cy="3678303"/>
          </a:xfrm>
        </p:spPr>
        <p:txBody>
          <a:bodyPr>
            <a:normAutofit/>
          </a:bodyPr>
          <a:lstStyle/>
          <a:p>
            <a:pPr marL="0" indent="0" algn="just">
              <a:buNone/>
            </a:pPr>
            <a:r>
              <a:rPr lang="es-ES" dirty="0">
                <a:solidFill>
                  <a:schemeClr val="accent1"/>
                </a:solidFill>
                <a:latin typeface="Century Gothic" panose="020B0502020202020204" pitchFamily="34" charset="0"/>
              </a:rPr>
              <a:t>Hasta este punto usted debe estar en capacidad de </a:t>
            </a:r>
            <a:r>
              <a:rPr lang="es-ES" b="1" dirty="0">
                <a:solidFill>
                  <a:srgbClr val="D7A700"/>
                </a:solidFill>
                <a:latin typeface="Century Gothic" panose="020B0502020202020204" pitchFamily="34" charset="0"/>
              </a:rPr>
              <a:t>evaluar la bondad financiera de un proyecto </a:t>
            </a:r>
            <a:r>
              <a:rPr lang="es-ES" dirty="0">
                <a:solidFill>
                  <a:schemeClr val="accent1"/>
                </a:solidFill>
                <a:latin typeface="Century Gothic" panose="020B0502020202020204" pitchFamily="34" charset="0"/>
              </a:rPr>
              <a:t>de inversión, siempre y cuando le suministren la información relacionada con:</a:t>
            </a:r>
          </a:p>
          <a:p>
            <a:pPr marL="0" indent="0" algn="just">
              <a:buNone/>
            </a:pPr>
            <a:endParaRPr lang="es-ES" dirty="0">
              <a:solidFill>
                <a:schemeClr val="accent1"/>
              </a:solidFill>
              <a:latin typeface="Century Gothic" panose="020B0502020202020204" pitchFamily="34" charset="0"/>
            </a:endParaRPr>
          </a:p>
          <a:p>
            <a:pPr lvl="1" algn="just"/>
            <a:r>
              <a:rPr lang="es-ES" sz="1800" dirty="0">
                <a:solidFill>
                  <a:schemeClr val="accent1"/>
                </a:solidFill>
                <a:latin typeface="Century Gothic" panose="020B0502020202020204" pitchFamily="34" charset="0"/>
              </a:rPr>
              <a:t>Flujos de caja que genera el proyecto. </a:t>
            </a:r>
          </a:p>
          <a:p>
            <a:pPr lvl="1" algn="just"/>
            <a:endParaRPr lang="es-ES" sz="1800" dirty="0">
              <a:solidFill>
                <a:schemeClr val="accent1"/>
              </a:solidFill>
              <a:latin typeface="Century Gothic" panose="020B0502020202020204" pitchFamily="34" charset="0"/>
            </a:endParaRPr>
          </a:p>
          <a:p>
            <a:pPr lvl="1" algn="just"/>
            <a:r>
              <a:rPr lang="es-ES" sz="1800" dirty="0">
                <a:solidFill>
                  <a:schemeClr val="accent1"/>
                </a:solidFill>
                <a:latin typeface="Century Gothic" panose="020B0502020202020204" pitchFamily="34" charset="0"/>
              </a:rPr>
              <a:t>Tasa de descuento o costo de oportunidad del inversionista.</a:t>
            </a:r>
          </a:p>
        </p:txBody>
      </p:sp>
      <p:cxnSp>
        <p:nvCxnSpPr>
          <p:cNvPr id="5" name="Straight Connector 5"/>
          <p:cNvCxnSpPr/>
          <p:nvPr/>
        </p:nvCxnSpPr>
        <p:spPr>
          <a:xfrm>
            <a:off x="3637769" y="5068344"/>
            <a:ext cx="3011871"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6"/>
          <p:cNvCxnSpPr/>
          <p:nvPr/>
        </p:nvCxnSpPr>
        <p:spPr>
          <a:xfrm>
            <a:off x="3637768" y="5068346"/>
            <a:ext cx="0" cy="1043463"/>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8" name="Rectangle 12"/>
          <p:cNvSpPr>
            <a:spLocks/>
          </p:cNvSpPr>
          <p:nvPr/>
        </p:nvSpPr>
        <p:spPr bwMode="auto">
          <a:xfrm flipH="1">
            <a:off x="3590654" y="4789265"/>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0</a:t>
            </a:r>
          </a:p>
        </p:txBody>
      </p:sp>
      <p:sp>
        <p:nvSpPr>
          <p:cNvPr id="9" name="Rectangle 13"/>
          <p:cNvSpPr>
            <a:spLocks/>
          </p:cNvSpPr>
          <p:nvPr/>
        </p:nvSpPr>
        <p:spPr bwMode="auto">
          <a:xfrm>
            <a:off x="4005791" y="5081173"/>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a:t>
            </a:r>
          </a:p>
        </p:txBody>
      </p:sp>
      <p:cxnSp>
        <p:nvCxnSpPr>
          <p:cNvPr id="11" name="Straight Arrow Connector 7"/>
          <p:cNvCxnSpPr/>
          <p:nvPr/>
        </p:nvCxnSpPr>
        <p:spPr>
          <a:xfrm flipV="1">
            <a:off x="4171251" y="4497539"/>
            <a:ext cx="0" cy="583524"/>
          </a:xfrm>
          <a:prstGeom prst="straightConnector1">
            <a:avLst/>
          </a:prstGeom>
          <a:ln w="38100">
            <a:solidFill>
              <a:srgbClr val="00B050"/>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7"/>
          <p:cNvCxnSpPr/>
          <p:nvPr/>
        </p:nvCxnSpPr>
        <p:spPr>
          <a:xfrm flipV="1">
            <a:off x="4785501" y="4491203"/>
            <a:ext cx="0" cy="589860"/>
          </a:xfrm>
          <a:prstGeom prst="straightConnector1">
            <a:avLst/>
          </a:prstGeom>
          <a:ln w="38100">
            <a:solidFill>
              <a:srgbClr val="00B050"/>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7"/>
          <p:cNvCxnSpPr/>
          <p:nvPr/>
        </p:nvCxnSpPr>
        <p:spPr>
          <a:xfrm flipV="1">
            <a:off x="5426081" y="4491203"/>
            <a:ext cx="0" cy="589860"/>
          </a:xfrm>
          <a:prstGeom prst="straightConnector1">
            <a:avLst/>
          </a:prstGeom>
          <a:ln w="38100">
            <a:solidFill>
              <a:srgbClr val="00B050"/>
            </a:solidFill>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7"/>
          <p:cNvCxnSpPr/>
          <p:nvPr/>
        </p:nvCxnSpPr>
        <p:spPr>
          <a:xfrm flipV="1">
            <a:off x="6649639" y="4486464"/>
            <a:ext cx="0" cy="581880"/>
          </a:xfrm>
          <a:prstGeom prst="straightConnector1">
            <a:avLst/>
          </a:prstGeom>
          <a:ln w="38100">
            <a:solidFill>
              <a:srgbClr val="00B050"/>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13"/>
          <p:cNvSpPr>
            <a:spLocks/>
          </p:cNvSpPr>
          <p:nvPr/>
        </p:nvSpPr>
        <p:spPr bwMode="auto">
          <a:xfrm>
            <a:off x="4616971" y="5068345"/>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2</a:t>
            </a:r>
          </a:p>
        </p:txBody>
      </p:sp>
      <p:sp>
        <p:nvSpPr>
          <p:cNvPr id="16" name="Rectangle 13"/>
          <p:cNvSpPr>
            <a:spLocks/>
          </p:cNvSpPr>
          <p:nvPr/>
        </p:nvSpPr>
        <p:spPr bwMode="auto">
          <a:xfrm>
            <a:off x="5244722" y="5081064"/>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3</a:t>
            </a:r>
          </a:p>
        </p:txBody>
      </p:sp>
      <p:sp>
        <p:nvSpPr>
          <p:cNvPr id="17" name="Rectangle 13"/>
          <p:cNvSpPr>
            <a:spLocks/>
          </p:cNvSpPr>
          <p:nvPr/>
        </p:nvSpPr>
        <p:spPr bwMode="auto">
          <a:xfrm>
            <a:off x="5879687" y="5068345"/>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a:t>
            </a:r>
          </a:p>
        </p:txBody>
      </p:sp>
      <p:sp>
        <p:nvSpPr>
          <p:cNvPr id="18" name="Rectangle 13"/>
          <p:cNvSpPr>
            <a:spLocks/>
          </p:cNvSpPr>
          <p:nvPr/>
        </p:nvSpPr>
        <p:spPr bwMode="auto">
          <a:xfrm>
            <a:off x="6481109" y="5070617"/>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n</a:t>
            </a:r>
          </a:p>
        </p:txBody>
      </p:sp>
      <p:sp>
        <p:nvSpPr>
          <p:cNvPr id="20" name="CuadroTexto 19"/>
          <p:cNvSpPr txBox="1"/>
          <p:nvPr/>
        </p:nvSpPr>
        <p:spPr>
          <a:xfrm>
            <a:off x="7227827" y="4935240"/>
            <a:ext cx="1244251" cy="369332"/>
          </a:xfrm>
          <a:prstGeom prst="rect">
            <a:avLst/>
          </a:prstGeom>
          <a:noFill/>
        </p:spPr>
        <p:txBody>
          <a:bodyPr wrap="none" rtlCol="0">
            <a:spAutoFit/>
          </a:bodyPr>
          <a:lstStyle/>
          <a:p>
            <a:r>
              <a:rPr lang="es-ES" b="1">
                <a:solidFill>
                  <a:schemeClr val="accent1"/>
                </a:solidFill>
                <a:latin typeface="Century Gothic" panose="020B0502020202020204" pitchFamily="34" charset="0"/>
              </a:rPr>
              <a:t>C.O.= X%</a:t>
            </a:r>
          </a:p>
        </p:txBody>
      </p:sp>
      <p:sp>
        <p:nvSpPr>
          <p:cNvPr id="21" name="CuadroTexto 20"/>
          <p:cNvSpPr txBox="1"/>
          <p:nvPr/>
        </p:nvSpPr>
        <p:spPr>
          <a:xfrm rot="2152249">
            <a:off x="4751873" y="4612074"/>
            <a:ext cx="873062" cy="1015663"/>
          </a:xfrm>
          <a:prstGeom prst="rect">
            <a:avLst/>
          </a:prstGeom>
          <a:noFill/>
        </p:spPr>
        <p:txBody>
          <a:bodyPr wrap="square" rtlCol="0">
            <a:spAutoFit/>
          </a:bodyPr>
          <a:lstStyle/>
          <a:p>
            <a:r>
              <a:rPr lang="es-ES" sz="6000" b="1">
                <a:solidFill>
                  <a:srgbClr val="C00000"/>
                </a:solidFill>
                <a:latin typeface="Arial"/>
                <a:cs typeface="Arial"/>
              </a:rPr>
              <a:t>?</a:t>
            </a:r>
          </a:p>
        </p:txBody>
      </p:sp>
      <p:sp>
        <p:nvSpPr>
          <p:cNvPr id="7" name="Rectángulo 6">
            <a:extLst>
              <a:ext uri="{FF2B5EF4-FFF2-40B4-BE49-F238E27FC236}">
                <a16:creationId xmlns:a16="http://schemas.microsoft.com/office/drawing/2014/main" id="{39A7B292-D3CC-311A-888F-AD1597C9462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5" name="Picture 2" descr="Clientes y aliados | Centro de Evaluación | Uniandes">
            <a:extLst>
              <a:ext uri="{FF2B5EF4-FFF2-40B4-BE49-F238E27FC236}">
                <a16:creationId xmlns:a16="http://schemas.microsoft.com/office/drawing/2014/main" id="{AB59226C-53F2-1487-0BC4-E51CF31B83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22" name="Imagen 21">
            <a:extLst>
              <a:ext uri="{FF2B5EF4-FFF2-40B4-BE49-F238E27FC236}">
                <a16:creationId xmlns:a16="http://schemas.microsoft.com/office/drawing/2014/main" id="{544F99A6-0D3B-3EE0-3B45-FF3BBE789F33}"/>
              </a:ext>
            </a:extLst>
          </p:cNvPr>
          <p:cNvPicPr>
            <a:picLocks noChangeAspect="1"/>
          </p:cNvPicPr>
          <p:nvPr/>
        </p:nvPicPr>
        <p:blipFill>
          <a:blip r:embed="rId3"/>
          <a:stretch>
            <a:fillRect/>
          </a:stretch>
        </p:blipFill>
        <p:spPr>
          <a:xfrm>
            <a:off x="9058088" y="3008465"/>
            <a:ext cx="1997296" cy="1477999"/>
          </a:xfrm>
          <a:prstGeom prst="rect">
            <a:avLst/>
          </a:prstGeom>
        </p:spPr>
      </p:pic>
      <p:sp>
        <p:nvSpPr>
          <p:cNvPr id="19" name="Rectángulo 18">
            <a:extLst>
              <a:ext uri="{FF2B5EF4-FFF2-40B4-BE49-F238E27FC236}">
                <a16:creationId xmlns:a16="http://schemas.microsoft.com/office/drawing/2014/main" id="{227535E7-F6CB-5948-8523-5470B4F9833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3" name="CuadroTexto 22">
            <a:extLst>
              <a:ext uri="{FF2B5EF4-FFF2-40B4-BE49-F238E27FC236}">
                <a16:creationId xmlns:a16="http://schemas.microsoft.com/office/drawing/2014/main" id="{E246BFF8-B629-2D41-E159-5CCE0B09F4ED}"/>
              </a:ext>
            </a:extLst>
          </p:cNvPr>
          <p:cNvSpPr txBox="1"/>
          <p:nvPr/>
        </p:nvSpPr>
        <p:spPr>
          <a:xfrm rot="2152249">
            <a:off x="7527217" y="4683623"/>
            <a:ext cx="873062" cy="1015663"/>
          </a:xfrm>
          <a:prstGeom prst="rect">
            <a:avLst/>
          </a:prstGeom>
          <a:noFill/>
        </p:spPr>
        <p:txBody>
          <a:bodyPr wrap="square" rtlCol="0">
            <a:spAutoFit/>
          </a:bodyPr>
          <a:lstStyle/>
          <a:p>
            <a:r>
              <a:rPr lang="es-ES" sz="6000" b="1">
                <a:solidFill>
                  <a:srgbClr val="C00000"/>
                </a:solidFill>
                <a:latin typeface="Arial"/>
                <a:cs typeface="Arial"/>
              </a:rPr>
              <a:t>?</a:t>
            </a:r>
          </a:p>
        </p:txBody>
      </p:sp>
      <p:sp>
        <p:nvSpPr>
          <p:cNvPr id="10" name="Marcador de número de diapositiva 3">
            <a:extLst>
              <a:ext uri="{FF2B5EF4-FFF2-40B4-BE49-F238E27FC236}">
                <a16:creationId xmlns:a16="http://schemas.microsoft.com/office/drawing/2014/main" id="{8775D824-8E22-0401-4B19-E7E372A59195}"/>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a:t>
            </a:fld>
            <a:endParaRPr lang="en-US" sz="2000" b="1">
              <a:latin typeface="Century Gothic" panose="020B0502020202020204" pitchFamily="34" charset="0"/>
            </a:endParaRPr>
          </a:p>
        </p:txBody>
      </p:sp>
    </p:spTree>
    <p:extLst>
      <p:ext uri="{BB962C8B-B14F-4D97-AF65-F5344CB8AC3E}">
        <p14:creationId xmlns:p14="http://schemas.microsoft.com/office/powerpoint/2010/main" val="1659082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5" grpId="0"/>
      <p:bldP spid="16" grpId="0"/>
      <p:bldP spid="17" grpId="0"/>
      <p:bldP spid="18" grpId="0"/>
      <p:bldP spid="20" grpId="0"/>
      <p:bldP spid="21" grpId="0"/>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Construcción del flujo de caja libre</a:t>
            </a:r>
          </a:p>
        </p:txBody>
      </p:sp>
      <p:sp>
        <p:nvSpPr>
          <p:cNvPr id="3" name="Marcador de contenido 2"/>
          <p:cNvSpPr>
            <a:spLocks noGrp="1"/>
          </p:cNvSpPr>
          <p:nvPr>
            <p:ph idx="1"/>
          </p:nvPr>
        </p:nvSpPr>
        <p:spPr>
          <a:xfrm>
            <a:off x="446043" y="1815371"/>
            <a:ext cx="11291330" cy="4140766"/>
          </a:xfrm>
        </p:spPr>
        <p:txBody>
          <a:bodyPr>
            <a:normAutofit/>
          </a:bodyPr>
          <a:lstStyle/>
          <a:p>
            <a:pPr algn="just"/>
            <a:r>
              <a:rPr lang="es-ES">
                <a:solidFill>
                  <a:schemeClr val="accent1"/>
                </a:solidFill>
                <a:latin typeface="Century Gothic" panose="020B0502020202020204" pitchFamily="34" charset="0"/>
              </a:rPr>
              <a:t>El objetivo que abordaremos ahora será el de construir los flujos de caja que genera un proyecto. </a:t>
            </a:r>
          </a:p>
          <a:p>
            <a:pPr algn="just"/>
            <a:endParaRPr lang="es-ES">
              <a:solidFill>
                <a:schemeClr val="accent1"/>
              </a:solidFill>
              <a:latin typeface="Century Gothic" panose="020B0502020202020204" pitchFamily="34" charset="0"/>
            </a:endParaRPr>
          </a:p>
          <a:p>
            <a:pPr algn="just"/>
            <a:r>
              <a:rPr lang="es-ES">
                <a:solidFill>
                  <a:schemeClr val="accent1"/>
                </a:solidFill>
                <a:latin typeface="Century Gothic" panose="020B0502020202020204" pitchFamily="34" charset="0"/>
              </a:rPr>
              <a:t>En finanzas y en economía se entiende por </a:t>
            </a:r>
            <a:r>
              <a:rPr lang="es-ES" b="1">
                <a:solidFill>
                  <a:schemeClr val="accent3">
                    <a:lumMod val="50000"/>
                  </a:schemeClr>
                </a:solidFill>
                <a:latin typeface="Century Gothic" panose="020B0502020202020204" pitchFamily="34" charset="0"/>
              </a:rPr>
              <a:t>flujo de caja </a:t>
            </a:r>
            <a:r>
              <a:rPr lang="es-ES">
                <a:solidFill>
                  <a:schemeClr val="accent1"/>
                </a:solidFill>
                <a:latin typeface="Century Gothic" panose="020B0502020202020204" pitchFamily="34" charset="0"/>
              </a:rPr>
              <a:t>a las entradas y salidas de caja o efectivo, en un periodo dado. </a:t>
            </a:r>
          </a:p>
          <a:p>
            <a:pPr algn="just"/>
            <a:endParaRPr lang="es-ES">
              <a:solidFill>
                <a:schemeClr val="accent1"/>
              </a:solidFill>
              <a:latin typeface="Century Gothic" panose="020B0502020202020204" pitchFamily="34" charset="0"/>
            </a:endParaRPr>
          </a:p>
          <a:p>
            <a:pPr marL="0" indent="0" algn="ctr">
              <a:buNone/>
            </a:pPr>
            <a:r>
              <a:rPr lang="es-ES" b="1">
                <a:solidFill>
                  <a:srgbClr val="D7A700"/>
                </a:solidFill>
                <a:latin typeface="Century Gothic" panose="020B0502020202020204" pitchFamily="34" charset="0"/>
              </a:rPr>
              <a:t>¿Dónde encuentro esta información?</a:t>
            </a:r>
          </a:p>
          <a:p>
            <a:pPr marL="0" indent="0" algn="ctr">
              <a:buNone/>
            </a:pPr>
            <a:endParaRPr lang="es-ES">
              <a:latin typeface="Century Gothic" panose="020B0502020202020204" pitchFamily="34" charset="0"/>
            </a:endParaRPr>
          </a:p>
          <a:p>
            <a:pPr algn="just"/>
            <a:r>
              <a:rPr lang="es-ES">
                <a:solidFill>
                  <a:schemeClr val="accent1"/>
                </a:solidFill>
                <a:latin typeface="Century Gothic" panose="020B0502020202020204" pitchFamily="34" charset="0"/>
              </a:rPr>
              <a:t>Lo que </a:t>
            </a:r>
            <a:r>
              <a:rPr lang="es-ES" b="1">
                <a:solidFill>
                  <a:schemeClr val="accent3">
                    <a:lumMod val="50000"/>
                  </a:schemeClr>
                </a:solidFill>
                <a:latin typeface="Century Gothic" panose="020B0502020202020204" pitchFamily="34" charset="0"/>
              </a:rPr>
              <a:t>antes usted tenía como insumo </a:t>
            </a:r>
            <a:r>
              <a:rPr lang="es-ES">
                <a:solidFill>
                  <a:schemeClr val="accent1"/>
                </a:solidFill>
                <a:latin typeface="Century Gothic" panose="020B0502020202020204" pitchFamily="34" charset="0"/>
              </a:rPr>
              <a:t>para valorar un proyecto</a:t>
            </a:r>
            <a:r>
              <a:rPr lang="es-ES" b="1">
                <a:solidFill>
                  <a:schemeClr val="accent1"/>
                </a:solidFill>
                <a:latin typeface="Century Gothic" panose="020B0502020202020204" pitchFamily="34" charset="0"/>
              </a:rPr>
              <a:t>, </a:t>
            </a:r>
            <a:r>
              <a:rPr lang="es-ES" b="1">
                <a:solidFill>
                  <a:schemeClr val="accent3">
                    <a:lumMod val="50000"/>
                  </a:schemeClr>
                </a:solidFill>
                <a:latin typeface="Century Gothic" panose="020B0502020202020204" pitchFamily="34" charset="0"/>
              </a:rPr>
              <a:t>es ahora una tarea adicional </a:t>
            </a:r>
            <a:r>
              <a:rPr lang="es-ES">
                <a:solidFill>
                  <a:schemeClr val="accent1"/>
                </a:solidFill>
                <a:latin typeface="Century Gothic" panose="020B0502020202020204" pitchFamily="34" charset="0"/>
              </a:rPr>
              <a:t>que se construye con </a:t>
            </a:r>
            <a:r>
              <a:rPr lang="es-ES" b="1">
                <a:solidFill>
                  <a:srgbClr val="C00000"/>
                </a:solidFill>
                <a:latin typeface="Century Gothic" panose="020B0502020202020204" pitchFamily="34" charset="0"/>
              </a:rPr>
              <a:t>información contable de la empresa</a:t>
            </a:r>
            <a:r>
              <a:rPr lang="es-ES">
                <a:latin typeface="Century Gothic" panose="020B0502020202020204" pitchFamily="34" charset="0"/>
              </a:rPr>
              <a:t>.</a:t>
            </a:r>
          </a:p>
        </p:txBody>
      </p:sp>
      <p:sp>
        <p:nvSpPr>
          <p:cNvPr id="9" name="Rectángulo 8">
            <a:extLst>
              <a:ext uri="{FF2B5EF4-FFF2-40B4-BE49-F238E27FC236}">
                <a16:creationId xmlns:a16="http://schemas.microsoft.com/office/drawing/2014/main" id="{43C9F453-E6D4-12B5-16E7-73043FD3F10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B350F97A-C8D3-5489-58C5-0FE88EF8C3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F0B3E486-D1AE-1F07-9AC5-ED0F97C9FDFC}"/>
              </a:ext>
            </a:extLst>
          </p:cNvPr>
          <p:cNvPicPr>
            <a:picLocks noChangeAspect="1"/>
          </p:cNvPicPr>
          <p:nvPr/>
        </p:nvPicPr>
        <p:blipFill>
          <a:blip r:embed="rId3"/>
          <a:stretch>
            <a:fillRect/>
          </a:stretch>
        </p:blipFill>
        <p:spPr>
          <a:xfrm>
            <a:off x="8795541" y="3515497"/>
            <a:ext cx="1816594" cy="1278924"/>
          </a:xfrm>
          <a:prstGeom prst="rect">
            <a:avLst/>
          </a:prstGeom>
        </p:spPr>
      </p:pic>
      <p:sp>
        <p:nvSpPr>
          <p:cNvPr id="5" name="Rectángulo 4">
            <a:extLst>
              <a:ext uri="{FF2B5EF4-FFF2-40B4-BE49-F238E27FC236}">
                <a16:creationId xmlns:a16="http://schemas.microsoft.com/office/drawing/2014/main" id="{0709D5D4-D6EA-D984-54F1-3CE96F4E588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0C83DA1F-E32C-E601-8EF1-5BFF551B775E}"/>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6</a:t>
            </a:fld>
            <a:endParaRPr lang="en-US" sz="2000" b="1">
              <a:latin typeface="Century Gothic" panose="020B0502020202020204" pitchFamily="34" charset="0"/>
            </a:endParaRPr>
          </a:p>
        </p:txBody>
      </p:sp>
    </p:spTree>
    <p:extLst>
      <p:ext uri="{BB962C8B-B14F-4D97-AF65-F5344CB8AC3E}">
        <p14:creationId xmlns:p14="http://schemas.microsoft.com/office/powerpoint/2010/main" val="1800136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46043" y="982470"/>
            <a:ext cx="9011714" cy="803647"/>
          </a:xfrm>
        </p:spPr>
        <p:txBody>
          <a:bodyPr/>
          <a:lstStyle/>
          <a:p>
            <a:r>
              <a:rPr lang="es-ES_tradnl" sz="3375">
                <a:latin typeface="Century Gothic" panose="020B0502020202020204" pitchFamily="34" charset="0"/>
              </a:rPr>
              <a:t>¿Qué es la contabilidad?</a:t>
            </a:r>
          </a:p>
        </p:txBody>
      </p:sp>
      <p:sp>
        <p:nvSpPr>
          <p:cNvPr id="320" name="Shape 320"/>
          <p:cNvSpPr>
            <a:spLocks noGrp="1"/>
          </p:cNvSpPr>
          <p:nvPr>
            <p:ph idx="1"/>
          </p:nvPr>
        </p:nvSpPr>
        <p:spPr>
          <a:xfrm>
            <a:off x="775810" y="2612482"/>
            <a:ext cx="10386507" cy="1952745"/>
          </a:xfrm>
          <a:prstGeom prst="rect">
            <a:avLst/>
          </a:prstGeom>
        </p:spPr>
        <p:txBody>
          <a:bodyPr anchor="t">
            <a:noAutofit/>
          </a:bodyPr>
          <a:lstStyle/>
          <a:p>
            <a:pPr marL="0" indent="0" algn="ctr">
              <a:buNone/>
              <a:defRPr sz="1800">
                <a:solidFill>
                  <a:srgbClr val="000000"/>
                </a:solidFill>
              </a:defRPr>
            </a:pPr>
            <a:r>
              <a:rPr>
                <a:solidFill>
                  <a:schemeClr val="accent1"/>
                </a:solidFill>
                <a:latin typeface="Century Gothic" panose="020B0502020202020204" pitchFamily="34" charset="0"/>
              </a:rPr>
              <a:t>“La contabilidad es un proceso que permite recopilar, registrar, analizar e interpretar las diversas transacciones contables - financieras suscitadas durante un periodo, con la finalidad de proporcionar información que facilite las funciones de </a:t>
            </a:r>
            <a:r>
              <a:rPr b="1">
                <a:solidFill>
                  <a:srgbClr val="C00000"/>
                </a:solidFill>
                <a:latin typeface="Century Gothic" panose="020B0502020202020204" pitchFamily="34" charset="0"/>
              </a:rPr>
              <a:t>planeación</a:t>
            </a:r>
            <a:r>
              <a:rPr>
                <a:solidFill>
                  <a:schemeClr val="accent1"/>
                </a:solidFill>
                <a:latin typeface="Century Gothic" panose="020B0502020202020204" pitchFamily="34" charset="0"/>
              </a:rPr>
              <a:t>,</a:t>
            </a:r>
            <a:r>
              <a:rPr b="1">
                <a:solidFill>
                  <a:srgbClr val="C00000"/>
                </a:solidFill>
                <a:latin typeface="Century Gothic" panose="020B0502020202020204" pitchFamily="34" charset="0"/>
              </a:rPr>
              <a:t> control </a:t>
            </a:r>
            <a:r>
              <a:rPr>
                <a:solidFill>
                  <a:schemeClr val="accent1"/>
                </a:solidFill>
                <a:latin typeface="Century Gothic" panose="020B0502020202020204" pitchFamily="34" charset="0"/>
              </a:rPr>
              <a:t>y</a:t>
            </a:r>
            <a:r>
              <a:rPr b="1">
                <a:solidFill>
                  <a:srgbClr val="C00000"/>
                </a:solidFill>
                <a:latin typeface="Century Gothic" panose="020B0502020202020204" pitchFamily="34" charset="0"/>
              </a:rPr>
              <a:t> toma de decision</a:t>
            </a:r>
            <a:r>
              <a:rPr lang="es-ES" b="1">
                <a:solidFill>
                  <a:srgbClr val="C00000"/>
                </a:solidFill>
                <a:latin typeface="Century Gothic" panose="020B0502020202020204" pitchFamily="34" charset="0"/>
              </a:rPr>
              <a:t>es</a:t>
            </a:r>
            <a:r>
              <a:rPr b="1">
                <a:solidFill>
                  <a:srgbClr val="C00000"/>
                </a:solidFill>
                <a:latin typeface="Century Gothic" panose="020B0502020202020204" pitchFamily="34" charset="0"/>
              </a:rPr>
              <a:t>.</a:t>
            </a:r>
            <a:r>
              <a:rPr>
                <a:solidFill>
                  <a:srgbClr val="606060"/>
                </a:solidFill>
                <a:latin typeface="Century Gothic" panose="020B0502020202020204" pitchFamily="34" charset="0"/>
              </a:rPr>
              <a:t>”</a:t>
            </a:r>
            <a:endParaRPr lang="es-ES">
              <a:solidFill>
                <a:srgbClr val="606060"/>
              </a:solidFill>
              <a:latin typeface="Century Gothic" panose="020B0502020202020204" pitchFamily="34" charset="0"/>
            </a:endParaRPr>
          </a:p>
          <a:p>
            <a:pPr marL="0" indent="0" algn="ctr">
              <a:buNone/>
              <a:defRPr sz="1800">
                <a:solidFill>
                  <a:srgbClr val="000000"/>
                </a:solidFill>
              </a:defRPr>
            </a:pPr>
            <a:endParaRPr lang="es-ES_tradnl">
              <a:solidFill>
                <a:srgbClr val="606060"/>
              </a:solidFill>
              <a:latin typeface="Century Gothic" panose="020B0502020202020204" pitchFamily="34" charset="0"/>
            </a:endParaRPr>
          </a:p>
          <a:p>
            <a:pPr marL="0" indent="0" algn="ctr">
              <a:buNone/>
              <a:defRPr sz="1800">
                <a:solidFill>
                  <a:srgbClr val="000000"/>
                </a:solidFill>
              </a:defRPr>
            </a:pPr>
            <a:endParaRPr>
              <a:solidFill>
                <a:srgbClr val="606060"/>
              </a:solidFill>
              <a:latin typeface="Century Gothic" panose="020B0502020202020204" pitchFamily="34" charset="0"/>
            </a:endParaRPr>
          </a:p>
          <a:p>
            <a:pPr>
              <a:buClr>
                <a:schemeClr val="accent3">
                  <a:lumMod val="75000"/>
                </a:schemeClr>
              </a:buClr>
              <a:buSzPct val="125000"/>
              <a:buFont typeface="Wingdings" panose="05000000000000000000" pitchFamily="2" charset="2"/>
              <a:buChar char="§"/>
              <a:defRPr sz="1800">
                <a:solidFill>
                  <a:srgbClr val="000000"/>
                </a:solidFill>
              </a:defRPr>
            </a:pPr>
            <a:r>
              <a:rPr>
                <a:solidFill>
                  <a:schemeClr val="accent1"/>
                </a:solidFill>
                <a:latin typeface="Century Gothic" panose="020B0502020202020204" pitchFamily="34" charset="0"/>
              </a:rPr>
              <a:t>Es un sistema de información.</a:t>
            </a:r>
          </a:p>
          <a:p>
            <a:pPr>
              <a:buClr>
                <a:schemeClr val="accent3">
                  <a:lumMod val="75000"/>
                </a:schemeClr>
              </a:buClr>
              <a:buSzPct val="125000"/>
              <a:buFont typeface="Wingdings" panose="05000000000000000000" pitchFamily="2" charset="2"/>
              <a:buChar char="§"/>
              <a:defRPr sz="1800">
                <a:solidFill>
                  <a:srgbClr val="000000"/>
                </a:solidFill>
              </a:defRPr>
            </a:pPr>
            <a:r>
              <a:rPr>
                <a:solidFill>
                  <a:schemeClr val="accent1"/>
                </a:solidFill>
                <a:latin typeface="Century Gothic" panose="020B0502020202020204" pitchFamily="34" charset="0"/>
              </a:rPr>
              <a:t>Almacena de forma metódica y organizada las transacciones financieras.</a:t>
            </a:r>
          </a:p>
          <a:p>
            <a:pPr>
              <a:buClr>
                <a:schemeClr val="accent3">
                  <a:lumMod val="75000"/>
                </a:schemeClr>
              </a:buClr>
              <a:buSzPct val="125000"/>
              <a:buFont typeface="Wingdings" panose="05000000000000000000" pitchFamily="2" charset="2"/>
              <a:buChar char="§"/>
              <a:defRPr sz="1800">
                <a:solidFill>
                  <a:srgbClr val="000000"/>
                </a:solidFill>
              </a:defRPr>
            </a:pPr>
            <a:r>
              <a:rPr>
                <a:solidFill>
                  <a:schemeClr val="accent1"/>
                </a:solidFill>
                <a:latin typeface="Century Gothic" panose="020B0502020202020204" pitchFamily="34" charset="0"/>
              </a:rPr>
              <a:t>Permite analizar y obtener conclusiones que soportan la toma de decisiones.</a:t>
            </a:r>
          </a:p>
        </p:txBody>
      </p:sp>
      <p:sp>
        <p:nvSpPr>
          <p:cNvPr id="2" name="Rectángulo 1">
            <a:extLst>
              <a:ext uri="{FF2B5EF4-FFF2-40B4-BE49-F238E27FC236}">
                <a16:creationId xmlns:a16="http://schemas.microsoft.com/office/drawing/2014/main" id="{33CAFB54-F902-FC5F-D441-5ACF62BF32D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A26275A0-459E-8A14-DE61-B93F7B2933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n 8">
            <a:extLst>
              <a:ext uri="{FF2B5EF4-FFF2-40B4-BE49-F238E27FC236}">
                <a16:creationId xmlns:a16="http://schemas.microsoft.com/office/drawing/2014/main" id="{88167BBB-5439-6AD4-6C3D-9419BFC00502}"/>
              </a:ext>
            </a:extLst>
          </p:cNvPr>
          <p:cNvPicPr>
            <a:picLocks noChangeAspect="1"/>
          </p:cNvPicPr>
          <p:nvPr/>
        </p:nvPicPr>
        <p:blipFill>
          <a:blip r:embed="rId3"/>
          <a:stretch>
            <a:fillRect/>
          </a:stretch>
        </p:blipFill>
        <p:spPr>
          <a:xfrm>
            <a:off x="9370597" y="3757003"/>
            <a:ext cx="1791720" cy="1261412"/>
          </a:xfrm>
          <a:prstGeom prst="rect">
            <a:avLst/>
          </a:prstGeom>
        </p:spPr>
      </p:pic>
      <p:sp>
        <p:nvSpPr>
          <p:cNvPr id="7" name="Rectángulo 6">
            <a:extLst>
              <a:ext uri="{FF2B5EF4-FFF2-40B4-BE49-F238E27FC236}">
                <a16:creationId xmlns:a16="http://schemas.microsoft.com/office/drawing/2014/main" id="{6FC79FCE-EC58-0BD8-D0A7-B28FE79DFE5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CD496D49-DD93-456D-8A13-B7D028382A9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7</a:t>
            </a:fld>
            <a:endParaRPr lang="en-US" sz="2000" b="1">
              <a:latin typeface="Century Gothic" panose="020B0502020202020204" pitchFamily="34" charset="0"/>
            </a:endParaRPr>
          </a:p>
        </p:txBody>
      </p:sp>
    </p:spTree>
    <p:extLst>
      <p:ext uri="{BB962C8B-B14F-4D97-AF65-F5344CB8AC3E}">
        <p14:creationId xmlns:p14="http://schemas.microsoft.com/office/powerpoint/2010/main" val="1825472269"/>
      </p:ext>
    </p:extLst>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20">
                                            <p:txEl>
                                              <p:pRg st="3" end="3"/>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320">
                                            <p:txEl>
                                              <p:pRg st="4" end="4"/>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iterate>
                                    <p:tmAbs val="0"/>
                                  </p:iterate>
                                  <p:childTnLst>
                                    <p:set>
                                      <p:cBhvr>
                                        <p:cTn id="12" fill="hold"/>
                                        <p:tgtEl>
                                          <p:spTgt spid="32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 grpId="0" uiExpand="1" build="p" bldLvl="5" advAuto="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416707"/>
            <a:ext cx="8540907" cy="3046988"/>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a:solidFill>
                  <a:schemeClr val="tx2">
                    <a:lumMod val="20000"/>
                    <a:lumOff val="80000"/>
                  </a:schemeClr>
                </a:solidFill>
                <a:latin typeface="Century Gothic"/>
                <a:cs typeface="Arial"/>
              </a:rPr>
              <a:t>Construcción del Flujo de Caja Libre.</a:t>
            </a:r>
            <a:endParaRPr lang="es-ES" sz="1600">
              <a:solidFill>
                <a:schemeClr val="tx2">
                  <a:lumMod val="20000"/>
                  <a:lumOff val="80000"/>
                </a:schemeClr>
              </a:solidFill>
              <a:latin typeface="Century Gothic"/>
              <a:cs typeface="Arial"/>
            </a:endParaRPr>
          </a:p>
          <a:p>
            <a:pPr marL="342900" indent="-342900">
              <a:buClr>
                <a:srgbClr val="2C7C9F"/>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Principios de Contabilidad.</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 de Causación VS. Principio de Caja.</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 de Pertinencia.</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Gastos No Efectivos.</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Flujo de Caja Libre (FCL).</a:t>
            </a:r>
            <a:endParaRPr lang="es-CO" sz="1600">
              <a:solidFill>
                <a:schemeClr val="tx2">
                  <a:lumMod val="20000"/>
                  <a:lumOff val="80000"/>
                </a:schemeClr>
              </a:solidFill>
              <a:latin typeface="Century Gothic" panose="020B0502020202020204" pitchFamily="34" charset="0"/>
              <a:cs typeface="Arial"/>
            </a:endParaRPr>
          </a:p>
          <a:p>
            <a:pPr>
              <a:buClr>
                <a:schemeClr val="accent3">
                  <a:lumMod val="75000"/>
                </a:schemeClr>
              </a:buClr>
            </a:pPr>
            <a:endParaRPr lang="es-CO" sz="160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0A8C51BB-4141-122C-FBEE-FF50DE5548D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363B7735-4695-6717-5B52-082522313085}"/>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8</a:t>
            </a:fld>
            <a:endParaRPr lang="en-US" sz="2000" b="1">
              <a:latin typeface="Century Gothic" panose="020B0502020202020204" pitchFamily="34" charset="0"/>
            </a:endParaRPr>
          </a:p>
        </p:txBody>
      </p:sp>
    </p:spTree>
    <p:extLst>
      <p:ext uri="{BB962C8B-B14F-4D97-AF65-F5344CB8AC3E}">
        <p14:creationId xmlns:p14="http://schemas.microsoft.com/office/powerpoint/2010/main" val="1087591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 name="Shape 330"/>
          <p:cNvSpPr/>
          <p:nvPr/>
        </p:nvSpPr>
        <p:spPr>
          <a:xfrm>
            <a:off x="446042" y="1989072"/>
            <a:ext cx="11164767" cy="775744"/>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normAutofit/>
          </a:bodyPr>
          <a:lstStyle>
            <a:lvl1pPr>
              <a:spcBef>
                <a:spcPts val="4200"/>
              </a:spcBef>
              <a:defRPr sz="3000"/>
            </a:lvl1pPr>
          </a:lstStyle>
          <a:p>
            <a:pPr lvl="0" algn="ctr">
              <a:defRPr sz="1800">
                <a:solidFill>
                  <a:srgbClr val="000000"/>
                </a:solidFill>
              </a:defRPr>
            </a:pPr>
            <a:r>
              <a:rPr lang="es-ES_tradnl" sz="2000" b="1">
                <a:solidFill>
                  <a:srgbClr val="C00000"/>
                </a:solidFill>
                <a:latin typeface="Century Gothic" panose="020B0502020202020204" pitchFamily="34" charset="0"/>
              </a:rPr>
              <a:t>Los Estados Financieros (E.E.F.F.)</a:t>
            </a:r>
            <a:endParaRPr sz="2000" b="1">
              <a:solidFill>
                <a:srgbClr val="C00000"/>
              </a:solidFill>
              <a:latin typeface="Century Gothic" panose="020B0502020202020204" pitchFamily="34" charset="0"/>
            </a:endParaRPr>
          </a:p>
        </p:txBody>
      </p:sp>
      <p:sp>
        <p:nvSpPr>
          <p:cNvPr id="331" name="Shape 331"/>
          <p:cNvSpPr/>
          <p:nvPr/>
        </p:nvSpPr>
        <p:spPr>
          <a:xfrm>
            <a:off x="1415434" y="2807713"/>
            <a:ext cx="8429368" cy="3330986"/>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normAutofit/>
          </a:bodyPr>
          <a:lstStyle/>
          <a:p>
            <a:pPr marL="361676" indent="-361676">
              <a:spcBef>
                <a:spcPts val="2953"/>
              </a:spcBef>
              <a:buClr>
                <a:schemeClr val="accent3">
                  <a:lumMod val="75000"/>
                </a:schemeClr>
              </a:buClr>
              <a:buSzPct val="125000"/>
              <a:buFont typeface="+mj-lt"/>
              <a:buAutoNum type="arabicPeriod"/>
              <a:defRPr sz="1800">
                <a:solidFill>
                  <a:srgbClr val="000000"/>
                </a:solidFill>
              </a:defRPr>
            </a:pPr>
            <a:r>
              <a:rPr dirty="0">
                <a:solidFill>
                  <a:schemeClr val="accent1"/>
                </a:solidFill>
                <a:latin typeface="Century Gothic" panose="020B0502020202020204" pitchFamily="34" charset="0"/>
              </a:rPr>
              <a:t>El </a:t>
            </a:r>
            <a:r>
              <a:rPr lang="es-CO" dirty="0">
                <a:solidFill>
                  <a:schemeClr val="accent1"/>
                </a:solidFill>
                <a:latin typeface="Century Gothic" panose="020B0502020202020204" pitchFamily="34" charset="0"/>
              </a:rPr>
              <a:t>Estado de Situación Financiera</a:t>
            </a:r>
            <a:r>
              <a:rPr dirty="0">
                <a:solidFill>
                  <a:schemeClr val="accent1"/>
                </a:solidFill>
                <a:latin typeface="Century Gothic" panose="020B0502020202020204" pitchFamily="34" charset="0"/>
              </a:rPr>
              <a:t> (Balance </a:t>
            </a:r>
            <a:r>
              <a:rPr lang="es-CO" dirty="0">
                <a:solidFill>
                  <a:schemeClr val="accent1"/>
                </a:solidFill>
                <a:latin typeface="Century Gothic" panose="020B0502020202020204" pitchFamily="34" charset="0"/>
              </a:rPr>
              <a:t>General</a:t>
            </a:r>
            <a:r>
              <a:rPr dirty="0">
                <a:solidFill>
                  <a:schemeClr val="accent1"/>
                </a:solidFill>
                <a:latin typeface="Century Gothic" panose="020B0502020202020204" pitchFamily="34" charset="0"/>
              </a:rPr>
              <a:t>)</a:t>
            </a:r>
          </a:p>
          <a:p>
            <a:pPr marL="361676" indent="-361676">
              <a:spcBef>
                <a:spcPts val="2953"/>
              </a:spcBef>
              <a:buClr>
                <a:schemeClr val="accent3">
                  <a:lumMod val="75000"/>
                </a:schemeClr>
              </a:buClr>
              <a:buSzPct val="125000"/>
              <a:buFont typeface="+mj-lt"/>
              <a:buAutoNum type="arabicPeriod"/>
              <a:defRPr sz="1800">
                <a:solidFill>
                  <a:srgbClr val="000000"/>
                </a:solidFill>
              </a:defRPr>
            </a:pPr>
            <a:r>
              <a:rPr dirty="0">
                <a:solidFill>
                  <a:schemeClr val="accent1"/>
                </a:solidFill>
                <a:latin typeface="Century Gothic" panose="020B0502020202020204" pitchFamily="34" charset="0"/>
              </a:rPr>
              <a:t>El Estado de </a:t>
            </a:r>
            <a:r>
              <a:rPr dirty="0" err="1">
                <a:solidFill>
                  <a:schemeClr val="accent1"/>
                </a:solidFill>
                <a:latin typeface="Century Gothic" panose="020B0502020202020204" pitchFamily="34" charset="0"/>
              </a:rPr>
              <a:t>Resultados</a:t>
            </a:r>
            <a:r>
              <a:rPr dirty="0">
                <a:solidFill>
                  <a:schemeClr val="accent1"/>
                </a:solidFill>
                <a:latin typeface="Century Gothic" panose="020B0502020202020204" pitchFamily="34" charset="0"/>
              </a:rPr>
              <a:t> - P&amp;G (</a:t>
            </a:r>
            <a:r>
              <a:rPr lang="es-CO" dirty="0">
                <a:solidFill>
                  <a:schemeClr val="accent1"/>
                </a:solidFill>
                <a:latin typeface="Century Gothic" panose="020B0502020202020204" pitchFamily="34" charset="0"/>
              </a:rPr>
              <a:t>Estado de Pérdidas y Ganancias</a:t>
            </a:r>
            <a:r>
              <a:rPr dirty="0">
                <a:solidFill>
                  <a:schemeClr val="accent1"/>
                </a:solidFill>
                <a:latin typeface="Century Gothic" panose="020B0502020202020204" pitchFamily="34" charset="0"/>
              </a:rPr>
              <a:t>)</a:t>
            </a:r>
          </a:p>
          <a:p>
            <a:pPr marL="361676" indent="-361676">
              <a:spcBef>
                <a:spcPts val="2953"/>
              </a:spcBef>
              <a:buClr>
                <a:schemeClr val="accent3">
                  <a:lumMod val="75000"/>
                </a:schemeClr>
              </a:buClr>
              <a:buSzPct val="125000"/>
              <a:buFont typeface="+mj-lt"/>
              <a:buAutoNum type="arabicPeriod"/>
              <a:defRPr sz="1800">
                <a:solidFill>
                  <a:srgbClr val="000000"/>
                </a:solidFill>
              </a:defRPr>
            </a:pPr>
            <a:r>
              <a:rPr dirty="0">
                <a:solidFill>
                  <a:schemeClr val="accent1"/>
                </a:solidFill>
                <a:latin typeface="Century Gothic" panose="020B0502020202020204" pitchFamily="34" charset="0"/>
              </a:rPr>
              <a:t>Estado de </a:t>
            </a:r>
            <a:r>
              <a:rPr lang="es-ES" dirty="0">
                <a:solidFill>
                  <a:schemeClr val="accent1"/>
                </a:solidFill>
                <a:latin typeface="Century Gothic" panose="020B0502020202020204" pitchFamily="34" charset="0"/>
              </a:rPr>
              <a:t>C</a:t>
            </a:r>
            <a:r>
              <a:rPr dirty="0" err="1">
                <a:solidFill>
                  <a:schemeClr val="accent1"/>
                </a:solidFill>
                <a:latin typeface="Century Gothic" panose="020B0502020202020204" pitchFamily="34" charset="0"/>
              </a:rPr>
              <a:t>ambios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en</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el</a:t>
            </a:r>
            <a:r>
              <a:rPr dirty="0">
                <a:solidFill>
                  <a:schemeClr val="accent1"/>
                </a:solidFill>
                <a:latin typeface="Century Gothic" panose="020B0502020202020204" pitchFamily="34" charset="0"/>
              </a:rPr>
              <a:t> </a:t>
            </a:r>
            <a:r>
              <a:rPr lang="es-ES" dirty="0">
                <a:solidFill>
                  <a:schemeClr val="accent1"/>
                </a:solidFill>
                <a:latin typeface="Century Gothic" panose="020B0502020202020204" pitchFamily="34" charset="0"/>
              </a:rPr>
              <a:t>P</a:t>
            </a:r>
            <a:r>
              <a:rPr dirty="0" err="1">
                <a:solidFill>
                  <a:schemeClr val="accent1"/>
                </a:solidFill>
                <a:latin typeface="Century Gothic" panose="020B0502020202020204" pitchFamily="34" charset="0"/>
              </a:rPr>
              <a:t>atrimonio</a:t>
            </a:r>
            <a:endParaRPr dirty="0">
              <a:solidFill>
                <a:schemeClr val="accent1"/>
              </a:solidFill>
              <a:latin typeface="Century Gothic" panose="020B0502020202020204" pitchFamily="34" charset="0"/>
            </a:endParaRPr>
          </a:p>
          <a:p>
            <a:pPr marL="361676" indent="-361676">
              <a:spcBef>
                <a:spcPts val="2953"/>
              </a:spcBef>
              <a:buClr>
                <a:schemeClr val="accent3">
                  <a:lumMod val="75000"/>
                </a:schemeClr>
              </a:buClr>
              <a:buSzPct val="125000"/>
              <a:buFont typeface="+mj-lt"/>
              <a:buAutoNum type="arabicPeriod"/>
              <a:defRPr sz="1800">
                <a:solidFill>
                  <a:srgbClr val="000000"/>
                </a:solidFill>
              </a:defRPr>
            </a:pPr>
            <a:r>
              <a:rPr dirty="0">
                <a:solidFill>
                  <a:schemeClr val="accent1"/>
                </a:solidFill>
                <a:latin typeface="Century Gothic" panose="020B0502020202020204" pitchFamily="34" charset="0"/>
              </a:rPr>
              <a:t>Estado de </a:t>
            </a:r>
            <a:r>
              <a:rPr lang="es-ES" dirty="0">
                <a:solidFill>
                  <a:schemeClr val="accent1"/>
                </a:solidFill>
                <a:latin typeface="Century Gothic" panose="020B0502020202020204" pitchFamily="34" charset="0"/>
              </a:rPr>
              <a:t>F</a:t>
            </a:r>
            <a:r>
              <a:rPr dirty="0" err="1">
                <a:solidFill>
                  <a:schemeClr val="accent1"/>
                </a:solidFill>
                <a:latin typeface="Century Gothic" panose="020B0502020202020204" pitchFamily="34" charset="0"/>
              </a:rPr>
              <a:t>lujos</a:t>
            </a:r>
            <a:r>
              <a:rPr dirty="0">
                <a:solidFill>
                  <a:schemeClr val="accent1"/>
                </a:solidFill>
                <a:latin typeface="Century Gothic" panose="020B0502020202020204" pitchFamily="34" charset="0"/>
              </a:rPr>
              <a:t> de </a:t>
            </a:r>
            <a:r>
              <a:rPr lang="es-ES" dirty="0">
                <a:solidFill>
                  <a:schemeClr val="accent1"/>
                </a:solidFill>
                <a:latin typeface="Century Gothic" panose="020B0502020202020204" pitchFamily="34" charset="0"/>
              </a:rPr>
              <a:t>E</a:t>
            </a:r>
            <a:r>
              <a:rPr dirty="0" err="1">
                <a:solidFill>
                  <a:schemeClr val="accent1"/>
                </a:solidFill>
                <a:latin typeface="Century Gothic" panose="020B0502020202020204" pitchFamily="34" charset="0"/>
              </a:rPr>
              <a:t>fectivo</a:t>
            </a:r>
            <a:r>
              <a:rPr dirty="0">
                <a:solidFill>
                  <a:schemeClr val="accent1"/>
                </a:solidFill>
                <a:latin typeface="Century Gothic" panose="020B0502020202020204" pitchFamily="34" charset="0"/>
              </a:rPr>
              <a:t> (</a:t>
            </a:r>
            <a:r>
              <a:rPr lang="es-CO" dirty="0">
                <a:solidFill>
                  <a:schemeClr val="accent1"/>
                </a:solidFill>
                <a:latin typeface="Century Gothic" panose="020B0502020202020204" pitchFamily="34" charset="0"/>
              </a:rPr>
              <a:t>Flujo de Caja de Tesorería</a:t>
            </a:r>
            <a:r>
              <a:rPr dirty="0">
                <a:solidFill>
                  <a:schemeClr val="accent1"/>
                </a:solidFill>
                <a:latin typeface="Century Gothic" panose="020B0502020202020204" pitchFamily="34" charset="0"/>
              </a:rPr>
              <a:t>)</a:t>
            </a:r>
          </a:p>
        </p:txBody>
      </p:sp>
      <p:sp>
        <p:nvSpPr>
          <p:cNvPr id="8" name="Title 1"/>
          <p:cNvSpPr>
            <a:spLocks noGrp="1"/>
          </p:cNvSpPr>
          <p:nvPr>
            <p:ph type="title"/>
          </p:nvPr>
        </p:nvSpPr>
        <p:spPr>
          <a:xfrm>
            <a:off x="446042" y="1008878"/>
            <a:ext cx="11291329" cy="803647"/>
          </a:xfrm>
        </p:spPr>
        <p:txBody>
          <a:bodyPr>
            <a:normAutofit/>
          </a:bodyPr>
          <a:lstStyle/>
          <a:p>
            <a:r>
              <a:rPr lang="es-ES_tradnl" sz="3375">
                <a:latin typeface="Century Gothic" panose="020B0502020202020204" pitchFamily="34" charset="0"/>
              </a:rPr>
              <a:t>¿Dónde se registra la contabilidad?</a:t>
            </a:r>
          </a:p>
        </p:txBody>
      </p:sp>
      <p:sp>
        <p:nvSpPr>
          <p:cNvPr id="2" name="Rectángulo 1">
            <a:extLst>
              <a:ext uri="{FF2B5EF4-FFF2-40B4-BE49-F238E27FC236}">
                <a16:creationId xmlns:a16="http://schemas.microsoft.com/office/drawing/2014/main" id="{0F96C929-DB8B-2527-4C01-D1DEC425B5F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0B29330A-2C00-EF66-B072-A69705FB6E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Persona Pensando Vectores, Ilustraciones y Gráficos - 123RF">
            <a:extLst>
              <a:ext uri="{FF2B5EF4-FFF2-40B4-BE49-F238E27FC236}">
                <a16:creationId xmlns:a16="http://schemas.microsoft.com/office/drawing/2014/main" id="{485D3D52-548E-4E46-7FF6-13A93EDCFA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25192" y="3104635"/>
            <a:ext cx="1959362" cy="2193316"/>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5A5BF9D4-93E5-4F14-7D4F-B9A10675217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A28FA969-D886-FD90-592A-39A11CBC27D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9</a:t>
            </a:fld>
            <a:endParaRPr lang="en-US" sz="2000" b="1">
              <a:latin typeface="Century Gothic" panose="020B0502020202020204" pitchFamily="34" charset="0"/>
            </a:endParaRPr>
          </a:p>
        </p:txBody>
      </p:sp>
    </p:spTree>
    <p:extLst>
      <p:ext uri="{BB962C8B-B14F-4D97-AF65-F5344CB8AC3E}">
        <p14:creationId xmlns:p14="http://schemas.microsoft.com/office/powerpoint/2010/main" val="2916363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1">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1">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3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1" grpId="0" build="p"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LOS ESTADOS FINANCIEROS (E.E.F.F.)</a:t>
            </a:r>
          </a:p>
        </p:txBody>
      </p:sp>
      <p:sp>
        <p:nvSpPr>
          <p:cNvPr id="3" name="Marcador de contenido 2"/>
          <p:cNvSpPr>
            <a:spLocks noGrp="1"/>
          </p:cNvSpPr>
          <p:nvPr>
            <p:ph idx="1"/>
          </p:nvPr>
        </p:nvSpPr>
        <p:spPr>
          <a:xfrm>
            <a:off x="847954" y="2277834"/>
            <a:ext cx="10123262" cy="3678303"/>
          </a:xfrm>
        </p:spPr>
        <p:txBody>
          <a:bodyPr>
            <a:normAutofit/>
          </a:bodyPr>
          <a:lstStyle/>
          <a:p>
            <a:pPr algn="just"/>
            <a:r>
              <a:rPr lang="es-ES" dirty="0">
                <a:solidFill>
                  <a:schemeClr val="accent1"/>
                </a:solidFill>
                <a:latin typeface="Century Gothic" panose="020B0502020202020204" pitchFamily="34" charset="0"/>
              </a:rPr>
              <a:t>Para entender a profundidad el Flujo de Caja Libre es necesario hacer una breve introducción a los Estados Financieros (E.E.F.F.)</a:t>
            </a:r>
          </a:p>
          <a:p>
            <a:pPr algn="just"/>
            <a:endParaRPr lang="es-ES" dirty="0">
              <a:solidFill>
                <a:schemeClr val="accent1"/>
              </a:solidFill>
              <a:latin typeface="Century Gothic" panose="020B0502020202020204" pitchFamily="34" charset="0"/>
            </a:endParaRPr>
          </a:p>
          <a:p>
            <a:pPr algn="just"/>
            <a:r>
              <a:rPr lang="es-ES" dirty="0">
                <a:solidFill>
                  <a:schemeClr val="accent1"/>
                </a:solidFill>
                <a:latin typeface="Century Gothic" panose="020B0502020202020204" pitchFamily="34" charset="0"/>
              </a:rPr>
              <a:t>Estudiaremos rápidamente dos </a:t>
            </a:r>
            <a:r>
              <a:rPr lang="es-ES" b="1" dirty="0">
                <a:solidFill>
                  <a:srgbClr val="D7A700"/>
                </a:solidFill>
                <a:latin typeface="Century Gothic" panose="020B0502020202020204" pitchFamily="34" charset="0"/>
              </a:rPr>
              <a:t>(2) </a:t>
            </a:r>
            <a:r>
              <a:rPr lang="es-ES" dirty="0">
                <a:solidFill>
                  <a:schemeClr val="accent1"/>
                </a:solidFill>
                <a:latin typeface="Century Gothic" panose="020B0502020202020204" pitchFamily="34" charset="0"/>
              </a:rPr>
              <a:t>de los Estados Financieros básicos en aras de comprender de mejor forma la construcción del flujo de caja.</a:t>
            </a:r>
          </a:p>
          <a:p>
            <a:pPr lvl="1" algn="just"/>
            <a:endParaRPr lang="es-ES" sz="1800" dirty="0">
              <a:solidFill>
                <a:schemeClr val="accent1"/>
              </a:solidFill>
              <a:latin typeface="Century Gothic" panose="020B0502020202020204" pitchFamily="34" charset="0"/>
            </a:endParaRPr>
          </a:p>
          <a:p>
            <a:pPr lvl="1" algn="just">
              <a:buFont typeface="Courier New" panose="02070309020205020404" pitchFamily="49" charset="0"/>
              <a:buChar char="o"/>
            </a:pPr>
            <a:r>
              <a:rPr lang="es-ES" sz="1800" dirty="0">
                <a:solidFill>
                  <a:schemeClr val="accent1"/>
                </a:solidFill>
                <a:latin typeface="Century Gothic" panose="020B0502020202020204" pitchFamily="34" charset="0"/>
              </a:rPr>
              <a:t>El Estado de Situación Financiera (Balance General).</a:t>
            </a:r>
          </a:p>
          <a:p>
            <a:pPr lvl="1" algn="just">
              <a:buFont typeface="Courier New" panose="02070309020205020404" pitchFamily="49" charset="0"/>
              <a:buChar char="o"/>
            </a:pPr>
            <a:r>
              <a:rPr lang="es-ES" sz="1800" dirty="0">
                <a:solidFill>
                  <a:schemeClr val="accent1"/>
                </a:solidFill>
                <a:latin typeface="Century Gothic" panose="020B0502020202020204" pitchFamily="34" charset="0"/>
              </a:rPr>
              <a:t>El Estado de Resultados (Estado de Pérdidas y Ganancias).</a:t>
            </a:r>
          </a:p>
          <a:p>
            <a:endParaRPr lang="es-ES" dirty="0">
              <a:latin typeface="Century Gothic" panose="020B0502020202020204" pitchFamily="34" charset="0"/>
            </a:endParaRPr>
          </a:p>
        </p:txBody>
      </p:sp>
      <p:sp>
        <p:nvSpPr>
          <p:cNvPr id="9" name="Rectángulo 8">
            <a:extLst>
              <a:ext uri="{FF2B5EF4-FFF2-40B4-BE49-F238E27FC236}">
                <a16:creationId xmlns:a16="http://schemas.microsoft.com/office/drawing/2014/main" id="{D2CE5F44-96AF-168F-D1DD-5FC90853FF8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BD9610E1-6701-F02C-D54E-38B50C64C7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9EFB9B7A-7DB3-83BF-6553-6DAEFD4909D6}"/>
              </a:ext>
            </a:extLst>
          </p:cNvPr>
          <p:cNvPicPr>
            <a:picLocks noChangeAspect="1"/>
          </p:cNvPicPr>
          <p:nvPr/>
        </p:nvPicPr>
        <p:blipFill>
          <a:blip r:embed="rId3"/>
          <a:stretch>
            <a:fillRect/>
          </a:stretch>
        </p:blipFill>
        <p:spPr>
          <a:xfrm>
            <a:off x="8911453" y="4116985"/>
            <a:ext cx="1931973" cy="1519529"/>
          </a:xfrm>
          <a:prstGeom prst="rect">
            <a:avLst/>
          </a:prstGeom>
        </p:spPr>
      </p:pic>
      <p:sp>
        <p:nvSpPr>
          <p:cNvPr id="5" name="Rectángulo 4">
            <a:extLst>
              <a:ext uri="{FF2B5EF4-FFF2-40B4-BE49-F238E27FC236}">
                <a16:creationId xmlns:a16="http://schemas.microsoft.com/office/drawing/2014/main" id="{89331D93-40B6-ED66-9432-D50CD50E738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7E92E3B2-AE5D-5010-3E35-67E6D421BE58}"/>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10</a:t>
            </a:fld>
            <a:endParaRPr lang="en-US" sz="2000" b="1">
              <a:latin typeface="Century Gothic" panose="020B0502020202020204" pitchFamily="34" charset="0"/>
            </a:endParaRPr>
          </a:p>
        </p:txBody>
      </p:sp>
    </p:spTree>
    <p:extLst>
      <p:ext uri="{BB962C8B-B14F-4D97-AF65-F5344CB8AC3E}">
        <p14:creationId xmlns:p14="http://schemas.microsoft.com/office/powerpoint/2010/main" val="279872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556" y="940478"/>
            <a:ext cx="10345427" cy="803647"/>
          </a:xfrm>
        </p:spPr>
        <p:txBody>
          <a:bodyPr>
            <a:normAutofit/>
          </a:bodyPr>
          <a:lstStyle/>
          <a:p>
            <a:r>
              <a:rPr lang="es-ES_tradnl">
                <a:latin typeface="Century Gothic" panose="020B0502020202020204" pitchFamily="34" charset="0"/>
              </a:rPr>
              <a:t>¿Qué es el ESTADO DE SITUACIÓN FINANCIERA?</a:t>
            </a:r>
          </a:p>
        </p:txBody>
      </p:sp>
      <p:sp>
        <p:nvSpPr>
          <p:cNvPr id="72" name="Shape 72"/>
          <p:cNvSpPr>
            <a:spLocks noGrp="1"/>
          </p:cNvSpPr>
          <p:nvPr>
            <p:ph idx="1"/>
          </p:nvPr>
        </p:nvSpPr>
        <p:spPr>
          <a:xfrm>
            <a:off x="4196966" y="2136553"/>
            <a:ext cx="7166725" cy="4014680"/>
          </a:xfrm>
          <a:prstGeom prst="rect">
            <a:avLst/>
          </a:prstGeom>
        </p:spPr>
        <p:txBody>
          <a:bodyPr>
            <a:normAutofit/>
          </a:bodyPr>
          <a:lstStyle/>
          <a:p>
            <a:pPr marL="0" indent="0" algn="ctr">
              <a:buSzTx/>
              <a:buNone/>
              <a:defRPr sz="1800">
                <a:solidFill>
                  <a:srgbClr val="000000"/>
                </a:solidFill>
              </a:defRPr>
            </a:pPr>
            <a:r>
              <a:rPr sz="2000" b="1" dirty="0">
                <a:solidFill>
                  <a:schemeClr val="accent3">
                    <a:lumMod val="50000"/>
                  </a:schemeClr>
                </a:solidFill>
                <a:latin typeface="Century Gothic" panose="020B0502020202020204" pitchFamily="34" charset="0"/>
              </a:rPr>
              <a:t>Es </a:t>
            </a:r>
            <a:r>
              <a:rPr sz="2000" b="1" dirty="0" err="1">
                <a:solidFill>
                  <a:schemeClr val="accent3">
                    <a:lumMod val="50000"/>
                  </a:schemeClr>
                </a:solidFill>
                <a:latin typeface="Century Gothic" panose="020B0502020202020204" pitchFamily="34" charset="0"/>
              </a:rPr>
              <a:t>aquel</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estado</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financiero</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que</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representa</a:t>
            </a:r>
            <a:r>
              <a:rPr sz="2000" b="1" dirty="0">
                <a:solidFill>
                  <a:schemeClr val="accent3">
                    <a:lumMod val="50000"/>
                  </a:schemeClr>
                </a:solidFill>
                <a:latin typeface="Century Gothic" panose="020B0502020202020204" pitchFamily="34" charset="0"/>
              </a:rPr>
              <a:t> la </a:t>
            </a:r>
            <a:r>
              <a:rPr sz="2000" b="1" dirty="0" err="1">
                <a:solidFill>
                  <a:schemeClr val="accent3">
                    <a:lumMod val="50000"/>
                  </a:schemeClr>
                </a:solidFill>
                <a:latin typeface="Century Gothic" panose="020B0502020202020204" pitchFamily="34" charset="0"/>
              </a:rPr>
              <a:t>situación</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financiera</a:t>
            </a:r>
            <a:r>
              <a:rPr lang="es-ES" sz="2000" b="1" dirty="0">
                <a:solidFill>
                  <a:schemeClr val="accent3">
                    <a:lumMod val="50000"/>
                  </a:schemeClr>
                </a:solidFill>
                <a:latin typeface="Century Gothic" panose="020B0502020202020204" pitchFamily="34" charset="0"/>
              </a:rPr>
              <a:t> </a:t>
            </a:r>
            <a:r>
              <a:rPr sz="2000" b="1" dirty="0">
                <a:solidFill>
                  <a:schemeClr val="accent3">
                    <a:lumMod val="50000"/>
                  </a:schemeClr>
                </a:solidFill>
                <a:latin typeface="Century Gothic" panose="020B0502020202020204" pitchFamily="34" charset="0"/>
              </a:rPr>
              <a:t>o</a:t>
            </a:r>
            <a:r>
              <a:rPr lang="es-ES" sz="2000" b="1" dirty="0">
                <a:solidFill>
                  <a:schemeClr val="accent3">
                    <a:lumMod val="50000"/>
                  </a:schemeClr>
                </a:solidFill>
                <a:latin typeface="Century Gothic" panose="020B0502020202020204" pitchFamily="34" charset="0"/>
              </a:rPr>
              <a:t>,</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dicho</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en</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otras</a:t>
            </a:r>
            <a:r>
              <a:rPr sz="2000" b="1" dirty="0">
                <a:solidFill>
                  <a:schemeClr val="accent3">
                    <a:lumMod val="50000"/>
                  </a:schemeClr>
                </a:solidFill>
                <a:latin typeface="Century Gothic" panose="020B0502020202020204" pitchFamily="34" charset="0"/>
              </a:rPr>
              <a:t> palabras, la </a:t>
            </a:r>
            <a:r>
              <a:rPr sz="2000" b="1" dirty="0" err="1">
                <a:solidFill>
                  <a:schemeClr val="accent3">
                    <a:lumMod val="50000"/>
                  </a:schemeClr>
                </a:solidFill>
                <a:latin typeface="Century Gothic" panose="020B0502020202020204" pitchFamily="34" charset="0"/>
              </a:rPr>
              <a:t>situación</a:t>
            </a:r>
            <a:r>
              <a:rPr sz="2000" b="1" dirty="0">
                <a:solidFill>
                  <a:schemeClr val="accent3">
                    <a:lumMod val="50000"/>
                  </a:schemeClr>
                </a:solidFill>
                <a:latin typeface="Century Gothic" panose="020B0502020202020204" pitchFamily="34" charset="0"/>
              </a:rPr>
              <a:t> de </a:t>
            </a:r>
            <a:r>
              <a:rPr sz="2000" b="1" dirty="0" err="1">
                <a:solidFill>
                  <a:schemeClr val="accent3">
                    <a:lumMod val="50000"/>
                  </a:schemeClr>
                </a:solidFill>
                <a:latin typeface="Century Gothic" panose="020B0502020202020204" pitchFamily="34" charset="0"/>
              </a:rPr>
              <a:t>los</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activos</a:t>
            </a:r>
            <a:r>
              <a:rPr lang="es-CO" sz="2000" b="1" dirty="0">
                <a:solidFill>
                  <a:schemeClr val="accent3">
                    <a:lumMod val="50000"/>
                  </a:schemeClr>
                </a:solidFill>
                <a:latin typeface="Century Gothic" panose="020B0502020202020204" pitchFamily="34" charset="0"/>
              </a:rPr>
              <a:t>,</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pasivos</a:t>
            </a:r>
            <a:r>
              <a:rPr lang="es-CO" sz="2000" b="1" dirty="0">
                <a:solidFill>
                  <a:schemeClr val="accent3">
                    <a:lumMod val="50000"/>
                  </a:schemeClr>
                </a:solidFill>
                <a:latin typeface="Century Gothic" panose="020B0502020202020204" pitchFamily="34" charset="0"/>
              </a:rPr>
              <a:t>, y patrimonio</a:t>
            </a:r>
            <a:r>
              <a:rPr sz="2000" b="1" dirty="0">
                <a:solidFill>
                  <a:schemeClr val="accent3">
                    <a:lumMod val="50000"/>
                  </a:schemeClr>
                </a:solidFill>
                <a:latin typeface="Century Gothic" panose="020B0502020202020204" pitchFamily="34" charset="0"/>
              </a:rPr>
              <a:t> de la </a:t>
            </a:r>
            <a:r>
              <a:rPr sz="2000" b="1" dirty="0" err="1">
                <a:solidFill>
                  <a:schemeClr val="accent3">
                    <a:lumMod val="50000"/>
                  </a:schemeClr>
                </a:solidFill>
                <a:latin typeface="Century Gothic" panose="020B0502020202020204" pitchFamily="34" charset="0"/>
              </a:rPr>
              <a:t>empresa</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en</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una</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fecha</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determinada</a:t>
            </a:r>
            <a:r>
              <a:rPr sz="2000" b="1" dirty="0">
                <a:solidFill>
                  <a:schemeClr val="accent3">
                    <a:lumMod val="50000"/>
                  </a:schemeClr>
                </a:solidFill>
                <a:latin typeface="Century Gothic" panose="020B0502020202020204" pitchFamily="34" charset="0"/>
              </a:rPr>
              <a:t>.</a:t>
            </a:r>
            <a:endParaRPr lang="es-CO" sz="2000" b="1" dirty="0">
              <a:solidFill>
                <a:schemeClr val="accent3">
                  <a:lumMod val="50000"/>
                </a:schemeClr>
              </a:solidFill>
              <a:latin typeface="Century Gothic" panose="020B0502020202020204" pitchFamily="34" charset="0"/>
            </a:endParaRPr>
          </a:p>
          <a:p>
            <a:pPr marL="0" indent="0" algn="ctr">
              <a:buSzTx/>
              <a:buNone/>
              <a:defRPr sz="1800">
                <a:solidFill>
                  <a:srgbClr val="000000"/>
                </a:solidFill>
              </a:defRPr>
            </a:pPr>
            <a:endParaRPr lang="es-CO" sz="2000" dirty="0">
              <a:solidFill>
                <a:schemeClr val="accent1">
                  <a:lumMod val="75000"/>
                </a:schemeClr>
              </a:solidFill>
              <a:latin typeface="Century Gothic" panose="020B0502020202020204" pitchFamily="34" charset="0"/>
            </a:endParaRPr>
          </a:p>
          <a:p>
            <a:pPr marL="0" indent="0" algn="ctr">
              <a:buSzTx/>
              <a:buNone/>
              <a:defRPr sz="1800">
                <a:solidFill>
                  <a:srgbClr val="000000"/>
                </a:solidFill>
              </a:defRPr>
            </a:pPr>
            <a:r>
              <a:rPr lang="es-CO" sz="2000" dirty="0">
                <a:solidFill>
                  <a:schemeClr val="accent1">
                    <a:lumMod val="75000"/>
                  </a:schemeClr>
                </a:solidFill>
                <a:latin typeface="Century Gothic" panose="020B0502020202020204" pitchFamily="34" charset="0"/>
              </a:rPr>
              <a:t>Se puede entender como una “fotografía” de la empresa en un momento del tiempo específico. </a:t>
            </a:r>
          </a:p>
          <a:p>
            <a:pPr marL="0" indent="0" algn="ctr">
              <a:buSzTx/>
              <a:buNone/>
              <a:defRPr sz="1800">
                <a:solidFill>
                  <a:srgbClr val="000000"/>
                </a:solidFill>
              </a:defRPr>
            </a:pPr>
            <a:endParaRPr lang="es-ES_tradnl" sz="2000" dirty="0">
              <a:solidFill>
                <a:schemeClr val="accent1">
                  <a:lumMod val="75000"/>
                </a:schemeClr>
              </a:solidFill>
              <a:latin typeface="Century Gothic" panose="020B0502020202020204" pitchFamily="34" charset="0"/>
            </a:endParaRPr>
          </a:p>
        </p:txBody>
      </p:sp>
      <p:sp>
        <p:nvSpPr>
          <p:cNvPr id="2" name="Rectángulo 1">
            <a:extLst>
              <a:ext uri="{FF2B5EF4-FFF2-40B4-BE49-F238E27FC236}">
                <a16:creationId xmlns:a16="http://schemas.microsoft.com/office/drawing/2014/main" id="{44846409-481F-62E8-7ECB-BBF7CCD0AA7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383688FB-20A7-DE93-BD83-0A894D1567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Empresario De Dibujos Animados Buscar Diana En Dirección Equivocada  Ilustraciones svg, vectoriales, clip art vectorizado libre de derechos.  Image 59598266">
            <a:extLst>
              <a:ext uri="{FF2B5EF4-FFF2-40B4-BE49-F238E27FC236}">
                <a16:creationId xmlns:a16="http://schemas.microsoft.com/office/drawing/2014/main" id="{DFA738F2-6DC3-DBE4-A6F1-0EF8F2ADF5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6422" y="2789621"/>
            <a:ext cx="2535195" cy="2535195"/>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5C5C995A-5E97-6675-06D3-F3E7568EB80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4" name="Marcador de número de diapositiva 3">
            <a:extLst>
              <a:ext uri="{FF2B5EF4-FFF2-40B4-BE49-F238E27FC236}">
                <a16:creationId xmlns:a16="http://schemas.microsoft.com/office/drawing/2014/main" id="{340C740E-DA9D-C0E4-2E6A-F30A30EEDA4A}"/>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11</a:t>
            </a:fld>
            <a:endParaRPr lang="en-US" sz="2000" b="1">
              <a:latin typeface="Century Gothic" panose="020B0502020202020204" pitchFamily="34" charset="0"/>
            </a:endParaRPr>
          </a:p>
        </p:txBody>
      </p:sp>
    </p:spTree>
    <p:extLst>
      <p:ext uri="{BB962C8B-B14F-4D97-AF65-F5344CB8AC3E}">
        <p14:creationId xmlns:p14="http://schemas.microsoft.com/office/powerpoint/2010/main" val="4286007967"/>
      </p:ext>
    </p:extLst>
  </p:cSld>
  <p:clrMapOvr>
    <a:masterClrMapping/>
  </p:clrMapOvr>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a:xfrm>
            <a:off x="457556" y="975732"/>
            <a:ext cx="10345427" cy="803647"/>
          </a:xfrm>
        </p:spPr>
        <p:txBody>
          <a:bodyPr>
            <a:normAutofit/>
          </a:bodyPr>
          <a:lstStyle/>
          <a:p>
            <a:r>
              <a:rPr lang="es-ES_tradnl">
                <a:latin typeface="Century Gothic" panose="020B0502020202020204" pitchFamily="34" charset="0"/>
              </a:rPr>
              <a:t>¿Qué es el ESTADO DE SITUACIÓN FINANCIERA?</a:t>
            </a:r>
          </a:p>
        </p:txBody>
      </p:sp>
      <p:sp>
        <p:nvSpPr>
          <p:cNvPr id="17" name="Shape 72"/>
          <p:cNvSpPr>
            <a:spLocks noGrp="1"/>
          </p:cNvSpPr>
          <p:nvPr>
            <p:ph idx="1"/>
          </p:nvPr>
        </p:nvSpPr>
        <p:spPr>
          <a:xfrm>
            <a:off x="1981328" y="1634214"/>
            <a:ext cx="7619767" cy="1030872"/>
          </a:xfrm>
          <a:prstGeom prst="rect">
            <a:avLst/>
          </a:prstGeom>
        </p:spPr>
        <p:txBody>
          <a:bodyPr>
            <a:normAutofit/>
          </a:bodyPr>
          <a:lstStyle/>
          <a:p>
            <a:pPr marL="0" indent="0" algn="ctr">
              <a:buSzTx/>
              <a:buNone/>
              <a:defRPr sz="1800">
                <a:solidFill>
                  <a:srgbClr val="000000"/>
                </a:solidFill>
              </a:defRPr>
            </a:pPr>
            <a:r>
              <a:rPr lang="es-ES_tradnl">
                <a:solidFill>
                  <a:schemeClr val="accent1">
                    <a:lumMod val="75000"/>
                  </a:schemeClr>
                </a:solidFill>
                <a:latin typeface="Century Gothic" panose="020B0502020202020204" pitchFamily="34" charset="0"/>
              </a:rPr>
              <a:t>A continuación, el ejemplo del Estado de Situación Financiera de la empresa Colombina S.A. (Millones de Pesos)</a:t>
            </a:r>
          </a:p>
        </p:txBody>
      </p:sp>
      <p:sp>
        <p:nvSpPr>
          <p:cNvPr id="2" name="Rectángulo 1">
            <a:extLst>
              <a:ext uri="{FF2B5EF4-FFF2-40B4-BE49-F238E27FC236}">
                <a16:creationId xmlns:a16="http://schemas.microsoft.com/office/drawing/2014/main" id="{03EE7C7B-8BF0-D205-144B-1408BAD5AA0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30FEEA3E-D6C9-A9AC-C4BA-4E324E30B0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5" name="Rectángulo 14">
            <a:extLst>
              <a:ext uri="{FF2B5EF4-FFF2-40B4-BE49-F238E27FC236}">
                <a16:creationId xmlns:a16="http://schemas.microsoft.com/office/drawing/2014/main" id="{00D3B33F-2DC0-E428-14B7-40AD3FA8A6E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8" name="Imagen 7">
            <a:extLst>
              <a:ext uri="{FF2B5EF4-FFF2-40B4-BE49-F238E27FC236}">
                <a16:creationId xmlns:a16="http://schemas.microsoft.com/office/drawing/2014/main" id="{0671A0E0-ADA4-C0C8-3B9A-36B97A22E12D}"/>
              </a:ext>
            </a:extLst>
          </p:cNvPr>
          <p:cNvPicPr>
            <a:picLocks noChangeAspect="1"/>
          </p:cNvPicPr>
          <p:nvPr/>
        </p:nvPicPr>
        <p:blipFill>
          <a:blip r:embed="rId3"/>
          <a:stretch>
            <a:fillRect/>
          </a:stretch>
        </p:blipFill>
        <p:spPr>
          <a:xfrm>
            <a:off x="6533647" y="2761138"/>
            <a:ext cx="4552367" cy="3634161"/>
          </a:xfrm>
          <a:prstGeom prst="rect">
            <a:avLst/>
          </a:prstGeom>
        </p:spPr>
      </p:pic>
      <p:pic>
        <p:nvPicPr>
          <p:cNvPr id="21" name="Imagen 20">
            <a:extLst>
              <a:ext uri="{FF2B5EF4-FFF2-40B4-BE49-F238E27FC236}">
                <a16:creationId xmlns:a16="http://schemas.microsoft.com/office/drawing/2014/main" id="{2B4651E8-9E5F-E7C9-CDD3-675E12FD2E42}"/>
              </a:ext>
            </a:extLst>
          </p:cNvPr>
          <p:cNvPicPr>
            <a:picLocks noChangeAspect="1"/>
          </p:cNvPicPr>
          <p:nvPr/>
        </p:nvPicPr>
        <p:blipFill>
          <a:blip r:embed="rId4"/>
          <a:stretch>
            <a:fillRect/>
          </a:stretch>
        </p:blipFill>
        <p:spPr>
          <a:xfrm>
            <a:off x="952321" y="2638917"/>
            <a:ext cx="5491077" cy="3720889"/>
          </a:xfrm>
          <a:prstGeom prst="rect">
            <a:avLst/>
          </a:prstGeom>
        </p:spPr>
      </p:pic>
      <p:sp>
        <p:nvSpPr>
          <p:cNvPr id="11" name="Shape 78"/>
          <p:cNvSpPr/>
          <p:nvPr/>
        </p:nvSpPr>
        <p:spPr>
          <a:xfrm>
            <a:off x="6533646" y="2597780"/>
            <a:ext cx="4586817" cy="2836369"/>
          </a:xfrm>
          <a:prstGeom prst="roundRect">
            <a:avLst>
              <a:gd name="adj" fmla="val 19531"/>
            </a:avLst>
          </a:prstGeom>
          <a:blipFill>
            <a:blip r:embed="rId5">
              <a:alphaModFix amt="30000"/>
            </a:blip>
          </a:blipFill>
          <a:ln w="12700">
            <a:miter lim="400000"/>
          </a:ln>
          <a:effectLst>
            <a:outerShdw blurRad="50800" dist="25400" dir="5400000" rotWithShape="0">
              <a:srgbClr val="000000">
                <a:alpha val="60000"/>
              </a:srgbClr>
            </a:outerShdw>
          </a:effectLst>
        </p:spPr>
        <p:txBody>
          <a:bodyPr lIns="0" tIns="0" rIns="0" bIns="0" anchor="ctr"/>
          <a:lstStyle/>
          <a:p>
            <a:pPr lvl="0">
              <a:defRPr sz="3000">
                <a:solidFill>
                  <a:srgbClr val="FFFFFF"/>
                </a:solidFill>
                <a:effectLst>
                  <a:outerShdw blurRad="25400" dist="12700" dir="5400000" rotWithShape="0">
                    <a:srgbClr val="000000">
                      <a:alpha val="50000"/>
                    </a:srgbClr>
                  </a:outerShdw>
                </a:effectLst>
              </a:defRPr>
            </a:pPr>
            <a:endParaRPr sz="2109"/>
          </a:p>
        </p:txBody>
      </p:sp>
      <p:sp>
        <p:nvSpPr>
          <p:cNvPr id="9" name="Shape 77"/>
          <p:cNvSpPr/>
          <p:nvPr/>
        </p:nvSpPr>
        <p:spPr>
          <a:xfrm>
            <a:off x="834471" y="2597780"/>
            <a:ext cx="5699174" cy="3720889"/>
          </a:xfrm>
          <a:prstGeom prst="roundRect">
            <a:avLst>
              <a:gd name="adj" fmla="val 13654"/>
            </a:avLst>
          </a:prstGeom>
          <a:blipFill>
            <a:blip r:embed="rId6">
              <a:alphaModFix amt="30000"/>
            </a:blip>
          </a:blipFill>
          <a:ln w="12700">
            <a:miter lim="400000"/>
          </a:ln>
        </p:spPr>
        <p:txBody>
          <a:bodyPr lIns="0" tIns="0" rIns="0" bIns="0" anchor="ctr"/>
          <a:lstStyle/>
          <a:p>
            <a:pPr lvl="0">
              <a:defRPr sz="3000">
                <a:solidFill>
                  <a:srgbClr val="FFFFFF"/>
                </a:solidFill>
                <a:effectLst>
                  <a:outerShdw blurRad="25400" dist="12700" dir="5400000" rotWithShape="0">
                    <a:srgbClr val="000000">
                      <a:alpha val="50000"/>
                    </a:srgbClr>
                  </a:outerShdw>
                </a:effectLst>
              </a:defRPr>
            </a:pPr>
            <a:endParaRPr sz="2109"/>
          </a:p>
        </p:txBody>
      </p:sp>
      <p:sp>
        <p:nvSpPr>
          <p:cNvPr id="10" name="Shape 80"/>
          <p:cNvSpPr/>
          <p:nvPr/>
        </p:nvSpPr>
        <p:spPr>
          <a:xfrm>
            <a:off x="3068138" y="4055615"/>
            <a:ext cx="2048987" cy="903127"/>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normAutofit/>
          </a:bodyPr>
          <a:lstStyle>
            <a:lvl1pPr>
              <a:spcBef>
                <a:spcPts val="4200"/>
              </a:spcBef>
              <a:defRPr sz="3000"/>
            </a:lvl1pPr>
          </a:lstStyle>
          <a:p>
            <a:pPr lvl="0">
              <a:defRPr sz="1800">
                <a:solidFill>
                  <a:srgbClr val="000000"/>
                </a:solidFill>
              </a:defRPr>
            </a:pPr>
            <a:r>
              <a:rPr sz="1800" b="1">
                <a:solidFill>
                  <a:srgbClr val="C00000"/>
                </a:solidFill>
                <a:latin typeface="Century Gothic" panose="020B0502020202020204" pitchFamily="34" charset="0"/>
              </a:rPr>
              <a:t>Activos</a:t>
            </a:r>
          </a:p>
        </p:txBody>
      </p:sp>
      <p:sp>
        <p:nvSpPr>
          <p:cNvPr id="13" name="Shape 81"/>
          <p:cNvSpPr/>
          <p:nvPr/>
        </p:nvSpPr>
        <p:spPr>
          <a:xfrm>
            <a:off x="8509313" y="3707963"/>
            <a:ext cx="2048987" cy="903127"/>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normAutofit/>
          </a:bodyPr>
          <a:lstStyle>
            <a:lvl1pPr>
              <a:spcBef>
                <a:spcPts val="4200"/>
              </a:spcBef>
              <a:defRPr sz="3000"/>
            </a:lvl1pPr>
          </a:lstStyle>
          <a:p>
            <a:pPr lvl="0">
              <a:defRPr sz="1800">
                <a:solidFill>
                  <a:srgbClr val="000000"/>
                </a:solidFill>
              </a:defRPr>
            </a:pPr>
            <a:r>
              <a:rPr sz="1800" b="1">
                <a:solidFill>
                  <a:schemeClr val="accent5">
                    <a:lumMod val="50000"/>
                  </a:schemeClr>
                </a:solidFill>
                <a:latin typeface="Century Gothic" panose="020B0502020202020204" pitchFamily="34" charset="0"/>
              </a:rPr>
              <a:t>Pasivos</a:t>
            </a:r>
          </a:p>
        </p:txBody>
      </p:sp>
      <p:sp>
        <p:nvSpPr>
          <p:cNvPr id="12" name="Shape 79"/>
          <p:cNvSpPr/>
          <p:nvPr/>
        </p:nvSpPr>
        <p:spPr>
          <a:xfrm>
            <a:off x="6499198" y="5434149"/>
            <a:ext cx="4586816" cy="903127"/>
          </a:xfrm>
          <a:prstGeom prst="roundRect">
            <a:avLst>
              <a:gd name="adj" fmla="val 42290"/>
            </a:avLst>
          </a:prstGeom>
          <a:gradFill>
            <a:gsLst>
              <a:gs pos="0">
                <a:srgbClr val="80A7A7">
                  <a:alpha val="30000"/>
                </a:srgbClr>
              </a:gs>
              <a:gs pos="100000">
                <a:srgbClr val="588388">
                  <a:alpha val="30000"/>
                </a:srgbClr>
              </a:gs>
            </a:gsLst>
            <a:lin ang="5400000"/>
          </a:gradFill>
          <a:ln w="12700">
            <a:miter lim="400000"/>
          </a:ln>
        </p:spPr>
        <p:txBody>
          <a:bodyPr lIns="0" tIns="0" rIns="0" bIns="0" anchor="ctr"/>
          <a:lstStyle/>
          <a:p>
            <a:pPr lvl="0">
              <a:defRPr sz="3000">
                <a:solidFill>
                  <a:srgbClr val="FFFFFF"/>
                </a:solidFill>
                <a:effectLst>
                  <a:outerShdw blurRad="25400" dist="12700" dir="5400000" rotWithShape="0">
                    <a:srgbClr val="000000">
                      <a:alpha val="50000"/>
                    </a:srgbClr>
                  </a:outerShdw>
                </a:effectLst>
              </a:defRPr>
            </a:pPr>
            <a:endParaRPr sz="2109"/>
          </a:p>
        </p:txBody>
      </p:sp>
      <p:sp>
        <p:nvSpPr>
          <p:cNvPr id="14" name="Shape 82"/>
          <p:cNvSpPr/>
          <p:nvPr/>
        </p:nvSpPr>
        <p:spPr>
          <a:xfrm>
            <a:off x="8274931" y="5477847"/>
            <a:ext cx="2048987" cy="903127"/>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normAutofit/>
          </a:bodyPr>
          <a:lstStyle>
            <a:lvl1pPr>
              <a:spcBef>
                <a:spcPts val="4200"/>
              </a:spcBef>
              <a:defRPr sz="3000"/>
            </a:lvl1pPr>
          </a:lstStyle>
          <a:p>
            <a:pPr lvl="0">
              <a:defRPr sz="1800">
                <a:solidFill>
                  <a:srgbClr val="000000"/>
                </a:solidFill>
              </a:defRPr>
            </a:pPr>
            <a:r>
              <a:rPr lang="es-CO" sz="1800" b="1">
                <a:solidFill>
                  <a:srgbClr val="0070C0"/>
                </a:solidFill>
                <a:latin typeface="Century Gothic" panose="020B0502020202020204" pitchFamily="34" charset="0"/>
              </a:rPr>
              <a:t>Patrimonio</a:t>
            </a:r>
            <a:endParaRPr sz="1800" b="1">
              <a:solidFill>
                <a:srgbClr val="0070C0"/>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F1A50DB2-0E61-3826-3192-FA418C7AD783}"/>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12</a:t>
            </a:fld>
            <a:endParaRPr lang="en-US" sz="2000" b="1">
              <a:latin typeface="Century Gothic" panose="020B0502020202020204" pitchFamily="34" charset="0"/>
            </a:endParaRPr>
          </a:p>
        </p:txBody>
      </p:sp>
    </p:spTree>
    <p:extLst>
      <p:ext uri="{BB962C8B-B14F-4D97-AF65-F5344CB8AC3E}">
        <p14:creationId xmlns:p14="http://schemas.microsoft.com/office/powerpoint/2010/main" val="3251584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9" grpId="0" animBg="1"/>
      <p:bldP spid="10" grpId="0" animBg="1"/>
      <p:bldP spid="13" grpId="0" animBg="1"/>
      <p:bldP spid="12" grpId="0" animBg="1"/>
      <p:bldP spid="1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CC0A3-C623-90F2-C1E2-C368C1077AC2}"/>
            </a:ext>
          </a:extLst>
        </p:cNvPr>
        <p:cNvGrpSpPr/>
        <p:nvPr/>
      </p:nvGrpSpPr>
      <p:grpSpPr>
        <a:xfrm>
          <a:off x="0" y="0"/>
          <a:ext cx="0" cy="0"/>
          <a:chOff x="0" y="0"/>
          <a:chExt cx="0" cy="0"/>
        </a:xfrm>
      </p:grpSpPr>
      <p:sp>
        <p:nvSpPr>
          <p:cNvPr id="15" name="Rectangle 2">
            <a:extLst>
              <a:ext uri="{FF2B5EF4-FFF2-40B4-BE49-F238E27FC236}">
                <a16:creationId xmlns:a16="http://schemas.microsoft.com/office/drawing/2014/main" id="{BA19A034-853C-E73E-6C90-E3A258D40AD2}"/>
              </a:ext>
            </a:extLst>
          </p:cNvPr>
          <p:cNvSpPr/>
          <p:nvPr/>
        </p:nvSpPr>
        <p:spPr>
          <a:xfrm>
            <a:off x="3669555" y="3087259"/>
            <a:ext cx="2512594" cy="3100819"/>
          </a:xfrm>
          <a:prstGeom prst="rect">
            <a:avLst/>
          </a:prstGeom>
          <a:solidFill>
            <a:schemeClr val="bg1">
              <a:lumMod val="85000"/>
            </a:schemeClr>
          </a:solidFill>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solidFill>
                  <a:schemeClr val="bg1">
                    <a:lumMod val="50000"/>
                  </a:schemeClr>
                </a:solidFill>
                <a:latin typeface="Century Gothic" panose="020B0502020202020204" pitchFamily="34" charset="0"/>
              </a:rPr>
              <a:t>Lado Izquierdo</a:t>
            </a:r>
          </a:p>
        </p:txBody>
      </p:sp>
      <p:sp>
        <p:nvSpPr>
          <p:cNvPr id="16" name="Rectangle 2">
            <a:extLst>
              <a:ext uri="{FF2B5EF4-FFF2-40B4-BE49-F238E27FC236}">
                <a16:creationId xmlns:a16="http://schemas.microsoft.com/office/drawing/2014/main" id="{7B269105-DCB0-EB2B-02D8-E8A3FA5E4A4D}"/>
              </a:ext>
            </a:extLst>
          </p:cNvPr>
          <p:cNvSpPr/>
          <p:nvPr/>
        </p:nvSpPr>
        <p:spPr>
          <a:xfrm>
            <a:off x="6180502" y="3086450"/>
            <a:ext cx="2512594" cy="3100819"/>
          </a:xfrm>
          <a:prstGeom prst="rect">
            <a:avLst/>
          </a:prstGeom>
          <a:solidFill>
            <a:schemeClr val="accent1">
              <a:lumMod val="20000"/>
              <a:lumOff val="80000"/>
            </a:schemeClr>
          </a:solidFill>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solidFill>
                  <a:schemeClr val="bg1">
                    <a:lumMod val="50000"/>
                  </a:schemeClr>
                </a:solidFill>
                <a:latin typeface="Century Gothic" panose="020B0502020202020204" pitchFamily="34" charset="0"/>
              </a:rPr>
              <a:t>Lado Derecho</a:t>
            </a:r>
          </a:p>
        </p:txBody>
      </p:sp>
      <p:sp>
        <p:nvSpPr>
          <p:cNvPr id="3" name="Rectangle 2">
            <a:extLst>
              <a:ext uri="{FF2B5EF4-FFF2-40B4-BE49-F238E27FC236}">
                <a16:creationId xmlns:a16="http://schemas.microsoft.com/office/drawing/2014/main" id="{6A34B491-9E03-945D-9456-0F90FC7551F5}"/>
              </a:ext>
            </a:extLst>
          </p:cNvPr>
          <p:cNvSpPr/>
          <p:nvPr/>
        </p:nvSpPr>
        <p:spPr>
          <a:xfrm>
            <a:off x="3667909" y="3099679"/>
            <a:ext cx="2512594" cy="3100819"/>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600">
                <a:latin typeface="Century Gothic" panose="020B0502020202020204" pitchFamily="34" charset="0"/>
              </a:rPr>
              <a:t>Activos</a:t>
            </a:r>
          </a:p>
        </p:txBody>
      </p:sp>
      <p:sp>
        <p:nvSpPr>
          <p:cNvPr id="5" name="Title 4">
            <a:extLst>
              <a:ext uri="{FF2B5EF4-FFF2-40B4-BE49-F238E27FC236}">
                <a16:creationId xmlns:a16="http://schemas.microsoft.com/office/drawing/2014/main" id="{21FCF882-DA68-B631-D13D-FBF820650065}"/>
              </a:ext>
            </a:extLst>
          </p:cNvPr>
          <p:cNvSpPr>
            <a:spLocks noGrp="1"/>
          </p:cNvSpPr>
          <p:nvPr>
            <p:ph type="title"/>
          </p:nvPr>
        </p:nvSpPr>
        <p:spPr/>
        <p:txBody>
          <a:bodyPr>
            <a:normAutofit/>
          </a:bodyPr>
          <a:lstStyle/>
          <a:p>
            <a:r>
              <a:rPr lang="es-ES_tradnl">
                <a:latin typeface="Century Gothic" panose="020B0502020202020204" pitchFamily="34" charset="0"/>
              </a:rPr>
              <a:t>EL ESTADO DE SITUACIÓN FINANCIERA</a:t>
            </a:r>
          </a:p>
        </p:txBody>
      </p:sp>
      <p:sp>
        <p:nvSpPr>
          <p:cNvPr id="6" name="Rectangle 5">
            <a:extLst>
              <a:ext uri="{FF2B5EF4-FFF2-40B4-BE49-F238E27FC236}">
                <a16:creationId xmlns:a16="http://schemas.microsoft.com/office/drawing/2014/main" id="{A3E7A197-73B9-8262-06B6-FBB777525290}"/>
              </a:ext>
            </a:extLst>
          </p:cNvPr>
          <p:cNvSpPr/>
          <p:nvPr/>
        </p:nvSpPr>
        <p:spPr>
          <a:xfrm>
            <a:off x="6178857" y="3086855"/>
            <a:ext cx="2510948" cy="1897580"/>
          </a:xfrm>
          <a:prstGeom prst="rect">
            <a:avLst/>
          </a:prstGeom>
          <a:solidFill>
            <a:srgbClr val="002060"/>
          </a:solidFill>
          <a:ln>
            <a:noFill/>
          </a:ln>
          <a:effectLst/>
          <a:scene3d>
            <a:camera prst="orthographicFront"/>
            <a:lightRig rig="threePt" dir="t"/>
          </a:scene3d>
          <a:sp3d/>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_tradnl" sz="1600">
                <a:latin typeface="Century Gothic" panose="020B0502020202020204" pitchFamily="34" charset="0"/>
              </a:rPr>
              <a:t>Pasivos</a:t>
            </a:r>
          </a:p>
        </p:txBody>
      </p:sp>
      <p:sp>
        <p:nvSpPr>
          <p:cNvPr id="9" name="Rectangle 8">
            <a:extLst>
              <a:ext uri="{FF2B5EF4-FFF2-40B4-BE49-F238E27FC236}">
                <a16:creationId xmlns:a16="http://schemas.microsoft.com/office/drawing/2014/main" id="{1D6D3980-EF77-2856-0BEA-DD0D580C7998}"/>
              </a:ext>
            </a:extLst>
          </p:cNvPr>
          <p:cNvSpPr/>
          <p:nvPr/>
        </p:nvSpPr>
        <p:spPr>
          <a:xfrm>
            <a:off x="6180503" y="4985244"/>
            <a:ext cx="2512594" cy="1215254"/>
          </a:xfrm>
          <a:prstGeom prst="rect">
            <a:avLst/>
          </a:prstGeom>
          <a:solidFill>
            <a:schemeClr val="tx2">
              <a:lumMod val="75000"/>
              <a:lumOff val="25000"/>
            </a:schemeClr>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a:latin typeface="Century Gothic" panose="020B0502020202020204" pitchFamily="34" charset="0"/>
              </a:rPr>
              <a:t>Patrimonio</a:t>
            </a:r>
          </a:p>
        </p:txBody>
      </p:sp>
      <p:sp>
        <p:nvSpPr>
          <p:cNvPr id="4" name="Left Brace 3">
            <a:extLst>
              <a:ext uri="{FF2B5EF4-FFF2-40B4-BE49-F238E27FC236}">
                <a16:creationId xmlns:a16="http://schemas.microsoft.com/office/drawing/2014/main" id="{9BD35E86-B90A-F8E5-E5DD-C829BA53B845}"/>
              </a:ext>
            </a:extLst>
          </p:cNvPr>
          <p:cNvSpPr/>
          <p:nvPr/>
        </p:nvSpPr>
        <p:spPr>
          <a:xfrm>
            <a:off x="3092233" y="2950714"/>
            <a:ext cx="575676" cy="3386330"/>
          </a:xfrm>
          <a:prstGeom prst="leftBrace">
            <a:avLst/>
          </a:prstGeom>
          <a:ln>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Left Brace 9">
            <a:extLst>
              <a:ext uri="{FF2B5EF4-FFF2-40B4-BE49-F238E27FC236}">
                <a16:creationId xmlns:a16="http://schemas.microsoft.com/office/drawing/2014/main" id="{EC05F42D-E979-9727-1834-05B205411B1C}"/>
              </a:ext>
            </a:extLst>
          </p:cNvPr>
          <p:cNvSpPr/>
          <p:nvPr/>
        </p:nvSpPr>
        <p:spPr>
          <a:xfrm rot="10800000">
            <a:off x="8693097" y="2950714"/>
            <a:ext cx="575676" cy="3386330"/>
          </a:xfrm>
          <a:prstGeom prst="lef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Content Placeholder 6">
            <a:extLst>
              <a:ext uri="{FF2B5EF4-FFF2-40B4-BE49-F238E27FC236}">
                <a16:creationId xmlns:a16="http://schemas.microsoft.com/office/drawing/2014/main" id="{3D7385E0-8602-0C30-D74C-A65E58761096}"/>
              </a:ext>
            </a:extLst>
          </p:cNvPr>
          <p:cNvSpPr txBox="1">
            <a:spLocks/>
          </p:cNvSpPr>
          <p:nvPr/>
        </p:nvSpPr>
        <p:spPr>
          <a:xfrm>
            <a:off x="1415434" y="4268379"/>
            <a:ext cx="1487767" cy="614454"/>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1800">
                <a:solidFill>
                  <a:schemeClr val="accent1">
                    <a:lumMod val="75000"/>
                  </a:schemeClr>
                </a:solidFill>
                <a:latin typeface="Century Gothic" panose="020B0502020202020204" pitchFamily="34" charset="0"/>
              </a:rPr>
              <a:t>Política de Inversión</a:t>
            </a:r>
          </a:p>
        </p:txBody>
      </p:sp>
      <p:sp>
        <p:nvSpPr>
          <p:cNvPr id="13" name="Content Placeholder 6">
            <a:extLst>
              <a:ext uri="{FF2B5EF4-FFF2-40B4-BE49-F238E27FC236}">
                <a16:creationId xmlns:a16="http://schemas.microsoft.com/office/drawing/2014/main" id="{3802F449-F04A-82F5-C9BB-D24A5FDF9DCF}"/>
              </a:ext>
            </a:extLst>
          </p:cNvPr>
          <p:cNvSpPr txBox="1">
            <a:spLocks/>
          </p:cNvSpPr>
          <p:nvPr/>
        </p:nvSpPr>
        <p:spPr>
          <a:xfrm>
            <a:off x="9268774" y="4291061"/>
            <a:ext cx="1716552" cy="614454"/>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1800">
                <a:solidFill>
                  <a:schemeClr val="accent1">
                    <a:lumMod val="75000"/>
                  </a:schemeClr>
                </a:solidFill>
                <a:latin typeface="Century Gothic" panose="020B0502020202020204" pitchFamily="34" charset="0"/>
              </a:rPr>
              <a:t>Política de Financiación</a:t>
            </a:r>
          </a:p>
        </p:txBody>
      </p:sp>
      <p:sp>
        <p:nvSpPr>
          <p:cNvPr id="11" name="Rectángulo 10">
            <a:extLst>
              <a:ext uri="{FF2B5EF4-FFF2-40B4-BE49-F238E27FC236}">
                <a16:creationId xmlns:a16="http://schemas.microsoft.com/office/drawing/2014/main" id="{CDAA6320-313E-197D-6AE3-978DA3C70BE9}"/>
              </a:ext>
            </a:extLst>
          </p:cNvPr>
          <p:cNvSpPr/>
          <p:nvPr/>
        </p:nvSpPr>
        <p:spPr>
          <a:xfrm>
            <a:off x="3834804" y="2244037"/>
            <a:ext cx="4522392" cy="400110"/>
          </a:xfrm>
          <a:prstGeom prst="rect">
            <a:avLst/>
          </a:prstGeom>
        </p:spPr>
        <p:txBody>
          <a:bodyPr wrap="none">
            <a:spAutoFit/>
          </a:bodyPr>
          <a:lstStyle/>
          <a:p>
            <a:pPr defTabSz="914400">
              <a:spcBef>
                <a:spcPts val="2000"/>
              </a:spcBef>
              <a:buClr>
                <a:schemeClr val="accent1"/>
              </a:buClr>
            </a:pPr>
            <a:r>
              <a:rPr lang="en-US" sz="2000">
                <a:solidFill>
                  <a:schemeClr val="accent1"/>
                </a:solidFill>
                <a:latin typeface="Century Gothic" panose="020B0502020202020204" pitchFamily="34" charset="0"/>
              </a:rPr>
              <a:t>ACTIVOS </a:t>
            </a:r>
            <a:r>
              <a:rPr lang="en-US" sz="2000" b="1">
                <a:solidFill>
                  <a:srgbClr val="D7A700"/>
                </a:solidFill>
                <a:latin typeface="Century Gothic" panose="020B0502020202020204" pitchFamily="34" charset="0"/>
              </a:rPr>
              <a:t>=</a:t>
            </a:r>
            <a:r>
              <a:rPr lang="en-US" sz="2000">
                <a:solidFill>
                  <a:schemeClr val="accent1"/>
                </a:solidFill>
                <a:latin typeface="Century Gothic" panose="020B0502020202020204" pitchFamily="34" charset="0"/>
              </a:rPr>
              <a:t> PASIVOS </a:t>
            </a:r>
            <a:r>
              <a:rPr lang="en-US" sz="2000" b="1">
                <a:solidFill>
                  <a:srgbClr val="D7A700"/>
                </a:solidFill>
                <a:latin typeface="Century Gothic" panose="020B0502020202020204" pitchFamily="34" charset="0"/>
              </a:rPr>
              <a:t>+</a:t>
            </a:r>
            <a:r>
              <a:rPr lang="en-US" sz="2000">
                <a:solidFill>
                  <a:schemeClr val="accent1"/>
                </a:solidFill>
                <a:latin typeface="Century Gothic" panose="020B0502020202020204" pitchFamily="34" charset="0"/>
              </a:rPr>
              <a:t> PATRIMONIO</a:t>
            </a:r>
          </a:p>
        </p:txBody>
      </p:sp>
      <p:sp>
        <p:nvSpPr>
          <p:cNvPr id="21" name="Rectángulo 20">
            <a:extLst>
              <a:ext uri="{FF2B5EF4-FFF2-40B4-BE49-F238E27FC236}">
                <a16:creationId xmlns:a16="http://schemas.microsoft.com/office/drawing/2014/main" id="{05BB4BD4-66AD-E460-55CC-CC090749844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3" name="Picture 2" descr="Clientes y aliados | Centro de Evaluación | Uniandes">
            <a:extLst>
              <a:ext uri="{FF2B5EF4-FFF2-40B4-BE49-F238E27FC236}">
                <a16:creationId xmlns:a16="http://schemas.microsoft.com/office/drawing/2014/main" id="{5A00D9CB-44BB-D1DB-CBD1-BB20D1C106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7" name="Rectángulo 16">
            <a:extLst>
              <a:ext uri="{FF2B5EF4-FFF2-40B4-BE49-F238E27FC236}">
                <a16:creationId xmlns:a16="http://schemas.microsoft.com/office/drawing/2014/main" id="{F836EE18-992C-D7A2-E9A1-79485EA7F06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Marcador de número de diapositiva 3">
            <a:extLst>
              <a:ext uri="{FF2B5EF4-FFF2-40B4-BE49-F238E27FC236}">
                <a16:creationId xmlns:a16="http://schemas.microsoft.com/office/drawing/2014/main" id="{DC249D0B-61C7-4A65-77F1-4B7AA70C4DA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13</a:t>
            </a:fld>
            <a:endParaRPr lang="en-US" sz="2000" b="1">
              <a:latin typeface="Century Gothic" panose="020B0502020202020204" pitchFamily="34" charset="0"/>
            </a:endParaRPr>
          </a:p>
        </p:txBody>
      </p:sp>
    </p:spTree>
    <p:extLst>
      <p:ext uri="{BB962C8B-B14F-4D97-AF65-F5344CB8AC3E}">
        <p14:creationId xmlns:p14="http://schemas.microsoft.com/office/powerpoint/2010/main" val="2107142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9" grpId="0" animBg="1"/>
      <p:bldP spid="4" grpId="0" animBg="1"/>
      <p:bldP spid="10" grpId="0" animBg="1"/>
      <p:bldP spid="12" grpId="0"/>
      <p:bldP spid="13"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2"/>
          <p:cNvSpPr/>
          <p:nvPr/>
        </p:nvSpPr>
        <p:spPr>
          <a:xfrm>
            <a:off x="3669555" y="3087259"/>
            <a:ext cx="2512594" cy="3100819"/>
          </a:xfrm>
          <a:prstGeom prst="rect">
            <a:avLst/>
          </a:prstGeom>
          <a:solidFill>
            <a:schemeClr val="bg1">
              <a:lumMod val="85000"/>
            </a:schemeClr>
          </a:solidFill>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solidFill>
                  <a:schemeClr val="bg1">
                    <a:lumMod val="50000"/>
                  </a:schemeClr>
                </a:solidFill>
                <a:latin typeface="Century Gothic" panose="020B0502020202020204" pitchFamily="34" charset="0"/>
              </a:rPr>
              <a:t>Lado Izquierdo</a:t>
            </a:r>
          </a:p>
        </p:txBody>
      </p:sp>
      <p:sp>
        <p:nvSpPr>
          <p:cNvPr id="16" name="Rectangle 2"/>
          <p:cNvSpPr/>
          <p:nvPr/>
        </p:nvSpPr>
        <p:spPr>
          <a:xfrm>
            <a:off x="6180502" y="3086450"/>
            <a:ext cx="2512594" cy="3100819"/>
          </a:xfrm>
          <a:prstGeom prst="rect">
            <a:avLst/>
          </a:prstGeom>
          <a:solidFill>
            <a:schemeClr val="accent1">
              <a:lumMod val="20000"/>
              <a:lumOff val="80000"/>
            </a:schemeClr>
          </a:solidFill>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solidFill>
                  <a:schemeClr val="bg1">
                    <a:lumMod val="50000"/>
                  </a:schemeClr>
                </a:solidFill>
                <a:latin typeface="Century Gothic" panose="020B0502020202020204" pitchFamily="34" charset="0"/>
              </a:rPr>
              <a:t>Lado Derecho</a:t>
            </a:r>
          </a:p>
        </p:txBody>
      </p:sp>
      <p:sp>
        <p:nvSpPr>
          <p:cNvPr id="3" name="Rectangle 2"/>
          <p:cNvSpPr/>
          <p:nvPr/>
        </p:nvSpPr>
        <p:spPr>
          <a:xfrm>
            <a:off x="3667909" y="3920188"/>
            <a:ext cx="2512594" cy="2280310"/>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600">
                <a:latin typeface="Century Gothic" panose="020B0502020202020204" pitchFamily="34" charset="0"/>
              </a:rPr>
              <a:t>Activo No Corriente</a:t>
            </a:r>
          </a:p>
        </p:txBody>
      </p:sp>
      <p:sp>
        <p:nvSpPr>
          <p:cNvPr id="8" name="Rectangle 7"/>
          <p:cNvSpPr/>
          <p:nvPr/>
        </p:nvSpPr>
        <p:spPr>
          <a:xfrm>
            <a:off x="6182149" y="3933844"/>
            <a:ext cx="2512594" cy="1051401"/>
          </a:xfrm>
          <a:prstGeom prst="rect">
            <a:avLst/>
          </a:prstGeom>
          <a:solidFill>
            <a:srgbClr val="00B0F0"/>
          </a:solidFill>
          <a:ln>
            <a:noFill/>
          </a:ln>
          <a:effectLst/>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a:latin typeface="Century Gothic" panose="020B0502020202020204" pitchFamily="34" charset="0"/>
              </a:rPr>
              <a:t>Deudas o Pasivos de </a:t>
            </a:r>
          </a:p>
          <a:p>
            <a:pPr algn="ctr"/>
            <a:r>
              <a:rPr lang="es-ES_tradnl" sz="1600">
                <a:latin typeface="Century Gothic" panose="020B0502020202020204" pitchFamily="34" charset="0"/>
              </a:rPr>
              <a:t>Largo Plazo/Pasivo No Corriente</a:t>
            </a:r>
          </a:p>
        </p:txBody>
      </p:sp>
      <p:sp>
        <p:nvSpPr>
          <p:cNvPr id="5" name="Title 4"/>
          <p:cNvSpPr>
            <a:spLocks noGrp="1"/>
          </p:cNvSpPr>
          <p:nvPr>
            <p:ph type="title"/>
          </p:nvPr>
        </p:nvSpPr>
        <p:spPr/>
        <p:txBody>
          <a:bodyPr>
            <a:normAutofit/>
          </a:bodyPr>
          <a:lstStyle/>
          <a:p>
            <a:r>
              <a:rPr lang="es-ES_tradnl">
                <a:latin typeface="Century Gothic" panose="020B0502020202020204" pitchFamily="34" charset="0"/>
              </a:rPr>
              <a:t>EL ESTADO DE SITUACIÓN FINANCIERA</a:t>
            </a:r>
          </a:p>
        </p:txBody>
      </p:sp>
      <p:sp>
        <p:nvSpPr>
          <p:cNvPr id="2" name="Content Placeholder 1"/>
          <p:cNvSpPr>
            <a:spLocks noGrp="1"/>
          </p:cNvSpPr>
          <p:nvPr>
            <p:ph idx="1"/>
          </p:nvPr>
        </p:nvSpPr>
        <p:spPr>
          <a:xfrm>
            <a:off x="2638424" y="2200453"/>
            <a:ext cx="7610476" cy="3670767"/>
          </a:xfrm>
        </p:spPr>
        <p:txBody>
          <a:bodyPr/>
          <a:lstStyle/>
          <a:p>
            <a:pPr algn="just"/>
            <a:endParaRPr lang="es-ES_tradnl"/>
          </a:p>
          <a:p>
            <a:pPr lvl="1" algn="just">
              <a:buFont typeface="Wingdings" charset="2"/>
              <a:buChar char="§"/>
            </a:pPr>
            <a:endParaRPr lang="es-ES_tradnl"/>
          </a:p>
        </p:txBody>
      </p:sp>
      <p:sp>
        <p:nvSpPr>
          <p:cNvPr id="7" name="Rectangle 6"/>
          <p:cNvSpPr/>
          <p:nvPr/>
        </p:nvSpPr>
        <p:spPr>
          <a:xfrm>
            <a:off x="3667086" y="3075711"/>
            <a:ext cx="2512594" cy="846584"/>
          </a:xfrm>
          <a:prstGeom prst="rect">
            <a:avLst/>
          </a:prstGeom>
          <a:solidFill>
            <a:schemeClr val="accent5">
              <a:lumMod val="25000"/>
            </a:schemeClr>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a:latin typeface="Century Gothic" panose="020B0502020202020204" pitchFamily="34" charset="0"/>
              </a:rPr>
              <a:t>Activo Corriente</a:t>
            </a:r>
          </a:p>
        </p:txBody>
      </p:sp>
      <p:sp>
        <p:nvSpPr>
          <p:cNvPr id="6" name="Rectangle 5"/>
          <p:cNvSpPr/>
          <p:nvPr/>
        </p:nvSpPr>
        <p:spPr>
          <a:xfrm>
            <a:off x="6178857" y="3086855"/>
            <a:ext cx="2510948" cy="846584"/>
          </a:xfrm>
          <a:prstGeom prst="rect">
            <a:avLst/>
          </a:prstGeom>
          <a:solidFill>
            <a:srgbClr val="002060"/>
          </a:solidFill>
          <a:ln>
            <a:noFill/>
          </a:ln>
          <a:effectLst/>
          <a:scene3d>
            <a:camera prst="orthographicFront"/>
            <a:lightRig rig="threePt" dir="t"/>
          </a:scene3d>
          <a:sp3d/>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_tradnl" sz="1600">
                <a:latin typeface="Century Gothic" panose="020B0502020202020204" pitchFamily="34" charset="0"/>
              </a:rPr>
              <a:t>Pasivo Corriente</a:t>
            </a:r>
          </a:p>
        </p:txBody>
      </p:sp>
      <p:sp>
        <p:nvSpPr>
          <p:cNvPr id="9" name="Rectangle 8"/>
          <p:cNvSpPr/>
          <p:nvPr/>
        </p:nvSpPr>
        <p:spPr>
          <a:xfrm>
            <a:off x="6180503" y="4985244"/>
            <a:ext cx="2512594" cy="1215254"/>
          </a:xfrm>
          <a:prstGeom prst="rect">
            <a:avLst/>
          </a:prstGeom>
          <a:solidFill>
            <a:schemeClr val="tx2">
              <a:lumMod val="75000"/>
              <a:lumOff val="25000"/>
            </a:schemeClr>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a:latin typeface="Century Gothic" panose="020B0502020202020204" pitchFamily="34" charset="0"/>
              </a:rPr>
              <a:t>Patrimonio</a:t>
            </a:r>
          </a:p>
        </p:txBody>
      </p:sp>
      <p:sp>
        <p:nvSpPr>
          <p:cNvPr id="4" name="Left Brace 3"/>
          <p:cNvSpPr/>
          <p:nvPr/>
        </p:nvSpPr>
        <p:spPr>
          <a:xfrm>
            <a:off x="3092233" y="2950714"/>
            <a:ext cx="575676" cy="3386330"/>
          </a:xfrm>
          <a:prstGeom prst="leftBrace">
            <a:avLst/>
          </a:prstGeom>
          <a:ln>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Left Brace 9"/>
          <p:cNvSpPr/>
          <p:nvPr/>
        </p:nvSpPr>
        <p:spPr>
          <a:xfrm rot="10800000">
            <a:off x="8693097" y="2950714"/>
            <a:ext cx="575676" cy="3386330"/>
          </a:xfrm>
          <a:prstGeom prst="lef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Content Placeholder 6"/>
          <p:cNvSpPr txBox="1">
            <a:spLocks/>
          </p:cNvSpPr>
          <p:nvPr/>
        </p:nvSpPr>
        <p:spPr>
          <a:xfrm>
            <a:off x="1415434" y="4268379"/>
            <a:ext cx="1487767" cy="614454"/>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1800">
                <a:solidFill>
                  <a:schemeClr val="accent1">
                    <a:lumMod val="75000"/>
                  </a:schemeClr>
                </a:solidFill>
                <a:latin typeface="Century Gothic" panose="020B0502020202020204" pitchFamily="34" charset="0"/>
              </a:rPr>
              <a:t>Política de Inversión</a:t>
            </a:r>
          </a:p>
        </p:txBody>
      </p:sp>
      <p:sp>
        <p:nvSpPr>
          <p:cNvPr id="13" name="Content Placeholder 6"/>
          <p:cNvSpPr txBox="1">
            <a:spLocks/>
          </p:cNvSpPr>
          <p:nvPr/>
        </p:nvSpPr>
        <p:spPr>
          <a:xfrm>
            <a:off x="9268774" y="4291061"/>
            <a:ext cx="1716552" cy="614454"/>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1800">
                <a:solidFill>
                  <a:schemeClr val="accent1">
                    <a:lumMod val="75000"/>
                  </a:schemeClr>
                </a:solidFill>
                <a:latin typeface="Century Gothic" panose="020B0502020202020204" pitchFamily="34" charset="0"/>
              </a:rPr>
              <a:t>Política de Financiación</a:t>
            </a:r>
          </a:p>
        </p:txBody>
      </p:sp>
      <p:sp>
        <p:nvSpPr>
          <p:cNvPr id="11" name="Rectángulo 10"/>
          <p:cNvSpPr/>
          <p:nvPr/>
        </p:nvSpPr>
        <p:spPr>
          <a:xfrm>
            <a:off x="3834804" y="2244037"/>
            <a:ext cx="4522392" cy="400110"/>
          </a:xfrm>
          <a:prstGeom prst="rect">
            <a:avLst/>
          </a:prstGeom>
        </p:spPr>
        <p:txBody>
          <a:bodyPr wrap="none">
            <a:spAutoFit/>
          </a:bodyPr>
          <a:lstStyle/>
          <a:p>
            <a:pPr defTabSz="914400">
              <a:spcBef>
                <a:spcPts val="2000"/>
              </a:spcBef>
              <a:buClr>
                <a:schemeClr val="accent1"/>
              </a:buClr>
            </a:pPr>
            <a:r>
              <a:rPr lang="en-US" sz="2000">
                <a:solidFill>
                  <a:schemeClr val="accent1"/>
                </a:solidFill>
                <a:latin typeface="Century Gothic" panose="020B0502020202020204" pitchFamily="34" charset="0"/>
              </a:rPr>
              <a:t>ACTIVOS </a:t>
            </a:r>
            <a:r>
              <a:rPr lang="en-US" sz="2000" b="1">
                <a:solidFill>
                  <a:srgbClr val="D7A700"/>
                </a:solidFill>
                <a:latin typeface="Century Gothic" panose="020B0502020202020204" pitchFamily="34" charset="0"/>
              </a:rPr>
              <a:t>=</a:t>
            </a:r>
            <a:r>
              <a:rPr lang="en-US" sz="2000">
                <a:solidFill>
                  <a:schemeClr val="accent1"/>
                </a:solidFill>
                <a:latin typeface="Century Gothic" panose="020B0502020202020204" pitchFamily="34" charset="0"/>
              </a:rPr>
              <a:t> PASIVOS </a:t>
            </a:r>
            <a:r>
              <a:rPr lang="en-US" sz="2000" b="1">
                <a:solidFill>
                  <a:srgbClr val="D7A700"/>
                </a:solidFill>
                <a:latin typeface="Century Gothic" panose="020B0502020202020204" pitchFamily="34" charset="0"/>
              </a:rPr>
              <a:t>+</a:t>
            </a:r>
            <a:r>
              <a:rPr lang="en-US" sz="2000">
                <a:solidFill>
                  <a:schemeClr val="accent1"/>
                </a:solidFill>
                <a:latin typeface="Century Gothic" panose="020B0502020202020204" pitchFamily="34" charset="0"/>
              </a:rPr>
              <a:t> PATRIMONIO</a:t>
            </a:r>
          </a:p>
        </p:txBody>
      </p:sp>
      <p:sp>
        <p:nvSpPr>
          <p:cNvPr id="21" name="Rectángulo 20">
            <a:extLst>
              <a:ext uri="{FF2B5EF4-FFF2-40B4-BE49-F238E27FC236}">
                <a16:creationId xmlns:a16="http://schemas.microsoft.com/office/drawing/2014/main" id="{8E83DB91-6DDB-F8C9-B169-49013524F93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3" name="Picture 2" descr="Clientes y aliados | Centro de Evaluación | Uniandes">
            <a:extLst>
              <a:ext uri="{FF2B5EF4-FFF2-40B4-BE49-F238E27FC236}">
                <a16:creationId xmlns:a16="http://schemas.microsoft.com/office/drawing/2014/main" id="{5590B544-A925-C4A9-EBF7-55BC700F57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7" name="Rectángulo 16">
            <a:extLst>
              <a:ext uri="{FF2B5EF4-FFF2-40B4-BE49-F238E27FC236}">
                <a16:creationId xmlns:a16="http://schemas.microsoft.com/office/drawing/2014/main" id="{ABF9BB56-DAB1-2D3A-E0F0-FB43E99EDF8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8" name="Marcador de número de diapositiva 3">
            <a:extLst>
              <a:ext uri="{FF2B5EF4-FFF2-40B4-BE49-F238E27FC236}">
                <a16:creationId xmlns:a16="http://schemas.microsoft.com/office/drawing/2014/main" id="{F9E216B6-7280-7718-D4EA-B5989AA8BDBE}"/>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14</a:t>
            </a:fld>
            <a:endParaRPr lang="en-US" sz="2000" b="1">
              <a:latin typeface="Century Gothic" panose="020B0502020202020204" pitchFamily="34" charset="0"/>
            </a:endParaRPr>
          </a:p>
        </p:txBody>
      </p:sp>
    </p:spTree>
    <p:extLst>
      <p:ext uri="{BB962C8B-B14F-4D97-AF65-F5344CB8AC3E}">
        <p14:creationId xmlns:p14="http://schemas.microsoft.com/office/powerpoint/2010/main" val="3689333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500"/>
                                        <p:tgtEl>
                                          <p:spTgt spid="1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7" grpId="0" animBg="1"/>
      <p:bldP spid="6" grpId="0" animBg="1"/>
      <p:bldP spid="9" grpId="0" animBg="1"/>
      <p:bldP spid="4" grpId="0" animBg="1"/>
      <p:bldP spid="10" grpId="0" animBg="1"/>
      <p:bldP spid="12" grpId="0"/>
      <p:bldP spid="13"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Shape 90"/>
          <p:cNvSpPr/>
          <p:nvPr/>
        </p:nvSpPr>
        <p:spPr>
          <a:xfrm>
            <a:off x="6217566" y="3585385"/>
            <a:ext cx="5149343" cy="803647"/>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noAutofit/>
          </a:bodyPr>
          <a:lstStyle/>
          <a:p>
            <a:pPr algn="ctr">
              <a:spcBef>
                <a:spcPts val="2953"/>
              </a:spcBef>
              <a:defRPr sz="1800">
                <a:solidFill>
                  <a:srgbClr val="000000"/>
                </a:solidFill>
              </a:defRPr>
            </a:pPr>
            <a:r>
              <a:rPr lang="es-ES" dirty="0">
                <a:solidFill>
                  <a:schemeClr val="accent3">
                    <a:lumMod val="50000"/>
                  </a:schemeClr>
                </a:solidFill>
                <a:latin typeface="Century Gothic"/>
              </a:rPr>
              <a:t>Recurso controlado por una entidad como resultado de sucesos pasados, del que se espera obtener beneficios económicos en el futuro. Esto implica que el activo debe cumplir tres criterios: ser un recurso, estar controlado por la empresa, y generar beneficios futuros para esta.</a:t>
            </a:r>
            <a:endParaRPr dirty="0">
              <a:solidFill>
                <a:schemeClr val="accent3">
                  <a:lumMod val="50000"/>
                </a:schemeClr>
              </a:solidFill>
              <a:latin typeface="Century Gothic" panose="020B0502020202020204" pitchFamily="34" charset="0"/>
            </a:endParaRPr>
          </a:p>
        </p:txBody>
      </p:sp>
      <p:sp>
        <p:nvSpPr>
          <p:cNvPr id="8" name="Title 1"/>
          <p:cNvSpPr>
            <a:spLocks noGrp="1"/>
          </p:cNvSpPr>
          <p:nvPr>
            <p:ph type="title"/>
          </p:nvPr>
        </p:nvSpPr>
        <p:spPr>
          <a:xfrm>
            <a:off x="446043" y="967522"/>
            <a:ext cx="7249775" cy="803647"/>
          </a:xfrm>
        </p:spPr>
        <p:txBody>
          <a:bodyPr/>
          <a:lstStyle/>
          <a:p>
            <a:r>
              <a:rPr lang="es-ES_tradnl">
                <a:latin typeface="Century Gothic" panose="020B0502020202020204" pitchFamily="34" charset="0"/>
              </a:rPr>
              <a:t>¿Qué es un activo?</a:t>
            </a:r>
          </a:p>
        </p:txBody>
      </p:sp>
      <p:pic>
        <p:nvPicPr>
          <p:cNvPr id="2050" name="Picture 2" descr="Resultado de imagen para activos"/>
          <p:cNvPicPr>
            <a:picLocks noChangeAspect="1" noChangeArrowheads="1"/>
          </p:cNvPicPr>
          <p:nvPr/>
        </p:nvPicPr>
        <p:blipFill>
          <a:blip r:embed="rId2">
            <a:clrChange>
              <a:clrFrom>
                <a:srgbClr val="F9F9F9"/>
              </a:clrFrom>
              <a:clrTo>
                <a:srgbClr val="F9F9F9">
                  <a:alpha val="0"/>
                </a:srgbClr>
              </a:clrTo>
            </a:clrChange>
            <a:extLst>
              <a:ext uri="{28A0092B-C50C-407E-A947-70E740481C1C}">
                <a14:useLocalDpi xmlns:a14="http://schemas.microsoft.com/office/drawing/2010/main" val="0"/>
              </a:ext>
            </a:extLst>
          </a:blip>
          <a:srcRect/>
          <a:stretch>
            <a:fillRect/>
          </a:stretch>
        </p:blipFill>
        <p:spPr bwMode="auto">
          <a:xfrm>
            <a:off x="641965" y="2546701"/>
            <a:ext cx="5484091" cy="2865438"/>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4CC4F635-E80B-E9BE-3C40-E4A75C26F09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F44DE8D4-FC5A-AF5C-CFFD-34425FD0F7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0CF5563E-4123-9B27-C6EE-5CF453E68F4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Marcador de número de diapositiva 3">
            <a:extLst>
              <a:ext uri="{FF2B5EF4-FFF2-40B4-BE49-F238E27FC236}">
                <a16:creationId xmlns:a16="http://schemas.microsoft.com/office/drawing/2014/main" id="{90C47C60-8B22-316E-757E-19118BB5E43B}"/>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15</a:t>
            </a:fld>
            <a:endParaRPr lang="en-US" sz="2000" b="1">
              <a:latin typeface="Century Gothic" panose="020B0502020202020204" pitchFamily="34" charset="0"/>
            </a:endParaRPr>
          </a:p>
        </p:txBody>
      </p:sp>
    </p:spTree>
    <p:extLst>
      <p:ext uri="{BB962C8B-B14F-4D97-AF65-F5344CB8AC3E}">
        <p14:creationId xmlns:p14="http://schemas.microsoft.com/office/powerpoint/2010/main" val="141953918"/>
      </p:ext>
    </p:extLst>
  </p:cSld>
  <p:clrMapOvr>
    <a:masterClrMapping/>
  </p:clrMapOvr>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46043" y="975665"/>
            <a:ext cx="11291330" cy="803647"/>
          </a:xfrm>
        </p:spPr>
        <p:txBody>
          <a:bodyPr>
            <a:noAutofit/>
          </a:bodyPr>
          <a:lstStyle/>
          <a:p>
            <a:r>
              <a:rPr lang="es-ES_tradnl" sz="2400">
                <a:latin typeface="Century Gothic" panose="020B0502020202020204" pitchFamily="34" charset="0"/>
              </a:rPr>
              <a:t>¿Cómo es la estructura del ESTADO DE SITUACIÓN FINANCIERA?</a:t>
            </a:r>
          </a:p>
        </p:txBody>
      </p:sp>
      <p:sp>
        <p:nvSpPr>
          <p:cNvPr id="2" name="Rectángulo 1">
            <a:extLst>
              <a:ext uri="{FF2B5EF4-FFF2-40B4-BE49-F238E27FC236}">
                <a16:creationId xmlns:a16="http://schemas.microsoft.com/office/drawing/2014/main" id="{6284D2C9-F225-0FE8-1F70-DB55164B0B4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61364DEB-FDAF-4DDC-647A-77D84FE3CD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147">
            <a:extLst>
              <a:ext uri="{FF2B5EF4-FFF2-40B4-BE49-F238E27FC236}">
                <a16:creationId xmlns:a16="http://schemas.microsoft.com/office/drawing/2014/main" id="{F04E7F52-C797-5FAA-A991-068937032C46}"/>
              </a:ext>
            </a:extLst>
          </p:cNvPr>
          <p:cNvGraphicFramePr/>
          <p:nvPr>
            <p:extLst>
              <p:ext uri="{D42A27DB-BD31-4B8C-83A1-F6EECF244321}">
                <p14:modId xmlns:p14="http://schemas.microsoft.com/office/powerpoint/2010/main" val="3074929608"/>
              </p:ext>
            </p:extLst>
          </p:nvPr>
        </p:nvGraphicFramePr>
        <p:xfrm>
          <a:off x="3415002" y="1827666"/>
          <a:ext cx="5546117" cy="4807474"/>
        </p:xfrm>
        <a:graphic>
          <a:graphicData uri="http://schemas.openxmlformats.org/drawingml/2006/table">
            <a:tbl>
              <a:tblPr firstRow="1"/>
              <a:tblGrid>
                <a:gridCol w="308354">
                  <a:extLst>
                    <a:ext uri="{9D8B030D-6E8A-4147-A177-3AD203B41FA5}">
                      <a16:colId xmlns:a16="http://schemas.microsoft.com/office/drawing/2014/main" val="20000"/>
                    </a:ext>
                  </a:extLst>
                </a:gridCol>
                <a:gridCol w="2280721">
                  <a:extLst>
                    <a:ext uri="{9D8B030D-6E8A-4147-A177-3AD203B41FA5}">
                      <a16:colId xmlns:a16="http://schemas.microsoft.com/office/drawing/2014/main" val="20001"/>
                    </a:ext>
                  </a:extLst>
                </a:gridCol>
                <a:gridCol w="310678">
                  <a:extLst>
                    <a:ext uri="{9D8B030D-6E8A-4147-A177-3AD203B41FA5}">
                      <a16:colId xmlns:a16="http://schemas.microsoft.com/office/drawing/2014/main" val="20002"/>
                    </a:ext>
                  </a:extLst>
                </a:gridCol>
                <a:gridCol w="2646364">
                  <a:extLst>
                    <a:ext uri="{9D8B030D-6E8A-4147-A177-3AD203B41FA5}">
                      <a16:colId xmlns:a16="http://schemas.microsoft.com/office/drawing/2014/main" val="20003"/>
                    </a:ext>
                  </a:extLst>
                </a:gridCol>
              </a:tblGrid>
              <a:tr h="224123">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extLst>
                  <a:ext uri="{0D108BD9-81ED-4DB2-BD59-A6C34878D82A}">
                    <a16:rowId xmlns:a16="http://schemas.microsoft.com/office/drawing/2014/main" val="10000"/>
                  </a:ext>
                </a:extLst>
              </a:tr>
              <a:tr h="224123">
                <a:tc gridSpan="2">
                  <a:txBody>
                    <a:bodyPr/>
                    <a:lstStyle/>
                    <a:p>
                      <a:pPr lvl="0" defTabSz="914400">
                        <a:defRPr>
                          <a:solidFill>
                            <a:srgbClr val="000000"/>
                          </a:solidFill>
                        </a:defRPr>
                      </a:pPr>
                      <a:r>
                        <a:rPr sz="900" b="1" spc="56" err="1">
                          <a:solidFill>
                            <a:schemeClr val="bg1"/>
                          </a:solidFill>
                          <a:latin typeface="Century Gothic" panose="020B0502020202020204" pitchFamily="34" charset="0"/>
                        </a:rPr>
                        <a:t>Activos</a:t>
                      </a:r>
                      <a:r>
                        <a:rPr sz="900" b="1" spc="56">
                          <a:solidFill>
                            <a:schemeClr val="bg1"/>
                          </a:solidFill>
                          <a:latin typeface="Century Gothic" panose="020B0502020202020204" pitchFamily="34" charset="0"/>
                        </a:rPr>
                        <a:t> Corrientes</a:t>
                      </a:r>
                    </a:p>
                  </a:txBody>
                  <a:tcPr marL="35718" marR="35718" marT="35718" marB="35718" anchor="ctr" horzOverflow="overflow">
                    <a:lnL w="12700">
                      <a:noFill/>
                      <a:miter lim="400000"/>
                    </a:lnL>
                    <a:lnR w="12700">
                      <a:noFill/>
                      <a:miter lim="400000"/>
                    </a:lnR>
                    <a:lnT w="12700">
                      <a:noFill/>
                      <a:miter lim="400000"/>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tc gridSpan="2">
                  <a:txBody>
                    <a:bodyPr/>
                    <a:lstStyle/>
                    <a:p>
                      <a:pPr lvl="0" defTabSz="914400">
                        <a:defRPr>
                          <a:solidFill>
                            <a:srgbClr val="000000"/>
                          </a:solidFill>
                        </a:defRPr>
                      </a:pPr>
                      <a:r>
                        <a:rPr sz="900" b="1" spc="56">
                          <a:solidFill>
                            <a:schemeClr val="bg1"/>
                          </a:solidFill>
                          <a:latin typeface="Century Gothic" panose="020B0502020202020204" pitchFamily="34" charset="0"/>
                        </a:rPr>
                        <a:t>Pasivos Corrientes</a:t>
                      </a:r>
                    </a:p>
                  </a:txBody>
                  <a:tcPr marL="35718" marR="35718" marT="35718" marB="35718" anchor="ctr" horzOverflow="overflow">
                    <a:lnL w="12700">
                      <a:noFill/>
                      <a:miter lim="400000"/>
                    </a:lnL>
                    <a:lnR w="12700">
                      <a:noFill/>
                      <a:miter lim="400000"/>
                    </a:lnR>
                    <a:lnT w="12700">
                      <a:noFill/>
                      <a:miter lim="400000"/>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01"/>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9">
                  <a:txBody>
                    <a:bodyPr/>
                    <a:lstStyle/>
                    <a:p>
                      <a:pPr lvl="0" algn="just" defTabSz="914400">
                        <a:defRPr>
                          <a:solidFill>
                            <a:srgbClr val="000000"/>
                          </a:solidFill>
                        </a:defRPr>
                      </a:pPr>
                      <a:endParaRPr sz="900" i="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8">
                  <a:txBody>
                    <a:bodyPr/>
                    <a:lstStyle/>
                    <a:p>
                      <a:pPr lvl="0" algn="just" defTabSz="914400">
                        <a:defRPr>
                          <a:solidFill>
                            <a:srgbClr val="000000"/>
                          </a:solidFill>
                        </a:defRPr>
                      </a:pPr>
                      <a:endParaRPr sz="9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3"/>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4"/>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5"/>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6"/>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7"/>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8"/>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9"/>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gridSpan="2">
                  <a:txBody>
                    <a:bodyPr/>
                    <a:lstStyle/>
                    <a:p>
                      <a:pPr lvl="0" defTabSz="914400">
                        <a:defRPr>
                          <a:solidFill>
                            <a:srgbClr val="000000"/>
                          </a:solidFill>
                        </a:defRPr>
                      </a:pPr>
                      <a:r>
                        <a:rPr sz="900" b="1" spc="56">
                          <a:solidFill>
                            <a:schemeClr val="bg1"/>
                          </a:solidFill>
                          <a:latin typeface="Century Gothic" panose="020B0502020202020204" pitchFamily="34" charset="0"/>
                        </a:rPr>
                        <a:t>Pasivos </a:t>
                      </a:r>
                      <a:r>
                        <a:rPr lang="es-ES" sz="900" b="1" spc="56">
                          <a:solidFill>
                            <a:schemeClr val="bg1"/>
                          </a:solidFill>
                          <a:latin typeface="Century Gothic" panose="020B0502020202020204" pitchFamily="34" charset="0"/>
                        </a:rPr>
                        <a:t>No Corrientes</a:t>
                      </a:r>
                      <a:endParaRPr sz="9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10"/>
                  </a:ext>
                </a:extLst>
              </a:tr>
              <a:tr h="224123">
                <a:tc gridSpan="2">
                  <a:txBody>
                    <a:bodyPr/>
                    <a:lstStyle/>
                    <a:p>
                      <a:pPr lvl="0" defTabSz="914400">
                        <a:defRPr>
                          <a:solidFill>
                            <a:srgbClr val="000000"/>
                          </a:solidFill>
                        </a:defRPr>
                      </a:pPr>
                      <a:r>
                        <a:rPr sz="900" b="1" spc="56" err="1">
                          <a:solidFill>
                            <a:schemeClr val="bg1"/>
                          </a:solidFill>
                          <a:latin typeface="Century Gothic" panose="020B0502020202020204" pitchFamily="34" charset="0"/>
                        </a:rPr>
                        <a:t>Activos</a:t>
                      </a:r>
                      <a:r>
                        <a:rPr sz="900" b="1" spc="56">
                          <a:solidFill>
                            <a:schemeClr val="bg1"/>
                          </a:solidFill>
                          <a:latin typeface="Century Gothic" panose="020B0502020202020204" pitchFamily="34" charset="0"/>
                        </a:rPr>
                        <a:t> </a:t>
                      </a:r>
                      <a:r>
                        <a:rPr lang="es-ES" sz="900" b="1" spc="56">
                          <a:solidFill>
                            <a:schemeClr val="bg1"/>
                          </a:solidFill>
                          <a:latin typeface="Century Gothic" panose="020B0502020202020204" pitchFamily="34" charset="0"/>
                        </a:rPr>
                        <a:t>No Corrientes</a:t>
                      </a:r>
                      <a:endParaRPr sz="9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a:txBody>
                    <a:bodyPr/>
                    <a:lstStyle/>
                    <a:p>
                      <a:pPr lvl="0" algn="l" defTabSz="914400">
                        <a:defRPr>
                          <a:solidFill>
                            <a:srgbClr val="000000"/>
                          </a:solidFill>
                        </a:defRPr>
                      </a:pPr>
                      <a:endParaRPr sz="9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6">
                  <a:txBody>
                    <a:bodyPr/>
                    <a:lstStyle/>
                    <a:p>
                      <a:pPr lvl="0" algn="l" defTabSz="914400">
                        <a:defRPr>
                          <a:solidFill>
                            <a:srgbClr val="000000"/>
                          </a:solidFill>
                        </a:defRPr>
                      </a:pPr>
                      <a:endParaRPr sz="9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12"/>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gridSpan="2">
                  <a:txBody>
                    <a:bodyPr/>
                    <a:lstStyle/>
                    <a:p>
                      <a:pPr lvl="0" defTabSz="914400">
                        <a:defRPr>
                          <a:solidFill>
                            <a:srgbClr val="000000"/>
                          </a:solidFill>
                        </a:defRPr>
                      </a:pPr>
                      <a:r>
                        <a:rPr sz="900" b="1" spc="56" err="1">
                          <a:solidFill>
                            <a:schemeClr val="bg1"/>
                          </a:solidFill>
                          <a:latin typeface="Century Gothic" panose="020B0502020202020204" pitchFamily="34" charset="0"/>
                        </a:rPr>
                        <a:t>Patrimonio</a:t>
                      </a:r>
                      <a:endParaRPr sz="9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13"/>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4"/>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5"/>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6"/>
                  </a:ext>
                </a:extLst>
              </a:tr>
              <a:tr h="325014">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7"/>
                  </a:ext>
                </a:extLst>
              </a:tr>
              <a:tr h="224123">
                <a:tc gridSpan="2">
                  <a:txBody>
                    <a:bodyPr/>
                    <a:lstStyle/>
                    <a:p>
                      <a:pPr lvl="0" defTabSz="914400">
                        <a:defRPr>
                          <a:solidFill>
                            <a:srgbClr val="000000"/>
                          </a:solidFill>
                        </a:defRPr>
                      </a:pPr>
                      <a:endParaRPr sz="9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bg1"/>
                    </a:solidFill>
                  </a:tcPr>
                </a:tc>
                <a:tc h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8"/>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a:txBody>
                    <a:bodyPr/>
                    <a:lstStyle/>
                    <a:p>
                      <a:pPr lvl="0" algn="just" defTabSz="914400">
                        <a:defRPr>
                          <a:solidFill>
                            <a:srgbClr val="000000"/>
                          </a:solidFill>
                        </a:defRPr>
                      </a:pPr>
                      <a:endParaRPr sz="9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9"/>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20"/>
                  </a:ext>
                </a:extLst>
              </a:tr>
            </a:tbl>
          </a:graphicData>
        </a:graphic>
      </p:graphicFrame>
      <p:sp>
        <p:nvSpPr>
          <p:cNvPr id="6" name="Rectángulo 5">
            <a:extLst>
              <a:ext uri="{FF2B5EF4-FFF2-40B4-BE49-F238E27FC236}">
                <a16:creationId xmlns:a16="http://schemas.microsoft.com/office/drawing/2014/main" id="{22E3336D-63FD-5605-19E2-BDE08D46ECA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8D4EA847-DAA1-4BFD-2C47-2DAFC7A8ECF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16</a:t>
            </a:fld>
            <a:endParaRPr lang="en-US" sz="2000" b="1">
              <a:latin typeface="Century Gothic" panose="020B0502020202020204" pitchFamily="34" charset="0"/>
            </a:endParaRPr>
          </a:p>
        </p:txBody>
      </p:sp>
    </p:spTree>
    <p:extLst>
      <p:ext uri="{BB962C8B-B14F-4D97-AF65-F5344CB8AC3E}">
        <p14:creationId xmlns:p14="http://schemas.microsoft.com/office/powerpoint/2010/main" val="41975308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42DE7-D638-C3AD-1C7E-88D6A838011E}"/>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6714BE45-2F26-888E-645B-220C7C4E2FBF}"/>
              </a:ext>
            </a:extLst>
          </p:cNvPr>
          <p:cNvSpPr>
            <a:spLocks noGrp="1"/>
          </p:cNvSpPr>
          <p:nvPr>
            <p:ph type="title"/>
          </p:nvPr>
        </p:nvSpPr>
        <p:spPr>
          <a:xfrm>
            <a:off x="446042" y="972335"/>
            <a:ext cx="11164765" cy="803647"/>
          </a:xfrm>
        </p:spPr>
        <p:txBody>
          <a:bodyPr vert="horz" lIns="91440" tIns="45720" rIns="91440" bIns="45720" rtlCol="0" anchor="b">
            <a:noAutofit/>
          </a:bodyPr>
          <a:lstStyle/>
          <a:p>
            <a:r>
              <a:rPr lang="es-ES_tradnl" sz="2400">
                <a:latin typeface="Century Gothic" panose="020B0502020202020204" pitchFamily="34" charset="0"/>
              </a:rPr>
              <a:t>¿Cómo es la estructura del ESTADO DE SITUACIÓN FINANCIERA?</a:t>
            </a:r>
            <a:endParaRPr lang="es-ES_tradnl" sz="2000">
              <a:latin typeface="Century Gothic" panose="020B0502020202020204" pitchFamily="34" charset="0"/>
            </a:endParaRPr>
          </a:p>
        </p:txBody>
      </p:sp>
      <p:sp>
        <p:nvSpPr>
          <p:cNvPr id="2" name="Rectángulo 1">
            <a:extLst>
              <a:ext uri="{FF2B5EF4-FFF2-40B4-BE49-F238E27FC236}">
                <a16:creationId xmlns:a16="http://schemas.microsoft.com/office/drawing/2014/main" id="{4CE0D78B-65B2-8466-64AD-F05FEB5CFDD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FF8C41BF-F868-E4E5-2F22-5A84922CE4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147">
            <a:extLst>
              <a:ext uri="{FF2B5EF4-FFF2-40B4-BE49-F238E27FC236}">
                <a16:creationId xmlns:a16="http://schemas.microsoft.com/office/drawing/2014/main" id="{0F53ECB7-65D3-3649-15C6-2EAC4DEAEC83}"/>
              </a:ext>
            </a:extLst>
          </p:cNvPr>
          <p:cNvGraphicFramePr/>
          <p:nvPr>
            <p:extLst>
              <p:ext uri="{D42A27DB-BD31-4B8C-83A1-F6EECF244321}">
                <p14:modId xmlns:p14="http://schemas.microsoft.com/office/powerpoint/2010/main" val="3787379266"/>
              </p:ext>
            </p:extLst>
          </p:nvPr>
        </p:nvGraphicFramePr>
        <p:xfrm>
          <a:off x="3249424" y="1932416"/>
          <a:ext cx="5546117" cy="4722251"/>
        </p:xfrm>
        <a:graphic>
          <a:graphicData uri="http://schemas.openxmlformats.org/drawingml/2006/table">
            <a:tbl>
              <a:tblPr firstRow="1"/>
              <a:tblGrid>
                <a:gridCol w="308354">
                  <a:extLst>
                    <a:ext uri="{9D8B030D-6E8A-4147-A177-3AD203B41FA5}">
                      <a16:colId xmlns:a16="http://schemas.microsoft.com/office/drawing/2014/main" val="20000"/>
                    </a:ext>
                  </a:extLst>
                </a:gridCol>
                <a:gridCol w="2280721">
                  <a:extLst>
                    <a:ext uri="{9D8B030D-6E8A-4147-A177-3AD203B41FA5}">
                      <a16:colId xmlns:a16="http://schemas.microsoft.com/office/drawing/2014/main" val="20001"/>
                    </a:ext>
                  </a:extLst>
                </a:gridCol>
                <a:gridCol w="310678">
                  <a:extLst>
                    <a:ext uri="{9D8B030D-6E8A-4147-A177-3AD203B41FA5}">
                      <a16:colId xmlns:a16="http://schemas.microsoft.com/office/drawing/2014/main" val="20002"/>
                    </a:ext>
                  </a:extLst>
                </a:gridCol>
                <a:gridCol w="2646364">
                  <a:extLst>
                    <a:ext uri="{9D8B030D-6E8A-4147-A177-3AD203B41FA5}">
                      <a16:colId xmlns:a16="http://schemas.microsoft.com/office/drawing/2014/main" val="20003"/>
                    </a:ext>
                  </a:extLst>
                </a:gridCol>
              </a:tblGrid>
              <a:tr h="224123">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extLst>
                  <a:ext uri="{0D108BD9-81ED-4DB2-BD59-A6C34878D82A}">
                    <a16:rowId xmlns:a16="http://schemas.microsoft.com/office/drawing/2014/main" val="10000"/>
                  </a:ext>
                </a:extLst>
              </a:tr>
              <a:tr h="224123">
                <a:tc gridSpan="2">
                  <a:txBody>
                    <a:bodyPr/>
                    <a:lstStyle/>
                    <a:p>
                      <a:pPr lvl="0" defTabSz="914400">
                        <a:defRPr>
                          <a:solidFill>
                            <a:srgbClr val="000000"/>
                          </a:solidFill>
                        </a:defRPr>
                      </a:pPr>
                      <a:r>
                        <a:rPr sz="900" b="1" spc="56">
                          <a:solidFill>
                            <a:schemeClr val="bg1"/>
                          </a:solidFill>
                          <a:latin typeface="Century Gothic" panose="020B0502020202020204" pitchFamily="34" charset="0"/>
                        </a:rPr>
                        <a:t>Activos Corrientes</a:t>
                      </a:r>
                    </a:p>
                  </a:txBody>
                  <a:tcPr marL="35718" marR="35718" marT="35718" marB="35718" anchor="ctr" horzOverflow="overflow">
                    <a:lnL w="12700">
                      <a:noFill/>
                      <a:miter lim="400000"/>
                    </a:lnL>
                    <a:lnR w="12700">
                      <a:noFill/>
                      <a:miter lim="400000"/>
                    </a:lnR>
                    <a:lnT w="12700">
                      <a:noFill/>
                      <a:miter lim="400000"/>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tc gridSpan="2">
                  <a:txBody>
                    <a:bodyPr/>
                    <a:lstStyle/>
                    <a:p>
                      <a:pPr lvl="0" defTabSz="914400">
                        <a:defRPr>
                          <a:solidFill>
                            <a:srgbClr val="000000"/>
                          </a:solidFill>
                        </a:defRPr>
                      </a:pPr>
                      <a:r>
                        <a:rPr sz="900" b="1" spc="56">
                          <a:solidFill>
                            <a:schemeClr val="bg1"/>
                          </a:solidFill>
                          <a:latin typeface="Century Gothic" panose="020B0502020202020204" pitchFamily="34" charset="0"/>
                        </a:rPr>
                        <a:t>Pasivos Corrientes</a:t>
                      </a:r>
                    </a:p>
                  </a:txBody>
                  <a:tcPr marL="35718" marR="35718" marT="35718" marB="35718" anchor="ctr" horzOverflow="overflow">
                    <a:lnL w="12700">
                      <a:noFill/>
                      <a:miter lim="400000"/>
                    </a:lnL>
                    <a:lnR w="12700">
                      <a:noFill/>
                      <a:miter lim="400000"/>
                    </a:lnR>
                    <a:lnT w="12700">
                      <a:noFill/>
                      <a:miter lim="400000"/>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01"/>
                  </a:ext>
                </a:extLst>
              </a:tr>
              <a:tr h="1792984">
                <a:tc rowSpan="2" gridSpan="2">
                  <a:txBody>
                    <a:bodyPr/>
                    <a:lstStyle/>
                    <a:p>
                      <a:pPr lvl="0" algn="just" defTabSz="914400">
                        <a:defRPr>
                          <a:solidFill>
                            <a:srgbClr val="000000"/>
                          </a:solidFill>
                        </a:defRPr>
                      </a:pPr>
                      <a:r>
                        <a:rPr sz="1100" i="0" spc="56" dirty="0">
                          <a:solidFill>
                            <a:schemeClr val="accent1"/>
                          </a:solidFill>
                          <a:latin typeface="Century Gothic" panose="020B0502020202020204" pitchFamily="34" charset="0"/>
                        </a:rPr>
                        <a:t>Activos </a:t>
                      </a:r>
                      <a:r>
                        <a:rPr sz="1100" i="0" spc="56" dirty="0" err="1">
                          <a:solidFill>
                            <a:schemeClr val="accent1"/>
                          </a:solidFill>
                          <a:latin typeface="Century Gothic" panose="020B0502020202020204" pitchFamily="34" charset="0"/>
                        </a:rPr>
                        <a:t>líquidos</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en</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el</a:t>
                      </a:r>
                      <a:r>
                        <a:rPr sz="1100" i="0" spc="56" dirty="0">
                          <a:solidFill>
                            <a:schemeClr val="accent1"/>
                          </a:solidFill>
                          <a:latin typeface="Century Gothic" panose="020B0502020202020204" pitchFamily="34" charset="0"/>
                        </a:rPr>
                        <a:t> </a:t>
                      </a:r>
                      <a:r>
                        <a:rPr sz="1100" b="1" i="0" spc="56" dirty="0" err="1">
                          <a:solidFill>
                            <a:schemeClr val="accent1"/>
                          </a:solidFill>
                          <a:latin typeface="Century Gothic" panose="020B0502020202020204" pitchFamily="34" charset="0"/>
                        </a:rPr>
                        <a:t>corto</a:t>
                      </a:r>
                      <a:r>
                        <a:rPr sz="1100" b="1" i="0" spc="56" dirty="0">
                          <a:solidFill>
                            <a:schemeClr val="accent1"/>
                          </a:solidFill>
                          <a:latin typeface="Century Gothic" panose="020B0502020202020204" pitchFamily="34" charset="0"/>
                        </a:rPr>
                        <a:t> </a:t>
                      </a:r>
                      <a:r>
                        <a:rPr sz="1100" b="1" i="0" spc="56" dirty="0" err="1">
                          <a:solidFill>
                            <a:schemeClr val="accent1"/>
                          </a:solidFill>
                          <a:latin typeface="Century Gothic" panose="020B0502020202020204" pitchFamily="34" charset="0"/>
                        </a:rPr>
                        <a:t>plazo</a:t>
                      </a:r>
                      <a:r>
                        <a:rPr sz="1100" b="1" i="0" spc="56" dirty="0">
                          <a:solidFill>
                            <a:schemeClr val="accent1"/>
                          </a:solidFill>
                          <a:latin typeface="Century Gothic" panose="020B0502020202020204" pitchFamily="34" charset="0"/>
                        </a:rPr>
                        <a:t>.</a:t>
                      </a:r>
                      <a:r>
                        <a:rPr sz="1100" i="0" spc="56" dirty="0">
                          <a:solidFill>
                            <a:schemeClr val="accent1"/>
                          </a:solidFill>
                          <a:latin typeface="Century Gothic" panose="020B0502020202020204" pitchFamily="34" charset="0"/>
                        </a:rPr>
                        <a:t> Es </a:t>
                      </a:r>
                      <a:r>
                        <a:rPr sz="1100" i="0" spc="56" dirty="0" err="1">
                          <a:solidFill>
                            <a:schemeClr val="accent1"/>
                          </a:solidFill>
                          <a:latin typeface="Century Gothic" panose="020B0502020202020204" pitchFamily="34" charset="0"/>
                        </a:rPr>
                        <a:t>decir</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aquellos</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activos</a:t>
                      </a:r>
                      <a:r>
                        <a:rPr sz="1100" i="0" spc="56" dirty="0">
                          <a:solidFill>
                            <a:schemeClr val="accent1"/>
                          </a:solidFill>
                          <a:latin typeface="Century Gothic" panose="020B0502020202020204" pitchFamily="34" charset="0"/>
                        </a:rPr>
                        <a:t> de </a:t>
                      </a:r>
                      <a:r>
                        <a:rPr sz="1100" i="0" spc="56" dirty="0" err="1">
                          <a:solidFill>
                            <a:schemeClr val="accent1"/>
                          </a:solidFill>
                          <a:latin typeface="Century Gothic" panose="020B0502020202020204" pitchFamily="34" charset="0"/>
                        </a:rPr>
                        <a:t>fácil</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realización</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en</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el</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momento</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en</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el</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que</a:t>
                      </a:r>
                      <a:r>
                        <a:rPr sz="1100" i="0" spc="56" dirty="0">
                          <a:solidFill>
                            <a:schemeClr val="accent1"/>
                          </a:solidFill>
                          <a:latin typeface="Century Gothic" panose="020B0502020202020204" pitchFamily="34" charset="0"/>
                        </a:rPr>
                        <a:t> la </a:t>
                      </a:r>
                      <a:r>
                        <a:rPr sz="1100" i="0" spc="56" dirty="0" err="1">
                          <a:solidFill>
                            <a:schemeClr val="accent1"/>
                          </a:solidFill>
                          <a:latin typeface="Century Gothic" panose="020B0502020202020204" pitchFamily="34" charset="0"/>
                        </a:rPr>
                        <a:t>empresa</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tenga</a:t>
                      </a:r>
                      <a:r>
                        <a:rPr sz="1100" i="0" spc="56" dirty="0">
                          <a:solidFill>
                            <a:schemeClr val="accent1"/>
                          </a:solidFill>
                          <a:latin typeface="Century Gothic" panose="020B0502020202020204" pitchFamily="34" charset="0"/>
                        </a:rPr>
                        <a:t> la </a:t>
                      </a:r>
                      <a:r>
                        <a:rPr sz="1100" i="0" spc="56" dirty="0" err="1">
                          <a:solidFill>
                            <a:schemeClr val="accent1"/>
                          </a:solidFill>
                          <a:latin typeface="Century Gothic" panose="020B0502020202020204" pitchFamily="34" charset="0"/>
                        </a:rPr>
                        <a:t>intención</a:t>
                      </a:r>
                      <a:r>
                        <a:rPr sz="1100" i="0" spc="56" dirty="0">
                          <a:solidFill>
                            <a:schemeClr val="accent1"/>
                          </a:solidFill>
                          <a:latin typeface="Century Gothic" panose="020B0502020202020204" pitchFamily="34" charset="0"/>
                        </a:rPr>
                        <a:t> de </a:t>
                      </a:r>
                      <a:r>
                        <a:rPr sz="1100" i="0" spc="56" dirty="0" err="1">
                          <a:solidFill>
                            <a:schemeClr val="accent1"/>
                          </a:solidFill>
                          <a:latin typeface="Century Gothic" panose="020B0502020202020204" pitchFamily="34" charset="0"/>
                        </a:rPr>
                        <a:t>convertirlos</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en</a:t>
                      </a:r>
                      <a:r>
                        <a:rPr sz="1100" i="0" spc="56" dirty="0">
                          <a:solidFill>
                            <a:schemeClr val="accent1"/>
                          </a:solidFill>
                          <a:latin typeface="Century Gothic" panose="020B0502020202020204" pitchFamily="34" charset="0"/>
                        </a:rPr>
                        <a:t> dinero, </a:t>
                      </a:r>
                      <a:r>
                        <a:rPr sz="1100" i="0" spc="56" dirty="0" err="1">
                          <a:solidFill>
                            <a:schemeClr val="accent1"/>
                          </a:solidFill>
                          <a:latin typeface="Century Gothic" panose="020B0502020202020204" pitchFamily="34" charset="0"/>
                        </a:rPr>
                        <a:t>venderlos</a:t>
                      </a:r>
                      <a:r>
                        <a:rPr sz="1100" i="0" spc="56" dirty="0">
                          <a:solidFill>
                            <a:schemeClr val="accent1"/>
                          </a:solidFill>
                          <a:latin typeface="Century Gothic" panose="020B0502020202020204" pitchFamily="34" charset="0"/>
                        </a:rPr>
                        <a:t> o </a:t>
                      </a:r>
                      <a:r>
                        <a:rPr sz="1100" i="0" spc="56" dirty="0" err="1">
                          <a:solidFill>
                            <a:schemeClr val="accent1"/>
                          </a:solidFill>
                          <a:latin typeface="Century Gothic" panose="020B0502020202020204" pitchFamily="34" charset="0"/>
                        </a:rPr>
                        <a:t>consumirlos</a:t>
                      </a:r>
                      <a:r>
                        <a:rPr sz="1100" i="0" spc="56" dirty="0">
                          <a:solidFill>
                            <a:schemeClr val="accent1"/>
                          </a:solidFill>
                          <a:latin typeface="Century Gothic" panose="020B0502020202020204" pitchFamily="34" charset="0"/>
                        </a:rPr>
                        <a:t>.</a:t>
                      </a:r>
                      <a:endParaRPr lang="es-CO" sz="1100" i="0" spc="56" dirty="0">
                        <a:solidFill>
                          <a:schemeClr val="accent1"/>
                        </a:solidFill>
                        <a:latin typeface="Century Gothic" panose="020B0502020202020204" pitchFamily="34" charset="0"/>
                      </a:endParaRPr>
                    </a:p>
                    <a:p>
                      <a:pPr lvl="0" algn="just" defTabSz="914400">
                        <a:defRPr>
                          <a:solidFill>
                            <a:srgbClr val="000000"/>
                          </a:solidFill>
                        </a:defRPr>
                      </a:pPr>
                      <a:endParaRPr lang="es-CO" sz="1100" i="0" spc="56" dirty="0">
                        <a:solidFill>
                          <a:schemeClr val="accent1"/>
                        </a:solidFill>
                        <a:latin typeface="Century Gothic" panose="020B0502020202020204" pitchFamily="34" charset="0"/>
                      </a:endParaRPr>
                    </a:p>
                    <a:p>
                      <a:pPr lvl="0" algn="just" defTabSz="914400">
                        <a:defRPr>
                          <a:solidFill>
                            <a:srgbClr val="000000"/>
                          </a:solidFill>
                        </a:defRPr>
                      </a:pPr>
                      <a:r>
                        <a:rPr lang="es-CO" sz="1100" b="1" i="0" spc="56" dirty="0">
                          <a:solidFill>
                            <a:schemeClr val="accent1"/>
                          </a:solidFill>
                          <a:latin typeface="Century Gothic" panose="020B0502020202020204" pitchFamily="34" charset="0"/>
                        </a:rPr>
                        <a:t>Corto plazo: </a:t>
                      </a:r>
                      <a:r>
                        <a:rPr lang="es-CO" sz="1100" i="0" spc="56" dirty="0">
                          <a:solidFill>
                            <a:schemeClr val="accent1"/>
                          </a:solidFill>
                          <a:latin typeface="Century Gothic" panose="020B0502020202020204" pitchFamily="34" charset="0"/>
                        </a:rPr>
                        <a:t>Menor o igual a 1 año.</a:t>
                      </a:r>
                      <a:endParaRPr sz="1100" i="0" spc="56"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gridSpan="2">
                  <a:txBody>
                    <a:bodyPr/>
                    <a:lstStyle/>
                    <a:p>
                      <a:pPr marL="0" marR="0" lvl="0" indent="0" algn="just" defTabSz="914400" rtl="0" eaLnBrk="1" fontAlgn="auto" latinLnBrk="0" hangingPunct="1">
                        <a:lnSpc>
                          <a:spcPct val="100000"/>
                        </a:lnSpc>
                        <a:spcBef>
                          <a:spcPts val="0"/>
                        </a:spcBef>
                        <a:spcAft>
                          <a:spcPts val="0"/>
                        </a:spcAft>
                        <a:buClrTx/>
                        <a:buSzTx/>
                        <a:buFontTx/>
                        <a:buNone/>
                        <a:tabLst/>
                        <a:defRPr>
                          <a:solidFill>
                            <a:srgbClr val="000000"/>
                          </a:solidFill>
                        </a:defRPr>
                      </a:pPr>
                      <a:endParaRPr lang="es-CO" sz="11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gridSpan="2">
                  <a:txBody>
                    <a:bodyPr/>
                    <a:lstStyle/>
                    <a:p>
                      <a:pPr lvl="0" defTabSz="914400">
                        <a:defRPr>
                          <a:solidFill>
                            <a:srgbClr val="000000"/>
                          </a:solidFill>
                        </a:defRPr>
                      </a:pPr>
                      <a:r>
                        <a:rPr sz="1100" b="1" spc="56">
                          <a:solidFill>
                            <a:schemeClr val="bg1"/>
                          </a:solidFill>
                          <a:latin typeface="Century Gothic" panose="020B0502020202020204" pitchFamily="34" charset="0"/>
                        </a:rPr>
                        <a:t>Pasivos </a:t>
                      </a:r>
                      <a:r>
                        <a:rPr lang="es-ES" sz="1100" b="1" spc="56">
                          <a:solidFill>
                            <a:schemeClr val="bg1"/>
                          </a:solidFill>
                          <a:latin typeface="Century Gothic" panose="020B0502020202020204" pitchFamily="34" charset="0"/>
                        </a:rPr>
                        <a:t>No Corrientes</a:t>
                      </a:r>
                      <a:endParaRPr sz="11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10"/>
                  </a:ext>
                </a:extLst>
              </a:tr>
              <a:tr h="224123">
                <a:tc gridSpan="2">
                  <a:txBody>
                    <a:bodyPr/>
                    <a:lstStyle/>
                    <a:p>
                      <a:pPr lvl="0" defTabSz="914400">
                        <a:defRPr>
                          <a:solidFill>
                            <a:srgbClr val="000000"/>
                          </a:solidFill>
                        </a:defRPr>
                      </a:pPr>
                      <a:r>
                        <a:rPr sz="1100" b="1" spc="56" err="1">
                          <a:solidFill>
                            <a:schemeClr val="bg1"/>
                          </a:solidFill>
                          <a:latin typeface="Century Gothic" panose="020B0502020202020204" pitchFamily="34" charset="0"/>
                        </a:rPr>
                        <a:t>Activos</a:t>
                      </a:r>
                      <a:r>
                        <a:rPr sz="1100" b="1" spc="56">
                          <a:solidFill>
                            <a:schemeClr val="bg1"/>
                          </a:solidFill>
                          <a:latin typeface="Century Gothic" panose="020B0502020202020204" pitchFamily="34" charset="0"/>
                        </a:rPr>
                        <a:t> </a:t>
                      </a:r>
                      <a:r>
                        <a:rPr lang="es-ES" sz="1100" b="1" spc="56">
                          <a:solidFill>
                            <a:schemeClr val="bg1"/>
                          </a:solidFill>
                          <a:latin typeface="Century Gothic" panose="020B0502020202020204" pitchFamily="34" charset="0"/>
                        </a:rPr>
                        <a:t>No Corrientes</a:t>
                      </a:r>
                      <a:endParaRPr sz="11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tc rowSpan="2"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000000"/>
                          </a:solidFill>
                        </a:defRPr>
                      </a:pPr>
                      <a:endParaRPr lang="es-CO" sz="11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224123">
                <a:tc rowSpan="3" gridSpan="2">
                  <a:txBody>
                    <a:bodyPr/>
                    <a:lstStyle/>
                    <a:p>
                      <a:pPr lvl="0" algn="l" defTabSz="914400">
                        <a:defRPr>
                          <a:solidFill>
                            <a:srgbClr val="000000"/>
                          </a:solidFill>
                        </a:defRPr>
                      </a:pPr>
                      <a:endParaRPr lang="es-CO" sz="11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3"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extLst>
                  <a:ext uri="{0D108BD9-81ED-4DB2-BD59-A6C34878D82A}">
                    <a16:rowId xmlns:a16="http://schemas.microsoft.com/office/drawing/2014/main" val="10012"/>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gridSpan="2">
                  <a:txBody>
                    <a:bodyPr/>
                    <a:lstStyle/>
                    <a:p>
                      <a:pPr lvl="0" defTabSz="914400">
                        <a:defRPr>
                          <a:solidFill>
                            <a:srgbClr val="000000"/>
                          </a:solidFill>
                        </a:defRPr>
                      </a:pPr>
                      <a:r>
                        <a:rPr sz="1100" b="1" spc="56" err="1">
                          <a:solidFill>
                            <a:schemeClr val="bg1"/>
                          </a:solidFill>
                          <a:latin typeface="Century Gothic" panose="020B0502020202020204" pitchFamily="34" charset="0"/>
                        </a:rPr>
                        <a:t>Patrimonio</a:t>
                      </a:r>
                      <a:endParaRPr sz="11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13"/>
                  </a:ext>
                </a:extLst>
              </a:tr>
              <a:tr h="822442">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rowSpan="4"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sz="1400" spc="56"/>
                      </a:pPr>
                      <a:endParaRPr lang="es-CO" sz="1100" spc="56">
                        <a:solidFill>
                          <a:schemeClr val="accent1"/>
                        </a:solidFill>
                        <a:latin typeface="Century Gothic" panose="020B0502020202020204" pitchFamily="34" charset="0"/>
                      </a:endParaRPr>
                    </a:p>
                    <a:p>
                      <a:pPr lvl="0" defTabSz="914400">
                        <a:defRPr sz="1400" spc="56"/>
                      </a:pPr>
                      <a:endParaRPr sz="11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4" hMerge="1">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4"/>
                  </a:ext>
                </a:extLst>
              </a:tr>
              <a:tr h="224123">
                <a:tc gridSpan="2">
                  <a:txBody>
                    <a:bodyPr/>
                    <a:lstStyle/>
                    <a:p>
                      <a:pPr lvl="0" defTabSz="914400">
                        <a:defRPr>
                          <a:solidFill>
                            <a:srgbClr val="000000"/>
                          </a:solidFill>
                        </a:defRPr>
                      </a:pPr>
                      <a:endParaRPr sz="11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bg1"/>
                    </a:solidFill>
                  </a:tcPr>
                </a:tc>
                <a:tc hMerge="1">
                  <a:txBody>
                    <a:bodyPr/>
                    <a:lstStyle/>
                    <a:p>
                      <a:endParaRPr lang="en-US"/>
                    </a:p>
                  </a:txBody>
                  <a:tcPr/>
                </a:tc>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8"/>
                  </a:ext>
                </a:extLst>
              </a:tr>
              <a:tr h="224123">
                <a:tc>
                  <a:txBody>
                    <a:bodyPr/>
                    <a:lstStyle/>
                    <a:p>
                      <a:pPr lvl="0" defTabSz="914400">
                        <a:defRPr sz="1400" spc="56"/>
                      </a:pPr>
                      <a:endParaRPr sz="11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a:txBody>
                    <a:bodyPr/>
                    <a:lstStyle/>
                    <a:p>
                      <a:pPr lvl="0" algn="just" defTabSz="914400">
                        <a:defRPr>
                          <a:solidFill>
                            <a:srgbClr val="000000"/>
                          </a:solidFill>
                        </a:defRPr>
                      </a:pPr>
                      <a:endParaRPr sz="11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9"/>
                  </a:ext>
                </a:extLst>
              </a:tr>
              <a:tr h="224123">
                <a:tc>
                  <a:txBody>
                    <a:bodyPr/>
                    <a:lstStyle/>
                    <a:p>
                      <a:pPr lvl="0" defTabSz="914400">
                        <a:defRPr sz="1400" spc="56"/>
                      </a:pPr>
                      <a:endParaRPr sz="1100"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20"/>
                  </a:ext>
                </a:extLst>
              </a:tr>
            </a:tbl>
          </a:graphicData>
        </a:graphic>
      </p:graphicFrame>
      <p:sp>
        <p:nvSpPr>
          <p:cNvPr id="6" name="Rectángulo 5">
            <a:extLst>
              <a:ext uri="{FF2B5EF4-FFF2-40B4-BE49-F238E27FC236}">
                <a16:creationId xmlns:a16="http://schemas.microsoft.com/office/drawing/2014/main" id="{05B50B28-4DEB-02B3-8FF5-874044B80F4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2EE1AEBB-1751-B085-0B6B-ED9C191EE5B1}"/>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17</a:t>
            </a:fld>
            <a:endParaRPr lang="en-US" sz="2000" b="1">
              <a:latin typeface="Century Gothic" panose="020B0502020202020204" pitchFamily="34" charset="0"/>
            </a:endParaRPr>
          </a:p>
        </p:txBody>
      </p:sp>
    </p:spTree>
    <p:extLst>
      <p:ext uri="{BB962C8B-B14F-4D97-AF65-F5344CB8AC3E}">
        <p14:creationId xmlns:p14="http://schemas.microsoft.com/office/powerpoint/2010/main" val="6416836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Shape 109"/>
          <p:cNvSpPr/>
          <p:nvPr/>
        </p:nvSpPr>
        <p:spPr>
          <a:xfrm>
            <a:off x="3757810" y="2348842"/>
            <a:ext cx="7455972" cy="3672752"/>
          </a:xfrm>
          <a:prstGeom prst="rect">
            <a:avLst/>
          </a:prstGeom>
          <a:ln w="12700">
            <a:miter lim="400000"/>
          </a:ln>
          <a:extLst>
            <a:ext uri="{C572A759-6A51-4108-AA02-DFA0A04FC94B}">
              <ma14:wrappingTextBoxFlag xmlns="" xmlns:ma14="http://schemas.microsoft.com/office/mac/drawingml/2011/main" val="1"/>
            </a:ext>
          </a:extLst>
        </p:spPr>
        <p:txBody>
          <a:bodyPr lIns="0" tIns="0" rIns="0" bIns="0">
            <a:noAutofit/>
          </a:bodyPr>
          <a:lstStyle/>
          <a:p>
            <a:pPr algn="just" defTabSz="377928">
              <a:spcBef>
                <a:spcPts val="2672"/>
              </a:spcBef>
              <a:defRPr sz="1800">
                <a:solidFill>
                  <a:srgbClr val="000000"/>
                </a:solidFill>
              </a:defRPr>
            </a:pPr>
            <a:r>
              <a:rPr lang="es-CO" b="1" dirty="0">
                <a:solidFill>
                  <a:srgbClr val="C00000"/>
                </a:solidFill>
                <a:latin typeface="Century Gothic" panose="020B0502020202020204" pitchFamily="34" charset="0"/>
              </a:rPr>
              <a:t>Efectivo y equivalentes</a:t>
            </a:r>
            <a:r>
              <a:rPr b="1" dirty="0">
                <a:solidFill>
                  <a:srgbClr val="C00000"/>
                </a:solidFill>
                <a:latin typeface="Century Gothic" panose="020B0502020202020204" pitchFamily="34" charset="0"/>
              </a:rPr>
              <a:t>: </a:t>
            </a:r>
            <a:r>
              <a:rPr dirty="0">
                <a:solidFill>
                  <a:schemeClr val="accent1"/>
                </a:solidFill>
                <a:latin typeface="Century Gothic" panose="020B0502020202020204" pitchFamily="34" charset="0"/>
              </a:rPr>
              <a:t>El </a:t>
            </a:r>
            <a:r>
              <a:rPr dirty="0" err="1">
                <a:solidFill>
                  <a:schemeClr val="accent1"/>
                </a:solidFill>
                <a:latin typeface="Century Gothic" panose="020B0502020202020204" pitchFamily="34" charset="0"/>
              </a:rPr>
              <a:t>efectivo</a:t>
            </a:r>
            <a:r>
              <a:rPr dirty="0">
                <a:solidFill>
                  <a:schemeClr val="accent1"/>
                </a:solidFill>
                <a:latin typeface="Century Gothic" panose="020B0502020202020204" pitchFamily="34" charset="0"/>
              </a:rPr>
              <a:t> disponible de la </a:t>
            </a:r>
            <a:r>
              <a:rPr dirty="0" err="1">
                <a:solidFill>
                  <a:schemeClr val="accent1"/>
                </a:solidFill>
                <a:latin typeface="Century Gothic" panose="020B0502020202020204" pitchFamily="34" charset="0"/>
              </a:rPr>
              <a:t>compañía</a:t>
            </a:r>
            <a:r>
              <a:rPr dirty="0">
                <a:solidFill>
                  <a:schemeClr val="accent1"/>
                </a:solidFill>
                <a:latin typeface="Century Gothic" panose="020B0502020202020204" pitchFamily="34" charset="0"/>
              </a:rPr>
              <a:t>.</a:t>
            </a:r>
          </a:p>
          <a:p>
            <a:pPr algn="just" defTabSz="377928">
              <a:spcBef>
                <a:spcPts val="2672"/>
              </a:spcBef>
              <a:defRPr sz="1800">
                <a:solidFill>
                  <a:srgbClr val="000000"/>
                </a:solidFill>
              </a:defRPr>
            </a:pPr>
            <a:r>
              <a:rPr b="1" dirty="0">
                <a:solidFill>
                  <a:srgbClr val="C00000"/>
                </a:solidFill>
                <a:latin typeface="Century Gothic" panose="020B0502020202020204" pitchFamily="34" charset="0"/>
              </a:rPr>
              <a:t>Inversiones </a:t>
            </a:r>
            <a:r>
              <a:rPr b="1" dirty="0" err="1">
                <a:solidFill>
                  <a:srgbClr val="C00000"/>
                </a:solidFill>
                <a:latin typeface="Century Gothic" panose="020B0502020202020204" pitchFamily="34" charset="0"/>
              </a:rPr>
              <a:t>Temporales</a:t>
            </a:r>
            <a:r>
              <a:rPr b="1" dirty="0">
                <a:solidFill>
                  <a:srgbClr val="C00000"/>
                </a:solidFill>
                <a:latin typeface="Century Gothic" panose="020B0502020202020204" pitchFamily="34" charset="0"/>
              </a:rPr>
              <a:t>:</a:t>
            </a:r>
            <a:r>
              <a:rPr b="1" dirty="0">
                <a:solidFill>
                  <a:schemeClr val="accent3">
                    <a:lumMod val="75000"/>
                  </a:schemeClr>
                </a:solidFill>
                <a:latin typeface="Century Gothic" panose="020B0502020202020204" pitchFamily="34" charset="0"/>
              </a:rPr>
              <a:t> </a:t>
            </a:r>
            <a:r>
              <a:rPr dirty="0" err="1">
                <a:solidFill>
                  <a:schemeClr val="accent1"/>
                </a:solidFill>
                <a:latin typeface="Century Gothic" panose="020B0502020202020204" pitchFamily="34" charset="0"/>
              </a:rPr>
              <a:t>Títulos</a:t>
            </a:r>
            <a:r>
              <a:rPr dirty="0">
                <a:solidFill>
                  <a:schemeClr val="accent1"/>
                </a:solidFill>
                <a:latin typeface="Century Gothic" panose="020B0502020202020204" pitchFamily="34" charset="0"/>
              </a:rPr>
              <a:t> o </a:t>
            </a:r>
            <a:r>
              <a:rPr dirty="0" err="1">
                <a:solidFill>
                  <a:schemeClr val="accent1"/>
                </a:solidFill>
                <a:latin typeface="Century Gothic" panose="020B0502020202020204" pitchFamily="34" charset="0"/>
              </a:rPr>
              <a:t>valores</a:t>
            </a:r>
            <a:r>
              <a:rPr dirty="0">
                <a:solidFill>
                  <a:schemeClr val="accent1"/>
                </a:solidFill>
                <a:latin typeface="Century Gothic" panose="020B0502020202020204" pitchFamily="34" charset="0"/>
              </a:rPr>
              <a:t> de </a:t>
            </a:r>
            <a:r>
              <a:rPr dirty="0" err="1">
                <a:solidFill>
                  <a:schemeClr val="accent1"/>
                </a:solidFill>
                <a:latin typeface="Century Gothic" panose="020B0502020202020204" pitchFamily="34" charset="0"/>
              </a:rPr>
              <a:t>fácil</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realización</a:t>
            </a:r>
            <a:r>
              <a:rPr dirty="0">
                <a:solidFill>
                  <a:schemeClr val="accent1"/>
                </a:solidFill>
                <a:latin typeface="Century Gothic" panose="020B0502020202020204" pitchFamily="34" charset="0"/>
              </a:rPr>
              <a:t>.</a:t>
            </a:r>
          </a:p>
          <a:p>
            <a:pPr algn="just" defTabSz="377928">
              <a:spcBef>
                <a:spcPts val="2672"/>
              </a:spcBef>
              <a:defRPr sz="1800">
                <a:solidFill>
                  <a:srgbClr val="000000"/>
                </a:solidFill>
              </a:defRPr>
            </a:pPr>
            <a:r>
              <a:rPr b="1" dirty="0">
                <a:solidFill>
                  <a:srgbClr val="C00000"/>
                </a:solidFill>
                <a:latin typeface="Century Gothic" panose="020B0502020202020204" pitchFamily="34" charset="0"/>
              </a:rPr>
              <a:t>Cuentas </a:t>
            </a:r>
            <a:r>
              <a:rPr b="1" dirty="0" err="1">
                <a:solidFill>
                  <a:srgbClr val="C00000"/>
                </a:solidFill>
                <a:latin typeface="Century Gothic" panose="020B0502020202020204" pitchFamily="34" charset="0"/>
              </a:rPr>
              <a:t>por</a:t>
            </a:r>
            <a:r>
              <a:rPr b="1" dirty="0">
                <a:solidFill>
                  <a:srgbClr val="C00000"/>
                </a:solidFill>
                <a:latin typeface="Century Gothic" panose="020B0502020202020204" pitchFamily="34" charset="0"/>
              </a:rPr>
              <a:t> </a:t>
            </a:r>
            <a:r>
              <a:rPr b="1" dirty="0" err="1">
                <a:solidFill>
                  <a:srgbClr val="C00000"/>
                </a:solidFill>
                <a:latin typeface="Century Gothic" panose="020B0502020202020204" pitchFamily="34" charset="0"/>
              </a:rPr>
              <a:t>Cobrar</a:t>
            </a:r>
            <a:r>
              <a:rPr b="1" dirty="0">
                <a:solidFill>
                  <a:srgbClr val="C00000"/>
                </a:solidFill>
                <a:latin typeface="Century Gothic" panose="020B0502020202020204" pitchFamily="34" charset="0"/>
              </a:rPr>
              <a:t>: </a:t>
            </a:r>
            <a:r>
              <a:rPr dirty="0" err="1">
                <a:solidFill>
                  <a:schemeClr val="accent1"/>
                </a:solidFill>
                <a:latin typeface="Century Gothic" panose="020B0502020202020204" pitchFamily="34" charset="0"/>
              </a:rPr>
              <a:t>Ingresos</a:t>
            </a:r>
            <a:r>
              <a:rPr dirty="0">
                <a:solidFill>
                  <a:schemeClr val="accent1"/>
                </a:solidFill>
                <a:latin typeface="Century Gothic" panose="020B0502020202020204" pitchFamily="34" charset="0"/>
              </a:rPr>
              <a:t> de la </a:t>
            </a:r>
            <a:r>
              <a:rPr dirty="0" err="1">
                <a:solidFill>
                  <a:schemeClr val="accent1"/>
                </a:solidFill>
                <a:latin typeface="Century Gothic" panose="020B0502020202020204" pitchFamily="34" charset="0"/>
              </a:rPr>
              <a:t>operación</a:t>
            </a:r>
            <a:r>
              <a:rPr dirty="0">
                <a:solidFill>
                  <a:schemeClr val="accent1"/>
                </a:solidFill>
                <a:latin typeface="Century Gothic" panose="020B0502020202020204" pitchFamily="34" charset="0"/>
              </a:rPr>
              <a:t> del </a:t>
            </a:r>
            <a:r>
              <a:rPr dirty="0" err="1">
                <a:solidFill>
                  <a:schemeClr val="accent1"/>
                </a:solidFill>
                <a:latin typeface="Century Gothic" panose="020B0502020202020204" pitchFamily="34" charset="0"/>
              </a:rPr>
              <a:t>negocio</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que</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aún</a:t>
            </a:r>
            <a:r>
              <a:rPr dirty="0">
                <a:solidFill>
                  <a:schemeClr val="accent1"/>
                </a:solidFill>
                <a:latin typeface="Century Gothic" panose="020B0502020202020204" pitchFamily="34" charset="0"/>
              </a:rPr>
              <a:t> no se </a:t>
            </a:r>
            <a:r>
              <a:rPr dirty="0" err="1">
                <a:solidFill>
                  <a:schemeClr val="accent1"/>
                </a:solidFill>
                <a:latin typeface="Century Gothic" panose="020B0502020202020204" pitchFamily="34" charset="0"/>
              </a:rPr>
              <a:t>han</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cobrado</a:t>
            </a:r>
            <a:r>
              <a:rPr dirty="0">
                <a:solidFill>
                  <a:schemeClr val="accent1"/>
                </a:solidFill>
                <a:latin typeface="Century Gothic" panose="020B0502020202020204" pitchFamily="34" charset="0"/>
              </a:rPr>
              <a:t>.</a:t>
            </a:r>
          </a:p>
          <a:p>
            <a:pPr algn="just" defTabSz="377928">
              <a:spcBef>
                <a:spcPts val="2672"/>
              </a:spcBef>
              <a:defRPr sz="1800">
                <a:solidFill>
                  <a:srgbClr val="000000"/>
                </a:solidFill>
              </a:defRPr>
            </a:pPr>
            <a:r>
              <a:rPr b="1" dirty="0" err="1">
                <a:solidFill>
                  <a:srgbClr val="C00000"/>
                </a:solidFill>
                <a:latin typeface="Century Gothic" panose="020B0502020202020204" pitchFamily="34" charset="0"/>
              </a:rPr>
              <a:t>Inventarios</a:t>
            </a:r>
            <a:r>
              <a:rPr b="1" dirty="0">
                <a:solidFill>
                  <a:srgbClr val="C00000"/>
                </a:solidFill>
                <a:latin typeface="Century Gothic" panose="020B0502020202020204" pitchFamily="34" charset="0"/>
              </a:rPr>
              <a:t>:  </a:t>
            </a:r>
            <a:r>
              <a:rPr dirty="0">
                <a:solidFill>
                  <a:schemeClr val="accent1"/>
                </a:solidFill>
                <a:latin typeface="Century Gothic" panose="020B0502020202020204" pitchFamily="34" charset="0"/>
              </a:rPr>
              <a:t>Materia prima, </a:t>
            </a:r>
            <a:r>
              <a:rPr dirty="0" err="1">
                <a:solidFill>
                  <a:schemeClr val="accent1"/>
                </a:solidFill>
                <a:latin typeface="Century Gothic" panose="020B0502020202020204" pitchFamily="34" charset="0"/>
              </a:rPr>
              <a:t>Producto</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en</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proceso</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Producto</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terminado</a:t>
            </a:r>
            <a:r>
              <a:rPr lang="es-CO" dirty="0">
                <a:solidFill>
                  <a:schemeClr val="accent1"/>
                </a:solidFill>
                <a:latin typeface="Century Gothic" panose="020B0502020202020204" pitchFamily="34" charset="0"/>
              </a:rPr>
              <a:t>.</a:t>
            </a:r>
            <a:endParaRPr dirty="0">
              <a:solidFill>
                <a:schemeClr val="accent1"/>
              </a:solidFill>
              <a:latin typeface="Century Gothic" panose="020B0502020202020204" pitchFamily="34" charset="0"/>
            </a:endParaRPr>
          </a:p>
        </p:txBody>
      </p:sp>
      <p:sp>
        <p:nvSpPr>
          <p:cNvPr id="7" name="Title 1"/>
          <p:cNvSpPr>
            <a:spLocks noGrp="1"/>
          </p:cNvSpPr>
          <p:nvPr>
            <p:ph type="title"/>
          </p:nvPr>
        </p:nvSpPr>
        <p:spPr>
          <a:xfrm>
            <a:off x="446043" y="986684"/>
            <a:ext cx="7249775" cy="803647"/>
          </a:xfrm>
        </p:spPr>
        <p:txBody>
          <a:bodyPr/>
          <a:lstStyle/>
          <a:p>
            <a:r>
              <a:rPr lang="es-ES_tradnl" sz="3094">
                <a:latin typeface="Century Gothic" panose="020B0502020202020204" pitchFamily="34" charset="0"/>
              </a:rPr>
              <a:t>Activos Corrientes</a:t>
            </a:r>
          </a:p>
        </p:txBody>
      </p:sp>
      <p:pic>
        <p:nvPicPr>
          <p:cNvPr id="10" name="Picture 2" descr="Resultado de imagen para activos"/>
          <p:cNvPicPr>
            <a:picLocks noChangeAspect="1" noChangeArrowheads="1"/>
          </p:cNvPicPr>
          <p:nvPr/>
        </p:nvPicPr>
        <p:blipFill>
          <a:blip r:embed="rId3" cstate="print">
            <a:clrChange>
              <a:clrFrom>
                <a:srgbClr val="FAF8F9"/>
              </a:clrFrom>
              <a:clrTo>
                <a:srgbClr val="FAF8F9">
                  <a:alpha val="0"/>
                </a:srgbClr>
              </a:clrTo>
            </a:clrChange>
            <a:extLst>
              <a:ext uri="{28A0092B-C50C-407E-A947-70E740481C1C}">
                <a14:useLocalDpi xmlns:a14="http://schemas.microsoft.com/office/drawing/2010/main" val="0"/>
              </a:ext>
            </a:extLst>
          </a:blip>
          <a:srcRect/>
          <a:stretch>
            <a:fillRect/>
          </a:stretch>
        </p:blipFill>
        <p:spPr bwMode="auto">
          <a:xfrm>
            <a:off x="404460" y="2888638"/>
            <a:ext cx="3159306" cy="1650738"/>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658346D0-FC50-DF1F-4240-39EAE89529E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D8EA14A7-6BF6-8BD9-FA7E-52DB776A27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E2FC374D-6B61-6A62-D427-4C33DA999C2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F3C791B9-5E53-C828-A554-C2E2570E7E32}"/>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18</a:t>
            </a:fld>
            <a:endParaRPr lang="en-US" sz="2000" b="1">
              <a:latin typeface="Century Gothic" panose="020B0502020202020204" pitchFamily="34" charset="0"/>
            </a:endParaRPr>
          </a:p>
        </p:txBody>
      </p:sp>
    </p:spTree>
    <p:extLst>
      <p:ext uri="{BB962C8B-B14F-4D97-AF65-F5344CB8AC3E}">
        <p14:creationId xmlns:p14="http://schemas.microsoft.com/office/powerpoint/2010/main" val="419622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9">
                                            <p:txEl>
                                              <p:pRg st="0" end="0"/>
                                            </p:txEl>
                                          </p:spTgt>
                                        </p:tgtEl>
                                        <p:attrNameLst>
                                          <p:attrName>style.visibility</p:attrName>
                                        </p:attrNameLst>
                                      </p:cBhvr>
                                      <p:to>
                                        <p:strVal val="visible"/>
                                      </p:to>
                                    </p:set>
                                    <p:anim calcmode="lin" valueType="num">
                                      <p:cBhvr additive="base">
                                        <p:cTn id="7" dur="500" fill="hold"/>
                                        <p:tgtEl>
                                          <p:spTgt spid="10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9">
                                            <p:txEl>
                                              <p:pRg st="1" end="1"/>
                                            </p:txEl>
                                          </p:spTgt>
                                        </p:tgtEl>
                                        <p:attrNameLst>
                                          <p:attrName>style.visibility</p:attrName>
                                        </p:attrNameLst>
                                      </p:cBhvr>
                                      <p:to>
                                        <p:strVal val="visible"/>
                                      </p:to>
                                    </p:set>
                                    <p:anim calcmode="lin" valueType="num">
                                      <p:cBhvr additive="base">
                                        <p:cTn id="13" dur="500" fill="hold"/>
                                        <p:tgtEl>
                                          <p:spTgt spid="10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9">
                                            <p:txEl>
                                              <p:pRg st="2" end="2"/>
                                            </p:txEl>
                                          </p:spTgt>
                                        </p:tgtEl>
                                        <p:attrNameLst>
                                          <p:attrName>style.visibility</p:attrName>
                                        </p:attrNameLst>
                                      </p:cBhvr>
                                      <p:to>
                                        <p:strVal val="visible"/>
                                      </p:to>
                                    </p:set>
                                    <p:anim calcmode="lin" valueType="num">
                                      <p:cBhvr additive="base">
                                        <p:cTn id="19" dur="500" fill="hold"/>
                                        <p:tgtEl>
                                          <p:spTgt spid="10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9">
                                            <p:txEl>
                                              <p:pRg st="3" end="3"/>
                                            </p:txEl>
                                          </p:spTgt>
                                        </p:tgtEl>
                                        <p:attrNameLst>
                                          <p:attrName>style.visibility</p:attrName>
                                        </p:attrNameLst>
                                      </p:cBhvr>
                                      <p:to>
                                        <p:strVal val="visible"/>
                                      </p:to>
                                    </p:set>
                                    <p:anim calcmode="lin" valueType="num">
                                      <p:cBhvr additive="base">
                                        <p:cTn id="25" dur="500" fill="hold"/>
                                        <p:tgtEl>
                                          <p:spTgt spid="10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a:spLocks noGrp="1"/>
          </p:cNvSpPr>
          <p:nvPr>
            <p:ph type="title"/>
          </p:nvPr>
        </p:nvSpPr>
        <p:spPr>
          <a:xfrm>
            <a:off x="446043" y="974392"/>
            <a:ext cx="11291330" cy="803647"/>
          </a:xfrm>
        </p:spPr>
        <p:txBody>
          <a:bodyPr>
            <a:noAutofit/>
          </a:bodyPr>
          <a:lstStyle/>
          <a:p>
            <a:r>
              <a:rPr lang="es-ES_tradnl" sz="2400">
                <a:latin typeface="Century Gothic" panose="020B0502020202020204" pitchFamily="34" charset="0"/>
              </a:rPr>
              <a:t>¿Cómo es la estructura del ESTADO DE SITUACIÓN FINANCIERA?</a:t>
            </a:r>
          </a:p>
        </p:txBody>
      </p:sp>
      <p:sp>
        <p:nvSpPr>
          <p:cNvPr id="2" name="Rectángulo 1">
            <a:extLst>
              <a:ext uri="{FF2B5EF4-FFF2-40B4-BE49-F238E27FC236}">
                <a16:creationId xmlns:a16="http://schemas.microsoft.com/office/drawing/2014/main" id="{B7EE8E59-F619-5662-6908-947EFB4B755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F44D379D-AFB7-BAB5-76E0-BBC9A766D9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 147">
            <a:extLst>
              <a:ext uri="{FF2B5EF4-FFF2-40B4-BE49-F238E27FC236}">
                <a16:creationId xmlns:a16="http://schemas.microsoft.com/office/drawing/2014/main" id="{828A41B3-4F66-6FF1-8C27-087D9BC10BDF}"/>
              </a:ext>
            </a:extLst>
          </p:cNvPr>
          <p:cNvGraphicFramePr/>
          <p:nvPr>
            <p:extLst>
              <p:ext uri="{D42A27DB-BD31-4B8C-83A1-F6EECF244321}">
                <p14:modId xmlns:p14="http://schemas.microsoft.com/office/powerpoint/2010/main" val="1511090396"/>
              </p:ext>
            </p:extLst>
          </p:nvPr>
        </p:nvGraphicFramePr>
        <p:xfrm>
          <a:off x="3415002" y="1827666"/>
          <a:ext cx="5546117" cy="5444961"/>
        </p:xfrm>
        <a:graphic>
          <a:graphicData uri="http://schemas.openxmlformats.org/drawingml/2006/table">
            <a:tbl>
              <a:tblPr firstRow="1"/>
              <a:tblGrid>
                <a:gridCol w="308354">
                  <a:extLst>
                    <a:ext uri="{9D8B030D-6E8A-4147-A177-3AD203B41FA5}">
                      <a16:colId xmlns:a16="http://schemas.microsoft.com/office/drawing/2014/main" val="20000"/>
                    </a:ext>
                  </a:extLst>
                </a:gridCol>
                <a:gridCol w="2280721">
                  <a:extLst>
                    <a:ext uri="{9D8B030D-6E8A-4147-A177-3AD203B41FA5}">
                      <a16:colId xmlns:a16="http://schemas.microsoft.com/office/drawing/2014/main" val="20001"/>
                    </a:ext>
                  </a:extLst>
                </a:gridCol>
                <a:gridCol w="310678">
                  <a:extLst>
                    <a:ext uri="{9D8B030D-6E8A-4147-A177-3AD203B41FA5}">
                      <a16:colId xmlns:a16="http://schemas.microsoft.com/office/drawing/2014/main" val="20002"/>
                    </a:ext>
                  </a:extLst>
                </a:gridCol>
                <a:gridCol w="2646364">
                  <a:extLst>
                    <a:ext uri="{9D8B030D-6E8A-4147-A177-3AD203B41FA5}">
                      <a16:colId xmlns:a16="http://schemas.microsoft.com/office/drawing/2014/main" val="20003"/>
                    </a:ext>
                  </a:extLst>
                </a:gridCol>
              </a:tblGrid>
              <a:tr h="224123">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4"/>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4"/>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4"/>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4"/>
                      <a:srcRect/>
                      <a:tile tx="0" ty="0" sx="100000" sy="100000" flip="none" algn="tl"/>
                    </a:blipFill>
                  </a:tcPr>
                </a:tc>
                <a:extLst>
                  <a:ext uri="{0D108BD9-81ED-4DB2-BD59-A6C34878D82A}">
                    <a16:rowId xmlns:a16="http://schemas.microsoft.com/office/drawing/2014/main" val="10000"/>
                  </a:ext>
                </a:extLst>
              </a:tr>
              <a:tr h="224123">
                <a:tc gridSpan="2">
                  <a:txBody>
                    <a:bodyPr/>
                    <a:lstStyle/>
                    <a:p>
                      <a:pPr lvl="0" defTabSz="914400">
                        <a:defRPr>
                          <a:solidFill>
                            <a:srgbClr val="000000"/>
                          </a:solidFill>
                        </a:defRPr>
                      </a:pPr>
                      <a:r>
                        <a:rPr sz="900" b="1" spc="56">
                          <a:solidFill>
                            <a:schemeClr val="bg1"/>
                          </a:solidFill>
                          <a:latin typeface="Century Gothic"/>
                        </a:rPr>
                        <a:t>Activos Corrientes</a:t>
                      </a:r>
                    </a:p>
                  </a:txBody>
                  <a:tcPr marL="35718" marR="35718" marT="35718" marB="35718" anchor="ctr" horzOverflow="overflow">
                    <a:lnL w="12700">
                      <a:noFill/>
                      <a:miter lim="400000"/>
                    </a:lnL>
                    <a:lnR w="12700">
                      <a:noFill/>
                      <a:miter lim="400000"/>
                    </a:lnR>
                    <a:lnT w="12700">
                      <a:noFill/>
                      <a:miter lim="400000"/>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tc gridSpan="2">
                  <a:txBody>
                    <a:bodyPr/>
                    <a:lstStyle/>
                    <a:p>
                      <a:pPr lvl="0" defTabSz="914400">
                        <a:defRPr>
                          <a:solidFill>
                            <a:srgbClr val="000000"/>
                          </a:solidFill>
                        </a:defRPr>
                      </a:pPr>
                      <a:r>
                        <a:rPr sz="900" b="1" spc="56">
                          <a:solidFill>
                            <a:schemeClr val="bg1"/>
                          </a:solidFill>
                          <a:latin typeface="Century Gothic" panose="020B0502020202020204" pitchFamily="34" charset="0"/>
                        </a:rPr>
                        <a:t>Pasivos Corrientes</a:t>
                      </a:r>
                    </a:p>
                  </a:txBody>
                  <a:tcPr marL="35718" marR="35718" marT="35718" marB="35718" anchor="ctr" horzOverflow="overflow">
                    <a:lnL w="12700">
                      <a:noFill/>
                      <a:miter lim="400000"/>
                    </a:lnL>
                    <a:lnR w="12700">
                      <a:noFill/>
                      <a:miter lim="400000"/>
                    </a:lnR>
                    <a:lnT w="12700">
                      <a:noFill/>
                      <a:miter lim="400000"/>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01"/>
                  </a:ext>
                </a:extLst>
              </a:tr>
              <a:tr h="224123">
                <a:tc rowSpan="9" gridSpan="2">
                  <a:txBody>
                    <a:bodyPr/>
                    <a:lstStyle/>
                    <a:p>
                      <a:pPr lvl="0" algn="just" defTabSz="914400">
                        <a:defRPr>
                          <a:solidFill>
                            <a:srgbClr val="000000"/>
                          </a:solidFill>
                        </a:defRPr>
                      </a:pPr>
                      <a:r>
                        <a:rPr sz="1100" i="0" spc="56" dirty="0">
                          <a:solidFill>
                            <a:schemeClr val="accent1"/>
                          </a:solidFill>
                          <a:latin typeface="Century Gothic"/>
                        </a:rPr>
                        <a:t>Activos </a:t>
                      </a:r>
                      <a:r>
                        <a:rPr sz="1100" i="0" spc="56" dirty="0" err="1">
                          <a:solidFill>
                            <a:schemeClr val="accent1"/>
                          </a:solidFill>
                          <a:latin typeface="Century Gothic"/>
                        </a:rPr>
                        <a:t>líquidos</a:t>
                      </a:r>
                      <a:r>
                        <a:rPr sz="1100" i="0" spc="56" dirty="0">
                          <a:solidFill>
                            <a:schemeClr val="accent1"/>
                          </a:solidFill>
                          <a:latin typeface="Century Gothic"/>
                        </a:rPr>
                        <a:t> </a:t>
                      </a:r>
                      <a:r>
                        <a:rPr sz="1100" i="0" spc="56" dirty="0" err="1">
                          <a:solidFill>
                            <a:schemeClr val="accent1"/>
                          </a:solidFill>
                          <a:latin typeface="Century Gothic"/>
                        </a:rPr>
                        <a:t>en</a:t>
                      </a:r>
                      <a:r>
                        <a:rPr sz="1100" i="0" spc="56" dirty="0">
                          <a:solidFill>
                            <a:schemeClr val="accent1"/>
                          </a:solidFill>
                          <a:latin typeface="Century Gothic"/>
                        </a:rPr>
                        <a:t> </a:t>
                      </a:r>
                      <a:r>
                        <a:rPr sz="1100" i="0" spc="56" dirty="0" err="1">
                          <a:solidFill>
                            <a:schemeClr val="accent1"/>
                          </a:solidFill>
                          <a:latin typeface="Century Gothic"/>
                        </a:rPr>
                        <a:t>el</a:t>
                      </a:r>
                      <a:r>
                        <a:rPr sz="1100" i="0" spc="56" dirty="0">
                          <a:solidFill>
                            <a:schemeClr val="accent1"/>
                          </a:solidFill>
                          <a:latin typeface="Century Gothic"/>
                        </a:rPr>
                        <a:t> </a:t>
                      </a:r>
                      <a:r>
                        <a:rPr sz="1100" b="1" i="0" spc="56" dirty="0" err="1">
                          <a:solidFill>
                            <a:schemeClr val="accent1"/>
                          </a:solidFill>
                          <a:latin typeface="Century Gothic"/>
                        </a:rPr>
                        <a:t>corto</a:t>
                      </a:r>
                      <a:r>
                        <a:rPr sz="1100" b="1" i="0" spc="56" dirty="0">
                          <a:solidFill>
                            <a:schemeClr val="accent1"/>
                          </a:solidFill>
                          <a:latin typeface="Century Gothic"/>
                        </a:rPr>
                        <a:t> </a:t>
                      </a:r>
                      <a:r>
                        <a:rPr sz="1100" b="1" i="0" spc="56" dirty="0" err="1">
                          <a:solidFill>
                            <a:schemeClr val="accent1"/>
                          </a:solidFill>
                          <a:latin typeface="Century Gothic"/>
                        </a:rPr>
                        <a:t>plazo</a:t>
                      </a:r>
                      <a:r>
                        <a:rPr sz="1100" b="1" i="0" spc="56" dirty="0">
                          <a:solidFill>
                            <a:schemeClr val="accent1"/>
                          </a:solidFill>
                          <a:latin typeface="Century Gothic"/>
                        </a:rPr>
                        <a:t>.</a:t>
                      </a:r>
                      <a:r>
                        <a:rPr sz="1100" i="0" spc="56" dirty="0">
                          <a:solidFill>
                            <a:schemeClr val="accent1"/>
                          </a:solidFill>
                          <a:latin typeface="Century Gothic"/>
                        </a:rPr>
                        <a:t> Es </a:t>
                      </a:r>
                      <a:r>
                        <a:rPr sz="1100" i="0" spc="56" dirty="0" err="1">
                          <a:solidFill>
                            <a:schemeClr val="accent1"/>
                          </a:solidFill>
                          <a:latin typeface="Century Gothic"/>
                        </a:rPr>
                        <a:t>decir</a:t>
                      </a:r>
                      <a:r>
                        <a:rPr sz="1100" i="0" spc="56" dirty="0">
                          <a:solidFill>
                            <a:schemeClr val="accent1"/>
                          </a:solidFill>
                          <a:latin typeface="Century Gothic"/>
                        </a:rPr>
                        <a:t>, </a:t>
                      </a:r>
                      <a:r>
                        <a:rPr sz="1100" i="0" spc="56" dirty="0" err="1">
                          <a:solidFill>
                            <a:schemeClr val="accent1"/>
                          </a:solidFill>
                          <a:latin typeface="Century Gothic"/>
                        </a:rPr>
                        <a:t>aquellos</a:t>
                      </a:r>
                      <a:r>
                        <a:rPr sz="1100" i="0" spc="56" dirty="0">
                          <a:solidFill>
                            <a:schemeClr val="accent1"/>
                          </a:solidFill>
                          <a:latin typeface="Century Gothic"/>
                        </a:rPr>
                        <a:t> </a:t>
                      </a:r>
                      <a:r>
                        <a:rPr sz="1100" i="0" spc="56" dirty="0" err="1">
                          <a:solidFill>
                            <a:schemeClr val="accent1"/>
                          </a:solidFill>
                          <a:latin typeface="Century Gothic"/>
                        </a:rPr>
                        <a:t>activos</a:t>
                      </a:r>
                      <a:r>
                        <a:rPr sz="1100" i="0" spc="56" dirty="0">
                          <a:solidFill>
                            <a:schemeClr val="accent1"/>
                          </a:solidFill>
                          <a:latin typeface="Century Gothic"/>
                        </a:rPr>
                        <a:t> de </a:t>
                      </a:r>
                      <a:r>
                        <a:rPr sz="1100" i="0" spc="56" dirty="0" err="1">
                          <a:solidFill>
                            <a:schemeClr val="accent1"/>
                          </a:solidFill>
                          <a:latin typeface="Century Gothic"/>
                        </a:rPr>
                        <a:t>fácil</a:t>
                      </a:r>
                      <a:r>
                        <a:rPr sz="1100" i="0" spc="56" dirty="0">
                          <a:solidFill>
                            <a:schemeClr val="accent1"/>
                          </a:solidFill>
                          <a:latin typeface="Century Gothic"/>
                        </a:rPr>
                        <a:t> </a:t>
                      </a:r>
                      <a:r>
                        <a:rPr sz="1100" i="0" spc="56" dirty="0" err="1">
                          <a:solidFill>
                            <a:schemeClr val="accent1"/>
                          </a:solidFill>
                          <a:latin typeface="Century Gothic"/>
                        </a:rPr>
                        <a:t>realización</a:t>
                      </a:r>
                      <a:r>
                        <a:rPr sz="1100" i="0" spc="56" dirty="0">
                          <a:solidFill>
                            <a:schemeClr val="accent1"/>
                          </a:solidFill>
                          <a:latin typeface="Century Gothic"/>
                        </a:rPr>
                        <a:t> </a:t>
                      </a:r>
                      <a:r>
                        <a:rPr sz="1100" i="0" spc="56" dirty="0" err="1">
                          <a:solidFill>
                            <a:schemeClr val="accent1"/>
                          </a:solidFill>
                          <a:latin typeface="Century Gothic"/>
                        </a:rPr>
                        <a:t>en</a:t>
                      </a:r>
                      <a:r>
                        <a:rPr sz="1100" i="0" spc="56" dirty="0">
                          <a:solidFill>
                            <a:schemeClr val="accent1"/>
                          </a:solidFill>
                          <a:latin typeface="Century Gothic"/>
                        </a:rPr>
                        <a:t> </a:t>
                      </a:r>
                      <a:r>
                        <a:rPr sz="1100" i="0" spc="56" dirty="0" err="1">
                          <a:solidFill>
                            <a:schemeClr val="accent1"/>
                          </a:solidFill>
                          <a:latin typeface="Century Gothic"/>
                        </a:rPr>
                        <a:t>el</a:t>
                      </a:r>
                      <a:r>
                        <a:rPr sz="1100" i="0" spc="56" dirty="0">
                          <a:solidFill>
                            <a:schemeClr val="accent1"/>
                          </a:solidFill>
                          <a:latin typeface="Century Gothic"/>
                        </a:rPr>
                        <a:t> </a:t>
                      </a:r>
                      <a:r>
                        <a:rPr sz="1100" i="0" spc="56" dirty="0" err="1">
                          <a:solidFill>
                            <a:schemeClr val="accent1"/>
                          </a:solidFill>
                          <a:latin typeface="Century Gothic"/>
                        </a:rPr>
                        <a:t>momento</a:t>
                      </a:r>
                      <a:r>
                        <a:rPr sz="1100" i="0" spc="56" dirty="0">
                          <a:solidFill>
                            <a:schemeClr val="accent1"/>
                          </a:solidFill>
                          <a:latin typeface="Century Gothic"/>
                        </a:rPr>
                        <a:t> </a:t>
                      </a:r>
                      <a:r>
                        <a:rPr sz="1100" i="0" spc="56" dirty="0" err="1">
                          <a:solidFill>
                            <a:schemeClr val="accent1"/>
                          </a:solidFill>
                          <a:latin typeface="Century Gothic"/>
                        </a:rPr>
                        <a:t>en</a:t>
                      </a:r>
                      <a:r>
                        <a:rPr sz="1100" i="0" spc="56" dirty="0">
                          <a:solidFill>
                            <a:schemeClr val="accent1"/>
                          </a:solidFill>
                          <a:latin typeface="Century Gothic"/>
                        </a:rPr>
                        <a:t> </a:t>
                      </a:r>
                      <a:r>
                        <a:rPr sz="1100" i="0" spc="56" dirty="0" err="1">
                          <a:solidFill>
                            <a:schemeClr val="accent1"/>
                          </a:solidFill>
                          <a:latin typeface="Century Gothic"/>
                        </a:rPr>
                        <a:t>el</a:t>
                      </a:r>
                      <a:r>
                        <a:rPr sz="1100" i="0" spc="56" dirty="0">
                          <a:solidFill>
                            <a:schemeClr val="accent1"/>
                          </a:solidFill>
                          <a:latin typeface="Century Gothic"/>
                        </a:rPr>
                        <a:t> </a:t>
                      </a:r>
                      <a:r>
                        <a:rPr sz="1100" i="0" spc="56" dirty="0" err="1">
                          <a:solidFill>
                            <a:schemeClr val="accent1"/>
                          </a:solidFill>
                          <a:latin typeface="Century Gothic"/>
                        </a:rPr>
                        <a:t>que</a:t>
                      </a:r>
                      <a:r>
                        <a:rPr sz="1100" i="0" spc="56" dirty="0">
                          <a:solidFill>
                            <a:schemeClr val="accent1"/>
                          </a:solidFill>
                          <a:latin typeface="Century Gothic"/>
                        </a:rPr>
                        <a:t> la </a:t>
                      </a:r>
                      <a:r>
                        <a:rPr sz="1100" i="0" spc="56" dirty="0" err="1">
                          <a:solidFill>
                            <a:schemeClr val="accent1"/>
                          </a:solidFill>
                          <a:latin typeface="Century Gothic"/>
                        </a:rPr>
                        <a:t>empresa</a:t>
                      </a:r>
                      <a:r>
                        <a:rPr sz="1100" i="0" spc="56" dirty="0">
                          <a:solidFill>
                            <a:schemeClr val="accent1"/>
                          </a:solidFill>
                          <a:latin typeface="Century Gothic"/>
                        </a:rPr>
                        <a:t> </a:t>
                      </a:r>
                      <a:r>
                        <a:rPr sz="1100" i="0" spc="56" dirty="0" err="1">
                          <a:solidFill>
                            <a:schemeClr val="accent1"/>
                          </a:solidFill>
                          <a:latin typeface="Century Gothic"/>
                        </a:rPr>
                        <a:t>tenga</a:t>
                      </a:r>
                      <a:r>
                        <a:rPr sz="1100" i="0" spc="56" dirty="0">
                          <a:solidFill>
                            <a:schemeClr val="accent1"/>
                          </a:solidFill>
                          <a:latin typeface="Century Gothic"/>
                        </a:rPr>
                        <a:t> la </a:t>
                      </a:r>
                      <a:r>
                        <a:rPr sz="1100" i="0" spc="56" dirty="0" err="1">
                          <a:solidFill>
                            <a:schemeClr val="accent1"/>
                          </a:solidFill>
                          <a:latin typeface="Century Gothic"/>
                        </a:rPr>
                        <a:t>intención</a:t>
                      </a:r>
                      <a:r>
                        <a:rPr sz="1100" i="0" spc="56" dirty="0">
                          <a:solidFill>
                            <a:schemeClr val="accent1"/>
                          </a:solidFill>
                          <a:latin typeface="Century Gothic"/>
                        </a:rPr>
                        <a:t> de </a:t>
                      </a:r>
                      <a:r>
                        <a:rPr sz="1100" i="0" spc="56" dirty="0" err="1">
                          <a:solidFill>
                            <a:schemeClr val="accent1"/>
                          </a:solidFill>
                          <a:latin typeface="Century Gothic"/>
                        </a:rPr>
                        <a:t>convertirlos</a:t>
                      </a:r>
                      <a:r>
                        <a:rPr sz="1100" i="0" spc="56" dirty="0">
                          <a:solidFill>
                            <a:schemeClr val="accent1"/>
                          </a:solidFill>
                          <a:latin typeface="Century Gothic"/>
                        </a:rPr>
                        <a:t> </a:t>
                      </a:r>
                      <a:r>
                        <a:rPr sz="1100" i="0" spc="56" dirty="0" err="1">
                          <a:solidFill>
                            <a:schemeClr val="accent1"/>
                          </a:solidFill>
                          <a:latin typeface="Century Gothic"/>
                        </a:rPr>
                        <a:t>en</a:t>
                      </a:r>
                      <a:r>
                        <a:rPr sz="1100" i="0" spc="56" dirty="0">
                          <a:solidFill>
                            <a:schemeClr val="accent1"/>
                          </a:solidFill>
                          <a:latin typeface="Century Gothic"/>
                        </a:rPr>
                        <a:t> dinero, </a:t>
                      </a:r>
                      <a:r>
                        <a:rPr sz="1100" i="0" spc="56" dirty="0" err="1">
                          <a:solidFill>
                            <a:schemeClr val="accent1"/>
                          </a:solidFill>
                          <a:latin typeface="Century Gothic"/>
                        </a:rPr>
                        <a:t>venderlos</a:t>
                      </a:r>
                      <a:r>
                        <a:rPr sz="1100" i="0" spc="56" dirty="0">
                          <a:solidFill>
                            <a:schemeClr val="accent1"/>
                          </a:solidFill>
                          <a:latin typeface="Century Gothic"/>
                        </a:rPr>
                        <a:t> o </a:t>
                      </a:r>
                      <a:r>
                        <a:rPr sz="1100" i="0" spc="56" dirty="0" err="1">
                          <a:solidFill>
                            <a:schemeClr val="accent1"/>
                          </a:solidFill>
                          <a:latin typeface="Century Gothic"/>
                        </a:rPr>
                        <a:t>consumirlos</a:t>
                      </a:r>
                      <a:r>
                        <a:rPr sz="1100" i="0" spc="56" dirty="0">
                          <a:solidFill>
                            <a:schemeClr val="accent1"/>
                          </a:solidFill>
                          <a:latin typeface="Century Gothic"/>
                        </a:rPr>
                        <a:t>.</a:t>
                      </a:r>
                      <a:endParaRPr lang="es-CO" sz="1100" i="0" spc="56" dirty="0">
                        <a:solidFill>
                          <a:schemeClr val="accent1"/>
                        </a:solidFill>
                        <a:latin typeface="Century Gothic"/>
                      </a:endParaRPr>
                    </a:p>
                    <a:p>
                      <a:pPr lvl="0" algn="just" defTabSz="914400">
                        <a:defRPr>
                          <a:solidFill>
                            <a:srgbClr val="000000"/>
                          </a:solidFill>
                        </a:defRPr>
                      </a:pPr>
                      <a:endParaRPr lang="es-CO" sz="1100" i="0" spc="56" dirty="0">
                        <a:solidFill>
                          <a:schemeClr val="accent1"/>
                        </a:solidFill>
                        <a:latin typeface="Century Gothic" panose="020B0502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solidFill>
                            <a:srgbClr val="000000"/>
                          </a:solidFill>
                        </a:defRPr>
                      </a:pPr>
                      <a:r>
                        <a:rPr lang="es-ES" sz="1100" b="1" i="0" spc="56" dirty="0">
                          <a:solidFill>
                            <a:schemeClr val="accent1"/>
                          </a:solidFill>
                          <a:latin typeface="Century Gothic" panose="020B0502020202020204" pitchFamily="34" charset="0"/>
                        </a:rPr>
                        <a:t>Corto plazo: </a:t>
                      </a:r>
                      <a:r>
                        <a:rPr lang="es-ES" sz="1100" i="0" spc="56" dirty="0">
                          <a:solidFill>
                            <a:schemeClr val="accent1"/>
                          </a:solidFill>
                          <a:latin typeface="Century Gothic" panose="020B0502020202020204" pitchFamily="34" charset="0"/>
                        </a:rPr>
                        <a:t>Menor a 1 año.</a:t>
                      </a:r>
                    </a:p>
                    <a:p>
                      <a:pPr lvl="0" algn="just" defTabSz="914400">
                        <a:defRPr>
                          <a:solidFill>
                            <a:srgbClr val="000000"/>
                          </a:solidFill>
                        </a:defRPr>
                      </a:pPr>
                      <a:endParaRPr sz="1100" i="0" spc="56"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9"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8">
                  <a:txBody>
                    <a:bodyPr/>
                    <a:lstStyle/>
                    <a:p>
                      <a:pPr lvl="0" algn="just" defTabSz="914400">
                        <a:defRPr>
                          <a:solidFill>
                            <a:srgbClr val="000000"/>
                          </a:solidFill>
                        </a:defRPr>
                      </a:pPr>
                      <a:endParaRPr sz="9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3"/>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4"/>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5"/>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6"/>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7"/>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8"/>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9"/>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gridSpan="2">
                  <a:txBody>
                    <a:bodyPr/>
                    <a:lstStyle/>
                    <a:p>
                      <a:pPr lvl="0" defTabSz="914400">
                        <a:defRPr>
                          <a:solidFill>
                            <a:srgbClr val="000000"/>
                          </a:solidFill>
                        </a:defRPr>
                      </a:pPr>
                      <a:r>
                        <a:rPr sz="900" b="1" spc="56">
                          <a:solidFill>
                            <a:schemeClr val="bg1"/>
                          </a:solidFill>
                          <a:latin typeface="Century Gothic" panose="020B0502020202020204" pitchFamily="34" charset="0"/>
                        </a:rPr>
                        <a:t>Pasivos </a:t>
                      </a:r>
                      <a:r>
                        <a:rPr lang="es-ES" sz="900" b="1" spc="56">
                          <a:solidFill>
                            <a:schemeClr val="bg1"/>
                          </a:solidFill>
                          <a:latin typeface="Century Gothic" panose="020B0502020202020204" pitchFamily="34" charset="0"/>
                        </a:rPr>
                        <a:t>No Corrientes</a:t>
                      </a:r>
                      <a:endParaRPr sz="9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10"/>
                  </a:ext>
                </a:extLst>
              </a:tr>
              <a:tr h="224123">
                <a:tc gridSpan="2">
                  <a:txBody>
                    <a:bodyPr/>
                    <a:lstStyle/>
                    <a:p>
                      <a:pPr lvl="0" defTabSz="914400">
                        <a:defRPr>
                          <a:solidFill>
                            <a:srgbClr val="000000"/>
                          </a:solidFill>
                        </a:defRPr>
                      </a:pPr>
                      <a:r>
                        <a:rPr sz="900" b="1" spc="56">
                          <a:solidFill>
                            <a:schemeClr val="bg1"/>
                          </a:solidFill>
                          <a:latin typeface="Century Gothic"/>
                        </a:rPr>
                        <a:t>Activos </a:t>
                      </a:r>
                      <a:r>
                        <a:rPr lang="es-ES" sz="900" b="1" spc="56">
                          <a:solidFill>
                            <a:schemeClr val="bg1"/>
                          </a:solidFill>
                          <a:latin typeface="Century Gothic"/>
                        </a:rPr>
                        <a:t>No Corrientes</a:t>
                      </a:r>
                      <a:endParaRPr sz="900" b="1" spc="56">
                        <a:solidFill>
                          <a:schemeClr val="bg1"/>
                        </a:solidFill>
                        <a:latin typeface="Century Gothic"/>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a:txBody>
                    <a:bodyPr/>
                    <a:lstStyle/>
                    <a:p>
                      <a:pPr lvl="0" algn="l" defTabSz="914400">
                        <a:defRPr>
                          <a:solidFill>
                            <a:srgbClr val="000000"/>
                          </a:solidFill>
                        </a:defRPr>
                      </a:pPr>
                      <a:endParaRPr sz="9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224123">
                <a:tc rowSpan="6" gridSpan="2">
                  <a:txBody>
                    <a:bodyPr/>
                    <a:lstStyle/>
                    <a:p>
                      <a:pPr lvl="0" algn="l" defTabSz="914400">
                        <a:defRPr>
                          <a:solidFill>
                            <a:srgbClr val="000000"/>
                          </a:solidFill>
                        </a:defRPr>
                      </a:pPr>
                      <a:endParaRPr lang="es-CO" sz="1100" spc="56" dirty="0">
                        <a:solidFill>
                          <a:schemeClr val="accent1"/>
                        </a:solidFill>
                        <a:latin typeface="Century Gothic" panose="020B0502020202020204" pitchFamily="34" charset="0"/>
                      </a:endParaRPr>
                    </a:p>
                    <a:p>
                      <a:pPr lvl="0" algn="just" defTabSz="914400">
                        <a:defRPr>
                          <a:solidFill>
                            <a:srgbClr val="000000"/>
                          </a:solidFill>
                        </a:defRPr>
                      </a:pPr>
                      <a:r>
                        <a:rPr sz="1100" spc="56" dirty="0">
                          <a:solidFill>
                            <a:schemeClr val="accent1"/>
                          </a:solidFill>
                          <a:latin typeface="Century Gothic"/>
                        </a:rPr>
                        <a:t>Activos </a:t>
                      </a:r>
                      <a:r>
                        <a:rPr sz="1100" spc="56" dirty="0" err="1">
                          <a:solidFill>
                            <a:schemeClr val="accent1"/>
                          </a:solidFill>
                          <a:latin typeface="Century Gothic"/>
                        </a:rPr>
                        <a:t>que</a:t>
                      </a:r>
                      <a:r>
                        <a:rPr sz="1100" spc="56" dirty="0">
                          <a:solidFill>
                            <a:schemeClr val="accent1"/>
                          </a:solidFill>
                          <a:latin typeface="Century Gothic"/>
                        </a:rPr>
                        <a:t> </a:t>
                      </a:r>
                      <a:r>
                        <a:rPr sz="1100" spc="56" dirty="0" err="1">
                          <a:solidFill>
                            <a:schemeClr val="accent1"/>
                          </a:solidFill>
                          <a:latin typeface="Century Gothic"/>
                        </a:rPr>
                        <a:t>cumplen</a:t>
                      </a:r>
                      <a:r>
                        <a:rPr sz="1100" spc="56" dirty="0">
                          <a:solidFill>
                            <a:schemeClr val="accent1"/>
                          </a:solidFill>
                          <a:latin typeface="Century Gothic"/>
                        </a:rPr>
                        <a:t> con </a:t>
                      </a:r>
                      <a:r>
                        <a:rPr sz="1100" spc="56" dirty="0" err="1">
                          <a:solidFill>
                            <a:schemeClr val="accent1"/>
                          </a:solidFill>
                          <a:latin typeface="Century Gothic"/>
                        </a:rPr>
                        <a:t>alguna</a:t>
                      </a:r>
                      <a:r>
                        <a:rPr sz="1100" spc="56" dirty="0">
                          <a:solidFill>
                            <a:schemeClr val="accent1"/>
                          </a:solidFill>
                          <a:latin typeface="Century Gothic"/>
                        </a:rPr>
                        <a:t> de las </a:t>
                      </a:r>
                      <a:r>
                        <a:rPr sz="1100" spc="56" dirty="0" err="1">
                          <a:solidFill>
                            <a:schemeClr val="accent1"/>
                          </a:solidFill>
                          <a:latin typeface="Century Gothic"/>
                        </a:rPr>
                        <a:t>siguientes</a:t>
                      </a:r>
                      <a:r>
                        <a:rPr sz="1100" spc="56" dirty="0">
                          <a:solidFill>
                            <a:schemeClr val="accent1"/>
                          </a:solidFill>
                          <a:latin typeface="Century Gothic"/>
                        </a:rPr>
                        <a:t> </a:t>
                      </a:r>
                      <a:r>
                        <a:rPr sz="1100" spc="56" dirty="0" err="1">
                          <a:solidFill>
                            <a:schemeClr val="accent1"/>
                          </a:solidFill>
                          <a:latin typeface="Century Gothic"/>
                        </a:rPr>
                        <a:t>características</a:t>
                      </a:r>
                      <a:r>
                        <a:rPr sz="1100" spc="56" dirty="0">
                          <a:solidFill>
                            <a:schemeClr val="accent1"/>
                          </a:solidFill>
                          <a:latin typeface="Century Gothic"/>
                        </a:rPr>
                        <a:t>:</a:t>
                      </a:r>
                      <a:endParaRPr lang="es-CO" sz="1100" spc="56" dirty="0">
                        <a:solidFill>
                          <a:schemeClr val="accent1"/>
                        </a:solidFill>
                        <a:latin typeface="Century Gothic"/>
                      </a:endParaRPr>
                    </a:p>
                    <a:p>
                      <a:pPr lvl="0" algn="just" defTabSz="914400">
                        <a:defRPr>
                          <a:solidFill>
                            <a:srgbClr val="000000"/>
                          </a:solidFill>
                        </a:defRPr>
                      </a:pPr>
                      <a:endParaRPr sz="1100" spc="56" dirty="0">
                        <a:solidFill>
                          <a:schemeClr val="accent1"/>
                        </a:solidFill>
                        <a:latin typeface="Century Gothic" panose="020B0502020202020204" pitchFamily="34" charset="0"/>
                      </a:endParaRPr>
                    </a:p>
                    <a:p>
                      <a:pPr marL="224790" lvl="0" indent="-224790" algn="just" defTabSz="914400">
                        <a:buClr>
                          <a:srgbClr val="A1A1A1"/>
                        </a:buClr>
                        <a:buSzPct val="100000"/>
                        <a:buAutoNum type="arabicPeriod"/>
                        <a:defRPr>
                          <a:solidFill>
                            <a:srgbClr val="000000"/>
                          </a:solidFill>
                        </a:defRPr>
                      </a:pPr>
                      <a:r>
                        <a:rPr sz="1100" spc="56" dirty="0">
                          <a:solidFill>
                            <a:schemeClr val="accent1"/>
                          </a:solidFill>
                          <a:latin typeface="Century Gothic" panose="020B0502020202020204" pitchFamily="34" charset="0"/>
                        </a:rPr>
                        <a:t>Son de </a:t>
                      </a:r>
                      <a:r>
                        <a:rPr sz="1100" spc="56" dirty="0" err="1">
                          <a:solidFill>
                            <a:schemeClr val="accent1"/>
                          </a:solidFill>
                          <a:latin typeface="Century Gothic" panose="020B0502020202020204" pitchFamily="34" charset="0"/>
                        </a:rPr>
                        <a:t>carácter</a:t>
                      </a:r>
                      <a:r>
                        <a:rPr sz="1100" spc="56" dirty="0">
                          <a:solidFill>
                            <a:schemeClr val="accent1"/>
                          </a:solidFill>
                          <a:latin typeface="Century Gothic" panose="020B0502020202020204" pitchFamily="34" charset="0"/>
                        </a:rPr>
                        <a:t> </a:t>
                      </a:r>
                      <a:r>
                        <a:rPr sz="1100" spc="56" dirty="0" err="1">
                          <a:solidFill>
                            <a:schemeClr val="accent1"/>
                          </a:solidFill>
                          <a:latin typeface="Century Gothic" panose="020B0502020202020204" pitchFamily="34" charset="0"/>
                        </a:rPr>
                        <a:t>permanente</a:t>
                      </a:r>
                      <a:r>
                        <a:rPr sz="1100" spc="56" dirty="0">
                          <a:solidFill>
                            <a:schemeClr val="accent1"/>
                          </a:solidFill>
                          <a:latin typeface="Century Gothic" panose="020B0502020202020204" pitchFamily="34" charset="0"/>
                        </a:rPr>
                        <a:t> </a:t>
                      </a:r>
                      <a:r>
                        <a:rPr sz="1100" spc="56" dirty="0" err="1">
                          <a:solidFill>
                            <a:schemeClr val="accent1"/>
                          </a:solidFill>
                          <a:latin typeface="Century Gothic" panose="020B0502020202020204" pitchFamily="34" charset="0"/>
                        </a:rPr>
                        <a:t>en</a:t>
                      </a:r>
                      <a:r>
                        <a:rPr sz="1100" spc="56" dirty="0">
                          <a:solidFill>
                            <a:schemeClr val="accent1"/>
                          </a:solidFill>
                          <a:latin typeface="Century Gothic" panose="020B0502020202020204" pitchFamily="34" charset="0"/>
                        </a:rPr>
                        <a:t> </a:t>
                      </a:r>
                      <a:r>
                        <a:rPr sz="1100" spc="56" dirty="0" err="1">
                          <a:solidFill>
                            <a:schemeClr val="accent1"/>
                          </a:solidFill>
                          <a:latin typeface="Century Gothic" panose="020B0502020202020204" pitchFamily="34" charset="0"/>
                        </a:rPr>
                        <a:t>el</a:t>
                      </a:r>
                      <a:r>
                        <a:rPr sz="1100" spc="56" dirty="0">
                          <a:solidFill>
                            <a:schemeClr val="accent1"/>
                          </a:solidFill>
                          <a:latin typeface="Century Gothic" panose="020B0502020202020204" pitchFamily="34" charset="0"/>
                        </a:rPr>
                        <a:t> largo </a:t>
                      </a:r>
                      <a:r>
                        <a:rPr sz="1100" spc="56" dirty="0" err="1">
                          <a:solidFill>
                            <a:schemeClr val="accent1"/>
                          </a:solidFill>
                          <a:latin typeface="Century Gothic" panose="020B0502020202020204" pitchFamily="34" charset="0"/>
                        </a:rPr>
                        <a:t>plazo</a:t>
                      </a:r>
                      <a:r>
                        <a:rPr sz="1100" spc="56" dirty="0">
                          <a:solidFill>
                            <a:schemeClr val="accent1"/>
                          </a:solidFill>
                          <a:latin typeface="Century Gothic" panose="020B0502020202020204" pitchFamily="34" charset="0"/>
                        </a:rPr>
                        <a:t>.</a:t>
                      </a:r>
                    </a:p>
                    <a:p>
                      <a:pPr marL="224790" lvl="0" indent="-224790" algn="just" defTabSz="914400">
                        <a:buClr>
                          <a:srgbClr val="A1A1A1"/>
                        </a:buClr>
                        <a:buSzPct val="100000"/>
                        <a:buAutoNum type="arabicPeriod"/>
                        <a:defRPr>
                          <a:solidFill>
                            <a:srgbClr val="000000"/>
                          </a:solidFill>
                        </a:defRPr>
                      </a:pPr>
                      <a:r>
                        <a:rPr sz="1100" spc="56" dirty="0">
                          <a:solidFill>
                            <a:schemeClr val="accent1"/>
                          </a:solidFill>
                          <a:latin typeface="Century Gothic" panose="020B0502020202020204" pitchFamily="34" charset="0"/>
                        </a:rPr>
                        <a:t>No se </a:t>
                      </a:r>
                      <a:r>
                        <a:rPr sz="1100" spc="56" dirty="0" err="1">
                          <a:solidFill>
                            <a:schemeClr val="accent1"/>
                          </a:solidFill>
                          <a:latin typeface="Century Gothic" panose="020B0502020202020204" pitchFamily="34" charset="0"/>
                        </a:rPr>
                        <a:t>tienen</a:t>
                      </a:r>
                      <a:r>
                        <a:rPr sz="1100" spc="56" dirty="0">
                          <a:solidFill>
                            <a:schemeClr val="accent1"/>
                          </a:solidFill>
                          <a:latin typeface="Century Gothic" panose="020B0502020202020204" pitchFamily="34" charset="0"/>
                        </a:rPr>
                        <a:t> con </a:t>
                      </a:r>
                      <a:r>
                        <a:rPr lang="es-CO" sz="1100" spc="56" dirty="0">
                          <a:solidFill>
                            <a:schemeClr val="accent1"/>
                          </a:solidFill>
                          <a:latin typeface="Century Gothic" panose="020B0502020202020204" pitchFamily="34" charset="0"/>
                        </a:rPr>
                        <a:t>á</a:t>
                      </a:r>
                      <a:r>
                        <a:rPr sz="1100" spc="56" dirty="0" err="1">
                          <a:solidFill>
                            <a:schemeClr val="accent1"/>
                          </a:solidFill>
                          <a:latin typeface="Century Gothic" panose="020B0502020202020204" pitchFamily="34" charset="0"/>
                        </a:rPr>
                        <a:t>nimo</a:t>
                      </a:r>
                      <a:r>
                        <a:rPr sz="1100" spc="56" dirty="0">
                          <a:solidFill>
                            <a:schemeClr val="accent1"/>
                          </a:solidFill>
                          <a:latin typeface="Century Gothic" panose="020B0502020202020204" pitchFamily="34" charset="0"/>
                        </a:rPr>
                        <a:t> de </a:t>
                      </a:r>
                      <a:r>
                        <a:rPr sz="1100" spc="56" dirty="0" err="1">
                          <a:solidFill>
                            <a:schemeClr val="accent1"/>
                          </a:solidFill>
                          <a:latin typeface="Century Gothic" panose="020B0502020202020204" pitchFamily="34" charset="0"/>
                        </a:rPr>
                        <a:t>venta</a:t>
                      </a:r>
                      <a:r>
                        <a:rPr sz="1100" spc="56" dirty="0">
                          <a:solidFill>
                            <a:schemeClr val="accent1"/>
                          </a:solidFill>
                          <a:latin typeface="Century Gothic" panose="020B0502020202020204" pitchFamily="34" charset="0"/>
                        </a:rPr>
                        <a:t>.</a:t>
                      </a:r>
                    </a:p>
                    <a:p>
                      <a:pPr marL="224790" lvl="0" indent="-224790" algn="just">
                        <a:buClr>
                          <a:srgbClr val="A1A1A1"/>
                        </a:buClr>
                        <a:buSzPct val="100000"/>
                        <a:buAutoNum type="arabicPeriod"/>
                      </a:pPr>
                      <a:r>
                        <a:rPr sz="1100" spc="56" dirty="0">
                          <a:solidFill>
                            <a:schemeClr val="accent1"/>
                          </a:solidFill>
                          <a:latin typeface="Century Gothic"/>
                        </a:rPr>
                        <a:t>Son </a:t>
                      </a:r>
                      <a:r>
                        <a:rPr lang="es-ES" sz="1100" spc="56" dirty="0">
                          <a:solidFill>
                            <a:schemeClr val="accent1"/>
                          </a:solidFill>
                          <a:latin typeface="Century Gothic"/>
                        </a:rPr>
                        <a:t>recursos de largo plazo que apoyan </a:t>
                      </a:r>
                      <a:r>
                        <a:rPr sz="1100" spc="56" dirty="0">
                          <a:solidFill>
                            <a:schemeClr val="accent1"/>
                          </a:solidFill>
                          <a:latin typeface="Century Gothic"/>
                        </a:rPr>
                        <a:t>la </a:t>
                      </a:r>
                      <a:r>
                        <a:rPr sz="1100" spc="56" dirty="0" err="1">
                          <a:solidFill>
                            <a:schemeClr val="accent1"/>
                          </a:solidFill>
                          <a:latin typeface="Century Gothic"/>
                        </a:rPr>
                        <a:t>operación</a:t>
                      </a:r>
                      <a:r>
                        <a:rPr sz="1100" spc="56" dirty="0">
                          <a:solidFill>
                            <a:schemeClr val="accent1"/>
                          </a:solidFill>
                          <a:latin typeface="Century Gothic"/>
                        </a:rPr>
                        <a:t> </a:t>
                      </a:r>
                      <a:r>
                        <a:rPr lang="es-ES" sz="1100" spc="56" dirty="0">
                          <a:solidFill>
                            <a:schemeClr val="accent1"/>
                          </a:solidFill>
                          <a:latin typeface="Century Gothic"/>
                        </a:rPr>
                        <a:t>o generan beneficios futuros</a:t>
                      </a:r>
                      <a:r>
                        <a:rPr sz="1100" spc="56" dirty="0">
                          <a:solidFill>
                            <a:schemeClr val="accent1"/>
                          </a:solidFill>
                          <a:latin typeface="Century Gothic"/>
                        </a:rPr>
                        <a:t>.</a:t>
                      </a:r>
                      <a:endParaRPr lang="es-CO" sz="1100" spc="56" dirty="0">
                        <a:solidFill>
                          <a:schemeClr val="accent1"/>
                        </a:solidFill>
                        <a:latin typeface="Century Gothic"/>
                      </a:endParaRPr>
                    </a:p>
                    <a:p>
                      <a:pPr marL="0" lvl="0" indent="0" algn="l" defTabSz="914400">
                        <a:buClr>
                          <a:srgbClr val="A1A1A1"/>
                        </a:buClr>
                        <a:buSzPct val="100000"/>
                        <a:buNone/>
                        <a:defRPr>
                          <a:solidFill>
                            <a:srgbClr val="000000"/>
                          </a:solidFill>
                        </a:defRPr>
                      </a:pPr>
                      <a:endParaRPr sz="1100" spc="56"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6"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12"/>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gridSpan="2">
                  <a:txBody>
                    <a:bodyPr/>
                    <a:lstStyle/>
                    <a:p>
                      <a:pPr lvl="0" defTabSz="914400">
                        <a:defRPr>
                          <a:solidFill>
                            <a:srgbClr val="000000"/>
                          </a:solidFill>
                        </a:defRPr>
                      </a:pPr>
                      <a:r>
                        <a:rPr sz="900" b="1" spc="56">
                          <a:solidFill>
                            <a:schemeClr val="bg1"/>
                          </a:solidFill>
                          <a:latin typeface="Century Gothic"/>
                        </a:rPr>
                        <a:t>Patrimonio</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13"/>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4"/>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5"/>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6"/>
                  </a:ext>
                </a:extLst>
              </a:tr>
              <a:tr h="325014">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7"/>
                  </a:ext>
                </a:extLst>
              </a:tr>
              <a:tr h="224123">
                <a:tc gridSpan="2">
                  <a:txBody>
                    <a:bodyPr/>
                    <a:lstStyle/>
                    <a:p>
                      <a:pPr lvl="0" defTabSz="914400">
                        <a:defRPr>
                          <a:solidFill>
                            <a:srgbClr val="000000"/>
                          </a:solidFill>
                        </a:defRPr>
                      </a:pPr>
                      <a:endParaRPr sz="9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bg1"/>
                    </a:solidFill>
                  </a:tcPr>
                </a:tc>
                <a:tc h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8"/>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a:txBody>
                    <a:bodyPr/>
                    <a:lstStyle/>
                    <a:p>
                      <a:pPr lvl="0" algn="just" defTabSz="914400">
                        <a:defRPr>
                          <a:solidFill>
                            <a:srgbClr val="000000"/>
                          </a:solidFill>
                        </a:defRPr>
                      </a:pPr>
                      <a:endParaRPr sz="9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9"/>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20"/>
                  </a:ext>
                </a:extLst>
              </a:tr>
            </a:tbl>
          </a:graphicData>
        </a:graphic>
      </p:graphicFrame>
      <p:sp>
        <p:nvSpPr>
          <p:cNvPr id="5" name="Rectángulo 4">
            <a:extLst>
              <a:ext uri="{FF2B5EF4-FFF2-40B4-BE49-F238E27FC236}">
                <a16:creationId xmlns:a16="http://schemas.microsoft.com/office/drawing/2014/main" id="{3D69499D-3EFD-C3D0-CCA5-2D4939931F1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F9405D62-E7FB-BD17-9750-5CBA775CF83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19</a:t>
            </a:fld>
            <a:endParaRPr lang="en-US" sz="2000" b="1">
              <a:latin typeface="Century Gothic" panose="020B0502020202020204" pitchFamily="34" charset="0"/>
            </a:endParaRPr>
          </a:p>
        </p:txBody>
      </p:sp>
    </p:spTree>
    <p:extLst>
      <p:ext uri="{BB962C8B-B14F-4D97-AF65-F5344CB8AC3E}">
        <p14:creationId xmlns:p14="http://schemas.microsoft.com/office/powerpoint/2010/main" val="32095315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Shape 121"/>
          <p:cNvSpPr/>
          <p:nvPr/>
        </p:nvSpPr>
        <p:spPr>
          <a:xfrm>
            <a:off x="641965" y="2064368"/>
            <a:ext cx="10968842" cy="4532465"/>
          </a:xfrm>
          <a:prstGeom prst="rect">
            <a:avLst/>
          </a:prstGeom>
          <a:ln w="12700">
            <a:miter lim="400000"/>
          </a:ln>
          <a:extLst>
            <a:ext uri="{C572A759-6A51-4108-AA02-DFA0A04FC94B}">
              <ma14:wrappingTextBoxFlag xmlns="" xmlns:ma14="http://schemas.microsoft.com/office/mac/drawingml/2011/main" val="1"/>
            </a:ext>
          </a:extLst>
        </p:spPr>
        <p:txBody>
          <a:bodyPr lIns="0" tIns="0" rIns="0" bIns="0">
            <a:noAutofit/>
          </a:bodyPr>
          <a:lstStyle/>
          <a:p>
            <a:pPr defTabSz="267014">
              <a:spcBef>
                <a:spcPts val="1898"/>
              </a:spcBef>
              <a:defRPr sz="1800">
                <a:solidFill>
                  <a:srgbClr val="000000"/>
                </a:solidFill>
              </a:defRPr>
            </a:pPr>
            <a:r>
              <a:rPr b="1" u="sng" dirty="0">
                <a:solidFill>
                  <a:srgbClr val="C00000"/>
                </a:solidFill>
                <a:latin typeface="Century Gothic" panose="020B0502020202020204" pitchFamily="34" charset="0"/>
              </a:rPr>
              <a:t>Activos Tangibles</a:t>
            </a:r>
          </a:p>
          <a:p>
            <a:pPr algn="just" defTabSz="267014">
              <a:spcBef>
                <a:spcPts val="1898"/>
              </a:spcBef>
              <a:defRPr sz="1800">
                <a:solidFill>
                  <a:srgbClr val="000000"/>
                </a:solidFill>
              </a:defRPr>
            </a:pPr>
            <a:r>
              <a:rPr sz="1600" dirty="0">
                <a:solidFill>
                  <a:srgbClr val="606060"/>
                </a:solidFill>
                <a:latin typeface="Century Gothic" panose="020B0502020202020204" pitchFamily="34" charset="0"/>
              </a:rPr>
              <a:t>	</a:t>
            </a:r>
            <a:r>
              <a:rPr b="1" dirty="0" err="1">
                <a:solidFill>
                  <a:schemeClr val="accent1"/>
                </a:solidFill>
                <a:latin typeface="Century Gothic" panose="020B0502020202020204" pitchFamily="34" charset="0"/>
              </a:rPr>
              <a:t>Depreciables</a:t>
            </a:r>
            <a:r>
              <a:rPr b="1" dirty="0">
                <a:solidFill>
                  <a:schemeClr val="accent1"/>
                </a:solidFill>
                <a:latin typeface="Century Gothic" panose="020B0502020202020204" pitchFamily="34" charset="0"/>
              </a:rPr>
              <a:t>: </a:t>
            </a:r>
            <a:r>
              <a:rPr dirty="0">
                <a:solidFill>
                  <a:schemeClr val="accent1"/>
                </a:solidFill>
                <a:latin typeface="Century Gothic" panose="020B0502020202020204" pitchFamily="34" charset="0"/>
              </a:rPr>
              <a:t>Edificios, </a:t>
            </a:r>
            <a:r>
              <a:rPr dirty="0" err="1">
                <a:solidFill>
                  <a:schemeClr val="accent1"/>
                </a:solidFill>
                <a:latin typeface="Century Gothic" panose="020B0502020202020204" pitchFamily="34" charset="0"/>
              </a:rPr>
              <a:t>maquinaria</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herramientas</a:t>
            </a:r>
            <a:r>
              <a:rPr dirty="0">
                <a:solidFill>
                  <a:schemeClr val="accent1"/>
                </a:solidFill>
                <a:latin typeface="Century Gothic" panose="020B0502020202020204" pitchFamily="34" charset="0"/>
              </a:rPr>
              <a:t> y </a:t>
            </a:r>
            <a:r>
              <a:rPr dirty="0" err="1">
                <a:solidFill>
                  <a:schemeClr val="accent1"/>
                </a:solidFill>
                <a:latin typeface="Century Gothic" panose="020B0502020202020204" pitchFamily="34" charset="0"/>
              </a:rPr>
              <a:t>equipos</a:t>
            </a:r>
            <a:r>
              <a:rPr dirty="0">
                <a:solidFill>
                  <a:schemeClr val="accent1"/>
                </a:solidFill>
                <a:latin typeface="Century Gothic" panose="020B0502020202020204" pitchFamily="34" charset="0"/>
              </a:rPr>
              <a:t>.</a:t>
            </a:r>
          </a:p>
          <a:p>
            <a:pPr algn="just" defTabSz="267014">
              <a:spcBef>
                <a:spcPts val="1898"/>
              </a:spcBef>
              <a:defRPr sz="1800">
                <a:solidFill>
                  <a:srgbClr val="000000"/>
                </a:solidFill>
              </a:defRPr>
            </a:pPr>
            <a:r>
              <a:rPr lang="es-CO" dirty="0">
                <a:solidFill>
                  <a:schemeClr val="accent1"/>
                </a:solidFill>
                <a:latin typeface="Century Gothic" panose="020B0502020202020204" pitchFamily="34" charset="0"/>
              </a:rPr>
              <a:t>	</a:t>
            </a:r>
            <a:r>
              <a:rPr b="1" dirty="0">
                <a:solidFill>
                  <a:schemeClr val="accent1"/>
                </a:solidFill>
                <a:latin typeface="Century Gothic" panose="020B0502020202020204" pitchFamily="34" charset="0"/>
              </a:rPr>
              <a:t>No </a:t>
            </a:r>
            <a:r>
              <a:rPr b="1" dirty="0" err="1">
                <a:solidFill>
                  <a:schemeClr val="accent1"/>
                </a:solidFill>
                <a:latin typeface="Century Gothic" panose="020B0502020202020204" pitchFamily="34" charset="0"/>
              </a:rPr>
              <a:t>Depreciables</a:t>
            </a:r>
            <a:r>
              <a:rPr b="1"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Terrenos</a:t>
            </a:r>
            <a:r>
              <a:rPr dirty="0">
                <a:solidFill>
                  <a:schemeClr val="accent1"/>
                </a:solidFill>
                <a:latin typeface="Century Gothic" panose="020B0502020202020204" pitchFamily="34" charset="0"/>
              </a:rPr>
              <a:t>,</a:t>
            </a:r>
            <a:r>
              <a:rPr lang="es-CO" dirty="0">
                <a:solidFill>
                  <a:schemeClr val="accent1"/>
                </a:solidFill>
                <a:latin typeface="Century Gothic" panose="020B0502020202020204" pitchFamily="34" charset="0"/>
              </a:rPr>
              <a:t> inversiones permanentes, </a:t>
            </a:r>
            <a:r>
              <a:rPr dirty="0" err="1">
                <a:solidFill>
                  <a:schemeClr val="accent1"/>
                </a:solidFill>
                <a:latin typeface="Century Gothic" panose="020B0502020202020204" pitchFamily="34" charset="0"/>
              </a:rPr>
              <a:t>construcciones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en</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curso</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maquinaria</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en</a:t>
            </a:r>
            <a:r>
              <a:rPr dirty="0">
                <a:solidFill>
                  <a:schemeClr val="accent1"/>
                </a:solidFill>
                <a:latin typeface="Century Gothic" panose="020B0502020202020204" pitchFamily="34" charset="0"/>
              </a:rPr>
              <a:t> </a:t>
            </a:r>
            <a:r>
              <a:rPr lang="es-CO"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montaje</a:t>
            </a:r>
            <a:r>
              <a:rPr lang="es-CO" dirty="0">
                <a:solidFill>
                  <a:schemeClr val="accent1"/>
                </a:solidFill>
                <a:latin typeface="Century Gothic" panose="020B0502020202020204" pitchFamily="34" charset="0"/>
              </a:rPr>
              <a:t>, maquinaria en  transporte, metales y piedras preciosas</a:t>
            </a:r>
            <a:r>
              <a:rPr dirty="0">
                <a:solidFill>
                  <a:schemeClr val="accent1"/>
                </a:solidFill>
                <a:latin typeface="Century Gothic" panose="020B0502020202020204" pitchFamily="34" charset="0"/>
              </a:rPr>
              <a:t>.</a:t>
            </a:r>
            <a:endParaRPr lang="es-ES" dirty="0">
              <a:solidFill>
                <a:schemeClr val="accent1"/>
              </a:solidFill>
              <a:latin typeface="Century Gothic" panose="020B0502020202020204" pitchFamily="34" charset="0"/>
            </a:endParaRPr>
          </a:p>
          <a:p>
            <a:pPr algn="just" defTabSz="267014">
              <a:spcBef>
                <a:spcPts val="1898"/>
              </a:spcBef>
              <a:defRPr sz="1800">
                <a:solidFill>
                  <a:srgbClr val="000000"/>
                </a:solidFill>
              </a:defRPr>
            </a:pPr>
            <a:endParaRPr sz="1600" dirty="0">
              <a:solidFill>
                <a:schemeClr val="accent1"/>
              </a:solidFill>
              <a:latin typeface="Century Gothic" panose="020B0502020202020204" pitchFamily="34" charset="0"/>
            </a:endParaRPr>
          </a:p>
          <a:p>
            <a:pPr defTabSz="267014">
              <a:spcBef>
                <a:spcPts val="1898"/>
              </a:spcBef>
              <a:defRPr sz="1800">
                <a:solidFill>
                  <a:srgbClr val="000000"/>
                </a:solidFill>
              </a:defRPr>
            </a:pPr>
            <a:r>
              <a:rPr b="1" u="sng" dirty="0">
                <a:solidFill>
                  <a:srgbClr val="C00000"/>
                </a:solidFill>
                <a:latin typeface="Century Gothic" panose="020B0502020202020204" pitchFamily="34" charset="0"/>
              </a:rPr>
              <a:t>Activos Intangibles</a:t>
            </a:r>
          </a:p>
          <a:p>
            <a:pPr algn="just" defTabSz="267014">
              <a:spcBef>
                <a:spcPts val="1898"/>
              </a:spcBef>
              <a:defRPr sz="1800">
                <a:solidFill>
                  <a:srgbClr val="000000"/>
                </a:solidFill>
              </a:defRPr>
            </a:pPr>
            <a:r>
              <a:rPr sz="1600" dirty="0">
                <a:solidFill>
                  <a:srgbClr val="606060"/>
                </a:solidFill>
                <a:latin typeface="Century Gothic" panose="020B0502020202020204" pitchFamily="34" charset="0"/>
              </a:rPr>
              <a:t>	</a:t>
            </a:r>
            <a:r>
              <a:rPr b="1" dirty="0" err="1">
                <a:solidFill>
                  <a:schemeClr val="accent1"/>
                </a:solidFill>
                <a:latin typeface="Century Gothic" panose="020B0502020202020204" pitchFamily="34" charset="0"/>
              </a:rPr>
              <a:t>Amortizables</a:t>
            </a:r>
            <a:r>
              <a:rPr b="1"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Patentes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concesiones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mejoras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en</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propiedad</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arrendada</a:t>
            </a:r>
            <a:r>
              <a:rPr lang="es-ES" dirty="0">
                <a:solidFill>
                  <a:schemeClr val="accent1"/>
                </a:solidFill>
                <a:latin typeface="Century Gothic" panose="020B0502020202020204" pitchFamily="34" charset="0"/>
              </a:rPr>
              <a:t>.</a:t>
            </a:r>
            <a:endParaRPr dirty="0">
              <a:solidFill>
                <a:schemeClr val="accent1"/>
              </a:solidFill>
              <a:latin typeface="Century Gothic" panose="020B0502020202020204" pitchFamily="34" charset="0"/>
            </a:endParaRPr>
          </a:p>
          <a:p>
            <a:pPr algn="just" defTabSz="267014">
              <a:spcBef>
                <a:spcPts val="1898"/>
              </a:spcBef>
              <a:defRPr sz="1800">
                <a:solidFill>
                  <a:srgbClr val="000000"/>
                </a:solidFill>
              </a:defRPr>
            </a:pPr>
            <a:r>
              <a:rPr dirty="0">
                <a:solidFill>
                  <a:schemeClr val="accent1"/>
                </a:solidFill>
                <a:latin typeface="Century Gothic" panose="020B0502020202020204" pitchFamily="34" charset="0"/>
              </a:rPr>
              <a:t>	</a:t>
            </a:r>
            <a:r>
              <a:rPr b="1" dirty="0">
                <a:solidFill>
                  <a:schemeClr val="accent1"/>
                </a:solidFill>
                <a:latin typeface="Century Gothic" panose="020B0502020202020204" pitchFamily="34" charset="0"/>
              </a:rPr>
              <a:t>No </a:t>
            </a:r>
            <a:r>
              <a:rPr b="1" dirty="0" err="1">
                <a:solidFill>
                  <a:schemeClr val="accent1"/>
                </a:solidFill>
                <a:latin typeface="Century Gothic" panose="020B0502020202020204" pitchFamily="34" charset="0"/>
              </a:rPr>
              <a:t>Amortizables</a:t>
            </a:r>
            <a:r>
              <a:rPr b="1" dirty="0">
                <a:solidFill>
                  <a:schemeClr val="accent1"/>
                </a:solidFill>
                <a:latin typeface="Century Gothic" panose="020B0502020202020204" pitchFamily="34" charset="0"/>
              </a:rPr>
              <a:t>:</a:t>
            </a:r>
            <a:r>
              <a:rPr dirty="0">
                <a:solidFill>
                  <a:schemeClr val="accent1"/>
                </a:solidFill>
                <a:latin typeface="Century Gothic" panose="020B0502020202020204" pitchFamily="34" charset="0"/>
              </a:rPr>
              <a:t> Good-</a:t>
            </a:r>
            <a:r>
              <a:rPr lang="es-CO" dirty="0">
                <a:solidFill>
                  <a:schemeClr val="accent1"/>
                </a:solidFill>
                <a:latin typeface="Century Gothic" panose="020B0502020202020204" pitchFamily="34" charset="0"/>
              </a:rPr>
              <a:t>W</a:t>
            </a:r>
            <a:r>
              <a:rPr dirty="0">
                <a:solidFill>
                  <a:schemeClr val="accent1"/>
                </a:solidFill>
                <a:latin typeface="Century Gothic" panose="020B0502020202020204" pitchFamily="34" charset="0"/>
              </a:rPr>
              <a:t>ill</a:t>
            </a:r>
            <a:r>
              <a:rPr lang="es-ES" dirty="0">
                <a:solidFill>
                  <a:schemeClr val="accent1"/>
                </a:solidFill>
                <a:latin typeface="Century Gothic" panose="020B0502020202020204" pitchFamily="34" charset="0"/>
              </a:rPr>
              <a:t>.</a:t>
            </a:r>
            <a:endParaRPr dirty="0">
              <a:solidFill>
                <a:schemeClr val="accent1"/>
              </a:solidFill>
              <a:latin typeface="Century Gothic" panose="020B0502020202020204" pitchFamily="34" charset="0"/>
            </a:endParaRPr>
          </a:p>
        </p:txBody>
      </p:sp>
      <p:sp>
        <p:nvSpPr>
          <p:cNvPr id="7" name="Title 1"/>
          <p:cNvSpPr>
            <a:spLocks noGrp="1"/>
          </p:cNvSpPr>
          <p:nvPr>
            <p:ph type="title"/>
          </p:nvPr>
        </p:nvSpPr>
        <p:spPr>
          <a:xfrm>
            <a:off x="446043" y="985150"/>
            <a:ext cx="7249775" cy="803647"/>
          </a:xfrm>
        </p:spPr>
        <p:txBody>
          <a:bodyPr/>
          <a:lstStyle/>
          <a:p>
            <a:r>
              <a:rPr lang="es-ES_tradnl" sz="3094">
                <a:latin typeface="Century Gothic" panose="020B0502020202020204" pitchFamily="34" charset="0"/>
              </a:rPr>
              <a:t>Activos NO CORRIENTES</a:t>
            </a:r>
          </a:p>
        </p:txBody>
      </p:sp>
      <p:pic>
        <p:nvPicPr>
          <p:cNvPr id="10" name="Picture 2" descr="Resultado de imagen para activos"/>
          <p:cNvPicPr>
            <a:picLocks noChangeAspect="1" noChangeArrowheads="1"/>
          </p:cNvPicPr>
          <p:nvPr/>
        </p:nvPicPr>
        <p:blipFill>
          <a:blip r:embed="rId2" cstate="print">
            <a:clrChange>
              <a:clrFrom>
                <a:srgbClr val="F9F9F9"/>
              </a:clrFrom>
              <a:clrTo>
                <a:srgbClr val="F9F9F9">
                  <a:alpha val="0"/>
                </a:srgbClr>
              </a:clrTo>
            </a:clrChange>
            <a:extLst>
              <a:ext uri="{28A0092B-C50C-407E-A947-70E740481C1C}">
                <a14:useLocalDpi xmlns:a14="http://schemas.microsoft.com/office/drawing/2010/main" val="0"/>
              </a:ext>
            </a:extLst>
          </a:blip>
          <a:srcRect/>
          <a:stretch>
            <a:fillRect/>
          </a:stretch>
        </p:blipFill>
        <p:spPr bwMode="auto">
          <a:xfrm>
            <a:off x="9300249" y="3799150"/>
            <a:ext cx="2516101" cy="1314663"/>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6FCF3876-840D-46AE-A3CA-B7A1A48EC53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E9DD3E80-C560-126C-A4F8-E283DDA872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CA1E7093-FEC6-0D7F-6C69-B3A51D07C5B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07A35EA2-34F4-25EC-070E-02954A526FEB}"/>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20</a:t>
            </a:fld>
            <a:endParaRPr lang="en-US" sz="2000" b="1">
              <a:latin typeface="Century Gothic" panose="020B0502020202020204" pitchFamily="34" charset="0"/>
            </a:endParaRPr>
          </a:p>
        </p:txBody>
      </p:sp>
    </p:spTree>
    <p:extLst>
      <p:ext uri="{BB962C8B-B14F-4D97-AF65-F5344CB8AC3E}">
        <p14:creationId xmlns:p14="http://schemas.microsoft.com/office/powerpoint/2010/main" val="3199094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1">
                                            <p:txEl>
                                              <p:pRg st="0" end="0"/>
                                            </p:txEl>
                                          </p:spTgt>
                                        </p:tgtEl>
                                        <p:attrNameLst>
                                          <p:attrName>style.visibility</p:attrName>
                                        </p:attrNameLst>
                                      </p:cBhvr>
                                      <p:to>
                                        <p:strVal val="visible"/>
                                      </p:to>
                                    </p:set>
                                    <p:anim calcmode="lin" valueType="num">
                                      <p:cBhvr additive="base">
                                        <p:cTn id="7" dur="500" fill="hold"/>
                                        <p:tgtEl>
                                          <p:spTgt spid="12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1">
                                            <p:txEl>
                                              <p:pRg st="1" end="1"/>
                                            </p:txEl>
                                          </p:spTgt>
                                        </p:tgtEl>
                                        <p:attrNameLst>
                                          <p:attrName>style.visibility</p:attrName>
                                        </p:attrNameLst>
                                      </p:cBhvr>
                                      <p:to>
                                        <p:strVal val="visible"/>
                                      </p:to>
                                    </p:set>
                                    <p:anim calcmode="lin" valueType="num">
                                      <p:cBhvr additive="base">
                                        <p:cTn id="11" dur="500" fill="hold"/>
                                        <p:tgtEl>
                                          <p:spTgt spid="12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1">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21">
                                            <p:txEl>
                                              <p:pRg st="2" end="2"/>
                                            </p:txEl>
                                          </p:spTgt>
                                        </p:tgtEl>
                                        <p:attrNameLst>
                                          <p:attrName>style.visibility</p:attrName>
                                        </p:attrNameLst>
                                      </p:cBhvr>
                                      <p:to>
                                        <p:strVal val="visible"/>
                                      </p:to>
                                    </p:set>
                                    <p:anim calcmode="lin" valueType="num">
                                      <p:cBhvr additive="base">
                                        <p:cTn id="15" dur="500" fill="hold"/>
                                        <p:tgtEl>
                                          <p:spTgt spid="121">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2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21">
                                            <p:txEl>
                                              <p:pRg st="4" end="4"/>
                                            </p:txEl>
                                          </p:spTgt>
                                        </p:tgtEl>
                                        <p:attrNameLst>
                                          <p:attrName>style.visibility</p:attrName>
                                        </p:attrNameLst>
                                      </p:cBhvr>
                                      <p:to>
                                        <p:strVal val="visible"/>
                                      </p:to>
                                    </p:set>
                                    <p:anim calcmode="lin" valueType="num">
                                      <p:cBhvr additive="base">
                                        <p:cTn id="21" dur="500" fill="hold"/>
                                        <p:tgtEl>
                                          <p:spTgt spid="121">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21">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21">
                                            <p:txEl>
                                              <p:pRg st="5" end="5"/>
                                            </p:txEl>
                                          </p:spTgt>
                                        </p:tgtEl>
                                        <p:attrNameLst>
                                          <p:attrName>style.visibility</p:attrName>
                                        </p:attrNameLst>
                                      </p:cBhvr>
                                      <p:to>
                                        <p:strVal val="visible"/>
                                      </p:to>
                                    </p:set>
                                    <p:anim calcmode="lin" valueType="num">
                                      <p:cBhvr additive="base">
                                        <p:cTn id="25" dur="500" fill="hold"/>
                                        <p:tgtEl>
                                          <p:spTgt spid="121">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21">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21">
                                            <p:txEl>
                                              <p:pRg st="6" end="6"/>
                                            </p:txEl>
                                          </p:spTgt>
                                        </p:tgtEl>
                                        <p:attrNameLst>
                                          <p:attrName>style.visibility</p:attrName>
                                        </p:attrNameLst>
                                      </p:cBhvr>
                                      <p:to>
                                        <p:strVal val="visible"/>
                                      </p:to>
                                    </p:set>
                                    <p:anim calcmode="lin" valueType="num">
                                      <p:cBhvr additive="base">
                                        <p:cTn id="29" dur="500" fill="hold"/>
                                        <p:tgtEl>
                                          <p:spTgt spid="121">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2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Shape 143"/>
          <p:cNvSpPr/>
          <p:nvPr/>
        </p:nvSpPr>
        <p:spPr>
          <a:xfrm>
            <a:off x="3527691" y="1683129"/>
            <a:ext cx="7916295" cy="4291214"/>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normAutofit/>
          </a:bodyPr>
          <a:lstStyle/>
          <a:p>
            <a:pPr algn="ctr">
              <a:spcBef>
                <a:spcPts val="2953"/>
              </a:spcBef>
              <a:defRPr sz="1800">
                <a:solidFill>
                  <a:srgbClr val="000000"/>
                </a:solidFill>
              </a:defRPr>
            </a:pPr>
            <a:r>
              <a:rPr b="1">
                <a:solidFill>
                  <a:schemeClr val="accent3">
                    <a:lumMod val="50000"/>
                  </a:schemeClr>
                </a:solidFill>
                <a:latin typeface="Century Gothic" panose="020B0502020202020204" pitchFamily="34" charset="0"/>
              </a:rPr>
              <a:t>Los pasivos son todas las deudas que tiene la empresa con los acreedores.</a:t>
            </a:r>
          </a:p>
          <a:p>
            <a:pPr algn="ctr">
              <a:spcBef>
                <a:spcPts val="2953"/>
              </a:spcBef>
              <a:defRPr sz="1800">
                <a:solidFill>
                  <a:srgbClr val="000000"/>
                </a:solidFill>
              </a:defRPr>
            </a:pPr>
            <a:r>
              <a:rPr>
                <a:solidFill>
                  <a:schemeClr val="accent1"/>
                </a:solidFill>
                <a:latin typeface="Century Gothic" panose="020B0502020202020204" pitchFamily="34" charset="0"/>
              </a:rPr>
              <a:t>Los pasivos representan obligaciones contraídas por la empresa que nacen por transacciones pasadas que requieren una cancelación o prestación de servicio en el futuro.</a:t>
            </a:r>
          </a:p>
        </p:txBody>
      </p:sp>
      <p:sp>
        <p:nvSpPr>
          <p:cNvPr id="7" name="Title 1"/>
          <p:cNvSpPr>
            <a:spLocks noGrp="1"/>
          </p:cNvSpPr>
          <p:nvPr>
            <p:ph type="title"/>
          </p:nvPr>
        </p:nvSpPr>
        <p:spPr>
          <a:xfrm>
            <a:off x="446043" y="994820"/>
            <a:ext cx="9011714" cy="803647"/>
          </a:xfrm>
        </p:spPr>
        <p:txBody>
          <a:bodyPr vert="horz" lIns="91440" tIns="45720" rIns="91440" bIns="45720" rtlCol="0" anchor="b">
            <a:normAutofit/>
          </a:bodyPr>
          <a:lstStyle/>
          <a:p>
            <a:r>
              <a:rPr lang="es-ES_tradnl" sz="3094">
                <a:latin typeface="Century Gothic" panose="020B0502020202020204" pitchFamily="34" charset="0"/>
              </a:rPr>
              <a:t>Los Pasivos</a:t>
            </a:r>
          </a:p>
        </p:txBody>
      </p:sp>
      <p:pic>
        <p:nvPicPr>
          <p:cNvPr id="10" name="Picture 2" descr="Resultado de imagen para DEUDAS"/>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11802" y="2465315"/>
            <a:ext cx="2428506" cy="2910880"/>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267802D3-24BB-741E-56DF-FCBE71AC3E6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1AD2DCCD-F64A-1D15-FDC6-0FD6150252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E542BFC0-86D0-DBA9-5AF5-9ADDCEF2060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3F53BA21-F9C0-2399-DF13-EBF897EB63D8}"/>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21</a:t>
            </a:fld>
            <a:endParaRPr lang="en-US" sz="2000" b="1">
              <a:latin typeface="Century Gothic" panose="020B0502020202020204" pitchFamily="34" charset="0"/>
            </a:endParaRPr>
          </a:p>
        </p:txBody>
      </p:sp>
    </p:spTree>
    <p:extLst>
      <p:ext uri="{BB962C8B-B14F-4D97-AF65-F5344CB8AC3E}">
        <p14:creationId xmlns:p14="http://schemas.microsoft.com/office/powerpoint/2010/main" val="1501944067"/>
      </p:ext>
    </p:extLst>
  </p:cSld>
  <p:clrMapOvr>
    <a:masterClrMapping/>
  </p:clrMapOvr>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3">
                                            <p:txEl>
                                              <p:pRg st="1" end="1"/>
                                            </p:txEl>
                                          </p:spTgt>
                                        </p:tgtEl>
                                        <p:attrNameLst>
                                          <p:attrName>style.visibility</p:attrName>
                                        </p:attrNameLst>
                                      </p:cBhvr>
                                      <p:to>
                                        <p:strVal val="visible"/>
                                      </p:to>
                                    </p:set>
                                    <p:anim calcmode="lin" valueType="num">
                                      <p:cBhvr additive="base">
                                        <p:cTn id="7" dur="500" fill="hold"/>
                                        <p:tgtEl>
                                          <p:spTgt spid="14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EE768-08B4-C7E4-6C21-3DE82A9EB0E8}"/>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931A68E7-7141-C8DB-9146-D9B5B25F8B6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4633F447-AEBC-13A7-CAF7-3F3B3077E0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147">
            <a:extLst>
              <a:ext uri="{FF2B5EF4-FFF2-40B4-BE49-F238E27FC236}">
                <a16:creationId xmlns:a16="http://schemas.microsoft.com/office/drawing/2014/main" id="{E54BE6BE-81BC-5016-64A0-12F99A0BC46C}"/>
              </a:ext>
            </a:extLst>
          </p:cNvPr>
          <p:cNvGraphicFramePr/>
          <p:nvPr>
            <p:extLst>
              <p:ext uri="{D42A27DB-BD31-4B8C-83A1-F6EECF244321}">
                <p14:modId xmlns:p14="http://schemas.microsoft.com/office/powerpoint/2010/main" val="1847405614"/>
              </p:ext>
            </p:extLst>
          </p:nvPr>
        </p:nvGraphicFramePr>
        <p:xfrm>
          <a:off x="3249424" y="1932416"/>
          <a:ext cx="5546117" cy="5352086"/>
        </p:xfrm>
        <a:graphic>
          <a:graphicData uri="http://schemas.openxmlformats.org/drawingml/2006/table">
            <a:tbl>
              <a:tblPr firstRow="1"/>
              <a:tblGrid>
                <a:gridCol w="308354">
                  <a:extLst>
                    <a:ext uri="{9D8B030D-6E8A-4147-A177-3AD203B41FA5}">
                      <a16:colId xmlns:a16="http://schemas.microsoft.com/office/drawing/2014/main" val="20000"/>
                    </a:ext>
                  </a:extLst>
                </a:gridCol>
                <a:gridCol w="2280721">
                  <a:extLst>
                    <a:ext uri="{9D8B030D-6E8A-4147-A177-3AD203B41FA5}">
                      <a16:colId xmlns:a16="http://schemas.microsoft.com/office/drawing/2014/main" val="20001"/>
                    </a:ext>
                  </a:extLst>
                </a:gridCol>
                <a:gridCol w="310678">
                  <a:extLst>
                    <a:ext uri="{9D8B030D-6E8A-4147-A177-3AD203B41FA5}">
                      <a16:colId xmlns:a16="http://schemas.microsoft.com/office/drawing/2014/main" val="20002"/>
                    </a:ext>
                  </a:extLst>
                </a:gridCol>
                <a:gridCol w="2646364">
                  <a:extLst>
                    <a:ext uri="{9D8B030D-6E8A-4147-A177-3AD203B41FA5}">
                      <a16:colId xmlns:a16="http://schemas.microsoft.com/office/drawing/2014/main" val="20003"/>
                    </a:ext>
                  </a:extLst>
                </a:gridCol>
              </a:tblGrid>
              <a:tr h="224123">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extLst>
                  <a:ext uri="{0D108BD9-81ED-4DB2-BD59-A6C34878D82A}">
                    <a16:rowId xmlns:a16="http://schemas.microsoft.com/office/drawing/2014/main" val="10000"/>
                  </a:ext>
                </a:extLst>
              </a:tr>
              <a:tr h="224123">
                <a:tc gridSpan="2">
                  <a:txBody>
                    <a:bodyPr/>
                    <a:lstStyle/>
                    <a:p>
                      <a:pPr lvl="0" defTabSz="914400">
                        <a:defRPr>
                          <a:solidFill>
                            <a:srgbClr val="000000"/>
                          </a:solidFill>
                        </a:defRPr>
                      </a:pPr>
                      <a:r>
                        <a:rPr sz="900" b="1" spc="56">
                          <a:solidFill>
                            <a:schemeClr val="bg1"/>
                          </a:solidFill>
                          <a:latin typeface="Century Gothic"/>
                        </a:rPr>
                        <a:t>Activos Corrientes</a:t>
                      </a:r>
                    </a:p>
                  </a:txBody>
                  <a:tcPr marL="35718" marR="35718" marT="35718" marB="35718" anchor="ctr" horzOverflow="overflow">
                    <a:lnL w="12700">
                      <a:noFill/>
                      <a:miter lim="400000"/>
                    </a:lnL>
                    <a:lnR w="12700">
                      <a:noFill/>
                      <a:miter lim="400000"/>
                    </a:lnR>
                    <a:lnT w="12700">
                      <a:noFill/>
                      <a:miter lim="400000"/>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tc gridSpan="2">
                  <a:txBody>
                    <a:bodyPr/>
                    <a:lstStyle/>
                    <a:p>
                      <a:pPr lvl="0" defTabSz="914400">
                        <a:defRPr>
                          <a:solidFill>
                            <a:srgbClr val="000000"/>
                          </a:solidFill>
                        </a:defRPr>
                      </a:pPr>
                      <a:r>
                        <a:rPr sz="900" b="1" spc="56">
                          <a:solidFill>
                            <a:schemeClr val="bg1"/>
                          </a:solidFill>
                          <a:latin typeface="Century Gothic" panose="020B0502020202020204" pitchFamily="34" charset="0"/>
                        </a:rPr>
                        <a:t>Pasivos Corrientes</a:t>
                      </a:r>
                    </a:p>
                  </a:txBody>
                  <a:tcPr marL="35718" marR="35718" marT="35718" marB="35718" anchor="ctr" horzOverflow="overflow">
                    <a:lnL w="12700">
                      <a:noFill/>
                      <a:miter lim="400000"/>
                    </a:lnL>
                    <a:lnR w="12700">
                      <a:noFill/>
                      <a:miter lim="400000"/>
                    </a:lnR>
                    <a:lnT w="12700">
                      <a:noFill/>
                      <a:miter lim="400000"/>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01"/>
                  </a:ext>
                </a:extLst>
              </a:tr>
              <a:tr h="1792984">
                <a:tc rowSpan="2" gridSpan="2">
                  <a:txBody>
                    <a:bodyPr/>
                    <a:lstStyle/>
                    <a:p>
                      <a:pPr lvl="0" algn="just" defTabSz="914400">
                        <a:defRPr>
                          <a:solidFill>
                            <a:srgbClr val="000000"/>
                          </a:solidFill>
                        </a:defRPr>
                      </a:pPr>
                      <a:r>
                        <a:rPr lang="es-ES" sz="1100" i="0" spc="56" dirty="0">
                          <a:solidFill>
                            <a:schemeClr val="accent1"/>
                          </a:solidFill>
                          <a:latin typeface="Century Gothic" panose="020B0502020202020204" pitchFamily="34" charset="0"/>
                        </a:rPr>
                        <a:t>Activos líquidos en el </a:t>
                      </a:r>
                      <a:r>
                        <a:rPr lang="es-ES" sz="1100" b="1" i="0" spc="56" dirty="0">
                          <a:solidFill>
                            <a:schemeClr val="accent1"/>
                          </a:solidFill>
                          <a:latin typeface="Century Gothic" panose="020B0502020202020204" pitchFamily="34" charset="0"/>
                        </a:rPr>
                        <a:t>corto plazo.</a:t>
                      </a:r>
                      <a:r>
                        <a:rPr lang="es-ES" sz="1100" i="0" spc="56" dirty="0">
                          <a:solidFill>
                            <a:schemeClr val="accent1"/>
                          </a:solidFill>
                          <a:latin typeface="Century Gothic" panose="020B0502020202020204" pitchFamily="34" charset="0"/>
                        </a:rPr>
                        <a:t> Es decir, aquellos activos de fácil realización en el momento en el que la empresa tenga la intención de convertirlos en dinero, venderlos o consumirlos.</a:t>
                      </a:r>
                    </a:p>
                    <a:p>
                      <a:pPr lvl="0" algn="just" defTabSz="914400">
                        <a:defRPr>
                          <a:solidFill>
                            <a:srgbClr val="000000"/>
                          </a:solidFill>
                        </a:defRPr>
                      </a:pPr>
                      <a:endParaRPr lang="es-ES" sz="1100" i="0" spc="56" dirty="0">
                        <a:solidFill>
                          <a:schemeClr val="accent1"/>
                        </a:solidFill>
                        <a:latin typeface="Century Gothic" panose="020B0502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solidFill>
                            <a:srgbClr val="000000"/>
                          </a:solidFill>
                        </a:defRPr>
                      </a:pPr>
                      <a:r>
                        <a:rPr lang="es-ES" sz="1100" b="1" i="0" spc="56" dirty="0">
                          <a:solidFill>
                            <a:schemeClr val="accent1"/>
                          </a:solidFill>
                          <a:latin typeface="Century Gothic" panose="020B0502020202020204" pitchFamily="34" charset="0"/>
                        </a:rPr>
                        <a:t>Corto plazo: </a:t>
                      </a:r>
                      <a:r>
                        <a:rPr lang="es-ES" sz="1100" i="0" spc="56" dirty="0">
                          <a:solidFill>
                            <a:schemeClr val="accent1"/>
                          </a:solidFill>
                          <a:latin typeface="Century Gothic" panose="020B0502020202020204" pitchFamily="34" charset="0"/>
                        </a:rPr>
                        <a:t>Menor a 1 año.</a:t>
                      </a:r>
                    </a:p>
                    <a:p>
                      <a:pPr lvl="0" algn="just" defTabSz="914400">
                        <a:defRPr>
                          <a:solidFill>
                            <a:srgbClr val="000000"/>
                          </a:solidFill>
                        </a:defRPr>
                      </a:pPr>
                      <a:endParaRPr lang="es-ES" sz="1100" i="0" spc="56"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gridSpan="2">
                  <a:txBody>
                    <a:bodyPr/>
                    <a:lstStyle/>
                    <a:p>
                      <a:pPr marL="0" marR="0" lvl="0" indent="0" algn="just" defTabSz="914400" rtl="0" eaLnBrk="1" fontAlgn="auto" latinLnBrk="0" hangingPunct="1">
                        <a:lnSpc>
                          <a:spcPct val="100000"/>
                        </a:lnSpc>
                        <a:spcBef>
                          <a:spcPts val="0"/>
                        </a:spcBef>
                        <a:spcAft>
                          <a:spcPts val="0"/>
                        </a:spcAft>
                        <a:buClrTx/>
                        <a:buSzTx/>
                        <a:buFontTx/>
                        <a:buNone/>
                        <a:tabLst/>
                        <a:defRPr>
                          <a:solidFill>
                            <a:srgbClr val="000000"/>
                          </a:solidFill>
                        </a:defRPr>
                      </a:pPr>
                      <a:r>
                        <a:rPr lang="es-CO" sz="1100" spc="56" dirty="0">
                          <a:solidFill>
                            <a:schemeClr val="accent1"/>
                          </a:solidFill>
                          <a:latin typeface="Century Gothic" panose="020B0502020202020204" pitchFamily="34" charset="0"/>
                        </a:rPr>
                        <a:t>Aquí se registran las deudas que tiene la compañía -en el corto plazo- con los distintos acreedores de la empresa.</a:t>
                      </a:r>
                    </a:p>
                    <a:p>
                      <a:pPr marL="0" marR="0" lvl="0" indent="0" algn="just" defTabSz="914400" rtl="0" eaLnBrk="1" fontAlgn="auto" latinLnBrk="0" hangingPunct="1">
                        <a:lnSpc>
                          <a:spcPct val="100000"/>
                        </a:lnSpc>
                        <a:spcBef>
                          <a:spcPts val="0"/>
                        </a:spcBef>
                        <a:spcAft>
                          <a:spcPts val="0"/>
                        </a:spcAft>
                        <a:buClrTx/>
                        <a:buSzTx/>
                        <a:buFontTx/>
                        <a:buNone/>
                        <a:tabLst/>
                        <a:defRPr>
                          <a:solidFill>
                            <a:srgbClr val="000000"/>
                          </a:solidFill>
                        </a:defRPr>
                      </a:pPr>
                      <a:endParaRPr lang="es-CO" sz="1100" spc="56" dirty="0">
                        <a:solidFill>
                          <a:schemeClr val="accent1"/>
                        </a:solidFill>
                        <a:latin typeface="Century Gothic" panose="020B0502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solidFill>
                            <a:srgbClr val="000000"/>
                          </a:solidFill>
                        </a:defRPr>
                      </a:pPr>
                      <a:r>
                        <a:rPr lang="es-ES" sz="1100" b="1" i="0" spc="56" dirty="0">
                          <a:solidFill>
                            <a:schemeClr val="accent1"/>
                          </a:solidFill>
                          <a:latin typeface="Century Gothic" panose="020B0502020202020204" pitchFamily="34" charset="0"/>
                        </a:rPr>
                        <a:t>Corto plazo: </a:t>
                      </a:r>
                      <a:r>
                        <a:rPr lang="es-ES" sz="1100" i="0" spc="56" dirty="0">
                          <a:solidFill>
                            <a:schemeClr val="accent1"/>
                          </a:solidFill>
                          <a:latin typeface="Century Gothic" panose="020B0502020202020204" pitchFamily="34" charset="0"/>
                        </a:rPr>
                        <a:t>Menor a 1 año.</a:t>
                      </a:r>
                    </a:p>
                    <a:p>
                      <a:pPr marL="0" marR="0" lvl="0" indent="0" algn="just" defTabSz="914400" rtl="0" eaLnBrk="1" fontAlgn="auto" latinLnBrk="0" hangingPunct="1">
                        <a:lnSpc>
                          <a:spcPct val="100000"/>
                        </a:lnSpc>
                        <a:spcBef>
                          <a:spcPts val="0"/>
                        </a:spcBef>
                        <a:spcAft>
                          <a:spcPts val="0"/>
                        </a:spcAft>
                        <a:buClrTx/>
                        <a:buSzTx/>
                        <a:buFontTx/>
                        <a:buNone/>
                        <a:tabLst/>
                        <a:defRPr>
                          <a:solidFill>
                            <a:srgbClr val="000000"/>
                          </a:solidFill>
                        </a:defRPr>
                      </a:pPr>
                      <a:endParaRPr lang="es-CO" sz="1100" spc="56"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gridSpan="2">
                  <a:txBody>
                    <a:bodyPr/>
                    <a:lstStyle/>
                    <a:p>
                      <a:pPr lvl="0" defTabSz="914400">
                        <a:defRPr>
                          <a:solidFill>
                            <a:srgbClr val="000000"/>
                          </a:solidFill>
                        </a:defRPr>
                      </a:pPr>
                      <a:r>
                        <a:rPr sz="1100" b="1" spc="56">
                          <a:solidFill>
                            <a:schemeClr val="bg1"/>
                          </a:solidFill>
                          <a:latin typeface="Century Gothic" panose="020B0502020202020204" pitchFamily="34" charset="0"/>
                        </a:rPr>
                        <a:t>Pasivos </a:t>
                      </a:r>
                      <a:r>
                        <a:rPr lang="es-ES" sz="1100" b="1" spc="56">
                          <a:solidFill>
                            <a:schemeClr val="bg1"/>
                          </a:solidFill>
                          <a:latin typeface="Century Gothic" panose="020B0502020202020204" pitchFamily="34" charset="0"/>
                        </a:rPr>
                        <a:t>No Corrientes</a:t>
                      </a:r>
                      <a:endParaRPr sz="11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10"/>
                  </a:ext>
                </a:extLst>
              </a:tr>
              <a:tr h="224123">
                <a:tc gridSpan="2">
                  <a:txBody>
                    <a:bodyPr/>
                    <a:lstStyle/>
                    <a:p>
                      <a:pPr lvl="0" defTabSz="914400">
                        <a:defRPr>
                          <a:solidFill>
                            <a:srgbClr val="000000"/>
                          </a:solidFill>
                        </a:defRPr>
                      </a:pPr>
                      <a:r>
                        <a:rPr sz="1100" b="1" spc="56">
                          <a:solidFill>
                            <a:schemeClr val="bg1"/>
                          </a:solidFill>
                          <a:latin typeface="Century Gothic"/>
                        </a:rPr>
                        <a:t>Activos </a:t>
                      </a:r>
                      <a:r>
                        <a:rPr lang="es-ES" sz="1100" b="1" spc="56">
                          <a:solidFill>
                            <a:schemeClr val="bg1"/>
                          </a:solidFill>
                          <a:latin typeface="Century Gothic"/>
                        </a:rPr>
                        <a:t>No Corrientes</a:t>
                      </a:r>
                      <a:endParaRPr sz="1100" b="1" spc="56">
                        <a:solidFill>
                          <a:schemeClr val="bg1"/>
                        </a:solidFill>
                        <a:latin typeface="Century Gothic"/>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tc rowSpan="2"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000000"/>
                          </a:solidFill>
                        </a:defRPr>
                      </a:pPr>
                      <a:r>
                        <a:rPr lang="es-CO" sz="1100" spc="56">
                          <a:solidFill>
                            <a:schemeClr val="accent1"/>
                          </a:solidFill>
                          <a:latin typeface="Century Gothic" panose="020B0502020202020204" pitchFamily="34" charset="0"/>
                        </a:rPr>
                        <a:t>Aquí se registran las deudas que tiene la compañía en el largo plazo.</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224123">
                <a:tc rowSpan="3" gridSpan="2">
                  <a:txBody>
                    <a:bodyPr/>
                    <a:lstStyle/>
                    <a:p>
                      <a:pPr lvl="0" algn="l" defTabSz="914400">
                        <a:defRPr>
                          <a:solidFill>
                            <a:srgbClr val="000000"/>
                          </a:solidFill>
                        </a:defRPr>
                      </a:pPr>
                      <a:endParaRPr lang="es-CO" sz="1100" spc="56" dirty="0">
                        <a:solidFill>
                          <a:schemeClr val="accent1"/>
                        </a:solidFill>
                        <a:latin typeface="Century Gothic" panose="020B0502020202020204" pitchFamily="34" charset="0"/>
                      </a:endParaRPr>
                    </a:p>
                    <a:p>
                      <a:pPr lvl="0" algn="just" defTabSz="914400">
                        <a:buClr>
                          <a:schemeClr val="accent4"/>
                        </a:buClr>
                        <a:defRPr>
                          <a:solidFill>
                            <a:srgbClr val="000000"/>
                          </a:solidFill>
                        </a:defRPr>
                      </a:pPr>
                      <a:r>
                        <a:rPr sz="1100" spc="56" dirty="0">
                          <a:solidFill>
                            <a:schemeClr val="accent1"/>
                          </a:solidFill>
                          <a:latin typeface="Century Gothic"/>
                        </a:rPr>
                        <a:t>Activos </a:t>
                      </a:r>
                      <a:r>
                        <a:rPr sz="1100" spc="56" dirty="0" err="1">
                          <a:solidFill>
                            <a:schemeClr val="accent1"/>
                          </a:solidFill>
                          <a:latin typeface="Century Gothic"/>
                        </a:rPr>
                        <a:t>que</a:t>
                      </a:r>
                      <a:r>
                        <a:rPr sz="1100" spc="56" dirty="0">
                          <a:solidFill>
                            <a:schemeClr val="accent1"/>
                          </a:solidFill>
                          <a:latin typeface="Century Gothic"/>
                        </a:rPr>
                        <a:t> </a:t>
                      </a:r>
                      <a:r>
                        <a:rPr sz="1100" spc="56" dirty="0" err="1">
                          <a:solidFill>
                            <a:schemeClr val="accent1"/>
                          </a:solidFill>
                          <a:latin typeface="Century Gothic"/>
                        </a:rPr>
                        <a:t>cumplen</a:t>
                      </a:r>
                      <a:r>
                        <a:rPr sz="1100" spc="56" dirty="0">
                          <a:solidFill>
                            <a:schemeClr val="accent1"/>
                          </a:solidFill>
                          <a:latin typeface="Century Gothic"/>
                        </a:rPr>
                        <a:t> con </a:t>
                      </a:r>
                      <a:r>
                        <a:rPr sz="1100" spc="56" dirty="0" err="1">
                          <a:solidFill>
                            <a:schemeClr val="accent1"/>
                          </a:solidFill>
                          <a:latin typeface="Century Gothic"/>
                        </a:rPr>
                        <a:t>alguna</a:t>
                      </a:r>
                      <a:r>
                        <a:rPr sz="1100" spc="56" dirty="0">
                          <a:solidFill>
                            <a:schemeClr val="accent1"/>
                          </a:solidFill>
                          <a:latin typeface="Century Gothic"/>
                        </a:rPr>
                        <a:t> de las </a:t>
                      </a:r>
                      <a:r>
                        <a:rPr sz="1100" spc="56" dirty="0" err="1">
                          <a:solidFill>
                            <a:schemeClr val="accent1"/>
                          </a:solidFill>
                          <a:latin typeface="Century Gothic"/>
                        </a:rPr>
                        <a:t>siguientes</a:t>
                      </a:r>
                      <a:r>
                        <a:rPr sz="1100" spc="56" dirty="0">
                          <a:solidFill>
                            <a:schemeClr val="accent1"/>
                          </a:solidFill>
                          <a:latin typeface="Century Gothic"/>
                        </a:rPr>
                        <a:t> </a:t>
                      </a:r>
                      <a:r>
                        <a:rPr sz="1100" spc="56" dirty="0" err="1">
                          <a:solidFill>
                            <a:schemeClr val="accent1"/>
                          </a:solidFill>
                          <a:latin typeface="Century Gothic"/>
                        </a:rPr>
                        <a:t>características</a:t>
                      </a:r>
                      <a:r>
                        <a:rPr sz="1100" spc="56" dirty="0">
                          <a:solidFill>
                            <a:schemeClr val="accent1"/>
                          </a:solidFill>
                          <a:latin typeface="Century Gothic"/>
                        </a:rPr>
                        <a:t>:</a:t>
                      </a:r>
                      <a:endParaRPr lang="es-CO" sz="1100" spc="56" dirty="0">
                        <a:solidFill>
                          <a:schemeClr val="accent1"/>
                        </a:solidFill>
                        <a:latin typeface="Century Gothic"/>
                      </a:endParaRPr>
                    </a:p>
                    <a:p>
                      <a:pPr lvl="0" algn="just" defTabSz="914400">
                        <a:buClr>
                          <a:schemeClr val="accent4"/>
                        </a:buClr>
                        <a:defRPr>
                          <a:solidFill>
                            <a:srgbClr val="000000"/>
                          </a:solidFill>
                        </a:defRPr>
                      </a:pPr>
                      <a:endParaRPr sz="1100" spc="56" dirty="0">
                        <a:solidFill>
                          <a:schemeClr val="accent1"/>
                        </a:solidFill>
                        <a:latin typeface="Century Gothic" panose="020B0502020202020204" pitchFamily="34" charset="0"/>
                      </a:endParaRPr>
                    </a:p>
                    <a:p>
                      <a:pPr marL="224790" lvl="0" indent="-224790" algn="just" defTabSz="914400">
                        <a:buClr>
                          <a:schemeClr val="accent4"/>
                        </a:buClr>
                        <a:buSzPct val="100000"/>
                        <a:buAutoNum type="arabicPeriod"/>
                        <a:defRPr>
                          <a:solidFill>
                            <a:srgbClr val="000000"/>
                          </a:solidFill>
                        </a:defRPr>
                      </a:pPr>
                      <a:r>
                        <a:rPr sz="1100" spc="56" dirty="0">
                          <a:solidFill>
                            <a:schemeClr val="accent1"/>
                          </a:solidFill>
                          <a:latin typeface="Century Gothic" panose="020B0502020202020204" pitchFamily="34" charset="0"/>
                        </a:rPr>
                        <a:t>Son de </a:t>
                      </a:r>
                      <a:r>
                        <a:rPr sz="1100" spc="56" dirty="0" err="1">
                          <a:solidFill>
                            <a:schemeClr val="accent1"/>
                          </a:solidFill>
                          <a:latin typeface="Century Gothic" panose="020B0502020202020204" pitchFamily="34" charset="0"/>
                        </a:rPr>
                        <a:t>carácter</a:t>
                      </a:r>
                      <a:r>
                        <a:rPr sz="1100" spc="56" dirty="0">
                          <a:solidFill>
                            <a:schemeClr val="accent1"/>
                          </a:solidFill>
                          <a:latin typeface="Century Gothic" panose="020B0502020202020204" pitchFamily="34" charset="0"/>
                        </a:rPr>
                        <a:t> </a:t>
                      </a:r>
                      <a:r>
                        <a:rPr sz="1100" spc="56" dirty="0" err="1">
                          <a:solidFill>
                            <a:schemeClr val="accent1"/>
                          </a:solidFill>
                          <a:latin typeface="Century Gothic" panose="020B0502020202020204" pitchFamily="34" charset="0"/>
                        </a:rPr>
                        <a:t>permanente</a:t>
                      </a:r>
                      <a:r>
                        <a:rPr lang="es-CO" sz="1100" spc="56" dirty="0">
                          <a:solidFill>
                            <a:schemeClr val="accent1"/>
                          </a:solidFill>
                          <a:latin typeface="Century Gothic" panose="020B0502020202020204" pitchFamily="34" charset="0"/>
                        </a:rPr>
                        <a:t> </a:t>
                      </a:r>
                      <a:r>
                        <a:rPr sz="1100" spc="56" dirty="0" err="1">
                          <a:solidFill>
                            <a:schemeClr val="accent1"/>
                          </a:solidFill>
                          <a:latin typeface="Century Gothic" panose="020B0502020202020204" pitchFamily="34" charset="0"/>
                        </a:rPr>
                        <a:t>en</a:t>
                      </a:r>
                      <a:r>
                        <a:rPr sz="1100" spc="56" dirty="0">
                          <a:solidFill>
                            <a:schemeClr val="accent1"/>
                          </a:solidFill>
                          <a:latin typeface="Century Gothic" panose="020B0502020202020204" pitchFamily="34" charset="0"/>
                        </a:rPr>
                        <a:t> </a:t>
                      </a:r>
                      <a:r>
                        <a:rPr sz="1100" spc="56" dirty="0" err="1">
                          <a:solidFill>
                            <a:schemeClr val="accent1"/>
                          </a:solidFill>
                          <a:latin typeface="Century Gothic" panose="020B0502020202020204" pitchFamily="34" charset="0"/>
                        </a:rPr>
                        <a:t>el</a:t>
                      </a:r>
                      <a:r>
                        <a:rPr sz="1100" spc="56" dirty="0">
                          <a:solidFill>
                            <a:schemeClr val="accent1"/>
                          </a:solidFill>
                          <a:latin typeface="Century Gothic" panose="020B0502020202020204" pitchFamily="34" charset="0"/>
                        </a:rPr>
                        <a:t> largo </a:t>
                      </a:r>
                      <a:r>
                        <a:rPr sz="1100" spc="56" dirty="0" err="1">
                          <a:solidFill>
                            <a:schemeClr val="accent1"/>
                          </a:solidFill>
                          <a:latin typeface="Century Gothic" panose="020B0502020202020204" pitchFamily="34" charset="0"/>
                        </a:rPr>
                        <a:t>plazo</a:t>
                      </a:r>
                      <a:r>
                        <a:rPr sz="1100" spc="56" dirty="0">
                          <a:solidFill>
                            <a:schemeClr val="accent1"/>
                          </a:solidFill>
                          <a:latin typeface="Century Gothic" panose="020B0502020202020204" pitchFamily="34" charset="0"/>
                        </a:rPr>
                        <a:t>.</a:t>
                      </a:r>
                    </a:p>
                    <a:p>
                      <a:pPr marL="224790" lvl="0" indent="-224790" algn="just" defTabSz="914400">
                        <a:buClr>
                          <a:schemeClr val="accent4"/>
                        </a:buClr>
                        <a:buSzPct val="100000"/>
                        <a:buAutoNum type="arabicPeriod"/>
                        <a:defRPr>
                          <a:solidFill>
                            <a:srgbClr val="000000"/>
                          </a:solidFill>
                        </a:defRPr>
                      </a:pPr>
                      <a:r>
                        <a:rPr sz="1100" spc="56" dirty="0">
                          <a:solidFill>
                            <a:schemeClr val="accent1"/>
                          </a:solidFill>
                          <a:latin typeface="Century Gothic" panose="020B0502020202020204" pitchFamily="34" charset="0"/>
                        </a:rPr>
                        <a:t>No se </a:t>
                      </a:r>
                      <a:r>
                        <a:rPr sz="1100" spc="56" dirty="0" err="1">
                          <a:solidFill>
                            <a:schemeClr val="accent1"/>
                          </a:solidFill>
                          <a:latin typeface="Century Gothic" panose="020B0502020202020204" pitchFamily="34" charset="0"/>
                        </a:rPr>
                        <a:t>tienen</a:t>
                      </a:r>
                      <a:r>
                        <a:rPr sz="1100" spc="56" dirty="0">
                          <a:solidFill>
                            <a:schemeClr val="accent1"/>
                          </a:solidFill>
                          <a:latin typeface="Century Gothic" panose="020B0502020202020204" pitchFamily="34" charset="0"/>
                        </a:rPr>
                        <a:t> con </a:t>
                      </a:r>
                      <a:r>
                        <a:rPr lang="es-CO" sz="1100" spc="56" dirty="0">
                          <a:solidFill>
                            <a:schemeClr val="accent1"/>
                          </a:solidFill>
                          <a:latin typeface="Century Gothic" panose="020B0502020202020204" pitchFamily="34" charset="0"/>
                        </a:rPr>
                        <a:t>á</a:t>
                      </a:r>
                      <a:r>
                        <a:rPr sz="1100" spc="56" dirty="0" err="1">
                          <a:solidFill>
                            <a:schemeClr val="accent1"/>
                          </a:solidFill>
                          <a:latin typeface="Century Gothic" panose="020B0502020202020204" pitchFamily="34" charset="0"/>
                        </a:rPr>
                        <a:t>nimo</a:t>
                      </a:r>
                      <a:r>
                        <a:rPr sz="1100" spc="56" dirty="0">
                          <a:solidFill>
                            <a:schemeClr val="accent1"/>
                          </a:solidFill>
                          <a:latin typeface="Century Gothic" panose="020B0502020202020204" pitchFamily="34" charset="0"/>
                        </a:rPr>
                        <a:t> de </a:t>
                      </a:r>
                      <a:r>
                        <a:rPr sz="1100" spc="56" dirty="0" err="1">
                          <a:solidFill>
                            <a:schemeClr val="accent1"/>
                          </a:solidFill>
                          <a:latin typeface="Century Gothic" panose="020B0502020202020204" pitchFamily="34" charset="0"/>
                        </a:rPr>
                        <a:t>venta</a:t>
                      </a:r>
                      <a:r>
                        <a:rPr sz="1100" spc="56" dirty="0">
                          <a:solidFill>
                            <a:schemeClr val="accent1"/>
                          </a:solidFill>
                          <a:latin typeface="Century Gothic" panose="020B0502020202020204" pitchFamily="34" charset="0"/>
                        </a:rPr>
                        <a:t>.</a:t>
                      </a:r>
                    </a:p>
                    <a:p>
                      <a:pPr marL="224790" lvl="0" indent="-224790" algn="just">
                        <a:buClr>
                          <a:schemeClr val="accent4"/>
                        </a:buClr>
                        <a:buSzPct val="100000"/>
                        <a:buAutoNum type="arabicPeriod"/>
                      </a:pPr>
                      <a:r>
                        <a:rPr lang="es-CO" sz="1100" b="0" i="0" u="none" strike="noStrike" spc="56" noProof="0" dirty="0">
                          <a:solidFill>
                            <a:schemeClr val="accent1"/>
                          </a:solidFill>
                          <a:latin typeface="Century Gothic"/>
                        </a:rPr>
                        <a:t>Son </a:t>
                      </a:r>
                      <a:r>
                        <a:rPr lang="es-ES" sz="1100" b="0" i="0" u="none" strike="noStrike" spc="56" noProof="0" dirty="0">
                          <a:solidFill>
                            <a:schemeClr val="accent1"/>
                          </a:solidFill>
                          <a:latin typeface="Century Gothic"/>
                        </a:rPr>
                        <a:t>recursos de largo plazo que apoyan </a:t>
                      </a:r>
                      <a:r>
                        <a:rPr lang="es-CO" sz="1100" b="0" i="0" u="none" strike="noStrike" spc="56" noProof="0" dirty="0">
                          <a:solidFill>
                            <a:schemeClr val="accent1"/>
                          </a:solidFill>
                          <a:latin typeface="Century Gothic"/>
                        </a:rPr>
                        <a:t>la operación </a:t>
                      </a:r>
                      <a:r>
                        <a:rPr lang="es-ES" sz="1100" b="0" i="0" u="none" strike="noStrike" spc="56" noProof="0" dirty="0">
                          <a:solidFill>
                            <a:schemeClr val="accent1"/>
                          </a:solidFill>
                          <a:latin typeface="Century Gothic"/>
                        </a:rPr>
                        <a:t>o generan beneficios futuros</a:t>
                      </a:r>
                      <a:r>
                        <a:rPr lang="es-CO" sz="1100" b="0" i="0" u="none" strike="noStrike" spc="56" noProof="0" dirty="0">
                          <a:solidFill>
                            <a:schemeClr val="accent1"/>
                          </a:solidFill>
                          <a:latin typeface="Century Gothic"/>
                        </a:rPr>
                        <a:t>.</a:t>
                      </a:r>
                      <a:endParaRPr lang="es-CO" sz="1100" b="0" i="0" u="none" strike="noStrike" spc="56" noProof="0" dirty="0">
                        <a:solidFill>
                          <a:srgbClr val="000000"/>
                        </a:solidFill>
                        <a:latin typeface="Century Gothic"/>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3"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extLst>
                  <a:ext uri="{0D108BD9-81ED-4DB2-BD59-A6C34878D82A}">
                    <a16:rowId xmlns:a16="http://schemas.microsoft.com/office/drawing/2014/main" val="10012"/>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gridSpan="2">
                  <a:txBody>
                    <a:bodyPr/>
                    <a:lstStyle/>
                    <a:p>
                      <a:pPr lvl="0" defTabSz="914400">
                        <a:defRPr>
                          <a:solidFill>
                            <a:srgbClr val="000000"/>
                          </a:solidFill>
                        </a:defRPr>
                      </a:pPr>
                      <a:r>
                        <a:rPr sz="1100" b="1" spc="56">
                          <a:solidFill>
                            <a:schemeClr val="bg1"/>
                          </a:solidFill>
                          <a:latin typeface="Century Gothic"/>
                        </a:rPr>
                        <a:t>Patrimonio</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13"/>
                  </a:ext>
                </a:extLst>
              </a:tr>
              <a:tr h="99738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rowSpan="4"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sz="1400" spc="56"/>
                      </a:pPr>
                      <a:endParaRPr lang="es-CO" sz="1100" spc="56">
                        <a:solidFill>
                          <a:schemeClr val="accent1"/>
                        </a:solidFill>
                        <a:latin typeface="Century Gothic" panose="020B0502020202020204" pitchFamily="34" charset="0"/>
                      </a:endParaRPr>
                    </a:p>
                    <a:p>
                      <a:pPr lvl="0" defTabSz="914400">
                        <a:defRPr sz="1400" spc="56"/>
                      </a:pPr>
                      <a:endParaRPr sz="11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4" hMerge="1">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4"/>
                  </a:ext>
                </a:extLst>
              </a:tr>
              <a:tr h="224123">
                <a:tc gridSpan="2">
                  <a:txBody>
                    <a:bodyPr/>
                    <a:lstStyle/>
                    <a:p>
                      <a:pPr lvl="0" defTabSz="914400">
                        <a:defRPr>
                          <a:solidFill>
                            <a:srgbClr val="000000"/>
                          </a:solidFill>
                        </a:defRPr>
                      </a:pPr>
                      <a:endParaRPr sz="11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bg1"/>
                    </a:solidFill>
                  </a:tcPr>
                </a:tc>
                <a:tc hMerge="1">
                  <a:txBody>
                    <a:bodyPr/>
                    <a:lstStyle/>
                    <a:p>
                      <a:endParaRPr lang="en-US"/>
                    </a:p>
                  </a:txBody>
                  <a:tcPr/>
                </a:tc>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8"/>
                  </a:ext>
                </a:extLst>
              </a:tr>
              <a:tr h="224123">
                <a:tc>
                  <a:txBody>
                    <a:bodyPr/>
                    <a:lstStyle/>
                    <a:p>
                      <a:pPr lvl="0" defTabSz="914400">
                        <a:defRPr sz="1400" spc="56"/>
                      </a:pPr>
                      <a:endParaRPr sz="11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a:txBody>
                    <a:bodyPr/>
                    <a:lstStyle/>
                    <a:p>
                      <a:pPr lvl="0" algn="just" defTabSz="914400">
                        <a:defRPr>
                          <a:solidFill>
                            <a:srgbClr val="000000"/>
                          </a:solidFill>
                        </a:defRPr>
                      </a:pPr>
                      <a:endParaRPr sz="11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9"/>
                  </a:ext>
                </a:extLst>
              </a:tr>
              <a:tr h="224123">
                <a:tc>
                  <a:txBody>
                    <a:bodyPr/>
                    <a:lstStyle/>
                    <a:p>
                      <a:pPr lvl="0" defTabSz="914400">
                        <a:defRPr sz="1400" spc="56"/>
                      </a:pPr>
                      <a:endParaRPr sz="1100"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20"/>
                  </a:ext>
                </a:extLst>
              </a:tr>
            </a:tbl>
          </a:graphicData>
        </a:graphic>
      </p:graphicFrame>
      <p:sp>
        <p:nvSpPr>
          <p:cNvPr id="6" name="Rectángulo 5">
            <a:extLst>
              <a:ext uri="{FF2B5EF4-FFF2-40B4-BE49-F238E27FC236}">
                <a16:creationId xmlns:a16="http://schemas.microsoft.com/office/drawing/2014/main" id="{B821BFC5-A7D9-F263-461D-575B38CEA7E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Title 1">
            <a:extLst>
              <a:ext uri="{FF2B5EF4-FFF2-40B4-BE49-F238E27FC236}">
                <a16:creationId xmlns:a16="http://schemas.microsoft.com/office/drawing/2014/main" id="{A89AD568-C4AD-5D98-1C3A-AF1223FC24E0}"/>
              </a:ext>
            </a:extLst>
          </p:cNvPr>
          <p:cNvSpPr txBox="1">
            <a:spLocks/>
          </p:cNvSpPr>
          <p:nvPr/>
        </p:nvSpPr>
        <p:spPr>
          <a:xfrm>
            <a:off x="446043" y="974392"/>
            <a:ext cx="11291330" cy="803647"/>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_tradnl" sz="2400">
                <a:latin typeface="Century Gothic" panose="020B0502020202020204" pitchFamily="34" charset="0"/>
              </a:rPr>
              <a:t>¿Cómo es la estructura del ESTADO DE SITUACIÓN FINANCIERA?</a:t>
            </a:r>
          </a:p>
        </p:txBody>
      </p:sp>
      <p:sp>
        <p:nvSpPr>
          <p:cNvPr id="3" name="Marcador de número de diapositiva 3">
            <a:extLst>
              <a:ext uri="{FF2B5EF4-FFF2-40B4-BE49-F238E27FC236}">
                <a16:creationId xmlns:a16="http://schemas.microsoft.com/office/drawing/2014/main" id="{B16CCAFD-0277-1711-5039-B93E91C24C68}"/>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22</a:t>
            </a:fld>
            <a:endParaRPr lang="en-US" sz="2000" b="1">
              <a:latin typeface="Century Gothic" panose="020B0502020202020204" pitchFamily="34" charset="0"/>
            </a:endParaRPr>
          </a:p>
        </p:txBody>
      </p:sp>
    </p:spTree>
    <p:extLst>
      <p:ext uri="{BB962C8B-B14F-4D97-AF65-F5344CB8AC3E}">
        <p14:creationId xmlns:p14="http://schemas.microsoft.com/office/powerpoint/2010/main" val="1114829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Shape 154"/>
          <p:cNvSpPr/>
          <p:nvPr/>
        </p:nvSpPr>
        <p:spPr>
          <a:xfrm>
            <a:off x="3142349" y="2339453"/>
            <a:ext cx="7868030" cy="4123977"/>
          </a:xfrm>
          <a:prstGeom prst="rect">
            <a:avLst/>
          </a:prstGeom>
          <a:ln w="12700">
            <a:miter lim="400000"/>
          </a:ln>
          <a:extLst>
            <a:ext uri="{C572A759-6A51-4108-AA02-DFA0A04FC94B}">
              <ma14:wrappingTextBoxFlag xmlns="" xmlns:ma14="http://schemas.microsoft.com/office/mac/drawingml/2011/main" val="1"/>
            </a:ext>
          </a:extLst>
        </p:spPr>
        <p:txBody>
          <a:bodyPr lIns="0" tIns="0" rIns="0" bIns="0">
            <a:noAutofit/>
          </a:bodyPr>
          <a:lstStyle/>
          <a:p>
            <a:pPr algn="just" defTabSz="361497">
              <a:spcBef>
                <a:spcPts val="2531"/>
              </a:spcBef>
              <a:defRPr sz="1800">
                <a:solidFill>
                  <a:srgbClr val="000000"/>
                </a:solidFill>
              </a:defRPr>
            </a:pPr>
            <a:r>
              <a:rPr dirty="0">
                <a:solidFill>
                  <a:schemeClr val="accent1"/>
                </a:solidFill>
                <a:latin typeface="Century Gothic" panose="020B0502020202020204" pitchFamily="34" charset="0"/>
              </a:rPr>
              <a:t>Los </a:t>
            </a:r>
            <a:r>
              <a:rPr dirty="0" err="1">
                <a:solidFill>
                  <a:schemeClr val="accent1"/>
                </a:solidFill>
                <a:latin typeface="Century Gothic" panose="020B0502020202020204" pitchFamily="34" charset="0"/>
              </a:rPr>
              <a:t>pasivos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representan</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obligaciones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contraídas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por</a:t>
            </a:r>
            <a:r>
              <a:rPr dirty="0">
                <a:solidFill>
                  <a:schemeClr val="accent1"/>
                </a:solidFill>
                <a:latin typeface="Century Gothic" panose="020B0502020202020204" pitchFamily="34" charset="0"/>
              </a:rPr>
              <a:t> la </a:t>
            </a:r>
            <a:r>
              <a:rPr dirty="0" err="1">
                <a:solidFill>
                  <a:schemeClr val="accent1"/>
                </a:solidFill>
                <a:latin typeface="Century Gothic" panose="020B0502020202020204" pitchFamily="34" charset="0"/>
              </a:rPr>
              <a:t>empresa</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que</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nacen</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por</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transacciones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pasadas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que</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requieren</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una</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cancelación</a:t>
            </a:r>
            <a:r>
              <a:rPr dirty="0">
                <a:solidFill>
                  <a:schemeClr val="accent1"/>
                </a:solidFill>
                <a:latin typeface="Century Gothic" panose="020B0502020202020204" pitchFamily="34" charset="0"/>
              </a:rPr>
              <a:t> o </a:t>
            </a:r>
            <a:r>
              <a:rPr dirty="0" err="1">
                <a:solidFill>
                  <a:schemeClr val="accent1"/>
                </a:solidFill>
                <a:latin typeface="Century Gothic" panose="020B0502020202020204" pitchFamily="34" charset="0"/>
              </a:rPr>
              <a:t>prestación</a:t>
            </a:r>
            <a:r>
              <a:rPr dirty="0">
                <a:solidFill>
                  <a:schemeClr val="accent1"/>
                </a:solidFill>
                <a:latin typeface="Century Gothic" panose="020B0502020202020204" pitchFamily="34" charset="0"/>
              </a:rPr>
              <a:t> de </a:t>
            </a:r>
            <a:r>
              <a:rPr dirty="0" err="1">
                <a:solidFill>
                  <a:schemeClr val="accent1"/>
                </a:solidFill>
                <a:latin typeface="Century Gothic" panose="020B0502020202020204" pitchFamily="34" charset="0"/>
              </a:rPr>
              <a:t>servicio</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en</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el</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futuro</a:t>
            </a:r>
            <a:r>
              <a:rPr dirty="0">
                <a:solidFill>
                  <a:schemeClr val="accent1"/>
                </a:solidFill>
                <a:latin typeface="Century Gothic" panose="020B0502020202020204" pitchFamily="34" charset="0"/>
              </a:rPr>
              <a:t>.</a:t>
            </a:r>
          </a:p>
          <a:p>
            <a:pPr algn="just" defTabSz="361497">
              <a:spcBef>
                <a:spcPts val="2531"/>
              </a:spcBef>
              <a:defRPr sz="1800">
                <a:solidFill>
                  <a:srgbClr val="000000"/>
                </a:solidFill>
              </a:defRPr>
            </a:pPr>
            <a:r>
              <a:rPr b="1" dirty="0" err="1">
                <a:solidFill>
                  <a:schemeClr val="accent3">
                    <a:lumMod val="50000"/>
                  </a:schemeClr>
                </a:solidFill>
                <a:latin typeface="Century Gothic" panose="020B0502020202020204" pitchFamily="34" charset="0"/>
              </a:rPr>
              <a:t>Pasivos</a:t>
            </a:r>
            <a:r>
              <a:rPr b="1" dirty="0">
                <a:solidFill>
                  <a:schemeClr val="accent3">
                    <a:lumMod val="50000"/>
                  </a:schemeClr>
                </a:solidFill>
                <a:latin typeface="Century Gothic" panose="020B0502020202020204" pitchFamily="34" charset="0"/>
              </a:rPr>
              <a:t> Corrientes</a:t>
            </a:r>
          </a:p>
          <a:p>
            <a:pPr algn="just" defTabSz="361497">
              <a:spcBef>
                <a:spcPts val="2531"/>
              </a:spcBef>
              <a:defRPr sz="1800">
                <a:solidFill>
                  <a:srgbClr val="000000"/>
                </a:solidFill>
              </a:defRPr>
            </a:pPr>
            <a:r>
              <a:rPr b="1" dirty="0">
                <a:solidFill>
                  <a:srgbClr val="C00000"/>
                </a:solidFill>
                <a:latin typeface="Century Gothic" panose="020B0502020202020204" pitchFamily="34" charset="0"/>
              </a:rPr>
              <a:t>Cuentas </a:t>
            </a:r>
            <a:r>
              <a:rPr b="1" dirty="0" err="1">
                <a:solidFill>
                  <a:srgbClr val="C00000"/>
                </a:solidFill>
                <a:latin typeface="Century Gothic" panose="020B0502020202020204" pitchFamily="34" charset="0"/>
              </a:rPr>
              <a:t>por</a:t>
            </a:r>
            <a:r>
              <a:rPr b="1" dirty="0">
                <a:solidFill>
                  <a:srgbClr val="C00000"/>
                </a:solidFill>
                <a:latin typeface="Century Gothic" panose="020B0502020202020204" pitchFamily="34" charset="0"/>
              </a:rPr>
              <a:t> Pagar: </a:t>
            </a:r>
            <a:r>
              <a:rPr dirty="0" err="1">
                <a:solidFill>
                  <a:schemeClr val="accent1"/>
                </a:solidFill>
                <a:latin typeface="Century Gothic" panose="020B0502020202020204" pitchFamily="34" charset="0"/>
              </a:rPr>
              <a:t>Egresos</a:t>
            </a:r>
            <a:r>
              <a:rPr dirty="0">
                <a:solidFill>
                  <a:schemeClr val="accent1"/>
                </a:solidFill>
                <a:latin typeface="Century Gothic" panose="020B0502020202020204" pitchFamily="34" charset="0"/>
              </a:rPr>
              <a:t> de la </a:t>
            </a:r>
            <a:r>
              <a:rPr dirty="0" err="1">
                <a:solidFill>
                  <a:schemeClr val="accent1"/>
                </a:solidFill>
                <a:latin typeface="Century Gothic" panose="020B0502020202020204" pitchFamily="34" charset="0"/>
              </a:rPr>
              <a:t>operación</a:t>
            </a:r>
            <a:r>
              <a:rPr dirty="0">
                <a:solidFill>
                  <a:schemeClr val="accent1"/>
                </a:solidFill>
                <a:latin typeface="Century Gothic" panose="020B0502020202020204" pitchFamily="34" charset="0"/>
              </a:rPr>
              <a:t> del </a:t>
            </a:r>
            <a:r>
              <a:rPr dirty="0" err="1">
                <a:solidFill>
                  <a:schemeClr val="accent1"/>
                </a:solidFill>
                <a:latin typeface="Century Gothic" panose="020B0502020202020204" pitchFamily="34" charset="0"/>
              </a:rPr>
              <a:t>negocio</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que</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aún</a:t>
            </a:r>
            <a:r>
              <a:rPr dirty="0">
                <a:solidFill>
                  <a:schemeClr val="accent1"/>
                </a:solidFill>
                <a:latin typeface="Century Gothic" panose="020B0502020202020204" pitchFamily="34" charset="0"/>
              </a:rPr>
              <a:t> no se </a:t>
            </a:r>
            <a:r>
              <a:rPr dirty="0" err="1">
                <a:solidFill>
                  <a:schemeClr val="accent1"/>
                </a:solidFill>
                <a:latin typeface="Century Gothic" panose="020B0502020202020204" pitchFamily="34" charset="0"/>
              </a:rPr>
              <a:t>han</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pagado</a:t>
            </a:r>
            <a:r>
              <a:rPr dirty="0">
                <a:solidFill>
                  <a:schemeClr val="accent1"/>
                </a:solidFill>
                <a:latin typeface="Century Gothic" panose="020B0502020202020204" pitchFamily="34" charset="0"/>
              </a:rPr>
              <a:t>.</a:t>
            </a:r>
          </a:p>
          <a:p>
            <a:pPr algn="just" defTabSz="361497">
              <a:spcBef>
                <a:spcPts val="2531"/>
              </a:spcBef>
              <a:defRPr sz="1800">
                <a:solidFill>
                  <a:srgbClr val="000000"/>
                </a:solidFill>
              </a:defRPr>
            </a:pPr>
            <a:r>
              <a:rPr b="1" dirty="0" err="1">
                <a:solidFill>
                  <a:srgbClr val="C00000"/>
                </a:solidFill>
                <a:latin typeface="Century Gothic" panose="020B0502020202020204" pitchFamily="34" charset="0"/>
              </a:rPr>
              <a:t>Impuestos</a:t>
            </a:r>
            <a:r>
              <a:rPr lang="es-CO" b="1" dirty="0">
                <a:solidFill>
                  <a:srgbClr val="C00000"/>
                </a:solidFill>
                <a:latin typeface="Century Gothic" panose="020B0502020202020204" pitchFamily="34" charset="0"/>
              </a:rPr>
              <a:t> por Pagar</a:t>
            </a:r>
            <a:r>
              <a:rPr b="1" dirty="0">
                <a:solidFill>
                  <a:srgbClr val="C00000"/>
                </a:solidFill>
                <a:latin typeface="Century Gothic" panose="020B0502020202020204" pitchFamily="34" charset="0"/>
              </a:rPr>
              <a:t>: </a:t>
            </a:r>
            <a:r>
              <a:rPr dirty="0" err="1">
                <a:solidFill>
                  <a:schemeClr val="accent1"/>
                </a:solidFill>
                <a:latin typeface="Century Gothic" panose="020B0502020202020204" pitchFamily="34" charset="0"/>
              </a:rPr>
              <a:t>Impuestos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ya</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causados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pero</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que</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aún</a:t>
            </a:r>
            <a:r>
              <a:rPr dirty="0">
                <a:solidFill>
                  <a:schemeClr val="accent1"/>
                </a:solidFill>
                <a:latin typeface="Century Gothic" panose="020B0502020202020204" pitchFamily="34" charset="0"/>
              </a:rPr>
              <a:t> no </a:t>
            </a:r>
            <a:r>
              <a:rPr dirty="0" err="1">
                <a:solidFill>
                  <a:schemeClr val="accent1"/>
                </a:solidFill>
                <a:latin typeface="Century Gothic" panose="020B0502020202020204" pitchFamily="34" charset="0"/>
              </a:rPr>
              <a:t>están</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pagos</a:t>
            </a:r>
            <a:r>
              <a:rPr dirty="0">
                <a:solidFill>
                  <a:schemeClr val="accent1"/>
                </a:solidFill>
                <a:latin typeface="Century Gothic" panose="020B0502020202020204" pitchFamily="34" charset="0"/>
              </a:rPr>
              <a:t>.</a:t>
            </a:r>
          </a:p>
          <a:p>
            <a:pPr algn="just" defTabSz="361497">
              <a:spcBef>
                <a:spcPts val="2531"/>
              </a:spcBef>
              <a:defRPr sz="1800">
                <a:solidFill>
                  <a:srgbClr val="000000"/>
                </a:solidFill>
              </a:defRPr>
            </a:pPr>
            <a:r>
              <a:rPr lang="es-CO" b="1" dirty="0">
                <a:solidFill>
                  <a:srgbClr val="C00000"/>
                </a:solidFill>
                <a:latin typeface="Century Gothic" panose="020B0502020202020204" pitchFamily="34" charset="0"/>
              </a:rPr>
              <a:t>Salarios</a:t>
            </a:r>
            <a:r>
              <a:rPr b="1" dirty="0">
                <a:solidFill>
                  <a:srgbClr val="C00000"/>
                </a:solidFill>
                <a:latin typeface="Century Gothic" panose="020B0502020202020204" pitchFamily="34" charset="0"/>
              </a:rPr>
              <a:t> </a:t>
            </a:r>
            <a:r>
              <a:rPr lang="es-ES" b="1" dirty="0">
                <a:solidFill>
                  <a:srgbClr val="C00000"/>
                </a:solidFill>
                <a:latin typeface="Century Gothic" panose="020B0502020202020204" pitchFamily="34" charset="0"/>
              </a:rPr>
              <a:t>por</a:t>
            </a:r>
            <a:r>
              <a:rPr b="1" dirty="0">
                <a:solidFill>
                  <a:srgbClr val="C00000"/>
                </a:solidFill>
                <a:latin typeface="Century Gothic" panose="020B0502020202020204" pitchFamily="34" charset="0"/>
              </a:rPr>
              <a:t> Pagar: </a:t>
            </a:r>
            <a:r>
              <a:rPr lang="es-ES" dirty="0">
                <a:solidFill>
                  <a:schemeClr val="accent1"/>
                </a:solidFill>
                <a:latin typeface="Century Gothic" panose="020B0502020202020204" pitchFamily="34" charset="0"/>
              </a:rPr>
              <a:t>Las obligaciones presentes de la entidad derivadas de servicios prestados por los empleados, que deben liquidarse en el corto plazo.</a:t>
            </a:r>
            <a:endParaRPr dirty="0">
              <a:solidFill>
                <a:schemeClr val="accent1"/>
              </a:solidFill>
              <a:latin typeface="Century Gothic" panose="020B0502020202020204" pitchFamily="34" charset="0"/>
            </a:endParaRPr>
          </a:p>
        </p:txBody>
      </p:sp>
      <p:sp>
        <p:nvSpPr>
          <p:cNvPr id="10" name="Title 1"/>
          <p:cNvSpPr>
            <a:spLocks noGrp="1"/>
          </p:cNvSpPr>
          <p:nvPr>
            <p:ph type="title"/>
          </p:nvPr>
        </p:nvSpPr>
        <p:spPr>
          <a:xfrm>
            <a:off x="446043" y="989008"/>
            <a:ext cx="9011714" cy="803647"/>
          </a:xfrm>
        </p:spPr>
        <p:txBody>
          <a:bodyPr vert="horz" lIns="91440" tIns="45720" rIns="91440" bIns="45720" rtlCol="0" anchor="b">
            <a:normAutofit/>
          </a:bodyPr>
          <a:lstStyle/>
          <a:p>
            <a:r>
              <a:rPr lang="es-ES_tradnl" sz="3094">
                <a:latin typeface="Century Gothic" panose="020B0502020202020204" pitchFamily="34" charset="0"/>
              </a:rPr>
              <a:t>Los Pasivos</a:t>
            </a:r>
          </a:p>
        </p:txBody>
      </p:sp>
      <p:pic>
        <p:nvPicPr>
          <p:cNvPr id="11" name="Picture 2" descr="Resultado de imagen para DEUDAS"/>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46043" y="2713883"/>
            <a:ext cx="2428506" cy="2910880"/>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A6C31C96-8DF2-CE14-6922-78C0570DFA2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166F7A9D-8A69-7973-5EB2-9703933F46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5816BB68-2FA5-FF58-1728-74494C8FF8C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09CBA2BF-42FD-0EA1-A98E-DD766EEAC8B3}"/>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23</a:t>
            </a:fld>
            <a:endParaRPr lang="en-US" sz="2000" b="1">
              <a:latin typeface="Century Gothic" panose="020B0502020202020204" pitchFamily="34" charset="0"/>
            </a:endParaRPr>
          </a:p>
        </p:txBody>
      </p:sp>
    </p:spTree>
    <p:extLst>
      <p:ext uri="{BB962C8B-B14F-4D97-AF65-F5344CB8AC3E}">
        <p14:creationId xmlns:p14="http://schemas.microsoft.com/office/powerpoint/2010/main" val="2913605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54">
                                            <p:txEl>
                                              <p:pRg st="1" end="1"/>
                                            </p:txEl>
                                          </p:spTgt>
                                        </p:tgtEl>
                                        <p:attrNameLst>
                                          <p:attrName>style.visibility</p:attrName>
                                        </p:attrNameLst>
                                      </p:cBhvr>
                                      <p:to>
                                        <p:strVal val="visible"/>
                                      </p:to>
                                    </p:set>
                                    <p:anim calcmode="lin" valueType="num">
                                      <p:cBhvr additive="base">
                                        <p:cTn id="7" dur="500"/>
                                        <p:tgtEl>
                                          <p:spTgt spid="154">
                                            <p:txEl>
                                              <p:pRg st="1" end="1"/>
                                            </p:txEl>
                                          </p:spTgt>
                                        </p:tgtEl>
                                        <p:attrNameLst>
                                          <p:attrName>ppt_y</p:attrName>
                                        </p:attrNameLst>
                                      </p:cBhvr>
                                      <p:tavLst>
                                        <p:tav tm="0">
                                          <p:val>
                                            <p:strVal val="#ppt_y+#ppt_h*1.125000"/>
                                          </p:val>
                                        </p:tav>
                                        <p:tav tm="100000">
                                          <p:val>
                                            <p:strVal val="#ppt_y"/>
                                          </p:val>
                                        </p:tav>
                                      </p:tavLst>
                                    </p:anim>
                                    <p:animEffect transition="in" filter="wipe(up)">
                                      <p:cBhvr>
                                        <p:cTn id="8" dur="500"/>
                                        <p:tgtEl>
                                          <p:spTgt spid="154">
                                            <p:txEl>
                                              <p:pRg st="1" end="1"/>
                                            </p:txEl>
                                          </p:spTgt>
                                        </p:tgtEl>
                                      </p:cBhvr>
                                    </p:animEffect>
                                  </p:childTnLst>
                                </p:cTn>
                              </p:par>
                              <p:par>
                                <p:cTn id="9" presetID="12" presetClass="entr" presetSubtype="4" fill="hold" nodeType="withEffect">
                                  <p:stCondLst>
                                    <p:cond delay="0"/>
                                  </p:stCondLst>
                                  <p:childTnLst>
                                    <p:set>
                                      <p:cBhvr>
                                        <p:cTn id="10" dur="1" fill="hold">
                                          <p:stCondLst>
                                            <p:cond delay="0"/>
                                          </p:stCondLst>
                                        </p:cTn>
                                        <p:tgtEl>
                                          <p:spTgt spid="154">
                                            <p:txEl>
                                              <p:pRg st="2" end="2"/>
                                            </p:txEl>
                                          </p:spTgt>
                                        </p:tgtEl>
                                        <p:attrNameLst>
                                          <p:attrName>style.visibility</p:attrName>
                                        </p:attrNameLst>
                                      </p:cBhvr>
                                      <p:to>
                                        <p:strVal val="visible"/>
                                      </p:to>
                                    </p:set>
                                    <p:anim calcmode="lin" valueType="num">
                                      <p:cBhvr additive="base">
                                        <p:cTn id="11" dur="500"/>
                                        <p:tgtEl>
                                          <p:spTgt spid="154">
                                            <p:txEl>
                                              <p:pRg st="2" end="2"/>
                                            </p:txEl>
                                          </p:spTgt>
                                        </p:tgtEl>
                                        <p:attrNameLst>
                                          <p:attrName>ppt_y</p:attrName>
                                        </p:attrNameLst>
                                      </p:cBhvr>
                                      <p:tavLst>
                                        <p:tav tm="0">
                                          <p:val>
                                            <p:strVal val="#ppt_y+#ppt_h*1.125000"/>
                                          </p:val>
                                        </p:tav>
                                        <p:tav tm="100000">
                                          <p:val>
                                            <p:strVal val="#ppt_y"/>
                                          </p:val>
                                        </p:tav>
                                      </p:tavLst>
                                    </p:anim>
                                    <p:animEffect transition="in" filter="wipe(up)">
                                      <p:cBhvr>
                                        <p:cTn id="12" dur="500"/>
                                        <p:tgtEl>
                                          <p:spTgt spid="154">
                                            <p:txEl>
                                              <p:pRg st="2" end="2"/>
                                            </p:txEl>
                                          </p:spTgt>
                                        </p:tgtEl>
                                      </p:cBhvr>
                                    </p:animEffect>
                                  </p:childTnLst>
                                </p:cTn>
                              </p:par>
                              <p:par>
                                <p:cTn id="13" presetID="12" presetClass="entr" presetSubtype="4" fill="hold" nodeType="withEffect">
                                  <p:stCondLst>
                                    <p:cond delay="0"/>
                                  </p:stCondLst>
                                  <p:childTnLst>
                                    <p:set>
                                      <p:cBhvr>
                                        <p:cTn id="14" dur="1" fill="hold">
                                          <p:stCondLst>
                                            <p:cond delay="0"/>
                                          </p:stCondLst>
                                        </p:cTn>
                                        <p:tgtEl>
                                          <p:spTgt spid="154">
                                            <p:txEl>
                                              <p:pRg st="3" end="3"/>
                                            </p:txEl>
                                          </p:spTgt>
                                        </p:tgtEl>
                                        <p:attrNameLst>
                                          <p:attrName>style.visibility</p:attrName>
                                        </p:attrNameLst>
                                      </p:cBhvr>
                                      <p:to>
                                        <p:strVal val="visible"/>
                                      </p:to>
                                    </p:set>
                                    <p:anim calcmode="lin" valueType="num">
                                      <p:cBhvr additive="base">
                                        <p:cTn id="15" dur="500"/>
                                        <p:tgtEl>
                                          <p:spTgt spid="154">
                                            <p:txEl>
                                              <p:pRg st="3" end="3"/>
                                            </p:txEl>
                                          </p:spTgt>
                                        </p:tgtEl>
                                        <p:attrNameLst>
                                          <p:attrName>ppt_y</p:attrName>
                                        </p:attrNameLst>
                                      </p:cBhvr>
                                      <p:tavLst>
                                        <p:tav tm="0">
                                          <p:val>
                                            <p:strVal val="#ppt_y+#ppt_h*1.125000"/>
                                          </p:val>
                                        </p:tav>
                                        <p:tav tm="100000">
                                          <p:val>
                                            <p:strVal val="#ppt_y"/>
                                          </p:val>
                                        </p:tav>
                                      </p:tavLst>
                                    </p:anim>
                                    <p:animEffect transition="in" filter="wipe(up)">
                                      <p:cBhvr>
                                        <p:cTn id="16" dur="500"/>
                                        <p:tgtEl>
                                          <p:spTgt spid="154">
                                            <p:txEl>
                                              <p:pRg st="3" end="3"/>
                                            </p:txEl>
                                          </p:spTgt>
                                        </p:tgtEl>
                                      </p:cBhvr>
                                    </p:animEffect>
                                  </p:childTnLst>
                                </p:cTn>
                              </p:par>
                              <p:par>
                                <p:cTn id="17" presetID="12" presetClass="entr" presetSubtype="4" fill="hold" nodeType="withEffect">
                                  <p:stCondLst>
                                    <p:cond delay="0"/>
                                  </p:stCondLst>
                                  <p:childTnLst>
                                    <p:set>
                                      <p:cBhvr>
                                        <p:cTn id="18" dur="1" fill="hold">
                                          <p:stCondLst>
                                            <p:cond delay="0"/>
                                          </p:stCondLst>
                                        </p:cTn>
                                        <p:tgtEl>
                                          <p:spTgt spid="154">
                                            <p:txEl>
                                              <p:pRg st="4" end="4"/>
                                            </p:txEl>
                                          </p:spTgt>
                                        </p:tgtEl>
                                        <p:attrNameLst>
                                          <p:attrName>style.visibility</p:attrName>
                                        </p:attrNameLst>
                                      </p:cBhvr>
                                      <p:to>
                                        <p:strVal val="visible"/>
                                      </p:to>
                                    </p:set>
                                    <p:anim calcmode="lin" valueType="num">
                                      <p:cBhvr additive="base">
                                        <p:cTn id="19" dur="500"/>
                                        <p:tgtEl>
                                          <p:spTgt spid="154">
                                            <p:txEl>
                                              <p:pRg st="4" end="4"/>
                                            </p:txEl>
                                          </p:spTgt>
                                        </p:tgtEl>
                                        <p:attrNameLst>
                                          <p:attrName>ppt_y</p:attrName>
                                        </p:attrNameLst>
                                      </p:cBhvr>
                                      <p:tavLst>
                                        <p:tav tm="0">
                                          <p:val>
                                            <p:strVal val="#ppt_y+#ppt_h*1.125000"/>
                                          </p:val>
                                        </p:tav>
                                        <p:tav tm="100000">
                                          <p:val>
                                            <p:strVal val="#ppt_y"/>
                                          </p:val>
                                        </p:tav>
                                      </p:tavLst>
                                    </p:anim>
                                    <p:animEffect transition="in" filter="wipe(up)">
                                      <p:cBhvr>
                                        <p:cTn id="20" dur="500"/>
                                        <p:tgtEl>
                                          <p:spTgt spid="15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Shape 163"/>
          <p:cNvSpPr/>
          <p:nvPr/>
        </p:nvSpPr>
        <p:spPr>
          <a:xfrm>
            <a:off x="3338018" y="2431891"/>
            <a:ext cx="7930247" cy="3378639"/>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normAutofit/>
          </a:bodyPr>
          <a:lstStyle/>
          <a:p>
            <a:pPr algn="ctr">
              <a:spcBef>
                <a:spcPts val="2953"/>
              </a:spcBef>
              <a:defRPr sz="1800">
                <a:solidFill>
                  <a:srgbClr val="000000"/>
                </a:solidFill>
              </a:defRPr>
            </a:pPr>
            <a:r>
              <a:rPr b="1">
                <a:solidFill>
                  <a:schemeClr val="accent3">
                    <a:lumMod val="50000"/>
                  </a:schemeClr>
                </a:solidFill>
                <a:latin typeface="Century Gothic" panose="020B0502020202020204" pitchFamily="34" charset="0"/>
              </a:rPr>
              <a:t>El patrimonio es el valor contable de los recursos representados en bienes y derechos, deducidas sus obligaciones necesarias para cumplir los fines estipulados en el objeto social de la empresa.</a:t>
            </a:r>
          </a:p>
          <a:p>
            <a:pPr algn="ctr">
              <a:spcBef>
                <a:spcPts val="2953"/>
              </a:spcBef>
              <a:defRPr sz="1800">
                <a:solidFill>
                  <a:srgbClr val="000000"/>
                </a:solidFill>
              </a:defRPr>
            </a:pPr>
            <a:r>
              <a:rPr err="1">
                <a:solidFill>
                  <a:schemeClr val="accent1"/>
                </a:solidFill>
                <a:latin typeface="Century Gothic" panose="020B0502020202020204" pitchFamily="34" charset="0"/>
              </a:rPr>
              <a:t>Es</a:t>
            </a:r>
            <a:r>
              <a:rPr>
                <a:solidFill>
                  <a:schemeClr val="accent1"/>
                </a:solidFill>
                <a:latin typeface="Century Gothic" panose="020B0502020202020204" pitchFamily="34" charset="0"/>
              </a:rPr>
              <a:t> el valor contable residual resultante de tomar el total de los activos y deducir todos los pasivos.</a:t>
            </a:r>
          </a:p>
        </p:txBody>
      </p:sp>
      <p:sp>
        <p:nvSpPr>
          <p:cNvPr id="7" name="Title 1"/>
          <p:cNvSpPr>
            <a:spLocks noGrp="1"/>
          </p:cNvSpPr>
          <p:nvPr>
            <p:ph type="title"/>
          </p:nvPr>
        </p:nvSpPr>
        <p:spPr>
          <a:xfrm>
            <a:off x="446043" y="1003982"/>
            <a:ext cx="7249775" cy="803647"/>
          </a:xfrm>
        </p:spPr>
        <p:txBody>
          <a:bodyPr/>
          <a:lstStyle/>
          <a:p>
            <a:r>
              <a:rPr lang="es-ES_tradnl">
                <a:latin typeface="Century Gothic" panose="020B0502020202020204" pitchFamily="34" charset="0"/>
              </a:rPr>
              <a:t>El Patrimonio</a:t>
            </a:r>
          </a:p>
        </p:txBody>
      </p:sp>
      <p:pic>
        <p:nvPicPr>
          <p:cNvPr id="10" name="Picture 4" descr="Resultado de imagen para accionistas"/>
          <p:cNvPicPr>
            <a:picLocks noChangeAspect="1" noChangeArrowheads="1"/>
          </p:cNvPicPr>
          <p:nvPr/>
        </p:nvPicPr>
        <p:blipFill>
          <a:blip r:embed="rId2">
            <a:clrChange>
              <a:clrFrom>
                <a:srgbClr val="F7F7F7"/>
              </a:clrFrom>
              <a:clrTo>
                <a:srgbClr val="F7F7F7">
                  <a:alpha val="0"/>
                </a:srgbClr>
              </a:clrTo>
            </a:clrChange>
            <a:extLst>
              <a:ext uri="{28A0092B-C50C-407E-A947-70E740481C1C}">
                <a14:useLocalDpi xmlns:a14="http://schemas.microsoft.com/office/drawing/2010/main" val="0"/>
              </a:ext>
            </a:extLst>
          </a:blip>
          <a:srcRect/>
          <a:stretch>
            <a:fillRect/>
          </a:stretch>
        </p:blipFill>
        <p:spPr bwMode="auto">
          <a:xfrm>
            <a:off x="593230" y="3135511"/>
            <a:ext cx="2744788" cy="1874491"/>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75CE8F64-BC00-B203-CF0D-74A78F6230C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EB53070E-F7EA-3EBD-2089-D40F0B49AD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78E832A3-FD58-17F8-C082-23AEBC339E9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6F41DAB5-6F2C-22D6-E48D-715ECF8545D2}"/>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24</a:t>
            </a:fld>
            <a:endParaRPr lang="en-US" sz="2000" b="1">
              <a:latin typeface="Century Gothic" panose="020B0502020202020204" pitchFamily="34" charset="0"/>
            </a:endParaRPr>
          </a:p>
        </p:txBody>
      </p:sp>
    </p:spTree>
    <p:extLst>
      <p:ext uri="{BB962C8B-B14F-4D97-AF65-F5344CB8AC3E}">
        <p14:creationId xmlns:p14="http://schemas.microsoft.com/office/powerpoint/2010/main" val="4254560437"/>
      </p:ext>
    </p:extLst>
  </p:cSld>
  <p:clrMapOvr>
    <a:masterClrMapping/>
  </p:clrMapOvr>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63">
                                            <p:txEl>
                                              <p:pRg st="1" end="1"/>
                                            </p:txEl>
                                          </p:spTgt>
                                        </p:tgtEl>
                                        <p:attrNameLst>
                                          <p:attrName>style.visibility</p:attrName>
                                        </p:attrNameLst>
                                      </p:cBhvr>
                                      <p:to>
                                        <p:strVal val="visible"/>
                                      </p:to>
                                    </p:set>
                                    <p:anim calcmode="lin" valueType="num">
                                      <p:cBhvr additive="base">
                                        <p:cTn id="7" dur="500"/>
                                        <p:tgtEl>
                                          <p:spTgt spid="163">
                                            <p:txEl>
                                              <p:pRg st="1" end="1"/>
                                            </p:txEl>
                                          </p:spTgt>
                                        </p:tgtEl>
                                        <p:attrNameLst>
                                          <p:attrName>ppt_y</p:attrName>
                                        </p:attrNameLst>
                                      </p:cBhvr>
                                      <p:tavLst>
                                        <p:tav tm="0">
                                          <p:val>
                                            <p:strVal val="#ppt_y+#ppt_h*1.125000"/>
                                          </p:val>
                                        </p:tav>
                                        <p:tav tm="100000">
                                          <p:val>
                                            <p:strVal val="#ppt_y"/>
                                          </p:val>
                                        </p:tav>
                                      </p:tavLst>
                                    </p:anim>
                                    <p:animEffect transition="in" filter="wipe(up)">
                                      <p:cBhvr>
                                        <p:cTn id="8" dur="500"/>
                                        <p:tgtEl>
                                          <p:spTgt spid="16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title"/>
          </p:nvPr>
        </p:nvSpPr>
        <p:spPr>
          <a:xfrm>
            <a:off x="446043" y="972335"/>
            <a:ext cx="9011714" cy="803647"/>
          </a:xfrm>
        </p:spPr>
        <p:txBody>
          <a:bodyPr vert="horz" lIns="91440" tIns="45720" rIns="91440" bIns="45720" rtlCol="0" anchor="b">
            <a:normAutofit/>
          </a:bodyPr>
          <a:lstStyle/>
          <a:p>
            <a:r>
              <a:rPr lang="es-ES_tradnl" sz="3094">
                <a:latin typeface="Century Gothic" panose="020B0502020202020204" pitchFamily="34" charset="0"/>
              </a:rPr>
              <a:t>Los Pasivos</a:t>
            </a:r>
          </a:p>
        </p:txBody>
      </p:sp>
      <p:sp>
        <p:nvSpPr>
          <p:cNvPr id="2" name="Rectángulo 1">
            <a:extLst>
              <a:ext uri="{FF2B5EF4-FFF2-40B4-BE49-F238E27FC236}">
                <a16:creationId xmlns:a16="http://schemas.microsoft.com/office/drawing/2014/main" id="{61F9C596-BFFE-C5F8-A5DE-1C13024771F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6F91514C-8F95-13A4-0C88-E51B0074ED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147">
            <a:extLst>
              <a:ext uri="{FF2B5EF4-FFF2-40B4-BE49-F238E27FC236}">
                <a16:creationId xmlns:a16="http://schemas.microsoft.com/office/drawing/2014/main" id="{5F4C94C5-E6F6-10B5-B117-5E929A07DCCA}"/>
              </a:ext>
            </a:extLst>
          </p:cNvPr>
          <p:cNvGraphicFramePr/>
          <p:nvPr>
            <p:extLst>
              <p:ext uri="{D42A27DB-BD31-4B8C-83A1-F6EECF244321}">
                <p14:modId xmlns:p14="http://schemas.microsoft.com/office/powerpoint/2010/main" val="1241907462"/>
              </p:ext>
            </p:extLst>
          </p:nvPr>
        </p:nvGraphicFramePr>
        <p:xfrm>
          <a:off x="3249424" y="1932416"/>
          <a:ext cx="5546117" cy="5352086"/>
        </p:xfrm>
        <a:graphic>
          <a:graphicData uri="http://schemas.openxmlformats.org/drawingml/2006/table">
            <a:tbl>
              <a:tblPr firstRow="1"/>
              <a:tblGrid>
                <a:gridCol w="308354">
                  <a:extLst>
                    <a:ext uri="{9D8B030D-6E8A-4147-A177-3AD203B41FA5}">
                      <a16:colId xmlns:a16="http://schemas.microsoft.com/office/drawing/2014/main" val="20000"/>
                    </a:ext>
                  </a:extLst>
                </a:gridCol>
                <a:gridCol w="2280721">
                  <a:extLst>
                    <a:ext uri="{9D8B030D-6E8A-4147-A177-3AD203B41FA5}">
                      <a16:colId xmlns:a16="http://schemas.microsoft.com/office/drawing/2014/main" val="20001"/>
                    </a:ext>
                  </a:extLst>
                </a:gridCol>
                <a:gridCol w="310678">
                  <a:extLst>
                    <a:ext uri="{9D8B030D-6E8A-4147-A177-3AD203B41FA5}">
                      <a16:colId xmlns:a16="http://schemas.microsoft.com/office/drawing/2014/main" val="20002"/>
                    </a:ext>
                  </a:extLst>
                </a:gridCol>
                <a:gridCol w="2646364">
                  <a:extLst>
                    <a:ext uri="{9D8B030D-6E8A-4147-A177-3AD203B41FA5}">
                      <a16:colId xmlns:a16="http://schemas.microsoft.com/office/drawing/2014/main" val="20003"/>
                    </a:ext>
                  </a:extLst>
                </a:gridCol>
              </a:tblGrid>
              <a:tr h="224123">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extLst>
                  <a:ext uri="{0D108BD9-81ED-4DB2-BD59-A6C34878D82A}">
                    <a16:rowId xmlns:a16="http://schemas.microsoft.com/office/drawing/2014/main" val="10000"/>
                  </a:ext>
                </a:extLst>
              </a:tr>
              <a:tr h="224123">
                <a:tc gridSpan="2">
                  <a:txBody>
                    <a:bodyPr/>
                    <a:lstStyle/>
                    <a:p>
                      <a:pPr lvl="0" defTabSz="914400">
                        <a:defRPr>
                          <a:solidFill>
                            <a:srgbClr val="000000"/>
                          </a:solidFill>
                        </a:defRPr>
                      </a:pPr>
                      <a:r>
                        <a:rPr sz="900" b="1" spc="56">
                          <a:solidFill>
                            <a:schemeClr val="bg1"/>
                          </a:solidFill>
                          <a:latin typeface="Century Gothic"/>
                        </a:rPr>
                        <a:t>Activos Corrientes</a:t>
                      </a:r>
                    </a:p>
                  </a:txBody>
                  <a:tcPr marL="35718" marR="35718" marT="35718" marB="35718" anchor="ctr" horzOverflow="overflow">
                    <a:lnL w="12700">
                      <a:noFill/>
                      <a:miter lim="400000"/>
                    </a:lnL>
                    <a:lnR w="12700">
                      <a:noFill/>
                      <a:miter lim="400000"/>
                    </a:lnR>
                    <a:lnT w="12700">
                      <a:noFill/>
                      <a:miter lim="400000"/>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tc gridSpan="2">
                  <a:txBody>
                    <a:bodyPr/>
                    <a:lstStyle/>
                    <a:p>
                      <a:pPr lvl="0" defTabSz="914400">
                        <a:defRPr>
                          <a:solidFill>
                            <a:srgbClr val="000000"/>
                          </a:solidFill>
                        </a:defRPr>
                      </a:pPr>
                      <a:r>
                        <a:rPr sz="900" b="1" spc="56">
                          <a:solidFill>
                            <a:schemeClr val="bg1"/>
                          </a:solidFill>
                          <a:latin typeface="Century Gothic" panose="020B0502020202020204" pitchFamily="34" charset="0"/>
                        </a:rPr>
                        <a:t>Pasivos Corrientes</a:t>
                      </a:r>
                    </a:p>
                  </a:txBody>
                  <a:tcPr marL="35718" marR="35718" marT="35718" marB="35718" anchor="ctr" horzOverflow="overflow">
                    <a:lnL w="12700">
                      <a:noFill/>
                      <a:miter lim="400000"/>
                    </a:lnL>
                    <a:lnR w="12700">
                      <a:noFill/>
                      <a:miter lim="400000"/>
                    </a:lnR>
                    <a:lnT w="12700">
                      <a:noFill/>
                      <a:miter lim="400000"/>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01"/>
                  </a:ext>
                </a:extLst>
              </a:tr>
              <a:tr h="1792984">
                <a:tc rowSpan="2" gridSpan="2">
                  <a:txBody>
                    <a:bodyPr/>
                    <a:lstStyle/>
                    <a:p>
                      <a:pPr lvl="0" algn="just" defTabSz="914400">
                        <a:defRPr>
                          <a:solidFill>
                            <a:srgbClr val="000000"/>
                          </a:solidFill>
                        </a:defRPr>
                      </a:pPr>
                      <a:r>
                        <a:rPr lang="es-ES" sz="1100" i="0" spc="56" dirty="0">
                          <a:solidFill>
                            <a:schemeClr val="accent1"/>
                          </a:solidFill>
                          <a:latin typeface="Century Gothic" panose="020B0502020202020204" pitchFamily="34" charset="0"/>
                        </a:rPr>
                        <a:t>Activos líquidos en el </a:t>
                      </a:r>
                      <a:r>
                        <a:rPr lang="es-ES" sz="1100" b="1" i="0" spc="56" dirty="0">
                          <a:solidFill>
                            <a:schemeClr val="accent1"/>
                          </a:solidFill>
                          <a:latin typeface="Century Gothic" panose="020B0502020202020204" pitchFamily="34" charset="0"/>
                        </a:rPr>
                        <a:t>corto plazo.</a:t>
                      </a:r>
                      <a:r>
                        <a:rPr lang="es-ES" sz="1100" i="0" spc="56" dirty="0">
                          <a:solidFill>
                            <a:schemeClr val="accent1"/>
                          </a:solidFill>
                          <a:latin typeface="Century Gothic" panose="020B0502020202020204" pitchFamily="34" charset="0"/>
                        </a:rPr>
                        <a:t> Es decir, aquellos activos de fácil realización en el momento en el que la empresa tenga la intención de convertirlos en dinero, venderlos o consumirlos.</a:t>
                      </a:r>
                    </a:p>
                    <a:p>
                      <a:pPr lvl="0" algn="just" defTabSz="914400">
                        <a:defRPr>
                          <a:solidFill>
                            <a:srgbClr val="000000"/>
                          </a:solidFill>
                        </a:defRPr>
                      </a:pPr>
                      <a:endParaRPr lang="es-ES" sz="1100" i="0" spc="56" dirty="0">
                        <a:solidFill>
                          <a:schemeClr val="accent1"/>
                        </a:solidFill>
                        <a:latin typeface="Century Gothic" panose="020B0502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solidFill>
                            <a:srgbClr val="000000"/>
                          </a:solidFill>
                        </a:defRPr>
                      </a:pPr>
                      <a:r>
                        <a:rPr lang="es-ES" sz="1100" b="1" i="0" spc="56" dirty="0">
                          <a:solidFill>
                            <a:schemeClr val="accent1"/>
                          </a:solidFill>
                          <a:latin typeface="Century Gothic" panose="020B0502020202020204" pitchFamily="34" charset="0"/>
                        </a:rPr>
                        <a:t>Corto plazo: </a:t>
                      </a:r>
                      <a:r>
                        <a:rPr lang="es-ES" sz="1100" i="0" spc="56" dirty="0">
                          <a:solidFill>
                            <a:schemeClr val="accent1"/>
                          </a:solidFill>
                          <a:latin typeface="Century Gothic" panose="020B0502020202020204" pitchFamily="34" charset="0"/>
                        </a:rPr>
                        <a:t>Menor a 1 año.</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gridSpan="2">
                  <a:txBody>
                    <a:bodyPr/>
                    <a:lstStyle/>
                    <a:p>
                      <a:pPr marL="0" marR="0" lvl="0" indent="0" algn="just" defTabSz="914400" rtl="0" eaLnBrk="1" fontAlgn="auto" latinLnBrk="0" hangingPunct="1">
                        <a:lnSpc>
                          <a:spcPct val="100000"/>
                        </a:lnSpc>
                        <a:spcBef>
                          <a:spcPts val="0"/>
                        </a:spcBef>
                        <a:spcAft>
                          <a:spcPts val="0"/>
                        </a:spcAft>
                        <a:buClrTx/>
                        <a:buSzTx/>
                        <a:buFontTx/>
                        <a:buNone/>
                        <a:tabLst/>
                        <a:defRPr>
                          <a:solidFill>
                            <a:srgbClr val="000000"/>
                          </a:solidFill>
                        </a:defRPr>
                      </a:pPr>
                      <a:r>
                        <a:rPr lang="es-CO" sz="1100" spc="56" dirty="0">
                          <a:solidFill>
                            <a:schemeClr val="accent1"/>
                          </a:solidFill>
                          <a:latin typeface="Century Gothic" panose="020B0502020202020204" pitchFamily="34" charset="0"/>
                        </a:rPr>
                        <a:t>Aquí se registran las deudas que tiene la compañía -en el corto plazo- con los distintos acreedores de la empresa.</a:t>
                      </a:r>
                    </a:p>
                    <a:p>
                      <a:pPr marL="0" marR="0" lvl="0" indent="0" algn="just" defTabSz="914400" rtl="0" eaLnBrk="1" fontAlgn="auto" latinLnBrk="0" hangingPunct="1">
                        <a:lnSpc>
                          <a:spcPct val="100000"/>
                        </a:lnSpc>
                        <a:spcBef>
                          <a:spcPts val="0"/>
                        </a:spcBef>
                        <a:spcAft>
                          <a:spcPts val="0"/>
                        </a:spcAft>
                        <a:buClrTx/>
                        <a:buSzTx/>
                        <a:buFontTx/>
                        <a:buNone/>
                        <a:tabLst/>
                        <a:defRPr>
                          <a:solidFill>
                            <a:srgbClr val="000000"/>
                          </a:solidFill>
                        </a:defRPr>
                      </a:pPr>
                      <a:endParaRPr lang="es-CO" sz="1100" spc="56" dirty="0">
                        <a:solidFill>
                          <a:schemeClr val="accent1"/>
                        </a:solidFill>
                        <a:latin typeface="Century Gothic" panose="020B0502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solidFill>
                            <a:srgbClr val="000000"/>
                          </a:solidFill>
                        </a:defRPr>
                      </a:pPr>
                      <a:r>
                        <a:rPr lang="es-ES" sz="1100" b="1" i="0" spc="56" dirty="0">
                          <a:solidFill>
                            <a:schemeClr val="accent1"/>
                          </a:solidFill>
                          <a:latin typeface="Century Gothic" panose="020B0502020202020204" pitchFamily="34" charset="0"/>
                        </a:rPr>
                        <a:t>Corto plazo: </a:t>
                      </a:r>
                      <a:r>
                        <a:rPr lang="es-ES" sz="1100" i="0" spc="56" dirty="0">
                          <a:solidFill>
                            <a:schemeClr val="accent1"/>
                          </a:solidFill>
                          <a:latin typeface="Century Gothic" panose="020B0502020202020204" pitchFamily="34" charset="0"/>
                        </a:rPr>
                        <a:t>Menor a 1 año.</a:t>
                      </a:r>
                    </a:p>
                    <a:p>
                      <a:pPr marL="0" marR="0" lvl="0" indent="0" algn="just" defTabSz="914400" rtl="0" eaLnBrk="1" fontAlgn="auto" latinLnBrk="0" hangingPunct="1">
                        <a:lnSpc>
                          <a:spcPct val="100000"/>
                        </a:lnSpc>
                        <a:spcBef>
                          <a:spcPts val="0"/>
                        </a:spcBef>
                        <a:spcAft>
                          <a:spcPts val="0"/>
                        </a:spcAft>
                        <a:buClrTx/>
                        <a:buSzTx/>
                        <a:buFontTx/>
                        <a:buNone/>
                        <a:tabLst/>
                        <a:defRPr>
                          <a:solidFill>
                            <a:srgbClr val="000000"/>
                          </a:solidFill>
                        </a:defRPr>
                      </a:pPr>
                      <a:endParaRPr lang="es-CO" sz="1100" spc="56"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gridSpan="2">
                  <a:txBody>
                    <a:bodyPr/>
                    <a:lstStyle/>
                    <a:p>
                      <a:pPr lvl="0" defTabSz="914400">
                        <a:defRPr>
                          <a:solidFill>
                            <a:srgbClr val="000000"/>
                          </a:solidFill>
                        </a:defRPr>
                      </a:pPr>
                      <a:r>
                        <a:rPr sz="1100" b="1" spc="56">
                          <a:solidFill>
                            <a:schemeClr val="bg1"/>
                          </a:solidFill>
                          <a:latin typeface="Century Gothic" panose="020B0502020202020204" pitchFamily="34" charset="0"/>
                        </a:rPr>
                        <a:t>Pasivos </a:t>
                      </a:r>
                      <a:r>
                        <a:rPr lang="es-ES" sz="1100" b="1" spc="56">
                          <a:solidFill>
                            <a:schemeClr val="bg1"/>
                          </a:solidFill>
                          <a:latin typeface="Century Gothic" panose="020B0502020202020204" pitchFamily="34" charset="0"/>
                        </a:rPr>
                        <a:t>No Corrientes</a:t>
                      </a:r>
                      <a:endParaRPr sz="11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10"/>
                  </a:ext>
                </a:extLst>
              </a:tr>
              <a:tr h="224123">
                <a:tc gridSpan="2">
                  <a:txBody>
                    <a:bodyPr/>
                    <a:lstStyle/>
                    <a:p>
                      <a:pPr lvl="0" defTabSz="914400">
                        <a:defRPr>
                          <a:solidFill>
                            <a:srgbClr val="000000"/>
                          </a:solidFill>
                        </a:defRPr>
                      </a:pPr>
                      <a:r>
                        <a:rPr sz="1100" b="1" spc="56">
                          <a:solidFill>
                            <a:schemeClr val="bg1"/>
                          </a:solidFill>
                          <a:latin typeface="Century Gothic"/>
                        </a:rPr>
                        <a:t>Activos </a:t>
                      </a:r>
                      <a:r>
                        <a:rPr lang="es-ES" sz="1100" b="1" spc="56">
                          <a:solidFill>
                            <a:schemeClr val="bg1"/>
                          </a:solidFill>
                          <a:latin typeface="Century Gothic"/>
                        </a:rPr>
                        <a:t>No Corrientes</a:t>
                      </a:r>
                      <a:endParaRPr sz="1100" b="1" spc="56">
                        <a:solidFill>
                          <a:schemeClr val="bg1"/>
                        </a:solidFill>
                        <a:latin typeface="Century Gothic"/>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tc rowSpan="2"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000000"/>
                          </a:solidFill>
                        </a:defRPr>
                      </a:pPr>
                      <a:r>
                        <a:rPr lang="es-CO" sz="1100" spc="56">
                          <a:solidFill>
                            <a:schemeClr val="accent1"/>
                          </a:solidFill>
                          <a:latin typeface="Century Gothic" panose="020B0502020202020204" pitchFamily="34" charset="0"/>
                        </a:rPr>
                        <a:t>Aquí se registran las deudas que tiene la compañía en el largo plazo.</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224123">
                <a:tc rowSpan="3" gridSpan="2">
                  <a:txBody>
                    <a:bodyPr/>
                    <a:lstStyle/>
                    <a:p>
                      <a:pPr lvl="0" algn="l" defTabSz="914400">
                        <a:defRPr>
                          <a:solidFill>
                            <a:srgbClr val="000000"/>
                          </a:solidFill>
                        </a:defRPr>
                      </a:pPr>
                      <a:endParaRPr lang="es-CO" sz="1100" spc="56" dirty="0">
                        <a:solidFill>
                          <a:schemeClr val="accent1"/>
                        </a:solidFill>
                        <a:latin typeface="Century Gothic" panose="020B0502020202020204" pitchFamily="34" charset="0"/>
                      </a:endParaRPr>
                    </a:p>
                    <a:p>
                      <a:pPr lvl="0" algn="just" defTabSz="914400">
                        <a:defRPr>
                          <a:solidFill>
                            <a:srgbClr val="000000"/>
                          </a:solidFill>
                        </a:defRPr>
                      </a:pPr>
                      <a:r>
                        <a:rPr sz="1100" spc="56" dirty="0">
                          <a:solidFill>
                            <a:schemeClr val="accent1"/>
                          </a:solidFill>
                          <a:latin typeface="Century Gothic"/>
                        </a:rPr>
                        <a:t>Activos </a:t>
                      </a:r>
                      <a:r>
                        <a:rPr sz="1100" spc="56" dirty="0" err="1">
                          <a:solidFill>
                            <a:schemeClr val="accent1"/>
                          </a:solidFill>
                          <a:latin typeface="Century Gothic"/>
                        </a:rPr>
                        <a:t>que</a:t>
                      </a:r>
                      <a:r>
                        <a:rPr sz="1100" spc="56" dirty="0">
                          <a:solidFill>
                            <a:schemeClr val="accent1"/>
                          </a:solidFill>
                          <a:latin typeface="Century Gothic"/>
                        </a:rPr>
                        <a:t> </a:t>
                      </a:r>
                      <a:r>
                        <a:rPr sz="1100" spc="56" dirty="0" err="1">
                          <a:solidFill>
                            <a:schemeClr val="accent1"/>
                          </a:solidFill>
                          <a:latin typeface="Century Gothic"/>
                        </a:rPr>
                        <a:t>cumplen</a:t>
                      </a:r>
                      <a:r>
                        <a:rPr sz="1100" spc="56" dirty="0">
                          <a:solidFill>
                            <a:schemeClr val="accent1"/>
                          </a:solidFill>
                          <a:latin typeface="Century Gothic"/>
                        </a:rPr>
                        <a:t> con </a:t>
                      </a:r>
                      <a:r>
                        <a:rPr sz="1100" spc="56" dirty="0" err="1">
                          <a:solidFill>
                            <a:schemeClr val="accent1"/>
                          </a:solidFill>
                          <a:latin typeface="Century Gothic"/>
                        </a:rPr>
                        <a:t>alguna</a:t>
                      </a:r>
                      <a:r>
                        <a:rPr sz="1100" spc="56" dirty="0">
                          <a:solidFill>
                            <a:schemeClr val="accent1"/>
                          </a:solidFill>
                          <a:latin typeface="Century Gothic"/>
                        </a:rPr>
                        <a:t> de las </a:t>
                      </a:r>
                      <a:r>
                        <a:rPr sz="1100" spc="56" dirty="0" err="1">
                          <a:solidFill>
                            <a:schemeClr val="accent1"/>
                          </a:solidFill>
                          <a:latin typeface="Century Gothic"/>
                        </a:rPr>
                        <a:t>siguientes</a:t>
                      </a:r>
                      <a:r>
                        <a:rPr sz="1100" spc="56" dirty="0">
                          <a:solidFill>
                            <a:schemeClr val="accent1"/>
                          </a:solidFill>
                          <a:latin typeface="Century Gothic"/>
                        </a:rPr>
                        <a:t> </a:t>
                      </a:r>
                      <a:r>
                        <a:rPr sz="1100" spc="56" dirty="0" err="1">
                          <a:solidFill>
                            <a:schemeClr val="accent1"/>
                          </a:solidFill>
                          <a:latin typeface="Century Gothic"/>
                        </a:rPr>
                        <a:t>características</a:t>
                      </a:r>
                      <a:r>
                        <a:rPr sz="1100" spc="56" dirty="0">
                          <a:solidFill>
                            <a:schemeClr val="accent1"/>
                          </a:solidFill>
                          <a:latin typeface="Century Gothic"/>
                        </a:rPr>
                        <a:t>:</a:t>
                      </a:r>
                      <a:endParaRPr lang="es-CO" sz="1100" spc="56" dirty="0">
                        <a:solidFill>
                          <a:schemeClr val="accent1"/>
                        </a:solidFill>
                        <a:latin typeface="Century Gothic"/>
                      </a:endParaRPr>
                    </a:p>
                    <a:p>
                      <a:pPr lvl="0" algn="just" defTabSz="914400">
                        <a:defRPr>
                          <a:solidFill>
                            <a:srgbClr val="000000"/>
                          </a:solidFill>
                        </a:defRPr>
                      </a:pPr>
                      <a:endParaRPr sz="1100" spc="56" dirty="0">
                        <a:solidFill>
                          <a:schemeClr val="accent1"/>
                        </a:solidFill>
                        <a:latin typeface="Century Gothic" panose="020B0502020202020204" pitchFamily="34" charset="0"/>
                      </a:endParaRPr>
                    </a:p>
                    <a:p>
                      <a:pPr marL="224790" lvl="0" indent="-224790" algn="just" defTabSz="914400">
                        <a:buClr>
                          <a:schemeClr val="accent4"/>
                        </a:buClr>
                        <a:buSzPct val="100000"/>
                        <a:buAutoNum type="arabicPeriod"/>
                        <a:defRPr>
                          <a:solidFill>
                            <a:srgbClr val="000000"/>
                          </a:solidFill>
                        </a:defRPr>
                      </a:pPr>
                      <a:r>
                        <a:rPr sz="1100" spc="56" dirty="0">
                          <a:solidFill>
                            <a:schemeClr val="accent1"/>
                          </a:solidFill>
                          <a:latin typeface="Century Gothic" panose="020B0502020202020204" pitchFamily="34" charset="0"/>
                        </a:rPr>
                        <a:t>Son de </a:t>
                      </a:r>
                      <a:r>
                        <a:rPr sz="1100" spc="56" dirty="0" err="1">
                          <a:solidFill>
                            <a:schemeClr val="accent1"/>
                          </a:solidFill>
                          <a:latin typeface="Century Gothic" panose="020B0502020202020204" pitchFamily="34" charset="0"/>
                        </a:rPr>
                        <a:t>carácter</a:t>
                      </a:r>
                      <a:r>
                        <a:rPr sz="1100" spc="56" dirty="0">
                          <a:solidFill>
                            <a:schemeClr val="accent1"/>
                          </a:solidFill>
                          <a:latin typeface="Century Gothic" panose="020B0502020202020204" pitchFamily="34" charset="0"/>
                        </a:rPr>
                        <a:t> </a:t>
                      </a:r>
                      <a:r>
                        <a:rPr sz="1100" spc="56" dirty="0" err="1">
                          <a:solidFill>
                            <a:schemeClr val="accent1"/>
                          </a:solidFill>
                          <a:latin typeface="Century Gothic" panose="020B0502020202020204" pitchFamily="34" charset="0"/>
                        </a:rPr>
                        <a:t>permanente</a:t>
                      </a:r>
                      <a:r>
                        <a:rPr lang="es-CO" sz="1100" spc="56" dirty="0">
                          <a:solidFill>
                            <a:schemeClr val="accent1"/>
                          </a:solidFill>
                          <a:latin typeface="Century Gothic" panose="020B0502020202020204" pitchFamily="34" charset="0"/>
                        </a:rPr>
                        <a:t> </a:t>
                      </a:r>
                      <a:r>
                        <a:rPr sz="1100" spc="56" dirty="0" err="1">
                          <a:solidFill>
                            <a:schemeClr val="accent1"/>
                          </a:solidFill>
                          <a:latin typeface="Century Gothic" panose="020B0502020202020204" pitchFamily="34" charset="0"/>
                        </a:rPr>
                        <a:t>en</a:t>
                      </a:r>
                      <a:r>
                        <a:rPr sz="1100" spc="56" dirty="0">
                          <a:solidFill>
                            <a:schemeClr val="accent1"/>
                          </a:solidFill>
                          <a:latin typeface="Century Gothic" panose="020B0502020202020204" pitchFamily="34" charset="0"/>
                        </a:rPr>
                        <a:t> </a:t>
                      </a:r>
                      <a:r>
                        <a:rPr sz="1100" spc="56" dirty="0" err="1">
                          <a:solidFill>
                            <a:schemeClr val="accent1"/>
                          </a:solidFill>
                          <a:latin typeface="Century Gothic" panose="020B0502020202020204" pitchFamily="34" charset="0"/>
                        </a:rPr>
                        <a:t>el</a:t>
                      </a:r>
                      <a:r>
                        <a:rPr sz="1100" spc="56" dirty="0">
                          <a:solidFill>
                            <a:schemeClr val="accent1"/>
                          </a:solidFill>
                          <a:latin typeface="Century Gothic" panose="020B0502020202020204" pitchFamily="34" charset="0"/>
                        </a:rPr>
                        <a:t> largo </a:t>
                      </a:r>
                      <a:r>
                        <a:rPr sz="1100" spc="56" dirty="0" err="1">
                          <a:solidFill>
                            <a:schemeClr val="accent1"/>
                          </a:solidFill>
                          <a:latin typeface="Century Gothic" panose="020B0502020202020204" pitchFamily="34" charset="0"/>
                        </a:rPr>
                        <a:t>plazo</a:t>
                      </a:r>
                      <a:r>
                        <a:rPr sz="1100" spc="56" dirty="0">
                          <a:solidFill>
                            <a:schemeClr val="accent1"/>
                          </a:solidFill>
                          <a:latin typeface="Century Gothic" panose="020B0502020202020204" pitchFamily="34" charset="0"/>
                        </a:rPr>
                        <a:t>.</a:t>
                      </a:r>
                    </a:p>
                    <a:p>
                      <a:pPr marL="224790" lvl="0" indent="-224790" algn="just" defTabSz="914400">
                        <a:buClr>
                          <a:schemeClr val="accent4"/>
                        </a:buClr>
                        <a:buSzPct val="100000"/>
                        <a:buAutoNum type="arabicPeriod"/>
                        <a:defRPr>
                          <a:solidFill>
                            <a:srgbClr val="000000"/>
                          </a:solidFill>
                        </a:defRPr>
                      </a:pPr>
                      <a:r>
                        <a:rPr sz="1100" spc="56" dirty="0">
                          <a:solidFill>
                            <a:schemeClr val="accent1"/>
                          </a:solidFill>
                          <a:latin typeface="Century Gothic" panose="020B0502020202020204" pitchFamily="34" charset="0"/>
                        </a:rPr>
                        <a:t>No se </a:t>
                      </a:r>
                      <a:r>
                        <a:rPr sz="1100" spc="56" dirty="0" err="1">
                          <a:solidFill>
                            <a:schemeClr val="accent1"/>
                          </a:solidFill>
                          <a:latin typeface="Century Gothic" panose="020B0502020202020204" pitchFamily="34" charset="0"/>
                        </a:rPr>
                        <a:t>tienen</a:t>
                      </a:r>
                      <a:r>
                        <a:rPr sz="1100" spc="56" dirty="0">
                          <a:solidFill>
                            <a:schemeClr val="accent1"/>
                          </a:solidFill>
                          <a:latin typeface="Century Gothic" panose="020B0502020202020204" pitchFamily="34" charset="0"/>
                        </a:rPr>
                        <a:t> con </a:t>
                      </a:r>
                      <a:r>
                        <a:rPr lang="es-CO" sz="1100" spc="56" dirty="0">
                          <a:solidFill>
                            <a:schemeClr val="accent1"/>
                          </a:solidFill>
                          <a:latin typeface="Century Gothic" panose="020B0502020202020204" pitchFamily="34" charset="0"/>
                        </a:rPr>
                        <a:t>á</a:t>
                      </a:r>
                      <a:r>
                        <a:rPr sz="1100" spc="56" dirty="0" err="1">
                          <a:solidFill>
                            <a:schemeClr val="accent1"/>
                          </a:solidFill>
                          <a:latin typeface="Century Gothic" panose="020B0502020202020204" pitchFamily="34" charset="0"/>
                        </a:rPr>
                        <a:t>nimo</a:t>
                      </a:r>
                      <a:r>
                        <a:rPr sz="1100" spc="56" dirty="0">
                          <a:solidFill>
                            <a:schemeClr val="accent1"/>
                          </a:solidFill>
                          <a:latin typeface="Century Gothic" panose="020B0502020202020204" pitchFamily="34" charset="0"/>
                        </a:rPr>
                        <a:t> de </a:t>
                      </a:r>
                      <a:r>
                        <a:rPr sz="1100" spc="56" dirty="0" err="1">
                          <a:solidFill>
                            <a:schemeClr val="accent1"/>
                          </a:solidFill>
                          <a:latin typeface="Century Gothic" panose="020B0502020202020204" pitchFamily="34" charset="0"/>
                        </a:rPr>
                        <a:t>venta</a:t>
                      </a:r>
                      <a:r>
                        <a:rPr sz="1100" spc="56" dirty="0">
                          <a:solidFill>
                            <a:schemeClr val="accent1"/>
                          </a:solidFill>
                          <a:latin typeface="Century Gothic" panose="020B0502020202020204" pitchFamily="34" charset="0"/>
                        </a:rPr>
                        <a:t>.</a:t>
                      </a:r>
                    </a:p>
                    <a:p>
                      <a:pPr marL="224790" lvl="0" indent="-224790" algn="just">
                        <a:buClr>
                          <a:schemeClr val="accent4"/>
                        </a:buClr>
                        <a:buSzPct val="100000"/>
                        <a:buAutoNum type="arabicPeriod"/>
                      </a:pPr>
                      <a:r>
                        <a:rPr lang="es-CO" sz="1100" b="0" i="0" u="none" strike="noStrike" spc="56" noProof="0" dirty="0">
                          <a:solidFill>
                            <a:schemeClr val="accent1"/>
                          </a:solidFill>
                          <a:latin typeface="Century Gothic"/>
                        </a:rPr>
                        <a:t>Son </a:t>
                      </a:r>
                      <a:r>
                        <a:rPr lang="es-ES" sz="1100" b="0" i="0" u="none" strike="noStrike" spc="56" noProof="0" dirty="0">
                          <a:solidFill>
                            <a:schemeClr val="accent1"/>
                          </a:solidFill>
                          <a:latin typeface="Century Gothic"/>
                        </a:rPr>
                        <a:t>recursos de largo plazo que apoyan </a:t>
                      </a:r>
                      <a:r>
                        <a:rPr lang="es-CO" sz="1100" b="0" i="0" u="none" strike="noStrike" spc="56" noProof="0" dirty="0">
                          <a:solidFill>
                            <a:schemeClr val="accent1"/>
                          </a:solidFill>
                          <a:latin typeface="Century Gothic"/>
                        </a:rPr>
                        <a:t>la operación </a:t>
                      </a:r>
                      <a:r>
                        <a:rPr lang="es-ES" sz="1100" b="0" i="0" u="none" strike="noStrike" spc="56" noProof="0" dirty="0">
                          <a:solidFill>
                            <a:schemeClr val="accent1"/>
                          </a:solidFill>
                          <a:latin typeface="Century Gothic"/>
                        </a:rPr>
                        <a:t>o generan beneficios futuros</a:t>
                      </a:r>
                      <a:r>
                        <a:rPr lang="es-CO" sz="1100" b="0" i="0" u="none" strike="noStrike" spc="56" noProof="0" dirty="0">
                          <a:solidFill>
                            <a:schemeClr val="accent1"/>
                          </a:solidFill>
                          <a:latin typeface="Century Gothic"/>
                        </a:rPr>
                        <a:t>.</a:t>
                      </a:r>
                      <a:endParaRPr lang="es-CO" sz="1100" b="0" i="0" u="none" strike="noStrike" spc="56" noProof="0" dirty="0">
                        <a:solidFill>
                          <a:srgbClr val="000000"/>
                        </a:solidFill>
                        <a:latin typeface="Century Gothic"/>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3"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extLst>
                  <a:ext uri="{0D108BD9-81ED-4DB2-BD59-A6C34878D82A}">
                    <a16:rowId xmlns:a16="http://schemas.microsoft.com/office/drawing/2014/main" val="10012"/>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gridSpan="2">
                  <a:txBody>
                    <a:bodyPr/>
                    <a:lstStyle/>
                    <a:p>
                      <a:pPr lvl="0" defTabSz="914400">
                        <a:defRPr>
                          <a:solidFill>
                            <a:srgbClr val="000000"/>
                          </a:solidFill>
                        </a:defRPr>
                      </a:pPr>
                      <a:r>
                        <a:rPr sz="1100" b="1" spc="56">
                          <a:solidFill>
                            <a:schemeClr val="bg1"/>
                          </a:solidFill>
                          <a:latin typeface="Century Gothic"/>
                        </a:rPr>
                        <a:t>Patrimonio</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13"/>
                  </a:ext>
                </a:extLst>
              </a:tr>
              <a:tr h="99738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rowSpan="4" gridSpan="2">
                  <a:txBody>
                    <a:bodyPr/>
                    <a:lstStyle/>
                    <a:p>
                      <a:pPr marL="0" marR="0" lvl="0" indent="0" algn="just" defTabSz="914400" rtl="0" eaLnBrk="1" fontAlgn="auto" latinLnBrk="0" hangingPunct="1">
                        <a:lnSpc>
                          <a:spcPct val="100000"/>
                        </a:lnSpc>
                        <a:spcBef>
                          <a:spcPts val="0"/>
                        </a:spcBef>
                        <a:spcAft>
                          <a:spcPts val="0"/>
                        </a:spcAft>
                        <a:buClrTx/>
                        <a:buSzTx/>
                        <a:buFontTx/>
                        <a:buNone/>
                        <a:tabLst/>
                        <a:defRPr sz="1400" spc="56"/>
                      </a:pPr>
                      <a:r>
                        <a:rPr lang="es-ES" sz="1100" kern="1200" spc="56">
                          <a:solidFill>
                            <a:schemeClr val="accent1"/>
                          </a:solidFill>
                          <a:latin typeface="Century Gothic" panose="020B0502020202020204" pitchFamily="34" charset="0"/>
                          <a:ea typeface="+mn-ea"/>
                          <a:cs typeface="+mn-cs"/>
                        </a:rPr>
                        <a:t>El patrimonio es el valor contable de los recursos representados en bienes y derechos, deducidas sus obligaciones necesarias para cumplir los fines estipulados en el objeto social de la empresa.</a:t>
                      </a:r>
                    </a:p>
                    <a:p>
                      <a:pPr marL="0" marR="0" lvl="0" indent="0" algn="l" defTabSz="914400" rtl="0" eaLnBrk="1" fontAlgn="auto" latinLnBrk="0" hangingPunct="1">
                        <a:lnSpc>
                          <a:spcPct val="100000"/>
                        </a:lnSpc>
                        <a:spcBef>
                          <a:spcPts val="0"/>
                        </a:spcBef>
                        <a:spcAft>
                          <a:spcPts val="0"/>
                        </a:spcAft>
                        <a:buClrTx/>
                        <a:buSzTx/>
                        <a:buFontTx/>
                        <a:buNone/>
                        <a:tabLst/>
                        <a:defRPr sz="1400" spc="56"/>
                      </a:pPr>
                      <a:endParaRPr lang="es-CO" sz="1100" spc="56">
                        <a:solidFill>
                          <a:schemeClr val="accent1"/>
                        </a:solidFill>
                        <a:latin typeface="Century Gothic" panose="020B0502020202020204" pitchFamily="34" charset="0"/>
                      </a:endParaRPr>
                    </a:p>
                    <a:p>
                      <a:pPr lvl="0" defTabSz="914400">
                        <a:defRPr sz="1400" spc="56"/>
                      </a:pPr>
                      <a:endParaRPr sz="11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4" hMerge="1">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4"/>
                  </a:ext>
                </a:extLst>
              </a:tr>
              <a:tr h="224123">
                <a:tc gridSpan="2">
                  <a:txBody>
                    <a:bodyPr/>
                    <a:lstStyle/>
                    <a:p>
                      <a:pPr lvl="0" defTabSz="914400">
                        <a:defRPr>
                          <a:solidFill>
                            <a:srgbClr val="000000"/>
                          </a:solidFill>
                        </a:defRPr>
                      </a:pPr>
                      <a:endParaRPr sz="11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bg1"/>
                    </a:solidFill>
                  </a:tcPr>
                </a:tc>
                <a:tc hMerge="1">
                  <a:txBody>
                    <a:bodyPr/>
                    <a:lstStyle/>
                    <a:p>
                      <a:endParaRPr lang="en-US"/>
                    </a:p>
                  </a:txBody>
                  <a:tcPr/>
                </a:tc>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8"/>
                  </a:ext>
                </a:extLst>
              </a:tr>
              <a:tr h="224123">
                <a:tc>
                  <a:txBody>
                    <a:bodyPr/>
                    <a:lstStyle/>
                    <a:p>
                      <a:pPr lvl="0" defTabSz="914400">
                        <a:defRPr sz="1400" spc="56"/>
                      </a:pPr>
                      <a:endParaRPr sz="11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a:txBody>
                    <a:bodyPr/>
                    <a:lstStyle/>
                    <a:p>
                      <a:pPr lvl="0" algn="just" defTabSz="914400">
                        <a:defRPr>
                          <a:solidFill>
                            <a:srgbClr val="000000"/>
                          </a:solidFill>
                        </a:defRPr>
                      </a:pPr>
                      <a:endParaRPr sz="11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9"/>
                  </a:ext>
                </a:extLst>
              </a:tr>
              <a:tr h="224123">
                <a:tc>
                  <a:txBody>
                    <a:bodyPr/>
                    <a:lstStyle/>
                    <a:p>
                      <a:pPr lvl="0" defTabSz="914400">
                        <a:defRPr sz="1400" spc="56"/>
                      </a:pPr>
                      <a:endParaRPr sz="1100"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20"/>
                  </a:ext>
                </a:extLst>
              </a:tr>
            </a:tbl>
          </a:graphicData>
        </a:graphic>
      </p:graphicFrame>
      <p:sp>
        <p:nvSpPr>
          <p:cNvPr id="6" name="Rectángulo 5">
            <a:extLst>
              <a:ext uri="{FF2B5EF4-FFF2-40B4-BE49-F238E27FC236}">
                <a16:creationId xmlns:a16="http://schemas.microsoft.com/office/drawing/2014/main" id="{DA6404AD-78A0-94DD-67F6-1485DA8DA72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3FC02C92-9AAF-D26E-2888-8CDAA784C1D2}"/>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25</a:t>
            </a:fld>
            <a:endParaRPr lang="en-US" sz="2000" b="1">
              <a:latin typeface="Century Gothic" panose="020B0502020202020204" pitchFamily="34" charset="0"/>
            </a:endParaRPr>
          </a:p>
        </p:txBody>
      </p:sp>
    </p:spTree>
    <p:extLst>
      <p:ext uri="{BB962C8B-B14F-4D97-AF65-F5344CB8AC3E}">
        <p14:creationId xmlns:p14="http://schemas.microsoft.com/office/powerpoint/2010/main" val="19472023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Shape 170"/>
          <p:cNvSpPr/>
          <p:nvPr/>
        </p:nvSpPr>
        <p:spPr>
          <a:xfrm>
            <a:off x="581192" y="2175654"/>
            <a:ext cx="8262776" cy="4145608"/>
          </a:xfrm>
          <a:prstGeom prst="rect">
            <a:avLst/>
          </a:prstGeom>
          <a:ln w="12700">
            <a:miter lim="400000"/>
          </a:ln>
          <a:extLst>
            <a:ext uri="{C572A759-6A51-4108-AA02-DFA0A04FC94B}">
              <ma14:wrappingTextBoxFlag xmlns="" xmlns:ma14="http://schemas.microsoft.com/office/mac/drawingml/2011/main" val="1"/>
            </a:ext>
          </a:extLst>
        </p:spPr>
        <p:txBody>
          <a:bodyPr lIns="0" tIns="0" rIns="0" bIns="0">
            <a:noAutofit/>
          </a:bodyPr>
          <a:lstStyle/>
          <a:p>
            <a:pPr algn="just" defTabSz="349174">
              <a:spcBef>
                <a:spcPts val="2461"/>
              </a:spcBef>
              <a:defRPr sz="1800">
                <a:solidFill>
                  <a:srgbClr val="000000"/>
                </a:solidFill>
              </a:defRPr>
            </a:pPr>
            <a:r>
              <a:rPr b="1" dirty="0">
                <a:solidFill>
                  <a:srgbClr val="C00000"/>
                </a:solidFill>
                <a:latin typeface="Century Gothic" panose="020B0502020202020204" pitchFamily="34" charset="0"/>
              </a:rPr>
              <a:t>Capital</a:t>
            </a:r>
            <a:r>
              <a:rPr lang="es-CO" b="1" dirty="0">
                <a:solidFill>
                  <a:srgbClr val="C00000"/>
                </a:solidFill>
                <a:latin typeface="Century Gothic" panose="020B0502020202020204" pitchFamily="34" charset="0"/>
              </a:rPr>
              <a:t> Suscrito</a:t>
            </a:r>
            <a:r>
              <a:rPr b="1" dirty="0">
                <a:solidFill>
                  <a:srgbClr val="C00000"/>
                </a:solidFill>
                <a:latin typeface="Century Gothic" panose="020B0502020202020204" pitchFamily="34" charset="0"/>
              </a:rPr>
              <a:t>: </a:t>
            </a:r>
            <a:r>
              <a:rPr dirty="0">
                <a:solidFill>
                  <a:schemeClr val="accent1"/>
                </a:solidFill>
                <a:latin typeface="Century Gothic" panose="020B0502020202020204" pitchFamily="34" charset="0"/>
              </a:rPr>
              <a:t>El </a:t>
            </a:r>
            <a:r>
              <a:rPr dirty="0" err="1">
                <a:solidFill>
                  <a:schemeClr val="accent1"/>
                </a:solidFill>
                <a:latin typeface="Century Gothic" panose="020B0502020202020204" pitchFamily="34" charset="0"/>
              </a:rPr>
              <a:t>aporte</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que</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los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accionistas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hacen</a:t>
            </a:r>
            <a:r>
              <a:rPr dirty="0">
                <a:solidFill>
                  <a:schemeClr val="accent1"/>
                </a:solidFill>
                <a:latin typeface="Century Gothic" panose="020B0502020202020204" pitchFamily="34" charset="0"/>
              </a:rPr>
              <a:t> al </a:t>
            </a:r>
            <a:r>
              <a:rPr dirty="0" err="1">
                <a:solidFill>
                  <a:schemeClr val="accent1"/>
                </a:solidFill>
                <a:latin typeface="Century Gothic" panose="020B0502020202020204" pitchFamily="34" charset="0"/>
              </a:rPr>
              <a:t>negocio</a:t>
            </a:r>
            <a:r>
              <a:rPr dirty="0">
                <a:solidFill>
                  <a:schemeClr val="accent1"/>
                </a:solidFill>
                <a:latin typeface="Century Gothic" panose="020B0502020202020204" pitchFamily="34" charset="0"/>
              </a:rPr>
              <a:t>.</a:t>
            </a:r>
            <a:endParaRPr lang="es-CO" dirty="0">
              <a:solidFill>
                <a:schemeClr val="accent1"/>
              </a:solidFill>
              <a:latin typeface="Century Gothic" panose="020B0502020202020204" pitchFamily="34" charset="0"/>
            </a:endParaRPr>
          </a:p>
          <a:p>
            <a:pPr algn="just" defTabSz="349174">
              <a:spcBef>
                <a:spcPts val="2461"/>
              </a:spcBef>
              <a:defRPr sz="1800">
                <a:solidFill>
                  <a:srgbClr val="000000"/>
                </a:solidFill>
              </a:defRPr>
            </a:pPr>
            <a:r>
              <a:rPr b="1" dirty="0" err="1">
                <a:solidFill>
                  <a:srgbClr val="C00000"/>
                </a:solidFill>
                <a:latin typeface="Century Gothic" panose="020B0502020202020204" pitchFamily="34" charset="0"/>
              </a:rPr>
              <a:t>Utilidad</a:t>
            </a:r>
            <a:r>
              <a:rPr b="1" dirty="0">
                <a:solidFill>
                  <a:srgbClr val="C00000"/>
                </a:solidFill>
                <a:latin typeface="Century Gothic" panose="020B0502020202020204" pitchFamily="34" charset="0"/>
              </a:rPr>
              <a:t> del </a:t>
            </a:r>
            <a:r>
              <a:rPr lang="es-ES" b="1" dirty="0">
                <a:solidFill>
                  <a:srgbClr val="C00000"/>
                </a:solidFill>
                <a:latin typeface="Century Gothic" panose="020B0502020202020204" pitchFamily="34" charset="0"/>
              </a:rPr>
              <a:t>P</a:t>
            </a:r>
            <a:r>
              <a:rPr b="1" dirty="0" err="1">
                <a:solidFill>
                  <a:srgbClr val="C00000"/>
                </a:solidFill>
                <a:latin typeface="Century Gothic" panose="020B0502020202020204" pitchFamily="34" charset="0"/>
              </a:rPr>
              <a:t>eriodo</a:t>
            </a:r>
            <a:r>
              <a:rPr lang="es-ES" b="1" dirty="0">
                <a:solidFill>
                  <a:srgbClr val="C00000"/>
                </a:solidFill>
                <a:latin typeface="Century Gothic" panose="020B0502020202020204" pitchFamily="34" charset="0"/>
              </a:rPr>
              <a:t>/Utilidad del Ejercicio</a:t>
            </a:r>
            <a:r>
              <a:rPr b="1" dirty="0">
                <a:solidFill>
                  <a:srgbClr val="C00000"/>
                </a:solidFill>
                <a:latin typeface="Century Gothic" panose="020B0502020202020204" pitchFamily="34" charset="0"/>
              </a:rPr>
              <a:t>: </a:t>
            </a:r>
            <a:r>
              <a:rPr dirty="0" err="1">
                <a:solidFill>
                  <a:schemeClr val="accent1"/>
                </a:solidFill>
                <a:latin typeface="Century Gothic" panose="020B0502020202020204" pitchFamily="34" charset="0"/>
              </a:rPr>
              <a:t>Corresponde</a:t>
            </a:r>
            <a:r>
              <a:rPr dirty="0">
                <a:solidFill>
                  <a:schemeClr val="accent1"/>
                </a:solidFill>
                <a:latin typeface="Century Gothic" panose="020B0502020202020204" pitchFamily="34" charset="0"/>
              </a:rPr>
              <a:t> a la </a:t>
            </a:r>
            <a:r>
              <a:rPr dirty="0" err="1">
                <a:solidFill>
                  <a:schemeClr val="accent1"/>
                </a:solidFill>
                <a:latin typeface="Century Gothic" panose="020B0502020202020204" pitchFamily="34" charset="0"/>
              </a:rPr>
              <a:t>utilidad</a:t>
            </a:r>
            <a:r>
              <a:rPr dirty="0">
                <a:solidFill>
                  <a:schemeClr val="accent1"/>
                </a:solidFill>
                <a:latin typeface="Century Gothic" panose="020B0502020202020204" pitchFamily="34" charset="0"/>
              </a:rPr>
              <a:t> del </a:t>
            </a:r>
            <a:r>
              <a:rPr dirty="0" err="1">
                <a:solidFill>
                  <a:schemeClr val="accent1"/>
                </a:solidFill>
                <a:latin typeface="Century Gothic" panose="020B0502020202020204" pitchFamily="34" charset="0"/>
              </a:rPr>
              <a:t>periodo</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segú</a:t>
            </a:r>
            <a:r>
              <a:rPr lang="es-ES" dirty="0">
                <a:solidFill>
                  <a:schemeClr val="accent1"/>
                </a:solidFill>
                <a:latin typeface="Century Gothic" panose="020B0502020202020204" pitchFamily="34" charset="0"/>
              </a:rPr>
              <a:t>n</a:t>
            </a:r>
            <a:r>
              <a:rPr dirty="0">
                <a:solidFill>
                  <a:schemeClr val="accent1"/>
                </a:solidFill>
                <a:latin typeface="Century Gothic" panose="020B0502020202020204" pitchFamily="34" charset="0"/>
              </a:rPr>
              <a:t> </a:t>
            </a:r>
            <a:r>
              <a:rPr lang="es-ES" dirty="0">
                <a:solidFill>
                  <a:schemeClr val="accent1"/>
                </a:solidFill>
                <a:latin typeface="Century Gothic" panose="020B0502020202020204" pitchFamily="34" charset="0"/>
              </a:rPr>
              <a:t>e</a:t>
            </a:r>
            <a:r>
              <a:rPr dirty="0">
                <a:solidFill>
                  <a:schemeClr val="accent1"/>
                </a:solidFill>
                <a:latin typeface="Century Gothic" panose="020B0502020202020204" pitchFamily="34" charset="0"/>
              </a:rPr>
              <a:t>l </a:t>
            </a:r>
            <a:r>
              <a:rPr lang="es-ES" dirty="0">
                <a:solidFill>
                  <a:schemeClr val="accent1"/>
                </a:solidFill>
                <a:latin typeface="Century Gothic" panose="020B0502020202020204" pitchFamily="34" charset="0"/>
              </a:rPr>
              <a:t>Estado de Resultados</a:t>
            </a:r>
            <a:r>
              <a:rPr dirty="0">
                <a:solidFill>
                  <a:schemeClr val="accent1"/>
                </a:solidFill>
                <a:latin typeface="Century Gothic" panose="020B0502020202020204" pitchFamily="34" charset="0"/>
              </a:rPr>
              <a:t>.</a:t>
            </a:r>
          </a:p>
          <a:p>
            <a:pPr algn="just" defTabSz="349174">
              <a:spcBef>
                <a:spcPts val="2461"/>
              </a:spcBef>
              <a:defRPr sz="1800">
                <a:solidFill>
                  <a:srgbClr val="000000"/>
                </a:solidFill>
              </a:defRPr>
            </a:pPr>
            <a:r>
              <a:rPr b="1" dirty="0" err="1">
                <a:solidFill>
                  <a:srgbClr val="C00000"/>
                </a:solidFill>
                <a:latin typeface="Century Gothic" panose="020B0502020202020204" pitchFamily="34" charset="0"/>
              </a:rPr>
              <a:t>Utilidad</a:t>
            </a:r>
            <a:r>
              <a:rPr b="1" dirty="0">
                <a:solidFill>
                  <a:srgbClr val="C00000"/>
                </a:solidFill>
                <a:latin typeface="Century Gothic" panose="020B0502020202020204" pitchFamily="34" charset="0"/>
              </a:rPr>
              <a:t> </a:t>
            </a:r>
            <a:r>
              <a:rPr lang="es-ES" b="1" dirty="0">
                <a:solidFill>
                  <a:srgbClr val="C00000"/>
                </a:solidFill>
                <a:latin typeface="Century Gothic" panose="020B0502020202020204" pitchFamily="34" charset="0"/>
              </a:rPr>
              <a:t>A</a:t>
            </a:r>
            <a:r>
              <a:rPr b="1" dirty="0" err="1">
                <a:solidFill>
                  <a:srgbClr val="C00000"/>
                </a:solidFill>
                <a:latin typeface="Century Gothic" panose="020B0502020202020204" pitchFamily="34" charset="0"/>
              </a:rPr>
              <a:t>cumulada</a:t>
            </a:r>
            <a:r>
              <a:rPr lang="es-ES" b="1" dirty="0">
                <a:solidFill>
                  <a:srgbClr val="C00000"/>
                </a:solidFill>
                <a:latin typeface="Century Gothic" panose="020B0502020202020204" pitchFamily="34" charset="0"/>
              </a:rPr>
              <a:t>/Utilidades Retenidas</a:t>
            </a:r>
            <a:r>
              <a:rPr b="1" dirty="0">
                <a:solidFill>
                  <a:srgbClr val="C00000"/>
                </a:solidFill>
                <a:latin typeface="Century Gothic" panose="020B0502020202020204" pitchFamily="34" charset="0"/>
              </a:rPr>
              <a:t>:</a:t>
            </a:r>
            <a:r>
              <a:rPr lang="es-ES" b="1" dirty="0">
                <a:solidFill>
                  <a:srgbClr val="C00000"/>
                </a:solidFill>
                <a:latin typeface="Century Gothic" panose="020B0502020202020204" pitchFamily="34" charset="0"/>
              </a:rPr>
              <a:t> </a:t>
            </a:r>
            <a:r>
              <a:rPr dirty="0" err="1">
                <a:solidFill>
                  <a:schemeClr val="accent1"/>
                </a:solidFill>
                <a:latin typeface="Century Gothic" panose="020B0502020202020204" pitchFamily="34" charset="0"/>
              </a:rPr>
              <a:t>Corresponde</a:t>
            </a:r>
            <a:r>
              <a:rPr dirty="0">
                <a:solidFill>
                  <a:schemeClr val="accent1"/>
                </a:solidFill>
                <a:latin typeface="Century Gothic" panose="020B0502020202020204" pitchFamily="34" charset="0"/>
              </a:rPr>
              <a:t> a la </a:t>
            </a:r>
            <a:r>
              <a:rPr dirty="0" err="1">
                <a:solidFill>
                  <a:schemeClr val="accent1"/>
                </a:solidFill>
                <a:latin typeface="Century Gothic" panose="020B0502020202020204" pitchFamily="34" charset="0"/>
              </a:rPr>
              <a:t>utilidad</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acumulada</a:t>
            </a:r>
            <a:r>
              <a:rPr dirty="0">
                <a:solidFill>
                  <a:schemeClr val="accent1"/>
                </a:solidFill>
                <a:latin typeface="Century Gothic" panose="020B0502020202020204" pitchFamily="34" charset="0"/>
              </a:rPr>
              <a:t> de </a:t>
            </a:r>
            <a:r>
              <a:rPr dirty="0" err="1">
                <a:solidFill>
                  <a:schemeClr val="accent1"/>
                </a:solidFill>
                <a:latin typeface="Century Gothic" panose="020B0502020202020204" pitchFamily="34" charset="0"/>
              </a:rPr>
              <a:t>los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periodos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anteriores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según</a:t>
            </a:r>
            <a:r>
              <a:rPr dirty="0">
                <a:solidFill>
                  <a:schemeClr val="accent1"/>
                </a:solidFill>
                <a:latin typeface="Century Gothic" panose="020B0502020202020204" pitchFamily="34" charset="0"/>
              </a:rPr>
              <a:t> </a:t>
            </a:r>
            <a:r>
              <a:rPr lang="es-ES" dirty="0">
                <a:solidFill>
                  <a:schemeClr val="accent1"/>
                </a:solidFill>
                <a:latin typeface="Century Gothic" panose="020B0502020202020204" pitchFamily="34" charset="0"/>
              </a:rPr>
              <a:t>el</a:t>
            </a:r>
            <a:r>
              <a:rPr dirty="0">
                <a:solidFill>
                  <a:schemeClr val="accent1"/>
                </a:solidFill>
                <a:latin typeface="Century Gothic" panose="020B0502020202020204" pitchFamily="34" charset="0"/>
              </a:rPr>
              <a:t> </a:t>
            </a:r>
            <a:r>
              <a:rPr lang="es-ES" dirty="0">
                <a:solidFill>
                  <a:schemeClr val="accent1"/>
                </a:solidFill>
                <a:latin typeface="Century Gothic" panose="020B0502020202020204" pitchFamily="34" charset="0"/>
              </a:rPr>
              <a:t>Estado de Resultados</a:t>
            </a:r>
            <a:r>
              <a:rPr dirty="0">
                <a:solidFill>
                  <a:schemeClr val="accent1"/>
                </a:solidFill>
                <a:latin typeface="Century Gothic" panose="020B0502020202020204" pitchFamily="34" charset="0"/>
              </a:rPr>
              <a:t>.</a:t>
            </a:r>
          </a:p>
          <a:p>
            <a:pPr algn="just" defTabSz="349174">
              <a:spcBef>
                <a:spcPts val="2461"/>
              </a:spcBef>
              <a:defRPr sz="1800">
                <a:solidFill>
                  <a:srgbClr val="000000"/>
                </a:solidFill>
              </a:defRPr>
            </a:pPr>
            <a:r>
              <a:rPr b="1" dirty="0" err="1">
                <a:solidFill>
                  <a:srgbClr val="C00000"/>
                </a:solidFill>
                <a:latin typeface="Century Gothic" panose="020B0502020202020204" pitchFamily="34" charset="0"/>
              </a:rPr>
              <a:t>Reservas</a:t>
            </a:r>
            <a:r>
              <a:rPr lang="es-ES" b="1" dirty="0">
                <a:solidFill>
                  <a:srgbClr val="C00000"/>
                </a:solidFill>
                <a:latin typeface="Century Gothic" panose="020B0502020202020204" pitchFamily="34" charset="0"/>
              </a:rPr>
              <a:t> Acumuladas o Retenidas</a:t>
            </a:r>
            <a:r>
              <a:rPr b="1" dirty="0">
                <a:solidFill>
                  <a:srgbClr val="C00000"/>
                </a:solidFill>
                <a:latin typeface="Century Gothic" panose="020B0502020202020204" pitchFamily="34" charset="0"/>
              </a:rPr>
              <a:t>: </a:t>
            </a:r>
            <a:r>
              <a:rPr lang="es-CO" dirty="0">
                <a:solidFill>
                  <a:schemeClr val="accent1"/>
                </a:solidFill>
                <a:latin typeface="Century Gothic" panose="020B0502020202020204" pitchFamily="34" charset="0"/>
              </a:rPr>
              <a:t>Pueden entenderse como la parte del beneficio destinado a cubrir las necesidades comerciales en el futuro o para satisfacer futuras contingencias y responsabilidades inesperadas </a:t>
            </a:r>
            <a:r>
              <a:rPr dirty="0">
                <a:solidFill>
                  <a:schemeClr val="accent1"/>
                </a:solidFill>
                <a:latin typeface="Century Gothic" panose="020B0502020202020204" pitchFamily="34" charset="0"/>
              </a:rPr>
              <a:t>(</a:t>
            </a:r>
            <a:r>
              <a:rPr dirty="0" err="1">
                <a:solidFill>
                  <a:schemeClr val="accent1"/>
                </a:solidFill>
                <a:latin typeface="Century Gothic" panose="020B0502020202020204" pitchFamily="34" charset="0"/>
              </a:rPr>
              <a:t>suele</a:t>
            </a:r>
            <a:r>
              <a:rPr dirty="0">
                <a:solidFill>
                  <a:schemeClr val="accent1"/>
                </a:solidFill>
                <a:latin typeface="Century Gothic" panose="020B0502020202020204" pitchFamily="34" charset="0"/>
              </a:rPr>
              <a:t> ser un 10% </a:t>
            </a:r>
            <a:r>
              <a:rPr dirty="0" err="1">
                <a:solidFill>
                  <a:schemeClr val="accent1"/>
                </a:solidFill>
                <a:latin typeface="Century Gothic" panose="020B0502020202020204" pitchFamily="34" charset="0"/>
              </a:rPr>
              <a:t>por</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periodo</a:t>
            </a:r>
            <a:r>
              <a:rPr dirty="0">
                <a:solidFill>
                  <a:schemeClr val="accent1"/>
                </a:solidFill>
                <a:latin typeface="Century Gothic" panose="020B0502020202020204" pitchFamily="34" charset="0"/>
              </a:rPr>
              <a:t>).</a:t>
            </a:r>
          </a:p>
        </p:txBody>
      </p:sp>
      <p:sp>
        <p:nvSpPr>
          <p:cNvPr id="6" name="Title 1"/>
          <p:cNvSpPr>
            <a:spLocks noGrp="1"/>
          </p:cNvSpPr>
          <p:nvPr>
            <p:ph type="title"/>
          </p:nvPr>
        </p:nvSpPr>
        <p:spPr>
          <a:xfrm>
            <a:off x="446043" y="979870"/>
            <a:ext cx="7249775" cy="803647"/>
          </a:xfrm>
        </p:spPr>
        <p:txBody>
          <a:bodyPr/>
          <a:lstStyle/>
          <a:p>
            <a:r>
              <a:rPr lang="es-ES_tradnl">
                <a:latin typeface="Century Gothic" panose="020B0502020202020204" pitchFamily="34" charset="0"/>
              </a:rPr>
              <a:t>El Patrimonio</a:t>
            </a:r>
          </a:p>
        </p:txBody>
      </p:sp>
      <p:sp>
        <p:nvSpPr>
          <p:cNvPr id="2" name="Rectángulo 1">
            <a:extLst>
              <a:ext uri="{FF2B5EF4-FFF2-40B4-BE49-F238E27FC236}">
                <a16:creationId xmlns:a16="http://schemas.microsoft.com/office/drawing/2014/main" id="{389D77BF-92E7-43AD-8797-BA144166700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383D4B34-AF13-7B67-3309-B4ECE892BC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0" name="Imagen 9">
            <a:extLst>
              <a:ext uri="{FF2B5EF4-FFF2-40B4-BE49-F238E27FC236}">
                <a16:creationId xmlns:a16="http://schemas.microsoft.com/office/drawing/2014/main" id="{C69F0AA8-B7FD-4DC3-6468-11A27BA99088}"/>
              </a:ext>
            </a:extLst>
          </p:cNvPr>
          <p:cNvPicPr>
            <a:picLocks noChangeAspect="1"/>
          </p:cNvPicPr>
          <p:nvPr/>
        </p:nvPicPr>
        <p:blipFill>
          <a:blip r:embed="rId3"/>
          <a:stretch>
            <a:fillRect/>
          </a:stretch>
        </p:blipFill>
        <p:spPr>
          <a:xfrm>
            <a:off x="8844285" y="3323273"/>
            <a:ext cx="2480187" cy="1596833"/>
          </a:xfrm>
          <a:prstGeom prst="rect">
            <a:avLst/>
          </a:prstGeom>
        </p:spPr>
      </p:pic>
      <p:sp>
        <p:nvSpPr>
          <p:cNvPr id="8" name="Rectángulo 7">
            <a:extLst>
              <a:ext uri="{FF2B5EF4-FFF2-40B4-BE49-F238E27FC236}">
                <a16:creationId xmlns:a16="http://schemas.microsoft.com/office/drawing/2014/main" id="{6BE91A9F-2DC5-7244-86C8-327B8E73A62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0477A57B-3ED1-2217-22E4-93B2A300042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26</a:t>
            </a:fld>
            <a:endParaRPr lang="en-US" sz="2000" b="1">
              <a:latin typeface="Century Gothic" panose="020B0502020202020204" pitchFamily="34" charset="0"/>
            </a:endParaRPr>
          </a:p>
        </p:txBody>
      </p:sp>
    </p:spTree>
    <p:extLst>
      <p:ext uri="{BB962C8B-B14F-4D97-AF65-F5344CB8AC3E}">
        <p14:creationId xmlns:p14="http://schemas.microsoft.com/office/powerpoint/2010/main" val="2371019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70">
                                            <p:txEl>
                                              <p:pRg st="1" end="1"/>
                                            </p:txEl>
                                          </p:spTgt>
                                        </p:tgtEl>
                                        <p:attrNameLst>
                                          <p:attrName>style.visibility</p:attrName>
                                        </p:attrNameLst>
                                      </p:cBhvr>
                                      <p:to>
                                        <p:strVal val="visible"/>
                                      </p:to>
                                    </p:set>
                                    <p:anim calcmode="lin" valueType="num">
                                      <p:cBhvr additive="base">
                                        <p:cTn id="7" dur="500"/>
                                        <p:tgtEl>
                                          <p:spTgt spid="170">
                                            <p:txEl>
                                              <p:pRg st="1" end="1"/>
                                            </p:txEl>
                                          </p:spTgt>
                                        </p:tgtEl>
                                        <p:attrNameLst>
                                          <p:attrName>ppt_y</p:attrName>
                                        </p:attrNameLst>
                                      </p:cBhvr>
                                      <p:tavLst>
                                        <p:tav tm="0">
                                          <p:val>
                                            <p:strVal val="#ppt_y+#ppt_h*1.125000"/>
                                          </p:val>
                                        </p:tav>
                                        <p:tav tm="100000">
                                          <p:val>
                                            <p:strVal val="#ppt_y"/>
                                          </p:val>
                                        </p:tav>
                                      </p:tavLst>
                                    </p:anim>
                                    <p:animEffect transition="in" filter="wipe(up)">
                                      <p:cBhvr>
                                        <p:cTn id="8" dur="500"/>
                                        <p:tgtEl>
                                          <p:spTgt spid="170">
                                            <p:txEl>
                                              <p:pRg st="1" end="1"/>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170">
                                            <p:txEl>
                                              <p:pRg st="2" end="2"/>
                                            </p:txEl>
                                          </p:spTgt>
                                        </p:tgtEl>
                                        <p:attrNameLst>
                                          <p:attrName>style.visibility</p:attrName>
                                        </p:attrNameLst>
                                      </p:cBhvr>
                                      <p:to>
                                        <p:strVal val="visible"/>
                                      </p:to>
                                    </p:set>
                                    <p:anim calcmode="lin" valueType="num">
                                      <p:cBhvr additive="base">
                                        <p:cTn id="13" dur="500"/>
                                        <p:tgtEl>
                                          <p:spTgt spid="170">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170">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170">
                                            <p:txEl>
                                              <p:pRg st="3" end="3"/>
                                            </p:txEl>
                                          </p:spTgt>
                                        </p:tgtEl>
                                        <p:attrNameLst>
                                          <p:attrName>style.visibility</p:attrName>
                                        </p:attrNameLst>
                                      </p:cBhvr>
                                      <p:to>
                                        <p:strVal val="visible"/>
                                      </p:to>
                                    </p:set>
                                    <p:anim calcmode="lin" valueType="num">
                                      <p:cBhvr additive="base">
                                        <p:cTn id="19" dur="500"/>
                                        <p:tgtEl>
                                          <p:spTgt spid="170">
                                            <p:txEl>
                                              <p:pRg st="3" end="3"/>
                                            </p:txEl>
                                          </p:spTgt>
                                        </p:tgtEl>
                                        <p:attrNameLst>
                                          <p:attrName>ppt_y</p:attrName>
                                        </p:attrNameLst>
                                      </p:cBhvr>
                                      <p:tavLst>
                                        <p:tav tm="0">
                                          <p:val>
                                            <p:strVal val="#ppt_y+#ppt_h*1.125000"/>
                                          </p:val>
                                        </p:tav>
                                        <p:tav tm="100000">
                                          <p:val>
                                            <p:strVal val="#ppt_y"/>
                                          </p:val>
                                        </p:tav>
                                      </p:tavLst>
                                    </p:anim>
                                    <p:animEffect transition="in" filter="wipe(up)">
                                      <p:cBhvr>
                                        <p:cTn id="20" dur="500"/>
                                        <p:tgtEl>
                                          <p:spTgt spid="17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5" name="Table 175"/>
          <p:cNvGraphicFramePr/>
          <p:nvPr>
            <p:extLst>
              <p:ext uri="{D42A27DB-BD31-4B8C-83A1-F6EECF244321}">
                <p14:modId xmlns:p14="http://schemas.microsoft.com/office/powerpoint/2010/main" val="3388016325"/>
              </p:ext>
            </p:extLst>
          </p:nvPr>
        </p:nvGraphicFramePr>
        <p:xfrm>
          <a:off x="3159015" y="1904956"/>
          <a:ext cx="5040540" cy="4482460"/>
        </p:xfrm>
        <a:graphic>
          <a:graphicData uri="http://schemas.openxmlformats.org/drawingml/2006/table">
            <a:tbl>
              <a:tblPr firstRow="1"/>
              <a:tblGrid>
                <a:gridCol w="280245">
                  <a:extLst>
                    <a:ext uri="{9D8B030D-6E8A-4147-A177-3AD203B41FA5}">
                      <a16:colId xmlns:a16="http://schemas.microsoft.com/office/drawing/2014/main" val="20000"/>
                    </a:ext>
                  </a:extLst>
                </a:gridCol>
                <a:gridCol w="2072813">
                  <a:extLst>
                    <a:ext uri="{9D8B030D-6E8A-4147-A177-3AD203B41FA5}">
                      <a16:colId xmlns:a16="http://schemas.microsoft.com/office/drawing/2014/main" val="20001"/>
                    </a:ext>
                  </a:extLst>
                </a:gridCol>
                <a:gridCol w="282357">
                  <a:extLst>
                    <a:ext uri="{9D8B030D-6E8A-4147-A177-3AD203B41FA5}">
                      <a16:colId xmlns:a16="http://schemas.microsoft.com/office/drawing/2014/main" val="20002"/>
                    </a:ext>
                  </a:extLst>
                </a:gridCol>
                <a:gridCol w="2405125">
                  <a:extLst>
                    <a:ext uri="{9D8B030D-6E8A-4147-A177-3AD203B41FA5}">
                      <a16:colId xmlns:a16="http://schemas.microsoft.com/office/drawing/2014/main" val="20003"/>
                    </a:ext>
                  </a:extLst>
                </a:gridCol>
              </a:tblGrid>
              <a:tr h="224123">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2"/>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2"/>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2"/>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2"/>
                      <a:srcRect/>
                      <a:tile tx="0" ty="0" sx="100000" sy="100000" flip="none" algn="tl"/>
                    </a:blipFill>
                  </a:tcPr>
                </a:tc>
                <a:extLst>
                  <a:ext uri="{0D108BD9-81ED-4DB2-BD59-A6C34878D82A}">
                    <a16:rowId xmlns:a16="http://schemas.microsoft.com/office/drawing/2014/main" val="10000"/>
                  </a:ext>
                </a:extLst>
              </a:tr>
              <a:tr h="224123">
                <a:tc gridSpan="2">
                  <a:txBody>
                    <a:bodyPr/>
                    <a:lstStyle/>
                    <a:p>
                      <a:pPr lvl="0" defTabSz="914400">
                        <a:defRPr>
                          <a:solidFill>
                            <a:srgbClr val="000000"/>
                          </a:solidFill>
                        </a:defRPr>
                      </a:pPr>
                      <a:r>
                        <a:rPr sz="900" b="1" spc="56" err="1">
                          <a:solidFill>
                            <a:schemeClr val="bg1"/>
                          </a:solidFill>
                          <a:latin typeface="Century Gothic" panose="020B0502020202020204" pitchFamily="34" charset="0"/>
                        </a:rPr>
                        <a:t>Activos</a:t>
                      </a:r>
                      <a:r>
                        <a:rPr sz="900" b="1" spc="56">
                          <a:solidFill>
                            <a:schemeClr val="bg1"/>
                          </a:solidFill>
                          <a:latin typeface="Century Gothic" panose="020B0502020202020204" pitchFamily="34" charset="0"/>
                        </a:rPr>
                        <a:t> Corrientes</a:t>
                      </a:r>
                    </a:p>
                  </a:txBody>
                  <a:tcPr marL="35718" marR="35718" marT="35718" marB="35718" anchor="ctr" horzOverflow="overflow">
                    <a:lnL w="12700">
                      <a:noFill/>
                      <a:miter lim="400000"/>
                    </a:lnL>
                    <a:lnR w="12700">
                      <a:noFill/>
                      <a:miter lim="400000"/>
                    </a:lnR>
                    <a:lnT w="12700">
                      <a:noFill/>
                      <a:miter lim="400000"/>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tc gridSpan="2">
                  <a:txBody>
                    <a:bodyPr/>
                    <a:lstStyle/>
                    <a:p>
                      <a:pPr lvl="0" defTabSz="914400">
                        <a:defRPr>
                          <a:solidFill>
                            <a:srgbClr val="000000"/>
                          </a:solidFill>
                        </a:defRPr>
                      </a:pPr>
                      <a:r>
                        <a:rPr sz="900" b="1" spc="56">
                          <a:solidFill>
                            <a:schemeClr val="bg1"/>
                          </a:solidFill>
                          <a:latin typeface="Century Gothic" panose="020B0502020202020204" pitchFamily="34" charset="0"/>
                        </a:rPr>
                        <a:t>Pasivos Corrientes</a:t>
                      </a:r>
                    </a:p>
                  </a:txBody>
                  <a:tcPr marL="35718" marR="35718" marT="35718" marB="35718" anchor="ctr" horzOverflow="overflow">
                    <a:lnL w="12700">
                      <a:noFill/>
                      <a:miter lim="400000"/>
                    </a:lnL>
                    <a:lnR w="12700">
                      <a:noFill/>
                      <a:miter lim="400000"/>
                    </a:lnR>
                    <a:lnT w="12700">
                      <a:noFill/>
                      <a:miter lim="400000"/>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01"/>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lang="es-CO" sz="900" spc="56">
                          <a:solidFill>
                            <a:schemeClr val="accent1"/>
                          </a:solidFill>
                          <a:latin typeface="Century Gothic" panose="020B0502020202020204" pitchFamily="34" charset="0"/>
                        </a:rPr>
                        <a:t>Efectivo y Equivalentes</a:t>
                      </a:r>
                      <a:endParaRPr sz="9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Obligaciones Bancarias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Inversiones Temporales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Cuentas x Pagar</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Cuentas x Cobrar</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Impuestos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Deudores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Ingresos Anticipados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Inventarios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Interés Anticipado</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a:solidFill>
                            <a:srgbClr val="000000"/>
                          </a:solidFill>
                        </a:defRPr>
                      </a:pPr>
                      <a:r>
                        <a:rPr sz="900" spc="56">
                          <a:solidFill>
                            <a:schemeClr val="accent1"/>
                          </a:solidFill>
                          <a:latin typeface="Century Gothic" panose="020B0502020202020204" pitchFamily="34" charset="0"/>
                        </a:rPr>
                        <a:t>Materia Prima</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Prestaciones Sociales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a:solidFill>
                            <a:srgbClr val="000000"/>
                          </a:solidFill>
                        </a:defRPr>
                      </a:pPr>
                      <a:r>
                        <a:rPr sz="900" spc="56">
                          <a:solidFill>
                            <a:schemeClr val="accent1"/>
                          </a:solidFill>
                          <a:latin typeface="Century Gothic" panose="020B0502020202020204" pitchFamily="34" charset="0"/>
                        </a:rPr>
                        <a:t>Producto en Proceso</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Impuestos x Pagar</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a:solidFill>
                            <a:srgbClr val="000000"/>
                          </a:solidFill>
                        </a:defRPr>
                      </a:pPr>
                      <a:r>
                        <a:rPr sz="900" spc="56">
                          <a:solidFill>
                            <a:schemeClr val="accent1"/>
                          </a:solidFill>
                          <a:latin typeface="Century Gothic" panose="020B0502020202020204" pitchFamily="34" charset="0"/>
                        </a:rPr>
                        <a:t>Producto Terminado</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Dividendos x Pagar</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9"/>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err="1">
                          <a:solidFill>
                            <a:schemeClr val="accent1"/>
                          </a:solidFill>
                          <a:latin typeface="Century Gothic" panose="020B0502020202020204" pitchFamily="34" charset="0"/>
                        </a:rPr>
                        <a:t>Pagos</a:t>
                      </a:r>
                      <a:r>
                        <a:rPr sz="900" spc="56">
                          <a:solidFill>
                            <a:schemeClr val="accent1"/>
                          </a:solidFill>
                          <a:latin typeface="Century Gothic" panose="020B0502020202020204" pitchFamily="34" charset="0"/>
                        </a:rPr>
                        <a:t> </a:t>
                      </a:r>
                      <a:r>
                        <a:rPr sz="900" spc="56" err="1">
                          <a:solidFill>
                            <a:schemeClr val="accent1"/>
                          </a:solidFill>
                          <a:latin typeface="Century Gothic" panose="020B0502020202020204" pitchFamily="34" charset="0"/>
                        </a:rPr>
                        <a:t>Anticipados</a:t>
                      </a:r>
                      <a:endParaRPr sz="9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gridSpan="2">
                  <a:txBody>
                    <a:bodyPr/>
                    <a:lstStyle/>
                    <a:p>
                      <a:pPr lvl="0" defTabSz="914400">
                        <a:defRPr>
                          <a:solidFill>
                            <a:srgbClr val="000000"/>
                          </a:solidFill>
                        </a:defRPr>
                      </a:pPr>
                      <a:r>
                        <a:rPr sz="900" b="1" spc="56">
                          <a:solidFill>
                            <a:schemeClr val="bg1"/>
                          </a:solidFill>
                          <a:latin typeface="Century Gothic" panose="020B0502020202020204" pitchFamily="34" charset="0"/>
                        </a:rPr>
                        <a:t>Pasivos </a:t>
                      </a:r>
                      <a:r>
                        <a:rPr lang="es-ES" sz="900" b="1" spc="56">
                          <a:solidFill>
                            <a:schemeClr val="bg1"/>
                          </a:solidFill>
                          <a:latin typeface="Century Gothic" panose="020B0502020202020204" pitchFamily="34" charset="0"/>
                        </a:rPr>
                        <a:t>No Corrientes</a:t>
                      </a:r>
                      <a:endParaRPr sz="9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10"/>
                  </a:ext>
                </a:extLst>
              </a:tr>
              <a:tr h="224123">
                <a:tc gridSpan="2">
                  <a:txBody>
                    <a:bodyPr/>
                    <a:lstStyle/>
                    <a:p>
                      <a:pPr lvl="0" defTabSz="914400">
                        <a:defRPr>
                          <a:solidFill>
                            <a:srgbClr val="000000"/>
                          </a:solidFill>
                        </a:defRPr>
                      </a:pPr>
                      <a:r>
                        <a:rPr sz="900" b="1" spc="56" err="1">
                          <a:solidFill>
                            <a:schemeClr val="bg1"/>
                          </a:solidFill>
                          <a:latin typeface="Century Gothic" panose="020B0502020202020204" pitchFamily="34" charset="0"/>
                        </a:rPr>
                        <a:t>Activos</a:t>
                      </a:r>
                      <a:r>
                        <a:rPr sz="900" b="1" spc="56">
                          <a:solidFill>
                            <a:schemeClr val="bg1"/>
                          </a:solidFill>
                          <a:latin typeface="Century Gothic" panose="020B0502020202020204" pitchFamily="34" charset="0"/>
                        </a:rPr>
                        <a:t> </a:t>
                      </a:r>
                      <a:r>
                        <a:rPr lang="es-ES" sz="900" b="1" spc="56">
                          <a:solidFill>
                            <a:schemeClr val="bg1"/>
                          </a:solidFill>
                          <a:latin typeface="Century Gothic" panose="020B0502020202020204" pitchFamily="34" charset="0"/>
                        </a:rPr>
                        <a:t>No Corrientes</a:t>
                      </a:r>
                      <a:endParaRPr sz="9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err="1">
                          <a:solidFill>
                            <a:schemeClr val="accent1"/>
                          </a:solidFill>
                          <a:latin typeface="Century Gothic" panose="020B0502020202020204" pitchFamily="34" charset="0"/>
                        </a:rPr>
                        <a:t>Pr</a:t>
                      </a:r>
                      <a:r>
                        <a:rPr lang="es-CO" sz="900" spc="56">
                          <a:solidFill>
                            <a:schemeClr val="accent1"/>
                          </a:solidFill>
                          <a:latin typeface="Century Gothic" panose="020B0502020202020204" pitchFamily="34" charset="0"/>
                        </a:rPr>
                        <a:t>é</a:t>
                      </a:r>
                      <a:r>
                        <a:rPr sz="900" spc="56" err="1">
                          <a:solidFill>
                            <a:schemeClr val="accent1"/>
                          </a:solidFill>
                          <a:latin typeface="Century Gothic" panose="020B0502020202020204" pitchFamily="34" charset="0"/>
                        </a:rPr>
                        <a:t>stamos</a:t>
                      </a:r>
                      <a:r>
                        <a:rPr sz="900" spc="56">
                          <a:solidFill>
                            <a:schemeClr val="accent1"/>
                          </a:solidFill>
                          <a:latin typeface="Century Gothic" panose="020B0502020202020204" pitchFamily="34" charset="0"/>
                        </a:rPr>
                        <a:t> a Largo </a:t>
                      </a:r>
                      <a:r>
                        <a:rPr sz="900" spc="56" err="1">
                          <a:solidFill>
                            <a:schemeClr val="accent1"/>
                          </a:solidFill>
                          <a:latin typeface="Century Gothic" panose="020B0502020202020204" pitchFamily="34" charset="0"/>
                        </a:rPr>
                        <a:t>Plazo</a:t>
                      </a:r>
                      <a:endParaRPr sz="9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Terrenos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Bonos Corporativos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2"/>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Edificios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gridSpan="2">
                  <a:txBody>
                    <a:bodyPr/>
                    <a:lstStyle/>
                    <a:p>
                      <a:pPr lvl="0" defTabSz="914400">
                        <a:defRPr>
                          <a:solidFill>
                            <a:srgbClr val="000000"/>
                          </a:solidFill>
                        </a:defRPr>
                      </a:pPr>
                      <a:r>
                        <a:rPr sz="900" b="1" spc="56" err="1">
                          <a:solidFill>
                            <a:schemeClr val="bg1"/>
                          </a:solidFill>
                          <a:latin typeface="Century Gothic" panose="020B0502020202020204" pitchFamily="34" charset="0"/>
                        </a:rPr>
                        <a:t>Patrimonio</a:t>
                      </a:r>
                      <a:endParaRPr sz="9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13"/>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Planta &amp; Equipo</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dirty="0">
                          <a:solidFill>
                            <a:schemeClr val="accent1"/>
                          </a:solidFill>
                          <a:latin typeface="Century Gothic" panose="020B0502020202020204" pitchFamily="34" charset="0"/>
                        </a:rPr>
                        <a:t>Capital</a:t>
                      </a:r>
                      <a:r>
                        <a:rPr lang="es-CO" sz="900" spc="56" dirty="0">
                          <a:solidFill>
                            <a:schemeClr val="accent1"/>
                          </a:solidFill>
                          <a:latin typeface="Century Gothic" panose="020B0502020202020204" pitchFamily="34" charset="0"/>
                        </a:rPr>
                        <a:t> Suscrito</a:t>
                      </a:r>
                      <a:endParaRPr sz="900" spc="56"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4"/>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Muebles &amp; Enseres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Utilidades Acumuladas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5"/>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Vehículos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Utilidad del Periodo</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6"/>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Intangibles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Reservas Legales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7"/>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Inversiones </a:t>
                      </a:r>
                      <a:r>
                        <a:rPr sz="900" spc="56" err="1">
                          <a:solidFill>
                            <a:schemeClr val="accent1"/>
                          </a:solidFill>
                          <a:latin typeface="Century Gothic" panose="020B0502020202020204" pitchFamily="34" charset="0"/>
                        </a:rPr>
                        <a:t>Permanentes</a:t>
                      </a:r>
                      <a:endParaRPr sz="9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r>
                        <a:rPr lang="es-CO" sz="900">
                          <a:solidFill>
                            <a:schemeClr val="accent1"/>
                          </a:solidFill>
                          <a:latin typeface="Century Gothic" panose="020B0502020202020204" pitchFamily="34" charset="0"/>
                        </a:rPr>
                        <a:t>ORI</a:t>
                      </a: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9"/>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endParaRPr sz="9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20"/>
                  </a:ext>
                </a:extLst>
              </a:tr>
            </a:tbl>
          </a:graphicData>
        </a:graphic>
      </p:graphicFrame>
      <p:sp>
        <p:nvSpPr>
          <p:cNvPr id="181" name="Shape 181"/>
          <p:cNvSpPr/>
          <p:nvPr/>
        </p:nvSpPr>
        <p:spPr>
          <a:xfrm>
            <a:off x="8835943" y="2997030"/>
            <a:ext cx="2774688" cy="903127"/>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normAutofit/>
          </a:bodyPr>
          <a:lstStyle>
            <a:lvl1pPr>
              <a:spcBef>
                <a:spcPts val="4200"/>
              </a:spcBef>
              <a:defRPr sz="2000"/>
            </a:lvl1pPr>
          </a:lstStyle>
          <a:p>
            <a:pPr lvl="0">
              <a:defRPr sz="1800">
                <a:solidFill>
                  <a:srgbClr val="000000"/>
                </a:solidFill>
              </a:defRPr>
            </a:pPr>
            <a:r>
              <a:rPr sz="1600" b="1" err="1">
                <a:solidFill>
                  <a:schemeClr val="accent6"/>
                </a:solidFill>
                <a:latin typeface="Century Gothic" panose="020B0502020202020204" pitchFamily="34" charset="0"/>
              </a:rPr>
              <a:t>Recursos</a:t>
            </a:r>
            <a:r>
              <a:rPr sz="1600" b="1">
                <a:solidFill>
                  <a:schemeClr val="accent6"/>
                </a:solidFill>
                <a:latin typeface="Century Gothic" panose="020B0502020202020204" pitchFamily="34" charset="0"/>
              </a:rPr>
              <a:t> </a:t>
            </a:r>
            <a:r>
              <a:rPr sz="1600" b="1" err="1">
                <a:solidFill>
                  <a:schemeClr val="accent6"/>
                </a:solidFill>
                <a:latin typeface="Century Gothic" panose="020B0502020202020204" pitchFamily="34" charset="0"/>
              </a:rPr>
              <a:t>Ajenos</a:t>
            </a:r>
            <a:endParaRPr sz="1600" b="1">
              <a:solidFill>
                <a:schemeClr val="accent6"/>
              </a:solidFill>
              <a:latin typeface="Century Gothic" panose="020B0502020202020204" pitchFamily="34" charset="0"/>
            </a:endParaRPr>
          </a:p>
        </p:txBody>
      </p:sp>
      <p:sp>
        <p:nvSpPr>
          <p:cNvPr id="182" name="Shape 182"/>
          <p:cNvSpPr/>
          <p:nvPr/>
        </p:nvSpPr>
        <p:spPr>
          <a:xfrm>
            <a:off x="8621486" y="5162621"/>
            <a:ext cx="1964791" cy="903127"/>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normAutofit/>
          </a:bodyPr>
          <a:lstStyle>
            <a:lvl1pPr>
              <a:spcBef>
                <a:spcPts val="4200"/>
              </a:spcBef>
              <a:defRPr sz="2000"/>
            </a:lvl1pPr>
          </a:lstStyle>
          <a:p>
            <a:pPr lvl="0" algn="ctr">
              <a:defRPr sz="1800">
                <a:solidFill>
                  <a:srgbClr val="000000"/>
                </a:solidFill>
              </a:defRPr>
            </a:pPr>
            <a:r>
              <a:rPr sz="1600" b="1" err="1">
                <a:solidFill>
                  <a:schemeClr val="accent1"/>
                </a:solidFill>
                <a:latin typeface="Century Gothic" panose="020B0502020202020204" pitchFamily="34" charset="0"/>
              </a:rPr>
              <a:t>Recursos</a:t>
            </a:r>
            <a:r>
              <a:rPr sz="1600" b="1">
                <a:solidFill>
                  <a:schemeClr val="accent1"/>
                </a:solidFill>
                <a:latin typeface="Century Gothic" panose="020B0502020202020204" pitchFamily="34" charset="0"/>
              </a:rPr>
              <a:t> </a:t>
            </a:r>
            <a:r>
              <a:rPr sz="1600" b="1" err="1">
                <a:solidFill>
                  <a:schemeClr val="accent1"/>
                </a:solidFill>
                <a:latin typeface="Century Gothic" panose="020B0502020202020204" pitchFamily="34" charset="0"/>
              </a:rPr>
              <a:t>Propios</a:t>
            </a:r>
            <a:endParaRPr sz="1600" b="1">
              <a:solidFill>
                <a:schemeClr val="accent1"/>
              </a:solidFill>
              <a:latin typeface="Century Gothic" panose="020B0502020202020204" pitchFamily="34" charset="0"/>
            </a:endParaRPr>
          </a:p>
        </p:txBody>
      </p:sp>
      <p:sp>
        <p:nvSpPr>
          <p:cNvPr id="14" name="Title 1"/>
          <p:cNvSpPr>
            <a:spLocks noGrp="1"/>
          </p:cNvSpPr>
          <p:nvPr>
            <p:ph type="title"/>
          </p:nvPr>
        </p:nvSpPr>
        <p:spPr>
          <a:xfrm>
            <a:off x="438687" y="993246"/>
            <a:ext cx="10645869" cy="803647"/>
          </a:xfrm>
        </p:spPr>
        <p:txBody>
          <a:bodyPr/>
          <a:lstStyle/>
          <a:p>
            <a:r>
              <a:rPr lang="es-ES_tradnl">
                <a:latin typeface="Century Gothic" panose="020B0502020202020204" pitchFamily="34" charset="0"/>
              </a:rPr>
              <a:t>EL ESTADO DE SITUACIÓN FINANCIERA</a:t>
            </a:r>
          </a:p>
        </p:txBody>
      </p:sp>
      <p:sp>
        <p:nvSpPr>
          <p:cNvPr id="2" name="Cerrar llave 1"/>
          <p:cNvSpPr/>
          <p:nvPr/>
        </p:nvSpPr>
        <p:spPr>
          <a:xfrm>
            <a:off x="8199555" y="2090057"/>
            <a:ext cx="421931" cy="2717074"/>
          </a:xfrm>
          <a:prstGeom prst="rightBrace">
            <a:avLst/>
          </a:prstGeom>
          <a:ln>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13" name="Cerrar llave 12"/>
          <p:cNvSpPr/>
          <p:nvPr/>
        </p:nvSpPr>
        <p:spPr>
          <a:xfrm>
            <a:off x="8255656" y="4807131"/>
            <a:ext cx="421931" cy="1804408"/>
          </a:xfrm>
          <a:prstGeom prst="rightBrace">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3" name="Rectángulo 2">
            <a:extLst>
              <a:ext uri="{FF2B5EF4-FFF2-40B4-BE49-F238E27FC236}">
                <a16:creationId xmlns:a16="http://schemas.microsoft.com/office/drawing/2014/main" id="{396BD728-41E9-340B-A5AA-676829A4916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1D074728-B169-1924-49D4-7A840B2B5A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B1EB8823-F943-319F-E8AB-AFE412E1C29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EBFD4761-AACF-DBC4-C411-C79EE22547A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27</a:t>
            </a:fld>
            <a:endParaRPr lang="en-US" sz="2000" b="1">
              <a:latin typeface="Century Gothic" panose="020B0502020202020204" pitchFamily="34" charset="0"/>
            </a:endParaRPr>
          </a:p>
        </p:txBody>
      </p:sp>
    </p:spTree>
    <p:extLst>
      <p:ext uri="{BB962C8B-B14F-4D97-AF65-F5344CB8AC3E}">
        <p14:creationId xmlns:p14="http://schemas.microsoft.com/office/powerpoint/2010/main" val="21786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81"/>
                                        </p:tgtEl>
                                        <p:attrNameLst>
                                          <p:attrName>style.visibility</p:attrName>
                                        </p:attrNameLst>
                                      </p:cBhvr>
                                      <p:to>
                                        <p:strVal val="visible"/>
                                      </p:to>
                                    </p:set>
                                    <p:animEffect transition="in" filter="barn(inVertical)">
                                      <p:cBhvr>
                                        <p:cTn id="10" dur="500"/>
                                        <p:tgtEl>
                                          <p:spTgt spid="18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barn(inVertical)">
                                      <p:cBhvr>
                                        <p:cTn id="15" dur="500"/>
                                        <p:tgtEl>
                                          <p:spTgt spid="13"/>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182"/>
                                        </p:tgtEl>
                                        <p:attrNameLst>
                                          <p:attrName>style.visibility</p:attrName>
                                        </p:attrNameLst>
                                      </p:cBhvr>
                                      <p:to>
                                        <p:strVal val="visible"/>
                                      </p:to>
                                    </p:set>
                                    <p:animEffect transition="in" filter="barn(inVertical)">
                                      <p:cBhvr>
                                        <p:cTn id="18" dur="500"/>
                                        <p:tgtEl>
                                          <p:spTgt spid="1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 grpId="0" animBg="1"/>
      <p:bldP spid="182" grpId="0" animBg="1"/>
      <p:bldP spid="2" grpId="0" animBg="1"/>
      <p:bldP spid="1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38687" y="993246"/>
            <a:ext cx="10645869" cy="803647"/>
          </a:xfrm>
        </p:spPr>
        <p:txBody>
          <a:bodyPr/>
          <a:lstStyle/>
          <a:p>
            <a:r>
              <a:rPr lang="es-ES_tradnl">
                <a:latin typeface="Century Gothic" panose="020B0502020202020204" pitchFamily="34" charset="0"/>
              </a:rPr>
              <a:t>EL ESTADO DE SITUACIÓN FINANCIERA</a:t>
            </a:r>
          </a:p>
        </p:txBody>
      </p:sp>
      <p:sp>
        <p:nvSpPr>
          <p:cNvPr id="3" name="Marcador de contenido 2"/>
          <p:cNvSpPr>
            <a:spLocks noGrp="1"/>
          </p:cNvSpPr>
          <p:nvPr>
            <p:ph idx="1"/>
          </p:nvPr>
        </p:nvSpPr>
        <p:spPr>
          <a:xfrm>
            <a:off x="581193" y="2186451"/>
            <a:ext cx="11029615" cy="3678303"/>
          </a:xfrm>
        </p:spPr>
        <p:txBody>
          <a:bodyPr>
            <a:normAutofit/>
          </a:bodyPr>
          <a:lstStyle/>
          <a:p>
            <a:pPr marL="0" indent="0" algn="just">
              <a:buNone/>
            </a:pPr>
            <a:r>
              <a:rPr lang="es-ES">
                <a:solidFill>
                  <a:schemeClr val="accent1"/>
                </a:solidFill>
                <a:latin typeface="Century Gothic" panose="020B0502020202020204" pitchFamily="34" charset="0"/>
              </a:rPr>
              <a:t>Construyamos un Estado de Situación Financiera muy sencillo. Usted va a montar una empresa y cuenta con la siguiente información.</a:t>
            </a:r>
          </a:p>
          <a:p>
            <a:pPr marL="0" indent="0" algn="just">
              <a:buNone/>
            </a:pPr>
            <a:endParaRPr lang="es-ES">
              <a:solidFill>
                <a:schemeClr val="accent1"/>
              </a:solidFill>
              <a:latin typeface="Century Gothic" panose="020B0502020202020204" pitchFamily="34" charset="0"/>
            </a:endParaRPr>
          </a:p>
          <a:p>
            <a:pPr algn="just">
              <a:buFont typeface="Wingdings" pitchFamily="2" charset="2"/>
              <a:buChar char="q"/>
            </a:pPr>
            <a:r>
              <a:rPr lang="es-ES">
                <a:solidFill>
                  <a:schemeClr val="accent1"/>
                </a:solidFill>
                <a:latin typeface="Century Gothic" panose="020B0502020202020204" pitchFamily="34" charset="0"/>
              </a:rPr>
              <a:t>Usted, como socio, aporta 100 millones de pesos para montar la empresa.</a:t>
            </a:r>
          </a:p>
          <a:p>
            <a:pPr algn="just">
              <a:buFont typeface="Wingdings" pitchFamily="2" charset="2"/>
              <a:buChar char="q"/>
            </a:pPr>
            <a:endParaRPr lang="es-ES">
              <a:solidFill>
                <a:schemeClr val="accent1"/>
              </a:solidFill>
              <a:latin typeface="Century Gothic" panose="020B0502020202020204" pitchFamily="34" charset="0"/>
            </a:endParaRPr>
          </a:p>
          <a:p>
            <a:pPr algn="just">
              <a:buFont typeface="Wingdings" pitchFamily="2" charset="2"/>
              <a:buChar char="q"/>
            </a:pPr>
            <a:r>
              <a:rPr lang="es-ES">
                <a:solidFill>
                  <a:schemeClr val="accent1"/>
                </a:solidFill>
                <a:latin typeface="Century Gothic" panose="020B0502020202020204" pitchFamily="34" charset="0"/>
              </a:rPr>
              <a:t>Con esa plata, compra maquinaria que le cuesta 70 millones de pesos.</a:t>
            </a:r>
          </a:p>
          <a:p>
            <a:pPr algn="just">
              <a:buFont typeface="Wingdings" pitchFamily="2" charset="2"/>
              <a:buChar char="q"/>
            </a:pPr>
            <a:endParaRPr lang="es-ES">
              <a:solidFill>
                <a:schemeClr val="accent1"/>
              </a:solidFill>
              <a:latin typeface="Century Gothic" panose="020B0502020202020204" pitchFamily="34" charset="0"/>
            </a:endParaRPr>
          </a:p>
          <a:p>
            <a:pPr algn="just">
              <a:buFont typeface="Wingdings" pitchFamily="2" charset="2"/>
              <a:buChar char="q"/>
            </a:pPr>
            <a:r>
              <a:rPr lang="es-ES">
                <a:solidFill>
                  <a:schemeClr val="accent1"/>
                </a:solidFill>
                <a:latin typeface="Century Gothic" panose="020B0502020202020204" pitchFamily="34" charset="0"/>
              </a:rPr>
              <a:t>Luego, se da cuenta que tiene que comprar un lote y una edificación por 50 millones de pesos. La plata que le falta la adquiere de un banco.</a:t>
            </a:r>
          </a:p>
        </p:txBody>
      </p:sp>
      <p:sp>
        <p:nvSpPr>
          <p:cNvPr id="2" name="Rectángulo 1">
            <a:extLst>
              <a:ext uri="{FF2B5EF4-FFF2-40B4-BE49-F238E27FC236}">
                <a16:creationId xmlns:a16="http://schemas.microsoft.com/office/drawing/2014/main" id="{BC389CB1-F026-03F3-3D74-49724A7F071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6AB6A361-2BEC-0878-3B23-13F4CC729F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Ilustración de diseño de dibujos animados planos de concepto de inversión  de idea de dinero financiero | Vector Premium">
            <a:extLst>
              <a:ext uri="{FF2B5EF4-FFF2-40B4-BE49-F238E27FC236}">
                <a16:creationId xmlns:a16="http://schemas.microsoft.com/office/drawing/2014/main" id="{7DB880FE-9687-9884-AA9B-FEA6B53C8F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5271" y="2761376"/>
            <a:ext cx="2082371" cy="2099380"/>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007AFAF1-A188-DE4B-E9AE-B189761FACE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Marcador de número de diapositiva 3">
            <a:extLst>
              <a:ext uri="{FF2B5EF4-FFF2-40B4-BE49-F238E27FC236}">
                <a16:creationId xmlns:a16="http://schemas.microsoft.com/office/drawing/2014/main" id="{3E348AE5-FE19-FD1F-F109-B4EBCC062C6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28</a:t>
            </a:fld>
            <a:endParaRPr lang="en-US" sz="2000" b="1">
              <a:latin typeface="Century Gothic" panose="020B0502020202020204" pitchFamily="34" charset="0"/>
            </a:endParaRPr>
          </a:p>
        </p:txBody>
      </p:sp>
    </p:spTree>
    <p:extLst>
      <p:ext uri="{BB962C8B-B14F-4D97-AF65-F5344CB8AC3E}">
        <p14:creationId xmlns:p14="http://schemas.microsoft.com/office/powerpoint/2010/main" val="1366697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38687" y="993246"/>
            <a:ext cx="10645869" cy="803647"/>
          </a:xfrm>
        </p:spPr>
        <p:txBody>
          <a:bodyPr/>
          <a:lstStyle/>
          <a:p>
            <a:r>
              <a:rPr lang="es-ES_tradnl">
                <a:latin typeface="Century Gothic" panose="020B0502020202020204" pitchFamily="34" charset="0"/>
              </a:rPr>
              <a:t>EL ESTADO DE SITUACIÓN FINANCIERA</a:t>
            </a:r>
          </a:p>
        </p:txBody>
      </p:sp>
      <p:sp>
        <p:nvSpPr>
          <p:cNvPr id="3" name="Marcador de contenido 2"/>
          <p:cNvSpPr>
            <a:spLocks noGrp="1"/>
          </p:cNvSpPr>
          <p:nvPr>
            <p:ph idx="1"/>
          </p:nvPr>
        </p:nvSpPr>
        <p:spPr>
          <a:xfrm>
            <a:off x="543614" y="2186451"/>
            <a:ext cx="11067194" cy="3678303"/>
          </a:xfrm>
        </p:spPr>
        <p:txBody>
          <a:bodyPr>
            <a:normAutofit/>
          </a:bodyPr>
          <a:lstStyle/>
          <a:p>
            <a:pPr marL="0" indent="0" algn="just">
              <a:buNone/>
            </a:pPr>
            <a:r>
              <a:rPr lang="es-ES">
                <a:solidFill>
                  <a:schemeClr val="accent1"/>
                </a:solidFill>
                <a:latin typeface="Century Gothic" panose="020B0502020202020204" pitchFamily="34" charset="0"/>
              </a:rPr>
              <a:t>Construyamos un Estado de Situación Financiera muy sencillo. Usted va a montar una empresa y cuenta con la siguiente información.</a:t>
            </a:r>
          </a:p>
          <a:p>
            <a:pPr marL="0" indent="0" algn="just">
              <a:buNone/>
            </a:pPr>
            <a:endParaRPr lang="es-ES">
              <a:solidFill>
                <a:schemeClr val="accent1"/>
              </a:solidFill>
              <a:latin typeface="Century Gothic" panose="020B0502020202020204" pitchFamily="34" charset="0"/>
            </a:endParaRPr>
          </a:p>
          <a:p>
            <a:pPr algn="just">
              <a:buFont typeface="Wingdings" pitchFamily="2" charset="2"/>
              <a:buChar char="q"/>
            </a:pPr>
            <a:r>
              <a:rPr lang="es-ES" b="1" u="sng">
                <a:solidFill>
                  <a:schemeClr val="accent3">
                    <a:lumMod val="50000"/>
                  </a:schemeClr>
                </a:solidFill>
                <a:latin typeface="Century Gothic" panose="020B0502020202020204" pitchFamily="34" charset="0"/>
              </a:rPr>
              <a:t>Usted, como socio, aporta 100 millones de pesos para montar la empresa.</a:t>
            </a:r>
          </a:p>
          <a:p>
            <a:pPr algn="just">
              <a:buFont typeface="Wingdings" pitchFamily="2" charset="2"/>
              <a:buChar char="q"/>
            </a:pPr>
            <a:endParaRPr lang="es-ES">
              <a:solidFill>
                <a:schemeClr val="accent1"/>
              </a:solidFill>
              <a:latin typeface="Century Gothic" panose="020B0502020202020204" pitchFamily="34" charset="0"/>
            </a:endParaRPr>
          </a:p>
          <a:p>
            <a:pPr algn="just">
              <a:buFont typeface="Wingdings" pitchFamily="2" charset="2"/>
              <a:buChar char="q"/>
            </a:pPr>
            <a:r>
              <a:rPr lang="es-ES">
                <a:solidFill>
                  <a:schemeClr val="accent1"/>
                </a:solidFill>
                <a:latin typeface="Century Gothic" panose="020B0502020202020204" pitchFamily="34" charset="0"/>
              </a:rPr>
              <a:t>Con esa plata, compra maquinaria que le cuesta 70 millones de pesos.</a:t>
            </a:r>
          </a:p>
          <a:p>
            <a:pPr algn="just">
              <a:buFont typeface="Wingdings" pitchFamily="2" charset="2"/>
              <a:buChar char="q"/>
            </a:pPr>
            <a:endParaRPr lang="es-ES">
              <a:solidFill>
                <a:schemeClr val="accent1"/>
              </a:solidFill>
              <a:latin typeface="Century Gothic" panose="020B0502020202020204" pitchFamily="34" charset="0"/>
            </a:endParaRPr>
          </a:p>
          <a:p>
            <a:pPr algn="just">
              <a:buFont typeface="Wingdings" pitchFamily="2" charset="2"/>
              <a:buChar char="q"/>
            </a:pPr>
            <a:r>
              <a:rPr lang="es-ES">
                <a:solidFill>
                  <a:schemeClr val="accent1"/>
                </a:solidFill>
                <a:latin typeface="Century Gothic" panose="020B0502020202020204" pitchFamily="34" charset="0"/>
              </a:rPr>
              <a:t>Luego, se da cuenta que tiene que comprar un lote y una edificación por 50 millones de pesos. La plata que le falta la adquiere de un banco.</a:t>
            </a:r>
          </a:p>
        </p:txBody>
      </p:sp>
      <p:sp>
        <p:nvSpPr>
          <p:cNvPr id="2" name="Rectángulo 1">
            <a:extLst>
              <a:ext uri="{FF2B5EF4-FFF2-40B4-BE49-F238E27FC236}">
                <a16:creationId xmlns:a16="http://schemas.microsoft.com/office/drawing/2014/main" id="{174E028B-9DA7-E8E5-3F79-94E293B9FF9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682963A9-A66F-A6D3-B4DF-ADE41313FF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Ilustración de diseño de dibujos animados planos de concepto de inversión  de idea de dinero financiero | Vector Premium">
            <a:extLst>
              <a:ext uri="{FF2B5EF4-FFF2-40B4-BE49-F238E27FC236}">
                <a16:creationId xmlns:a16="http://schemas.microsoft.com/office/drawing/2014/main" id="{F5004CF6-4C3F-25DD-8D9D-76DB0048D8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5271" y="2761376"/>
            <a:ext cx="2082371" cy="2099380"/>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B2CC102D-C7B9-03B2-E39B-580167D3A0D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6D5CA4B7-1235-272D-91D6-73F232F36C3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29</a:t>
            </a:fld>
            <a:endParaRPr lang="en-US" sz="2000" b="1">
              <a:latin typeface="Century Gothic" panose="020B0502020202020204" pitchFamily="34" charset="0"/>
            </a:endParaRPr>
          </a:p>
        </p:txBody>
      </p:sp>
    </p:spTree>
    <p:extLst>
      <p:ext uri="{BB962C8B-B14F-4D97-AF65-F5344CB8AC3E}">
        <p14:creationId xmlns:p14="http://schemas.microsoft.com/office/powerpoint/2010/main" val="42282189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a:spLocks noGrp="1"/>
          </p:cNvSpPr>
          <p:nvPr>
            <p:ph type="title"/>
          </p:nvPr>
        </p:nvSpPr>
        <p:spPr>
          <a:xfrm>
            <a:off x="438687" y="993246"/>
            <a:ext cx="10645869" cy="803647"/>
          </a:xfrm>
        </p:spPr>
        <p:txBody>
          <a:bodyPr/>
          <a:lstStyle/>
          <a:p>
            <a:r>
              <a:rPr lang="es-ES_tradnl">
                <a:latin typeface="Century Gothic" panose="020B0502020202020204" pitchFamily="34" charset="0"/>
              </a:rPr>
              <a:t>EL ESTADO DE SITUACIÓN FINANCIERA</a:t>
            </a:r>
          </a:p>
        </p:txBody>
      </p:sp>
      <p:sp>
        <p:nvSpPr>
          <p:cNvPr id="5" name="CuadroTexto 4"/>
          <p:cNvSpPr txBox="1"/>
          <p:nvPr/>
        </p:nvSpPr>
        <p:spPr>
          <a:xfrm>
            <a:off x="2441731" y="2014486"/>
            <a:ext cx="6162264" cy="369332"/>
          </a:xfrm>
          <a:prstGeom prst="rect">
            <a:avLst/>
          </a:prstGeom>
          <a:noFill/>
        </p:spPr>
        <p:txBody>
          <a:bodyPr wrap="none" rtlCol="0">
            <a:spAutoFit/>
          </a:bodyPr>
          <a:lstStyle/>
          <a:p>
            <a:pPr algn="ctr"/>
            <a:r>
              <a:rPr lang="es-ES" b="1">
                <a:solidFill>
                  <a:srgbClr val="D7A700"/>
                </a:solidFill>
                <a:latin typeface="Century Gothic" panose="020B0502020202020204" pitchFamily="34" charset="0"/>
              </a:rPr>
              <a:t>¿Cómo se ve nuestro Estado de Situación Financiera?</a:t>
            </a:r>
          </a:p>
        </p:txBody>
      </p:sp>
      <p:sp>
        <p:nvSpPr>
          <p:cNvPr id="6" name="Rectángulo 5"/>
          <p:cNvSpPr/>
          <p:nvPr/>
        </p:nvSpPr>
        <p:spPr>
          <a:xfrm>
            <a:off x="2713799" y="2549373"/>
            <a:ext cx="2794000" cy="2977444"/>
          </a:xfrm>
          <a:prstGeom prst="rect">
            <a:avLst/>
          </a:prstGeom>
          <a:noFill/>
          <a:ln w="28575">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solidFill>
                <a:schemeClr val="accent1"/>
              </a:solidFill>
            </a:endParaRPr>
          </a:p>
        </p:txBody>
      </p:sp>
      <p:sp>
        <p:nvSpPr>
          <p:cNvPr id="7" name="Rectángulo 6"/>
          <p:cNvSpPr/>
          <p:nvPr/>
        </p:nvSpPr>
        <p:spPr>
          <a:xfrm>
            <a:off x="5537926" y="2556363"/>
            <a:ext cx="2794000" cy="2977444"/>
          </a:xfrm>
          <a:prstGeom prst="rect">
            <a:avLst/>
          </a:prstGeom>
          <a:noFill/>
          <a:ln w="28575">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solidFill>
                <a:schemeClr val="accent1"/>
              </a:solidFill>
            </a:endParaRPr>
          </a:p>
        </p:txBody>
      </p:sp>
      <p:sp>
        <p:nvSpPr>
          <p:cNvPr id="8" name="CuadroTexto 7"/>
          <p:cNvSpPr txBox="1"/>
          <p:nvPr/>
        </p:nvSpPr>
        <p:spPr>
          <a:xfrm>
            <a:off x="2333340" y="5728534"/>
            <a:ext cx="2427505" cy="369332"/>
          </a:xfrm>
          <a:prstGeom prst="rect">
            <a:avLst/>
          </a:prstGeom>
          <a:noFill/>
        </p:spPr>
        <p:txBody>
          <a:bodyPr wrap="none" rtlCol="0">
            <a:spAutoFit/>
          </a:bodyPr>
          <a:lstStyle/>
          <a:p>
            <a:pPr algn="ctr"/>
            <a:r>
              <a:rPr lang="es-ES">
                <a:solidFill>
                  <a:schemeClr val="accent1"/>
                </a:solidFill>
                <a:latin typeface="Century Gothic" panose="020B0502020202020204" pitchFamily="34" charset="0"/>
              </a:rPr>
              <a:t>TOTAL ACTIVO </a:t>
            </a:r>
            <a:r>
              <a:rPr lang="es-ES" b="1">
                <a:solidFill>
                  <a:srgbClr val="D7A700"/>
                </a:solidFill>
                <a:latin typeface="Century Gothic" panose="020B0502020202020204" pitchFamily="34" charset="0"/>
              </a:rPr>
              <a:t>=</a:t>
            </a:r>
            <a:r>
              <a:rPr lang="es-ES">
                <a:solidFill>
                  <a:schemeClr val="accent1"/>
                </a:solidFill>
                <a:latin typeface="Century Gothic" panose="020B0502020202020204" pitchFamily="34" charset="0"/>
              </a:rPr>
              <a:t> 100</a:t>
            </a:r>
          </a:p>
        </p:txBody>
      </p:sp>
      <p:sp>
        <p:nvSpPr>
          <p:cNvPr id="9" name="CuadroTexto 8"/>
          <p:cNvSpPr txBox="1"/>
          <p:nvPr/>
        </p:nvSpPr>
        <p:spPr>
          <a:xfrm>
            <a:off x="4889683" y="5728534"/>
            <a:ext cx="4115230" cy="369332"/>
          </a:xfrm>
          <a:prstGeom prst="rect">
            <a:avLst/>
          </a:prstGeom>
          <a:noFill/>
        </p:spPr>
        <p:txBody>
          <a:bodyPr wrap="none" rtlCol="0">
            <a:spAutoFit/>
          </a:bodyPr>
          <a:lstStyle/>
          <a:p>
            <a:pPr algn="ctr"/>
            <a:r>
              <a:rPr lang="es-ES">
                <a:solidFill>
                  <a:schemeClr val="accent1"/>
                </a:solidFill>
                <a:latin typeface="Century Gothic" panose="020B0502020202020204" pitchFamily="34" charset="0"/>
              </a:rPr>
              <a:t>TOTAL PASIVO </a:t>
            </a:r>
            <a:r>
              <a:rPr lang="es-ES" b="1">
                <a:solidFill>
                  <a:srgbClr val="D7A700"/>
                </a:solidFill>
                <a:latin typeface="Century Gothic" panose="020B0502020202020204" pitchFamily="34" charset="0"/>
              </a:rPr>
              <a:t>+</a:t>
            </a:r>
            <a:r>
              <a:rPr lang="es-ES">
                <a:solidFill>
                  <a:srgbClr val="D7A700"/>
                </a:solidFill>
                <a:latin typeface="Century Gothic" panose="020B0502020202020204" pitchFamily="34" charset="0"/>
              </a:rPr>
              <a:t> </a:t>
            </a:r>
            <a:r>
              <a:rPr lang="es-ES">
                <a:solidFill>
                  <a:schemeClr val="accent1"/>
                </a:solidFill>
                <a:latin typeface="Century Gothic" panose="020B0502020202020204" pitchFamily="34" charset="0"/>
              </a:rPr>
              <a:t>PATRIMONIO </a:t>
            </a:r>
            <a:r>
              <a:rPr lang="es-ES" b="1">
                <a:solidFill>
                  <a:srgbClr val="D7A700"/>
                </a:solidFill>
                <a:latin typeface="Century Gothic" panose="020B0502020202020204" pitchFamily="34" charset="0"/>
              </a:rPr>
              <a:t>=</a:t>
            </a:r>
            <a:r>
              <a:rPr lang="es-ES">
                <a:solidFill>
                  <a:schemeClr val="accent1"/>
                </a:solidFill>
                <a:latin typeface="Century Gothic" panose="020B0502020202020204" pitchFamily="34" charset="0"/>
              </a:rPr>
              <a:t> 100</a:t>
            </a:r>
          </a:p>
        </p:txBody>
      </p:sp>
      <p:sp>
        <p:nvSpPr>
          <p:cNvPr id="10" name="Rectángulo 9"/>
          <p:cNvSpPr/>
          <p:nvPr/>
        </p:nvSpPr>
        <p:spPr>
          <a:xfrm>
            <a:off x="5522860" y="2547767"/>
            <a:ext cx="2809065" cy="1626869"/>
          </a:xfrm>
          <a:prstGeom prst="rect">
            <a:avLst/>
          </a:prstGeom>
          <a:solidFill>
            <a:schemeClr val="accent3">
              <a:lumMod val="20000"/>
              <a:lumOff val="80000"/>
            </a:schemeClr>
          </a:solidFill>
          <a:ln w="28575">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solidFill>
                <a:schemeClr val="accent1"/>
              </a:solidFill>
            </a:endParaRPr>
          </a:p>
        </p:txBody>
      </p:sp>
      <p:sp>
        <p:nvSpPr>
          <p:cNvPr id="11" name="CuadroTexto 10"/>
          <p:cNvSpPr txBox="1"/>
          <p:nvPr/>
        </p:nvSpPr>
        <p:spPr>
          <a:xfrm>
            <a:off x="5537926" y="4700333"/>
            <a:ext cx="2037738" cy="307777"/>
          </a:xfrm>
          <a:prstGeom prst="rect">
            <a:avLst/>
          </a:prstGeom>
          <a:noFill/>
        </p:spPr>
        <p:txBody>
          <a:bodyPr wrap="none" rtlCol="0">
            <a:spAutoFit/>
          </a:bodyPr>
          <a:lstStyle/>
          <a:p>
            <a:pPr algn="ctr"/>
            <a:r>
              <a:rPr lang="es-ES" sz="1400">
                <a:solidFill>
                  <a:schemeClr val="accent1"/>
                </a:solidFill>
                <a:latin typeface="Century Gothic" panose="020B0502020202020204" pitchFamily="34" charset="0"/>
              </a:rPr>
              <a:t>Capital Suscrito = 100</a:t>
            </a:r>
          </a:p>
        </p:txBody>
      </p:sp>
      <p:sp>
        <p:nvSpPr>
          <p:cNvPr id="12" name="CuadroTexto 11"/>
          <p:cNvSpPr txBox="1"/>
          <p:nvPr/>
        </p:nvSpPr>
        <p:spPr>
          <a:xfrm>
            <a:off x="2806200" y="3007585"/>
            <a:ext cx="1388522" cy="307777"/>
          </a:xfrm>
          <a:prstGeom prst="rect">
            <a:avLst/>
          </a:prstGeom>
          <a:noFill/>
        </p:spPr>
        <p:txBody>
          <a:bodyPr wrap="none" rtlCol="0">
            <a:spAutoFit/>
          </a:bodyPr>
          <a:lstStyle/>
          <a:p>
            <a:pPr algn="ctr"/>
            <a:r>
              <a:rPr lang="es-ES" sz="1400">
                <a:solidFill>
                  <a:schemeClr val="accent1"/>
                </a:solidFill>
                <a:latin typeface="Century Gothic" panose="020B0502020202020204" pitchFamily="34" charset="0"/>
              </a:rPr>
              <a:t>Efectivo = 100</a:t>
            </a:r>
          </a:p>
        </p:txBody>
      </p:sp>
      <p:sp>
        <p:nvSpPr>
          <p:cNvPr id="14" name="CuadroTexto 13"/>
          <p:cNvSpPr txBox="1"/>
          <p:nvPr/>
        </p:nvSpPr>
        <p:spPr>
          <a:xfrm>
            <a:off x="2743926" y="2590763"/>
            <a:ext cx="2780937" cy="338554"/>
          </a:xfrm>
          <a:prstGeom prst="rect">
            <a:avLst/>
          </a:prstGeom>
          <a:noFill/>
        </p:spPr>
        <p:txBody>
          <a:bodyPr wrap="square" rtlCol="0">
            <a:spAutoFit/>
          </a:bodyPr>
          <a:lstStyle/>
          <a:p>
            <a:pPr algn="ctr"/>
            <a:r>
              <a:rPr lang="es-ES" sz="1600" b="1">
                <a:solidFill>
                  <a:srgbClr val="C00000"/>
                </a:solidFill>
                <a:latin typeface="Century Gothic" panose="020B0502020202020204" pitchFamily="34" charset="0"/>
              </a:rPr>
              <a:t>ACTIVO</a:t>
            </a:r>
          </a:p>
        </p:txBody>
      </p:sp>
      <p:sp>
        <p:nvSpPr>
          <p:cNvPr id="15" name="CuadroTexto 14"/>
          <p:cNvSpPr txBox="1"/>
          <p:nvPr/>
        </p:nvSpPr>
        <p:spPr>
          <a:xfrm>
            <a:off x="5522864" y="2584397"/>
            <a:ext cx="2780937" cy="338554"/>
          </a:xfrm>
          <a:prstGeom prst="rect">
            <a:avLst/>
          </a:prstGeom>
          <a:noFill/>
        </p:spPr>
        <p:txBody>
          <a:bodyPr wrap="square" rtlCol="0">
            <a:spAutoFit/>
          </a:bodyPr>
          <a:lstStyle/>
          <a:p>
            <a:pPr algn="ctr"/>
            <a:r>
              <a:rPr lang="es-ES" sz="1600" b="1">
                <a:solidFill>
                  <a:srgbClr val="C00000"/>
                </a:solidFill>
                <a:latin typeface="Century Gothic" panose="020B0502020202020204" pitchFamily="34" charset="0"/>
              </a:rPr>
              <a:t>PASIVO</a:t>
            </a:r>
          </a:p>
        </p:txBody>
      </p:sp>
      <p:sp>
        <p:nvSpPr>
          <p:cNvPr id="16" name="CuadroTexto 15"/>
          <p:cNvSpPr txBox="1"/>
          <p:nvPr/>
        </p:nvSpPr>
        <p:spPr>
          <a:xfrm>
            <a:off x="5522863" y="4194123"/>
            <a:ext cx="2780937" cy="338554"/>
          </a:xfrm>
          <a:prstGeom prst="rect">
            <a:avLst/>
          </a:prstGeom>
          <a:noFill/>
        </p:spPr>
        <p:txBody>
          <a:bodyPr wrap="square" rtlCol="0">
            <a:spAutoFit/>
          </a:bodyPr>
          <a:lstStyle/>
          <a:p>
            <a:pPr algn="ctr"/>
            <a:r>
              <a:rPr lang="es-ES" sz="1600" b="1">
                <a:solidFill>
                  <a:srgbClr val="C00000"/>
                </a:solidFill>
                <a:latin typeface="Century Gothic" panose="020B0502020202020204" pitchFamily="34" charset="0"/>
              </a:rPr>
              <a:t>PATRIMONIO</a:t>
            </a:r>
          </a:p>
        </p:txBody>
      </p:sp>
      <p:sp>
        <p:nvSpPr>
          <p:cNvPr id="2" name="Rectángulo 1">
            <a:extLst>
              <a:ext uri="{FF2B5EF4-FFF2-40B4-BE49-F238E27FC236}">
                <a16:creationId xmlns:a16="http://schemas.microsoft.com/office/drawing/2014/main" id="{1A8DF329-8E42-E6EB-2BFE-7D345DB9274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1" name="Picture 2" descr="Clientes y aliados | Centro de Evaluación | Uniandes">
            <a:extLst>
              <a:ext uri="{FF2B5EF4-FFF2-40B4-BE49-F238E27FC236}">
                <a16:creationId xmlns:a16="http://schemas.microsoft.com/office/drawing/2014/main" id="{3850CC8F-B33A-2D30-2380-84C257A3C8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7" name="Rectángulo 16">
            <a:extLst>
              <a:ext uri="{FF2B5EF4-FFF2-40B4-BE49-F238E27FC236}">
                <a16:creationId xmlns:a16="http://schemas.microsoft.com/office/drawing/2014/main" id="{0F17BD7A-B2D3-A55B-6A06-56FC30FF001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6DC3CBDE-F417-0985-148B-39B3ECD093E9}"/>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30</a:t>
            </a:fld>
            <a:endParaRPr lang="en-US" sz="2000" b="1">
              <a:latin typeface="Century Gothic" panose="020B0502020202020204" pitchFamily="34" charset="0"/>
            </a:endParaRPr>
          </a:p>
        </p:txBody>
      </p:sp>
    </p:spTree>
    <p:extLst>
      <p:ext uri="{BB962C8B-B14F-4D97-AF65-F5344CB8AC3E}">
        <p14:creationId xmlns:p14="http://schemas.microsoft.com/office/powerpoint/2010/main" val="3879487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p:tgtEl>
                                          <p:spTgt spid="12"/>
                                        </p:tgtEl>
                                        <p:attrNameLst>
                                          <p:attrName>ppt_y</p:attrName>
                                        </p:attrNameLst>
                                      </p:cBhvr>
                                      <p:tavLst>
                                        <p:tav tm="0">
                                          <p:val>
                                            <p:strVal val="#ppt_y+#ppt_h*1.125000"/>
                                          </p:val>
                                        </p:tav>
                                        <p:tav tm="100000">
                                          <p:val>
                                            <p:strVal val="#ppt_y"/>
                                          </p:val>
                                        </p:tav>
                                      </p:tavLst>
                                    </p:anim>
                                    <p:animEffect transition="in" filter="wipe(up)">
                                      <p:cBhvr>
                                        <p:cTn id="8" dur="500"/>
                                        <p:tgtEl>
                                          <p:spTgt spid="12"/>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p:tgtEl>
                                          <p:spTgt spid="11"/>
                                        </p:tgtEl>
                                        <p:attrNameLst>
                                          <p:attrName>ppt_y</p:attrName>
                                        </p:attrNameLst>
                                      </p:cBhvr>
                                      <p:tavLst>
                                        <p:tav tm="0">
                                          <p:val>
                                            <p:strVal val="#ppt_y+#ppt_h*1.125000"/>
                                          </p:val>
                                        </p:tav>
                                        <p:tav tm="100000">
                                          <p:val>
                                            <p:strVal val="#ppt_y"/>
                                          </p:val>
                                        </p:tav>
                                      </p:tavLst>
                                    </p:anim>
                                    <p:animEffect transition="in" filter="wipe(up)">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43"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
                                        <p:tgtEl>
                                          <p:spTgt spid="8"/>
                                        </p:tgtEl>
                                      </p:cBhvr>
                                    </p:animEffect>
                                    <p:anim calcmode="lin" valueType="num">
                                      <p:cBhvr>
                                        <p:cTn id="20" dur="400" fill="hold"/>
                                        <p:tgtEl>
                                          <p:spTgt spid="8"/>
                                        </p:tgtEl>
                                        <p:attrNameLst>
                                          <p:attrName>ppt_x</p:attrName>
                                        </p:attrNameLst>
                                      </p:cBhvr>
                                      <p:tavLst>
                                        <p:tav tm="0">
                                          <p:val>
                                            <p:strVal val="#ppt_x"/>
                                          </p:val>
                                        </p:tav>
                                        <p:tav tm="100000">
                                          <p:val>
                                            <p:strVal val="#ppt_x"/>
                                          </p:val>
                                        </p:tav>
                                      </p:tavLst>
                                    </p:anim>
                                    <p:anim calcmode="lin" valueType="num">
                                      <p:cBhvr>
                                        <p:cTn id="21" dur="400" fill="hold"/>
                                        <p:tgtEl>
                                          <p:spTgt spid="8"/>
                                        </p:tgtEl>
                                        <p:attrNameLst>
                                          <p:attrName>ppt_y</p:attrName>
                                        </p:attrNameLst>
                                      </p:cBhvr>
                                      <p:tavLst>
                                        <p:tav tm="0">
                                          <p:val>
                                            <p:strVal val="#ppt_y+0.31"/>
                                          </p:val>
                                        </p:tav>
                                        <p:tav tm="100000">
                                          <p:val>
                                            <p:strVal val="#ppt_y+0.31"/>
                                          </p:val>
                                        </p:tav>
                                      </p:tavLst>
                                    </p:anim>
                                    <p:anim calcmode="lin" valueType="num">
                                      <p:cBhvr>
                                        <p:cTn id="22" dur="600" decel="50000" fill="hold">
                                          <p:stCondLst>
                                            <p:cond delay="400"/>
                                          </p:stCondLst>
                                        </p:cTn>
                                        <p:tgtEl>
                                          <p:spTgt spid="8"/>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23" dur="600" decel="50000" fill="hold">
                                          <p:stCondLst>
                                            <p:cond delay="400"/>
                                          </p:stCondLst>
                                        </p:cTn>
                                        <p:tgtEl>
                                          <p:spTgt spid="8"/>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par>
                                <p:cTn id="24" presetID="43"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100"/>
                                        <p:tgtEl>
                                          <p:spTgt spid="9"/>
                                        </p:tgtEl>
                                      </p:cBhvr>
                                    </p:animEffect>
                                    <p:anim calcmode="lin" valueType="num">
                                      <p:cBhvr>
                                        <p:cTn id="27" dur="400" fill="hold"/>
                                        <p:tgtEl>
                                          <p:spTgt spid="9"/>
                                        </p:tgtEl>
                                        <p:attrNameLst>
                                          <p:attrName>ppt_x</p:attrName>
                                        </p:attrNameLst>
                                      </p:cBhvr>
                                      <p:tavLst>
                                        <p:tav tm="0">
                                          <p:val>
                                            <p:strVal val="#ppt_x"/>
                                          </p:val>
                                        </p:tav>
                                        <p:tav tm="100000">
                                          <p:val>
                                            <p:strVal val="#ppt_x"/>
                                          </p:val>
                                        </p:tav>
                                      </p:tavLst>
                                    </p:anim>
                                    <p:anim calcmode="lin" valueType="num">
                                      <p:cBhvr>
                                        <p:cTn id="28" dur="400" fill="hold"/>
                                        <p:tgtEl>
                                          <p:spTgt spid="9"/>
                                        </p:tgtEl>
                                        <p:attrNameLst>
                                          <p:attrName>ppt_y</p:attrName>
                                        </p:attrNameLst>
                                      </p:cBhvr>
                                      <p:tavLst>
                                        <p:tav tm="0">
                                          <p:val>
                                            <p:strVal val="#ppt_y+0.31"/>
                                          </p:val>
                                        </p:tav>
                                        <p:tav tm="100000">
                                          <p:val>
                                            <p:strVal val="#ppt_y+0.31"/>
                                          </p:val>
                                        </p:tav>
                                      </p:tavLst>
                                    </p:anim>
                                    <p:anim calcmode="lin" valueType="num">
                                      <p:cBhvr>
                                        <p:cTn id="29" dur="600" decel="50000" fill="hold">
                                          <p:stCondLst>
                                            <p:cond delay="400"/>
                                          </p:stCondLst>
                                        </p:cTn>
                                        <p:tgtEl>
                                          <p:spTgt spid="9"/>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30" dur="600" decel="50000" fill="hold">
                                          <p:stCondLst>
                                            <p:cond delay="400"/>
                                          </p:stCondLst>
                                        </p:cTn>
                                        <p:tgtEl>
                                          <p:spTgt spid="9"/>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P spid="1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38687" y="993246"/>
            <a:ext cx="10645869" cy="803647"/>
          </a:xfrm>
        </p:spPr>
        <p:txBody>
          <a:bodyPr/>
          <a:lstStyle/>
          <a:p>
            <a:r>
              <a:rPr lang="es-ES_tradnl">
                <a:latin typeface="Century Gothic" panose="020B0502020202020204" pitchFamily="34" charset="0"/>
              </a:rPr>
              <a:t>EL ESTADO DE SITUACIÓN FINANCIERA</a:t>
            </a:r>
          </a:p>
        </p:txBody>
      </p:sp>
      <p:sp>
        <p:nvSpPr>
          <p:cNvPr id="3" name="Marcador de contenido 2"/>
          <p:cNvSpPr>
            <a:spLocks noGrp="1"/>
          </p:cNvSpPr>
          <p:nvPr>
            <p:ph idx="1"/>
          </p:nvPr>
        </p:nvSpPr>
        <p:spPr>
          <a:xfrm>
            <a:off x="581192" y="2037364"/>
            <a:ext cx="11029616" cy="3678303"/>
          </a:xfrm>
        </p:spPr>
        <p:txBody>
          <a:bodyPr>
            <a:normAutofit/>
          </a:bodyPr>
          <a:lstStyle/>
          <a:p>
            <a:pPr marL="0" indent="0" algn="just">
              <a:buNone/>
            </a:pPr>
            <a:r>
              <a:rPr lang="es-ES" dirty="0">
                <a:solidFill>
                  <a:schemeClr val="accent1"/>
                </a:solidFill>
                <a:latin typeface="Century Gothic" panose="020B0502020202020204" pitchFamily="34" charset="0"/>
              </a:rPr>
              <a:t>Construyamos un Estado de Situación Financiera muy sencillo. Usted va a montar una empresa y cuenta con la siguiente información.</a:t>
            </a:r>
          </a:p>
          <a:p>
            <a:pPr marL="0" indent="0" algn="just">
              <a:buNone/>
            </a:pPr>
            <a:endParaRPr lang="es-ES" dirty="0">
              <a:solidFill>
                <a:schemeClr val="accent1"/>
              </a:solidFill>
              <a:latin typeface="Century Gothic" panose="020B0502020202020204" pitchFamily="34" charset="0"/>
            </a:endParaRPr>
          </a:p>
          <a:p>
            <a:pPr algn="just">
              <a:buFont typeface="Wingdings" pitchFamily="2" charset="2"/>
              <a:buChar char="q"/>
            </a:pPr>
            <a:r>
              <a:rPr lang="es-ES" dirty="0">
                <a:solidFill>
                  <a:schemeClr val="accent1"/>
                </a:solidFill>
                <a:latin typeface="Century Gothic" panose="020B0502020202020204" pitchFamily="34" charset="0"/>
              </a:rPr>
              <a:t>Usted, como socio, aporta 100 millones de pesos para montar la empresa.</a:t>
            </a:r>
          </a:p>
          <a:p>
            <a:pPr algn="just">
              <a:buFont typeface="Wingdings" pitchFamily="2" charset="2"/>
              <a:buChar char="q"/>
            </a:pPr>
            <a:endParaRPr lang="es-ES" dirty="0">
              <a:solidFill>
                <a:schemeClr val="accent1"/>
              </a:solidFill>
              <a:latin typeface="Century Gothic" panose="020B0502020202020204" pitchFamily="34" charset="0"/>
            </a:endParaRPr>
          </a:p>
          <a:p>
            <a:pPr algn="just">
              <a:buFont typeface="Wingdings" pitchFamily="2" charset="2"/>
              <a:buChar char="q"/>
            </a:pPr>
            <a:r>
              <a:rPr lang="es-ES" b="1" u="sng" dirty="0">
                <a:solidFill>
                  <a:schemeClr val="accent3">
                    <a:lumMod val="50000"/>
                  </a:schemeClr>
                </a:solidFill>
                <a:latin typeface="Century Gothic" panose="020B0502020202020204" pitchFamily="34" charset="0"/>
              </a:rPr>
              <a:t>Con esa plata, compra maquinaria que le cuesta 70 millones de pesos.</a:t>
            </a:r>
          </a:p>
          <a:p>
            <a:pPr algn="just">
              <a:buFont typeface="Wingdings" pitchFamily="2" charset="2"/>
              <a:buChar char="q"/>
            </a:pPr>
            <a:endParaRPr lang="es-ES" dirty="0">
              <a:solidFill>
                <a:schemeClr val="accent1"/>
              </a:solidFill>
              <a:latin typeface="Century Gothic" panose="020B0502020202020204" pitchFamily="34" charset="0"/>
            </a:endParaRPr>
          </a:p>
          <a:p>
            <a:pPr algn="just">
              <a:buFont typeface="Wingdings" pitchFamily="2" charset="2"/>
              <a:buChar char="q"/>
            </a:pPr>
            <a:r>
              <a:rPr lang="es-ES" dirty="0">
                <a:solidFill>
                  <a:schemeClr val="accent1"/>
                </a:solidFill>
                <a:latin typeface="Century Gothic" panose="020B0502020202020204" pitchFamily="34" charset="0"/>
              </a:rPr>
              <a:t>Luego, se da cuenta que tiene que comprar un lote y una edificación por 50 millones de pesos. La plata que le falta la adquiere de un banco.</a:t>
            </a:r>
          </a:p>
        </p:txBody>
      </p:sp>
      <p:sp>
        <p:nvSpPr>
          <p:cNvPr id="2" name="Rectángulo 1">
            <a:extLst>
              <a:ext uri="{FF2B5EF4-FFF2-40B4-BE49-F238E27FC236}">
                <a16:creationId xmlns:a16="http://schemas.microsoft.com/office/drawing/2014/main" id="{966F9296-CC24-862D-0EF4-0FF19CE84A6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AB9FCA33-F355-43EB-E3F1-03B3A02D8C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Ilustración de diseño de dibujos animados planos de concepto de inversión  de idea de dinero financiero | Vector Premium">
            <a:extLst>
              <a:ext uri="{FF2B5EF4-FFF2-40B4-BE49-F238E27FC236}">
                <a16:creationId xmlns:a16="http://schemas.microsoft.com/office/drawing/2014/main" id="{88A7B213-A7AE-3520-721C-4FDC66DA73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5271" y="2761376"/>
            <a:ext cx="2082371" cy="2099380"/>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B2230FDF-945C-F424-52E1-E90FB1B598F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Marcador de número de diapositiva 3">
            <a:extLst>
              <a:ext uri="{FF2B5EF4-FFF2-40B4-BE49-F238E27FC236}">
                <a16:creationId xmlns:a16="http://schemas.microsoft.com/office/drawing/2014/main" id="{3F871155-C2E2-D631-A5AE-3B970993B46B}"/>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31</a:t>
            </a:fld>
            <a:endParaRPr lang="en-US" sz="2000" b="1">
              <a:latin typeface="Century Gothic" panose="020B0502020202020204" pitchFamily="34" charset="0"/>
            </a:endParaRPr>
          </a:p>
        </p:txBody>
      </p:sp>
    </p:spTree>
    <p:extLst>
      <p:ext uri="{BB962C8B-B14F-4D97-AF65-F5344CB8AC3E}">
        <p14:creationId xmlns:p14="http://schemas.microsoft.com/office/powerpoint/2010/main" val="29940502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a:spLocks noGrp="1"/>
          </p:cNvSpPr>
          <p:nvPr>
            <p:ph type="title"/>
          </p:nvPr>
        </p:nvSpPr>
        <p:spPr>
          <a:xfrm>
            <a:off x="438687" y="993246"/>
            <a:ext cx="10645869" cy="803647"/>
          </a:xfrm>
        </p:spPr>
        <p:txBody>
          <a:bodyPr/>
          <a:lstStyle/>
          <a:p>
            <a:r>
              <a:rPr lang="es-ES_tradnl">
                <a:latin typeface="Century Gothic" panose="020B0502020202020204" pitchFamily="34" charset="0"/>
              </a:rPr>
              <a:t>EL ESTADO DE SITUACIÓN FINANCIERA</a:t>
            </a:r>
          </a:p>
        </p:txBody>
      </p:sp>
      <p:sp>
        <p:nvSpPr>
          <p:cNvPr id="5" name="CuadroTexto 4"/>
          <p:cNvSpPr txBox="1"/>
          <p:nvPr/>
        </p:nvSpPr>
        <p:spPr>
          <a:xfrm>
            <a:off x="2441731" y="2014486"/>
            <a:ext cx="6162264" cy="369332"/>
          </a:xfrm>
          <a:prstGeom prst="rect">
            <a:avLst/>
          </a:prstGeom>
          <a:noFill/>
        </p:spPr>
        <p:txBody>
          <a:bodyPr wrap="none" rtlCol="0">
            <a:spAutoFit/>
          </a:bodyPr>
          <a:lstStyle/>
          <a:p>
            <a:pPr algn="ctr"/>
            <a:r>
              <a:rPr lang="es-ES" b="1">
                <a:solidFill>
                  <a:srgbClr val="D7A700"/>
                </a:solidFill>
                <a:latin typeface="Century Gothic" panose="020B0502020202020204" pitchFamily="34" charset="0"/>
              </a:rPr>
              <a:t>¿Cómo se ve nuestro Estado de Situación Financiera?</a:t>
            </a:r>
          </a:p>
        </p:txBody>
      </p:sp>
      <p:sp>
        <p:nvSpPr>
          <p:cNvPr id="6" name="Rectángulo 5"/>
          <p:cNvSpPr/>
          <p:nvPr/>
        </p:nvSpPr>
        <p:spPr>
          <a:xfrm>
            <a:off x="2713799" y="2549373"/>
            <a:ext cx="2794000" cy="2977444"/>
          </a:xfrm>
          <a:prstGeom prst="rect">
            <a:avLst/>
          </a:prstGeom>
          <a:noFill/>
          <a:ln w="28575">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solidFill>
                <a:schemeClr val="accent1"/>
              </a:solidFill>
            </a:endParaRPr>
          </a:p>
        </p:txBody>
      </p:sp>
      <p:sp>
        <p:nvSpPr>
          <p:cNvPr id="7" name="Rectángulo 6"/>
          <p:cNvSpPr/>
          <p:nvPr/>
        </p:nvSpPr>
        <p:spPr>
          <a:xfrm>
            <a:off x="5537926" y="2556363"/>
            <a:ext cx="2794000" cy="2977444"/>
          </a:xfrm>
          <a:prstGeom prst="rect">
            <a:avLst/>
          </a:prstGeom>
          <a:noFill/>
          <a:ln w="28575">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solidFill>
                <a:schemeClr val="accent1"/>
              </a:solidFill>
            </a:endParaRPr>
          </a:p>
        </p:txBody>
      </p:sp>
      <p:sp>
        <p:nvSpPr>
          <p:cNvPr id="8" name="CuadroTexto 7"/>
          <p:cNvSpPr txBox="1"/>
          <p:nvPr/>
        </p:nvSpPr>
        <p:spPr>
          <a:xfrm>
            <a:off x="2333340" y="5728534"/>
            <a:ext cx="2427505" cy="369332"/>
          </a:xfrm>
          <a:prstGeom prst="rect">
            <a:avLst/>
          </a:prstGeom>
          <a:noFill/>
        </p:spPr>
        <p:txBody>
          <a:bodyPr wrap="none" rtlCol="0">
            <a:spAutoFit/>
          </a:bodyPr>
          <a:lstStyle/>
          <a:p>
            <a:pPr algn="ctr"/>
            <a:r>
              <a:rPr lang="es-ES">
                <a:solidFill>
                  <a:schemeClr val="accent1"/>
                </a:solidFill>
                <a:latin typeface="Century Gothic" panose="020B0502020202020204" pitchFamily="34" charset="0"/>
              </a:rPr>
              <a:t>TOTAL ACTIVO </a:t>
            </a:r>
            <a:r>
              <a:rPr lang="es-ES" b="1">
                <a:solidFill>
                  <a:srgbClr val="D7A700"/>
                </a:solidFill>
                <a:latin typeface="Century Gothic" panose="020B0502020202020204" pitchFamily="34" charset="0"/>
              </a:rPr>
              <a:t>=</a:t>
            </a:r>
            <a:r>
              <a:rPr lang="es-ES">
                <a:solidFill>
                  <a:schemeClr val="accent1"/>
                </a:solidFill>
                <a:latin typeface="Century Gothic" panose="020B0502020202020204" pitchFamily="34" charset="0"/>
              </a:rPr>
              <a:t> 100</a:t>
            </a:r>
          </a:p>
        </p:txBody>
      </p:sp>
      <p:sp>
        <p:nvSpPr>
          <p:cNvPr id="9" name="CuadroTexto 8"/>
          <p:cNvSpPr txBox="1"/>
          <p:nvPr/>
        </p:nvSpPr>
        <p:spPr>
          <a:xfrm>
            <a:off x="4889683" y="5728534"/>
            <a:ext cx="4115230" cy="369332"/>
          </a:xfrm>
          <a:prstGeom prst="rect">
            <a:avLst/>
          </a:prstGeom>
          <a:noFill/>
        </p:spPr>
        <p:txBody>
          <a:bodyPr wrap="none" rtlCol="0">
            <a:spAutoFit/>
          </a:bodyPr>
          <a:lstStyle/>
          <a:p>
            <a:pPr algn="ctr"/>
            <a:r>
              <a:rPr lang="es-ES">
                <a:solidFill>
                  <a:schemeClr val="accent1"/>
                </a:solidFill>
                <a:latin typeface="Century Gothic" panose="020B0502020202020204" pitchFamily="34" charset="0"/>
              </a:rPr>
              <a:t>TOTAL PASIVO </a:t>
            </a:r>
            <a:r>
              <a:rPr lang="es-ES" b="1">
                <a:solidFill>
                  <a:srgbClr val="D7A700"/>
                </a:solidFill>
                <a:latin typeface="Century Gothic" panose="020B0502020202020204" pitchFamily="34" charset="0"/>
              </a:rPr>
              <a:t>+</a:t>
            </a:r>
            <a:r>
              <a:rPr lang="es-ES">
                <a:solidFill>
                  <a:srgbClr val="D7A700"/>
                </a:solidFill>
                <a:latin typeface="Century Gothic" panose="020B0502020202020204" pitchFamily="34" charset="0"/>
              </a:rPr>
              <a:t> </a:t>
            </a:r>
            <a:r>
              <a:rPr lang="es-ES">
                <a:solidFill>
                  <a:schemeClr val="accent1"/>
                </a:solidFill>
                <a:latin typeface="Century Gothic" panose="020B0502020202020204" pitchFamily="34" charset="0"/>
              </a:rPr>
              <a:t>PATRIMONIO </a:t>
            </a:r>
            <a:r>
              <a:rPr lang="es-ES" b="1">
                <a:solidFill>
                  <a:srgbClr val="D7A700"/>
                </a:solidFill>
                <a:latin typeface="Century Gothic" panose="020B0502020202020204" pitchFamily="34" charset="0"/>
              </a:rPr>
              <a:t>=</a:t>
            </a:r>
            <a:r>
              <a:rPr lang="es-ES">
                <a:solidFill>
                  <a:schemeClr val="accent1"/>
                </a:solidFill>
                <a:latin typeface="Century Gothic" panose="020B0502020202020204" pitchFamily="34" charset="0"/>
              </a:rPr>
              <a:t> 100</a:t>
            </a:r>
          </a:p>
        </p:txBody>
      </p:sp>
      <p:sp>
        <p:nvSpPr>
          <p:cNvPr id="10" name="Rectángulo 9"/>
          <p:cNvSpPr/>
          <p:nvPr/>
        </p:nvSpPr>
        <p:spPr>
          <a:xfrm>
            <a:off x="5522860" y="2547767"/>
            <a:ext cx="2809065" cy="1626869"/>
          </a:xfrm>
          <a:prstGeom prst="rect">
            <a:avLst/>
          </a:prstGeom>
          <a:solidFill>
            <a:schemeClr val="accent3">
              <a:lumMod val="20000"/>
              <a:lumOff val="80000"/>
            </a:schemeClr>
          </a:solidFill>
          <a:ln w="28575">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solidFill>
                <a:schemeClr val="accent1"/>
              </a:solidFill>
            </a:endParaRPr>
          </a:p>
        </p:txBody>
      </p:sp>
      <p:sp>
        <p:nvSpPr>
          <p:cNvPr id="11" name="CuadroTexto 10"/>
          <p:cNvSpPr txBox="1"/>
          <p:nvPr/>
        </p:nvSpPr>
        <p:spPr>
          <a:xfrm>
            <a:off x="5616692" y="4700333"/>
            <a:ext cx="2037738" cy="307777"/>
          </a:xfrm>
          <a:prstGeom prst="rect">
            <a:avLst/>
          </a:prstGeom>
          <a:noFill/>
        </p:spPr>
        <p:txBody>
          <a:bodyPr wrap="none" rtlCol="0">
            <a:spAutoFit/>
          </a:bodyPr>
          <a:lstStyle/>
          <a:p>
            <a:pPr algn="ctr"/>
            <a:r>
              <a:rPr lang="es-ES" sz="1400">
                <a:solidFill>
                  <a:schemeClr val="accent1"/>
                </a:solidFill>
                <a:latin typeface="Century Gothic" panose="020B0502020202020204" pitchFamily="34" charset="0"/>
              </a:rPr>
              <a:t>Capital Suscrito = 100</a:t>
            </a:r>
          </a:p>
        </p:txBody>
      </p:sp>
      <p:sp>
        <p:nvSpPr>
          <p:cNvPr id="12" name="CuadroTexto 11"/>
          <p:cNvSpPr txBox="1"/>
          <p:nvPr/>
        </p:nvSpPr>
        <p:spPr>
          <a:xfrm>
            <a:off x="2743926" y="3053424"/>
            <a:ext cx="2183611" cy="307777"/>
          </a:xfrm>
          <a:prstGeom prst="rect">
            <a:avLst/>
          </a:prstGeom>
          <a:noFill/>
        </p:spPr>
        <p:txBody>
          <a:bodyPr wrap="none" rtlCol="0">
            <a:spAutoFit/>
          </a:bodyPr>
          <a:lstStyle/>
          <a:p>
            <a:pPr algn="ctr"/>
            <a:r>
              <a:rPr lang="es-ES" sz="1400">
                <a:solidFill>
                  <a:schemeClr val="accent1"/>
                </a:solidFill>
                <a:latin typeface="Century Gothic" panose="020B0502020202020204" pitchFamily="34" charset="0"/>
              </a:rPr>
              <a:t>Efectivo = 100 – 70 = 30</a:t>
            </a:r>
          </a:p>
        </p:txBody>
      </p:sp>
      <p:sp>
        <p:nvSpPr>
          <p:cNvPr id="14" name="CuadroTexto 13"/>
          <p:cNvSpPr txBox="1"/>
          <p:nvPr/>
        </p:nvSpPr>
        <p:spPr>
          <a:xfrm>
            <a:off x="2743926" y="2590763"/>
            <a:ext cx="2780937" cy="338554"/>
          </a:xfrm>
          <a:prstGeom prst="rect">
            <a:avLst/>
          </a:prstGeom>
          <a:noFill/>
        </p:spPr>
        <p:txBody>
          <a:bodyPr wrap="square" rtlCol="0">
            <a:spAutoFit/>
          </a:bodyPr>
          <a:lstStyle/>
          <a:p>
            <a:pPr algn="ctr"/>
            <a:r>
              <a:rPr lang="es-ES" sz="1600" b="1">
                <a:solidFill>
                  <a:srgbClr val="C00000"/>
                </a:solidFill>
                <a:latin typeface="Century Gothic" panose="020B0502020202020204" pitchFamily="34" charset="0"/>
              </a:rPr>
              <a:t>ACTIVO</a:t>
            </a:r>
          </a:p>
        </p:txBody>
      </p:sp>
      <p:sp>
        <p:nvSpPr>
          <p:cNvPr id="15" name="CuadroTexto 14"/>
          <p:cNvSpPr txBox="1"/>
          <p:nvPr/>
        </p:nvSpPr>
        <p:spPr>
          <a:xfrm>
            <a:off x="5522864" y="2584397"/>
            <a:ext cx="2780937" cy="338554"/>
          </a:xfrm>
          <a:prstGeom prst="rect">
            <a:avLst/>
          </a:prstGeom>
          <a:noFill/>
        </p:spPr>
        <p:txBody>
          <a:bodyPr wrap="square" rtlCol="0">
            <a:spAutoFit/>
          </a:bodyPr>
          <a:lstStyle/>
          <a:p>
            <a:pPr algn="ctr"/>
            <a:r>
              <a:rPr lang="es-ES" sz="1600" b="1">
                <a:solidFill>
                  <a:srgbClr val="C00000"/>
                </a:solidFill>
                <a:latin typeface="Century Gothic" panose="020B0502020202020204" pitchFamily="34" charset="0"/>
              </a:rPr>
              <a:t>PASIVO</a:t>
            </a:r>
          </a:p>
        </p:txBody>
      </p:sp>
      <p:sp>
        <p:nvSpPr>
          <p:cNvPr id="16" name="CuadroTexto 15"/>
          <p:cNvSpPr txBox="1"/>
          <p:nvPr/>
        </p:nvSpPr>
        <p:spPr>
          <a:xfrm>
            <a:off x="5522863" y="4194123"/>
            <a:ext cx="2780937" cy="338554"/>
          </a:xfrm>
          <a:prstGeom prst="rect">
            <a:avLst/>
          </a:prstGeom>
          <a:noFill/>
        </p:spPr>
        <p:txBody>
          <a:bodyPr wrap="square" rtlCol="0">
            <a:spAutoFit/>
          </a:bodyPr>
          <a:lstStyle/>
          <a:p>
            <a:pPr algn="ctr"/>
            <a:r>
              <a:rPr lang="es-ES" sz="1600" b="1">
                <a:solidFill>
                  <a:srgbClr val="C00000"/>
                </a:solidFill>
                <a:latin typeface="Century Gothic" panose="020B0502020202020204" pitchFamily="34" charset="0"/>
              </a:rPr>
              <a:t>PATRIMONIO</a:t>
            </a:r>
          </a:p>
        </p:txBody>
      </p:sp>
      <p:sp>
        <p:nvSpPr>
          <p:cNvPr id="2" name="Rectángulo 1">
            <a:extLst>
              <a:ext uri="{FF2B5EF4-FFF2-40B4-BE49-F238E27FC236}">
                <a16:creationId xmlns:a16="http://schemas.microsoft.com/office/drawing/2014/main" id="{1A8DF329-8E42-E6EB-2BFE-7D345DB9274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1" name="Picture 2" descr="Clientes y aliados | Centro de Evaluación | Uniandes">
            <a:extLst>
              <a:ext uri="{FF2B5EF4-FFF2-40B4-BE49-F238E27FC236}">
                <a16:creationId xmlns:a16="http://schemas.microsoft.com/office/drawing/2014/main" id="{3850CC8F-B33A-2D30-2380-84C257A3C8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7" name="CuadroTexto 16">
            <a:extLst>
              <a:ext uri="{FF2B5EF4-FFF2-40B4-BE49-F238E27FC236}">
                <a16:creationId xmlns:a16="http://schemas.microsoft.com/office/drawing/2014/main" id="{7EF9F648-187D-39CF-7A7A-446A748F2DBE}"/>
              </a:ext>
            </a:extLst>
          </p:cNvPr>
          <p:cNvSpPr txBox="1"/>
          <p:nvPr/>
        </p:nvSpPr>
        <p:spPr>
          <a:xfrm>
            <a:off x="2805845" y="4180607"/>
            <a:ext cx="1592104" cy="307777"/>
          </a:xfrm>
          <a:prstGeom prst="rect">
            <a:avLst/>
          </a:prstGeom>
          <a:noFill/>
        </p:spPr>
        <p:txBody>
          <a:bodyPr wrap="none" rtlCol="0">
            <a:spAutoFit/>
          </a:bodyPr>
          <a:lstStyle/>
          <a:p>
            <a:pPr algn="ctr"/>
            <a:r>
              <a:rPr lang="es-ES" sz="1400">
                <a:solidFill>
                  <a:schemeClr val="accent1"/>
                </a:solidFill>
                <a:latin typeface="Century Gothic" panose="020B0502020202020204" pitchFamily="34" charset="0"/>
              </a:rPr>
              <a:t>Maquinaria = 70</a:t>
            </a:r>
          </a:p>
        </p:txBody>
      </p:sp>
      <p:sp>
        <p:nvSpPr>
          <p:cNvPr id="18" name="Rectángulo 17">
            <a:extLst>
              <a:ext uri="{FF2B5EF4-FFF2-40B4-BE49-F238E27FC236}">
                <a16:creationId xmlns:a16="http://schemas.microsoft.com/office/drawing/2014/main" id="{99B3A084-3D94-1F3D-0204-D40113DB815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17207DA3-82A7-56C9-DD23-9BF59BBCC579}"/>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32</a:t>
            </a:fld>
            <a:endParaRPr lang="en-US" sz="2000" b="1">
              <a:latin typeface="Century Gothic" panose="020B0502020202020204" pitchFamily="34" charset="0"/>
            </a:endParaRPr>
          </a:p>
        </p:txBody>
      </p:sp>
    </p:spTree>
    <p:extLst>
      <p:ext uri="{BB962C8B-B14F-4D97-AF65-F5344CB8AC3E}">
        <p14:creationId xmlns:p14="http://schemas.microsoft.com/office/powerpoint/2010/main" val="1970517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p:tgtEl>
                                          <p:spTgt spid="12">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12">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p:tgtEl>
                                          <p:spTgt spid="11"/>
                                        </p:tgtEl>
                                        <p:attrNameLst>
                                          <p:attrName>ppt_y</p:attrName>
                                        </p:attrNameLst>
                                      </p:cBhvr>
                                      <p:tavLst>
                                        <p:tav tm="0">
                                          <p:val>
                                            <p:strVal val="#ppt_y+#ppt_h*1.125000"/>
                                          </p:val>
                                        </p:tav>
                                        <p:tav tm="100000">
                                          <p:val>
                                            <p:strVal val="#ppt_y"/>
                                          </p:val>
                                        </p:tav>
                                      </p:tavLst>
                                    </p:anim>
                                    <p:animEffect transition="in" filter="wipe(up)">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43"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100"/>
                                        <p:tgtEl>
                                          <p:spTgt spid="8"/>
                                        </p:tgtEl>
                                      </p:cBhvr>
                                    </p:animEffect>
                                    <p:anim calcmode="lin" valueType="num">
                                      <p:cBhvr>
                                        <p:cTn id="26" dur="400" fill="hold"/>
                                        <p:tgtEl>
                                          <p:spTgt spid="8"/>
                                        </p:tgtEl>
                                        <p:attrNameLst>
                                          <p:attrName>ppt_x</p:attrName>
                                        </p:attrNameLst>
                                      </p:cBhvr>
                                      <p:tavLst>
                                        <p:tav tm="0">
                                          <p:val>
                                            <p:strVal val="#ppt_x"/>
                                          </p:val>
                                        </p:tav>
                                        <p:tav tm="100000">
                                          <p:val>
                                            <p:strVal val="#ppt_x"/>
                                          </p:val>
                                        </p:tav>
                                      </p:tavLst>
                                    </p:anim>
                                    <p:anim calcmode="lin" valueType="num">
                                      <p:cBhvr>
                                        <p:cTn id="27" dur="400" fill="hold"/>
                                        <p:tgtEl>
                                          <p:spTgt spid="8"/>
                                        </p:tgtEl>
                                        <p:attrNameLst>
                                          <p:attrName>ppt_y</p:attrName>
                                        </p:attrNameLst>
                                      </p:cBhvr>
                                      <p:tavLst>
                                        <p:tav tm="0">
                                          <p:val>
                                            <p:strVal val="#ppt_y+0.31"/>
                                          </p:val>
                                        </p:tav>
                                        <p:tav tm="100000">
                                          <p:val>
                                            <p:strVal val="#ppt_y+0.31"/>
                                          </p:val>
                                        </p:tav>
                                      </p:tavLst>
                                    </p:anim>
                                    <p:anim calcmode="lin" valueType="num">
                                      <p:cBhvr>
                                        <p:cTn id="28" dur="600" decel="50000" fill="hold">
                                          <p:stCondLst>
                                            <p:cond delay="400"/>
                                          </p:stCondLst>
                                        </p:cTn>
                                        <p:tgtEl>
                                          <p:spTgt spid="8"/>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29" dur="600" decel="50000" fill="hold">
                                          <p:stCondLst>
                                            <p:cond delay="400"/>
                                          </p:stCondLst>
                                        </p:cTn>
                                        <p:tgtEl>
                                          <p:spTgt spid="8"/>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par>
                                <p:cTn id="30" presetID="43"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100"/>
                                        <p:tgtEl>
                                          <p:spTgt spid="9"/>
                                        </p:tgtEl>
                                      </p:cBhvr>
                                    </p:animEffect>
                                    <p:anim calcmode="lin" valueType="num">
                                      <p:cBhvr>
                                        <p:cTn id="33" dur="400" fill="hold"/>
                                        <p:tgtEl>
                                          <p:spTgt spid="9"/>
                                        </p:tgtEl>
                                        <p:attrNameLst>
                                          <p:attrName>ppt_x</p:attrName>
                                        </p:attrNameLst>
                                      </p:cBhvr>
                                      <p:tavLst>
                                        <p:tav tm="0">
                                          <p:val>
                                            <p:strVal val="#ppt_x"/>
                                          </p:val>
                                        </p:tav>
                                        <p:tav tm="100000">
                                          <p:val>
                                            <p:strVal val="#ppt_x"/>
                                          </p:val>
                                        </p:tav>
                                      </p:tavLst>
                                    </p:anim>
                                    <p:anim calcmode="lin" valueType="num">
                                      <p:cBhvr>
                                        <p:cTn id="34" dur="400" fill="hold"/>
                                        <p:tgtEl>
                                          <p:spTgt spid="9"/>
                                        </p:tgtEl>
                                        <p:attrNameLst>
                                          <p:attrName>ppt_y</p:attrName>
                                        </p:attrNameLst>
                                      </p:cBhvr>
                                      <p:tavLst>
                                        <p:tav tm="0">
                                          <p:val>
                                            <p:strVal val="#ppt_y+0.31"/>
                                          </p:val>
                                        </p:tav>
                                        <p:tav tm="100000">
                                          <p:val>
                                            <p:strVal val="#ppt_y+0.31"/>
                                          </p:val>
                                        </p:tav>
                                      </p:tavLst>
                                    </p:anim>
                                    <p:anim calcmode="lin" valueType="num">
                                      <p:cBhvr>
                                        <p:cTn id="35" dur="600" decel="50000" fill="hold">
                                          <p:stCondLst>
                                            <p:cond delay="400"/>
                                          </p:stCondLst>
                                        </p:cTn>
                                        <p:tgtEl>
                                          <p:spTgt spid="9"/>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36" dur="600" decel="50000" fill="hold">
                                          <p:stCondLst>
                                            <p:cond delay="400"/>
                                          </p:stCondLst>
                                        </p:cTn>
                                        <p:tgtEl>
                                          <p:spTgt spid="9"/>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P spid="1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38687" y="993246"/>
            <a:ext cx="10645869" cy="803647"/>
          </a:xfrm>
        </p:spPr>
        <p:txBody>
          <a:bodyPr/>
          <a:lstStyle/>
          <a:p>
            <a:r>
              <a:rPr lang="es-ES_tradnl">
                <a:latin typeface="Century Gothic" panose="020B0502020202020204" pitchFamily="34" charset="0"/>
              </a:rPr>
              <a:t>EL ESTADO DE SITUACIÓN FINANCIERA</a:t>
            </a:r>
          </a:p>
        </p:txBody>
      </p:sp>
      <p:sp>
        <p:nvSpPr>
          <p:cNvPr id="3" name="Marcador de contenido 2"/>
          <p:cNvSpPr>
            <a:spLocks noGrp="1"/>
          </p:cNvSpPr>
          <p:nvPr>
            <p:ph idx="1"/>
          </p:nvPr>
        </p:nvSpPr>
        <p:spPr>
          <a:xfrm>
            <a:off x="641965" y="2186451"/>
            <a:ext cx="11029615" cy="3678303"/>
          </a:xfrm>
        </p:spPr>
        <p:txBody>
          <a:bodyPr>
            <a:normAutofit/>
          </a:bodyPr>
          <a:lstStyle/>
          <a:p>
            <a:pPr marL="0" indent="0">
              <a:buNone/>
            </a:pPr>
            <a:r>
              <a:rPr lang="es-ES">
                <a:solidFill>
                  <a:schemeClr val="accent1"/>
                </a:solidFill>
                <a:latin typeface="Century Gothic" panose="020B0502020202020204" pitchFamily="34" charset="0"/>
              </a:rPr>
              <a:t>Construyamos un Estado de Situación Financiera muy sencillo. Usted va a montar una empresa y cuenta con la siguiente información.</a:t>
            </a:r>
          </a:p>
          <a:p>
            <a:pPr marL="0" indent="0">
              <a:buNone/>
            </a:pPr>
            <a:endParaRPr lang="es-ES">
              <a:solidFill>
                <a:schemeClr val="accent1"/>
              </a:solidFill>
              <a:latin typeface="Century Gothic" panose="020B0502020202020204" pitchFamily="34" charset="0"/>
            </a:endParaRPr>
          </a:p>
          <a:p>
            <a:pPr>
              <a:buFont typeface="Wingdings" pitchFamily="2" charset="2"/>
              <a:buChar char="q"/>
            </a:pPr>
            <a:r>
              <a:rPr lang="es-ES">
                <a:solidFill>
                  <a:schemeClr val="accent1"/>
                </a:solidFill>
                <a:latin typeface="Century Gothic" panose="020B0502020202020204" pitchFamily="34" charset="0"/>
              </a:rPr>
              <a:t>Usted, como socio, aporta 100 millones de pesos para montar la empresa.</a:t>
            </a:r>
          </a:p>
          <a:p>
            <a:pPr>
              <a:buFont typeface="Wingdings" pitchFamily="2" charset="2"/>
              <a:buChar char="q"/>
            </a:pPr>
            <a:endParaRPr lang="es-ES">
              <a:solidFill>
                <a:schemeClr val="accent1"/>
              </a:solidFill>
              <a:latin typeface="Century Gothic" panose="020B0502020202020204" pitchFamily="34" charset="0"/>
            </a:endParaRPr>
          </a:p>
          <a:p>
            <a:pPr>
              <a:buFont typeface="Wingdings" pitchFamily="2" charset="2"/>
              <a:buChar char="q"/>
            </a:pPr>
            <a:r>
              <a:rPr lang="es-ES">
                <a:solidFill>
                  <a:schemeClr val="accent1"/>
                </a:solidFill>
                <a:latin typeface="Century Gothic" panose="020B0502020202020204" pitchFamily="34" charset="0"/>
              </a:rPr>
              <a:t>Con esa plata, compra maquinaria que le cuesta 70 millones de pesos.</a:t>
            </a:r>
          </a:p>
          <a:p>
            <a:pPr>
              <a:buFont typeface="Wingdings" pitchFamily="2" charset="2"/>
              <a:buChar char="q"/>
            </a:pPr>
            <a:endParaRPr lang="es-ES">
              <a:solidFill>
                <a:schemeClr val="accent1"/>
              </a:solidFill>
              <a:latin typeface="Century Gothic" panose="020B0502020202020204" pitchFamily="34" charset="0"/>
            </a:endParaRPr>
          </a:p>
          <a:p>
            <a:pPr algn="just">
              <a:buFont typeface="Wingdings" pitchFamily="2" charset="2"/>
              <a:buChar char="q"/>
            </a:pPr>
            <a:r>
              <a:rPr lang="es-ES" b="1" u="sng">
                <a:solidFill>
                  <a:schemeClr val="accent3">
                    <a:lumMod val="50000"/>
                  </a:schemeClr>
                </a:solidFill>
                <a:latin typeface="Century Gothic" panose="020B0502020202020204" pitchFamily="34" charset="0"/>
              </a:rPr>
              <a:t>Luego, se da cuenta que tiene que comprar un lote y una edificación por 50 millones de pesos. La plata que le falta la adquiere de un banco.</a:t>
            </a:r>
          </a:p>
        </p:txBody>
      </p:sp>
      <p:sp>
        <p:nvSpPr>
          <p:cNvPr id="2" name="Rectángulo 1">
            <a:extLst>
              <a:ext uri="{FF2B5EF4-FFF2-40B4-BE49-F238E27FC236}">
                <a16:creationId xmlns:a16="http://schemas.microsoft.com/office/drawing/2014/main" id="{50686F2F-56B4-BEC1-9BCE-67144C1498A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909068DB-21D7-635A-4F75-ADC34D0D3C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Ilustración de diseño de dibujos animados planos de concepto de inversión  de idea de dinero financiero | Vector Premium">
            <a:extLst>
              <a:ext uri="{FF2B5EF4-FFF2-40B4-BE49-F238E27FC236}">
                <a16:creationId xmlns:a16="http://schemas.microsoft.com/office/drawing/2014/main" id="{97DD7F81-586D-AF65-2A07-6DCE871C10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5271" y="2761376"/>
            <a:ext cx="2082371" cy="2099380"/>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82D91B68-2C13-DBA6-1F05-425D44978EE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Marcador de número de diapositiva 3">
            <a:extLst>
              <a:ext uri="{FF2B5EF4-FFF2-40B4-BE49-F238E27FC236}">
                <a16:creationId xmlns:a16="http://schemas.microsoft.com/office/drawing/2014/main" id="{27405A58-893B-F803-DB41-0A75463ECE2A}"/>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33</a:t>
            </a:fld>
            <a:endParaRPr lang="en-US" sz="2000" b="1">
              <a:latin typeface="Century Gothic" panose="020B0502020202020204" pitchFamily="34" charset="0"/>
            </a:endParaRPr>
          </a:p>
        </p:txBody>
      </p:sp>
    </p:spTree>
    <p:extLst>
      <p:ext uri="{BB962C8B-B14F-4D97-AF65-F5344CB8AC3E}">
        <p14:creationId xmlns:p14="http://schemas.microsoft.com/office/powerpoint/2010/main" val="32245792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a:spLocks noGrp="1"/>
          </p:cNvSpPr>
          <p:nvPr>
            <p:ph type="title"/>
          </p:nvPr>
        </p:nvSpPr>
        <p:spPr>
          <a:xfrm>
            <a:off x="438687" y="993246"/>
            <a:ext cx="10645869" cy="803647"/>
          </a:xfrm>
        </p:spPr>
        <p:txBody>
          <a:bodyPr/>
          <a:lstStyle/>
          <a:p>
            <a:r>
              <a:rPr lang="es-ES_tradnl">
                <a:latin typeface="Century Gothic" panose="020B0502020202020204" pitchFamily="34" charset="0"/>
              </a:rPr>
              <a:t>EL ESTADO DE SITUACIÓN FINANCIERA</a:t>
            </a:r>
          </a:p>
        </p:txBody>
      </p:sp>
      <p:sp>
        <p:nvSpPr>
          <p:cNvPr id="5" name="CuadroTexto 4"/>
          <p:cNvSpPr txBox="1"/>
          <p:nvPr/>
        </p:nvSpPr>
        <p:spPr>
          <a:xfrm>
            <a:off x="2441731" y="2014486"/>
            <a:ext cx="6162264" cy="369332"/>
          </a:xfrm>
          <a:prstGeom prst="rect">
            <a:avLst/>
          </a:prstGeom>
          <a:noFill/>
        </p:spPr>
        <p:txBody>
          <a:bodyPr wrap="none" rtlCol="0">
            <a:spAutoFit/>
          </a:bodyPr>
          <a:lstStyle/>
          <a:p>
            <a:pPr algn="ctr"/>
            <a:r>
              <a:rPr lang="es-ES" b="1">
                <a:solidFill>
                  <a:srgbClr val="D7A700"/>
                </a:solidFill>
                <a:latin typeface="Century Gothic" panose="020B0502020202020204" pitchFamily="34" charset="0"/>
              </a:rPr>
              <a:t>¿Cómo se ve nuestro Estado de Situación Financiera?</a:t>
            </a:r>
          </a:p>
        </p:txBody>
      </p:sp>
      <p:sp>
        <p:nvSpPr>
          <p:cNvPr id="6" name="Rectángulo 5"/>
          <p:cNvSpPr/>
          <p:nvPr/>
        </p:nvSpPr>
        <p:spPr>
          <a:xfrm>
            <a:off x="2713799" y="2549373"/>
            <a:ext cx="2794000" cy="2977444"/>
          </a:xfrm>
          <a:prstGeom prst="rect">
            <a:avLst/>
          </a:prstGeom>
          <a:noFill/>
          <a:ln w="28575">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solidFill>
                <a:schemeClr val="accent1"/>
              </a:solidFill>
            </a:endParaRPr>
          </a:p>
        </p:txBody>
      </p:sp>
      <p:sp>
        <p:nvSpPr>
          <p:cNvPr id="7" name="Rectángulo 6"/>
          <p:cNvSpPr/>
          <p:nvPr/>
        </p:nvSpPr>
        <p:spPr>
          <a:xfrm>
            <a:off x="5537926" y="2556363"/>
            <a:ext cx="2794000" cy="2977444"/>
          </a:xfrm>
          <a:prstGeom prst="rect">
            <a:avLst/>
          </a:prstGeom>
          <a:noFill/>
          <a:ln w="28575">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solidFill>
                <a:schemeClr val="accent1"/>
              </a:solidFill>
            </a:endParaRPr>
          </a:p>
        </p:txBody>
      </p:sp>
      <p:sp>
        <p:nvSpPr>
          <p:cNvPr id="8" name="CuadroTexto 7"/>
          <p:cNvSpPr txBox="1"/>
          <p:nvPr/>
        </p:nvSpPr>
        <p:spPr>
          <a:xfrm>
            <a:off x="2323841" y="5728534"/>
            <a:ext cx="2446504" cy="369332"/>
          </a:xfrm>
          <a:prstGeom prst="rect">
            <a:avLst/>
          </a:prstGeom>
          <a:noFill/>
        </p:spPr>
        <p:txBody>
          <a:bodyPr wrap="none" rtlCol="0">
            <a:spAutoFit/>
          </a:bodyPr>
          <a:lstStyle/>
          <a:p>
            <a:pPr algn="ctr"/>
            <a:r>
              <a:rPr lang="es-ES">
                <a:solidFill>
                  <a:schemeClr val="accent1"/>
                </a:solidFill>
                <a:latin typeface="Century Gothic" panose="020B0502020202020204" pitchFamily="34" charset="0"/>
              </a:rPr>
              <a:t>TOTAL ACTIVO </a:t>
            </a:r>
            <a:r>
              <a:rPr lang="es-ES" b="1">
                <a:solidFill>
                  <a:srgbClr val="D7A700"/>
                </a:solidFill>
                <a:latin typeface="Century Gothic" panose="020B0502020202020204" pitchFamily="34" charset="0"/>
              </a:rPr>
              <a:t>=</a:t>
            </a:r>
            <a:r>
              <a:rPr lang="es-ES">
                <a:solidFill>
                  <a:schemeClr val="accent1"/>
                </a:solidFill>
                <a:latin typeface="Century Gothic" panose="020B0502020202020204" pitchFamily="34" charset="0"/>
              </a:rPr>
              <a:t> 120</a:t>
            </a:r>
          </a:p>
        </p:txBody>
      </p:sp>
      <p:sp>
        <p:nvSpPr>
          <p:cNvPr id="9" name="CuadroTexto 8"/>
          <p:cNvSpPr txBox="1"/>
          <p:nvPr/>
        </p:nvSpPr>
        <p:spPr>
          <a:xfrm>
            <a:off x="4890485" y="5728534"/>
            <a:ext cx="4113627" cy="369332"/>
          </a:xfrm>
          <a:prstGeom prst="rect">
            <a:avLst/>
          </a:prstGeom>
          <a:noFill/>
        </p:spPr>
        <p:txBody>
          <a:bodyPr wrap="none" rtlCol="0">
            <a:spAutoFit/>
          </a:bodyPr>
          <a:lstStyle/>
          <a:p>
            <a:pPr algn="ctr"/>
            <a:r>
              <a:rPr lang="es-ES">
                <a:solidFill>
                  <a:schemeClr val="accent1"/>
                </a:solidFill>
                <a:latin typeface="Century Gothic" panose="020B0502020202020204" pitchFamily="34" charset="0"/>
              </a:rPr>
              <a:t>TOTAL PASIVO </a:t>
            </a:r>
            <a:r>
              <a:rPr lang="es-ES" b="1">
                <a:solidFill>
                  <a:srgbClr val="D7A700"/>
                </a:solidFill>
                <a:latin typeface="Century Gothic" panose="020B0502020202020204" pitchFamily="34" charset="0"/>
              </a:rPr>
              <a:t>+</a:t>
            </a:r>
            <a:r>
              <a:rPr lang="es-ES">
                <a:solidFill>
                  <a:srgbClr val="D7A700"/>
                </a:solidFill>
                <a:latin typeface="Century Gothic" panose="020B0502020202020204" pitchFamily="34" charset="0"/>
              </a:rPr>
              <a:t> </a:t>
            </a:r>
            <a:r>
              <a:rPr lang="es-ES">
                <a:solidFill>
                  <a:schemeClr val="accent1"/>
                </a:solidFill>
                <a:latin typeface="Century Gothic" panose="020B0502020202020204" pitchFamily="34" charset="0"/>
              </a:rPr>
              <a:t>PATRIMONIO </a:t>
            </a:r>
            <a:r>
              <a:rPr lang="es-ES" b="1">
                <a:solidFill>
                  <a:srgbClr val="D7A700"/>
                </a:solidFill>
                <a:latin typeface="Century Gothic" panose="020B0502020202020204" pitchFamily="34" charset="0"/>
              </a:rPr>
              <a:t>=</a:t>
            </a:r>
            <a:r>
              <a:rPr lang="es-ES">
                <a:solidFill>
                  <a:schemeClr val="accent1"/>
                </a:solidFill>
                <a:latin typeface="Century Gothic" panose="020B0502020202020204" pitchFamily="34" charset="0"/>
              </a:rPr>
              <a:t> 120</a:t>
            </a:r>
          </a:p>
        </p:txBody>
      </p:sp>
      <p:sp>
        <p:nvSpPr>
          <p:cNvPr id="10" name="Rectángulo 9"/>
          <p:cNvSpPr/>
          <p:nvPr/>
        </p:nvSpPr>
        <p:spPr>
          <a:xfrm>
            <a:off x="5522860" y="2547767"/>
            <a:ext cx="2809065" cy="1626869"/>
          </a:xfrm>
          <a:prstGeom prst="rect">
            <a:avLst/>
          </a:prstGeom>
          <a:solidFill>
            <a:schemeClr val="accent3">
              <a:lumMod val="20000"/>
              <a:lumOff val="80000"/>
            </a:schemeClr>
          </a:solidFill>
          <a:ln w="28575">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solidFill>
                <a:schemeClr val="accent1"/>
              </a:solidFill>
            </a:endParaRPr>
          </a:p>
        </p:txBody>
      </p:sp>
      <p:sp>
        <p:nvSpPr>
          <p:cNvPr id="11" name="CuadroTexto 10"/>
          <p:cNvSpPr txBox="1"/>
          <p:nvPr/>
        </p:nvSpPr>
        <p:spPr>
          <a:xfrm>
            <a:off x="5537926" y="4699823"/>
            <a:ext cx="2037738" cy="307777"/>
          </a:xfrm>
          <a:prstGeom prst="rect">
            <a:avLst/>
          </a:prstGeom>
          <a:noFill/>
        </p:spPr>
        <p:txBody>
          <a:bodyPr wrap="none" rtlCol="0">
            <a:spAutoFit/>
          </a:bodyPr>
          <a:lstStyle/>
          <a:p>
            <a:pPr algn="ctr"/>
            <a:r>
              <a:rPr lang="es-ES" sz="1400">
                <a:solidFill>
                  <a:schemeClr val="accent1"/>
                </a:solidFill>
                <a:latin typeface="Century Gothic" panose="020B0502020202020204" pitchFamily="34" charset="0"/>
              </a:rPr>
              <a:t>Capital Suscrito = 100</a:t>
            </a:r>
          </a:p>
        </p:txBody>
      </p:sp>
      <p:sp>
        <p:nvSpPr>
          <p:cNvPr id="12" name="CuadroTexto 11"/>
          <p:cNvSpPr txBox="1"/>
          <p:nvPr/>
        </p:nvSpPr>
        <p:spPr>
          <a:xfrm>
            <a:off x="2796781" y="3054830"/>
            <a:ext cx="1984839" cy="307777"/>
          </a:xfrm>
          <a:prstGeom prst="rect">
            <a:avLst/>
          </a:prstGeom>
          <a:noFill/>
        </p:spPr>
        <p:txBody>
          <a:bodyPr wrap="none" rtlCol="0">
            <a:spAutoFit/>
          </a:bodyPr>
          <a:lstStyle/>
          <a:p>
            <a:pPr algn="ctr"/>
            <a:r>
              <a:rPr lang="es-ES" sz="1400">
                <a:solidFill>
                  <a:schemeClr val="accent1"/>
                </a:solidFill>
                <a:latin typeface="Century Gothic" panose="020B0502020202020204" pitchFamily="34" charset="0"/>
              </a:rPr>
              <a:t>Efectivo = 30 – 30 = 0</a:t>
            </a:r>
          </a:p>
        </p:txBody>
      </p:sp>
      <p:sp>
        <p:nvSpPr>
          <p:cNvPr id="14" name="CuadroTexto 13"/>
          <p:cNvSpPr txBox="1"/>
          <p:nvPr/>
        </p:nvSpPr>
        <p:spPr>
          <a:xfrm>
            <a:off x="2743926" y="2590763"/>
            <a:ext cx="2780937" cy="338554"/>
          </a:xfrm>
          <a:prstGeom prst="rect">
            <a:avLst/>
          </a:prstGeom>
          <a:noFill/>
        </p:spPr>
        <p:txBody>
          <a:bodyPr wrap="square" rtlCol="0">
            <a:spAutoFit/>
          </a:bodyPr>
          <a:lstStyle/>
          <a:p>
            <a:pPr algn="ctr"/>
            <a:r>
              <a:rPr lang="es-ES" sz="1600" b="1">
                <a:solidFill>
                  <a:srgbClr val="C00000"/>
                </a:solidFill>
                <a:latin typeface="Century Gothic" panose="020B0502020202020204" pitchFamily="34" charset="0"/>
              </a:rPr>
              <a:t>ACTIVO</a:t>
            </a:r>
          </a:p>
        </p:txBody>
      </p:sp>
      <p:sp>
        <p:nvSpPr>
          <p:cNvPr id="15" name="CuadroTexto 14"/>
          <p:cNvSpPr txBox="1"/>
          <p:nvPr/>
        </p:nvSpPr>
        <p:spPr>
          <a:xfrm>
            <a:off x="5522864" y="2584397"/>
            <a:ext cx="2780937" cy="338554"/>
          </a:xfrm>
          <a:prstGeom prst="rect">
            <a:avLst/>
          </a:prstGeom>
          <a:noFill/>
        </p:spPr>
        <p:txBody>
          <a:bodyPr wrap="square" rtlCol="0">
            <a:spAutoFit/>
          </a:bodyPr>
          <a:lstStyle/>
          <a:p>
            <a:pPr algn="ctr"/>
            <a:r>
              <a:rPr lang="es-ES" sz="1600" b="1">
                <a:solidFill>
                  <a:srgbClr val="C00000"/>
                </a:solidFill>
                <a:latin typeface="Century Gothic" panose="020B0502020202020204" pitchFamily="34" charset="0"/>
              </a:rPr>
              <a:t>PASIVO</a:t>
            </a:r>
          </a:p>
        </p:txBody>
      </p:sp>
      <p:sp>
        <p:nvSpPr>
          <p:cNvPr id="16" name="CuadroTexto 15"/>
          <p:cNvSpPr txBox="1"/>
          <p:nvPr/>
        </p:nvSpPr>
        <p:spPr>
          <a:xfrm>
            <a:off x="5522863" y="4194123"/>
            <a:ext cx="2780937" cy="338554"/>
          </a:xfrm>
          <a:prstGeom prst="rect">
            <a:avLst/>
          </a:prstGeom>
          <a:noFill/>
        </p:spPr>
        <p:txBody>
          <a:bodyPr wrap="square" rtlCol="0">
            <a:spAutoFit/>
          </a:bodyPr>
          <a:lstStyle/>
          <a:p>
            <a:pPr algn="ctr"/>
            <a:r>
              <a:rPr lang="es-ES" sz="1600" b="1">
                <a:solidFill>
                  <a:srgbClr val="C00000"/>
                </a:solidFill>
                <a:latin typeface="Century Gothic" panose="020B0502020202020204" pitchFamily="34" charset="0"/>
              </a:rPr>
              <a:t>PATRIMONIO</a:t>
            </a:r>
          </a:p>
        </p:txBody>
      </p:sp>
      <p:sp>
        <p:nvSpPr>
          <p:cNvPr id="2" name="Rectángulo 1">
            <a:extLst>
              <a:ext uri="{FF2B5EF4-FFF2-40B4-BE49-F238E27FC236}">
                <a16:creationId xmlns:a16="http://schemas.microsoft.com/office/drawing/2014/main" id="{1A8DF329-8E42-E6EB-2BFE-7D345DB9274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1" name="Picture 2" descr="Clientes y aliados | Centro de Evaluación | Uniandes">
            <a:extLst>
              <a:ext uri="{FF2B5EF4-FFF2-40B4-BE49-F238E27FC236}">
                <a16:creationId xmlns:a16="http://schemas.microsoft.com/office/drawing/2014/main" id="{3850CC8F-B33A-2D30-2380-84C257A3C8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7" name="CuadroTexto 16">
            <a:extLst>
              <a:ext uri="{FF2B5EF4-FFF2-40B4-BE49-F238E27FC236}">
                <a16:creationId xmlns:a16="http://schemas.microsoft.com/office/drawing/2014/main" id="{7EF9F648-187D-39CF-7A7A-446A748F2DBE}"/>
              </a:ext>
            </a:extLst>
          </p:cNvPr>
          <p:cNvSpPr txBox="1"/>
          <p:nvPr/>
        </p:nvSpPr>
        <p:spPr>
          <a:xfrm>
            <a:off x="2805845" y="4180607"/>
            <a:ext cx="1592104" cy="307777"/>
          </a:xfrm>
          <a:prstGeom prst="rect">
            <a:avLst/>
          </a:prstGeom>
          <a:noFill/>
        </p:spPr>
        <p:txBody>
          <a:bodyPr wrap="none" rtlCol="0">
            <a:spAutoFit/>
          </a:bodyPr>
          <a:lstStyle/>
          <a:p>
            <a:pPr algn="ctr"/>
            <a:r>
              <a:rPr lang="es-ES" sz="1400">
                <a:solidFill>
                  <a:schemeClr val="accent1"/>
                </a:solidFill>
                <a:latin typeface="Century Gothic" panose="020B0502020202020204" pitchFamily="34" charset="0"/>
              </a:rPr>
              <a:t>Maquinaria = 70</a:t>
            </a:r>
          </a:p>
        </p:txBody>
      </p:sp>
      <p:sp>
        <p:nvSpPr>
          <p:cNvPr id="18" name="CuadroTexto 17">
            <a:extLst>
              <a:ext uri="{FF2B5EF4-FFF2-40B4-BE49-F238E27FC236}">
                <a16:creationId xmlns:a16="http://schemas.microsoft.com/office/drawing/2014/main" id="{3B5A227F-1097-934F-BB28-4FDC403C1450}"/>
              </a:ext>
            </a:extLst>
          </p:cNvPr>
          <p:cNvSpPr txBox="1"/>
          <p:nvPr/>
        </p:nvSpPr>
        <p:spPr>
          <a:xfrm>
            <a:off x="2805845" y="4545935"/>
            <a:ext cx="2127506" cy="307777"/>
          </a:xfrm>
          <a:prstGeom prst="rect">
            <a:avLst/>
          </a:prstGeom>
          <a:noFill/>
        </p:spPr>
        <p:txBody>
          <a:bodyPr wrap="none" rtlCol="0">
            <a:spAutoFit/>
          </a:bodyPr>
          <a:lstStyle/>
          <a:p>
            <a:pPr algn="ctr"/>
            <a:r>
              <a:rPr lang="es-ES" sz="1400">
                <a:solidFill>
                  <a:schemeClr val="accent1"/>
                </a:solidFill>
                <a:latin typeface="Century Gothic" panose="020B0502020202020204" pitchFamily="34" charset="0"/>
              </a:rPr>
              <a:t>Lote y Edificación = 50</a:t>
            </a:r>
          </a:p>
        </p:txBody>
      </p:sp>
      <p:sp>
        <p:nvSpPr>
          <p:cNvPr id="19" name="CuadroTexto 18">
            <a:extLst>
              <a:ext uri="{FF2B5EF4-FFF2-40B4-BE49-F238E27FC236}">
                <a16:creationId xmlns:a16="http://schemas.microsoft.com/office/drawing/2014/main" id="{22F24F24-0183-8643-A2C9-1F788467430D}"/>
              </a:ext>
            </a:extLst>
          </p:cNvPr>
          <p:cNvSpPr txBox="1"/>
          <p:nvPr/>
        </p:nvSpPr>
        <p:spPr>
          <a:xfrm>
            <a:off x="5522104" y="3034395"/>
            <a:ext cx="2238113" cy="307777"/>
          </a:xfrm>
          <a:prstGeom prst="rect">
            <a:avLst/>
          </a:prstGeom>
          <a:noFill/>
        </p:spPr>
        <p:txBody>
          <a:bodyPr wrap="none" rtlCol="0">
            <a:spAutoFit/>
          </a:bodyPr>
          <a:lstStyle/>
          <a:p>
            <a:pPr algn="ctr"/>
            <a:r>
              <a:rPr lang="es-ES" sz="1400">
                <a:solidFill>
                  <a:schemeClr val="accent1"/>
                </a:solidFill>
                <a:latin typeface="Century Gothic" panose="020B0502020202020204" pitchFamily="34" charset="0"/>
              </a:rPr>
              <a:t>Préstamo Bancario = 20</a:t>
            </a:r>
          </a:p>
        </p:txBody>
      </p:sp>
      <p:sp>
        <p:nvSpPr>
          <p:cNvPr id="20" name="Rectángulo 19">
            <a:extLst>
              <a:ext uri="{FF2B5EF4-FFF2-40B4-BE49-F238E27FC236}">
                <a16:creationId xmlns:a16="http://schemas.microsoft.com/office/drawing/2014/main" id="{A9ACD5E6-5740-DFB6-5335-7CF5D5C80ED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D4778466-EACB-29E5-7168-A9E975C68D39}"/>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34</a:t>
            </a:fld>
            <a:endParaRPr lang="en-US" sz="2000" b="1">
              <a:latin typeface="Century Gothic" panose="020B0502020202020204" pitchFamily="34" charset="0"/>
            </a:endParaRPr>
          </a:p>
        </p:txBody>
      </p:sp>
    </p:spTree>
    <p:extLst>
      <p:ext uri="{BB962C8B-B14F-4D97-AF65-F5344CB8AC3E}">
        <p14:creationId xmlns:p14="http://schemas.microsoft.com/office/powerpoint/2010/main" val="1465391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p:tgtEl>
                                          <p:spTgt spid="17"/>
                                        </p:tgtEl>
                                        <p:attrNameLst>
                                          <p:attrName>ppt_y</p:attrName>
                                        </p:attrNameLst>
                                      </p:cBhvr>
                                      <p:tavLst>
                                        <p:tav tm="0">
                                          <p:val>
                                            <p:strVal val="#ppt_y+#ppt_h*1.125000"/>
                                          </p:val>
                                        </p:tav>
                                        <p:tav tm="100000">
                                          <p:val>
                                            <p:strVal val="#ppt_y"/>
                                          </p:val>
                                        </p:tav>
                                      </p:tavLst>
                                    </p:anim>
                                    <p:animEffect transition="in" filter="wipe(up)">
                                      <p:cBhvr>
                                        <p:cTn id="14" dur="500"/>
                                        <p:tgtEl>
                                          <p:spTgt spid="17"/>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p:tgtEl>
                                          <p:spTgt spid="18"/>
                                        </p:tgtEl>
                                        <p:attrNameLst>
                                          <p:attrName>ppt_y</p:attrName>
                                        </p:attrNameLst>
                                      </p:cBhvr>
                                      <p:tavLst>
                                        <p:tav tm="0">
                                          <p:val>
                                            <p:strVal val="#ppt_y+#ppt_h*1.125000"/>
                                          </p:val>
                                        </p:tav>
                                        <p:tav tm="100000">
                                          <p:val>
                                            <p:strVal val="#ppt_y"/>
                                          </p:val>
                                        </p:tav>
                                      </p:tavLst>
                                    </p:anim>
                                    <p:animEffect transition="in" filter="wipe(up)">
                                      <p:cBhvr>
                                        <p:cTn id="20" dur="5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additive="base">
                                        <p:cTn id="25" dur="500"/>
                                        <p:tgtEl>
                                          <p:spTgt spid="19"/>
                                        </p:tgtEl>
                                        <p:attrNameLst>
                                          <p:attrName>ppt_y</p:attrName>
                                        </p:attrNameLst>
                                      </p:cBhvr>
                                      <p:tavLst>
                                        <p:tav tm="0">
                                          <p:val>
                                            <p:strVal val="#ppt_y+#ppt_h*1.125000"/>
                                          </p:val>
                                        </p:tav>
                                        <p:tav tm="100000">
                                          <p:val>
                                            <p:strVal val="#ppt_y"/>
                                          </p:val>
                                        </p:tav>
                                      </p:tavLst>
                                    </p:anim>
                                    <p:animEffect transition="in" filter="wipe(up)">
                                      <p:cBhvr>
                                        <p:cTn id="26" dur="500"/>
                                        <p:tgtEl>
                                          <p:spTgt spid="19"/>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p:tgtEl>
                                          <p:spTgt spid="11"/>
                                        </p:tgtEl>
                                        <p:attrNameLst>
                                          <p:attrName>ppt_y</p:attrName>
                                        </p:attrNameLst>
                                      </p:cBhvr>
                                      <p:tavLst>
                                        <p:tav tm="0">
                                          <p:val>
                                            <p:strVal val="#ppt_y+#ppt_h*1.125000"/>
                                          </p:val>
                                        </p:tav>
                                        <p:tav tm="100000">
                                          <p:val>
                                            <p:strVal val="#ppt_y"/>
                                          </p:val>
                                        </p:tav>
                                      </p:tavLst>
                                    </p:anim>
                                    <p:animEffect transition="in" filter="wipe(up)">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43"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100"/>
                                        <p:tgtEl>
                                          <p:spTgt spid="8"/>
                                        </p:tgtEl>
                                      </p:cBhvr>
                                    </p:animEffect>
                                    <p:anim calcmode="lin" valueType="num">
                                      <p:cBhvr>
                                        <p:cTn id="38" dur="400" fill="hold"/>
                                        <p:tgtEl>
                                          <p:spTgt spid="8"/>
                                        </p:tgtEl>
                                        <p:attrNameLst>
                                          <p:attrName>ppt_x</p:attrName>
                                        </p:attrNameLst>
                                      </p:cBhvr>
                                      <p:tavLst>
                                        <p:tav tm="0">
                                          <p:val>
                                            <p:strVal val="#ppt_x"/>
                                          </p:val>
                                        </p:tav>
                                        <p:tav tm="100000">
                                          <p:val>
                                            <p:strVal val="#ppt_x"/>
                                          </p:val>
                                        </p:tav>
                                      </p:tavLst>
                                    </p:anim>
                                    <p:anim calcmode="lin" valueType="num">
                                      <p:cBhvr>
                                        <p:cTn id="39" dur="400" fill="hold"/>
                                        <p:tgtEl>
                                          <p:spTgt spid="8"/>
                                        </p:tgtEl>
                                        <p:attrNameLst>
                                          <p:attrName>ppt_y</p:attrName>
                                        </p:attrNameLst>
                                      </p:cBhvr>
                                      <p:tavLst>
                                        <p:tav tm="0">
                                          <p:val>
                                            <p:strVal val="#ppt_y+0.31"/>
                                          </p:val>
                                        </p:tav>
                                        <p:tav tm="100000">
                                          <p:val>
                                            <p:strVal val="#ppt_y+0.31"/>
                                          </p:val>
                                        </p:tav>
                                      </p:tavLst>
                                    </p:anim>
                                    <p:anim calcmode="lin" valueType="num">
                                      <p:cBhvr>
                                        <p:cTn id="40" dur="600" decel="50000" fill="hold">
                                          <p:stCondLst>
                                            <p:cond delay="400"/>
                                          </p:stCondLst>
                                        </p:cTn>
                                        <p:tgtEl>
                                          <p:spTgt spid="8"/>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41" dur="600" decel="50000" fill="hold">
                                          <p:stCondLst>
                                            <p:cond delay="400"/>
                                          </p:stCondLst>
                                        </p:cTn>
                                        <p:tgtEl>
                                          <p:spTgt spid="8"/>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par>
                                <p:cTn id="42" presetID="43" presetClass="entr" presetSubtype="0"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100"/>
                                        <p:tgtEl>
                                          <p:spTgt spid="9"/>
                                        </p:tgtEl>
                                      </p:cBhvr>
                                    </p:animEffect>
                                    <p:anim calcmode="lin" valueType="num">
                                      <p:cBhvr>
                                        <p:cTn id="45" dur="400" fill="hold"/>
                                        <p:tgtEl>
                                          <p:spTgt spid="9"/>
                                        </p:tgtEl>
                                        <p:attrNameLst>
                                          <p:attrName>ppt_x</p:attrName>
                                        </p:attrNameLst>
                                      </p:cBhvr>
                                      <p:tavLst>
                                        <p:tav tm="0">
                                          <p:val>
                                            <p:strVal val="#ppt_x"/>
                                          </p:val>
                                        </p:tav>
                                        <p:tav tm="100000">
                                          <p:val>
                                            <p:strVal val="#ppt_x"/>
                                          </p:val>
                                        </p:tav>
                                      </p:tavLst>
                                    </p:anim>
                                    <p:anim calcmode="lin" valueType="num">
                                      <p:cBhvr>
                                        <p:cTn id="46" dur="400" fill="hold"/>
                                        <p:tgtEl>
                                          <p:spTgt spid="9"/>
                                        </p:tgtEl>
                                        <p:attrNameLst>
                                          <p:attrName>ppt_y</p:attrName>
                                        </p:attrNameLst>
                                      </p:cBhvr>
                                      <p:tavLst>
                                        <p:tav tm="0">
                                          <p:val>
                                            <p:strVal val="#ppt_y+0.31"/>
                                          </p:val>
                                        </p:tav>
                                        <p:tav tm="100000">
                                          <p:val>
                                            <p:strVal val="#ppt_y+0.31"/>
                                          </p:val>
                                        </p:tav>
                                      </p:tavLst>
                                    </p:anim>
                                    <p:anim calcmode="lin" valueType="num">
                                      <p:cBhvr>
                                        <p:cTn id="47" dur="600" decel="50000" fill="hold">
                                          <p:stCondLst>
                                            <p:cond delay="400"/>
                                          </p:stCondLst>
                                        </p:cTn>
                                        <p:tgtEl>
                                          <p:spTgt spid="9"/>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48" dur="600" decel="50000" fill="hold">
                                          <p:stCondLst>
                                            <p:cond delay="400"/>
                                          </p:stCondLst>
                                        </p:cTn>
                                        <p:tgtEl>
                                          <p:spTgt spid="9"/>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P spid="12" grpId="0"/>
      <p:bldP spid="17" grpId="0"/>
      <p:bldP spid="18" grpId="0"/>
      <p:bldP spid="1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a:latin typeface="Century Gothic" panose="020B0502020202020204" pitchFamily="34" charset="0"/>
              </a:rPr>
              <a:t>EL ESTADO DE SITUACIÓN FINANCIERA</a:t>
            </a:r>
            <a:endParaRPr lang="es-ES">
              <a:latin typeface="Century Gothic" panose="020B0502020202020204" pitchFamily="34" charset="0"/>
            </a:endParaRPr>
          </a:p>
        </p:txBody>
      </p:sp>
      <p:sp>
        <p:nvSpPr>
          <p:cNvPr id="3" name="Marcador de contenido 2"/>
          <p:cNvSpPr>
            <a:spLocks noGrp="1"/>
          </p:cNvSpPr>
          <p:nvPr>
            <p:ph idx="1"/>
          </p:nvPr>
        </p:nvSpPr>
        <p:spPr>
          <a:xfrm>
            <a:off x="3842236" y="2290360"/>
            <a:ext cx="7242318" cy="3678303"/>
          </a:xfrm>
        </p:spPr>
        <p:txBody>
          <a:bodyPr>
            <a:normAutofit/>
          </a:bodyPr>
          <a:lstStyle/>
          <a:p>
            <a:pPr marL="0" indent="0" algn="ctr">
              <a:buNone/>
            </a:pPr>
            <a:r>
              <a:rPr lang="es-ES" sz="2000">
                <a:solidFill>
                  <a:schemeClr val="accent1"/>
                </a:solidFill>
                <a:latin typeface="Century Gothic" panose="020B0502020202020204" pitchFamily="34" charset="0"/>
              </a:rPr>
              <a:t>El anterior ejercicio es una versión </a:t>
            </a:r>
            <a:r>
              <a:rPr lang="es-ES" sz="2000" b="1">
                <a:solidFill>
                  <a:srgbClr val="C00000"/>
                </a:solidFill>
                <a:latin typeface="Century Gothic" panose="020B0502020202020204" pitchFamily="34" charset="0"/>
              </a:rPr>
              <a:t>excesivamente simplificada </a:t>
            </a:r>
            <a:r>
              <a:rPr lang="es-ES" sz="2000">
                <a:solidFill>
                  <a:schemeClr val="accent1"/>
                </a:solidFill>
                <a:latin typeface="Century Gothic" panose="020B0502020202020204" pitchFamily="34" charset="0"/>
              </a:rPr>
              <a:t>de un Estado de Situación Financiera.</a:t>
            </a:r>
          </a:p>
          <a:p>
            <a:pPr marL="0" indent="0" algn="ctr">
              <a:buNone/>
            </a:pPr>
            <a:endParaRPr lang="es-ES" sz="2000">
              <a:solidFill>
                <a:schemeClr val="accent1"/>
              </a:solidFill>
              <a:latin typeface="Century Gothic" panose="020B0502020202020204" pitchFamily="34" charset="0"/>
            </a:endParaRPr>
          </a:p>
          <a:p>
            <a:pPr marL="0" indent="0" algn="ctr">
              <a:buNone/>
            </a:pPr>
            <a:r>
              <a:rPr lang="es-ES" sz="2000">
                <a:solidFill>
                  <a:schemeClr val="accent1"/>
                </a:solidFill>
                <a:latin typeface="Century Gothic" panose="020B0502020202020204" pitchFamily="34" charset="0"/>
              </a:rPr>
              <a:t>No obstante, para efectos de los conceptos más básicos del Estado de Situación Financiera, permite ilustrar la intuición y lógica general de dicho Estado Financiero.</a:t>
            </a:r>
          </a:p>
        </p:txBody>
      </p:sp>
      <p:pic>
        <p:nvPicPr>
          <p:cNvPr id="5" name="Imagen 4"/>
          <p:cNvPicPr>
            <a:picLocks noChangeAspect="1"/>
          </p:cNvPicPr>
          <p:nvPr/>
        </p:nvPicPr>
        <p:blipFill rotWithShape="1">
          <a:blip r:embed="rId2">
            <a:clrChange>
              <a:clrFrom>
                <a:srgbClr val="FFFFFF"/>
              </a:clrFrom>
              <a:clrTo>
                <a:srgbClr val="FFFFFF">
                  <a:alpha val="0"/>
                </a:srgbClr>
              </a:clrTo>
            </a:clrChange>
          </a:blip>
          <a:srcRect l="12830" t="10894" r="11589" b="13743"/>
          <a:stretch/>
        </p:blipFill>
        <p:spPr>
          <a:xfrm>
            <a:off x="1206018" y="2890124"/>
            <a:ext cx="2460853" cy="2453721"/>
          </a:xfrm>
          <a:prstGeom prst="rect">
            <a:avLst/>
          </a:prstGeom>
        </p:spPr>
      </p:pic>
      <p:sp>
        <p:nvSpPr>
          <p:cNvPr id="10" name="Rectángulo 9">
            <a:extLst>
              <a:ext uri="{FF2B5EF4-FFF2-40B4-BE49-F238E27FC236}">
                <a16:creationId xmlns:a16="http://schemas.microsoft.com/office/drawing/2014/main" id="{F5933DD0-7750-0E2B-B0FC-1AAF0762A5D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479FD37C-512D-1B10-1AF9-F4D8E0FDAD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E4BB94EC-A6AF-D523-FC67-980E9D5F379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7" name="Marcador de número de diapositiva 3">
            <a:extLst>
              <a:ext uri="{FF2B5EF4-FFF2-40B4-BE49-F238E27FC236}">
                <a16:creationId xmlns:a16="http://schemas.microsoft.com/office/drawing/2014/main" id="{F573B7FC-6A55-55A2-F0F7-4E407C0A2D48}"/>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35</a:t>
            </a:fld>
            <a:endParaRPr lang="en-US" sz="2000" b="1">
              <a:latin typeface="Century Gothic" panose="020B0502020202020204" pitchFamily="34" charset="0"/>
            </a:endParaRPr>
          </a:p>
        </p:txBody>
      </p:sp>
    </p:spTree>
    <p:extLst>
      <p:ext uri="{BB962C8B-B14F-4D97-AF65-F5344CB8AC3E}">
        <p14:creationId xmlns:p14="http://schemas.microsoft.com/office/powerpoint/2010/main" val="1774557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s-ES_tradnl">
                <a:latin typeface="Century Gothic" panose="020B0502020202020204" pitchFamily="34" charset="0"/>
              </a:rPr>
              <a:t>ESTADO DE RESULTADOS</a:t>
            </a:r>
          </a:p>
        </p:txBody>
      </p:sp>
      <p:sp>
        <p:nvSpPr>
          <p:cNvPr id="2" name="Content Placeholder 1"/>
          <p:cNvSpPr>
            <a:spLocks noGrp="1"/>
          </p:cNvSpPr>
          <p:nvPr>
            <p:ph idx="1"/>
          </p:nvPr>
        </p:nvSpPr>
        <p:spPr>
          <a:xfrm>
            <a:off x="983117" y="2075738"/>
            <a:ext cx="3915454" cy="1440113"/>
          </a:xfrm>
        </p:spPr>
        <p:txBody>
          <a:bodyPr>
            <a:normAutofit/>
          </a:bodyPr>
          <a:lstStyle/>
          <a:p>
            <a:pPr marL="0" indent="0" algn="ctr">
              <a:buNone/>
            </a:pPr>
            <a:r>
              <a:rPr lang="es-ES_tradnl">
                <a:solidFill>
                  <a:schemeClr val="accent1"/>
                </a:solidFill>
                <a:latin typeface="Century Gothic" panose="020B0502020202020204" pitchFamily="34" charset="0"/>
              </a:rPr>
              <a:t>Refleja los resultados de la gestión realizada en un periodo.</a:t>
            </a:r>
          </a:p>
        </p:txBody>
      </p:sp>
      <p:sp>
        <p:nvSpPr>
          <p:cNvPr id="8" name="Rectangle 7"/>
          <p:cNvSpPr/>
          <p:nvPr/>
        </p:nvSpPr>
        <p:spPr>
          <a:xfrm>
            <a:off x="5456586" y="2410024"/>
            <a:ext cx="3496577" cy="501914"/>
          </a:xfrm>
          <a:prstGeom prst="rect">
            <a:avLst/>
          </a:prstGeom>
          <a:solidFill>
            <a:srgbClr val="FF6969"/>
          </a:solidFill>
          <a:ln>
            <a:noFill/>
          </a:ln>
          <a:effectLst/>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a:solidFill>
                  <a:schemeClr val="bg1"/>
                </a:solidFill>
                <a:latin typeface="Century Gothic" panose="020B0502020202020204" pitchFamily="34" charset="0"/>
              </a:rPr>
              <a:t>Costo de Ventas</a:t>
            </a:r>
          </a:p>
        </p:txBody>
      </p:sp>
      <p:sp>
        <p:nvSpPr>
          <p:cNvPr id="9" name="Rectangle 8"/>
          <p:cNvSpPr/>
          <p:nvPr/>
        </p:nvSpPr>
        <p:spPr>
          <a:xfrm>
            <a:off x="5456585" y="3326120"/>
            <a:ext cx="3496577" cy="400797"/>
          </a:xfrm>
          <a:prstGeom prst="rect">
            <a:avLst/>
          </a:prstGeom>
          <a:solidFill>
            <a:srgbClr val="FF6969"/>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a:solidFill>
                  <a:schemeClr val="bg1"/>
                </a:solidFill>
                <a:latin typeface="Century Gothic" panose="020B0502020202020204" pitchFamily="34" charset="0"/>
              </a:rPr>
              <a:t>Gastos Operacionales (AOM)</a:t>
            </a:r>
          </a:p>
        </p:txBody>
      </p:sp>
      <p:sp>
        <p:nvSpPr>
          <p:cNvPr id="14" name="Rectangle 13"/>
          <p:cNvSpPr/>
          <p:nvPr/>
        </p:nvSpPr>
        <p:spPr>
          <a:xfrm>
            <a:off x="5456585" y="4611260"/>
            <a:ext cx="3496577" cy="378540"/>
          </a:xfrm>
          <a:prstGeom prst="rect">
            <a:avLst/>
          </a:prstGeom>
          <a:solidFill>
            <a:srgbClr val="92D050"/>
          </a:solidFill>
          <a:ln>
            <a:noFill/>
          </a:ln>
          <a:effectLst/>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a:solidFill>
                  <a:schemeClr val="accent1"/>
                </a:solidFill>
                <a:latin typeface="Century Gothic" panose="020B0502020202020204" pitchFamily="34" charset="0"/>
              </a:rPr>
              <a:t>Otros Ingresos</a:t>
            </a:r>
          </a:p>
        </p:txBody>
      </p:sp>
      <p:sp>
        <p:nvSpPr>
          <p:cNvPr id="15" name="Rectangle 14"/>
          <p:cNvSpPr/>
          <p:nvPr/>
        </p:nvSpPr>
        <p:spPr>
          <a:xfrm>
            <a:off x="5456584" y="5800309"/>
            <a:ext cx="3496577" cy="400797"/>
          </a:xfrm>
          <a:prstGeom prst="rect">
            <a:avLst/>
          </a:prstGeom>
          <a:solidFill>
            <a:srgbClr val="FF6969"/>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a:latin typeface="Century Gothic" panose="020B0502020202020204" pitchFamily="34" charset="0"/>
              </a:rPr>
              <a:t>Impuestos</a:t>
            </a:r>
          </a:p>
        </p:txBody>
      </p:sp>
      <p:sp>
        <p:nvSpPr>
          <p:cNvPr id="16" name="Rectangle 15"/>
          <p:cNvSpPr/>
          <p:nvPr/>
        </p:nvSpPr>
        <p:spPr>
          <a:xfrm>
            <a:off x="5456584" y="6214335"/>
            <a:ext cx="3496577" cy="395658"/>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latin typeface="Century Gothic" panose="020B0502020202020204" pitchFamily="34" charset="0"/>
              </a:rPr>
              <a:t>Utilidad Neta</a:t>
            </a:r>
          </a:p>
        </p:txBody>
      </p:sp>
      <p:sp>
        <p:nvSpPr>
          <p:cNvPr id="3" name="Rectangle 2"/>
          <p:cNvSpPr/>
          <p:nvPr/>
        </p:nvSpPr>
        <p:spPr>
          <a:xfrm>
            <a:off x="5456585" y="4137404"/>
            <a:ext cx="3496577" cy="468733"/>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latin typeface="Century Gothic" panose="020B0502020202020204" pitchFamily="34" charset="0"/>
              </a:rPr>
              <a:t>EBIT (UAII)</a:t>
            </a:r>
          </a:p>
        </p:txBody>
      </p:sp>
      <p:sp>
        <p:nvSpPr>
          <p:cNvPr id="6" name="Rectangle 5"/>
          <p:cNvSpPr/>
          <p:nvPr/>
        </p:nvSpPr>
        <p:spPr>
          <a:xfrm>
            <a:off x="5456586" y="1933045"/>
            <a:ext cx="3496577" cy="479214"/>
          </a:xfrm>
          <a:prstGeom prst="rect">
            <a:avLst/>
          </a:prstGeom>
          <a:solidFill>
            <a:srgbClr val="92D050"/>
          </a:solidFill>
          <a:ln>
            <a:noFill/>
          </a:ln>
          <a:effectLst/>
          <a:scene3d>
            <a:camera prst="orthographicFront"/>
            <a:lightRig rig="threePt" dir="t"/>
          </a:scene3d>
          <a:sp3d/>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_tradnl" sz="1600" dirty="0">
                <a:solidFill>
                  <a:schemeClr val="accent1"/>
                </a:solidFill>
                <a:latin typeface="Century Gothic" panose="020B0502020202020204" pitchFamily="34" charset="0"/>
              </a:rPr>
              <a:t>Ingresos Ordinarios</a:t>
            </a:r>
          </a:p>
        </p:txBody>
      </p:sp>
      <p:sp>
        <p:nvSpPr>
          <p:cNvPr id="12" name="Left Brace 9"/>
          <p:cNvSpPr/>
          <p:nvPr/>
        </p:nvSpPr>
        <p:spPr>
          <a:xfrm rot="10800000">
            <a:off x="9103331" y="1972734"/>
            <a:ext cx="393651" cy="2164669"/>
          </a:xfrm>
          <a:prstGeom prst="leftBrace">
            <a:avLst/>
          </a:prstGeom>
          <a:ln>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3" name="Content Placeholder 6"/>
          <p:cNvSpPr txBox="1">
            <a:spLocks/>
          </p:cNvSpPr>
          <p:nvPr/>
        </p:nvSpPr>
        <p:spPr>
          <a:xfrm>
            <a:off x="9483107" y="2883891"/>
            <a:ext cx="1979747" cy="428845"/>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1800" b="1">
                <a:solidFill>
                  <a:schemeClr val="accent1"/>
                </a:solidFill>
                <a:latin typeface="Century Gothic" panose="020B0502020202020204" pitchFamily="34" charset="0"/>
              </a:rPr>
              <a:t>Operacionales</a:t>
            </a:r>
          </a:p>
        </p:txBody>
      </p:sp>
      <p:sp>
        <p:nvSpPr>
          <p:cNvPr id="17" name="Left Brace 9"/>
          <p:cNvSpPr/>
          <p:nvPr/>
        </p:nvSpPr>
        <p:spPr>
          <a:xfrm rot="10800000">
            <a:off x="9089456" y="4606135"/>
            <a:ext cx="393651" cy="755846"/>
          </a:xfrm>
          <a:prstGeom prst="leftBrace">
            <a:avLst/>
          </a:prstGeom>
          <a:ln>
            <a:solidFill>
              <a:schemeClr val="accent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8" name="Content Placeholder 6"/>
          <p:cNvSpPr txBox="1">
            <a:spLocks/>
          </p:cNvSpPr>
          <p:nvPr/>
        </p:nvSpPr>
        <p:spPr>
          <a:xfrm>
            <a:off x="9496982" y="4769019"/>
            <a:ext cx="2257338" cy="428845"/>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1800" b="1">
                <a:solidFill>
                  <a:schemeClr val="accent6"/>
                </a:solidFill>
                <a:latin typeface="Century Gothic" panose="020B0502020202020204" pitchFamily="34" charset="0"/>
              </a:rPr>
              <a:t>No Operacionales</a:t>
            </a:r>
          </a:p>
        </p:txBody>
      </p:sp>
      <p:sp>
        <p:nvSpPr>
          <p:cNvPr id="19" name="Rectangle 8"/>
          <p:cNvSpPr/>
          <p:nvPr/>
        </p:nvSpPr>
        <p:spPr>
          <a:xfrm>
            <a:off x="5456586" y="2911939"/>
            <a:ext cx="3496577" cy="400797"/>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latin typeface="Century Gothic" panose="020B0502020202020204" pitchFamily="34" charset="0"/>
              </a:rPr>
              <a:t>Utilidad Bruta</a:t>
            </a:r>
          </a:p>
        </p:txBody>
      </p:sp>
      <p:sp>
        <p:nvSpPr>
          <p:cNvPr id="20" name="Rectangle 8"/>
          <p:cNvSpPr/>
          <p:nvPr/>
        </p:nvSpPr>
        <p:spPr>
          <a:xfrm>
            <a:off x="5456584" y="3726918"/>
            <a:ext cx="3496577" cy="400797"/>
          </a:xfrm>
          <a:prstGeom prst="rect">
            <a:avLst/>
          </a:prstGeom>
          <a:solidFill>
            <a:srgbClr val="FF6969"/>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a:latin typeface="Century Gothic" panose="020B0502020202020204" pitchFamily="34" charset="0"/>
              </a:rPr>
              <a:t>Depreciación/Amortización</a:t>
            </a:r>
          </a:p>
        </p:txBody>
      </p:sp>
      <p:sp>
        <p:nvSpPr>
          <p:cNvPr id="23" name="Rectangle 13"/>
          <p:cNvSpPr/>
          <p:nvPr/>
        </p:nvSpPr>
        <p:spPr>
          <a:xfrm>
            <a:off x="5456584" y="4983442"/>
            <a:ext cx="3496577" cy="378540"/>
          </a:xfrm>
          <a:prstGeom prst="rect">
            <a:avLst/>
          </a:prstGeom>
          <a:solidFill>
            <a:srgbClr val="FF6969"/>
          </a:solidFill>
          <a:ln>
            <a:noFill/>
          </a:ln>
          <a:effectLst/>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a:solidFill>
                  <a:schemeClr val="bg1"/>
                </a:solidFill>
                <a:latin typeface="Century Gothic" panose="020B0502020202020204" pitchFamily="34" charset="0"/>
              </a:rPr>
              <a:t>Otros Egresos</a:t>
            </a:r>
          </a:p>
        </p:txBody>
      </p:sp>
      <p:sp>
        <p:nvSpPr>
          <p:cNvPr id="24" name="Rectangle 2"/>
          <p:cNvSpPr/>
          <p:nvPr/>
        </p:nvSpPr>
        <p:spPr>
          <a:xfrm>
            <a:off x="5456586" y="5339982"/>
            <a:ext cx="3496577" cy="468733"/>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600">
                <a:latin typeface="Century Gothic" panose="020B0502020202020204" pitchFamily="34" charset="0"/>
              </a:rPr>
              <a:t>Utilidad Antes de Impuestos (UAI)</a:t>
            </a:r>
          </a:p>
        </p:txBody>
      </p:sp>
      <p:pic>
        <p:nvPicPr>
          <p:cNvPr id="2050" name="Picture 2" descr="Resultado de imagen para resultados de gestion"/>
          <p:cNvPicPr>
            <a:picLocks noChangeAspect="1" noChangeArrowheads="1"/>
          </p:cNvPicPr>
          <p:nvPr/>
        </p:nvPicPr>
        <p:blipFill>
          <a:blip r:embed="rId3">
            <a:clrChange>
              <a:clrFrom>
                <a:srgbClr val="7FAEF2"/>
              </a:clrFrom>
              <a:clrTo>
                <a:srgbClr val="7FAEF2">
                  <a:alpha val="0"/>
                </a:srgbClr>
              </a:clrTo>
            </a:clrChange>
            <a:extLst>
              <a:ext uri="{28A0092B-C50C-407E-A947-70E740481C1C}">
                <a14:useLocalDpi xmlns:a14="http://schemas.microsoft.com/office/drawing/2010/main" val="0"/>
              </a:ext>
            </a:extLst>
          </a:blip>
          <a:srcRect/>
          <a:stretch>
            <a:fillRect/>
          </a:stretch>
        </p:blipFill>
        <p:spPr bwMode="auto">
          <a:xfrm>
            <a:off x="1325478" y="3621129"/>
            <a:ext cx="3017549" cy="1796160"/>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2B2C680D-30BB-37C1-9D4B-634DE0D043D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96B80A16-6C0D-E1E2-F136-0A949E371A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2" name="Rectángulo 21">
            <a:extLst>
              <a:ext uri="{FF2B5EF4-FFF2-40B4-BE49-F238E27FC236}">
                <a16:creationId xmlns:a16="http://schemas.microsoft.com/office/drawing/2014/main" id="{840C12C1-3813-D29C-B821-AE7EB6275B2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7" name="Marcador de número de diapositiva 3">
            <a:extLst>
              <a:ext uri="{FF2B5EF4-FFF2-40B4-BE49-F238E27FC236}">
                <a16:creationId xmlns:a16="http://schemas.microsoft.com/office/drawing/2014/main" id="{9089BE53-7D95-ACAF-78F8-685590AD261B}"/>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36</a:t>
            </a:fld>
            <a:endParaRPr lang="en-US" sz="2000" b="1">
              <a:latin typeface="Century Gothic" panose="020B0502020202020204" pitchFamily="34" charset="0"/>
            </a:endParaRPr>
          </a:p>
        </p:txBody>
      </p:sp>
    </p:spTree>
    <p:extLst>
      <p:ext uri="{BB962C8B-B14F-4D97-AF65-F5344CB8AC3E}">
        <p14:creationId xmlns:p14="http://schemas.microsoft.com/office/powerpoint/2010/main" val="2041201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fade">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500"/>
                                        <p:tgtEl>
                                          <p:spTgt spid="2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5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500"/>
                                        <p:tgtEl>
                                          <p:spTgt spid="16"/>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fade">
                                      <p:cBhvr>
                                        <p:cTn id="62" dur="500"/>
                                        <p:tgtEl>
                                          <p:spTgt spid="1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fade">
                                      <p:cBhvr>
                                        <p:cTn id="65" dur="500"/>
                                        <p:tgtEl>
                                          <p:spTgt spid="13"/>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500"/>
                                        <p:tgtEl>
                                          <p:spTgt spid="1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fade">
                                      <p:cBhvr>
                                        <p:cTn id="7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4" grpId="0" animBg="1"/>
      <p:bldP spid="15" grpId="0" animBg="1"/>
      <p:bldP spid="16" grpId="0" animBg="1"/>
      <p:bldP spid="3" grpId="0" animBg="1"/>
      <p:bldP spid="6" grpId="0" animBg="1"/>
      <p:bldP spid="12" grpId="0" animBg="1"/>
      <p:bldP spid="13" grpId="0"/>
      <p:bldP spid="17" grpId="0" animBg="1"/>
      <p:bldP spid="18" grpId="0"/>
      <p:bldP spid="19" grpId="0" animBg="1"/>
      <p:bldP spid="20" grpId="0" animBg="1"/>
      <p:bldP spid="23" grpId="0" animBg="1"/>
      <p:bldP spid="2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8BBAC-55A5-DE17-A675-06D9355B371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2C6FCFFD-3EE1-EC73-5E42-591C4B88A468}"/>
              </a:ext>
            </a:extLst>
          </p:cNvPr>
          <p:cNvSpPr>
            <a:spLocks noGrp="1"/>
          </p:cNvSpPr>
          <p:nvPr>
            <p:ph type="title"/>
          </p:nvPr>
        </p:nvSpPr>
        <p:spPr>
          <a:xfrm>
            <a:off x="438687" y="993246"/>
            <a:ext cx="10645869" cy="803647"/>
          </a:xfrm>
        </p:spPr>
        <p:txBody>
          <a:bodyPr/>
          <a:lstStyle/>
          <a:p>
            <a:r>
              <a:rPr lang="es-ES_tradnl">
                <a:latin typeface="Century Gothic" panose="020B0502020202020204" pitchFamily="34" charset="0"/>
              </a:rPr>
              <a:t>ESTADO DE RESULTADOS</a:t>
            </a:r>
          </a:p>
        </p:txBody>
      </p:sp>
      <p:sp>
        <p:nvSpPr>
          <p:cNvPr id="3" name="Marcador de contenido 2">
            <a:extLst>
              <a:ext uri="{FF2B5EF4-FFF2-40B4-BE49-F238E27FC236}">
                <a16:creationId xmlns:a16="http://schemas.microsoft.com/office/drawing/2014/main" id="{1CF7BF1B-174B-B159-9CA0-1D57A62E82F3}"/>
              </a:ext>
            </a:extLst>
          </p:cNvPr>
          <p:cNvSpPr>
            <a:spLocks noGrp="1"/>
          </p:cNvSpPr>
          <p:nvPr>
            <p:ph idx="1"/>
          </p:nvPr>
        </p:nvSpPr>
        <p:spPr>
          <a:xfrm>
            <a:off x="438687" y="2037363"/>
            <a:ext cx="5928246" cy="3678303"/>
          </a:xfrm>
        </p:spPr>
        <p:txBody>
          <a:bodyPr>
            <a:normAutofit fontScale="85000" lnSpcReduction="10000"/>
          </a:bodyPr>
          <a:lstStyle/>
          <a:p>
            <a:pPr marL="0" indent="0" algn="just">
              <a:buNone/>
            </a:pPr>
            <a:r>
              <a:rPr lang="es-ES">
                <a:solidFill>
                  <a:schemeClr val="accent1"/>
                </a:solidFill>
                <a:latin typeface="Century Gothic" panose="020B0502020202020204" pitchFamily="34" charset="0"/>
              </a:rPr>
              <a:t>Construyamos un Estado de Resultados muy sencillo. </a:t>
            </a:r>
            <a:r>
              <a:rPr lang="es-CO">
                <a:solidFill>
                  <a:schemeClr val="accent1"/>
                </a:solidFill>
                <a:latin typeface="Century Gothic" panose="020B0502020202020204" pitchFamily="34" charset="0"/>
              </a:rPr>
              <a:t>La misma empresa que ya montó le proporciona esta información.</a:t>
            </a:r>
          </a:p>
          <a:p>
            <a:pPr marL="0" indent="0" algn="just">
              <a:buNone/>
            </a:pPr>
            <a:endParaRPr lang="es-ES">
              <a:solidFill>
                <a:schemeClr val="accent1"/>
              </a:solidFill>
              <a:latin typeface="Century Gothic" panose="020B0502020202020204" pitchFamily="34" charset="0"/>
            </a:endParaRPr>
          </a:p>
          <a:p>
            <a:pPr algn="just">
              <a:buFont typeface="Wingdings" pitchFamily="2" charset="2"/>
              <a:buChar char="q"/>
            </a:pPr>
            <a:r>
              <a:rPr lang="es-ES">
                <a:solidFill>
                  <a:schemeClr val="accent1"/>
                </a:solidFill>
                <a:latin typeface="Century Gothic" panose="020B0502020202020204" pitchFamily="34" charset="0"/>
              </a:rPr>
              <a:t>Después de operar un año, su empresa vendió 30 millones de pesos.</a:t>
            </a:r>
          </a:p>
          <a:p>
            <a:pPr algn="just">
              <a:buFont typeface="Wingdings" pitchFamily="2" charset="2"/>
              <a:buChar char="q"/>
            </a:pPr>
            <a:r>
              <a:rPr lang="es-ES">
                <a:solidFill>
                  <a:schemeClr val="accent1"/>
                </a:solidFill>
                <a:latin typeface="Century Gothic" panose="020B0502020202020204" pitchFamily="34" charset="0"/>
              </a:rPr>
              <a:t>Sus costos de ventas fueron de 10 millones de pesos.</a:t>
            </a:r>
          </a:p>
          <a:p>
            <a:pPr algn="just">
              <a:buFont typeface="Wingdings" pitchFamily="2" charset="2"/>
              <a:buChar char="q"/>
            </a:pPr>
            <a:r>
              <a:rPr lang="es-ES">
                <a:solidFill>
                  <a:schemeClr val="accent1"/>
                </a:solidFill>
                <a:latin typeface="Century Gothic" panose="020B0502020202020204" pitchFamily="34" charset="0"/>
              </a:rPr>
              <a:t>Los gastos de administración fueron 6 millones de pesos.</a:t>
            </a:r>
          </a:p>
          <a:p>
            <a:pPr algn="just">
              <a:buFont typeface="Wingdings" pitchFamily="2" charset="2"/>
              <a:buChar char="q"/>
            </a:pPr>
            <a:r>
              <a:rPr lang="es-ES">
                <a:solidFill>
                  <a:schemeClr val="accent1"/>
                </a:solidFill>
                <a:latin typeface="Century Gothic" panose="020B0502020202020204" pitchFamily="34" charset="0"/>
              </a:rPr>
              <a:t>La depreciación de sus activos fue de 2 millones de pesos.</a:t>
            </a:r>
          </a:p>
          <a:p>
            <a:pPr algn="just">
              <a:buFont typeface="Wingdings" pitchFamily="2" charset="2"/>
              <a:buChar char="q"/>
            </a:pPr>
            <a:r>
              <a:rPr lang="es-ES">
                <a:solidFill>
                  <a:schemeClr val="accent1"/>
                </a:solidFill>
                <a:latin typeface="Century Gothic" panose="020B0502020202020204" pitchFamily="34" charset="0"/>
              </a:rPr>
              <a:t>Los gastos financieros fueron de 2 millones de pesos.</a:t>
            </a:r>
          </a:p>
          <a:p>
            <a:pPr algn="just">
              <a:buFont typeface="Wingdings" pitchFamily="2" charset="2"/>
              <a:buChar char="q"/>
            </a:pPr>
            <a:r>
              <a:rPr lang="es-ES">
                <a:solidFill>
                  <a:schemeClr val="accent1"/>
                </a:solidFill>
                <a:latin typeface="Century Gothic" panose="020B0502020202020204" pitchFamily="34" charset="0"/>
              </a:rPr>
              <a:t>Usted pagó impuestos a una tasa de 30%.</a:t>
            </a:r>
          </a:p>
        </p:txBody>
      </p:sp>
      <p:sp>
        <p:nvSpPr>
          <p:cNvPr id="2" name="Rectángulo 1">
            <a:extLst>
              <a:ext uri="{FF2B5EF4-FFF2-40B4-BE49-F238E27FC236}">
                <a16:creationId xmlns:a16="http://schemas.microsoft.com/office/drawing/2014/main" id="{8F3F3F86-B921-6AFF-11D1-085FE40AA69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DA21941B-C55C-517E-9476-D6D05458AD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DD46AE10-EAD2-D1E0-CA15-FCC91D51B82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Rectangle 7">
            <a:extLst>
              <a:ext uri="{FF2B5EF4-FFF2-40B4-BE49-F238E27FC236}">
                <a16:creationId xmlns:a16="http://schemas.microsoft.com/office/drawing/2014/main" id="{EE1D01CE-CE3C-B99E-4D47-EE7B9297506D}"/>
              </a:ext>
            </a:extLst>
          </p:cNvPr>
          <p:cNvSpPr/>
          <p:nvPr/>
        </p:nvSpPr>
        <p:spPr>
          <a:xfrm>
            <a:off x="6540320" y="2384623"/>
            <a:ext cx="3496577" cy="501914"/>
          </a:xfrm>
          <a:prstGeom prst="rect">
            <a:avLst/>
          </a:prstGeom>
          <a:solidFill>
            <a:schemeClr val="bg1"/>
          </a:solidFill>
          <a:ln>
            <a:noFill/>
          </a:ln>
          <a:effectLst/>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a:solidFill>
                  <a:schemeClr val="accent1"/>
                </a:solidFill>
                <a:latin typeface="Century Gothic" panose="020B0502020202020204" pitchFamily="34" charset="0"/>
              </a:rPr>
              <a:t>(-) Costo de Ventas</a:t>
            </a:r>
          </a:p>
        </p:txBody>
      </p:sp>
      <p:sp>
        <p:nvSpPr>
          <p:cNvPr id="9" name="Rectangle 8">
            <a:extLst>
              <a:ext uri="{FF2B5EF4-FFF2-40B4-BE49-F238E27FC236}">
                <a16:creationId xmlns:a16="http://schemas.microsoft.com/office/drawing/2014/main" id="{F2FDB344-7519-5308-C104-58A77EB3B6E3}"/>
              </a:ext>
            </a:extLst>
          </p:cNvPr>
          <p:cNvSpPr/>
          <p:nvPr/>
        </p:nvSpPr>
        <p:spPr>
          <a:xfrm>
            <a:off x="6540319" y="3300719"/>
            <a:ext cx="3496577" cy="400797"/>
          </a:xfrm>
          <a:prstGeom prst="rect">
            <a:avLst/>
          </a:prstGeom>
          <a:solidFill>
            <a:schemeClr val="bg1"/>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a:solidFill>
                  <a:schemeClr val="accent1"/>
                </a:solidFill>
                <a:latin typeface="Century Gothic" panose="020B0502020202020204" pitchFamily="34" charset="0"/>
              </a:rPr>
              <a:t>(-) Gastos AOM</a:t>
            </a:r>
          </a:p>
        </p:txBody>
      </p:sp>
      <p:sp>
        <p:nvSpPr>
          <p:cNvPr id="12" name="Rectangle 14">
            <a:extLst>
              <a:ext uri="{FF2B5EF4-FFF2-40B4-BE49-F238E27FC236}">
                <a16:creationId xmlns:a16="http://schemas.microsoft.com/office/drawing/2014/main" id="{E3860ABC-262E-D04D-549E-E3FBC7B783A2}"/>
              </a:ext>
            </a:extLst>
          </p:cNvPr>
          <p:cNvSpPr/>
          <p:nvPr/>
        </p:nvSpPr>
        <p:spPr>
          <a:xfrm>
            <a:off x="6540318" y="5402371"/>
            <a:ext cx="3496577" cy="400797"/>
          </a:xfrm>
          <a:prstGeom prst="rect">
            <a:avLst/>
          </a:prstGeom>
          <a:solidFill>
            <a:schemeClr val="bg1"/>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a:solidFill>
                  <a:schemeClr val="accent1"/>
                </a:solidFill>
                <a:latin typeface="Century Gothic" panose="020B0502020202020204" pitchFamily="34" charset="0"/>
              </a:rPr>
              <a:t>(-) Impuestos</a:t>
            </a:r>
          </a:p>
        </p:txBody>
      </p:sp>
      <p:sp>
        <p:nvSpPr>
          <p:cNvPr id="13" name="Rectangle 15">
            <a:extLst>
              <a:ext uri="{FF2B5EF4-FFF2-40B4-BE49-F238E27FC236}">
                <a16:creationId xmlns:a16="http://schemas.microsoft.com/office/drawing/2014/main" id="{6608B396-B480-A580-44C3-12866F1EBC9A}"/>
              </a:ext>
            </a:extLst>
          </p:cNvPr>
          <p:cNvSpPr/>
          <p:nvPr/>
        </p:nvSpPr>
        <p:spPr>
          <a:xfrm>
            <a:off x="6540318" y="5816397"/>
            <a:ext cx="3496577" cy="395658"/>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latin typeface="Century Gothic" panose="020B0502020202020204" pitchFamily="34" charset="0"/>
              </a:rPr>
              <a:t>Utilidad Neta</a:t>
            </a:r>
          </a:p>
        </p:txBody>
      </p:sp>
      <p:sp>
        <p:nvSpPr>
          <p:cNvPr id="14" name="Rectangle 2">
            <a:extLst>
              <a:ext uri="{FF2B5EF4-FFF2-40B4-BE49-F238E27FC236}">
                <a16:creationId xmlns:a16="http://schemas.microsoft.com/office/drawing/2014/main" id="{A8A3F081-9331-47A1-9798-6BC3B74268B0}"/>
              </a:ext>
            </a:extLst>
          </p:cNvPr>
          <p:cNvSpPr/>
          <p:nvPr/>
        </p:nvSpPr>
        <p:spPr>
          <a:xfrm>
            <a:off x="6540319" y="4112003"/>
            <a:ext cx="3496577" cy="468733"/>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latin typeface="Century Gothic" panose="020B0502020202020204" pitchFamily="34" charset="0"/>
              </a:rPr>
              <a:t>EBIT (UAII)</a:t>
            </a:r>
          </a:p>
        </p:txBody>
      </p:sp>
      <p:sp>
        <p:nvSpPr>
          <p:cNvPr id="15" name="Rectangle 5">
            <a:extLst>
              <a:ext uri="{FF2B5EF4-FFF2-40B4-BE49-F238E27FC236}">
                <a16:creationId xmlns:a16="http://schemas.microsoft.com/office/drawing/2014/main" id="{BA3A1A0F-353E-814E-0B7F-7896E3ABB94B}"/>
              </a:ext>
            </a:extLst>
          </p:cNvPr>
          <p:cNvSpPr/>
          <p:nvPr/>
        </p:nvSpPr>
        <p:spPr>
          <a:xfrm>
            <a:off x="6540320" y="1907644"/>
            <a:ext cx="3496577" cy="479214"/>
          </a:xfrm>
          <a:prstGeom prst="rect">
            <a:avLst/>
          </a:prstGeom>
          <a:solidFill>
            <a:schemeClr val="bg1"/>
          </a:solidFill>
          <a:ln>
            <a:noFill/>
          </a:ln>
          <a:effectLst/>
          <a:scene3d>
            <a:camera prst="orthographicFront"/>
            <a:lightRig rig="threePt" dir="t"/>
          </a:scene3d>
          <a:sp3d/>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_tradnl" sz="1600" dirty="0">
                <a:solidFill>
                  <a:schemeClr val="accent1"/>
                </a:solidFill>
                <a:latin typeface="Century Gothic" panose="020B0502020202020204" pitchFamily="34" charset="0"/>
              </a:rPr>
              <a:t>Ingresos Ordinarios</a:t>
            </a:r>
          </a:p>
        </p:txBody>
      </p:sp>
      <p:sp>
        <p:nvSpPr>
          <p:cNvPr id="16" name="Rectangle 8">
            <a:extLst>
              <a:ext uri="{FF2B5EF4-FFF2-40B4-BE49-F238E27FC236}">
                <a16:creationId xmlns:a16="http://schemas.microsoft.com/office/drawing/2014/main" id="{2E2F36D5-DCFF-17EC-C24C-6EF462C72FFB}"/>
              </a:ext>
            </a:extLst>
          </p:cNvPr>
          <p:cNvSpPr/>
          <p:nvPr/>
        </p:nvSpPr>
        <p:spPr>
          <a:xfrm>
            <a:off x="6540320" y="2886538"/>
            <a:ext cx="3496577" cy="400797"/>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latin typeface="Century Gothic" panose="020B0502020202020204" pitchFamily="34" charset="0"/>
              </a:rPr>
              <a:t>Utilidad Bruta</a:t>
            </a:r>
          </a:p>
        </p:txBody>
      </p:sp>
      <p:sp>
        <p:nvSpPr>
          <p:cNvPr id="17" name="Rectangle 8">
            <a:extLst>
              <a:ext uri="{FF2B5EF4-FFF2-40B4-BE49-F238E27FC236}">
                <a16:creationId xmlns:a16="http://schemas.microsoft.com/office/drawing/2014/main" id="{7BEFECB3-48A3-057D-6B61-18380128E7A6}"/>
              </a:ext>
            </a:extLst>
          </p:cNvPr>
          <p:cNvSpPr/>
          <p:nvPr/>
        </p:nvSpPr>
        <p:spPr>
          <a:xfrm>
            <a:off x="6540318" y="3701517"/>
            <a:ext cx="3496577" cy="400797"/>
          </a:xfrm>
          <a:prstGeom prst="rect">
            <a:avLst/>
          </a:prstGeom>
          <a:solidFill>
            <a:schemeClr val="bg1"/>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dirty="0">
                <a:solidFill>
                  <a:schemeClr val="accent1"/>
                </a:solidFill>
                <a:latin typeface="Century Gothic" panose="020B0502020202020204" pitchFamily="34" charset="0"/>
              </a:rPr>
              <a:t>(-) Depreciación &amp; Amortización</a:t>
            </a:r>
          </a:p>
        </p:txBody>
      </p:sp>
      <p:sp>
        <p:nvSpPr>
          <p:cNvPr id="18" name="Rectangle 13">
            <a:extLst>
              <a:ext uri="{FF2B5EF4-FFF2-40B4-BE49-F238E27FC236}">
                <a16:creationId xmlns:a16="http://schemas.microsoft.com/office/drawing/2014/main" id="{1471B657-DC83-9020-C355-6C9C182E68AB}"/>
              </a:ext>
            </a:extLst>
          </p:cNvPr>
          <p:cNvSpPr/>
          <p:nvPr/>
        </p:nvSpPr>
        <p:spPr>
          <a:xfrm>
            <a:off x="6540318" y="4585504"/>
            <a:ext cx="3496577" cy="378540"/>
          </a:xfrm>
          <a:prstGeom prst="rect">
            <a:avLst/>
          </a:prstGeom>
          <a:solidFill>
            <a:schemeClr val="bg1"/>
          </a:solidFill>
          <a:ln>
            <a:noFill/>
          </a:ln>
          <a:effectLst/>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a:solidFill>
                  <a:schemeClr val="accent1"/>
                </a:solidFill>
                <a:latin typeface="Century Gothic" panose="020B0502020202020204" pitchFamily="34" charset="0"/>
              </a:rPr>
              <a:t>(-) Otros Egresos</a:t>
            </a:r>
          </a:p>
        </p:txBody>
      </p:sp>
      <p:sp>
        <p:nvSpPr>
          <p:cNvPr id="19" name="Rectangle 2">
            <a:extLst>
              <a:ext uri="{FF2B5EF4-FFF2-40B4-BE49-F238E27FC236}">
                <a16:creationId xmlns:a16="http://schemas.microsoft.com/office/drawing/2014/main" id="{10B5FD4C-E831-A94E-0DA9-5998B1DA9CDB}"/>
              </a:ext>
            </a:extLst>
          </p:cNvPr>
          <p:cNvSpPr/>
          <p:nvPr/>
        </p:nvSpPr>
        <p:spPr>
          <a:xfrm>
            <a:off x="6540320" y="4942044"/>
            <a:ext cx="3496577" cy="468733"/>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600">
                <a:latin typeface="Century Gothic" panose="020B0502020202020204" pitchFamily="34" charset="0"/>
              </a:rPr>
              <a:t>Utilidad Antes de Impuestos (UAI)</a:t>
            </a:r>
          </a:p>
        </p:txBody>
      </p:sp>
      <p:sp>
        <p:nvSpPr>
          <p:cNvPr id="20" name="Rectangle 7">
            <a:extLst>
              <a:ext uri="{FF2B5EF4-FFF2-40B4-BE49-F238E27FC236}">
                <a16:creationId xmlns:a16="http://schemas.microsoft.com/office/drawing/2014/main" id="{6DCEA783-E2D9-2B31-C33B-4EAFF47C9D49}"/>
              </a:ext>
            </a:extLst>
          </p:cNvPr>
          <p:cNvSpPr/>
          <p:nvPr/>
        </p:nvSpPr>
        <p:spPr>
          <a:xfrm>
            <a:off x="9954962" y="2384265"/>
            <a:ext cx="1206680" cy="501914"/>
          </a:xfrm>
          <a:prstGeom prst="rect">
            <a:avLst/>
          </a:prstGeom>
          <a:solidFill>
            <a:schemeClr val="bg1"/>
          </a:solidFill>
          <a:ln>
            <a:noFill/>
          </a:ln>
          <a:effectLst/>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a:solidFill>
                  <a:schemeClr val="accent1"/>
                </a:solidFill>
                <a:latin typeface="Century Gothic" panose="020B0502020202020204" pitchFamily="34" charset="0"/>
              </a:rPr>
              <a:t>10</a:t>
            </a:r>
          </a:p>
        </p:txBody>
      </p:sp>
      <p:sp>
        <p:nvSpPr>
          <p:cNvPr id="21" name="Rectangle 8">
            <a:extLst>
              <a:ext uri="{FF2B5EF4-FFF2-40B4-BE49-F238E27FC236}">
                <a16:creationId xmlns:a16="http://schemas.microsoft.com/office/drawing/2014/main" id="{7644CD10-5D96-1631-685E-14232926F918}"/>
              </a:ext>
            </a:extLst>
          </p:cNvPr>
          <p:cNvSpPr/>
          <p:nvPr/>
        </p:nvSpPr>
        <p:spPr>
          <a:xfrm>
            <a:off x="9954961" y="3300361"/>
            <a:ext cx="1206680" cy="400797"/>
          </a:xfrm>
          <a:prstGeom prst="rect">
            <a:avLst/>
          </a:prstGeom>
          <a:solidFill>
            <a:schemeClr val="bg1"/>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a:solidFill>
                  <a:schemeClr val="accent1"/>
                </a:solidFill>
                <a:latin typeface="Century Gothic" panose="020B0502020202020204" pitchFamily="34" charset="0"/>
              </a:rPr>
              <a:t>6</a:t>
            </a:r>
          </a:p>
        </p:txBody>
      </p:sp>
      <p:sp>
        <p:nvSpPr>
          <p:cNvPr id="22" name="Rectangle 14">
            <a:extLst>
              <a:ext uri="{FF2B5EF4-FFF2-40B4-BE49-F238E27FC236}">
                <a16:creationId xmlns:a16="http://schemas.microsoft.com/office/drawing/2014/main" id="{ABB21015-ED66-04FF-6516-CD3F6F43630D}"/>
              </a:ext>
            </a:extLst>
          </p:cNvPr>
          <p:cNvSpPr/>
          <p:nvPr/>
        </p:nvSpPr>
        <p:spPr>
          <a:xfrm>
            <a:off x="9954960" y="5402013"/>
            <a:ext cx="1206680" cy="400797"/>
          </a:xfrm>
          <a:prstGeom prst="rect">
            <a:avLst/>
          </a:prstGeom>
          <a:solidFill>
            <a:schemeClr val="bg1"/>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a:solidFill>
                  <a:schemeClr val="accent1"/>
                </a:solidFill>
                <a:latin typeface="Century Gothic" panose="020B0502020202020204" pitchFamily="34" charset="0"/>
              </a:rPr>
              <a:t>3</a:t>
            </a:r>
          </a:p>
        </p:txBody>
      </p:sp>
      <p:sp>
        <p:nvSpPr>
          <p:cNvPr id="23" name="Rectangle 15">
            <a:extLst>
              <a:ext uri="{FF2B5EF4-FFF2-40B4-BE49-F238E27FC236}">
                <a16:creationId xmlns:a16="http://schemas.microsoft.com/office/drawing/2014/main" id="{6BDB88D4-D396-CC80-418F-C66036473AE3}"/>
              </a:ext>
            </a:extLst>
          </p:cNvPr>
          <p:cNvSpPr/>
          <p:nvPr/>
        </p:nvSpPr>
        <p:spPr>
          <a:xfrm>
            <a:off x="9954960" y="5816039"/>
            <a:ext cx="1206680" cy="395658"/>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latin typeface="Century Gothic" panose="020B0502020202020204" pitchFamily="34" charset="0"/>
              </a:rPr>
              <a:t>7</a:t>
            </a:r>
          </a:p>
        </p:txBody>
      </p:sp>
      <p:sp>
        <p:nvSpPr>
          <p:cNvPr id="24" name="Rectangle 2">
            <a:extLst>
              <a:ext uri="{FF2B5EF4-FFF2-40B4-BE49-F238E27FC236}">
                <a16:creationId xmlns:a16="http://schemas.microsoft.com/office/drawing/2014/main" id="{95258D86-BEFE-E8C5-F780-782EF35BB9C3}"/>
              </a:ext>
            </a:extLst>
          </p:cNvPr>
          <p:cNvSpPr/>
          <p:nvPr/>
        </p:nvSpPr>
        <p:spPr>
          <a:xfrm>
            <a:off x="9954961" y="4111645"/>
            <a:ext cx="1206680" cy="468733"/>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latin typeface="Century Gothic" panose="020B0502020202020204" pitchFamily="34" charset="0"/>
              </a:rPr>
              <a:t>12</a:t>
            </a:r>
          </a:p>
        </p:txBody>
      </p:sp>
      <p:sp>
        <p:nvSpPr>
          <p:cNvPr id="25" name="Rectangle 5">
            <a:extLst>
              <a:ext uri="{FF2B5EF4-FFF2-40B4-BE49-F238E27FC236}">
                <a16:creationId xmlns:a16="http://schemas.microsoft.com/office/drawing/2014/main" id="{8B827310-4605-D167-86B2-A5927DE00E8A}"/>
              </a:ext>
            </a:extLst>
          </p:cNvPr>
          <p:cNvSpPr/>
          <p:nvPr/>
        </p:nvSpPr>
        <p:spPr>
          <a:xfrm>
            <a:off x="9954962" y="1907286"/>
            <a:ext cx="1206680" cy="479214"/>
          </a:xfrm>
          <a:prstGeom prst="rect">
            <a:avLst/>
          </a:prstGeom>
          <a:solidFill>
            <a:schemeClr val="bg1"/>
          </a:solidFill>
          <a:ln>
            <a:noFill/>
          </a:ln>
          <a:effectLst/>
          <a:scene3d>
            <a:camera prst="orthographicFront"/>
            <a:lightRig rig="threePt" dir="t"/>
          </a:scene3d>
          <a:sp3d/>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_tradnl" sz="1600">
                <a:solidFill>
                  <a:schemeClr val="accent1"/>
                </a:solidFill>
                <a:latin typeface="Century Gothic" panose="020B0502020202020204" pitchFamily="34" charset="0"/>
              </a:rPr>
              <a:t>30</a:t>
            </a:r>
          </a:p>
        </p:txBody>
      </p:sp>
      <p:sp>
        <p:nvSpPr>
          <p:cNvPr id="26" name="Rectangle 8">
            <a:extLst>
              <a:ext uri="{FF2B5EF4-FFF2-40B4-BE49-F238E27FC236}">
                <a16:creationId xmlns:a16="http://schemas.microsoft.com/office/drawing/2014/main" id="{C96F8D20-5627-34A6-9A98-A9878668C80D}"/>
              </a:ext>
            </a:extLst>
          </p:cNvPr>
          <p:cNvSpPr/>
          <p:nvPr/>
        </p:nvSpPr>
        <p:spPr>
          <a:xfrm>
            <a:off x="9954962" y="2886180"/>
            <a:ext cx="1206680" cy="400797"/>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latin typeface="Century Gothic" panose="020B0502020202020204" pitchFamily="34" charset="0"/>
              </a:rPr>
              <a:t>20</a:t>
            </a:r>
          </a:p>
        </p:txBody>
      </p:sp>
      <p:sp>
        <p:nvSpPr>
          <p:cNvPr id="27" name="Rectangle 8">
            <a:extLst>
              <a:ext uri="{FF2B5EF4-FFF2-40B4-BE49-F238E27FC236}">
                <a16:creationId xmlns:a16="http://schemas.microsoft.com/office/drawing/2014/main" id="{34C53DE5-2654-0C75-291D-126BE9231C06}"/>
              </a:ext>
            </a:extLst>
          </p:cNvPr>
          <p:cNvSpPr/>
          <p:nvPr/>
        </p:nvSpPr>
        <p:spPr>
          <a:xfrm>
            <a:off x="9954960" y="3701159"/>
            <a:ext cx="1206680" cy="400797"/>
          </a:xfrm>
          <a:prstGeom prst="rect">
            <a:avLst/>
          </a:prstGeom>
          <a:solidFill>
            <a:schemeClr val="bg1"/>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a:solidFill>
                  <a:schemeClr val="accent1"/>
                </a:solidFill>
                <a:latin typeface="Century Gothic" panose="020B0502020202020204" pitchFamily="34" charset="0"/>
              </a:rPr>
              <a:t>2</a:t>
            </a:r>
          </a:p>
        </p:txBody>
      </p:sp>
      <p:sp>
        <p:nvSpPr>
          <p:cNvPr id="28" name="Rectangle 13">
            <a:extLst>
              <a:ext uri="{FF2B5EF4-FFF2-40B4-BE49-F238E27FC236}">
                <a16:creationId xmlns:a16="http://schemas.microsoft.com/office/drawing/2014/main" id="{92746CE3-65D2-D0C7-E16F-2AF068FF274D}"/>
              </a:ext>
            </a:extLst>
          </p:cNvPr>
          <p:cNvSpPr/>
          <p:nvPr/>
        </p:nvSpPr>
        <p:spPr>
          <a:xfrm>
            <a:off x="9954960" y="4585146"/>
            <a:ext cx="1206680" cy="378540"/>
          </a:xfrm>
          <a:prstGeom prst="rect">
            <a:avLst/>
          </a:prstGeom>
          <a:solidFill>
            <a:schemeClr val="bg1"/>
          </a:solidFill>
          <a:ln>
            <a:noFill/>
          </a:ln>
          <a:effectLst/>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a:solidFill>
                  <a:schemeClr val="accent1"/>
                </a:solidFill>
                <a:latin typeface="Century Gothic" panose="020B0502020202020204" pitchFamily="34" charset="0"/>
              </a:rPr>
              <a:t>2</a:t>
            </a:r>
          </a:p>
        </p:txBody>
      </p:sp>
      <p:sp>
        <p:nvSpPr>
          <p:cNvPr id="29" name="Rectangle 2">
            <a:extLst>
              <a:ext uri="{FF2B5EF4-FFF2-40B4-BE49-F238E27FC236}">
                <a16:creationId xmlns:a16="http://schemas.microsoft.com/office/drawing/2014/main" id="{A0E482ED-2686-D99B-2163-0AC32BA44081}"/>
              </a:ext>
            </a:extLst>
          </p:cNvPr>
          <p:cNvSpPr/>
          <p:nvPr/>
        </p:nvSpPr>
        <p:spPr>
          <a:xfrm>
            <a:off x="9954962" y="4941686"/>
            <a:ext cx="1206680" cy="468733"/>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600">
                <a:latin typeface="Century Gothic" panose="020B0502020202020204" pitchFamily="34" charset="0"/>
              </a:rPr>
              <a:t>10</a:t>
            </a:r>
          </a:p>
        </p:txBody>
      </p:sp>
      <p:sp>
        <p:nvSpPr>
          <p:cNvPr id="5" name="Marcador de número de diapositiva 3">
            <a:extLst>
              <a:ext uri="{FF2B5EF4-FFF2-40B4-BE49-F238E27FC236}">
                <a16:creationId xmlns:a16="http://schemas.microsoft.com/office/drawing/2014/main" id="{93DF25B3-497B-462C-183E-12FF28CA9A1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37</a:t>
            </a:fld>
            <a:endParaRPr lang="en-US" sz="2000" b="1">
              <a:latin typeface="Century Gothic" panose="020B0502020202020204" pitchFamily="34" charset="0"/>
            </a:endParaRPr>
          </a:p>
        </p:txBody>
      </p:sp>
    </p:spTree>
    <p:extLst>
      <p:ext uri="{BB962C8B-B14F-4D97-AF65-F5344CB8AC3E}">
        <p14:creationId xmlns:p14="http://schemas.microsoft.com/office/powerpoint/2010/main" val="3284231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500"/>
                                        <p:tgtEl>
                                          <p:spTgt spid="2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500"/>
                                        <p:tgtEl>
                                          <p:spTgt spid="2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500"/>
                                        <p:tgtEl>
                                          <p:spTgt spid="2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¿Cómo SE ESTIMA EL EFECTIVO?</a:t>
            </a:r>
          </a:p>
        </p:txBody>
      </p:sp>
      <p:sp>
        <p:nvSpPr>
          <p:cNvPr id="3" name="Marcador de contenido 2"/>
          <p:cNvSpPr>
            <a:spLocks noGrp="1"/>
          </p:cNvSpPr>
          <p:nvPr>
            <p:ph idx="1"/>
          </p:nvPr>
        </p:nvSpPr>
        <p:spPr>
          <a:xfrm>
            <a:off x="776607" y="2277834"/>
            <a:ext cx="8595360" cy="3678303"/>
          </a:xfrm>
        </p:spPr>
        <p:txBody>
          <a:bodyPr>
            <a:normAutofit/>
          </a:bodyPr>
          <a:lstStyle/>
          <a:p>
            <a:pPr marL="0" indent="0">
              <a:buNone/>
            </a:pPr>
            <a:r>
              <a:rPr lang="es-ES" dirty="0">
                <a:solidFill>
                  <a:schemeClr val="accent1"/>
                </a:solidFill>
                <a:latin typeface="Century Gothic" panose="020B0502020202020204" pitchFamily="34" charset="0"/>
              </a:rPr>
              <a:t>Con lo anterior en mente, ¿Qué utilizarían ustedes como flujos de caja para evaluar un proyecto/compañía?</a:t>
            </a:r>
          </a:p>
          <a:p>
            <a:pPr marL="0" indent="0">
              <a:buNone/>
            </a:pPr>
            <a:endParaRPr lang="es-ES" dirty="0">
              <a:solidFill>
                <a:schemeClr val="accent1"/>
              </a:solidFill>
              <a:latin typeface="Century Gothic" panose="020B0502020202020204" pitchFamily="34" charset="0"/>
            </a:endParaRPr>
          </a:p>
          <a:p>
            <a:pPr marL="0" indent="0">
              <a:buNone/>
            </a:pPr>
            <a:r>
              <a:rPr lang="es-ES" dirty="0">
                <a:solidFill>
                  <a:schemeClr val="accent1"/>
                </a:solidFill>
                <a:latin typeface="Century Gothic" panose="020B0502020202020204" pitchFamily="34" charset="0"/>
              </a:rPr>
              <a:t>Una primera aproximación a los flujos de caja es, entonces, la utilidad.</a:t>
            </a:r>
          </a:p>
          <a:p>
            <a:pPr marL="0" indent="0">
              <a:buNone/>
            </a:pPr>
            <a:endParaRPr lang="es-ES" dirty="0">
              <a:latin typeface="Century Gothic" panose="020B0502020202020204" pitchFamily="34" charset="0"/>
            </a:endParaRPr>
          </a:p>
          <a:p>
            <a:pPr marL="0" indent="0" algn="ctr">
              <a:buNone/>
            </a:pPr>
            <a:r>
              <a:rPr lang="es-ES" b="1" dirty="0">
                <a:solidFill>
                  <a:srgbClr val="D7A700"/>
                </a:solidFill>
                <a:latin typeface="Century Gothic" panose="020B0502020202020204" pitchFamily="34" charset="0"/>
              </a:rPr>
              <a:t>Pero ¿es la utilidad adecuada para reflejar los flujos de efectivo de un proyecto/compañía?</a:t>
            </a:r>
          </a:p>
          <a:p>
            <a:pPr marL="0" indent="0" algn="ctr">
              <a:buNone/>
            </a:pPr>
            <a:endParaRPr lang="es-ES" dirty="0">
              <a:solidFill>
                <a:srgbClr val="800000"/>
              </a:solidFill>
              <a:latin typeface="Century Gothic" panose="020B0502020202020204" pitchFamily="34" charset="0"/>
            </a:endParaRPr>
          </a:p>
          <a:p>
            <a:pPr marL="0" indent="0">
              <a:buNone/>
            </a:pPr>
            <a:r>
              <a:rPr lang="es-ES" dirty="0">
                <a:solidFill>
                  <a:schemeClr val="accent1"/>
                </a:solidFill>
                <a:latin typeface="Century Gothic" panose="020B0502020202020204" pitchFamily="34" charset="0"/>
              </a:rPr>
              <a:t>Veamos varios ejemplos ilustrativos para demostrar que</a:t>
            </a:r>
            <a:r>
              <a:rPr lang="es-ES" dirty="0">
                <a:latin typeface="Century Gothic" panose="020B0502020202020204" pitchFamily="34" charset="0"/>
              </a:rPr>
              <a:t> </a:t>
            </a:r>
            <a:r>
              <a:rPr lang="es-ES" b="1" dirty="0">
                <a:solidFill>
                  <a:srgbClr val="C00000"/>
                </a:solidFill>
                <a:latin typeface="Century Gothic" panose="020B0502020202020204" pitchFamily="34" charset="0"/>
              </a:rPr>
              <a:t>NO</a:t>
            </a:r>
            <a:r>
              <a:rPr lang="es-ES" dirty="0">
                <a:latin typeface="Century Gothic" panose="020B0502020202020204" pitchFamily="34" charset="0"/>
              </a:rPr>
              <a:t> </a:t>
            </a:r>
            <a:r>
              <a:rPr lang="es-ES" dirty="0">
                <a:solidFill>
                  <a:schemeClr val="accent1"/>
                </a:solidFill>
                <a:latin typeface="Century Gothic" panose="020B0502020202020204" pitchFamily="34" charset="0"/>
              </a:rPr>
              <a:t>es así.</a:t>
            </a:r>
          </a:p>
        </p:txBody>
      </p:sp>
      <p:sp>
        <p:nvSpPr>
          <p:cNvPr id="9" name="Rectángulo 8">
            <a:extLst>
              <a:ext uri="{FF2B5EF4-FFF2-40B4-BE49-F238E27FC236}">
                <a16:creationId xmlns:a16="http://schemas.microsoft.com/office/drawing/2014/main" id="{66D04C5D-92E2-8381-6E03-83C4B11397D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E7BF6818-F5E1-44D5-D914-674DA7083F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4F37FF22-0477-1ED4-710C-26A592B2696D}"/>
              </a:ext>
            </a:extLst>
          </p:cNvPr>
          <p:cNvPicPr>
            <a:picLocks noChangeAspect="1"/>
          </p:cNvPicPr>
          <p:nvPr/>
        </p:nvPicPr>
        <p:blipFill>
          <a:blip r:embed="rId4"/>
          <a:stretch>
            <a:fillRect/>
          </a:stretch>
        </p:blipFill>
        <p:spPr>
          <a:xfrm>
            <a:off x="9182259" y="3427856"/>
            <a:ext cx="2555114" cy="1758435"/>
          </a:xfrm>
          <a:prstGeom prst="rect">
            <a:avLst/>
          </a:prstGeom>
        </p:spPr>
      </p:pic>
      <p:sp>
        <p:nvSpPr>
          <p:cNvPr id="5" name="Rectángulo 4">
            <a:extLst>
              <a:ext uri="{FF2B5EF4-FFF2-40B4-BE49-F238E27FC236}">
                <a16:creationId xmlns:a16="http://schemas.microsoft.com/office/drawing/2014/main" id="{06E97902-63D4-8618-3842-7EB60545676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70AA94D2-30D0-7571-D65C-C5C20792AF8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38</a:t>
            </a:fld>
            <a:endParaRPr lang="en-US" sz="2000" b="1">
              <a:latin typeface="Century Gothic" panose="020B0502020202020204" pitchFamily="34" charset="0"/>
            </a:endParaRPr>
          </a:p>
        </p:txBody>
      </p:sp>
    </p:spTree>
    <p:extLst>
      <p:ext uri="{BB962C8B-B14F-4D97-AF65-F5344CB8AC3E}">
        <p14:creationId xmlns:p14="http://schemas.microsoft.com/office/powerpoint/2010/main" val="3596443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416707"/>
            <a:ext cx="8540907" cy="3046988"/>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a:solidFill>
                  <a:schemeClr val="tx2">
                    <a:lumMod val="20000"/>
                    <a:lumOff val="80000"/>
                  </a:schemeClr>
                </a:solidFill>
                <a:latin typeface="Century Gothic"/>
                <a:cs typeface="Arial"/>
              </a:rPr>
              <a:t>Construcción del Flujo de Caja Libre.</a:t>
            </a:r>
            <a:endParaRPr lang="es-ES" sz="1600">
              <a:solidFill>
                <a:schemeClr val="tx2">
                  <a:lumMod val="20000"/>
                  <a:lumOff val="80000"/>
                </a:schemeClr>
              </a:solidFill>
              <a:latin typeface="Century Gothic"/>
              <a:cs typeface="Arial"/>
            </a:endParaRPr>
          </a:p>
          <a:p>
            <a:pPr marL="342900" indent="-342900">
              <a:buClr>
                <a:srgbClr val="2C7C9F"/>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Principios de Contabilidad.</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Principio de Causación VS. Principio de Caja.</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 de Pertinencia.</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Gastos No Efectivos.</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Flujo de Caja Libre (FCL).</a:t>
            </a:r>
            <a:endParaRPr lang="es-CO" sz="1600">
              <a:solidFill>
                <a:schemeClr val="tx2">
                  <a:lumMod val="20000"/>
                  <a:lumOff val="80000"/>
                </a:schemeClr>
              </a:solidFill>
              <a:latin typeface="Century Gothic" panose="020B0502020202020204" pitchFamily="34" charset="0"/>
              <a:cs typeface="Arial"/>
            </a:endParaRPr>
          </a:p>
          <a:p>
            <a:pPr>
              <a:buClr>
                <a:schemeClr val="accent3">
                  <a:lumMod val="75000"/>
                </a:schemeClr>
              </a:buClr>
            </a:pPr>
            <a:endParaRPr lang="es-CO" sz="160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6E4E4A3B-0A35-5B75-A6B5-ADC955D1A79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944D0F83-49A0-2CBF-3128-07D6DFE1109A}"/>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39</a:t>
            </a:fld>
            <a:endParaRPr lang="en-US" sz="2000" b="1">
              <a:latin typeface="Century Gothic" panose="020B0502020202020204" pitchFamily="34" charset="0"/>
            </a:endParaRPr>
          </a:p>
        </p:txBody>
      </p:sp>
    </p:spTree>
    <p:extLst>
      <p:ext uri="{BB962C8B-B14F-4D97-AF65-F5344CB8AC3E}">
        <p14:creationId xmlns:p14="http://schemas.microsoft.com/office/powerpoint/2010/main" val="368201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Principio de Causación vs. Caja</a:t>
            </a:r>
          </a:p>
        </p:txBody>
      </p:sp>
      <p:sp>
        <p:nvSpPr>
          <p:cNvPr id="3" name="Marcador de contenido 2"/>
          <p:cNvSpPr>
            <a:spLocks noGrp="1"/>
          </p:cNvSpPr>
          <p:nvPr>
            <p:ph idx="1"/>
          </p:nvPr>
        </p:nvSpPr>
        <p:spPr>
          <a:xfrm>
            <a:off x="917748" y="2684691"/>
            <a:ext cx="5189358" cy="767570"/>
          </a:xfrm>
        </p:spPr>
        <p:txBody>
          <a:bodyPr>
            <a:noAutofit/>
          </a:bodyPr>
          <a:lstStyle/>
          <a:p>
            <a:pPr marL="0" indent="0" algn="just">
              <a:buNone/>
            </a:pPr>
            <a:r>
              <a:rPr lang="es-ES" sz="2000" b="1">
                <a:solidFill>
                  <a:srgbClr val="C00000"/>
                </a:solidFill>
                <a:latin typeface="Century Gothic" panose="020B0502020202020204" pitchFamily="34" charset="0"/>
              </a:rPr>
              <a:t>Ejemplo 1: </a:t>
            </a:r>
          </a:p>
          <a:p>
            <a:pPr marL="0" indent="0" algn="just">
              <a:buNone/>
            </a:pPr>
            <a:r>
              <a:rPr lang="es-ES">
                <a:solidFill>
                  <a:schemeClr val="accent1"/>
                </a:solidFill>
                <a:latin typeface="Century Gothic" panose="020B0502020202020204" pitchFamily="34" charset="0"/>
              </a:rPr>
              <a:t>Usted tiene un </a:t>
            </a:r>
            <a:r>
              <a:rPr lang="es-ES" err="1">
                <a:solidFill>
                  <a:schemeClr val="accent1"/>
                </a:solidFill>
                <a:latin typeface="Century Gothic" panose="020B0502020202020204" pitchFamily="34" charset="0"/>
              </a:rPr>
              <a:t>smartphone</a:t>
            </a:r>
            <a:r>
              <a:rPr lang="es-ES">
                <a:solidFill>
                  <a:schemeClr val="accent1"/>
                </a:solidFill>
                <a:latin typeface="Century Gothic" panose="020B0502020202020204" pitchFamily="34" charset="0"/>
              </a:rPr>
              <a:t> último modelo como el que se muestra a continuación.</a:t>
            </a:r>
          </a:p>
          <a:p>
            <a:pPr algn="just"/>
            <a:endParaRPr lang="es-ES">
              <a:solidFill>
                <a:schemeClr val="accent1"/>
              </a:solidFill>
              <a:latin typeface="Century Gothic" panose="020B0502020202020204" pitchFamily="34" charset="0"/>
            </a:endParaRPr>
          </a:p>
        </p:txBody>
      </p:sp>
      <p:sp>
        <p:nvSpPr>
          <p:cNvPr id="5" name="Marcador de contenido 2"/>
          <p:cNvSpPr txBox="1">
            <a:spLocks/>
          </p:cNvSpPr>
          <p:nvPr/>
        </p:nvSpPr>
        <p:spPr>
          <a:xfrm>
            <a:off x="917748" y="5937477"/>
            <a:ext cx="7610476" cy="767570"/>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buNone/>
            </a:pPr>
            <a:r>
              <a:rPr lang="es-ES" sz="1800">
                <a:solidFill>
                  <a:schemeClr val="accent1"/>
                </a:solidFill>
                <a:latin typeface="Century Gothic" panose="020B0502020202020204" pitchFamily="34" charset="0"/>
              </a:rPr>
              <a:t>Usted, por alguna razón, decide vender su celular.</a:t>
            </a:r>
          </a:p>
        </p:txBody>
      </p:sp>
      <p:pic>
        <p:nvPicPr>
          <p:cNvPr id="3074" name="Picture 2" descr="Resultado de imagen para iphon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1512" y="1993755"/>
            <a:ext cx="3962382" cy="3962382"/>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7FECE644-BA30-E448-A886-B132400BEEF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54DA86E4-C0C9-9449-7570-4E2EB8F894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0E72B061-D37D-79BC-9691-8E56E9C2606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Marcador de número de diapositiva 3">
            <a:extLst>
              <a:ext uri="{FF2B5EF4-FFF2-40B4-BE49-F238E27FC236}">
                <a16:creationId xmlns:a16="http://schemas.microsoft.com/office/drawing/2014/main" id="{2DEF1285-0B2B-6290-EC06-E24476AFCD6D}"/>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40</a:t>
            </a:fld>
            <a:endParaRPr lang="en-US" sz="2000" b="1">
              <a:latin typeface="Century Gothic" panose="020B0502020202020204" pitchFamily="34" charset="0"/>
            </a:endParaRPr>
          </a:p>
        </p:txBody>
      </p:sp>
    </p:spTree>
    <p:extLst>
      <p:ext uri="{BB962C8B-B14F-4D97-AF65-F5344CB8AC3E}">
        <p14:creationId xmlns:p14="http://schemas.microsoft.com/office/powerpoint/2010/main" val="819934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Principio de Causación vs. Caja</a:t>
            </a:r>
          </a:p>
        </p:txBody>
      </p:sp>
      <p:sp>
        <p:nvSpPr>
          <p:cNvPr id="3" name="Marcador de contenido 2"/>
          <p:cNvSpPr>
            <a:spLocks noGrp="1"/>
          </p:cNvSpPr>
          <p:nvPr>
            <p:ph idx="1"/>
          </p:nvPr>
        </p:nvSpPr>
        <p:spPr>
          <a:xfrm>
            <a:off x="3769299" y="2574298"/>
            <a:ext cx="7629385" cy="3278295"/>
          </a:xfrm>
        </p:spPr>
        <p:txBody>
          <a:bodyPr>
            <a:normAutofit/>
          </a:bodyPr>
          <a:lstStyle/>
          <a:p>
            <a:pPr marL="0" indent="0" algn="ctr">
              <a:buNone/>
            </a:pPr>
            <a:r>
              <a:rPr lang="es-ES">
                <a:solidFill>
                  <a:schemeClr val="accent1"/>
                </a:solidFill>
                <a:latin typeface="Century Gothic" panose="020B0502020202020204" pitchFamily="34" charset="0"/>
              </a:rPr>
              <a:t>Su comprador, escaso de plata, le promete pagarle su celular en seis meses.</a:t>
            </a:r>
          </a:p>
          <a:p>
            <a:pPr marL="0" indent="0" algn="ctr">
              <a:buNone/>
            </a:pPr>
            <a:endParaRPr lang="es-ES">
              <a:solidFill>
                <a:schemeClr val="accent1"/>
              </a:solidFill>
              <a:latin typeface="Century Gothic" panose="020B0502020202020204" pitchFamily="34" charset="0"/>
            </a:endParaRPr>
          </a:p>
          <a:p>
            <a:pPr marL="0" indent="0" algn="ctr">
              <a:buNone/>
            </a:pPr>
            <a:r>
              <a:rPr lang="es-ES" b="1">
                <a:solidFill>
                  <a:schemeClr val="accent3">
                    <a:lumMod val="75000"/>
                  </a:schemeClr>
                </a:solidFill>
                <a:latin typeface="Century Gothic" panose="020B0502020202020204" pitchFamily="34" charset="0"/>
              </a:rPr>
              <a:t>¿En qué momento entrega usted el celular?</a:t>
            </a:r>
            <a:r>
              <a:rPr lang="es-ES">
                <a:solidFill>
                  <a:schemeClr val="accent1"/>
                </a:solidFill>
                <a:latin typeface="Century Gothic" panose="020B0502020202020204" pitchFamily="34" charset="0"/>
              </a:rPr>
              <a:t> </a:t>
            </a:r>
            <a:r>
              <a:rPr lang="es-ES" b="1">
                <a:solidFill>
                  <a:srgbClr val="C00000"/>
                </a:solidFill>
                <a:latin typeface="Century Gothic" panose="020B0502020202020204" pitchFamily="34" charset="0"/>
              </a:rPr>
              <a:t>(Obligación de venta)</a:t>
            </a:r>
          </a:p>
          <a:p>
            <a:pPr marL="0" indent="0" algn="ctr">
              <a:buNone/>
            </a:pPr>
            <a:r>
              <a:rPr lang="es-ES" b="1">
                <a:solidFill>
                  <a:schemeClr val="accent3">
                    <a:lumMod val="75000"/>
                  </a:schemeClr>
                </a:solidFill>
                <a:latin typeface="Century Gothic" panose="020B0502020202020204" pitchFamily="34" charset="0"/>
              </a:rPr>
              <a:t>¿En qué momento le pagan el celular?</a:t>
            </a:r>
          </a:p>
          <a:p>
            <a:pPr marL="0" indent="0" algn="ctr">
              <a:buNone/>
            </a:pPr>
            <a:r>
              <a:rPr lang="es-ES" b="1">
                <a:solidFill>
                  <a:schemeClr val="accent3">
                    <a:lumMod val="75000"/>
                  </a:schemeClr>
                </a:solidFill>
                <a:latin typeface="Century Gothic" panose="020B0502020202020204" pitchFamily="34" charset="0"/>
              </a:rPr>
              <a:t>¿Son siempre el mismo momento?</a:t>
            </a:r>
          </a:p>
          <a:p>
            <a:pPr marL="0" indent="0" algn="ctr">
              <a:buNone/>
            </a:pPr>
            <a:endParaRPr lang="es-ES">
              <a:solidFill>
                <a:schemeClr val="accent1"/>
              </a:solidFill>
              <a:latin typeface="Century Gothic" panose="020B0502020202020204" pitchFamily="34" charset="0"/>
            </a:endParaRPr>
          </a:p>
        </p:txBody>
      </p:sp>
      <p:pic>
        <p:nvPicPr>
          <p:cNvPr id="1026" name="Picture 2" descr="Resultado de imagen para sin plata gif">
            <a:extLst>
              <a:ext uri="{FF2B5EF4-FFF2-40B4-BE49-F238E27FC236}">
                <a16:creationId xmlns:a16="http://schemas.microsoft.com/office/drawing/2014/main" id="{8449CC25-676B-4CD2-863A-B7A4653B34CC}"/>
              </a:ext>
            </a:extLst>
          </p:cNvPr>
          <p:cNvPicPr>
            <a:picLocks noChangeAspect="1" noChangeArrowheads="1" noCrop="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81192" y="2191583"/>
            <a:ext cx="3278295" cy="3278295"/>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4041188B-9966-3278-14E5-0E90143CDF7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CC9BF5DA-69C1-2EBF-3860-E113A720B0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5B41334A-9606-683A-A19A-C1B655E29AD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7" name="Marcador de número de diapositiva 3">
            <a:extLst>
              <a:ext uri="{FF2B5EF4-FFF2-40B4-BE49-F238E27FC236}">
                <a16:creationId xmlns:a16="http://schemas.microsoft.com/office/drawing/2014/main" id="{5C8FF40F-059E-8504-74DE-79646010769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41</a:t>
            </a:fld>
            <a:endParaRPr lang="en-US" sz="2000" b="1">
              <a:latin typeface="Century Gothic" panose="020B0502020202020204" pitchFamily="34" charset="0"/>
            </a:endParaRPr>
          </a:p>
        </p:txBody>
      </p:sp>
    </p:spTree>
    <p:extLst>
      <p:ext uri="{BB962C8B-B14F-4D97-AF65-F5344CB8AC3E}">
        <p14:creationId xmlns:p14="http://schemas.microsoft.com/office/powerpoint/2010/main" val="1327512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Principio de Causación vs. Caja</a:t>
            </a:r>
          </a:p>
        </p:txBody>
      </p:sp>
      <p:cxnSp>
        <p:nvCxnSpPr>
          <p:cNvPr id="7" name="6 Conector recto"/>
          <p:cNvCxnSpPr/>
          <p:nvPr/>
        </p:nvCxnSpPr>
        <p:spPr>
          <a:xfrm>
            <a:off x="3747287" y="4520821"/>
            <a:ext cx="623031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8 Conector recto"/>
          <p:cNvCxnSpPr/>
          <p:nvPr/>
        </p:nvCxnSpPr>
        <p:spPr>
          <a:xfrm>
            <a:off x="4258730" y="4133364"/>
            <a:ext cx="0" cy="898902"/>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cxnSp>
        <p:nvCxnSpPr>
          <p:cNvPr id="10" name="9 Conector recto"/>
          <p:cNvCxnSpPr/>
          <p:nvPr/>
        </p:nvCxnSpPr>
        <p:spPr>
          <a:xfrm>
            <a:off x="9386086" y="4084286"/>
            <a:ext cx="0" cy="898902"/>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sp>
        <p:nvSpPr>
          <p:cNvPr id="11" name="10 CuadroTexto"/>
          <p:cNvSpPr txBox="1"/>
          <p:nvPr/>
        </p:nvSpPr>
        <p:spPr>
          <a:xfrm>
            <a:off x="3328829" y="5095572"/>
            <a:ext cx="1844298" cy="369332"/>
          </a:xfrm>
          <a:prstGeom prst="rect">
            <a:avLst/>
          </a:prstGeom>
          <a:noFill/>
        </p:spPr>
        <p:txBody>
          <a:bodyPr wrap="square" rtlCol="0">
            <a:spAutoFit/>
          </a:bodyPr>
          <a:lstStyle/>
          <a:p>
            <a:pPr algn="ctr"/>
            <a:r>
              <a:rPr lang="es-CO" b="1">
                <a:solidFill>
                  <a:srgbClr val="D7A700"/>
                </a:solidFill>
                <a:latin typeface="Century Gothic" panose="020B0502020202020204" pitchFamily="34" charset="0"/>
              </a:rPr>
              <a:t>Causación</a:t>
            </a:r>
          </a:p>
        </p:txBody>
      </p:sp>
      <p:sp>
        <p:nvSpPr>
          <p:cNvPr id="12" name="11 CuadroTexto"/>
          <p:cNvSpPr txBox="1"/>
          <p:nvPr/>
        </p:nvSpPr>
        <p:spPr>
          <a:xfrm>
            <a:off x="8463937" y="5125299"/>
            <a:ext cx="1844298" cy="369332"/>
          </a:xfrm>
          <a:prstGeom prst="rect">
            <a:avLst/>
          </a:prstGeom>
          <a:noFill/>
        </p:spPr>
        <p:txBody>
          <a:bodyPr wrap="square" rtlCol="0">
            <a:spAutoFit/>
          </a:bodyPr>
          <a:lstStyle/>
          <a:p>
            <a:pPr algn="ctr"/>
            <a:r>
              <a:rPr lang="es-CO" b="1">
                <a:solidFill>
                  <a:srgbClr val="D7A700"/>
                </a:solidFill>
                <a:latin typeface="Century Gothic" panose="020B0502020202020204" pitchFamily="34" charset="0"/>
              </a:rPr>
              <a:t>Pago</a:t>
            </a:r>
          </a:p>
        </p:txBody>
      </p:sp>
      <p:sp>
        <p:nvSpPr>
          <p:cNvPr id="13" name="12 CuadroTexto"/>
          <p:cNvSpPr txBox="1"/>
          <p:nvPr/>
        </p:nvSpPr>
        <p:spPr>
          <a:xfrm>
            <a:off x="5342727" y="2320433"/>
            <a:ext cx="4166491" cy="646331"/>
          </a:xfrm>
          <a:prstGeom prst="rect">
            <a:avLst/>
          </a:prstGeom>
          <a:noFill/>
        </p:spPr>
        <p:txBody>
          <a:bodyPr wrap="square" rtlCol="0">
            <a:spAutoFit/>
          </a:bodyPr>
          <a:lstStyle/>
          <a:p>
            <a:pPr algn="ctr" defTabSz="914400">
              <a:spcBef>
                <a:spcPts val="2000"/>
              </a:spcBef>
              <a:buClr>
                <a:schemeClr val="accent1"/>
              </a:buClr>
            </a:pPr>
            <a:r>
              <a:rPr lang="es-CO" b="1">
                <a:solidFill>
                  <a:srgbClr val="C00000"/>
                </a:solidFill>
                <a:latin typeface="Century Gothic" panose="020B0502020202020204" pitchFamily="34" charset="0"/>
              </a:rPr>
              <a:t>¡¡¡No siempre son en el mismo momento!!!</a:t>
            </a:r>
          </a:p>
        </p:txBody>
      </p:sp>
      <p:pic>
        <p:nvPicPr>
          <p:cNvPr id="2050" name="Picture 2" descr="Imagen relacionada">
            <a:extLst>
              <a:ext uri="{FF2B5EF4-FFF2-40B4-BE49-F238E27FC236}">
                <a16:creationId xmlns:a16="http://schemas.microsoft.com/office/drawing/2014/main" id="{B16AE007-3FA9-4103-BEA7-D7596C941D24}"/>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892357" y="2069407"/>
            <a:ext cx="1450370" cy="1271491"/>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357CACF9-7C5B-8C04-47F1-45C2D613D24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33F50B9A-B298-46CA-1A2E-08173A385A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4" name="Rectángulo 13">
            <a:extLst>
              <a:ext uri="{FF2B5EF4-FFF2-40B4-BE49-F238E27FC236}">
                <a16:creationId xmlns:a16="http://schemas.microsoft.com/office/drawing/2014/main" id="{332C2BDE-56D0-544C-9894-B16EC8EAEF7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210042C6-90C0-021B-DDC5-A541CD1CBCAA}"/>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42</a:t>
            </a:fld>
            <a:endParaRPr lang="en-US" sz="2000" b="1">
              <a:latin typeface="Century Gothic" panose="020B0502020202020204" pitchFamily="34" charset="0"/>
            </a:endParaRPr>
          </a:p>
        </p:txBody>
      </p:sp>
    </p:spTree>
    <p:extLst>
      <p:ext uri="{BB962C8B-B14F-4D97-AF65-F5344CB8AC3E}">
        <p14:creationId xmlns:p14="http://schemas.microsoft.com/office/powerpoint/2010/main" val="2996184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down)">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43" presetClass="entr" presetSubtype="0" fill="hold" nodeType="clickEffect">
                                  <p:stCondLst>
                                    <p:cond delay="0"/>
                                  </p:stCondLst>
                                  <p:childTnLst>
                                    <p:set>
                                      <p:cBhvr>
                                        <p:cTn id="16" dur="1" fill="hold">
                                          <p:stCondLst>
                                            <p:cond delay="0"/>
                                          </p:stCondLst>
                                        </p:cTn>
                                        <p:tgtEl>
                                          <p:spTgt spid="2050"/>
                                        </p:tgtEl>
                                        <p:attrNameLst>
                                          <p:attrName>style.visibility</p:attrName>
                                        </p:attrNameLst>
                                      </p:cBhvr>
                                      <p:to>
                                        <p:strVal val="visible"/>
                                      </p:to>
                                    </p:set>
                                    <p:animEffect transition="in" filter="fade">
                                      <p:cBhvr>
                                        <p:cTn id="17" dur="100"/>
                                        <p:tgtEl>
                                          <p:spTgt spid="2050"/>
                                        </p:tgtEl>
                                      </p:cBhvr>
                                    </p:animEffect>
                                    <p:anim calcmode="lin" valueType="num">
                                      <p:cBhvr>
                                        <p:cTn id="18" dur="400" fill="hold"/>
                                        <p:tgtEl>
                                          <p:spTgt spid="2050"/>
                                        </p:tgtEl>
                                        <p:attrNameLst>
                                          <p:attrName>ppt_x</p:attrName>
                                        </p:attrNameLst>
                                      </p:cBhvr>
                                      <p:tavLst>
                                        <p:tav tm="0">
                                          <p:val>
                                            <p:strVal val="#ppt_x"/>
                                          </p:val>
                                        </p:tav>
                                        <p:tav tm="100000">
                                          <p:val>
                                            <p:strVal val="#ppt_x"/>
                                          </p:val>
                                        </p:tav>
                                      </p:tavLst>
                                    </p:anim>
                                    <p:anim calcmode="lin" valueType="num">
                                      <p:cBhvr>
                                        <p:cTn id="19" dur="400" fill="hold"/>
                                        <p:tgtEl>
                                          <p:spTgt spid="2050"/>
                                        </p:tgtEl>
                                        <p:attrNameLst>
                                          <p:attrName>ppt_y</p:attrName>
                                        </p:attrNameLst>
                                      </p:cBhvr>
                                      <p:tavLst>
                                        <p:tav tm="0">
                                          <p:val>
                                            <p:strVal val="#ppt_y+0.31"/>
                                          </p:val>
                                        </p:tav>
                                        <p:tav tm="100000">
                                          <p:val>
                                            <p:strVal val="#ppt_y+0.31"/>
                                          </p:val>
                                        </p:tav>
                                      </p:tavLst>
                                    </p:anim>
                                    <p:anim calcmode="lin" valueType="num">
                                      <p:cBhvr>
                                        <p:cTn id="20" dur="600" decel="50000" fill="hold">
                                          <p:stCondLst>
                                            <p:cond delay="400"/>
                                          </p:stCondLst>
                                        </p:cTn>
                                        <p:tgtEl>
                                          <p:spTgt spid="2050"/>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21" dur="600" decel="50000" fill="hold">
                                          <p:stCondLst>
                                            <p:cond delay="400"/>
                                          </p:stCondLst>
                                        </p:cTn>
                                        <p:tgtEl>
                                          <p:spTgt spid="2050"/>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par>
                                <p:cTn id="22" presetID="43"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100"/>
                                        <p:tgtEl>
                                          <p:spTgt spid="13"/>
                                        </p:tgtEl>
                                      </p:cBhvr>
                                    </p:animEffect>
                                    <p:anim calcmode="lin" valueType="num">
                                      <p:cBhvr>
                                        <p:cTn id="25" dur="400" fill="hold"/>
                                        <p:tgtEl>
                                          <p:spTgt spid="13"/>
                                        </p:tgtEl>
                                        <p:attrNameLst>
                                          <p:attrName>ppt_x</p:attrName>
                                        </p:attrNameLst>
                                      </p:cBhvr>
                                      <p:tavLst>
                                        <p:tav tm="0">
                                          <p:val>
                                            <p:strVal val="#ppt_x"/>
                                          </p:val>
                                        </p:tav>
                                        <p:tav tm="100000">
                                          <p:val>
                                            <p:strVal val="#ppt_x"/>
                                          </p:val>
                                        </p:tav>
                                      </p:tavLst>
                                    </p:anim>
                                    <p:anim calcmode="lin" valueType="num">
                                      <p:cBhvr>
                                        <p:cTn id="26" dur="400" fill="hold"/>
                                        <p:tgtEl>
                                          <p:spTgt spid="13"/>
                                        </p:tgtEl>
                                        <p:attrNameLst>
                                          <p:attrName>ppt_y</p:attrName>
                                        </p:attrNameLst>
                                      </p:cBhvr>
                                      <p:tavLst>
                                        <p:tav tm="0">
                                          <p:val>
                                            <p:strVal val="#ppt_y+0.31"/>
                                          </p:val>
                                        </p:tav>
                                        <p:tav tm="100000">
                                          <p:val>
                                            <p:strVal val="#ppt_y+0.31"/>
                                          </p:val>
                                        </p:tav>
                                      </p:tavLst>
                                    </p:anim>
                                    <p:anim calcmode="lin" valueType="num">
                                      <p:cBhvr>
                                        <p:cTn id="27" dur="600" decel="50000" fill="hold">
                                          <p:stCondLst>
                                            <p:cond delay="400"/>
                                          </p:stCondLst>
                                        </p:cTn>
                                        <p:tgtEl>
                                          <p:spTgt spid="13"/>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28" dur="600" decel="50000" fill="hold">
                                          <p:stCondLst>
                                            <p:cond delay="400"/>
                                          </p:stCondLst>
                                        </p:cTn>
                                        <p:tgtEl>
                                          <p:spTgt spid="13"/>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Principio de Causación vs. Caja</a:t>
            </a:r>
          </a:p>
        </p:txBody>
      </p:sp>
      <p:sp>
        <p:nvSpPr>
          <p:cNvPr id="3" name="Marcador de contenido 2"/>
          <p:cNvSpPr>
            <a:spLocks noGrp="1"/>
          </p:cNvSpPr>
          <p:nvPr>
            <p:ph idx="1"/>
          </p:nvPr>
        </p:nvSpPr>
        <p:spPr>
          <a:xfrm>
            <a:off x="641966" y="2449081"/>
            <a:ext cx="8194864" cy="3278295"/>
          </a:xfrm>
        </p:spPr>
        <p:txBody>
          <a:bodyPr>
            <a:normAutofit/>
          </a:bodyPr>
          <a:lstStyle/>
          <a:p>
            <a:pPr marL="0" indent="0" algn="ctr">
              <a:buNone/>
            </a:pPr>
            <a:r>
              <a:rPr lang="es-ES" dirty="0">
                <a:solidFill>
                  <a:schemeClr val="accent1"/>
                </a:solidFill>
                <a:latin typeface="Century Gothic" panose="020B0502020202020204" pitchFamily="34" charset="0"/>
              </a:rPr>
              <a:t>Las anteriores preguntas permiten identificar con claridad la diferencia entre el principio de causación y el principio de caja.</a:t>
            </a:r>
          </a:p>
          <a:p>
            <a:pPr marL="0" indent="0" algn="ctr">
              <a:buNone/>
            </a:pPr>
            <a:endParaRPr lang="es-ES" dirty="0">
              <a:solidFill>
                <a:schemeClr val="accent1"/>
              </a:solidFill>
              <a:latin typeface="Century Gothic" panose="020B0502020202020204" pitchFamily="34" charset="0"/>
            </a:endParaRPr>
          </a:p>
          <a:p>
            <a:pPr marL="0" indent="0" algn="ctr">
              <a:buNone/>
            </a:pPr>
            <a:r>
              <a:rPr lang="es-ES" b="1" dirty="0">
                <a:solidFill>
                  <a:schemeClr val="accent3">
                    <a:lumMod val="50000"/>
                  </a:schemeClr>
                </a:solidFill>
                <a:latin typeface="Century Gothic" panose="020B0502020202020204" pitchFamily="34" charset="0"/>
              </a:rPr>
              <a:t>Mientras que el principio de causación indica que las transacciones se deben contabilizar cuando la transacción tiene origen, el principio de caja contabiliza las transacciones en el momento en que se recibe o se realiza el pago.</a:t>
            </a:r>
          </a:p>
          <a:p>
            <a:pPr marL="0" indent="0" algn="ctr">
              <a:buNone/>
            </a:pPr>
            <a:endParaRPr lang="es-ES" dirty="0">
              <a:solidFill>
                <a:schemeClr val="accent1"/>
              </a:solidFill>
              <a:latin typeface="Century Gothic" panose="020B0502020202020204" pitchFamily="34" charset="0"/>
            </a:endParaRPr>
          </a:p>
        </p:txBody>
      </p:sp>
      <p:sp>
        <p:nvSpPr>
          <p:cNvPr id="9" name="Rectángulo 8">
            <a:extLst>
              <a:ext uri="{FF2B5EF4-FFF2-40B4-BE49-F238E27FC236}">
                <a16:creationId xmlns:a16="http://schemas.microsoft.com/office/drawing/2014/main" id="{B111EC2A-F544-87B2-5D3C-F4943CEB0B5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B28FEBC6-6649-022F-C26A-1F208BDBF1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5B2239AC-201B-4DDD-F9AC-F6E83A4CB257}"/>
              </a:ext>
            </a:extLst>
          </p:cNvPr>
          <p:cNvPicPr>
            <a:picLocks noChangeAspect="1"/>
          </p:cNvPicPr>
          <p:nvPr/>
        </p:nvPicPr>
        <p:blipFill>
          <a:blip r:embed="rId3"/>
          <a:stretch>
            <a:fillRect/>
          </a:stretch>
        </p:blipFill>
        <p:spPr>
          <a:xfrm>
            <a:off x="8795541" y="3070659"/>
            <a:ext cx="2492976" cy="1530775"/>
          </a:xfrm>
          <a:prstGeom prst="rect">
            <a:avLst/>
          </a:prstGeom>
        </p:spPr>
      </p:pic>
      <p:sp>
        <p:nvSpPr>
          <p:cNvPr id="5" name="Rectángulo 4">
            <a:extLst>
              <a:ext uri="{FF2B5EF4-FFF2-40B4-BE49-F238E27FC236}">
                <a16:creationId xmlns:a16="http://schemas.microsoft.com/office/drawing/2014/main" id="{B602F1B0-AFEA-B0C1-9825-812E1C58467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9C4838DC-FAB1-6926-1936-55E703AF4EC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43</a:t>
            </a:fld>
            <a:endParaRPr lang="en-US" sz="2000" b="1">
              <a:latin typeface="Century Gothic" panose="020B0502020202020204" pitchFamily="34" charset="0"/>
            </a:endParaRPr>
          </a:p>
        </p:txBody>
      </p:sp>
    </p:spTree>
    <p:extLst>
      <p:ext uri="{BB962C8B-B14F-4D97-AF65-F5344CB8AC3E}">
        <p14:creationId xmlns:p14="http://schemas.microsoft.com/office/powerpoint/2010/main" val="1364044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Principio de Causación vs. Caja</a:t>
            </a:r>
          </a:p>
        </p:txBody>
      </p:sp>
      <p:sp>
        <p:nvSpPr>
          <p:cNvPr id="3" name="Marcador de contenido 2"/>
          <p:cNvSpPr>
            <a:spLocks noGrp="1"/>
          </p:cNvSpPr>
          <p:nvPr>
            <p:ph idx="1"/>
          </p:nvPr>
        </p:nvSpPr>
        <p:spPr>
          <a:xfrm>
            <a:off x="450937" y="2261286"/>
            <a:ext cx="8505173" cy="4037344"/>
          </a:xfrm>
        </p:spPr>
        <p:txBody>
          <a:bodyPr>
            <a:normAutofit/>
          </a:bodyPr>
          <a:lstStyle/>
          <a:p>
            <a:pPr algn="just">
              <a:buFont typeface="Wingdings" pitchFamily="2" charset="2"/>
              <a:buChar char="q"/>
            </a:pPr>
            <a:r>
              <a:rPr lang="es-ES">
                <a:solidFill>
                  <a:schemeClr val="accent1"/>
                </a:solidFill>
                <a:latin typeface="Century Gothic" panose="020B0502020202020204" pitchFamily="34" charset="0"/>
              </a:rPr>
              <a:t>El Estado de Resultados (Estado de Pérdidas y Ganancias) se rige por el </a:t>
            </a:r>
            <a:r>
              <a:rPr lang="es-ES" b="1">
                <a:solidFill>
                  <a:srgbClr val="C00000"/>
                </a:solidFill>
                <a:latin typeface="Century Gothic" panose="020B0502020202020204" pitchFamily="34" charset="0"/>
              </a:rPr>
              <a:t>Principio de Causación</a:t>
            </a:r>
            <a:r>
              <a:rPr lang="es-ES" i="1">
                <a:solidFill>
                  <a:srgbClr val="800000"/>
                </a:solidFill>
                <a:latin typeface="Century Gothic" panose="020B0502020202020204" pitchFamily="34" charset="0"/>
              </a:rPr>
              <a:t>.</a:t>
            </a:r>
          </a:p>
          <a:p>
            <a:pPr algn="just">
              <a:buFont typeface="Wingdings" pitchFamily="2" charset="2"/>
              <a:buChar char="q"/>
            </a:pPr>
            <a:endParaRPr lang="es-ES" i="1">
              <a:solidFill>
                <a:srgbClr val="800000"/>
              </a:solidFill>
              <a:latin typeface="Century Gothic" panose="020B0502020202020204" pitchFamily="34" charset="0"/>
            </a:endParaRPr>
          </a:p>
          <a:p>
            <a:pPr algn="just">
              <a:buFont typeface="Wingdings" pitchFamily="2" charset="2"/>
              <a:buChar char="q"/>
            </a:pPr>
            <a:r>
              <a:rPr lang="es-ES">
                <a:solidFill>
                  <a:schemeClr val="accent1"/>
                </a:solidFill>
                <a:latin typeface="Century Gothic" panose="020B0502020202020204" pitchFamily="34" charset="0"/>
              </a:rPr>
              <a:t>El Principio de Causación postula que los Ingresos, Costos y Gastos se imputan contablemente cuando se genera la obligación y/o el derecho.</a:t>
            </a:r>
          </a:p>
          <a:p>
            <a:pPr algn="just">
              <a:buFont typeface="Wingdings" pitchFamily="2" charset="2"/>
              <a:buChar char="q"/>
            </a:pPr>
            <a:endParaRPr lang="es-ES">
              <a:solidFill>
                <a:schemeClr val="accent1"/>
              </a:solidFill>
              <a:latin typeface="Century Gothic" panose="020B0502020202020204" pitchFamily="34" charset="0"/>
            </a:endParaRPr>
          </a:p>
          <a:p>
            <a:pPr algn="just">
              <a:buFont typeface="Wingdings" pitchFamily="2" charset="2"/>
              <a:buChar char="q"/>
            </a:pPr>
            <a:r>
              <a:rPr lang="es-ES">
                <a:solidFill>
                  <a:schemeClr val="accent1"/>
                </a:solidFill>
                <a:latin typeface="Century Gothic" panose="020B0502020202020204" pitchFamily="34" charset="0"/>
              </a:rPr>
              <a:t>En otras palabras, se causan los Ingresos, Costos y Gastos cuando se origina la obligación o el derecho, </a:t>
            </a:r>
            <a:r>
              <a:rPr lang="es-ES" b="1">
                <a:solidFill>
                  <a:srgbClr val="D7A700"/>
                </a:solidFill>
                <a:latin typeface="Century Gothic" panose="020B0502020202020204" pitchFamily="34" charset="0"/>
              </a:rPr>
              <a:t>INDEPENDIENTEMENTE</a:t>
            </a:r>
            <a:r>
              <a:rPr lang="es-ES">
                <a:solidFill>
                  <a:schemeClr val="accent1"/>
                </a:solidFill>
                <a:latin typeface="Century Gothic" panose="020B0502020202020204" pitchFamily="34" charset="0"/>
              </a:rPr>
              <a:t> de si ha habido un pago (movimiento) real de efectivo. Ejemplos: Ventas a Crédito.</a:t>
            </a:r>
          </a:p>
        </p:txBody>
      </p:sp>
      <p:sp>
        <p:nvSpPr>
          <p:cNvPr id="9" name="Rectángulo 8">
            <a:extLst>
              <a:ext uri="{FF2B5EF4-FFF2-40B4-BE49-F238E27FC236}">
                <a16:creationId xmlns:a16="http://schemas.microsoft.com/office/drawing/2014/main" id="{20F45781-80C5-E305-21EF-12C2D252821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6FF3FA1F-06B2-1249-DC5F-F3F552E348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descr="Inversiones permanentes - Qué es, definición y concepto">
            <a:extLst>
              <a:ext uri="{FF2B5EF4-FFF2-40B4-BE49-F238E27FC236}">
                <a16:creationId xmlns:a16="http://schemas.microsoft.com/office/drawing/2014/main" id="{7CD3FAE1-74D6-4B0D-90AB-1BF846FE07D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277" r="14257"/>
          <a:stretch/>
        </p:blipFill>
        <p:spPr bwMode="auto">
          <a:xfrm>
            <a:off x="9144000" y="3429000"/>
            <a:ext cx="1853514" cy="1437409"/>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5606A8F3-0F26-FBD6-46B3-0577400CC1F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1AD1B895-7746-9753-4588-A5ADD6DF8D3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44</a:t>
            </a:fld>
            <a:endParaRPr lang="en-US" sz="2000" b="1">
              <a:latin typeface="Century Gothic" panose="020B0502020202020204" pitchFamily="34" charset="0"/>
            </a:endParaRPr>
          </a:p>
        </p:txBody>
      </p:sp>
    </p:spTree>
    <p:extLst>
      <p:ext uri="{BB962C8B-B14F-4D97-AF65-F5344CB8AC3E}">
        <p14:creationId xmlns:p14="http://schemas.microsoft.com/office/powerpoint/2010/main" val="1911433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416707"/>
            <a:ext cx="8540907" cy="3046988"/>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a:solidFill>
                  <a:schemeClr val="tx2">
                    <a:lumMod val="20000"/>
                    <a:lumOff val="80000"/>
                  </a:schemeClr>
                </a:solidFill>
                <a:latin typeface="Century Gothic"/>
                <a:cs typeface="Arial"/>
              </a:rPr>
              <a:t>Construcción del Flujo de Caja Libre.</a:t>
            </a:r>
            <a:endParaRPr lang="es-ES" sz="1600">
              <a:solidFill>
                <a:schemeClr val="tx2">
                  <a:lumMod val="20000"/>
                  <a:lumOff val="80000"/>
                </a:schemeClr>
              </a:solidFill>
              <a:latin typeface="Century Gothic"/>
              <a:cs typeface="Arial"/>
            </a:endParaRPr>
          </a:p>
          <a:p>
            <a:pPr marL="342900" indent="-342900">
              <a:buClr>
                <a:srgbClr val="2C7C9F"/>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Principios de Contabilidad.</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 de Causación VS. Principio de Caja.</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Principio de Pertinencia.</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Gastos No Efectivos.</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Flujo de Caja Libre (FCL).</a:t>
            </a:r>
            <a:endParaRPr lang="es-CO" sz="1600">
              <a:solidFill>
                <a:schemeClr val="tx2">
                  <a:lumMod val="20000"/>
                  <a:lumOff val="80000"/>
                </a:schemeClr>
              </a:solidFill>
              <a:latin typeface="Century Gothic" panose="020B0502020202020204" pitchFamily="34" charset="0"/>
              <a:cs typeface="Arial"/>
            </a:endParaRPr>
          </a:p>
          <a:p>
            <a:pPr>
              <a:buClr>
                <a:schemeClr val="accent3">
                  <a:lumMod val="75000"/>
                </a:schemeClr>
              </a:buClr>
            </a:pPr>
            <a:endParaRPr lang="es-CO" sz="160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7B586215-690C-81C9-D61A-9506FB3118B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73CFB884-F53E-E93D-04B7-49F56A64F1AE}"/>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45</a:t>
            </a:fld>
            <a:endParaRPr lang="en-US" sz="2000" b="1">
              <a:latin typeface="Century Gothic" panose="020B0502020202020204" pitchFamily="34" charset="0"/>
            </a:endParaRPr>
          </a:p>
        </p:txBody>
      </p:sp>
    </p:spTree>
    <p:extLst>
      <p:ext uri="{BB962C8B-B14F-4D97-AF65-F5344CB8AC3E}">
        <p14:creationId xmlns:p14="http://schemas.microsoft.com/office/powerpoint/2010/main" val="3275290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Principio de Pertinencia</a:t>
            </a:r>
          </a:p>
        </p:txBody>
      </p:sp>
      <p:sp>
        <p:nvSpPr>
          <p:cNvPr id="3" name="Marcador de contenido 2"/>
          <p:cNvSpPr>
            <a:spLocks noGrp="1"/>
          </p:cNvSpPr>
          <p:nvPr>
            <p:ph idx="1"/>
          </p:nvPr>
        </p:nvSpPr>
        <p:spPr>
          <a:xfrm>
            <a:off x="581192" y="2043717"/>
            <a:ext cx="10878718" cy="798567"/>
          </a:xfrm>
        </p:spPr>
        <p:txBody>
          <a:bodyPr>
            <a:noAutofit/>
          </a:bodyPr>
          <a:lstStyle/>
          <a:p>
            <a:pPr marL="0" indent="0" algn="just">
              <a:buNone/>
            </a:pPr>
            <a:r>
              <a:rPr lang="es-ES" sz="2000" b="1">
                <a:solidFill>
                  <a:srgbClr val="C00000"/>
                </a:solidFill>
                <a:latin typeface="Century Gothic" panose="020B0502020202020204" pitchFamily="34" charset="0"/>
              </a:rPr>
              <a:t>Ejemplo 2: </a:t>
            </a:r>
          </a:p>
          <a:p>
            <a:pPr marL="0" indent="0" algn="just">
              <a:buNone/>
            </a:pPr>
            <a:r>
              <a:rPr lang="es-ES">
                <a:solidFill>
                  <a:schemeClr val="accent1"/>
                </a:solidFill>
                <a:latin typeface="Century Gothic" panose="020B0502020202020204" pitchFamily="34" charset="0"/>
              </a:rPr>
              <a:t>Suponga que el Estado de Situación Financiera de una compañía hipotética es el siguiente:</a:t>
            </a:r>
          </a:p>
        </p:txBody>
      </p:sp>
      <p:cxnSp>
        <p:nvCxnSpPr>
          <p:cNvPr id="6" name="5 Conector recto"/>
          <p:cNvCxnSpPr/>
          <p:nvPr/>
        </p:nvCxnSpPr>
        <p:spPr>
          <a:xfrm>
            <a:off x="4062006" y="3277540"/>
            <a:ext cx="0" cy="2526224"/>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7" name="6 Conector recto"/>
          <p:cNvCxnSpPr/>
          <p:nvPr/>
        </p:nvCxnSpPr>
        <p:spPr>
          <a:xfrm flipH="1">
            <a:off x="4062007" y="4540652"/>
            <a:ext cx="2017363" cy="0"/>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sp>
        <p:nvSpPr>
          <p:cNvPr id="9" name="8 CuadroTexto"/>
          <p:cNvSpPr txBox="1"/>
          <p:nvPr/>
        </p:nvSpPr>
        <p:spPr>
          <a:xfrm>
            <a:off x="2062725" y="3355033"/>
            <a:ext cx="1911101" cy="338554"/>
          </a:xfrm>
          <a:prstGeom prst="rect">
            <a:avLst/>
          </a:prstGeom>
          <a:noFill/>
        </p:spPr>
        <p:txBody>
          <a:bodyPr wrap="none" rtlCol="0">
            <a:spAutoFit/>
          </a:bodyPr>
          <a:lstStyle/>
          <a:p>
            <a:r>
              <a:rPr lang="es-CO" sz="1600">
                <a:solidFill>
                  <a:schemeClr val="accent1"/>
                </a:solidFill>
                <a:latin typeface="Century Gothic" panose="020B0502020202020204" pitchFamily="34" charset="0"/>
              </a:rPr>
              <a:t>Efectivo		100</a:t>
            </a:r>
          </a:p>
        </p:txBody>
      </p:sp>
      <p:sp>
        <p:nvSpPr>
          <p:cNvPr id="10" name="9 CuadroTexto"/>
          <p:cNvSpPr txBox="1"/>
          <p:nvPr/>
        </p:nvSpPr>
        <p:spPr>
          <a:xfrm>
            <a:off x="4183411" y="4700802"/>
            <a:ext cx="1797287" cy="338554"/>
          </a:xfrm>
          <a:prstGeom prst="rect">
            <a:avLst/>
          </a:prstGeom>
          <a:noFill/>
        </p:spPr>
        <p:txBody>
          <a:bodyPr wrap="none" rtlCol="0">
            <a:spAutoFit/>
          </a:bodyPr>
          <a:lstStyle/>
          <a:p>
            <a:r>
              <a:rPr lang="es-CO" sz="1600" dirty="0">
                <a:solidFill>
                  <a:schemeClr val="accent1"/>
                </a:solidFill>
                <a:latin typeface="Century Gothic" panose="020B0502020202020204" pitchFamily="34" charset="0"/>
              </a:rPr>
              <a:t>Socios		50</a:t>
            </a:r>
          </a:p>
        </p:txBody>
      </p:sp>
      <p:sp>
        <p:nvSpPr>
          <p:cNvPr id="11" name="10 CuadroTexto"/>
          <p:cNvSpPr txBox="1"/>
          <p:nvPr/>
        </p:nvSpPr>
        <p:spPr>
          <a:xfrm>
            <a:off x="4183411" y="3355033"/>
            <a:ext cx="1797287" cy="338554"/>
          </a:xfrm>
          <a:prstGeom prst="rect">
            <a:avLst/>
          </a:prstGeom>
          <a:noFill/>
        </p:spPr>
        <p:txBody>
          <a:bodyPr wrap="none" rtlCol="0">
            <a:spAutoFit/>
          </a:bodyPr>
          <a:lstStyle/>
          <a:p>
            <a:r>
              <a:rPr lang="es-CO" sz="1600">
                <a:solidFill>
                  <a:schemeClr val="accent1"/>
                </a:solidFill>
                <a:latin typeface="Century Gothic" panose="020B0502020202020204" pitchFamily="34" charset="0"/>
              </a:rPr>
              <a:t>Bancos		50</a:t>
            </a:r>
          </a:p>
        </p:txBody>
      </p:sp>
      <p:sp>
        <p:nvSpPr>
          <p:cNvPr id="12" name="11 CuadroTexto"/>
          <p:cNvSpPr txBox="1"/>
          <p:nvPr/>
        </p:nvSpPr>
        <p:spPr>
          <a:xfrm>
            <a:off x="7315390" y="3029398"/>
            <a:ext cx="2960301" cy="1323439"/>
          </a:xfrm>
          <a:prstGeom prst="rect">
            <a:avLst/>
          </a:prstGeom>
          <a:noFill/>
        </p:spPr>
        <p:txBody>
          <a:bodyPr wrap="square" rtlCol="0">
            <a:spAutoFit/>
          </a:bodyPr>
          <a:lstStyle/>
          <a:p>
            <a:pPr algn="ctr"/>
            <a:r>
              <a:rPr lang="es-CO" sz="1600" b="1">
                <a:solidFill>
                  <a:srgbClr val="D7A700"/>
                </a:solidFill>
                <a:latin typeface="Century Gothic" panose="020B0502020202020204" pitchFamily="34" charset="0"/>
              </a:rPr>
              <a:t>Usted va a comprar un edificio por valor de 80. </a:t>
            </a:r>
          </a:p>
          <a:p>
            <a:pPr algn="ctr"/>
            <a:endParaRPr lang="es-CO" sz="1600" b="1">
              <a:solidFill>
                <a:srgbClr val="C00000"/>
              </a:solidFill>
              <a:latin typeface="Century Gothic" panose="020B0502020202020204" pitchFamily="34" charset="0"/>
            </a:endParaRPr>
          </a:p>
          <a:p>
            <a:pPr algn="ctr"/>
            <a:r>
              <a:rPr lang="es-CO" sz="1600" b="1">
                <a:solidFill>
                  <a:schemeClr val="accent3">
                    <a:lumMod val="50000"/>
                  </a:schemeClr>
                </a:solidFill>
                <a:latin typeface="Century Gothic" panose="020B0502020202020204" pitchFamily="34" charset="0"/>
              </a:rPr>
              <a:t>¿Cómo queda el Estado de Situación Financiera?</a:t>
            </a:r>
          </a:p>
        </p:txBody>
      </p:sp>
      <p:sp>
        <p:nvSpPr>
          <p:cNvPr id="5" name="Rectángulo 4">
            <a:extLst>
              <a:ext uri="{FF2B5EF4-FFF2-40B4-BE49-F238E27FC236}">
                <a16:creationId xmlns:a16="http://schemas.microsoft.com/office/drawing/2014/main" id="{0DD16E1C-5A0A-FD29-2CC8-9980A66C98D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7CDC62B2-56EB-2800-7798-313CED76EA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descr="Cómo invertir dinero en 4 pasos fáciles | Sensorial Motion">
            <a:extLst>
              <a:ext uri="{FF2B5EF4-FFF2-40B4-BE49-F238E27FC236}">
                <a16:creationId xmlns:a16="http://schemas.microsoft.com/office/drawing/2014/main" id="{3A3F5778-DEAF-D6F4-2F95-33BEFCA655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37477" y="4700802"/>
            <a:ext cx="2628980" cy="1749467"/>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72B2C527-88DE-C0B5-9A5B-427B2F77353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Marcador de número de diapositiva 3">
            <a:extLst>
              <a:ext uri="{FF2B5EF4-FFF2-40B4-BE49-F238E27FC236}">
                <a16:creationId xmlns:a16="http://schemas.microsoft.com/office/drawing/2014/main" id="{2FCDB15F-0884-B8DB-1C70-FB472108B83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46</a:t>
            </a:fld>
            <a:endParaRPr lang="en-US" sz="2000" b="1">
              <a:latin typeface="Century Gothic" panose="020B0502020202020204" pitchFamily="34" charset="0"/>
            </a:endParaRPr>
          </a:p>
        </p:txBody>
      </p:sp>
    </p:spTree>
    <p:extLst>
      <p:ext uri="{BB962C8B-B14F-4D97-AF65-F5344CB8AC3E}">
        <p14:creationId xmlns:p14="http://schemas.microsoft.com/office/powerpoint/2010/main" val="3683885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animEffect transition="in" filter="randombar(horizontal)">
                                      <p:cBhvr>
                                        <p:cTn id="19" dur="500"/>
                                        <p:tgtEl>
                                          <p:spTgt spid="12">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12">
                                            <p:txEl>
                                              <p:pRg st="2" end="2"/>
                                            </p:txEl>
                                          </p:spTgt>
                                        </p:tgtEl>
                                        <p:attrNameLst>
                                          <p:attrName>style.visibility</p:attrName>
                                        </p:attrNameLst>
                                      </p:cBhvr>
                                      <p:to>
                                        <p:strVal val="visible"/>
                                      </p:to>
                                    </p:set>
                                    <p:animEffect transition="in" filter="randombar(horizontal)">
                                      <p:cBhvr>
                                        <p:cTn id="24" dur="5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Principio de Pertinencia</a:t>
            </a:r>
          </a:p>
        </p:txBody>
      </p:sp>
      <p:sp>
        <p:nvSpPr>
          <p:cNvPr id="3" name="Marcador de contenido 2"/>
          <p:cNvSpPr>
            <a:spLocks noGrp="1"/>
          </p:cNvSpPr>
          <p:nvPr>
            <p:ph idx="1"/>
          </p:nvPr>
        </p:nvSpPr>
        <p:spPr>
          <a:xfrm>
            <a:off x="639753" y="2021278"/>
            <a:ext cx="10878718" cy="798567"/>
          </a:xfrm>
        </p:spPr>
        <p:txBody>
          <a:bodyPr>
            <a:noAutofit/>
          </a:bodyPr>
          <a:lstStyle/>
          <a:p>
            <a:pPr marL="0" indent="0" algn="just">
              <a:buNone/>
            </a:pPr>
            <a:r>
              <a:rPr lang="es-ES" sz="2000" b="1">
                <a:solidFill>
                  <a:srgbClr val="C00000"/>
                </a:solidFill>
                <a:latin typeface="Century Gothic" panose="020B0502020202020204" pitchFamily="34" charset="0"/>
              </a:rPr>
              <a:t>Ejemplo 2: </a:t>
            </a:r>
          </a:p>
          <a:p>
            <a:pPr marL="0" indent="0" algn="just">
              <a:buNone/>
            </a:pPr>
            <a:r>
              <a:rPr lang="es-ES">
                <a:solidFill>
                  <a:schemeClr val="accent1"/>
                </a:solidFill>
                <a:latin typeface="Century Gothic" panose="020B0502020202020204" pitchFamily="34" charset="0"/>
              </a:rPr>
              <a:t>Suponga que el Estado de Situación Financiera de una compañía hipotética es el siguiente:</a:t>
            </a:r>
          </a:p>
        </p:txBody>
      </p:sp>
      <p:cxnSp>
        <p:nvCxnSpPr>
          <p:cNvPr id="6" name="5 Conector recto"/>
          <p:cNvCxnSpPr/>
          <p:nvPr/>
        </p:nvCxnSpPr>
        <p:spPr>
          <a:xfrm>
            <a:off x="4062006" y="3277540"/>
            <a:ext cx="0" cy="2526224"/>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7" name="6 Conector recto"/>
          <p:cNvCxnSpPr/>
          <p:nvPr/>
        </p:nvCxnSpPr>
        <p:spPr>
          <a:xfrm flipH="1">
            <a:off x="4062007" y="4540652"/>
            <a:ext cx="2017363" cy="0"/>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sp>
        <p:nvSpPr>
          <p:cNvPr id="9" name="8 CuadroTexto"/>
          <p:cNvSpPr txBox="1"/>
          <p:nvPr/>
        </p:nvSpPr>
        <p:spPr>
          <a:xfrm>
            <a:off x="2062725" y="3355033"/>
            <a:ext cx="1800493" cy="338554"/>
          </a:xfrm>
          <a:prstGeom prst="rect">
            <a:avLst/>
          </a:prstGeom>
          <a:noFill/>
        </p:spPr>
        <p:txBody>
          <a:bodyPr wrap="none" rtlCol="0">
            <a:spAutoFit/>
          </a:bodyPr>
          <a:lstStyle/>
          <a:p>
            <a:r>
              <a:rPr lang="es-CO" sz="1600">
                <a:solidFill>
                  <a:schemeClr val="accent1"/>
                </a:solidFill>
                <a:latin typeface="Century Gothic" panose="020B0502020202020204" pitchFamily="34" charset="0"/>
              </a:rPr>
              <a:t>Efectivo		</a:t>
            </a:r>
            <a:r>
              <a:rPr lang="es-CO" sz="1600" b="1">
                <a:solidFill>
                  <a:schemeClr val="accent3">
                    <a:lumMod val="75000"/>
                  </a:schemeClr>
                </a:solidFill>
                <a:latin typeface="Century Gothic" panose="020B0502020202020204" pitchFamily="34" charset="0"/>
              </a:rPr>
              <a:t>20</a:t>
            </a:r>
          </a:p>
        </p:txBody>
      </p:sp>
      <p:sp>
        <p:nvSpPr>
          <p:cNvPr id="10" name="9 CuadroTexto"/>
          <p:cNvSpPr txBox="1"/>
          <p:nvPr/>
        </p:nvSpPr>
        <p:spPr>
          <a:xfrm>
            <a:off x="4183411" y="4700802"/>
            <a:ext cx="1797287" cy="338554"/>
          </a:xfrm>
          <a:prstGeom prst="rect">
            <a:avLst/>
          </a:prstGeom>
          <a:noFill/>
        </p:spPr>
        <p:txBody>
          <a:bodyPr wrap="none" rtlCol="0">
            <a:spAutoFit/>
          </a:bodyPr>
          <a:lstStyle/>
          <a:p>
            <a:r>
              <a:rPr lang="es-CO" sz="1600">
                <a:solidFill>
                  <a:schemeClr val="accent1"/>
                </a:solidFill>
                <a:latin typeface="Century Gothic" panose="020B0502020202020204" pitchFamily="34" charset="0"/>
              </a:rPr>
              <a:t>Socios		50</a:t>
            </a:r>
          </a:p>
        </p:txBody>
      </p:sp>
      <p:sp>
        <p:nvSpPr>
          <p:cNvPr id="11" name="10 CuadroTexto"/>
          <p:cNvSpPr txBox="1"/>
          <p:nvPr/>
        </p:nvSpPr>
        <p:spPr>
          <a:xfrm>
            <a:off x="4183411" y="3355033"/>
            <a:ext cx="1797287" cy="338554"/>
          </a:xfrm>
          <a:prstGeom prst="rect">
            <a:avLst/>
          </a:prstGeom>
          <a:noFill/>
        </p:spPr>
        <p:txBody>
          <a:bodyPr wrap="none" rtlCol="0">
            <a:spAutoFit/>
          </a:bodyPr>
          <a:lstStyle/>
          <a:p>
            <a:r>
              <a:rPr lang="es-CO" sz="1600">
                <a:solidFill>
                  <a:schemeClr val="accent1"/>
                </a:solidFill>
                <a:latin typeface="Century Gothic" panose="020B0502020202020204" pitchFamily="34" charset="0"/>
              </a:rPr>
              <a:t>Bancos		50</a:t>
            </a:r>
          </a:p>
        </p:txBody>
      </p:sp>
      <p:sp>
        <p:nvSpPr>
          <p:cNvPr id="12" name="11 CuadroTexto"/>
          <p:cNvSpPr txBox="1"/>
          <p:nvPr/>
        </p:nvSpPr>
        <p:spPr>
          <a:xfrm>
            <a:off x="7315390" y="3029398"/>
            <a:ext cx="2960301" cy="1323439"/>
          </a:xfrm>
          <a:prstGeom prst="rect">
            <a:avLst/>
          </a:prstGeom>
          <a:noFill/>
        </p:spPr>
        <p:txBody>
          <a:bodyPr wrap="square" rtlCol="0">
            <a:spAutoFit/>
          </a:bodyPr>
          <a:lstStyle/>
          <a:p>
            <a:pPr algn="ctr"/>
            <a:r>
              <a:rPr lang="es-CO" sz="1600" b="1">
                <a:solidFill>
                  <a:srgbClr val="D7A700"/>
                </a:solidFill>
                <a:latin typeface="Century Gothic" panose="020B0502020202020204" pitchFamily="34" charset="0"/>
              </a:rPr>
              <a:t>Usted va a comprar un edificio por valor de 80. </a:t>
            </a:r>
          </a:p>
          <a:p>
            <a:pPr algn="ctr"/>
            <a:endParaRPr lang="es-CO" sz="1600" b="1">
              <a:solidFill>
                <a:srgbClr val="C00000"/>
              </a:solidFill>
              <a:latin typeface="Century Gothic" panose="020B0502020202020204" pitchFamily="34" charset="0"/>
            </a:endParaRPr>
          </a:p>
          <a:p>
            <a:pPr algn="ctr"/>
            <a:r>
              <a:rPr lang="es-CO" sz="1600" b="1">
                <a:solidFill>
                  <a:schemeClr val="accent3">
                    <a:lumMod val="50000"/>
                  </a:schemeClr>
                </a:solidFill>
                <a:latin typeface="Century Gothic" panose="020B0502020202020204" pitchFamily="34" charset="0"/>
              </a:rPr>
              <a:t>¿Cómo queda el Estado de Situación Financiera?</a:t>
            </a:r>
          </a:p>
        </p:txBody>
      </p:sp>
      <p:sp>
        <p:nvSpPr>
          <p:cNvPr id="5" name="Rectángulo 4">
            <a:extLst>
              <a:ext uri="{FF2B5EF4-FFF2-40B4-BE49-F238E27FC236}">
                <a16:creationId xmlns:a16="http://schemas.microsoft.com/office/drawing/2014/main" id="{0DD16E1C-5A0A-FD29-2CC8-9980A66C98D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7CDC62B2-56EB-2800-7798-313CED76EA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descr="Cómo invertir dinero en 4 pasos fáciles | Sensorial Motion">
            <a:extLst>
              <a:ext uri="{FF2B5EF4-FFF2-40B4-BE49-F238E27FC236}">
                <a16:creationId xmlns:a16="http://schemas.microsoft.com/office/drawing/2014/main" id="{3A3F5778-DEAF-D6F4-2F95-33BEFCA655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37477" y="4700802"/>
            <a:ext cx="2628980" cy="1749467"/>
          </a:xfrm>
          <a:prstGeom prst="rect">
            <a:avLst/>
          </a:prstGeom>
          <a:noFill/>
          <a:extLst>
            <a:ext uri="{909E8E84-426E-40DD-AFC4-6F175D3DCCD1}">
              <a14:hiddenFill xmlns:a14="http://schemas.microsoft.com/office/drawing/2010/main">
                <a:solidFill>
                  <a:srgbClr val="FFFFFF"/>
                </a:solidFill>
              </a14:hiddenFill>
            </a:ext>
          </a:extLst>
        </p:spPr>
      </p:pic>
      <p:sp>
        <p:nvSpPr>
          <p:cNvPr id="13" name="8 CuadroTexto">
            <a:extLst>
              <a:ext uri="{FF2B5EF4-FFF2-40B4-BE49-F238E27FC236}">
                <a16:creationId xmlns:a16="http://schemas.microsoft.com/office/drawing/2014/main" id="{9E3F0B6C-88D3-CE81-DED5-21277086DC6C}"/>
              </a:ext>
            </a:extLst>
          </p:cNvPr>
          <p:cNvSpPr txBox="1"/>
          <p:nvPr/>
        </p:nvSpPr>
        <p:spPr>
          <a:xfrm>
            <a:off x="2069153" y="4183416"/>
            <a:ext cx="1797287" cy="338554"/>
          </a:xfrm>
          <a:prstGeom prst="rect">
            <a:avLst/>
          </a:prstGeom>
          <a:noFill/>
        </p:spPr>
        <p:txBody>
          <a:bodyPr wrap="none" rtlCol="0">
            <a:spAutoFit/>
          </a:bodyPr>
          <a:lstStyle/>
          <a:p>
            <a:r>
              <a:rPr lang="es-CO" sz="1600" b="1">
                <a:solidFill>
                  <a:schemeClr val="accent3">
                    <a:lumMod val="75000"/>
                  </a:schemeClr>
                </a:solidFill>
                <a:latin typeface="Century Gothic" panose="020B0502020202020204" pitchFamily="34" charset="0"/>
              </a:rPr>
              <a:t>Edificio		80</a:t>
            </a:r>
          </a:p>
        </p:txBody>
      </p:sp>
      <p:sp>
        <p:nvSpPr>
          <p:cNvPr id="14" name="Rectángulo 13">
            <a:extLst>
              <a:ext uri="{FF2B5EF4-FFF2-40B4-BE49-F238E27FC236}">
                <a16:creationId xmlns:a16="http://schemas.microsoft.com/office/drawing/2014/main" id="{3CFBDD3D-9359-BE4E-28D8-4CA07E8947D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Marcador de número de diapositiva 3">
            <a:extLst>
              <a:ext uri="{FF2B5EF4-FFF2-40B4-BE49-F238E27FC236}">
                <a16:creationId xmlns:a16="http://schemas.microsoft.com/office/drawing/2014/main" id="{D14B762C-92B3-FB75-C7BE-DBAAF242267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47</a:t>
            </a:fld>
            <a:endParaRPr lang="en-US" sz="2000" b="1">
              <a:latin typeface="Century Gothic" panose="020B0502020202020204" pitchFamily="34" charset="0"/>
            </a:endParaRPr>
          </a:p>
        </p:txBody>
      </p:sp>
    </p:spTree>
    <p:extLst>
      <p:ext uri="{BB962C8B-B14F-4D97-AF65-F5344CB8AC3E}">
        <p14:creationId xmlns:p14="http://schemas.microsoft.com/office/powerpoint/2010/main" val="5849829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Principio de Pertinencia</a:t>
            </a:r>
          </a:p>
        </p:txBody>
      </p:sp>
      <p:sp>
        <p:nvSpPr>
          <p:cNvPr id="3" name="Marcador de contenido 2"/>
          <p:cNvSpPr>
            <a:spLocks noGrp="1"/>
          </p:cNvSpPr>
          <p:nvPr>
            <p:ph idx="1"/>
          </p:nvPr>
        </p:nvSpPr>
        <p:spPr>
          <a:xfrm>
            <a:off x="614701" y="2021278"/>
            <a:ext cx="10878718" cy="798567"/>
          </a:xfrm>
        </p:spPr>
        <p:txBody>
          <a:bodyPr>
            <a:noAutofit/>
          </a:bodyPr>
          <a:lstStyle/>
          <a:p>
            <a:pPr marL="0" indent="0" algn="just">
              <a:buNone/>
            </a:pPr>
            <a:r>
              <a:rPr lang="es-ES" sz="2000" b="1">
                <a:solidFill>
                  <a:srgbClr val="C00000"/>
                </a:solidFill>
                <a:latin typeface="Century Gothic" panose="020B0502020202020204" pitchFamily="34" charset="0"/>
              </a:rPr>
              <a:t>Ejemplo 2: </a:t>
            </a:r>
          </a:p>
          <a:p>
            <a:pPr marL="0" indent="0" algn="just">
              <a:buNone/>
            </a:pPr>
            <a:r>
              <a:rPr lang="es-ES">
                <a:solidFill>
                  <a:schemeClr val="accent1"/>
                </a:solidFill>
                <a:latin typeface="Century Gothic" panose="020B0502020202020204" pitchFamily="34" charset="0"/>
              </a:rPr>
              <a:t>Suponga que el Estado de la Situación Financiera de una compañía hipotética es el siguiente:</a:t>
            </a:r>
          </a:p>
        </p:txBody>
      </p:sp>
      <p:cxnSp>
        <p:nvCxnSpPr>
          <p:cNvPr id="6" name="5 Conector recto"/>
          <p:cNvCxnSpPr/>
          <p:nvPr/>
        </p:nvCxnSpPr>
        <p:spPr>
          <a:xfrm>
            <a:off x="4062006" y="3277540"/>
            <a:ext cx="0" cy="2526224"/>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7" name="6 Conector recto"/>
          <p:cNvCxnSpPr/>
          <p:nvPr/>
        </p:nvCxnSpPr>
        <p:spPr>
          <a:xfrm flipH="1">
            <a:off x="4062007" y="4540652"/>
            <a:ext cx="2017363" cy="0"/>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sp>
        <p:nvSpPr>
          <p:cNvPr id="9" name="8 CuadroTexto"/>
          <p:cNvSpPr txBox="1"/>
          <p:nvPr/>
        </p:nvSpPr>
        <p:spPr>
          <a:xfrm>
            <a:off x="2062725" y="3355033"/>
            <a:ext cx="1797287" cy="338554"/>
          </a:xfrm>
          <a:prstGeom prst="rect">
            <a:avLst/>
          </a:prstGeom>
          <a:noFill/>
        </p:spPr>
        <p:txBody>
          <a:bodyPr wrap="none" rtlCol="0">
            <a:spAutoFit/>
          </a:bodyPr>
          <a:lstStyle/>
          <a:p>
            <a:r>
              <a:rPr lang="es-CO" sz="1600">
                <a:solidFill>
                  <a:schemeClr val="accent1"/>
                </a:solidFill>
                <a:latin typeface="Century Gothic" panose="020B0502020202020204" pitchFamily="34" charset="0"/>
              </a:rPr>
              <a:t>Efectivo		20</a:t>
            </a:r>
          </a:p>
        </p:txBody>
      </p:sp>
      <p:sp>
        <p:nvSpPr>
          <p:cNvPr id="10" name="9 CuadroTexto"/>
          <p:cNvSpPr txBox="1"/>
          <p:nvPr/>
        </p:nvSpPr>
        <p:spPr>
          <a:xfrm>
            <a:off x="4183411" y="4700802"/>
            <a:ext cx="1797287" cy="338554"/>
          </a:xfrm>
          <a:prstGeom prst="rect">
            <a:avLst/>
          </a:prstGeom>
          <a:noFill/>
        </p:spPr>
        <p:txBody>
          <a:bodyPr wrap="none" rtlCol="0">
            <a:spAutoFit/>
          </a:bodyPr>
          <a:lstStyle/>
          <a:p>
            <a:r>
              <a:rPr lang="es-CO" sz="1600">
                <a:solidFill>
                  <a:schemeClr val="accent1"/>
                </a:solidFill>
                <a:latin typeface="Century Gothic" panose="020B0502020202020204" pitchFamily="34" charset="0"/>
              </a:rPr>
              <a:t>Socios		50</a:t>
            </a:r>
          </a:p>
        </p:txBody>
      </p:sp>
      <p:sp>
        <p:nvSpPr>
          <p:cNvPr id="11" name="10 CuadroTexto"/>
          <p:cNvSpPr txBox="1"/>
          <p:nvPr/>
        </p:nvSpPr>
        <p:spPr>
          <a:xfrm>
            <a:off x="4183411" y="3355033"/>
            <a:ext cx="1797287" cy="338554"/>
          </a:xfrm>
          <a:prstGeom prst="rect">
            <a:avLst/>
          </a:prstGeom>
          <a:noFill/>
        </p:spPr>
        <p:txBody>
          <a:bodyPr wrap="none" rtlCol="0">
            <a:spAutoFit/>
          </a:bodyPr>
          <a:lstStyle/>
          <a:p>
            <a:r>
              <a:rPr lang="es-CO" sz="1600">
                <a:solidFill>
                  <a:schemeClr val="accent1"/>
                </a:solidFill>
                <a:latin typeface="Century Gothic" panose="020B0502020202020204" pitchFamily="34" charset="0"/>
              </a:rPr>
              <a:t>Bancos		50</a:t>
            </a:r>
          </a:p>
        </p:txBody>
      </p:sp>
      <p:sp>
        <p:nvSpPr>
          <p:cNvPr id="12" name="11 CuadroTexto"/>
          <p:cNvSpPr txBox="1"/>
          <p:nvPr/>
        </p:nvSpPr>
        <p:spPr>
          <a:xfrm>
            <a:off x="7315390" y="3029398"/>
            <a:ext cx="2960301" cy="1323439"/>
          </a:xfrm>
          <a:prstGeom prst="rect">
            <a:avLst/>
          </a:prstGeom>
          <a:noFill/>
        </p:spPr>
        <p:txBody>
          <a:bodyPr wrap="square" rtlCol="0">
            <a:spAutoFit/>
          </a:bodyPr>
          <a:lstStyle/>
          <a:p>
            <a:pPr algn="ctr"/>
            <a:r>
              <a:rPr lang="es-CO" sz="1600" b="1">
                <a:solidFill>
                  <a:srgbClr val="D7A700"/>
                </a:solidFill>
                <a:latin typeface="Century Gothic" panose="020B0502020202020204" pitchFamily="34" charset="0"/>
              </a:rPr>
              <a:t>¿Cómo cambió la utilidad?</a:t>
            </a:r>
          </a:p>
          <a:p>
            <a:pPr algn="ctr"/>
            <a:endParaRPr lang="es-CO" sz="1600" b="1">
              <a:solidFill>
                <a:srgbClr val="D7A700"/>
              </a:solidFill>
              <a:latin typeface="Century Gothic" panose="020B0502020202020204" pitchFamily="34" charset="0"/>
            </a:endParaRPr>
          </a:p>
          <a:p>
            <a:pPr algn="ctr"/>
            <a:endParaRPr lang="es-CO" sz="1600" b="1">
              <a:solidFill>
                <a:srgbClr val="C00000"/>
              </a:solidFill>
              <a:latin typeface="Century Gothic" panose="020B0502020202020204" pitchFamily="34" charset="0"/>
            </a:endParaRPr>
          </a:p>
          <a:p>
            <a:pPr algn="ctr"/>
            <a:r>
              <a:rPr lang="es-CO" sz="1600" b="1">
                <a:solidFill>
                  <a:schemeClr val="accent3">
                    <a:lumMod val="50000"/>
                  </a:schemeClr>
                </a:solidFill>
                <a:latin typeface="Century Gothic" panose="020B0502020202020204" pitchFamily="34" charset="0"/>
              </a:rPr>
              <a:t>¿Cómo cambió la liquidez?</a:t>
            </a:r>
          </a:p>
          <a:p>
            <a:pPr algn="ctr"/>
            <a:endParaRPr lang="es-CO" sz="1600" b="1">
              <a:solidFill>
                <a:schemeClr val="accent3">
                  <a:lumMod val="50000"/>
                </a:schemeClr>
              </a:solidFill>
              <a:latin typeface="Century Gothic" panose="020B0502020202020204" pitchFamily="34" charset="0"/>
            </a:endParaRPr>
          </a:p>
        </p:txBody>
      </p:sp>
      <p:sp>
        <p:nvSpPr>
          <p:cNvPr id="5" name="Rectángulo 4">
            <a:extLst>
              <a:ext uri="{FF2B5EF4-FFF2-40B4-BE49-F238E27FC236}">
                <a16:creationId xmlns:a16="http://schemas.microsoft.com/office/drawing/2014/main" id="{0DD16E1C-5A0A-FD29-2CC8-9980A66C98D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7CDC62B2-56EB-2800-7798-313CED76EA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descr="Cómo invertir dinero en 4 pasos fáciles | Sensorial Motion">
            <a:extLst>
              <a:ext uri="{FF2B5EF4-FFF2-40B4-BE49-F238E27FC236}">
                <a16:creationId xmlns:a16="http://schemas.microsoft.com/office/drawing/2014/main" id="{3A3F5778-DEAF-D6F4-2F95-33BEFCA655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37477" y="4700802"/>
            <a:ext cx="2628980" cy="1749467"/>
          </a:xfrm>
          <a:prstGeom prst="rect">
            <a:avLst/>
          </a:prstGeom>
          <a:noFill/>
          <a:extLst>
            <a:ext uri="{909E8E84-426E-40DD-AFC4-6F175D3DCCD1}">
              <a14:hiddenFill xmlns:a14="http://schemas.microsoft.com/office/drawing/2010/main">
                <a:solidFill>
                  <a:srgbClr val="FFFFFF"/>
                </a:solidFill>
              </a14:hiddenFill>
            </a:ext>
          </a:extLst>
        </p:spPr>
      </p:pic>
      <p:sp>
        <p:nvSpPr>
          <p:cNvPr id="13" name="8 CuadroTexto">
            <a:extLst>
              <a:ext uri="{FF2B5EF4-FFF2-40B4-BE49-F238E27FC236}">
                <a16:creationId xmlns:a16="http://schemas.microsoft.com/office/drawing/2014/main" id="{9E3F0B6C-88D3-CE81-DED5-21277086DC6C}"/>
              </a:ext>
            </a:extLst>
          </p:cNvPr>
          <p:cNvSpPr txBox="1"/>
          <p:nvPr/>
        </p:nvSpPr>
        <p:spPr>
          <a:xfrm>
            <a:off x="2069153" y="4183416"/>
            <a:ext cx="1797287" cy="338554"/>
          </a:xfrm>
          <a:prstGeom prst="rect">
            <a:avLst/>
          </a:prstGeom>
          <a:noFill/>
        </p:spPr>
        <p:txBody>
          <a:bodyPr wrap="none" rtlCol="0">
            <a:spAutoFit/>
          </a:bodyPr>
          <a:lstStyle/>
          <a:p>
            <a:r>
              <a:rPr lang="es-CO" sz="1600">
                <a:solidFill>
                  <a:schemeClr val="accent1"/>
                </a:solidFill>
                <a:latin typeface="Century Gothic" panose="020B0502020202020204" pitchFamily="34" charset="0"/>
              </a:rPr>
              <a:t>Edificio		80</a:t>
            </a:r>
          </a:p>
        </p:txBody>
      </p:sp>
      <p:sp>
        <p:nvSpPr>
          <p:cNvPr id="14" name="Rectángulo 13">
            <a:extLst>
              <a:ext uri="{FF2B5EF4-FFF2-40B4-BE49-F238E27FC236}">
                <a16:creationId xmlns:a16="http://schemas.microsoft.com/office/drawing/2014/main" id="{53E209BC-82EA-325B-D2EB-8490411165E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Marcador de número de diapositiva 3">
            <a:extLst>
              <a:ext uri="{FF2B5EF4-FFF2-40B4-BE49-F238E27FC236}">
                <a16:creationId xmlns:a16="http://schemas.microsoft.com/office/drawing/2014/main" id="{5A438BA8-CB90-3ED7-308B-4541E3FE5DB3}"/>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48</a:t>
            </a:fld>
            <a:endParaRPr lang="en-US" sz="2000" b="1">
              <a:latin typeface="Century Gothic" panose="020B0502020202020204" pitchFamily="34" charset="0"/>
            </a:endParaRPr>
          </a:p>
        </p:txBody>
      </p:sp>
    </p:spTree>
    <p:extLst>
      <p:ext uri="{BB962C8B-B14F-4D97-AF65-F5344CB8AC3E}">
        <p14:creationId xmlns:p14="http://schemas.microsoft.com/office/powerpoint/2010/main" val="1026884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Principio de Pertinencia</a:t>
            </a:r>
          </a:p>
        </p:txBody>
      </p:sp>
      <p:sp>
        <p:nvSpPr>
          <p:cNvPr id="3" name="Marcador de contenido 2"/>
          <p:cNvSpPr>
            <a:spLocks noGrp="1"/>
          </p:cNvSpPr>
          <p:nvPr>
            <p:ph idx="1"/>
          </p:nvPr>
        </p:nvSpPr>
        <p:spPr>
          <a:xfrm>
            <a:off x="1053105" y="2518175"/>
            <a:ext cx="7610476" cy="3278295"/>
          </a:xfrm>
        </p:spPr>
        <p:txBody>
          <a:bodyPr>
            <a:normAutofit/>
          </a:bodyPr>
          <a:lstStyle/>
          <a:p>
            <a:pPr marL="0" indent="0" algn="ctr">
              <a:buNone/>
            </a:pPr>
            <a:r>
              <a:rPr lang="es-ES" dirty="0">
                <a:solidFill>
                  <a:schemeClr val="accent1"/>
                </a:solidFill>
                <a:latin typeface="Century Gothic" panose="020B0502020202020204" pitchFamily="34" charset="0"/>
              </a:rPr>
              <a:t>Es entonces evidente como existen transacciones que, pese a afectar la liquidez, no afectarán la utilidad.</a:t>
            </a:r>
          </a:p>
          <a:p>
            <a:pPr marL="0" indent="0" algn="ctr">
              <a:buNone/>
            </a:pPr>
            <a:endParaRPr lang="es-ES" dirty="0">
              <a:solidFill>
                <a:schemeClr val="accent1"/>
              </a:solidFill>
              <a:latin typeface="Century Gothic" panose="020B0502020202020204" pitchFamily="34" charset="0"/>
            </a:endParaRPr>
          </a:p>
          <a:p>
            <a:pPr marL="0" indent="0" algn="ctr">
              <a:buNone/>
            </a:pPr>
            <a:r>
              <a:rPr lang="es-ES" dirty="0">
                <a:solidFill>
                  <a:schemeClr val="accent1"/>
                </a:solidFill>
                <a:latin typeface="Century Gothic" panose="020B0502020202020204" pitchFamily="34" charset="0"/>
              </a:rPr>
              <a:t>Entendiendo que al evaluar alternativas de inversión el eje analítico son los flujos de efectivo, la utilidad debería ajustarse para incorporar estos flujos de efectivo </a:t>
            </a:r>
            <a:r>
              <a:rPr lang="es-ES" b="1" dirty="0">
                <a:solidFill>
                  <a:srgbClr val="C00000"/>
                </a:solidFill>
                <a:latin typeface="Century Gothic" panose="020B0502020202020204" pitchFamily="34" charset="0"/>
              </a:rPr>
              <a:t>pertinentes</a:t>
            </a:r>
            <a:r>
              <a:rPr lang="es-ES" dirty="0">
                <a:latin typeface="Century Gothic" panose="020B0502020202020204" pitchFamily="34" charset="0"/>
              </a:rPr>
              <a:t>.</a:t>
            </a:r>
          </a:p>
        </p:txBody>
      </p:sp>
      <p:sp>
        <p:nvSpPr>
          <p:cNvPr id="9" name="Rectángulo 8">
            <a:extLst>
              <a:ext uri="{FF2B5EF4-FFF2-40B4-BE49-F238E27FC236}">
                <a16:creationId xmlns:a16="http://schemas.microsoft.com/office/drawing/2014/main" id="{58A17E72-F4A8-775D-B726-12D5F5A79E5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98DDA225-FA4A-73C3-1C0B-FE876991BE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9218" name="Picture 2" descr="Fondos de inversión: qué son, ventajas y desventajas - SyPpT">
            <a:extLst>
              <a:ext uri="{FF2B5EF4-FFF2-40B4-BE49-F238E27FC236}">
                <a16:creationId xmlns:a16="http://schemas.microsoft.com/office/drawing/2014/main" id="{75608659-5D53-B37C-1151-DE1769F82E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69692" y="3291831"/>
            <a:ext cx="3463962" cy="1552017"/>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6B85E415-5E49-8A54-8A19-3C303B88A23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BDBC3BDD-8485-D7E9-0CD3-897205B7413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49</a:t>
            </a:fld>
            <a:endParaRPr lang="en-US" sz="2000" b="1">
              <a:latin typeface="Century Gothic" panose="020B0502020202020204" pitchFamily="34" charset="0"/>
            </a:endParaRPr>
          </a:p>
        </p:txBody>
      </p:sp>
    </p:spTree>
    <p:extLst>
      <p:ext uri="{BB962C8B-B14F-4D97-AF65-F5344CB8AC3E}">
        <p14:creationId xmlns:p14="http://schemas.microsoft.com/office/powerpoint/2010/main" val="1140933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416707"/>
            <a:ext cx="8540907" cy="3046988"/>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a:solidFill>
                  <a:schemeClr val="tx2">
                    <a:lumMod val="20000"/>
                    <a:lumOff val="80000"/>
                  </a:schemeClr>
                </a:solidFill>
                <a:latin typeface="Century Gothic"/>
                <a:cs typeface="Arial"/>
              </a:rPr>
              <a:t>Construcción del Flujo de Caja Libre.</a:t>
            </a:r>
            <a:endParaRPr lang="es-ES" sz="1600">
              <a:solidFill>
                <a:schemeClr val="tx2">
                  <a:lumMod val="20000"/>
                  <a:lumOff val="80000"/>
                </a:schemeClr>
              </a:solidFill>
              <a:latin typeface="Century Gothic"/>
              <a:cs typeface="Arial"/>
            </a:endParaRPr>
          </a:p>
          <a:p>
            <a:pPr marL="342900" indent="-342900">
              <a:buClr>
                <a:srgbClr val="2C7C9F"/>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Principios de Contabilidad.</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 de Causación VS. Principio de Caja.</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 de Pertinencia.</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Gastos No Efectivos.</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Flujo de Caja Libre (FCL).</a:t>
            </a:r>
            <a:endParaRPr lang="es-CO" sz="1600">
              <a:solidFill>
                <a:schemeClr val="tx2">
                  <a:lumMod val="20000"/>
                  <a:lumOff val="80000"/>
                </a:schemeClr>
              </a:solidFill>
              <a:latin typeface="Century Gothic" panose="020B0502020202020204" pitchFamily="34" charset="0"/>
              <a:cs typeface="Arial"/>
            </a:endParaRPr>
          </a:p>
          <a:p>
            <a:pPr>
              <a:buClr>
                <a:schemeClr val="accent3">
                  <a:lumMod val="75000"/>
                </a:schemeClr>
              </a:buClr>
            </a:pPr>
            <a:endParaRPr lang="es-CO" sz="160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B86D2249-DF17-E2A8-32A3-BDDE34D946A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6ED11971-CEAA-9BAC-24A3-DF62E61E4D8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50</a:t>
            </a:fld>
            <a:endParaRPr lang="en-US" sz="2000" b="1">
              <a:latin typeface="Century Gothic" panose="020B0502020202020204" pitchFamily="34" charset="0"/>
            </a:endParaRPr>
          </a:p>
        </p:txBody>
      </p:sp>
    </p:spTree>
    <p:extLst>
      <p:ext uri="{BB962C8B-B14F-4D97-AF65-F5344CB8AC3E}">
        <p14:creationId xmlns:p14="http://schemas.microsoft.com/office/powerpoint/2010/main" val="3410606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GASTOS NO EFECTIVOS</a:t>
            </a:r>
          </a:p>
        </p:txBody>
      </p:sp>
      <p:sp>
        <p:nvSpPr>
          <p:cNvPr id="3" name="Marcador de contenido 2"/>
          <p:cNvSpPr>
            <a:spLocks noGrp="1"/>
          </p:cNvSpPr>
          <p:nvPr>
            <p:ph idx="1"/>
          </p:nvPr>
        </p:nvSpPr>
        <p:spPr>
          <a:xfrm>
            <a:off x="581192" y="2025180"/>
            <a:ext cx="10878718" cy="798567"/>
          </a:xfrm>
        </p:spPr>
        <p:txBody>
          <a:bodyPr>
            <a:noAutofit/>
          </a:bodyPr>
          <a:lstStyle/>
          <a:p>
            <a:pPr marL="0" indent="0" algn="just">
              <a:buNone/>
            </a:pPr>
            <a:r>
              <a:rPr lang="es-ES" b="1">
                <a:solidFill>
                  <a:srgbClr val="C00000"/>
                </a:solidFill>
                <a:latin typeface="Century Gothic" panose="020B0502020202020204" pitchFamily="34" charset="0"/>
              </a:rPr>
              <a:t>Ejemplo 3: </a:t>
            </a:r>
          </a:p>
          <a:p>
            <a:pPr marL="0" indent="0" algn="just">
              <a:buNone/>
            </a:pPr>
            <a:r>
              <a:rPr lang="es-ES">
                <a:solidFill>
                  <a:schemeClr val="accent1"/>
                </a:solidFill>
                <a:latin typeface="Century Gothic" panose="020B0502020202020204" pitchFamily="34" charset="0"/>
              </a:rPr>
              <a:t>Suponga que el Estado de Situación Financiera de una compañía hipotética es el siguiente:</a:t>
            </a:r>
          </a:p>
        </p:txBody>
      </p:sp>
      <p:sp>
        <p:nvSpPr>
          <p:cNvPr id="12" name="11 CuadroTexto"/>
          <p:cNvSpPr txBox="1"/>
          <p:nvPr/>
        </p:nvSpPr>
        <p:spPr>
          <a:xfrm>
            <a:off x="7853660" y="4016418"/>
            <a:ext cx="2946146" cy="1077218"/>
          </a:xfrm>
          <a:prstGeom prst="rect">
            <a:avLst/>
          </a:prstGeom>
          <a:noFill/>
        </p:spPr>
        <p:txBody>
          <a:bodyPr wrap="square" rtlCol="0">
            <a:spAutoFit/>
          </a:bodyPr>
          <a:lstStyle/>
          <a:p>
            <a:pPr algn="ctr"/>
            <a:r>
              <a:rPr lang="es-CO" sz="1600" b="1">
                <a:solidFill>
                  <a:schemeClr val="accent3">
                    <a:lumMod val="75000"/>
                  </a:schemeClr>
                </a:solidFill>
                <a:latin typeface="Century Gothic" panose="020B0502020202020204" pitchFamily="34" charset="0"/>
              </a:rPr>
              <a:t>Después de un año de operación, ¿es razonable creer que el avión se deprecia?</a:t>
            </a:r>
          </a:p>
        </p:txBody>
      </p:sp>
      <p:graphicFrame>
        <p:nvGraphicFramePr>
          <p:cNvPr id="17" name="Table 4">
            <a:extLst>
              <a:ext uri="{FF2B5EF4-FFF2-40B4-BE49-F238E27FC236}">
                <a16:creationId xmlns:a16="http://schemas.microsoft.com/office/drawing/2014/main" id="{C4BA8718-0E01-4AA9-AE41-8522DA75F308}"/>
              </a:ext>
            </a:extLst>
          </p:cNvPr>
          <p:cNvGraphicFramePr>
            <a:graphicFrameLocks noGrp="1"/>
          </p:cNvGraphicFramePr>
          <p:nvPr>
            <p:extLst>
              <p:ext uri="{D42A27DB-BD31-4B8C-83A1-F6EECF244321}">
                <p14:modId xmlns:p14="http://schemas.microsoft.com/office/powerpoint/2010/main" val="2901654462"/>
              </p:ext>
            </p:extLst>
          </p:nvPr>
        </p:nvGraphicFramePr>
        <p:xfrm>
          <a:off x="1088579" y="3361419"/>
          <a:ext cx="3311122" cy="2372360"/>
        </p:xfrm>
        <a:graphic>
          <a:graphicData uri="http://schemas.openxmlformats.org/drawingml/2006/table">
            <a:tbl>
              <a:tblPr firstRow="1" bandRow="1">
                <a:tableStyleId>{2D5ABB26-0587-4C30-8999-92F81FD0307C}</a:tableStyleId>
              </a:tblPr>
              <a:tblGrid>
                <a:gridCol w="909554">
                  <a:extLst>
                    <a:ext uri="{9D8B030D-6E8A-4147-A177-3AD203B41FA5}">
                      <a16:colId xmlns:a16="http://schemas.microsoft.com/office/drawing/2014/main" val="20000"/>
                    </a:ext>
                  </a:extLst>
                </a:gridCol>
                <a:gridCol w="397934">
                  <a:extLst>
                    <a:ext uri="{9D8B030D-6E8A-4147-A177-3AD203B41FA5}">
                      <a16:colId xmlns:a16="http://schemas.microsoft.com/office/drawing/2014/main" val="20001"/>
                    </a:ext>
                  </a:extLst>
                </a:gridCol>
                <a:gridCol w="254893">
                  <a:extLst>
                    <a:ext uri="{9D8B030D-6E8A-4147-A177-3AD203B41FA5}">
                      <a16:colId xmlns:a16="http://schemas.microsoft.com/office/drawing/2014/main" val="20002"/>
                    </a:ext>
                  </a:extLst>
                </a:gridCol>
                <a:gridCol w="1190828">
                  <a:extLst>
                    <a:ext uri="{9D8B030D-6E8A-4147-A177-3AD203B41FA5}">
                      <a16:colId xmlns:a16="http://schemas.microsoft.com/office/drawing/2014/main" val="20003"/>
                    </a:ext>
                  </a:extLst>
                </a:gridCol>
                <a:gridCol w="557913">
                  <a:extLst>
                    <a:ext uri="{9D8B030D-6E8A-4147-A177-3AD203B41FA5}">
                      <a16:colId xmlns:a16="http://schemas.microsoft.com/office/drawing/2014/main" val="20004"/>
                    </a:ext>
                  </a:extLst>
                </a:gridCol>
              </a:tblGrid>
              <a:tr h="370840">
                <a:tc gridSpan="5">
                  <a:txBody>
                    <a:bodyPr/>
                    <a:lstStyle/>
                    <a:p>
                      <a:pPr algn="ctr"/>
                      <a:r>
                        <a:rPr lang="es-CO" sz="1400" b="1" noProof="0">
                          <a:solidFill>
                            <a:schemeClr val="bg1"/>
                          </a:solidFill>
                          <a:latin typeface="Century Gothic" panose="020B0502020202020204" pitchFamily="34" charset="0"/>
                        </a:rPr>
                        <a:t>Estado de Situación Financiera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155E26"/>
                    </a:solidFill>
                  </a:tcPr>
                </a:tc>
                <a:tc hMerge="1">
                  <a:txBody>
                    <a:bodyPr/>
                    <a:lstStyle/>
                    <a:p>
                      <a:pPr algn="ctr"/>
                      <a:endParaRPr lang="en-US" sz="1600"/>
                    </a:p>
                  </a:txBody>
                  <a:tcPr>
                    <a:lnT w="12700" cap="flat" cmpd="sng" algn="ctr">
                      <a:solidFill>
                        <a:scrgbClr r="0" g="0" b="0"/>
                      </a:solidFill>
                      <a:prstDash val="solid"/>
                      <a:round/>
                      <a:headEnd type="none" w="med" len="med"/>
                      <a:tailEnd type="none" w="med" len="med"/>
                    </a:lnT>
                  </a:tcPr>
                </a:tc>
                <a:tc hMerge="1">
                  <a:txBody>
                    <a:bodyPr/>
                    <a:lstStyle/>
                    <a:p>
                      <a:pPr algn="ctr"/>
                      <a:endParaRPr lang="en-US" sz="160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hMerge="1">
                  <a:txBody>
                    <a:bodyPr/>
                    <a:lstStyle/>
                    <a:p>
                      <a:pPr algn="ctr"/>
                      <a:endParaRPr lang="en-US" sz="1600"/>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tcPr>
                </a:tc>
                <a:tc hMerge="1">
                  <a:txBody>
                    <a:bodyPr/>
                    <a:lstStyle/>
                    <a:p>
                      <a:pPr algn="ctr"/>
                      <a:endParaRPr lang="en-US" sz="160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r>
                        <a:rPr lang="es-CO" sz="1400" noProof="0">
                          <a:solidFill>
                            <a:schemeClr val="accent1"/>
                          </a:solidFill>
                          <a:latin typeface="Century Gothic" panose="020B0502020202020204" pitchFamily="34" charset="0"/>
                        </a:rPr>
                        <a:t>Efectivo</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gridSpan="2">
                  <a:txBody>
                    <a:bodyPr/>
                    <a:lstStyle/>
                    <a:p>
                      <a:pPr algn="ctr"/>
                      <a:r>
                        <a:rPr lang="es-CO" sz="1400" noProof="0">
                          <a:solidFill>
                            <a:schemeClr val="accent1"/>
                          </a:solidFill>
                          <a:latin typeface="Century Gothic" panose="020B0502020202020204" pitchFamily="34" charset="0"/>
                        </a:rPr>
                        <a:t>120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tc hMerge="1">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Bancos</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50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r>
                        <a:rPr lang="es-CO" sz="1400" noProof="0">
                          <a:solidFill>
                            <a:schemeClr val="accent1"/>
                          </a:solidFill>
                          <a:latin typeface="Century Gothic" panose="020B0502020202020204" pitchFamily="34" charset="0"/>
                        </a:rPr>
                        <a:t>Avión</a:t>
                      </a:r>
                    </a:p>
                  </a:txBody>
                  <a:tcPr>
                    <a:lnL w="28575" cap="flat" cmpd="sng" algn="ctr">
                      <a:solidFill>
                        <a:srgbClr val="D7A700"/>
                      </a:solidFill>
                      <a:prstDash val="solid"/>
                      <a:round/>
                      <a:headEnd type="none" w="med" len="med"/>
                      <a:tailEnd type="none" w="med" len="med"/>
                    </a:lnL>
                  </a:tcPr>
                </a:tc>
                <a:tc gridSpan="2">
                  <a:txBody>
                    <a:bodyPr/>
                    <a:lstStyle/>
                    <a:p>
                      <a:pPr algn="ctr"/>
                      <a:r>
                        <a:rPr lang="es-CO" sz="1400" noProof="0">
                          <a:solidFill>
                            <a:schemeClr val="accent1"/>
                          </a:solidFill>
                          <a:latin typeface="Century Gothic" panose="020B0502020202020204" pitchFamily="34" charset="0"/>
                        </a:rPr>
                        <a:t>80</a:t>
                      </a:r>
                    </a:p>
                  </a:txBody>
                  <a:tcPr>
                    <a:lnR w="28575" cap="flat" cmpd="sng" algn="ctr">
                      <a:solidFill>
                        <a:srgbClr val="D7A700"/>
                      </a:solidFill>
                      <a:prstDash val="solid"/>
                      <a:round/>
                      <a:headEnd type="none" w="med" len="med"/>
                      <a:tailEnd type="none" w="med" len="med"/>
                    </a:lnR>
                  </a:tcPr>
                </a:tc>
                <a:tc hMerge="1">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tcPr>
                </a:tc>
                <a:tc>
                  <a:txBody>
                    <a:bodyPr/>
                    <a:lstStyle/>
                    <a:p>
                      <a:pPr algn="ctr"/>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tcPr>
                </a:tc>
                <a:tc>
                  <a:txBody>
                    <a:bodyPr/>
                    <a:lstStyle/>
                    <a:p>
                      <a:pPr algn="ctr"/>
                      <a:endParaRPr lang="es-CO" sz="1400" noProof="0">
                        <a:solidFill>
                          <a:schemeClr val="accent1"/>
                        </a:solidFill>
                        <a:latin typeface="Century Gothic" panose="020B0502020202020204" pitchFamily="34" charset="0"/>
                      </a:endParaRPr>
                    </a:p>
                  </a:txBody>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tcPr>
                </a:tc>
                <a:tc>
                  <a:txBody>
                    <a:bodyPr/>
                    <a:lstStyle/>
                    <a:p>
                      <a:pPr algn="ctr"/>
                      <a:r>
                        <a:rPr lang="es-CO" sz="1400" noProof="0" dirty="0">
                          <a:solidFill>
                            <a:schemeClr val="accent1"/>
                          </a:solidFill>
                          <a:latin typeface="Century Gothic" panose="020B0502020202020204" pitchFamily="34" charset="0"/>
                        </a:rPr>
                        <a:t>Capital Suscrito</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50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tcPr>
                </a:tc>
                <a:tc>
                  <a:txBody>
                    <a:bodyPr/>
                    <a:lstStyle/>
                    <a:p>
                      <a:pPr algn="ctr"/>
                      <a:endParaRPr lang="es-CO" sz="1400" noProof="0">
                        <a:solidFill>
                          <a:schemeClr val="accent1"/>
                        </a:solidFill>
                        <a:latin typeface="Century Gothic" panose="020B0502020202020204" pitchFamily="34" charset="0"/>
                      </a:endParaRPr>
                    </a:p>
                  </a:txBody>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tcPr>
                </a:tc>
                <a:tc>
                  <a:txBody>
                    <a:bodyPr/>
                    <a:lstStyle/>
                    <a:p>
                      <a:pPr algn="ctr"/>
                      <a:r>
                        <a:rPr lang="es-CO" sz="1400" noProof="0">
                          <a:solidFill>
                            <a:schemeClr val="accent1"/>
                          </a:solidFill>
                          <a:latin typeface="Century Gothic" panose="020B0502020202020204" pitchFamily="34" charset="0"/>
                        </a:rPr>
                        <a:t>U. Neta</a:t>
                      </a:r>
                    </a:p>
                  </a:txBody>
                  <a:tcPr>
                    <a:lnL w="28575" cap="flat" cmpd="sng" algn="ctr">
                      <a:solidFill>
                        <a:srgbClr val="D7A700"/>
                      </a:solidFill>
                      <a:prstDash val="solid"/>
                      <a:round/>
                      <a:headEnd type="none" w="med" len="med"/>
                      <a:tailEnd type="none" w="med" len="med"/>
                    </a:lnL>
                  </a:tcPr>
                </a:tc>
                <a:tc>
                  <a:txBody>
                    <a:bodyPr/>
                    <a:lstStyle/>
                    <a:p>
                      <a:pPr algn="ctr"/>
                      <a:r>
                        <a:rPr lang="es-CO" sz="1400" noProof="0">
                          <a:solidFill>
                            <a:schemeClr val="accent1"/>
                          </a:solidFill>
                          <a:latin typeface="Century Gothic" panose="020B0502020202020204" pitchFamily="34" charset="0"/>
                        </a:rPr>
                        <a:t>100</a:t>
                      </a:r>
                    </a:p>
                  </a:txBody>
                  <a:tcPr>
                    <a:lnR w="28575" cap="flat" cmpd="sng" algn="ctr">
                      <a:solidFill>
                        <a:srgbClr val="D7A700"/>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endParaRPr lang="es-CO" sz="1400" noProof="0">
                        <a:solidFill>
                          <a:schemeClr val="accent1"/>
                        </a:solidFill>
                        <a:latin typeface="Century Gothic" panose="020B0502020202020204" pitchFamily="34" charset="0"/>
                      </a:endParaRPr>
                    </a:p>
                  </a:txBody>
                  <a:tcPr>
                    <a:lnB w="28575" cap="flat" cmpd="sng" algn="ctr">
                      <a:solidFill>
                        <a:srgbClr val="D7A700"/>
                      </a:solidFill>
                      <a:prstDash val="solid"/>
                      <a:round/>
                      <a:headEnd type="none" w="med" len="med"/>
                      <a:tailEnd type="none" w="med" len="med"/>
                    </a:lnB>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tc>
                  <a:txBody>
                    <a:bodyPr/>
                    <a:lstStyle/>
                    <a:p>
                      <a:pPr algn="ctr"/>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endParaRPr lang="es-CO" sz="1400" noProof="0" dirty="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18" name="Table 24">
            <a:extLst>
              <a:ext uri="{FF2B5EF4-FFF2-40B4-BE49-F238E27FC236}">
                <a16:creationId xmlns:a16="http://schemas.microsoft.com/office/drawing/2014/main" id="{F02BB3D5-68B2-4C74-9350-3442249C8310}"/>
              </a:ext>
            </a:extLst>
          </p:cNvPr>
          <p:cNvGraphicFramePr>
            <a:graphicFrameLocks noGrp="1"/>
          </p:cNvGraphicFramePr>
          <p:nvPr>
            <p:extLst>
              <p:ext uri="{D42A27DB-BD31-4B8C-83A1-F6EECF244321}">
                <p14:modId xmlns:p14="http://schemas.microsoft.com/office/powerpoint/2010/main" val="4097913979"/>
              </p:ext>
            </p:extLst>
          </p:nvPr>
        </p:nvGraphicFramePr>
        <p:xfrm>
          <a:off x="4797273" y="3361419"/>
          <a:ext cx="2168648" cy="2225040"/>
        </p:xfrm>
        <a:graphic>
          <a:graphicData uri="http://schemas.openxmlformats.org/drawingml/2006/table">
            <a:tbl>
              <a:tblPr firstRow="1" bandRow="1">
                <a:tableStyleId>{2D5ABB26-0587-4C30-8999-92F81FD0307C}</a:tableStyleId>
              </a:tblPr>
              <a:tblGrid>
                <a:gridCol w="1476769">
                  <a:extLst>
                    <a:ext uri="{9D8B030D-6E8A-4147-A177-3AD203B41FA5}">
                      <a16:colId xmlns:a16="http://schemas.microsoft.com/office/drawing/2014/main" val="20000"/>
                    </a:ext>
                  </a:extLst>
                </a:gridCol>
                <a:gridCol w="691879">
                  <a:extLst>
                    <a:ext uri="{9D8B030D-6E8A-4147-A177-3AD203B41FA5}">
                      <a16:colId xmlns:a16="http://schemas.microsoft.com/office/drawing/2014/main" val="20001"/>
                    </a:ext>
                  </a:extLst>
                </a:gridCol>
              </a:tblGrid>
              <a:tr h="370840">
                <a:tc gridSpan="2">
                  <a:txBody>
                    <a:bodyPr/>
                    <a:lstStyle/>
                    <a:p>
                      <a:pPr algn="ctr"/>
                      <a:r>
                        <a:rPr lang="es-CO" sz="1400" b="1" noProof="0">
                          <a:solidFill>
                            <a:schemeClr val="bg1"/>
                          </a:solidFill>
                          <a:latin typeface="Century Gothic" panose="020B0502020202020204" pitchFamily="34" charset="0"/>
                        </a:rPr>
                        <a:t>Estado de Resultados</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155E26"/>
                    </a:solidFill>
                  </a:tcPr>
                </a:tc>
                <a:tc hMerge="1">
                  <a:txBody>
                    <a:bodyPr/>
                    <a:lstStyle/>
                    <a:p>
                      <a:pPr algn="ctr"/>
                      <a:endParaRPr lang="en-US" sz="160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pPr algn="ctr"/>
                      <a:r>
                        <a:rPr lang="es-CO" sz="1400" noProof="0">
                          <a:solidFill>
                            <a:schemeClr val="accent1"/>
                          </a:solidFill>
                          <a:latin typeface="Century Gothic" panose="020B0502020202020204" pitchFamily="34" charset="0"/>
                        </a:rPr>
                        <a:t>Ingresos</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100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algn="ctr"/>
                      <a:r>
                        <a:rPr lang="es-CO" sz="1400" noProof="0">
                          <a:solidFill>
                            <a:schemeClr val="accent1"/>
                          </a:solidFill>
                          <a:latin typeface="Century Gothic" panose="020B0502020202020204" pitchFamily="34" charset="0"/>
                        </a:rPr>
                        <a:t>Depreciación</a:t>
                      </a: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r>
                        <a:rPr lang="es-CO" sz="1400" noProof="0">
                          <a:solidFill>
                            <a:schemeClr val="accent1"/>
                          </a:solidFill>
                          <a:latin typeface="Century Gothic" panose="020B0502020202020204" pitchFamily="34" charset="0"/>
                        </a:rPr>
                        <a:t>0</a:t>
                      </a: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s-CO" sz="1400" noProof="0">
                          <a:solidFill>
                            <a:schemeClr val="accent1"/>
                          </a:solidFill>
                          <a:latin typeface="Century Gothic" panose="020B0502020202020204" pitchFamily="34" charset="0"/>
                        </a:rPr>
                        <a:t>EBIT</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100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pPr algn="ctr"/>
                      <a:r>
                        <a:rPr lang="es-CO" sz="1400" noProof="0">
                          <a:solidFill>
                            <a:schemeClr val="accent1"/>
                          </a:solidFill>
                          <a:latin typeface="Century Gothic" panose="020B0502020202020204" pitchFamily="34" charset="0"/>
                        </a:rPr>
                        <a:t>Tax</a:t>
                      </a: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r>
                        <a:rPr lang="es-CO" sz="1400" noProof="0">
                          <a:solidFill>
                            <a:schemeClr val="accent1"/>
                          </a:solidFill>
                          <a:latin typeface="Century Gothic" panose="020B0502020202020204" pitchFamily="34" charset="0"/>
                        </a:rPr>
                        <a:t>0</a:t>
                      </a: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r>
                        <a:rPr lang="es-CO" sz="1400" noProof="0">
                          <a:solidFill>
                            <a:schemeClr val="accent1"/>
                          </a:solidFill>
                          <a:latin typeface="Century Gothic" panose="020B0502020202020204" pitchFamily="34" charset="0"/>
                        </a:rPr>
                        <a:t>U. Neta</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CO" sz="1400" noProof="0">
                          <a:solidFill>
                            <a:schemeClr val="accent1"/>
                          </a:solidFill>
                          <a:latin typeface="Century Gothic" panose="020B0502020202020204" pitchFamily="34" charset="0"/>
                        </a:rPr>
                        <a:t>100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Rectángulo 4">
            <a:extLst>
              <a:ext uri="{FF2B5EF4-FFF2-40B4-BE49-F238E27FC236}">
                <a16:creationId xmlns:a16="http://schemas.microsoft.com/office/drawing/2014/main" id="{903944B8-40E1-C593-0843-7FBF378BC37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C26C92D9-AA91-D031-18B1-BD0015DFBE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D5AC13EA-8A8C-ABF9-7860-649CDA0BB0E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D65F8E23-AEFA-48ED-EAB3-839E5B023D92}"/>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51</a:t>
            </a:fld>
            <a:endParaRPr lang="en-US" sz="2000" b="1">
              <a:latin typeface="Century Gothic" panose="020B0502020202020204" pitchFamily="34" charset="0"/>
            </a:endParaRPr>
          </a:p>
        </p:txBody>
      </p:sp>
    </p:spTree>
    <p:extLst>
      <p:ext uri="{BB962C8B-B14F-4D97-AF65-F5344CB8AC3E}">
        <p14:creationId xmlns:p14="http://schemas.microsoft.com/office/powerpoint/2010/main" val="3388884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GASTOS NO EFECTIVOS</a:t>
            </a:r>
          </a:p>
        </p:txBody>
      </p:sp>
      <p:sp>
        <p:nvSpPr>
          <p:cNvPr id="3" name="Marcador de contenido 2"/>
          <p:cNvSpPr>
            <a:spLocks noGrp="1"/>
          </p:cNvSpPr>
          <p:nvPr>
            <p:ph idx="1"/>
          </p:nvPr>
        </p:nvSpPr>
        <p:spPr>
          <a:xfrm>
            <a:off x="656641" y="2067619"/>
            <a:ext cx="10878718" cy="798567"/>
          </a:xfrm>
        </p:spPr>
        <p:txBody>
          <a:bodyPr>
            <a:noAutofit/>
          </a:bodyPr>
          <a:lstStyle/>
          <a:p>
            <a:pPr marL="0" indent="0" algn="just">
              <a:buNone/>
            </a:pPr>
            <a:r>
              <a:rPr lang="es-ES" b="1">
                <a:solidFill>
                  <a:srgbClr val="C00000"/>
                </a:solidFill>
                <a:latin typeface="Century Gothic" panose="020B0502020202020204" pitchFamily="34" charset="0"/>
              </a:rPr>
              <a:t>Ejemplo 3: </a:t>
            </a:r>
          </a:p>
          <a:p>
            <a:pPr marL="0" indent="0" algn="just">
              <a:buNone/>
            </a:pPr>
            <a:r>
              <a:rPr lang="es-ES">
                <a:solidFill>
                  <a:schemeClr val="accent1"/>
                </a:solidFill>
                <a:latin typeface="Century Gothic" panose="020B0502020202020204" pitchFamily="34" charset="0"/>
              </a:rPr>
              <a:t>Suponga que el Estado de la Situación Financiera de una compañía hipotética es el siguiente:</a:t>
            </a:r>
          </a:p>
        </p:txBody>
      </p:sp>
      <p:graphicFrame>
        <p:nvGraphicFramePr>
          <p:cNvPr id="17" name="Table 4">
            <a:extLst>
              <a:ext uri="{FF2B5EF4-FFF2-40B4-BE49-F238E27FC236}">
                <a16:creationId xmlns:a16="http://schemas.microsoft.com/office/drawing/2014/main" id="{C4BA8718-0E01-4AA9-AE41-8522DA75F308}"/>
              </a:ext>
            </a:extLst>
          </p:cNvPr>
          <p:cNvGraphicFramePr>
            <a:graphicFrameLocks noGrp="1"/>
          </p:cNvGraphicFramePr>
          <p:nvPr>
            <p:extLst>
              <p:ext uri="{D42A27DB-BD31-4B8C-83A1-F6EECF244321}">
                <p14:modId xmlns:p14="http://schemas.microsoft.com/office/powerpoint/2010/main" val="283469211"/>
              </p:ext>
            </p:extLst>
          </p:nvPr>
        </p:nvGraphicFramePr>
        <p:xfrm>
          <a:off x="794837" y="3361419"/>
          <a:ext cx="3604864" cy="2372360"/>
        </p:xfrm>
        <a:graphic>
          <a:graphicData uri="http://schemas.openxmlformats.org/drawingml/2006/table">
            <a:tbl>
              <a:tblPr firstRow="1" bandRow="1">
                <a:tableStyleId>{2D5ABB26-0587-4C30-8999-92F81FD0307C}</a:tableStyleId>
              </a:tblPr>
              <a:tblGrid>
                <a:gridCol w="1083390">
                  <a:extLst>
                    <a:ext uri="{9D8B030D-6E8A-4147-A177-3AD203B41FA5}">
                      <a16:colId xmlns:a16="http://schemas.microsoft.com/office/drawing/2014/main" val="20000"/>
                    </a:ext>
                  </a:extLst>
                </a:gridCol>
                <a:gridCol w="520769">
                  <a:extLst>
                    <a:ext uri="{9D8B030D-6E8A-4147-A177-3AD203B41FA5}">
                      <a16:colId xmlns:a16="http://schemas.microsoft.com/office/drawing/2014/main" val="20001"/>
                    </a:ext>
                  </a:extLst>
                </a:gridCol>
                <a:gridCol w="208280">
                  <a:extLst>
                    <a:ext uri="{9D8B030D-6E8A-4147-A177-3AD203B41FA5}">
                      <a16:colId xmlns:a16="http://schemas.microsoft.com/office/drawing/2014/main" val="20002"/>
                    </a:ext>
                  </a:extLst>
                </a:gridCol>
                <a:gridCol w="1185017">
                  <a:extLst>
                    <a:ext uri="{9D8B030D-6E8A-4147-A177-3AD203B41FA5}">
                      <a16:colId xmlns:a16="http://schemas.microsoft.com/office/drawing/2014/main" val="20003"/>
                    </a:ext>
                  </a:extLst>
                </a:gridCol>
                <a:gridCol w="607408">
                  <a:extLst>
                    <a:ext uri="{9D8B030D-6E8A-4147-A177-3AD203B41FA5}">
                      <a16:colId xmlns:a16="http://schemas.microsoft.com/office/drawing/2014/main" val="20004"/>
                    </a:ext>
                  </a:extLst>
                </a:gridCol>
              </a:tblGrid>
              <a:tr h="370840">
                <a:tc gridSpan="5">
                  <a:txBody>
                    <a:bodyPr/>
                    <a:lstStyle/>
                    <a:p>
                      <a:pPr algn="ctr"/>
                      <a:r>
                        <a:rPr lang="es-CO" sz="1400" b="1" noProof="0">
                          <a:solidFill>
                            <a:schemeClr val="bg1"/>
                          </a:solidFill>
                          <a:latin typeface="Century Gothic" panose="020B0502020202020204" pitchFamily="34" charset="0"/>
                        </a:rPr>
                        <a:t>Estado de Situación Financiera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155E26"/>
                    </a:solidFill>
                  </a:tcPr>
                </a:tc>
                <a:tc hMerge="1">
                  <a:txBody>
                    <a:bodyPr/>
                    <a:lstStyle/>
                    <a:p>
                      <a:pPr algn="ctr"/>
                      <a:endParaRPr lang="en-US" sz="1600"/>
                    </a:p>
                  </a:txBody>
                  <a:tcPr>
                    <a:lnT w="12700" cap="flat" cmpd="sng" algn="ctr">
                      <a:solidFill>
                        <a:scrgbClr r="0" g="0" b="0"/>
                      </a:solidFill>
                      <a:prstDash val="solid"/>
                      <a:round/>
                      <a:headEnd type="none" w="med" len="med"/>
                      <a:tailEnd type="none" w="med" len="med"/>
                    </a:lnT>
                  </a:tcPr>
                </a:tc>
                <a:tc hMerge="1">
                  <a:txBody>
                    <a:bodyPr/>
                    <a:lstStyle/>
                    <a:p>
                      <a:pPr algn="ctr"/>
                      <a:endParaRPr lang="en-US" sz="160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hMerge="1">
                  <a:txBody>
                    <a:bodyPr/>
                    <a:lstStyle/>
                    <a:p>
                      <a:pPr algn="ctr"/>
                      <a:endParaRPr lang="en-US" sz="1600"/>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tcPr>
                </a:tc>
                <a:tc hMerge="1">
                  <a:txBody>
                    <a:bodyPr/>
                    <a:lstStyle/>
                    <a:p>
                      <a:pPr algn="ctr"/>
                      <a:endParaRPr lang="en-US" sz="160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r>
                        <a:rPr lang="es-CO" sz="1400" noProof="0">
                          <a:solidFill>
                            <a:schemeClr val="accent1"/>
                          </a:solidFill>
                          <a:latin typeface="Century Gothic" panose="020B0502020202020204" pitchFamily="34" charset="0"/>
                        </a:rPr>
                        <a:t>Efectivo</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120</a:t>
                      </a:r>
                    </a:p>
                  </a:txBody>
                  <a:tcPr>
                    <a:lnT w="28575" cap="flat" cmpd="sng" algn="ctr">
                      <a:solidFill>
                        <a:srgbClr val="D7A700"/>
                      </a:solidFill>
                      <a:prstDash val="solid"/>
                      <a:round/>
                      <a:headEnd type="none" w="med" len="med"/>
                      <a:tailEnd type="none" w="med" len="med"/>
                    </a:lnT>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Bancos</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50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r>
                        <a:rPr lang="es-CO" sz="1400" noProof="0">
                          <a:solidFill>
                            <a:schemeClr val="accent1"/>
                          </a:solidFill>
                          <a:latin typeface="Century Gothic" panose="020B0502020202020204" pitchFamily="34" charset="0"/>
                        </a:rPr>
                        <a:t>Avión</a:t>
                      </a:r>
                    </a:p>
                  </a:txBody>
                  <a:tcPr>
                    <a:lnL w="28575" cap="flat" cmpd="sng" algn="ctr">
                      <a:solidFill>
                        <a:srgbClr val="D7A700"/>
                      </a:solidFill>
                      <a:prstDash val="solid"/>
                      <a:round/>
                      <a:headEnd type="none" w="med" len="med"/>
                      <a:tailEnd type="none" w="med" len="med"/>
                    </a:lnL>
                  </a:tcPr>
                </a:tc>
                <a:tc>
                  <a:txBody>
                    <a:bodyPr/>
                    <a:lstStyle/>
                    <a:p>
                      <a:pPr algn="ctr"/>
                      <a:r>
                        <a:rPr lang="es-CO" sz="1400" noProof="0">
                          <a:solidFill>
                            <a:schemeClr val="accent1"/>
                          </a:solidFill>
                          <a:latin typeface="Century Gothic" panose="020B0502020202020204" pitchFamily="34" charset="0"/>
                        </a:rPr>
                        <a:t>80</a:t>
                      </a:r>
                    </a:p>
                  </a:txBody>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tcPr>
                </a:tc>
                <a:tc>
                  <a:txBody>
                    <a:bodyPr/>
                    <a:lstStyle/>
                    <a:p>
                      <a:pPr algn="ctr"/>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s-CO" sz="1400" noProof="0">
                          <a:solidFill>
                            <a:schemeClr val="accent1"/>
                          </a:solidFill>
                          <a:latin typeface="Century Gothic" panose="020B0502020202020204" pitchFamily="34" charset="0"/>
                        </a:rPr>
                        <a:t>  </a:t>
                      </a:r>
                      <a:r>
                        <a:rPr lang="es-CO" sz="1400" noProof="0" err="1">
                          <a:solidFill>
                            <a:schemeClr val="accent1"/>
                          </a:solidFill>
                          <a:latin typeface="Century Gothic" panose="020B0502020202020204" pitchFamily="34" charset="0"/>
                        </a:rPr>
                        <a:t>Dep</a:t>
                      </a:r>
                      <a:r>
                        <a:rPr lang="es-CO" sz="1400" noProof="0">
                          <a:solidFill>
                            <a:schemeClr val="accent1"/>
                          </a:solidFill>
                          <a:latin typeface="Century Gothic" panose="020B0502020202020204" pitchFamily="34" charset="0"/>
                        </a:rPr>
                        <a:t>. Ac.</a:t>
                      </a:r>
                    </a:p>
                  </a:txBody>
                  <a:tcPr>
                    <a:lnL w="28575" cap="flat" cmpd="sng" algn="ctr">
                      <a:solidFill>
                        <a:srgbClr val="D7A700"/>
                      </a:solidFill>
                      <a:prstDash val="solid"/>
                      <a:round/>
                      <a:headEnd type="none" w="med" len="med"/>
                      <a:tailEnd type="none" w="med" len="med"/>
                    </a:lnL>
                  </a:tcPr>
                </a:tc>
                <a:tc>
                  <a:txBody>
                    <a:bodyPr/>
                    <a:lstStyle/>
                    <a:p>
                      <a:pPr algn="ctr"/>
                      <a:r>
                        <a:rPr lang="es-CO" sz="1400" b="1" noProof="0">
                          <a:solidFill>
                            <a:srgbClr val="FF0000"/>
                          </a:solidFill>
                          <a:latin typeface="Century Gothic" panose="020B0502020202020204" pitchFamily="34" charset="0"/>
                        </a:rPr>
                        <a:t>-10</a:t>
                      </a:r>
                    </a:p>
                  </a:txBody>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tcPr>
                </a:tc>
                <a:tc>
                  <a:txBody>
                    <a:bodyPr/>
                    <a:lstStyle/>
                    <a:p>
                      <a:pPr algn="ctr"/>
                      <a:r>
                        <a:rPr lang="es-CO" sz="1400" noProof="0" dirty="0">
                          <a:solidFill>
                            <a:schemeClr val="accent1"/>
                          </a:solidFill>
                          <a:latin typeface="Century Gothic" panose="020B0502020202020204" pitchFamily="34" charset="0"/>
                        </a:rPr>
                        <a:t>Capital Suscrito</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50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tcPr>
                </a:tc>
                <a:tc>
                  <a:txBody>
                    <a:bodyPr/>
                    <a:lstStyle/>
                    <a:p>
                      <a:pPr algn="ctr"/>
                      <a:endParaRPr lang="es-CO" sz="1400" noProof="0">
                        <a:solidFill>
                          <a:schemeClr val="accent1"/>
                        </a:solidFill>
                        <a:latin typeface="Century Gothic" panose="020B0502020202020204" pitchFamily="34" charset="0"/>
                      </a:endParaRPr>
                    </a:p>
                  </a:txBody>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tcPr>
                </a:tc>
                <a:tc>
                  <a:txBody>
                    <a:bodyPr/>
                    <a:lstStyle/>
                    <a:p>
                      <a:pPr algn="ctr"/>
                      <a:r>
                        <a:rPr lang="es-CO" sz="1400" noProof="0">
                          <a:solidFill>
                            <a:schemeClr val="accent1"/>
                          </a:solidFill>
                          <a:latin typeface="Century Gothic" panose="020B0502020202020204" pitchFamily="34" charset="0"/>
                        </a:rPr>
                        <a:t>U Neta</a:t>
                      </a:r>
                    </a:p>
                  </a:txBody>
                  <a:tcPr>
                    <a:lnL w="28575" cap="flat" cmpd="sng" algn="ctr">
                      <a:solidFill>
                        <a:srgbClr val="D7A700"/>
                      </a:solidFill>
                      <a:prstDash val="solid"/>
                      <a:round/>
                      <a:headEnd type="none" w="med" len="med"/>
                      <a:tailEnd type="none" w="med" len="med"/>
                    </a:lnL>
                  </a:tcPr>
                </a:tc>
                <a:tc>
                  <a:txBody>
                    <a:bodyPr/>
                    <a:lstStyle/>
                    <a:p>
                      <a:pPr algn="ctr"/>
                      <a:r>
                        <a:rPr lang="es-CO" sz="1400" b="1" noProof="0">
                          <a:solidFill>
                            <a:srgbClr val="FF0000"/>
                          </a:solidFill>
                          <a:latin typeface="Century Gothic" panose="020B0502020202020204" pitchFamily="34" charset="0"/>
                        </a:rPr>
                        <a:t>90</a:t>
                      </a:r>
                    </a:p>
                  </a:txBody>
                  <a:tcPr>
                    <a:lnR w="28575" cap="flat" cmpd="sng" algn="ctr">
                      <a:solidFill>
                        <a:srgbClr val="D7A700"/>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endParaRPr lang="es-CO" sz="1400" noProof="0">
                        <a:solidFill>
                          <a:schemeClr val="accent1"/>
                        </a:solidFill>
                        <a:latin typeface="Century Gothic" panose="020B0502020202020204" pitchFamily="34" charset="0"/>
                      </a:endParaRPr>
                    </a:p>
                  </a:txBody>
                  <a:tcPr>
                    <a:lnB w="28575" cap="flat" cmpd="sng" algn="ctr">
                      <a:solidFill>
                        <a:srgbClr val="D7A700"/>
                      </a:solidFill>
                      <a:prstDash val="solid"/>
                      <a:round/>
                      <a:headEnd type="none" w="med" len="med"/>
                      <a:tailEnd type="none" w="med" len="med"/>
                    </a:lnB>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tc>
                  <a:txBody>
                    <a:bodyPr/>
                    <a:lstStyle/>
                    <a:p>
                      <a:pPr algn="ctr"/>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endParaRPr lang="es-CO" sz="1400" noProof="0" dirty="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18" name="Table 24">
            <a:extLst>
              <a:ext uri="{FF2B5EF4-FFF2-40B4-BE49-F238E27FC236}">
                <a16:creationId xmlns:a16="http://schemas.microsoft.com/office/drawing/2014/main" id="{F02BB3D5-68B2-4C74-9350-3442249C8310}"/>
              </a:ext>
            </a:extLst>
          </p:cNvPr>
          <p:cNvGraphicFramePr>
            <a:graphicFrameLocks noGrp="1"/>
          </p:cNvGraphicFramePr>
          <p:nvPr>
            <p:extLst>
              <p:ext uri="{D42A27DB-BD31-4B8C-83A1-F6EECF244321}">
                <p14:modId xmlns:p14="http://schemas.microsoft.com/office/powerpoint/2010/main" val="1987795874"/>
              </p:ext>
            </p:extLst>
          </p:nvPr>
        </p:nvGraphicFramePr>
        <p:xfrm>
          <a:off x="4797273" y="3361419"/>
          <a:ext cx="2168648" cy="2225040"/>
        </p:xfrm>
        <a:graphic>
          <a:graphicData uri="http://schemas.openxmlformats.org/drawingml/2006/table">
            <a:tbl>
              <a:tblPr firstRow="1" bandRow="1">
                <a:tableStyleId>{2D5ABB26-0587-4C30-8999-92F81FD0307C}</a:tableStyleId>
              </a:tblPr>
              <a:tblGrid>
                <a:gridCol w="1476769">
                  <a:extLst>
                    <a:ext uri="{9D8B030D-6E8A-4147-A177-3AD203B41FA5}">
                      <a16:colId xmlns:a16="http://schemas.microsoft.com/office/drawing/2014/main" val="20000"/>
                    </a:ext>
                  </a:extLst>
                </a:gridCol>
                <a:gridCol w="691879">
                  <a:extLst>
                    <a:ext uri="{9D8B030D-6E8A-4147-A177-3AD203B41FA5}">
                      <a16:colId xmlns:a16="http://schemas.microsoft.com/office/drawing/2014/main" val="20001"/>
                    </a:ext>
                  </a:extLst>
                </a:gridCol>
              </a:tblGrid>
              <a:tr h="370840">
                <a:tc gridSpan="2">
                  <a:txBody>
                    <a:bodyPr/>
                    <a:lstStyle/>
                    <a:p>
                      <a:pPr algn="ctr"/>
                      <a:r>
                        <a:rPr lang="es-CO" sz="1400" b="1" noProof="0">
                          <a:solidFill>
                            <a:schemeClr val="bg1"/>
                          </a:solidFill>
                          <a:latin typeface="Century Gothic" panose="020B0502020202020204" pitchFamily="34" charset="0"/>
                        </a:rPr>
                        <a:t>Estado de Resultados</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155E26"/>
                    </a:solidFill>
                  </a:tcPr>
                </a:tc>
                <a:tc hMerge="1">
                  <a:txBody>
                    <a:bodyPr/>
                    <a:lstStyle/>
                    <a:p>
                      <a:pPr algn="ctr"/>
                      <a:endParaRPr lang="en-US" sz="160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pPr algn="ctr"/>
                      <a:r>
                        <a:rPr lang="es-CO" sz="1400" noProof="0">
                          <a:solidFill>
                            <a:schemeClr val="accent1"/>
                          </a:solidFill>
                          <a:latin typeface="Century Gothic" panose="020B0502020202020204" pitchFamily="34" charset="0"/>
                        </a:rPr>
                        <a:t>Ingresos</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100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algn="ctr"/>
                      <a:r>
                        <a:rPr lang="es-CO" sz="1400" noProof="0">
                          <a:solidFill>
                            <a:schemeClr val="accent1"/>
                          </a:solidFill>
                          <a:latin typeface="Century Gothic" panose="020B0502020202020204" pitchFamily="34" charset="0"/>
                        </a:rPr>
                        <a:t>Depreciación</a:t>
                      </a: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r>
                        <a:rPr lang="es-CO" sz="1400" b="1" noProof="0">
                          <a:solidFill>
                            <a:srgbClr val="FF0000"/>
                          </a:solidFill>
                          <a:latin typeface="Century Gothic" panose="020B0502020202020204" pitchFamily="34" charset="0"/>
                        </a:rPr>
                        <a:t>10</a:t>
                      </a: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s-CO" sz="1400" noProof="0">
                          <a:solidFill>
                            <a:schemeClr val="accent1"/>
                          </a:solidFill>
                          <a:latin typeface="Century Gothic" panose="020B0502020202020204" pitchFamily="34" charset="0"/>
                        </a:rPr>
                        <a:t>EBIT</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b="1" noProof="0">
                          <a:solidFill>
                            <a:srgbClr val="FF0000"/>
                          </a:solidFill>
                          <a:latin typeface="Century Gothic" panose="020B0502020202020204" pitchFamily="34" charset="0"/>
                        </a:rPr>
                        <a:t>90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pPr algn="ctr"/>
                      <a:r>
                        <a:rPr lang="es-CO" sz="1400" noProof="0">
                          <a:solidFill>
                            <a:schemeClr val="accent1"/>
                          </a:solidFill>
                          <a:latin typeface="Century Gothic" panose="020B0502020202020204" pitchFamily="34" charset="0"/>
                        </a:rPr>
                        <a:t>Tax</a:t>
                      </a: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r>
                        <a:rPr lang="es-CO" sz="1400" noProof="0">
                          <a:solidFill>
                            <a:schemeClr val="accent1"/>
                          </a:solidFill>
                          <a:latin typeface="Century Gothic" panose="020B0502020202020204" pitchFamily="34" charset="0"/>
                        </a:rPr>
                        <a:t>0</a:t>
                      </a: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r>
                        <a:rPr lang="es-CO" sz="1400" noProof="0">
                          <a:solidFill>
                            <a:schemeClr val="accent1"/>
                          </a:solidFill>
                          <a:latin typeface="Century Gothic" panose="020B0502020202020204" pitchFamily="34" charset="0"/>
                        </a:rPr>
                        <a:t>U. Neta</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CO" sz="1400" b="1" noProof="0">
                          <a:solidFill>
                            <a:srgbClr val="FF0000"/>
                          </a:solidFill>
                          <a:latin typeface="Century Gothic" panose="020B0502020202020204" pitchFamily="34" charset="0"/>
                        </a:rPr>
                        <a:t>90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Rectángulo 4">
            <a:extLst>
              <a:ext uri="{FF2B5EF4-FFF2-40B4-BE49-F238E27FC236}">
                <a16:creationId xmlns:a16="http://schemas.microsoft.com/office/drawing/2014/main" id="{903944B8-40E1-C593-0843-7FBF378BC37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C26C92D9-AA91-D031-18B1-BD0015DFBE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11 CuadroTexto">
            <a:extLst>
              <a:ext uri="{FF2B5EF4-FFF2-40B4-BE49-F238E27FC236}">
                <a16:creationId xmlns:a16="http://schemas.microsoft.com/office/drawing/2014/main" id="{B408F867-A1A8-7066-93B1-3B3513D9816C}"/>
              </a:ext>
            </a:extLst>
          </p:cNvPr>
          <p:cNvSpPr txBox="1"/>
          <p:nvPr/>
        </p:nvSpPr>
        <p:spPr>
          <a:xfrm>
            <a:off x="7853660" y="4016418"/>
            <a:ext cx="2946146" cy="1077218"/>
          </a:xfrm>
          <a:prstGeom prst="rect">
            <a:avLst/>
          </a:prstGeom>
          <a:noFill/>
        </p:spPr>
        <p:txBody>
          <a:bodyPr wrap="square" rtlCol="0">
            <a:spAutoFit/>
          </a:bodyPr>
          <a:lstStyle/>
          <a:p>
            <a:pPr algn="ctr"/>
            <a:r>
              <a:rPr lang="es-CO" sz="1600" b="1">
                <a:solidFill>
                  <a:schemeClr val="accent3">
                    <a:lumMod val="75000"/>
                  </a:schemeClr>
                </a:solidFill>
                <a:latin typeface="Century Gothic" panose="020B0502020202020204" pitchFamily="34" charset="0"/>
              </a:rPr>
              <a:t>Después de un año de operación, ¿es razonable creer que el avión se deprecia?</a:t>
            </a:r>
          </a:p>
        </p:txBody>
      </p:sp>
      <p:sp>
        <p:nvSpPr>
          <p:cNvPr id="9" name="Rectángulo 8">
            <a:extLst>
              <a:ext uri="{FF2B5EF4-FFF2-40B4-BE49-F238E27FC236}">
                <a16:creationId xmlns:a16="http://schemas.microsoft.com/office/drawing/2014/main" id="{01C460BF-9E81-BBF2-2EEF-0A7C4DB89D6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3A5CC195-C0E6-D6C5-103E-94D6AC86693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52</a:t>
            </a:fld>
            <a:endParaRPr lang="en-US" sz="2000" b="1">
              <a:latin typeface="Century Gothic" panose="020B0502020202020204" pitchFamily="34" charset="0"/>
            </a:endParaRPr>
          </a:p>
        </p:txBody>
      </p:sp>
    </p:spTree>
    <p:extLst>
      <p:ext uri="{BB962C8B-B14F-4D97-AF65-F5344CB8AC3E}">
        <p14:creationId xmlns:p14="http://schemas.microsoft.com/office/powerpoint/2010/main" val="33967343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GASTOS NO EFECTIVOS</a:t>
            </a:r>
          </a:p>
        </p:txBody>
      </p:sp>
      <p:sp>
        <p:nvSpPr>
          <p:cNvPr id="3" name="Marcador de contenido 2"/>
          <p:cNvSpPr>
            <a:spLocks noGrp="1"/>
          </p:cNvSpPr>
          <p:nvPr>
            <p:ph idx="1"/>
          </p:nvPr>
        </p:nvSpPr>
        <p:spPr>
          <a:xfrm>
            <a:off x="641965" y="2100524"/>
            <a:ext cx="10878718" cy="798567"/>
          </a:xfrm>
        </p:spPr>
        <p:txBody>
          <a:bodyPr>
            <a:noAutofit/>
          </a:bodyPr>
          <a:lstStyle/>
          <a:p>
            <a:pPr marL="0" indent="0" algn="just">
              <a:buNone/>
            </a:pPr>
            <a:r>
              <a:rPr lang="es-ES" b="1">
                <a:solidFill>
                  <a:srgbClr val="C00000"/>
                </a:solidFill>
                <a:latin typeface="Century Gothic" panose="020B0502020202020204" pitchFamily="34" charset="0"/>
              </a:rPr>
              <a:t>Ejemplo 3: </a:t>
            </a:r>
          </a:p>
          <a:p>
            <a:pPr marL="0" indent="0" algn="just">
              <a:buNone/>
            </a:pPr>
            <a:r>
              <a:rPr lang="es-ES">
                <a:solidFill>
                  <a:schemeClr val="accent1"/>
                </a:solidFill>
                <a:latin typeface="Century Gothic" panose="020B0502020202020204" pitchFamily="34" charset="0"/>
              </a:rPr>
              <a:t>Suponga que el Estado de la Situación Financiera de una compañía hipotética es el siguiente:</a:t>
            </a:r>
          </a:p>
        </p:txBody>
      </p:sp>
      <p:graphicFrame>
        <p:nvGraphicFramePr>
          <p:cNvPr id="17" name="Table 4">
            <a:extLst>
              <a:ext uri="{FF2B5EF4-FFF2-40B4-BE49-F238E27FC236}">
                <a16:creationId xmlns:a16="http://schemas.microsoft.com/office/drawing/2014/main" id="{C4BA8718-0E01-4AA9-AE41-8522DA75F308}"/>
              </a:ext>
            </a:extLst>
          </p:cNvPr>
          <p:cNvGraphicFramePr>
            <a:graphicFrameLocks noGrp="1"/>
          </p:cNvGraphicFramePr>
          <p:nvPr>
            <p:extLst>
              <p:ext uri="{D42A27DB-BD31-4B8C-83A1-F6EECF244321}">
                <p14:modId xmlns:p14="http://schemas.microsoft.com/office/powerpoint/2010/main" val="2077781878"/>
              </p:ext>
            </p:extLst>
          </p:nvPr>
        </p:nvGraphicFramePr>
        <p:xfrm>
          <a:off x="794837" y="3361419"/>
          <a:ext cx="3604864" cy="2372360"/>
        </p:xfrm>
        <a:graphic>
          <a:graphicData uri="http://schemas.openxmlformats.org/drawingml/2006/table">
            <a:tbl>
              <a:tblPr firstRow="1" bandRow="1">
                <a:tableStyleId>{2D5ABB26-0587-4C30-8999-92F81FD0307C}</a:tableStyleId>
              </a:tblPr>
              <a:tblGrid>
                <a:gridCol w="1083390">
                  <a:extLst>
                    <a:ext uri="{9D8B030D-6E8A-4147-A177-3AD203B41FA5}">
                      <a16:colId xmlns:a16="http://schemas.microsoft.com/office/drawing/2014/main" val="20000"/>
                    </a:ext>
                  </a:extLst>
                </a:gridCol>
                <a:gridCol w="520769">
                  <a:extLst>
                    <a:ext uri="{9D8B030D-6E8A-4147-A177-3AD203B41FA5}">
                      <a16:colId xmlns:a16="http://schemas.microsoft.com/office/drawing/2014/main" val="20001"/>
                    </a:ext>
                  </a:extLst>
                </a:gridCol>
                <a:gridCol w="208280">
                  <a:extLst>
                    <a:ext uri="{9D8B030D-6E8A-4147-A177-3AD203B41FA5}">
                      <a16:colId xmlns:a16="http://schemas.microsoft.com/office/drawing/2014/main" val="20002"/>
                    </a:ext>
                  </a:extLst>
                </a:gridCol>
                <a:gridCol w="1185017">
                  <a:extLst>
                    <a:ext uri="{9D8B030D-6E8A-4147-A177-3AD203B41FA5}">
                      <a16:colId xmlns:a16="http://schemas.microsoft.com/office/drawing/2014/main" val="20003"/>
                    </a:ext>
                  </a:extLst>
                </a:gridCol>
                <a:gridCol w="607408">
                  <a:extLst>
                    <a:ext uri="{9D8B030D-6E8A-4147-A177-3AD203B41FA5}">
                      <a16:colId xmlns:a16="http://schemas.microsoft.com/office/drawing/2014/main" val="20004"/>
                    </a:ext>
                  </a:extLst>
                </a:gridCol>
              </a:tblGrid>
              <a:tr h="370840">
                <a:tc gridSpan="5">
                  <a:txBody>
                    <a:bodyPr/>
                    <a:lstStyle/>
                    <a:p>
                      <a:pPr algn="ctr"/>
                      <a:r>
                        <a:rPr lang="es-CO" sz="1400" b="1" noProof="0">
                          <a:solidFill>
                            <a:schemeClr val="bg1"/>
                          </a:solidFill>
                          <a:latin typeface="Century Gothic" panose="020B0502020202020204" pitchFamily="34" charset="0"/>
                        </a:rPr>
                        <a:t>Estado de Situación Financiera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155E26"/>
                    </a:solidFill>
                  </a:tcPr>
                </a:tc>
                <a:tc hMerge="1">
                  <a:txBody>
                    <a:bodyPr/>
                    <a:lstStyle/>
                    <a:p>
                      <a:pPr algn="ctr"/>
                      <a:endParaRPr lang="en-US" sz="1600"/>
                    </a:p>
                  </a:txBody>
                  <a:tcPr>
                    <a:lnT w="12700" cap="flat" cmpd="sng" algn="ctr">
                      <a:solidFill>
                        <a:scrgbClr r="0" g="0" b="0"/>
                      </a:solidFill>
                      <a:prstDash val="solid"/>
                      <a:round/>
                      <a:headEnd type="none" w="med" len="med"/>
                      <a:tailEnd type="none" w="med" len="med"/>
                    </a:lnT>
                  </a:tcPr>
                </a:tc>
                <a:tc hMerge="1">
                  <a:txBody>
                    <a:bodyPr/>
                    <a:lstStyle/>
                    <a:p>
                      <a:pPr algn="ctr"/>
                      <a:endParaRPr lang="en-US" sz="160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hMerge="1">
                  <a:txBody>
                    <a:bodyPr/>
                    <a:lstStyle/>
                    <a:p>
                      <a:pPr algn="ctr"/>
                      <a:endParaRPr lang="en-US" sz="1600"/>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tcPr>
                </a:tc>
                <a:tc hMerge="1">
                  <a:txBody>
                    <a:bodyPr/>
                    <a:lstStyle/>
                    <a:p>
                      <a:pPr algn="ctr"/>
                      <a:endParaRPr lang="en-US" sz="160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r>
                        <a:rPr lang="es-CO" sz="1400" noProof="0">
                          <a:solidFill>
                            <a:schemeClr val="accent1"/>
                          </a:solidFill>
                          <a:latin typeface="Century Gothic" panose="020B0502020202020204" pitchFamily="34" charset="0"/>
                        </a:rPr>
                        <a:t>Efectivo</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120</a:t>
                      </a:r>
                    </a:p>
                  </a:txBody>
                  <a:tcPr>
                    <a:lnT w="28575" cap="flat" cmpd="sng" algn="ctr">
                      <a:solidFill>
                        <a:srgbClr val="D7A700"/>
                      </a:solidFill>
                      <a:prstDash val="solid"/>
                      <a:round/>
                      <a:headEnd type="none" w="med" len="med"/>
                      <a:tailEnd type="none" w="med" len="med"/>
                    </a:lnT>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Bancos</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50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r>
                        <a:rPr lang="es-CO" sz="1400" noProof="0">
                          <a:solidFill>
                            <a:schemeClr val="accent1"/>
                          </a:solidFill>
                          <a:latin typeface="Century Gothic" panose="020B0502020202020204" pitchFamily="34" charset="0"/>
                        </a:rPr>
                        <a:t>Avión</a:t>
                      </a:r>
                    </a:p>
                  </a:txBody>
                  <a:tcPr>
                    <a:lnL w="28575" cap="flat" cmpd="sng" algn="ctr">
                      <a:solidFill>
                        <a:srgbClr val="D7A700"/>
                      </a:solidFill>
                      <a:prstDash val="solid"/>
                      <a:round/>
                      <a:headEnd type="none" w="med" len="med"/>
                      <a:tailEnd type="none" w="med" len="med"/>
                    </a:lnL>
                  </a:tcPr>
                </a:tc>
                <a:tc>
                  <a:txBody>
                    <a:bodyPr/>
                    <a:lstStyle/>
                    <a:p>
                      <a:pPr algn="ctr"/>
                      <a:r>
                        <a:rPr lang="es-CO" sz="1400" noProof="0">
                          <a:solidFill>
                            <a:schemeClr val="accent1"/>
                          </a:solidFill>
                          <a:latin typeface="Century Gothic" panose="020B0502020202020204" pitchFamily="34" charset="0"/>
                        </a:rPr>
                        <a:t>80</a:t>
                      </a:r>
                    </a:p>
                  </a:txBody>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tcPr>
                </a:tc>
                <a:tc>
                  <a:txBody>
                    <a:bodyPr/>
                    <a:lstStyle/>
                    <a:p>
                      <a:pPr algn="ctr"/>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s-CO" sz="1400" noProof="0">
                          <a:solidFill>
                            <a:schemeClr val="accent1"/>
                          </a:solidFill>
                          <a:latin typeface="Century Gothic" panose="020B0502020202020204" pitchFamily="34" charset="0"/>
                        </a:rPr>
                        <a:t>  </a:t>
                      </a:r>
                      <a:r>
                        <a:rPr lang="es-CO" sz="1400" noProof="0" err="1">
                          <a:solidFill>
                            <a:schemeClr val="accent1"/>
                          </a:solidFill>
                          <a:latin typeface="Century Gothic" panose="020B0502020202020204" pitchFamily="34" charset="0"/>
                        </a:rPr>
                        <a:t>Dep</a:t>
                      </a:r>
                      <a:r>
                        <a:rPr lang="es-CO" sz="1400" noProof="0">
                          <a:solidFill>
                            <a:schemeClr val="accent1"/>
                          </a:solidFill>
                          <a:latin typeface="Century Gothic" panose="020B0502020202020204" pitchFamily="34" charset="0"/>
                        </a:rPr>
                        <a:t>. Ac.</a:t>
                      </a:r>
                    </a:p>
                  </a:txBody>
                  <a:tcPr>
                    <a:lnL w="28575" cap="flat" cmpd="sng" algn="ctr">
                      <a:solidFill>
                        <a:srgbClr val="D7A700"/>
                      </a:solidFill>
                      <a:prstDash val="solid"/>
                      <a:round/>
                      <a:headEnd type="none" w="med" len="med"/>
                      <a:tailEnd type="none" w="med" len="med"/>
                    </a:lnL>
                  </a:tcPr>
                </a:tc>
                <a:tc>
                  <a:txBody>
                    <a:bodyPr/>
                    <a:lstStyle/>
                    <a:p>
                      <a:pPr algn="ctr"/>
                      <a:r>
                        <a:rPr lang="es-CO" sz="1400" noProof="0">
                          <a:solidFill>
                            <a:srgbClr val="FF0000"/>
                          </a:solidFill>
                          <a:latin typeface="Century Gothic" panose="020B0502020202020204" pitchFamily="34" charset="0"/>
                        </a:rPr>
                        <a:t>-10</a:t>
                      </a:r>
                    </a:p>
                  </a:txBody>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tcPr>
                </a:tc>
                <a:tc>
                  <a:txBody>
                    <a:bodyPr/>
                    <a:lstStyle/>
                    <a:p>
                      <a:pPr algn="ctr"/>
                      <a:r>
                        <a:rPr lang="es-CO" sz="1400" noProof="0">
                          <a:solidFill>
                            <a:schemeClr val="accent1"/>
                          </a:solidFill>
                          <a:latin typeface="Century Gothic" panose="020B0502020202020204" pitchFamily="34" charset="0"/>
                        </a:rPr>
                        <a:t>Capital Suscrito</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50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tcPr>
                </a:tc>
                <a:tc>
                  <a:txBody>
                    <a:bodyPr/>
                    <a:lstStyle/>
                    <a:p>
                      <a:pPr algn="ctr"/>
                      <a:endParaRPr lang="es-CO" sz="1400" noProof="0">
                        <a:solidFill>
                          <a:schemeClr val="accent1"/>
                        </a:solidFill>
                        <a:latin typeface="Century Gothic" panose="020B0502020202020204" pitchFamily="34" charset="0"/>
                      </a:endParaRPr>
                    </a:p>
                  </a:txBody>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tcPr>
                </a:tc>
                <a:tc>
                  <a:txBody>
                    <a:bodyPr/>
                    <a:lstStyle/>
                    <a:p>
                      <a:pPr algn="ctr"/>
                      <a:r>
                        <a:rPr lang="es-CO" sz="1400" noProof="0">
                          <a:solidFill>
                            <a:schemeClr val="accent1"/>
                          </a:solidFill>
                          <a:latin typeface="Century Gothic" panose="020B0502020202020204" pitchFamily="34" charset="0"/>
                        </a:rPr>
                        <a:t>U Neta</a:t>
                      </a:r>
                    </a:p>
                  </a:txBody>
                  <a:tcPr>
                    <a:lnL w="28575" cap="flat" cmpd="sng" algn="ctr">
                      <a:solidFill>
                        <a:srgbClr val="D7A700"/>
                      </a:solidFill>
                      <a:prstDash val="solid"/>
                      <a:round/>
                      <a:headEnd type="none" w="med" len="med"/>
                      <a:tailEnd type="none" w="med" len="med"/>
                    </a:lnL>
                  </a:tcPr>
                </a:tc>
                <a:tc>
                  <a:txBody>
                    <a:bodyPr/>
                    <a:lstStyle/>
                    <a:p>
                      <a:pPr algn="ctr"/>
                      <a:r>
                        <a:rPr lang="es-CO" sz="1400" noProof="0">
                          <a:solidFill>
                            <a:srgbClr val="FF0000"/>
                          </a:solidFill>
                          <a:latin typeface="Century Gothic" panose="020B0502020202020204" pitchFamily="34" charset="0"/>
                        </a:rPr>
                        <a:t>90</a:t>
                      </a:r>
                    </a:p>
                  </a:txBody>
                  <a:tcPr>
                    <a:lnR w="28575" cap="flat" cmpd="sng" algn="ctr">
                      <a:solidFill>
                        <a:srgbClr val="D7A700"/>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endParaRPr lang="es-CO" sz="1400" noProof="0">
                        <a:solidFill>
                          <a:schemeClr val="accent1"/>
                        </a:solidFill>
                        <a:latin typeface="Century Gothic" panose="020B0502020202020204" pitchFamily="34" charset="0"/>
                      </a:endParaRPr>
                    </a:p>
                  </a:txBody>
                  <a:tcPr>
                    <a:lnB w="28575" cap="flat" cmpd="sng" algn="ctr">
                      <a:solidFill>
                        <a:srgbClr val="D7A700"/>
                      </a:solidFill>
                      <a:prstDash val="solid"/>
                      <a:round/>
                      <a:headEnd type="none" w="med" len="med"/>
                      <a:tailEnd type="none" w="med" len="med"/>
                    </a:lnB>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tc>
                  <a:txBody>
                    <a:bodyPr/>
                    <a:lstStyle/>
                    <a:p>
                      <a:pPr algn="ctr"/>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endParaRPr lang="es-CO" sz="1400" noProof="0" dirty="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18" name="Table 24">
            <a:extLst>
              <a:ext uri="{FF2B5EF4-FFF2-40B4-BE49-F238E27FC236}">
                <a16:creationId xmlns:a16="http://schemas.microsoft.com/office/drawing/2014/main" id="{F02BB3D5-68B2-4C74-9350-3442249C8310}"/>
              </a:ext>
            </a:extLst>
          </p:cNvPr>
          <p:cNvGraphicFramePr>
            <a:graphicFrameLocks noGrp="1"/>
          </p:cNvGraphicFramePr>
          <p:nvPr/>
        </p:nvGraphicFramePr>
        <p:xfrm>
          <a:off x="4797273" y="3361419"/>
          <a:ext cx="2168648" cy="2225040"/>
        </p:xfrm>
        <a:graphic>
          <a:graphicData uri="http://schemas.openxmlformats.org/drawingml/2006/table">
            <a:tbl>
              <a:tblPr firstRow="1" bandRow="1">
                <a:tableStyleId>{2D5ABB26-0587-4C30-8999-92F81FD0307C}</a:tableStyleId>
              </a:tblPr>
              <a:tblGrid>
                <a:gridCol w="1476769">
                  <a:extLst>
                    <a:ext uri="{9D8B030D-6E8A-4147-A177-3AD203B41FA5}">
                      <a16:colId xmlns:a16="http://schemas.microsoft.com/office/drawing/2014/main" val="20000"/>
                    </a:ext>
                  </a:extLst>
                </a:gridCol>
                <a:gridCol w="691879">
                  <a:extLst>
                    <a:ext uri="{9D8B030D-6E8A-4147-A177-3AD203B41FA5}">
                      <a16:colId xmlns:a16="http://schemas.microsoft.com/office/drawing/2014/main" val="20001"/>
                    </a:ext>
                  </a:extLst>
                </a:gridCol>
              </a:tblGrid>
              <a:tr h="370840">
                <a:tc gridSpan="2">
                  <a:txBody>
                    <a:bodyPr/>
                    <a:lstStyle/>
                    <a:p>
                      <a:pPr algn="ctr"/>
                      <a:r>
                        <a:rPr lang="es-CO" sz="1400" b="1" noProof="0">
                          <a:solidFill>
                            <a:schemeClr val="bg1"/>
                          </a:solidFill>
                          <a:latin typeface="Century Gothic" panose="020B0502020202020204" pitchFamily="34" charset="0"/>
                        </a:rPr>
                        <a:t>Estado de Resultados</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155E26"/>
                    </a:solidFill>
                  </a:tcPr>
                </a:tc>
                <a:tc hMerge="1">
                  <a:txBody>
                    <a:bodyPr/>
                    <a:lstStyle/>
                    <a:p>
                      <a:pPr algn="ctr"/>
                      <a:endParaRPr lang="en-US" sz="160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pPr algn="ctr"/>
                      <a:r>
                        <a:rPr lang="es-CO" sz="1400" noProof="0">
                          <a:solidFill>
                            <a:schemeClr val="accent1"/>
                          </a:solidFill>
                          <a:latin typeface="Century Gothic" panose="020B0502020202020204" pitchFamily="34" charset="0"/>
                        </a:rPr>
                        <a:t>Ingresos</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100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algn="ctr"/>
                      <a:r>
                        <a:rPr lang="es-CO" sz="1400" noProof="0">
                          <a:solidFill>
                            <a:schemeClr val="accent1"/>
                          </a:solidFill>
                          <a:latin typeface="Century Gothic" panose="020B0502020202020204" pitchFamily="34" charset="0"/>
                        </a:rPr>
                        <a:t>Depreciación</a:t>
                      </a: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r>
                        <a:rPr lang="es-CO" sz="1400" noProof="0">
                          <a:solidFill>
                            <a:srgbClr val="FF0000"/>
                          </a:solidFill>
                          <a:latin typeface="Century Gothic" panose="020B0502020202020204" pitchFamily="34" charset="0"/>
                        </a:rPr>
                        <a:t>10</a:t>
                      </a: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s-CO" sz="1400" noProof="0">
                          <a:solidFill>
                            <a:schemeClr val="accent1"/>
                          </a:solidFill>
                          <a:latin typeface="Century Gothic" panose="020B0502020202020204" pitchFamily="34" charset="0"/>
                        </a:rPr>
                        <a:t>EBIT</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rgbClr val="FF0000"/>
                          </a:solidFill>
                          <a:latin typeface="Century Gothic" panose="020B0502020202020204" pitchFamily="34" charset="0"/>
                        </a:rPr>
                        <a:t>90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pPr algn="ctr"/>
                      <a:r>
                        <a:rPr lang="es-CO" sz="1400" noProof="0">
                          <a:solidFill>
                            <a:schemeClr val="accent1"/>
                          </a:solidFill>
                          <a:latin typeface="Century Gothic" panose="020B0502020202020204" pitchFamily="34" charset="0"/>
                        </a:rPr>
                        <a:t>Tax</a:t>
                      </a: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r>
                        <a:rPr lang="es-CO" sz="1400" noProof="0">
                          <a:solidFill>
                            <a:schemeClr val="accent1"/>
                          </a:solidFill>
                          <a:latin typeface="Century Gothic" panose="020B0502020202020204" pitchFamily="34" charset="0"/>
                        </a:rPr>
                        <a:t>0</a:t>
                      </a: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r>
                        <a:rPr lang="es-CO" sz="1400" noProof="0">
                          <a:solidFill>
                            <a:schemeClr val="accent1"/>
                          </a:solidFill>
                          <a:latin typeface="Century Gothic" panose="020B0502020202020204" pitchFamily="34" charset="0"/>
                        </a:rPr>
                        <a:t>U. Neta</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CO" sz="1400" noProof="0">
                          <a:solidFill>
                            <a:srgbClr val="FF0000"/>
                          </a:solidFill>
                          <a:latin typeface="Century Gothic" panose="020B0502020202020204" pitchFamily="34" charset="0"/>
                        </a:rPr>
                        <a:t>90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Rectángulo 4">
            <a:extLst>
              <a:ext uri="{FF2B5EF4-FFF2-40B4-BE49-F238E27FC236}">
                <a16:creationId xmlns:a16="http://schemas.microsoft.com/office/drawing/2014/main" id="{903944B8-40E1-C593-0843-7FBF378BC37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C26C92D9-AA91-D031-18B1-BD0015DFBE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11 CuadroTexto">
            <a:extLst>
              <a:ext uri="{FF2B5EF4-FFF2-40B4-BE49-F238E27FC236}">
                <a16:creationId xmlns:a16="http://schemas.microsoft.com/office/drawing/2014/main" id="{7DA3B817-D897-EF66-5682-062D039D4135}"/>
              </a:ext>
            </a:extLst>
          </p:cNvPr>
          <p:cNvSpPr txBox="1"/>
          <p:nvPr/>
        </p:nvSpPr>
        <p:spPr>
          <a:xfrm>
            <a:off x="7448967" y="3986654"/>
            <a:ext cx="2667570" cy="830997"/>
          </a:xfrm>
          <a:prstGeom prst="rect">
            <a:avLst/>
          </a:prstGeom>
          <a:noFill/>
        </p:spPr>
        <p:txBody>
          <a:bodyPr wrap="square" rtlCol="0">
            <a:spAutoFit/>
          </a:bodyPr>
          <a:lstStyle/>
          <a:p>
            <a:pPr algn="ctr"/>
            <a:r>
              <a:rPr lang="es-CO" sz="1600" b="1">
                <a:solidFill>
                  <a:srgbClr val="D7A700"/>
                </a:solidFill>
                <a:latin typeface="Century Gothic" panose="020B0502020202020204" pitchFamily="34" charset="0"/>
              </a:rPr>
              <a:t>¿Impacta la utilidad?</a:t>
            </a:r>
          </a:p>
          <a:p>
            <a:pPr algn="ctr"/>
            <a:endParaRPr lang="es-CO" sz="1600">
              <a:solidFill>
                <a:srgbClr val="C00000"/>
              </a:solidFill>
              <a:latin typeface="Century Gothic" panose="020B0502020202020204" pitchFamily="34" charset="0"/>
            </a:endParaRPr>
          </a:p>
          <a:p>
            <a:pPr algn="ctr"/>
            <a:r>
              <a:rPr lang="es-CO" sz="1600" b="1">
                <a:solidFill>
                  <a:schemeClr val="accent3">
                    <a:lumMod val="50000"/>
                  </a:schemeClr>
                </a:solidFill>
                <a:latin typeface="Century Gothic" panose="020B0502020202020204" pitchFamily="34" charset="0"/>
              </a:rPr>
              <a:t>¿Impacta la liquidez?</a:t>
            </a:r>
          </a:p>
        </p:txBody>
      </p:sp>
      <p:sp>
        <p:nvSpPr>
          <p:cNvPr id="10" name="Rectángulo 9">
            <a:extLst>
              <a:ext uri="{FF2B5EF4-FFF2-40B4-BE49-F238E27FC236}">
                <a16:creationId xmlns:a16="http://schemas.microsoft.com/office/drawing/2014/main" id="{6120157F-550D-5849-A39A-BCA37438EBE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CE9BE3AB-3F3C-D3F2-73E8-9EE6572A40F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53</a:t>
            </a:fld>
            <a:endParaRPr lang="en-US" sz="2000" b="1">
              <a:latin typeface="Century Gothic" panose="020B0502020202020204" pitchFamily="34" charset="0"/>
            </a:endParaRPr>
          </a:p>
        </p:txBody>
      </p:sp>
    </p:spTree>
    <p:extLst>
      <p:ext uri="{BB962C8B-B14F-4D97-AF65-F5344CB8AC3E}">
        <p14:creationId xmlns:p14="http://schemas.microsoft.com/office/powerpoint/2010/main" val="2359579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 calcmode="lin" valueType="num">
                                      <p:cBhvr additive="base">
                                        <p:cTn id="7" dur="500"/>
                                        <p:tgtEl>
                                          <p:spTgt spid="9">
                                            <p:txEl>
                                              <p:pRg st="2" end="2"/>
                                            </p:txEl>
                                          </p:spTgt>
                                        </p:tgtEl>
                                        <p:attrNameLst>
                                          <p:attrName>ppt_y</p:attrName>
                                        </p:attrNameLst>
                                      </p:cBhvr>
                                      <p:tavLst>
                                        <p:tav tm="0">
                                          <p:val>
                                            <p:strVal val="#ppt_y+#ppt_h*1.125000"/>
                                          </p:val>
                                        </p:tav>
                                        <p:tav tm="100000">
                                          <p:val>
                                            <p:strVal val="#ppt_y"/>
                                          </p:val>
                                        </p:tav>
                                      </p:tavLst>
                                    </p:anim>
                                    <p:animEffect transition="in" filter="wipe(up)">
                                      <p:cBhvr>
                                        <p:cTn id="8"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GASTOS NO EFECTIVOS</a:t>
            </a:r>
          </a:p>
        </p:txBody>
      </p:sp>
      <p:sp>
        <p:nvSpPr>
          <p:cNvPr id="13" name="Marcador de contenido 2"/>
          <p:cNvSpPr>
            <a:spLocks noGrp="1"/>
          </p:cNvSpPr>
          <p:nvPr>
            <p:ph idx="1"/>
          </p:nvPr>
        </p:nvSpPr>
        <p:spPr>
          <a:xfrm>
            <a:off x="829475" y="2677842"/>
            <a:ext cx="7966066" cy="3278295"/>
          </a:xfrm>
        </p:spPr>
        <p:txBody>
          <a:bodyPr>
            <a:normAutofit/>
          </a:bodyPr>
          <a:lstStyle/>
          <a:p>
            <a:pPr marL="0" indent="0" algn="ctr">
              <a:buNone/>
            </a:pPr>
            <a:r>
              <a:rPr lang="es-ES">
                <a:solidFill>
                  <a:schemeClr val="accent1"/>
                </a:solidFill>
                <a:latin typeface="Century Gothic" panose="020B0502020202020204" pitchFamily="34" charset="0"/>
              </a:rPr>
              <a:t>Por último, notamos que algunos costos y gastos que están en el Estado de Resultados, tales como las amortizaciones y depreciaciones, son gastos no efectivos. </a:t>
            </a:r>
          </a:p>
          <a:p>
            <a:pPr marL="0" indent="0" algn="ctr">
              <a:buNone/>
            </a:pPr>
            <a:endParaRPr lang="es-ES">
              <a:solidFill>
                <a:schemeClr val="accent1"/>
              </a:solidFill>
              <a:latin typeface="Century Gothic" panose="020B0502020202020204" pitchFamily="34" charset="0"/>
            </a:endParaRPr>
          </a:p>
          <a:p>
            <a:pPr marL="0" indent="0" algn="ctr">
              <a:buNone/>
            </a:pPr>
            <a:r>
              <a:rPr lang="es-ES">
                <a:solidFill>
                  <a:schemeClr val="accent1"/>
                </a:solidFill>
                <a:latin typeface="Century Gothic" panose="020B0502020202020204" pitchFamily="34" charset="0"/>
              </a:rPr>
              <a:t>Es decir, son gastos que no afectan la liquidez de la compañía.</a:t>
            </a:r>
          </a:p>
          <a:p>
            <a:pPr marL="0" indent="0" algn="ctr">
              <a:buNone/>
            </a:pPr>
            <a:endParaRPr lang="es-ES">
              <a:solidFill>
                <a:schemeClr val="accent1"/>
              </a:solidFill>
              <a:latin typeface="Century Gothic" panose="020B0502020202020204" pitchFamily="34" charset="0"/>
            </a:endParaRPr>
          </a:p>
          <a:p>
            <a:pPr marL="0" indent="0" algn="ctr">
              <a:buNone/>
            </a:pPr>
            <a:r>
              <a:rPr lang="es-ES">
                <a:solidFill>
                  <a:schemeClr val="accent1"/>
                </a:solidFill>
                <a:latin typeface="Century Gothic" panose="020B0502020202020204" pitchFamily="34" charset="0"/>
              </a:rPr>
              <a:t>Entendiendo que al evaluar alternativas de inversión el eje analítico son los flujos de efectivo, la utilidad debería ajustarse para corregir la existencia de</a:t>
            </a:r>
            <a:r>
              <a:rPr lang="es-ES" i="1">
                <a:solidFill>
                  <a:schemeClr val="accent1"/>
                </a:solidFill>
                <a:latin typeface="Century Gothic" panose="020B0502020202020204" pitchFamily="34" charset="0"/>
              </a:rPr>
              <a:t> </a:t>
            </a:r>
            <a:r>
              <a:rPr lang="es-ES" b="1">
                <a:solidFill>
                  <a:srgbClr val="C00000"/>
                </a:solidFill>
                <a:latin typeface="Century Gothic" panose="020B0502020202020204" pitchFamily="34" charset="0"/>
              </a:rPr>
              <a:t>flujos no efectivos</a:t>
            </a:r>
            <a:r>
              <a:rPr lang="es-ES" i="1">
                <a:solidFill>
                  <a:srgbClr val="C00000"/>
                </a:solidFill>
                <a:latin typeface="Century Gothic" panose="020B0502020202020204" pitchFamily="34" charset="0"/>
              </a:rPr>
              <a:t>.</a:t>
            </a:r>
          </a:p>
        </p:txBody>
      </p:sp>
      <p:sp>
        <p:nvSpPr>
          <p:cNvPr id="3" name="Rectángulo 2">
            <a:extLst>
              <a:ext uri="{FF2B5EF4-FFF2-40B4-BE49-F238E27FC236}">
                <a16:creationId xmlns:a16="http://schemas.microsoft.com/office/drawing/2014/main" id="{11D9AA79-3639-D343-2FEF-EBBC4DEEE75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D0BACD88-F442-D5AB-EF9D-3759777F26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0242" name="Picture 2" descr="Los riesgos de no invertir – Finanzas y Tecnología – Axend Blog">
            <a:extLst>
              <a:ext uri="{FF2B5EF4-FFF2-40B4-BE49-F238E27FC236}">
                <a16:creationId xmlns:a16="http://schemas.microsoft.com/office/drawing/2014/main" id="{8526E9C2-C089-8F11-98A4-E545A48192E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22" r="3842" b="6666"/>
          <a:stretch/>
        </p:blipFill>
        <p:spPr bwMode="auto">
          <a:xfrm>
            <a:off x="8587945" y="3123473"/>
            <a:ext cx="3022863" cy="1729946"/>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8BA43CA4-A452-9152-9F40-C47990A21DB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52B65A49-0B7E-9BB5-BF6E-C00CF8C6FE4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54</a:t>
            </a:fld>
            <a:endParaRPr lang="en-US" sz="2000" b="1">
              <a:latin typeface="Century Gothic" panose="020B0502020202020204" pitchFamily="34" charset="0"/>
            </a:endParaRPr>
          </a:p>
        </p:txBody>
      </p:sp>
    </p:spTree>
    <p:extLst>
      <p:ext uri="{BB962C8B-B14F-4D97-AF65-F5344CB8AC3E}">
        <p14:creationId xmlns:p14="http://schemas.microsoft.com/office/powerpoint/2010/main" val="1909866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2" end="2"/>
                                            </p:txEl>
                                          </p:spTgt>
                                        </p:tgtEl>
                                        <p:attrNameLst>
                                          <p:attrName>style.visibility</p:attrName>
                                        </p:attrNameLst>
                                      </p:cBhvr>
                                      <p:to>
                                        <p:strVal val="visible"/>
                                      </p:to>
                                    </p:set>
                                    <p:animEffect transition="in" filter="fade">
                                      <p:cBhvr>
                                        <p:cTn id="7" dur="500"/>
                                        <p:tgtEl>
                                          <p:spTgt spid="1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xEl>
                                              <p:pRg st="4" end="4"/>
                                            </p:txEl>
                                          </p:spTgt>
                                        </p:tgtEl>
                                        <p:attrNameLst>
                                          <p:attrName>style.visibility</p:attrName>
                                        </p:attrNameLst>
                                      </p:cBhvr>
                                      <p:to>
                                        <p:strVal val="visible"/>
                                      </p:to>
                                    </p:set>
                                    <p:animEffect transition="in" filter="fade">
                                      <p:cBhvr>
                                        <p:cTn id="12" dur="500"/>
                                        <p:tgtEl>
                                          <p:spTgt spid="1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416707"/>
            <a:ext cx="8540907" cy="3046988"/>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a:solidFill>
                  <a:schemeClr val="tx2">
                    <a:lumMod val="20000"/>
                    <a:lumOff val="80000"/>
                  </a:schemeClr>
                </a:solidFill>
                <a:latin typeface="Century Gothic"/>
                <a:cs typeface="Arial"/>
              </a:rPr>
              <a:t>Construcción del Flujo de Caja Libre.</a:t>
            </a:r>
            <a:endParaRPr lang="es-ES" sz="1600">
              <a:solidFill>
                <a:schemeClr val="tx2">
                  <a:lumMod val="20000"/>
                  <a:lumOff val="80000"/>
                </a:schemeClr>
              </a:solidFill>
              <a:latin typeface="Century Gothic"/>
              <a:cs typeface="Arial"/>
            </a:endParaRPr>
          </a:p>
          <a:p>
            <a:pPr marL="342900" indent="-342900">
              <a:buClr>
                <a:srgbClr val="2C7C9F"/>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Principios de Contabilidad.</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 de Causación VS. Principio de Caja.</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 de Pertinencia.</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Gastos No Efectivos.</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Flujo de Caja Libre (FCL).</a:t>
            </a:r>
            <a:endParaRPr lang="es-CO" sz="1600">
              <a:solidFill>
                <a:schemeClr val="accent1"/>
              </a:solidFill>
              <a:latin typeface="Century Gothic" panose="020B0502020202020204" pitchFamily="34" charset="0"/>
              <a:cs typeface="Arial"/>
            </a:endParaRPr>
          </a:p>
          <a:p>
            <a:pPr>
              <a:buClr>
                <a:schemeClr val="accent3">
                  <a:lumMod val="75000"/>
                </a:schemeClr>
              </a:buClr>
            </a:pPr>
            <a:endParaRPr lang="es-CO" sz="160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837E5B2F-CB65-D14C-0BC3-3AD16891AD0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53F22307-9E46-785C-646E-32D100868D95}"/>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55</a:t>
            </a:fld>
            <a:endParaRPr lang="en-US" sz="2000" b="1">
              <a:latin typeface="Century Gothic" panose="020B0502020202020204" pitchFamily="34" charset="0"/>
            </a:endParaRPr>
          </a:p>
        </p:txBody>
      </p:sp>
    </p:spTree>
    <p:extLst>
      <p:ext uri="{BB962C8B-B14F-4D97-AF65-F5344CB8AC3E}">
        <p14:creationId xmlns:p14="http://schemas.microsoft.com/office/powerpoint/2010/main" val="3055815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FLUJO DE CAJA LIBRE (FCL)</a:t>
            </a:r>
          </a:p>
        </p:txBody>
      </p:sp>
      <p:sp>
        <p:nvSpPr>
          <p:cNvPr id="3" name="Marcador de contenido 2"/>
          <p:cNvSpPr>
            <a:spLocks noGrp="1"/>
          </p:cNvSpPr>
          <p:nvPr>
            <p:ph idx="1"/>
          </p:nvPr>
        </p:nvSpPr>
        <p:spPr>
          <a:xfrm>
            <a:off x="947159" y="2450123"/>
            <a:ext cx="7848382" cy="3400921"/>
          </a:xfrm>
        </p:spPr>
        <p:txBody>
          <a:bodyPr>
            <a:normAutofit/>
          </a:bodyPr>
          <a:lstStyle/>
          <a:p>
            <a:pPr algn="just">
              <a:buFont typeface="Wingdings" pitchFamily="2" charset="2"/>
              <a:buChar char="q"/>
            </a:pPr>
            <a:r>
              <a:rPr lang="es-ES" dirty="0">
                <a:solidFill>
                  <a:schemeClr val="accent1"/>
                </a:solidFill>
                <a:latin typeface="Century Gothic" panose="020B0502020202020204" pitchFamily="34" charset="0"/>
              </a:rPr>
              <a:t>En el contexto de evaluación de proyectos, se entenderá liquidez como la capacidad de una compañía de generar un flujo de efectivo (dinero).</a:t>
            </a:r>
          </a:p>
          <a:p>
            <a:pPr algn="just">
              <a:buFont typeface="Wingdings" pitchFamily="2" charset="2"/>
              <a:buChar char="q"/>
            </a:pPr>
            <a:endParaRPr lang="es-ES" dirty="0">
              <a:solidFill>
                <a:schemeClr val="accent1"/>
              </a:solidFill>
              <a:latin typeface="Century Gothic" panose="020B0502020202020204" pitchFamily="34" charset="0"/>
            </a:endParaRPr>
          </a:p>
          <a:p>
            <a:pPr algn="just">
              <a:buFont typeface="Wingdings" pitchFamily="2" charset="2"/>
              <a:buChar char="q"/>
            </a:pPr>
            <a:r>
              <a:rPr lang="es-ES" dirty="0">
                <a:solidFill>
                  <a:schemeClr val="accent1"/>
                </a:solidFill>
                <a:latin typeface="Century Gothic" panose="020B0502020202020204" pitchFamily="34" charset="0"/>
              </a:rPr>
              <a:t>Por el contrario, la utilidad será la ganancia contable que genera la compañía en un periodo de tiempo determinado.</a:t>
            </a:r>
          </a:p>
          <a:p>
            <a:pPr algn="just">
              <a:buFont typeface="Wingdings" pitchFamily="2" charset="2"/>
              <a:buChar char="q"/>
            </a:pPr>
            <a:endParaRPr lang="es-ES" dirty="0">
              <a:solidFill>
                <a:schemeClr val="accent1"/>
              </a:solidFill>
              <a:latin typeface="Century Gothic" panose="020B0502020202020204" pitchFamily="34" charset="0"/>
            </a:endParaRPr>
          </a:p>
          <a:p>
            <a:pPr algn="just">
              <a:buFont typeface="Wingdings" pitchFamily="2" charset="2"/>
              <a:buChar char="q"/>
            </a:pPr>
            <a:r>
              <a:rPr lang="es-ES" dirty="0">
                <a:solidFill>
                  <a:schemeClr val="accent1"/>
                </a:solidFill>
                <a:latin typeface="Century Gothic" panose="020B0502020202020204" pitchFamily="34" charset="0"/>
              </a:rPr>
              <a:t>Dado que la utilidad se rige por el </a:t>
            </a:r>
            <a:r>
              <a:rPr lang="es-ES" b="1" dirty="0">
                <a:solidFill>
                  <a:srgbClr val="C00000"/>
                </a:solidFill>
                <a:latin typeface="Century Gothic" panose="020B0502020202020204" pitchFamily="34" charset="0"/>
              </a:rPr>
              <a:t>Principio de Causación</a:t>
            </a:r>
            <a:r>
              <a:rPr lang="es-ES" dirty="0">
                <a:solidFill>
                  <a:schemeClr val="accent1"/>
                </a:solidFill>
                <a:latin typeface="Century Gothic" panose="020B0502020202020204" pitchFamily="34" charset="0"/>
              </a:rPr>
              <a:t>, no será una buena estimación de los flujos para evaluar los proyectos.</a:t>
            </a:r>
            <a:endParaRPr lang="es-ES" i="1" dirty="0">
              <a:solidFill>
                <a:schemeClr val="accent1"/>
              </a:solidFill>
              <a:latin typeface="Century Gothic" panose="020B0502020202020204" pitchFamily="34" charset="0"/>
            </a:endParaRPr>
          </a:p>
        </p:txBody>
      </p:sp>
      <p:sp>
        <p:nvSpPr>
          <p:cNvPr id="9" name="Rectángulo 8">
            <a:extLst>
              <a:ext uri="{FF2B5EF4-FFF2-40B4-BE49-F238E27FC236}">
                <a16:creationId xmlns:a16="http://schemas.microsoft.com/office/drawing/2014/main" id="{4C3FB447-1783-3A52-94B7-AA53F613C55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3D1E8C6A-3D5B-400F-5A94-43E27A2223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1266" name="Picture 2" descr="Quieres invertir dinero? Antes de hacerlo deberías leer esto • Mesfix Blog">
            <a:extLst>
              <a:ext uri="{FF2B5EF4-FFF2-40B4-BE49-F238E27FC236}">
                <a16:creationId xmlns:a16="http://schemas.microsoft.com/office/drawing/2014/main" id="{2A78FB05-7F99-8F59-F1A5-4CC11954E6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14678" y="3215104"/>
            <a:ext cx="2396130" cy="1599811"/>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12D6C70C-88EF-94C4-EAC6-9ADF1A50740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09F4A1DF-D1EA-C0A9-6655-2B1DD68C11B9}"/>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56</a:t>
            </a:fld>
            <a:endParaRPr lang="en-US" sz="2000" b="1">
              <a:latin typeface="Century Gothic" panose="020B0502020202020204" pitchFamily="34" charset="0"/>
            </a:endParaRPr>
          </a:p>
        </p:txBody>
      </p:sp>
    </p:spTree>
    <p:extLst>
      <p:ext uri="{BB962C8B-B14F-4D97-AF65-F5344CB8AC3E}">
        <p14:creationId xmlns:p14="http://schemas.microsoft.com/office/powerpoint/2010/main" val="3541498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p:cTn id="7"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8" dur="500" fill="hold"/>
                                        <p:tgtEl>
                                          <p:spTgt spid="3">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FLUJO DE CAJA LIBRE (FCL)</a:t>
            </a:r>
          </a:p>
        </p:txBody>
      </p:sp>
      <p:sp>
        <p:nvSpPr>
          <p:cNvPr id="3" name="Marcador de contenido 2"/>
          <p:cNvSpPr>
            <a:spLocks noGrp="1"/>
          </p:cNvSpPr>
          <p:nvPr>
            <p:ph idx="1"/>
          </p:nvPr>
        </p:nvSpPr>
        <p:spPr>
          <a:xfrm>
            <a:off x="969308" y="2248931"/>
            <a:ext cx="7826234" cy="4072332"/>
          </a:xfrm>
        </p:spPr>
        <p:txBody>
          <a:bodyPr>
            <a:noAutofit/>
          </a:bodyPr>
          <a:lstStyle/>
          <a:p>
            <a:pPr algn="just">
              <a:buFont typeface="Wingdings" pitchFamily="2" charset="2"/>
              <a:buChar char="q"/>
            </a:pPr>
            <a:r>
              <a:rPr lang="es-ES">
                <a:solidFill>
                  <a:schemeClr val="accent1"/>
                </a:solidFill>
                <a:latin typeface="Century Gothic" panose="020B0502020202020204" pitchFamily="34" charset="0"/>
              </a:rPr>
              <a:t>Además, se debe recordar que la utilidad no refleja necesariamente todos los flujos de efectivo </a:t>
            </a:r>
            <a:r>
              <a:rPr lang="es-ES" b="1">
                <a:solidFill>
                  <a:srgbClr val="C00000"/>
                </a:solidFill>
                <a:latin typeface="Century Gothic" panose="020B0502020202020204" pitchFamily="34" charset="0"/>
              </a:rPr>
              <a:t>pertinentes</a:t>
            </a:r>
            <a:r>
              <a:rPr lang="es-ES">
                <a:latin typeface="Century Gothic" panose="020B0502020202020204" pitchFamily="34" charset="0"/>
              </a:rPr>
              <a:t>.</a:t>
            </a:r>
          </a:p>
          <a:p>
            <a:pPr algn="just">
              <a:buFont typeface="Wingdings" pitchFamily="2" charset="2"/>
              <a:buChar char="q"/>
            </a:pPr>
            <a:endParaRPr lang="es-ES">
              <a:latin typeface="Century Gothic" panose="020B0502020202020204" pitchFamily="34" charset="0"/>
            </a:endParaRPr>
          </a:p>
          <a:p>
            <a:pPr algn="just">
              <a:buFont typeface="Wingdings" pitchFamily="2" charset="2"/>
              <a:buChar char="q"/>
            </a:pPr>
            <a:r>
              <a:rPr lang="es-ES">
                <a:solidFill>
                  <a:schemeClr val="accent1"/>
                </a:solidFill>
                <a:latin typeface="Century Gothic" panose="020B0502020202020204" pitchFamily="34" charset="0"/>
              </a:rPr>
              <a:t>Más aún, la utilidad incorpora flujos y registros contables que </a:t>
            </a:r>
            <a:r>
              <a:rPr lang="es-ES" b="1">
                <a:solidFill>
                  <a:srgbClr val="D7A700"/>
                </a:solidFill>
                <a:latin typeface="Century Gothic" panose="020B0502020202020204" pitchFamily="34" charset="0"/>
              </a:rPr>
              <a:t>no son efectivos </a:t>
            </a:r>
            <a:r>
              <a:rPr lang="es-ES">
                <a:solidFill>
                  <a:schemeClr val="accent1"/>
                </a:solidFill>
                <a:latin typeface="Century Gothic" panose="020B0502020202020204" pitchFamily="34" charset="0"/>
              </a:rPr>
              <a:t>(no implican ingresos/salidas de dinero).</a:t>
            </a:r>
          </a:p>
          <a:p>
            <a:pPr algn="just">
              <a:buFont typeface="Wingdings" pitchFamily="2" charset="2"/>
              <a:buChar char="q"/>
            </a:pPr>
            <a:endParaRPr lang="es-ES">
              <a:solidFill>
                <a:schemeClr val="accent1"/>
              </a:solidFill>
              <a:latin typeface="Century Gothic" panose="020B0502020202020204" pitchFamily="34" charset="0"/>
            </a:endParaRPr>
          </a:p>
          <a:p>
            <a:pPr algn="just">
              <a:buFont typeface="Wingdings" pitchFamily="2" charset="2"/>
              <a:buChar char="q"/>
            </a:pPr>
            <a:r>
              <a:rPr lang="es-ES">
                <a:solidFill>
                  <a:schemeClr val="accent1"/>
                </a:solidFill>
                <a:latin typeface="Century Gothic" panose="020B0502020202020204" pitchFamily="34" charset="0"/>
              </a:rPr>
              <a:t>Es entonces necesario ajustar la utilidad por el principio de </a:t>
            </a:r>
            <a:r>
              <a:rPr lang="es-ES" b="1">
                <a:solidFill>
                  <a:srgbClr val="C00000"/>
                </a:solidFill>
                <a:latin typeface="Century Gothic" panose="020B0502020202020204" pitchFamily="34" charset="0"/>
              </a:rPr>
              <a:t>causación</a:t>
            </a:r>
            <a:r>
              <a:rPr lang="es-ES">
                <a:solidFill>
                  <a:srgbClr val="800000"/>
                </a:solidFill>
                <a:latin typeface="Century Gothic" panose="020B0502020202020204" pitchFamily="34" charset="0"/>
              </a:rPr>
              <a:t>, </a:t>
            </a:r>
            <a:r>
              <a:rPr lang="es-ES">
                <a:solidFill>
                  <a:schemeClr val="accent1"/>
                </a:solidFill>
                <a:latin typeface="Century Gothic" panose="020B0502020202020204" pitchFamily="34" charset="0"/>
              </a:rPr>
              <a:t>por el principio de </a:t>
            </a:r>
            <a:r>
              <a:rPr lang="es-ES" b="1">
                <a:solidFill>
                  <a:srgbClr val="C00000"/>
                </a:solidFill>
                <a:latin typeface="Century Gothic" panose="020B0502020202020204" pitchFamily="34" charset="0"/>
              </a:rPr>
              <a:t>pertinencia</a:t>
            </a:r>
            <a:r>
              <a:rPr lang="es-ES">
                <a:solidFill>
                  <a:srgbClr val="C00000"/>
                </a:solidFill>
                <a:latin typeface="Century Gothic" panose="020B0502020202020204" pitchFamily="34" charset="0"/>
              </a:rPr>
              <a:t> </a:t>
            </a:r>
            <a:r>
              <a:rPr lang="es-ES">
                <a:solidFill>
                  <a:schemeClr val="accent1"/>
                </a:solidFill>
                <a:latin typeface="Century Gothic" panose="020B0502020202020204" pitchFamily="34" charset="0"/>
              </a:rPr>
              <a:t>y</a:t>
            </a:r>
            <a:r>
              <a:rPr lang="es-ES">
                <a:latin typeface="Century Gothic" panose="020B0502020202020204" pitchFamily="34" charset="0"/>
              </a:rPr>
              <a:t> </a:t>
            </a:r>
            <a:r>
              <a:rPr lang="es-ES" b="1">
                <a:solidFill>
                  <a:srgbClr val="C00000"/>
                </a:solidFill>
                <a:latin typeface="Century Gothic" panose="020B0502020202020204" pitchFamily="34" charset="0"/>
              </a:rPr>
              <a:t>gastos no efectivos</a:t>
            </a:r>
            <a:r>
              <a:rPr lang="es-ES">
                <a:latin typeface="Century Gothic" panose="020B0502020202020204" pitchFamily="34" charset="0"/>
              </a:rPr>
              <a:t>.</a:t>
            </a:r>
          </a:p>
          <a:p>
            <a:pPr algn="just">
              <a:buFont typeface="Wingdings" pitchFamily="2" charset="2"/>
              <a:buChar char="q"/>
            </a:pPr>
            <a:endParaRPr lang="es-ES">
              <a:latin typeface="Century Gothic" panose="020B0502020202020204" pitchFamily="34" charset="0"/>
            </a:endParaRPr>
          </a:p>
          <a:p>
            <a:pPr algn="just">
              <a:buFont typeface="Wingdings" pitchFamily="2" charset="2"/>
              <a:buChar char="q"/>
            </a:pPr>
            <a:r>
              <a:rPr lang="es-ES">
                <a:solidFill>
                  <a:schemeClr val="accent1"/>
                </a:solidFill>
                <a:latin typeface="Century Gothic" panose="020B0502020202020204" pitchFamily="34" charset="0"/>
              </a:rPr>
              <a:t>Es aquí donde aparece el denominado Flujo de Caja Libre.</a:t>
            </a:r>
            <a:endParaRPr lang="es-ES">
              <a:latin typeface="Century Gothic" panose="020B0502020202020204" pitchFamily="34" charset="0"/>
            </a:endParaRPr>
          </a:p>
          <a:p>
            <a:pPr algn="just"/>
            <a:endParaRPr lang="es-ES"/>
          </a:p>
        </p:txBody>
      </p:sp>
      <p:sp>
        <p:nvSpPr>
          <p:cNvPr id="9" name="Rectángulo 8">
            <a:extLst>
              <a:ext uri="{FF2B5EF4-FFF2-40B4-BE49-F238E27FC236}">
                <a16:creationId xmlns:a16="http://schemas.microsoft.com/office/drawing/2014/main" id="{2B08A6B0-B5A9-1E20-6882-64264592BAC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7B38A9D3-7546-1D68-F6BC-E923A1C5B1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290" name="Picture 2" descr="Cómo invertir bien cuando el mayor riesgo para tu dinero es no invertirlo |  AE para UEStudio">
            <a:extLst>
              <a:ext uri="{FF2B5EF4-FFF2-40B4-BE49-F238E27FC236}">
                <a16:creationId xmlns:a16="http://schemas.microsoft.com/office/drawing/2014/main" id="{7F7840F3-FF1E-D96E-35D6-CEDD9B616F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05227" y="3191524"/>
            <a:ext cx="2705581" cy="2187146"/>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FB41D238-FFA2-E16F-5254-83AD91ED684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5670EDAD-6B19-90F5-43A2-AF5ED428FB90}"/>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57</a:t>
            </a:fld>
            <a:endParaRPr lang="en-US" sz="2000" b="1">
              <a:latin typeface="Century Gothic" panose="020B0502020202020204" pitchFamily="34" charset="0"/>
            </a:endParaRPr>
          </a:p>
        </p:txBody>
      </p:sp>
    </p:spTree>
    <p:extLst>
      <p:ext uri="{BB962C8B-B14F-4D97-AF65-F5344CB8AC3E}">
        <p14:creationId xmlns:p14="http://schemas.microsoft.com/office/powerpoint/2010/main" val="1261929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D237D73F-0012-4163-88EC-4C834275B3F2}"/>
              </a:ext>
            </a:extLst>
          </p:cNvPr>
          <p:cNvSpPr>
            <a:spLocks noGrp="1"/>
          </p:cNvSpPr>
          <p:nvPr>
            <p:ph type="title"/>
          </p:nvPr>
        </p:nvSpPr>
        <p:spPr/>
        <p:txBody>
          <a:bodyPr/>
          <a:lstStyle/>
          <a:p>
            <a:r>
              <a:rPr lang="es-ES">
                <a:latin typeface="Century Gothic" panose="020B0502020202020204" pitchFamily="34" charset="0"/>
              </a:rPr>
              <a:t>FLUJO DE CAJA LIBRE (FCL)</a:t>
            </a:r>
          </a:p>
        </p:txBody>
      </p:sp>
      <p:sp>
        <p:nvSpPr>
          <p:cNvPr id="3" name="Marcador de contenido 2"/>
          <p:cNvSpPr>
            <a:spLocks noGrp="1"/>
          </p:cNvSpPr>
          <p:nvPr>
            <p:ph idx="1"/>
          </p:nvPr>
        </p:nvSpPr>
        <p:spPr>
          <a:xfrm>
            <a:off x="869562" y="2654267"/>
            <a:ext cx="7925979" cy="3632104"/>
          </a:xfrm>
        </p:spPr>
        <p:txBody>
          <a:bodyPr>
            <a:normAutofit/>
          </a:bodyPr>
          <a:lstStyle/>
          <a:p>
            <a:pPr algn="just">
              <a:buFont typeface="Wingdings" pitchFamily="2" charset="2"/>
              <a:buChar char="q"/>
            </a:pPr>
            <a:r>
              <a:rPr lang="es-ES">
                <a:solidFill>
                  <a:schemeClr val="accent1"/>
                </a:solidFill>
                <a:latin typeface="Century Gothic" panose="020B0502020202020204" pitchFamily="34" charset="0"/>
              </a:rPr>
              <a:t>EL Flujo de Caja Libre (FCL) o Free Cash Flow </a:t>
            </a:r>
            <a:r>
              <a:rPr lang="es-ES" err="1">
                <a:solidFill>
                  <a:schemeClr val="accent1"/>
                </a:solidFill>
                <a:latin typeface="Century Gothic" panose="020B0502020202020204" pitchFamily="34" charset="0"/>
              </a:rPr>
              <a:t>to</a:t>
            </a:r>
            <a:r>
              <a:rPr lang="es-ES">
                <a:solidFill>
                  <a:schemeClr val="accent1"/>
                </a:solidFill>
                <a:latin typeface="Century Gothic" panose="020B0502020202020204" pitchFamily="34" charset="0"/>
              </a:rPr>
              <a:t> </a:t>
            </a:r>
            <a:r>
              <a:rPr lang="es-ES" err="1">
                <a:solidFill>
                  <a:schemeClr val="accent1"/>
                </a:solidFill>
                <a:latin typeface="Century Gothic" panose="020B0502020202020204" pitchFamily="34" charset="0"/>
              </a:rPr>
              <a:t>the</a:t>
            </a:r>
            <a:r>
              <a:rPr lang="es-ES">
                <a:solidFill>
                  <a:schemeClr val="accent1"/>
                </a:solidFill>
                <a:latin typeface="Century Gothic" panose="020B0502020202020204" pitchFamily="34" charset="0"/>
              </a:rPr>
              <a:t> </a:t>
            </a:r>
            <a:r>
              <a:rPr lang="es-ES" err="1">
                <a:solidFill>
                  <a:schemeClr val="accent1"/>
                </a:solidFill>
                <a:latin typeface="Century Gothic" panose="020B0502020202020204" pitchFamily="34" charset="0"/>
              </a:rPr>
              <a:t>Firm</a:t>
            </a:r>
            <a:r>
              <a:rPr lang="es-ES">
                <a:solidFill>
                  <a:schemeClr val="accent1"/>
                </a:solidFill>
                <a:latin typeface="Century Gothic" panose="020B0502020202020204" pitchFamily="34" charset="0"/>
              </a:rPr>
              <a:t> (FCFF) tiene como objetivo estudiar el proyecto de inversión en sí mismo</a:t>
            </a:r>
            <a:r>
              <a:rPr lang="es-ES">
                <a:latin typeface="Century Gothic" panose="020B0502020202020204" pitchFamily="34" charset="0"/>
              </a:rPr>
              <a:t>.</a:t>
            </a:r>
          </a:p>
          <a:p>
            <a:pPr algn="just">
              <a:buFont typeface="Wingdings" pitchFamily="2" charset="2"/>
              <a:buChar char="q"/>
            </a:pPr>
            <a:endParaRPr lang="es-ES">
              <a:latin typeface="Century Gothic" panose="020B0502020202020204" pitchFamily="34" charset="0"/>
            </a:endParaRPr>
          </a:p>
          <a:p>
            <a:pPr algn="just">
              <a:buFont typeface="Wingdings" pitchFamily="2" charset="2"/>
              <a:buChar char="q"/>
            </a:pPr>
            <a:r>
              <a:rPr lang="es-ES">
                <a:solidFill>
                  <a:schemeClr val="accent1"/>
                </a:solidFill>
                <a:latin typeface="Century Gothic" panose="020B0502020202020204" pitchFamily="34" charset="0"/>
              </a:rPr>
              <a:t>Es decir, los flujos de caja que genera la </a:t>
            </a:r>
            <a:r>
              <a:rPr lang="es-ES" b="1">
                <a:solidFill>
                  <a:srgbClr val="C00000"/>
                </a:solidFill>
                <a:latin typeface="Century Gothic" panose="020B0502020202020204" pitchFamily="34" charset="0"/>
              </a:rPr>
              <a:t>OPERACIÓN DEL NEGOCIO</a:t>
            </a:r>
            <a:r>
              <a:rPr lang="es-ES">
                <a:solidFill>
                  <a:srgbClr val="C00000"/>
                </a:solidFill>
                <a:latin typeface="Century Gothic" panose="020B0502020202020204" pitchFamily="34" charset="0"/>
              </a:rPr>
              <a:t> </a:t>
            </a:r>
            <a:r>
              <a:rPr lang="es-ES">
                <a:solidFill>
                  <a:schemeClr val="accent1"/>
                </a:solidFill>
                <a:latin typeface="Century Gothic" panose="020B0502020202020204" pitchFamily="34" charset="0"/>
              </a:rPr>
              <a:t>sin considerar la estructura de capital.</a:t>
            </a:r>
          </a:p>
          <a:p>
            <a:pPr algn="just">
              <a:buFont typeface="Wingdings" pitchFamily="2" charset="2"/>
              <a:buChar char="q"/>
            </a:pPr>
            <a:endParaRPr lang="es-ES">
              <a:latin typeface="Century Gothic" panose="020B0502020202020204" pitchFamily="34" charset="0"/>
            </a:endParaRPr>
          </a:p>
          <a:p>
            <a:pPr algn="just">
              <a:buFont typeface="Wingdings" pitchFamily="2" charset="2"/>
              <a:buChar char="q"/>
            </a:pPr>
            <a:r>
              <a:rPr lang="es-ES">
                <a:solidFill>
                  <a:schemeClr val="accent1"/>
                </a:solidFill>
                <a:latin typeface="Century Gothic" panose="020B0502020202020204" pitchFamily="34" charset="0"/>
              </a:rPr>
              <a:t>Se busca responder la pregunta: </a:t>
            </a:r>
            <a:r>
              <a:rPr lang="es-ES" b="1">
                <a:solidFill>
                  <a:srgbClr val="D7A700"/>
                </a:solidFill>
                <a:latin typeface="Century Gothic" panose="020B0502020202020204" pitchFamily="34" charset="0"/>
              </a:rPr>
              <a:t>¿Cuáles son los flujos de caja que “prometen” los proyectos actuales y futuros sin considerar la estructura de financiación?</a:t>
            </a:r>
          </a:p>
          <a:p>
            <a:pPr>
              <a:buFont typeface="Arial"/>
              <a:buChar char="•"/>
            </a:pPr>
            <a:endParaRPr lang="es-ES" sz="2400">
              <a:latin typeface="Century Gothic" panose="020B0502020202020204" pitchFamily="34" charset="0"/>
            </a:endParaRPr>
          </a:p>
        </p:txBody>
      </p:sp>
      <p:sp>
        <p:nvSpPr>
          <p:cNvPr id="2" name="Rectángulo 1">
            <a:extLst>
              <a:ext uri="{FF2B5EF4-FFF2-40B4-BE49-F238E27FC236}">
                <a16:creationId xmlns:a16="http://schemas.microsoft.com/office/drawing/2014/main" id="{4EC2A44B-C03D-B957-9565-04AF319A3A0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16FD45C5-FEBE-E13F-AA79-0A91EC7A5C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2" name="Rectángulo 11">
            <a:extLst>
              <a:ext uri="{FF2B5EF4-FFF2-40B4-BE49-F238E27FC236}">
                <a16:creationId xmlns:a16="http://schemas.microsoft.com/office/drawing/2014/main" id="{9A02B20E-DF0B-6B0C-C137-7F63DCA65B01}"/>
              </a:ext>
            </a:extLst>
          </p:cNvPr>
          <p:cNvSpPr/>
          <p:nvPr/>
        </p:nvSpPr>
        <p:spPr>
          <a:xfrm>
            <a:off x="4858343" y="118107"/>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13316" name="Picture 4" descr="Los riesgos de no invertir – Finanzas y Tecnología – Axend Blog">
            <a:extLst>
              <a:ext uri="{FF2B5EF4-FFF2-40B4-BE49-F238E27FC236}">
                <a16:creationId xmlns:a16="http://schemas.microsoft.com/office/drawing/2014/main" id="{0AA0AA70-72AD-D98D-AA4D-26376BBCDD2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882" r="3651" b="7676"/>
          <a:stretch/>
        </p:blipFill>
        <p:spPr bwMode="auto">
          <a:xfrm>
            <a:off x="8981778" y="3272421"/>
            <a:ext cx="2565238" cy="1472574"/>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775D6F1F-47FD-2CDF-86B2-55E4A6A2A68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Marcador de número de diapositiva 3">
            <a:extLst>
              <a:ext uri="{FF2B5EF4-FFF2-40B4-BE49-F238E27FC236}">
                <a16:creationId xmlns:a16="http://schemas.microsoft.com/office/drawing/2014/main" id="{CFBE72E6-F3C2-B06E-FE76-0BAC76B50F90}"/>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58</a:t>
            </a:fld>
            <a:endParaRPr lang="en-US" sz="2000" b="1">
              <a:latin typeface="Century Gothic" panose="020B0502020202020204" pitchFamily="34" charset="0"/>
            </a:endParaRPr>
          </a:p>
        </p:txBody>
      </p:sp>
    </p:spTree>
    <p:extLst>
      <p:ext uri="{BB962C8B-B14F-4D97-AF65-F5344CB8AC3E}">
        <p14:creationId xmlns:p14="http://schemas.microsoft.com/office/powerpoint/2010/main" val="2527419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1">
            <a:extLst>
              <a:ext uri="{FF2B5EF4-FFF2-40B4-BE49-F238E27FC236}">
                <a16:creationId xmlns:a16="http://schemas.microsoft.com/office/drawing/2014/main" id="{36AE3364-6759-4A10-9311-1E663DBE1C97}"/>
              </a:ext>
            </a:extLst>
          </p:cNvPr>
          <p:cNvSpPr>
            <a:spLocks noGrp="1"/>
          </p:cNvSpPr>
          <p:nvPr>
            <p:ph type="title"/>
          </p:nvPr>
        </p:nvSpPr>
        <p:spPr/>
        <p:txBody>
          <a:bodyPr/>
          <a:lstStyle/>
          <a:p>
            <a:r>
              <a:rPr lang="es-ES">
                <a:latin typeface="Century Gothic" panose="020B0502020202020204" pitchFamily="34" charset="0"/>
              </a:rPr>
              <a:t>FLUJO DE CAJA LIBRE (FCL)</a:t>
            </a:r>
          </a:p>
        </p:txBody>
      </p:sp>
      <p:sp>
        <p:nvSpPr>
          <p:cNvPr id="6" name="TextBox 5"/>
          <p:cNvSpPr txBox="1"/>
          <p:nvPr/>
        </p:nvSpPr>
        <p:spPr>
          <a:xfrm>
            <a:off x="4079161" y="2207615"/>
            <a:ext cx="5403227" cy="3539430"/>
          </a:xfrm>
          <a:prstGeom prst="rect">
            <a:avLst/>
          </a:prstGeom>
          <a:noFill/>
        </p:spPr>
        <p:txBody>
          <a:bodyPr wrap="square" lIns="91440" tIns="45720" rIns="91440" bIns="45720" rtlCol="0" anchor="t">
            <a:spAutoFit/>
          </a:bodyPr>
          <a:lstStyle/>
          <a:p>
            <a:pPr lvl="1"/>
            <a:r>
              <a:rPr lang="es-ES_tradnl" sz="1600" dirty="0">
                <a:solidFill>
                  <a:schemeClr val="accent1"/>
                </a:solidFill>
                <a:latin typeface="Century Gothic" panose="020B0502020202020204" pitchFamily="34" charset="0"/>
              </a:rPr>
              <a:t>EBIT (UAII)</a:t>
            </a:r>
          </a:p>
          <a:p>
            <a:pPr lvl="1"/>
            <a:endParaRPr lang="es-ES_tradnl" sz="1600" dirty="0">
              <a:solidFill>
                <a:schemeClr val="accent1"/>
              </a:solidFill>
              <a:latin typeface="Century Gothic" panose="020B0502020202020204" pitchFamily="34" charset="0"/>
            </a:endParaRPr>
          </a:p>
          <a:p>
            <a:r>
              <a:rPr lang="es-ES_tradnl" sz="1600" dirty="0">
                <a:solidFill>
                  <a:schemeClr val="accent1"/>
                </a:solidFill>
                <a:latin typeface="Century Gothic" panose="020B0502020202020204" pitchFamily="34" charset="0"/>
              </a:rPr>
              <a:t>(+)	Depreciación &amp; Amortización</a:t>
            </a:r>
          </a:p>
          <a:p>
            <a:endParaRPr lang="es-ES_tradnl" sz="1600" dirty="0">
              <a:solidFill>
                <a:schemeClr val="accent1"/>
              </a:solidFill>
              <a:latin typeface="Century Gothic" panose="020B0502020202020204" pitchFamily="34" charset="0"/>
            </a:endParaRPr>
          </a:p>
          <a:p>
            <a:r>
              <a:rPr lang="es-ES_tradnl" sz="1600" dirty="0">
                <a:solidFill>
                  <a:schemeClr val="accent1"/>
                </a:solidFill>
                <a:latin typeface="Century Gothic" panose="020B0502020202020204" pitchFamily="34" charset="0"/>
              </a:rPr>
              <a:t>	</a:t>
            </a:r>
            <a:r>
              <a:rPr lang="es-ES_tradnl" sz="1600" b="1" dirty="0">
                <a:solidFill>
                  <a:srgbClr val="C00000"/>
                </a:solidFill>
                <a:latin typeface="Century Gothic" panose="020B0502020202020204" pitchFamily="34" charset="0"/>
              </a:rPr>
              <a:t>EBITDA</a:t>
            </a:r>
          </a:p>
          <a:p>
            <a:endParaRPr lang="es-ES_tradnl" sz="1600" dirty="0">
              <a:solidFill>
                <a:schemeClr val="accent1"/>
              </a:solidFill>
              <a:latin typeface="Century Gothic" panose="020B0502020202020204" pitchFamily="34" charset="0"/>
            </a:endParaRPr>
          </a:p>
          <a:p>
            <a:r>
              <a:rPr lang="es-ES_tradnl" sz="1600" dirty="0">
                <a:solidFill>
                  <a:schemeClr val="accent1"/>
                </a:solidFill>
                <a:latin typeface="Century Gothic" panose="020B0502020202020204" pitchFamily="34" charset="0"/>
              </a:rPr>
              <a:t>(-)	Variación en WK</a:t>
            </a:r>
          </a:p>
          <a:p>
            <a:endParaRPr lang="es-ES_tradnl" sz="1600" dirty="0">
              <a:solidFill>
                <a:schemeClr val="accent1"/>
              </a:solidFill>
              <a:latin typeface="Century Gothic" panose="020B0502020202020204" pitchFamily="34" charset="0"/>
            </a:endParaRPr>
          </a:p>
          <a:p>
            <a:r>
              <a:rPr lang="es-ES_tradnl" sz="1600" dirty="0">
                <a:solidFill>
                  <a:schemeClr val="accent1"/>
                </a:solidFill>
                <a:latin typeface="Century Gothic"/>
              </a:rPr>
              <a:t>(-)	Variación en PPE e Intangibles (CAPEX)</a:t>
            </a:r>
          </a:p>
          <a:p>
            <a:endParaRPr lang="es-ES_tradnl" sz="1600" dirty="0">
              <a:solidFill>
                <a:schemeClr val="accent1"/>
              </a:solidFill>
              <a:latin typeface="Century Gothic" panose="020B0502020202020204" pitchFamily="34" charset="0"/>
            </a:endParaRPr>
          </a:p>
          <a:p>
            <a:r>
              <a:rPr lang="es-ES_tradnl" sz="1600" dirty="0">
                <a:solidFill>
                  <a:schemeClr val="accent1"/>
                </a:solidFill>
                <a:latin typeface="Century Gothic" panose="020B0502020202020204" pitchFamily="34" charset="0"/>
              </a:rPr>
              <a:t>(-) 	Impuestos Operacionales</a:t>
            </a:r>
          </a:p>
          <a:p>
            <a:endParaRPr lang="es-ES_tradnl" sz="1600" dirty="0">
              <a:solidFill>
                <a:schemeClr val="accent1"/>
              </a:solidFill>
              <a:latin typeface="Century Gothic" panose="020B0502020202020204" pitchFamily="34" charset="0"/>
            </a:endParaRPr>
          </a:p>
          <a:p>
            <a:r>
              <a:rPr lang="es-ES_tradnl" sz="1600" dirty="0">
                <a:solidFill>
                  <a:schemeClr val="accent1"/>
                </a:solidFill>
                <a:latin typeface="Century Gothic" panose="020B0502020202020204" pitchFamily="34" charset="0"/>
              </a:rPr>
              <a:t>	</a:t>
            </a:r>
            <a:r>
              <a:rPr lang="es-ES_tradnl" sz="1600" b="1" dirty="0">
                <a:solidFill>
                  <a:srgbClr val="C00000"/>
                </a:solidFill>
                <a:latin typeface="Century Gothic" panose="020B0502020202020204" pitchFamily="34" charset="0"/>
              </a:rPr>
              <a:t>Flujo de Caja Libre (FCL)</a:t>
            </a:r>
          </a:p>
          <a:p>
            <a:endParaRPr lang="es-ES_tradnl" sz="1600" dirty="0">
              <a:solidFill>
                <a:schemeClr val="accent1"/>
              </a:solidFill>
              <a:latin typeface="Century Gothic" panose="020B0502020202020204" pitchFamily="34" charset="0"/>
            </a:endParaRPr>
          </a:p>
        </p:txBody>
      </p:sp>
      <p:cxnSp>
        <p:nvCxnSpPr>
          <p:cNvPr id="8" name="Straight Connector 7"/>
          <p:cNvCxnSpPr/>
          <p:nvPr/>
        </p:nvCxnSpPr>
        <p:spPr>
          <a:xfrm flipV="1">
            <a:off x="3899726" y="5080925"/>
            <a:ext cx="4134556" cy="14112"/>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V="1">
            <a:off x="3998504" y="3134505"/>
            <a:ext cx="4035778" cy="14112"/>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sp>
        <p:nvSpPr>
          <p:cNvPr id="2" name="Rectángulo 1">
            <a:extLst>
              <a:ext uri="{FF2B5EF4-FFF2-40B4-BE49-F238E27FC236}">
                <a16:creationId xmlns:a16="http://schemas.microsoft.com/office/drawing/2014/main" id="{BA87F511-3CF3-D5B5-9814-2DE865B8DF7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1D899C24-5F57-D844-DB86-A1F86D9FC6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4338" name="Picture 2" descr="Qué son fondos de inversión?">
            <a:extLst>
              <a:ext uri="{FF2B5EF4-FFF2-40B4-BE49-F238E27FC236}">
                <a16:creationId xmlns:a16="http://schemas.microsoft.com/office/drawing/2014/main" id="{072958EC-7F4B-7DE3-7576-4EC360E092B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904" r="6655"/>
          <a:stretch/>
        </p:blipFill>
        <p:spPr bwMode="auto">
          <a:xfrm>
            <a:off x="9115602" y="3342293"/>
            <a:ext cx="2662183" cy="1557940"/>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7EAD20E7-2983-0810-1622-235B21A6E6D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DC583235-209A-70F3-668A-B5ABC13F79C5}"/>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59</a:t>
            </a:fld>
            <a:endParaRPr lang="en-US" sz="2000" b="1">
              <a:latin typeface="Century Gothic" panose="020B0502020202020204" pitchFamily="34" charset="0"/>
            </a:endParaRPr>
          </a:p>
        </p:txBody>
      </p:sp>
    </p:spTree>
    <p:extLst>
      <p:ext uri="{BB962C8B-B14F-4D97-AF65-F5344CB8AC3E}">
        <p14:creationId xmlns:p14="http://schemas.microsoft.com/office/powerpoint/2010/main" val="2405245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1">
            <a:extLst>
              <a:ext uri="{FF2B5EF4-FFF2-40B4-BE49-F238E27FC236}">
                <a16:creationId xmlns:a16="http://schemas.microsoft.com/office/drawing/2014/main" id="{36AE3364-6759-4A10-9311-1E663DBE1C97}"/>
              </a:ext>
            </a:extLst>
          </p:cNvPr>
          <p:cNvSpPr>
            <a:spLocks noGrp="1"/>
          </p:cNvSpPr>
          <p:nvPr>
            <p:ph type="title"/>
          </p:nvPr>
        </p:nvSpPr>
        <p:spPr/>
        <p:txBody>
          <a:bodyPr/>
          <a:lstStyle/>
          <a:p>
            <a:r>
              <a:rPr lang="es-ES">
                <a:latin typeface="Century Gothic" panose="020B0502020202020204" pitchFamily="34" charset="0"/>
              </a:rPr>
              <a:t>FLUJO DE CAJA LIBRE (FCL)</a:t>
            </a:r>
          </a:p>
        </p:txBody>
      </p:sp>
      <p:sp>
        <p:nvSpPr>
          <p:cNvPr id="7" name="AutoShape 1">
            <a:extLst>
              <a:ext uri="{FF2B5EF4-FFF2-40B4-BE49-F238E27FC236}">
                <a16:creationId xmlns:a16="http://schemas.microsoft.com/office/drawing/2014/main" id="{5E103885-005B-4BCA-A81B-3F98CFF65882}"/>
              </a:ext>
            </a:extLst>
          </p:cNvPr>
          <p:cNvSpPr>
            <a:spLocks/>
          </p:cNvSpPr>
          <p:nvPr/>
        </p:nvSpPr>
        <p:spPr bwMode="auto">
          <a:xfrm>
            <a:off x="6107828" y="2590613"/>
            <a:ext cx="4025900" cy="29305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45719" tIns="45719" rIns="45719" bIns="45719"/>
          <a:lstStyle/>
          <a:p>
            <a:pPr lvl="1"/>
            <a:r>
              <a:rPr lang="es-ES" sz="1200" b="1" dirty="0">
                <a:solidFill>
                  <a:srgbClr val="C00000"/>
                </a:solidFill>
                <a:latin typeface="Century Gothic" panose="020B0502020202020204" pitchFamily="34" charset="0"/>
                <a:cs typeface="Arial" charset="0"/>
                <a:sym typeface="Arial" charset="0"/>
              </a:rPr>
              <a:t>EBIT (</a:t>
            </a:r>
            <a:r>
              <a:rPr lang="es-ES" sz="1200" b="1" dirty="0" err="1">
                <a:solidFill>
                  <a:srgbClr val="C00000"/>
                </a:solidFill>
                <a:latin typeface="Century Gothic" panose="020B0502020202020204" pitchFamily="34" charset="0"/>
                <a:cs typeface="Arial" charset="0"/>
                <a:sym typeface="Arial" charset="0"/>
              </a:rPr>
              <a:t>UAII</a:t>
            </a:r>
            <a:r>
              <a:rPr lang="es-ES" sz="1200" b="1" dirty="0">
                <a:solidFill>
                  <a:srgbClr val="C00000"/>
                </a:solidFill>
                <a:latin typeface="Century Gothic" panose="020B0502020202020204" pitchFamily="34" charset="0"/>
                <a:cs typeface="Arial" charset="0"/>
                <a:sym typeface="Arial" charset="0"/>
              </a:rPr>
              <a:t>)</a:t>
            </a:r>
            <a:endParaRPr lang="es-ES" sz="1600" dirty="0">
              <a:solidFill>
                <a:srgbClr val="C00000"/>
              </a:solidFill>
              <a:latin typeface="Century Gothic" panose="020B0502020202020204" pitchFamily="34" charset="0"/>
              <a:cs typeface="Arial" charset="0"/>
              <a:sym typeface="Arial" charset="0"/>
            </a:endParaRPr>
          </a:p>
          <a:p>
            <a:pPr lvl="1"/>
            <a:endParaRPr lang="es-ES" sz="1200" dirty="0">
              <a:solidFill>
                <a:schemeClr val="accent1"/>
              </a:solidFill>
              <a:latin typeface="Century Gothic" panose="020B0502020202020204" pitchFamily="34" charset="0"/>
              <a:cs typeface="Arial" charset="0"/>
              <a:sym typeface="Arial" charset="0"/>
            </a:endParaRPr>
          </a:p>
          <a:p>
            <a:r>
              <a:rPr lang="es-ES" sz="1200" dirty="0">
                <a:solidFill>
                  <a:schemeClr val="accent1"/>
                </a:solidFill>
                <a:latin typeface="Century Gothic" panose="020B0502020202020204" pitchFamily="34" charset="0"/>
                <a:cs typeface="Arial" charset="0"/>
                <a:sym typeface="Arial" charset="0"/>
              </a:rPr>
              <a:t>(+)     Depreciación &amp; Amortización</a:t>
            </a:r>
            <a:endParaRPr lang="es-ES" sz="1600" dirty="0">
              <a:solidFill>
                <a:schemeClr val="accent1"/>
              </a:solidFill>
              <a:latin typeface="Century Gothic" panose="020B0502020202020204" pitchFamily="34" charset="0"/>
              <a:cs typeface="Arial" charset="0"/>
              <a:sym typeface="Arial" charset="0"/>
            </a:endParaRPr>
          </a:p>
          <a:p>
            <a:endParaRPr lang="es-ES" sz="1200" dirty="0">
              <a:solidFill>
                <a:schemeClr val="accent1"/>
              </a:solidFill>
              <a:latin typeface="Century Gothic" panose="020B0502020202020204" pitchFamily="34" charset="0"/>
              <a:cs typeface="Arial" charset="0"/>
              <a:sym typeface="Arial" charset="0"/>
            </a:endParaRPr>
          </a:p>
          <a:p>
            <a:r>
              <a:rPr lang="es-ES" sz="1200" dirty="0">
                <a:solidFill>
                  <a:schemeClr val="accent1"/>
                </a:solidFill>
                <a:latin typeface="Century Gothic" panose="020B0502020202020204" pitchFamily="34" charset="0"/>
                <a:cs typeface="Arial" charset="0"/>
                <a:sym typeface="Arial" charset="0"/>
              </a:rPr>
              <a:t>          </a:t>
            </a:r>
            <a:r>
              <a:rPr lang="es-ES" sz="1200" b="1" dirty="0">
                <a:solidFill>
                  <a:srgbClr val="C00000"/>
                </a:solidFill>
                <a:latin typeface="Century Gothic" panose="020B0502020202020204" pitchFamily="34" charset="0"/>
                <a:cs typeface="Arial" charset="0"/>
                <a:sym typeface="Arial" charset="0"/>
              </a:rPr>
              <a:t>EBITDA</a:t>
            </a:r>
            <a:endParaRPr lang="es-ES" sz="1600" dirty="0">
              <a:solidFill>
                <a:srgbClr val="C00000"/>
              </a:solidFill>
              <a:latin typeface="Century Gothic" panose="020B0502020202020204" pitchFamily="34" charset="0"/>
              <a:cs typeface="Arial" charset="0"/>
              <a:sym typeface="Arial" charset="0"/>
            </a:endParaRPr>
          </a:p>
          <a:p>
            <a:endParaRPr lang="es-ES" sz="1200" dirty="0">
              <a:solidFill>
                <a:schemeClr val="accent1"/>
              </a:solidFill>
              <a:latin typeface="Century Gothic" panose="020B0502020202020204" pitchFamily="34" charset="0"/>
              <a:cs typeface="Arial" charset="0"/>
              <a:sym typeface="Arial" charset="0"/>
            </a:endParaRPr>
          </a:p>
          <a:p>
            <a:r>
              <a:rPr lang="es-ES" sz="1200" dirty="0">
                <a:solidFill>
                  <a:schemeClr val="accent1"/>
                </a:solidFill>
                <a:latin typeface="Century Gothic" panose="020B0502020202020204" pitchFamily="34" charset="0"/>
                <a:cs typeface="Arial" charset="0"/>
                <a:sym typeface="Arial" charset="0"/>
              </a:rPr>
              <a:t>(-)       Variación en </a:t>
            </a:r>
            <a:r>
              <a:rPr lang="es-ES" sz="1200" dirty="0" err="1">
                <a:solidFill>
                  <a:schemeClr val="accent1"/>
                </a:solidFill>
                <a:latin typeface="Century Gothic" panose="020B0502020202020204" pitchFamily="34" charset="0"/>
                <a:cs typeface="Arial" charset="0"/>
                <a:sym typeface="Arial" charset="0"/>
              </a:rPr>
              <a:t>WK</a:t>
            </a:r>
            <a:endParaRPr lang="es-ES" sz="1600" dirty="0">
              <a:solidFill>
                <a:schemeClr val="accent1"/>
              </a:solidFill>
              <a:latin typeface="Century Gothic" panose="020B0502020202020204" pitchFamily="34" charset="0"/>
              <a:cs typeface="Arial" charset="0"/>
              <a:sym typeface="Arial" charset="0"/>
            </a:endParaRPr>
          </a:p>
          <a:p>
            <a:endParaRPr lang="es-ES" sz="1200" dirty="0">
              <a:solidFill>
                <a:schemeClr val="accent1"/>
              </a:solidFill>
              <a:latin typeface="Century Gothic" panose="020B0502020202020204" pitchFamily="34" charset="0"/>
              <a:cs typeface="Arial" charset="0"/>
              <a:sym typeface="Arial" charset="0"/>
            </a:endParaRPr>
          </a:p>
          <a:p>
            <a:r>
              <a:rPr lang="es-ES" sz="1200" dirty="0">
                <a:solidFill>
                  <a:schemeClr val="accent1"/>
                </a:solidFill>
                <a:latin typeface="Century Gothic" panose="020B0502020202020204" pitchFamily="34" charset="0"/>
                <a:cs typeface="Arial" charset="0"/>
                <a:sym typeface="Arial" charset="0"/>
              </a:rPr>
              <a:t>(-)       Variación en PPE e Intangibles (CAPEX)</a:t>
            </a:r>
            <a:endParaRPr lang="es-ES" sz="1600" dirty="0">
              <a:solidFill>
                <a:schemeClr val="accent1"/>
              </a:solidFill>
              <a:latin typeface="Century Gothic" panose="020B0502020202020204" pitchFamily="34" charset="0"/>
              <a:cs typeface="Arial" charset="0"/>
              <a:sym typeface="Arial" charset="0"/>
            </a:endParaRPr>
          </a:p>
          <a:p>
            <a:endParaRPr lang="es-ES" sz="1200" dirty="0">
              <a:solidFill>
                <a:schemeClr val="accent1"/>
              </a:solidFill>
              <a:latin typeface="Century Gothic" panose="020B0502020202020204" pitchFamily="34" charset="0"/>
              <a:cs typeface="Arial" charset="0"/>
              <a:sym typeface="Arial" charset="0"/>
            </a:endParaRPr>
          </a:p>
          <a:p>
            <a:r>
              <a:rPr lang="es-ES" sz="1200" dirty="0">
                <a:solidFill>
                  <a:schemeClr val="accent1"/>
                </a:solidFill>
                <a:latin typeface="Century Gothic" panose="020B0502020202020204" pitchFamily="34" charset="0"/>
                <a:cs typeface="Arial" charset="0"/>
                <a:sym typeface="Arial" charset="0"/>
              </a:rPr>
              <a:t>(-)        Impuestos operacionales</a:t>
            </a:r>
            <a:endParaRPr lang="es-ES" sz="1600" dirty="0">
              <a:solidFill>
                <a:schemeClr val="accent1"/>
              </a:solidFill>
              <a:latin typeface="Century Gothic" panose="020B0502020202020204" pitchFamily="34" charset="0"/>
              <a:cs typeface="Arial" charset="0"/>
              <a:sym typeface="Arial" charset="0"/>
            </a:endParaRPr>
          </a:p>
          <a:p>
            <a:endParaRPr lang="es-ES" sz="1200" dirty="0">
              <a:solidFill>
                <a:schemeClr val="accent1"/>
              </a:solidFill>
              <a:latin typeface="Century Gothic" panose="020B0502020202020204" pitchFamily="34" charset="0"/>
              <a:cs typeface="Arial" charset="0"/>
              <a:sym typeface="Arial" charset="0"/>
            </a:endParaRPr>
          </a:p>
          <a:p>
            <a:r>
              <a:rPr lang="es-ES" sz="1200" b="1" dirty="0">
                <a:solidFill>
                  <a:schemeClr val="accent1"/>
                </a:solidFill>
                <a:latin typeface="Century Gothic" panose="020B0502020202020204" pitchFamily="34" charset="0"/>
                <a:cs typeface="Arial" charset="0"/>
                <a:sym typeface="Arial" charset="0"/>
              </a:rPr>
              <a:t>           </a:t>
            </a:r>
            <a:r>
              <a:rPr lang="es-ES" sz="1200" b="1" dirty="0">
                <a:solidFill>
                  <a:srgbClr val="C00000"/>
                </a:solidFill>
                <a:latin typeface="Century Gothic" panose="020B0502020202020204" pitchFamily="34" charset="0"/>
                <a:cs typeface="Arial" charset="0"/>
                <a:sym typeface="Arial" charset="0"/>
              </a:rPr>
              <a:t>Flujo de Caja Libre (</a:t>
            </a:r>
            <a:r>
              <a:rPr lang="es-ES" sz="1200" b="1" dirty="0" err="1">
                <a:solidFill>
                  <a:srgbClr val="C00000"/>
                </a:solidFill>
                <a:latin typeface="Century Gothic" panose="020B0502020202020204" pitchFamily="34" charset="0"/>
                <a:cs typeface="Arial" charset="0"/>
                <a:sym typeface="Arial" charset="0"/>
              </a:rPr>
              <a:t>FCL</a:t>
            </a:r>
            <a:r>
              <a:rPr lang="es-ES" sz="1200" b="1" dirty="0">
                <a:solidFill>
                  <a:srgbClr val="C00000"/>
                </a:solidFill>
                <a:latin typeface="Century Gothic" panose="020B0502020202020204" pitchFamily="34" charset="0"/>
                <a:cs typeface="Arial" charset="0"/>
                <a:sym typeface="Arial" charset="0"/>
              </a:rPr>
              <a:t>)</a:t>
            </a:r>
            <a:endParaRPr lang="es-ES" sz="1600" b="1" dirty="0">
              <a:solidFill>
                <a:srgbClr val="C00000"/>
              </a:solidFill>
              <a:latin typeface="Century Gothic" panose="020B0502020202020204" pitchFamily="34" charset="0"/>
              <a:cs typeface="Arial" charset="0"/>
              <a:sym typeface="Arial" charset="0"/>
            </a:endParaRPr>
          </a:p>
        </p:txBody>
      </p:sp>
      <p:sp>
        <p:nvSpPr>
          <p:cNvPr id="11" name="Line 2">
            <a:extLst>
              <a:ext uri="{FF2B5EF4-FFF2-40B4-BE49-F238E27FC236}">
                <a16:creationId xmlns:a16="http://schemas.microsoft.com/office/drawing/2014/main" id="{95965A60-2465-44D6-936E-670947EB4270}"/>
              </a:ext>
            </a:extLst>
          </p:cNvPr>
          <p:cNvSpPr>
            <a:spLocks noChangeShapeType="1"/>
          </p:cNvSpPr>
          <p:nvPr/>
        </p:nvSpPr>
        <p:spPr bwMode="auto">
          <a:xfrm flipV="1">
            <a:off x="6107828" y="3293072"/>
            <a:ext cx="3540125" cy="12700"/>
          </a:xfrm>
          <a:prstGeom prst="line">
            <a:avLst/>
          </a:prstGeom>
          <a:noFill/>
          <a:ln w="25400" cap="flat" cmpd="sng">
            <a:solidFill>
              <a:schemeClr val="accent6"/>
            </a:solidFill>
            <a:prstDash val="solid"/>
            <a:round/>
            <a:headEnd/>
            <a:tailEnd/>
          </a:ln>
          <a:effectLst>
            <a:outerShdw blurRad="38100" dist="20000" dir="5400000" algn="ctr" rotWithShape="0">
              <a:srgbClr val="000000">
                <a:alpha val="37999"/>
              </a:srgbClr>
            </a:outerShdw>
          </a:effectLst>
          <a:extLst>
            <a:ext uri="{909E8E84-426E-40dd-AFC4-6F175D3DCCD1}">
              <a14:hiddenFill xmlns="" xmlns:a14="http://schemas.microsoft.com/office/drawing/2010/main">
                <a:noFill/>
              </a14:hiddenFill>
            </a:ext>
          </a:extLst>
        </p:spPr>
        <p:txBody>
          <a:bodyPr lIns="45719" tIns="45719" rIns="45719" bIns="45719"/>
          <a:lstStyle/>
          <a:p>
            <a:endParaRPr lang="es-ES" sz="1200">
              <a:latin typeface="Helvetica" charset="0"/>
              <a:cs typeface="Helvetica" charset="0"/>
              <a:sym typeface="Helvetica" charset="0"/>
            </a:endParaRPr>
          </a:p>
        </p:txBody>
      </p:sp>
      <p:sp>
        <p:nvSpPr>
          <p:cNvPr id="12" name="Line 3">
            <a:extLst>
              <a:ext uri="{FF2B5EF4-FFF2-40B4-BE49-F238E27FC236}">
                <a16:creationId xmlns:a16="http://schemas.microsoft.com/office/drawing/2014/main" id="{8F41999D-96F8-4F8F-B673-8079EE020A2F}"/>
              </a:ext>
            </a:extLst>
          </p:cNvPr>
          <p:cNvSpPr>
            <a:spLocks noChangeShapeType="1"/>
          </p:cNvSpPr>
          <p:nvPr/>
        </p:nvSpPr>
        <p:spPr bwMode="auto">
          <a:xfrm flipV="1">
            <a:off x="6096000" y="4764656"/>
            <a:ext cx="3540125" cy="14287"/>
          </a:xfrm>
          <a:prstGeom prst="line">
            <a:avLst/>
          </a:prstGeom>
          <a:noFill/>
          <a:ln w="25400" cap="flat" cmpd="sng">
            <a:solidFill>
              <a:schemeClr val="accent6"/>
            </a:solidFill>
            <a:prstDash val="solid"/>
            <a:round/>
            <a:headEnd/>
            <a:tailEnd/>
          </a:ln>
          <a:effectLst>
            <a:outerShdw blurRad="38100" dist="20000" dir="5400000" algn="ctr" rotWithShape="0">
              <a:srgbClr val="000000">
                <a:alpha val="37999"/>
              </a:srgbClr>
            </a:outerShdw>
          </a:effectLst>
          <a:extLst>
            <a:ext uri="{909E8E84-426E-40dd-AFC4-6F175D3DCCD1}">
              <a14:hiddenFill xmlns="" xmlns:a14="http://schemas.microsoft.com/office/drawing/2010/main">
                <a:noFill/>
              </a14:hiddenFill>
            </a:ext>
          </a:extLst>
        </p:spPr>
        <p:txBody>
          <a:bodyPr lIns="45719" tIns="45719" rIns="45719" bIns="45719"/>
          <a:lstStyle/>
          <a:p>
            <a:endParaRPr lang="es-ES" sz="1200">
              <a:latin typeface="Helvetica" charset="0"/>
              <a:cs typeface="Helvetica" charset="0"/>
              <a:sym typeface="Helvetica" charset="0"/>
            </a:endParaRPr>
          </a:p>
        </p:txBody>
      </p:sp>
      <p:grpSp>
        <p:nvGrpSpPr>
          <p:cNvPr id="13" name="Group 4">
            <a:extLst>
              <a:ext uri="{FF2B5EF4-FFF2-40B4-BE49-F238E27FC236}">
                <a16:creationId xmlns:a16="http://schemas.microsoft.com/office/drawing/2014/main" id="{C00C16A1-67E3-4133-BE90-BC0FA154A4B7}"/>
              </a:ext>
            </a:extLst>
          </p:cNvPr>
          <p:cNvGrpSpPr>
            <a:grpSpLocks/>
          </p:cNvGrpSpPr>
          <p:nvPr/>
        </p:nvGrpSpPr>
        <p:grpSpPr bwMode="auto">
          <a:xfrm>
            <a:off x="8795541" y="2582099"/>
            <a:ext cx="2089276" cy="591255"/>
            <a:chOff x="-503459" y="0"/>
            <a:chExt cx="2089669" cy="591792"/>
          </a:xfrm>
        </p:grpSpPr>
        <p:sp>
          <p:nvSpPr>
            <p:cNvPr id="14" name="AutoShape 5">
              <a:extLst>
                <a:ext uri="{FF2B5EF4-FFF2-40B4-BE49-F238E27FC236}">
                  <a16:creationId xmlns:a16="http://schemas.microsoft.com/office/drawing/2014/main" id="{F2E07C4B-76FB-4470-82E1-FD7B3FA574AE}"/>
                </a:ext>
              </a:extLst>
            </p:cNvPr>
            <p:cNvSpPr>
              <a:spLocks/>
            </p:cNvSpPr>
            <p:nvPr/>
          </p:nvSpPr>
          <p:spPr bwMode="auto">
            <a:xfrm>
              <a:off x="439548" y="0"/>
              <a:ext cx="1146662" cy="59179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solidFill>
              <a:srgbClr val="9BBB59"/>
            </a:solidFill>
            <a:ln w="25400" cap="flat" cmpd="sng">
              <a:solidFill>
                <a:srgbClr val="718841"/>
              </a:solidFill>
              <a:prstDash val="solid"/>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lstStyle/>
            <a:p>
              <a:pPr algn="ctr"/>
              <a:endParaRPr lang="es-ES" sz="1100" b="1">
                <a:solidFill>
                  <a:srgbClr val="404040"/>
                </a:solidFill>
              </a:endParaRPr>
            </a:p>
          </p:txBody>
        </p:sp>
        <p:sp>
          <p:nvSpPr>
            <p:cNvPr id="15" name="Line 6">
              <a:extLst>
                <a:ext uri="{FF2B5EF4-FFF2-40B4-BE49-F238E27FC236}">
                  <a16:creationId xmlns:a16="http://schemas.microsoft.com/office/drawing/2014/main" id="{81E71644-F173-49C4-8944-9F549066BFD6}"/>
                </a:ext>
              </a:extLst>
            </p:cNvPr>
            <p:cNvSpPr>
              <a:spLocks noChangeShapeType="1"/>
            </p:cNvSpPr>
            <p:nvPr/>
          </p:nvSpPr>
          <p:spPr bwMode="auto">
            <a:xfrm flipH="1">
              <a:off x="-503459" y="298861"/>
              <a:ext cx="943006" cy="224528"/>
            </a:xfrm>
            <a:prstGeom prst="line">
              <a:avLst/>
            </a:prstGeom>
            <a:noFill/>
            <a:ln w="25400" cap="flat" cmpd="sng">
              <a:solidFill>
                <a:srgbClr val="718841"/>
              </a:solidFill>
              <a:prstDash val="solid"/>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endParaRPr lang="es-ES" sz="1200">
                <a:latin typeface="Helvetica" charset="0"/>
                <a:cs typeface="Helvetica" charset="0"/>
                <a:sym typeface="Helvetica" charset="0"/>
              </a:endParaRPr>
            </a:p>
          </p:txBody>
        </p:sp>
        <p:sp>
          <p:nvSpPr>
            <p:cNvPr id="16" name="AutoShape 7">
              <a:extLst>
                <a:ext uri="{FF2B5EF4-FFF2-40B4-BE49-F238E27FC236}">
                  <a16:creationId xmlns:a16="http://schemas.microsoft.com/office/drawing/2014/main" id="{2DDE185C-E335-4CA8-B7D2-E1F0FE078FBF}"/>
                </a:ext>
              </a:extLst>
            </p:cNvPr>
            <p:cNvSpPr>
              <a:spLocks/>
            </p:cNvSpPr>
            <p:nvPr/>
          </p:nvSpPr>
          <p:spPr bwMode="auto">
            <a:xfrm>
              <a:off x="439548" y="2525"/>
              <a:ext cx="1146662" cy="58674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lstStyle/>
            <a:p>
              <a:pPr algn="ctr"/>
              <a:r>
                <a:rPr lang="es-ES" sz="1100" b="1">
                  <a:solidFill>
                    <a:srgbClr val="404040"/>
                  </a:solidFill>
                  <a:latin typeface="Century Gothic" panose="020B0502020202020204" pitchFamily="34" charset="0"/>
                </a:rPr>
                <a:t>No es un movimiento de efectivo</a:t>
              </a:r>
              <a:endParaRPr lang="es-ES">
                <a:latin typeface="Century Gothic" panose="020B0502020202020204" pitchFamily="34" charset="0"/>
              </a:endParaRPr>
            </a:p>
          </p:txBody>
        </p:sp>
      </p:grpSp>
      <p:grpSp>
        <p:nvGrpSpPr>
          <p:cNvPr id="17" name="Group 8">
            <a:extLst>
              <a:ext uri="{FF2B5EF4-FFF2-40B4-BE49-F238E27FC236}">
                <a16:creationId xmlns:a16="http://schemas.microsoft.com/office/drawing/2014/main" id="{FA3A9814-B4EA-43D8-AAC5-07D29AE1EE7A}"/>
              </a:ext>
            </a:extLst>
          </p:cNvPr>
          <p:cNvGrpSpPr>
            <a:grpSpLocks/>
          </p:cNvGrpSpPr>
          <p:nvPr/>
        </p:nvGrpSpPr>
        <p:grpSpPr bwMode="auto">
          <a:xfrm>
            <a:off x="9552340" y="3909654"/>
            <a:ext cx="2011920" cy="592667"/>
            <a:chOff x="-27549" y="20598"/>
            <a:chExt cx="2012196" cy="591792"/>
          </a:xfrm>
        </p:grpSpPr>
        <p:sp>
          <p:nvSpPr>
            <p:cNvPr id="18" name="AutoShape 9">
              <a:extLst>
                <a:ext uri="{FF2B5EF4-FFF2-40B4-BE49-F238E27FC236}">
                  <a16:creationId xmlns:a16="http://schemas.microsoft.com/office/drawing/2014/main" id="{E248657D-1458-4909-BCAE-C907AE0F9C0D}"/>
                </a:ext>
              </a:extLst>
            </p:cNvPr>
            <p:cNvSpPr>
              <a:spLocks/>
            </p:cNvSpPr>
            <p:nvPr/>
          </p:nvSpPr>
          <p:spPr bwMode="auto">
            <a:xfrm>
              <a:off x="549959" y="20598"/>
              <a:ext cx="1434688" cy="59179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solidFill>
              <a:srgbClr val="9BBB59"/>
            </a:solidFill>
            <a:ln w="25400" cap="flat" cmpd="sng">
              <a:solidFill>
                <a:srgbClr val="718841"/>
              </a:solidFill>
              <a:prstDash val="solid"/>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lstStyle/>
            <a:p>
              <a:pPr algn="ctr"/>
              <a:endParaRPr lang="es-ES" sz="1100" b="1">
                <a:solidFill>
                  <a:srgbClr val="404040"/>
                </a:solidFill>
                <a:latin typeface="Century Gothic" panose="020B0502020202020204" pitchFamily="34" charset="0"/>
              </a:endParaRPr>
            </a:p>
          </p:txBody>
        </p:sp>
        <p:sp>
          <p:nvSpPr>
            <p:cNvPr id="19" name="Line 10">
              <a:extLst>
                <a:ext uri="{FF2B5EF4-FFF2-40B4-BE49-F238E27FC236}">
                  <a16:creationId xmlns:a16="http://schemas.microsoft.com/office/drawing/2014/main" id="{09E79C21-9730-4B35-B1C8-843A50358411}"/>
                </a:ext>
              </a:extLst>
            </p:cNvPr>
            <p:cNvSpPr>
              <a:spLocks noChangeShapeType="1"/>
            </p:cNvSpPr>
            <p:nvPr/>
          </p:nvSpPr>
          <p:spPr bwMode="auto">
            <a:xfrm flipH="1" flipV="1">
              <a:off x="-27549" y="318617"/>
              <a:ext cx="577507" cy="7431"/>
            </a:xfrm>
            <a:prstGeom prst="line">
              <a:avLst/>
            </a:prstGeom>
            <a:noFill/>
            <a:ln w="25400" cap="flat" cmpd="sng">
              <a:solidFill>
                <a:srgbClr val="718841"/>
              </a:solidFill>
              <a:prstDash val="solid"/>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endParaRPr lang="es-ES" sz="1200">
                <a:latin typeface="Century Gothic" panose="020B0502020202020204" pitchFamily="34" charset="0"/>
                <a:cs typeface="Helvetica" charset="0"/>
                <a:sym typeface="Helvetica" charset="0"/>
              </a:endParaRPr>
            </a:p>
          </p:txBody>
        </p:sp>
        <p:sp>
          <p:nvSpPr>
            <p:cNvPr id="20" name="AutoShape 11">
              <a:extLst>
                <a:ext uri="{FF2B5EF4-FFF2-40B4-BE49-F238E27FC236}">
                  <a16:creationId xmlns:a16="http://schemas.microsoft.com/office/drawing/2014/main" id="{D0CACD57-2A90-4531-965E-B80A3B1105B2}"/>
                </a:ext>
              </a:extLst>
            </p:cNvPr>
            <p:cNvSpPr>
              <a:spLocks/>
            </p:cNvSpPr>
            <p:nvPr/>
          </p:nvSpPr>
          <p:spPr bwMode="auto">
            <a:xfrm>
              <a:off x="549959" y="85075"/>
              <a:ext cx="1434688" cy="42164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lstStyle/>
            <a:p>
              <a:pPr algn="ctr"/>
              <a:r>
                <a:rPr lang="es-ES" sz="1100" b="1">
                  <a:solidFill>
                    <a:srgbClr val="404040"/>
                  </a:solidFill>
                  <a:latin typeface="Century Gothic" panose="020B0502020202020204" pitchFamily="34" charset="0"/>
                </a:rPr>
                <a:t>Ajusta por el principio de pertinencia</a:t>
              </a:r>
              <a:endParaRPr lang="es-ES">
                <a:latin typeface="Century Gothic" panose="020B0502020202020204" pitchFamily="34" charset="0"/>
              </a:endParaRPr>
            </a:p>
          </p:txBody>
        </p:sp>
      </p:grpSp>
      <p:sp>
        <p:nvSpPr>
          <p:cNvPr id="21" name="AutoShape 12">
            <a:extLst>
              <a:ext uri="{FF2B5EF4-FFF2-40B4-BE49-F238E27FC236}">
                <a16:creationId xmlns:a16="http://schemas.microsoft.com/office/drawing/2014/main" id="{0AB2EF50-16C8-4D4A-92FC-452F1F6D0547}"/>
              </a:ext>
            </a:extLst>
          </p:cNvPr>
          <p:cNvSpPr>
            <a:spLocks/>
          </p:cNvSpPr>
          <p:nvPr/>
        </p:nvSpPr>
        <p:spPr bwMode="auto">
          <a:xfrm>
            <a:off x="1499315" y="1808079"/>
            <a:ext cx="5403850" cy="304323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45719" tIns="45719" rIns="45719" bIns="45719" anchor="t"/>
          <a:lstStyle/>
          <a:p>
            <a:pPr lvl="1">
              <a:lnSpc>
                <a:spcPct val="120000"/>
              </a:lnSpc>
            </a:pPr>
            <a:r>
              <a:rPr lang="es-ES" sz="1600" b="1" dirty="0">
                <a:solidFill>
                  <a:srgbClr val="800000"/>
                </a:solidFill>
                <a:latin typeface="Century Gothic" panose="020B0502020202020204" pitchFamily="34" charset="0"/>
                <a:cs typeface="Arial" charset="0"/>
                <a:sym typeface="Arial" charset="0"/>
              </a:rPr>
              <a:t>Estado de Resultados</a:t>
            </a:r>
            <a:endParaRPr lang="es-ES" sz="1600" b="1" dirty="0">
              <a:latin typeface="Century Gothic" panose="020B0502020202020204" pitchFamily="34" charset="0"/>
              <a:cs typeface="Arial" charset="0"/>
              <a:sym typeface="Arial" charset="0"/>
            </a:endParaRPr>
          </a:p>
          <a:p>
            <a:pPr lvl="1">
              <a:lnSpc>
                <a:spcPct val="120000"/>
              </a:lnSpc>
            </a:pPr>
            <a:r>
              <a:rPr lang="es-ES" sz="1600" dirty="0">
                <a:solidFill>
                  <a:schemeClr val="accent1"/>
                </a:solidFill>
                <a:latin typeface="Century Gothic" panose="020B0502020202020204" pitchFamily="34" charset="0"/>
                <a:cs typeface="Arial" charset="0"/>
                <a:sym typeface="Arial" charset="0"/>
              </a:rPr>
              <a:t>(+) Ingresos</a:t>
            </a:r>
          </a:p>
          <a:p>
            <a:pPr lvl="1">
              <a:lnSpc>
                <a:spcPct val="120000"/>
              </a:lnSpc>
            </a:pPr>
            <a:r>
              <a:rPr lang="es-ES" sz="1600" dirty="0">
                <a:solidFill>
                  <a:schemeClr val="accent1"/>
                </a:solidFill>
                <a:latin typeface="Century Gothic" panose="020B0502020202020204" pitchFamily="34" charset="0"/>
                <a:cs typeface="Arial" charset="0"/>
                <a:sym typeface="Arial" charset="0"/>
              </a:rPr>
              <a:t>(-)  Costos de Ventas</a:t>
            </a:r>
          </a:p>
          <a:p>
            <a:pPr lvl="1">
              <a:lnSpc>
                <a:spcPct val="120000"/>
              </a:lnSpc>
            </a:pPr>
            <a:r>
              <a:rPr lang="es-ES" sz="1600" b="1" dirty="0">
                <a:solidFill>
                  <a:schemeClr val="accent1"/>
                </a:solidFill>
                <a:latin typeface="Century Gothic" panose="020B0502020202020204" pitchFamily="34" charset="0"/>
                <a:cs typeface="Arial" charset="0"/>
                <a:sym typeface="Arial" charset="0"/>
              </a:rPr>
              <a:t>      Utilidad Bruta</a:t>
            </a:r>
            <a:endParaRPr lang="es-ES" sz="1600" dirty="0">
              <a:solidFill>
                <a:schemeClr val="accent1"/>
              </a:solidFill>
              <a:latin typeface="Century Gothic" panose="020B0502020202020204" pitchFamily="34" charset="0"/>
              <a:cs typeface="Arial" charset="0"/>
              <a:sym typeface="Arial" charset="0"/>
            </a:endParaRPr>
          </a:p>
          <a:p>
            <a:pPr lvl="1">
              <a:lnSpc>
                <a:spcPct val="120000"/>
              </a:lnSpc>
            </a:pPr>
            <a:r>
              <a:rPr lang="es-ES" sz="1600" dirty="0">
                <a:solidFill>
                  <a:schemeClr val="accent1"/>
                </a:solidFill>
                <a:latin typeface="Century Gothic"/>
                <a:cs typeface="Arial"/>
                <a:sym typeface="Arial" charset="0"/>
              </a:rPr>
              <a:t>(-)  Gastos AOM</a:t>
            </a:r>
          </a:p>
          <a:p>
            <a:pPr lvl="1">
              <a:lnSpc>
                <a:spcPct val="120000"/>
              </a:lnSpc>
            </a:pPr>
            <a:r>
              <a:rPr lang="es-ES" sz="1600" dirty="0">
                <a:solidFill>
                  <a:schemeClr val="accent1"/>
                </a:solidFill>
                <a:latin typeface="Century Gothic" panose="020B0502020202020204" pitchFamily="34" charset="0"/>
                <a:cs typeface="Arial" charset="0"/>
                <a:sym typeface="Arial" charset="0"/>
              </a:rPr>
              <a:t>(-)  Depreciaciones &amp; Amortizaciones</a:t>
            </a:r>
          </a:p>
          <a:p>
            <a:pPr lvl="1">
              <a:lnSpc>
                <a:spcPct val="120000"/>
              </a:lnSpc>
            </a:pPr>
            <a:r>
              <a:rPr lang="es-ES" sz="1600" b="1" dirty="0">
                <a:solidFill>
                  <a:schemeClr val="accent1"/>
                </a:solidFill>
                <a:latin typeface="Century Gothic" panose="020B0502020202020204" pitchFamily="34" charset="0"/>
                <a:cs typeface="Arial" charset="0"/>
                <a:sym typeface="Arial" charset="0"/>
              </a:rPr>
              <a:t>      EBIT</a:t>
            </a:r>
            <a:endParaRPr lang="es-ES" sz="1600" dirty="0">
              <a:solidFill>
                <a:schemeClr val="accent1"/>
              </a:solidFill>
              <a:latin typeface="Century Gothic" panose="020B0502020202020204" pitchFamily="34" charset="0"/>
              <a:cs typeface="Arial" charset="0"/>
              <a:sym typeface="Arial" charset="0"/>
            </a:endParaRPr>
          </a:p>
          <a:p>
            <a:pPr lvl="1">
              <a:lnSpc>
                <a:spcPct val="120000"/>
              </a:lnSpc>
            </a:pPr>
            <a:r>
              <a:rPr lang="es-ES" sz="1600" dirty="0">
                <a:solidFill>
                  <a:schemeClr val="accent1"/>
                </a:solidFill>
                <a:latin typeface="Century Gothic" panose="020B0502020202020204" pitchFamily="34" charset="0"/>
                <a:cs typeface="Arial" charset="0"/>
                <a:sym typeface="Arial" charset="0"/>
              </a:rPr>
              <a:t>(+) Otros ingresos/Otros egresos</a:t>
            </a:r>
          </a:p>
          <a:p>
            <a:pPr lvl="1">
              <a:lnSpc>
                <a:spcPct val="120000"/>
              </a:lnSpc>
            </a:pPr>
            <a:r>
              <a:rPr lang="es-ES" sz="1600" b="1" dirty="0">
                <a:solidFill>
                  <a:schemeClr val="accent1"/>
                </a:solidFill>
                <a:latin typeface="Century Gothic" panose="020B0502020202020204" pitchFamily="34" charset="0"/>
                <a:cs typeface="Arial" charset="0"/>
                <a:sym typeface="Arial" charset="0"/>
              </a:rPr>
              <a:t>     Utilidad Antes de Impuestos</a:t>
            </a:r>
            <a:endParaRPr lang="es-ES" sz="1600" dirty="0">
              <a:solidFill>
                <a:schemeClr val="accent1"/>
              </a:solidFill>
              <a:latin typeface="Century Gothic" panose="020B0502020202020204" pitchFamily="34" charset="0"/>
              <a:cs typeface="Arial" charset="0"/>
              <a:sym typeface="Arial" charset="0"/>
            </a:endParaRPr>
          </a:p>
          <a:p>
            <a:pPr lvl="1">
              <a:lnSpc>
                <a:spcPct val="120000"/>
              </a:lnSpc>
            </a:pPr>
            <a:r>
              <a:rPr lang="es-ES" sz="1600" dirty="0">
                <a:solidFill>
                  <a:schemeClr val="accent1"/>
                </a:solidFill>
                <a:latin typeface="Century Gothic"/>
                <a:cs typeface="Arial"/>
                <a:sym typeface="Arial" charset="0"/>
              </a:rPr>
              <a:t>(-) Impuestos </a:t>
            </a:r>
            <a:endParaRPr lang="es-ES" sz="1600" dirty="0">
              <a:solidFill>
                <a:schemeClr val="accent1"/>
              </a:solidFill>
              <a:latin typeface="Century Gothic" panose="020B0502020202020204" pitchFamily="34" charset="0"/>
              <a:cs typeface="Arial" charset="0"/>
            </a:endParaRPr>
          </a:p>
          <a:p>
            <a:pPr lvl="1">
              <a:lnSpc>
                <a:spcPct val="120000"/>
              </a:lnSpc>
            </a:pPr>
            <a:r>
              <a:rPr lang="es-ES" sz="1600" b="1" dirty="0">
                <a:solidFill>
                  <a:srgbClr val="800000"/>
                </a:solidFill>
                <a:latin typeface="Century Gothic" panose="020B0502020202020204" pitchFamily="34" charset="0"/>
                <a:cs typeface="Arial" charset="0"/>
                <a:sym typeface="Arial" charset="0"/>
              </a:rPr>
              <a:t>     Utilidad Neta</a:t>
            </a:r>
            <a:endParaRPr lang="es-ES" sz="1600" dirty="0">
              <a:latin typeface="Century Gothic" panose="020B0502020202020204" pitchFamily="34" charset="0"/>
            </a:endParaRPr>
          </a:p>
        </p:txBody>
      </p:sp>
      <p:sp>
        <p:nvSpPr>
          <p:cNvPr id="22" name="Line 13">
            <a:extLst>
              <a:ext uri="{FF2B5EF4-FFF2-40B4-BE49-F238E27FC236}">
                <a16:creationId xmlns:a16="http://schemas.microsoft.com/office/drawing/2014/main" id="{7F948A51-3689-49F4-AAB7-0943164E33E2}"/>
              </a:ext>
            </a:extLst>
          </p:cNvPr>
          <p:cNvSpPr>
            <a:spLocks noChangeShapeType="1"/>
          </p:cNvSpPr>
          <p:nvPr/>
        </p:nvSpPr>
        <p:spPr bwMode="auto">
          <a:xfrm flipV="1">
            <a:off x="1980327" y="2134764"/>
            <a:ext cx="3236441" cy="0"/>
          </a:xfrm>
          <a:prstGeom prst="line">
            <a:avLst/>
          </a:prstGeom>
          <a:noFill/>
          <a:ln w="28575" cap="flat" cmpd="sng">
            <a:solidFill>
              <a:schemeClr val="accent6"/>
            </a:solidFill>
            <a:prstDash val="solid"/>
            <a:round/>
            <a:headEnd/>
            <a:tailEnd/>
          </a:ln>
          <a:effectLst>
            <a:outerShdw blurRad="38100" dist="20000" dir="5400000" algn="ctr" rotWithShape="0">
              <a:srgbClr val="000000">
                <a:alpha val="37999"/>
              </a:srgbClr>
            </a:outerShdw>
          </a:effectLst>
          <a:extLst>
            <a:ext uri="{909E8E84-426E-40dd-AFC4-6F175D3DCCD1}">
              <a14:hiddenFill xmlns="" xmlns:a14="http://schemas.microsoft.com/office/drawing/2010/main">
                <a:noFill/>
              </a14:hiddenFill>
            </a:ext>
          </a:extLst>
        </p:spPr>
        <p:txBody>
          <a:bodyPr lIns="45719" tIns="45719" rIns="45719" bIns="45719"/>
          <a:lstStyle/>
          <a:p>
            <a:endParaRPr lang="es-ES" sz="1200">
              <a:latin typeface="Helvetica" charset="0"/>
              <a:cs typeface="Helvetica" charset="0"/>
              <a:sym typeface="Helvetica" charset="0"/>
            </a:endParaRPr>
          </a:p>
        </p:txBody>
      </p:sp>
      <p:sp>
        <p:nvSpPr>
          <p:cNvPr id="23" name="Line 14">
            <a:extLst>
              <a:ext uri="{FF2B5EF4-FFF2-40B4-BE49-F238E27FC236}">
                <a16:creationId xmlns:a16="http://schemas.microsoft.com/office/drawing/2014/main" id="{48E6580B-A7DC-442B-8F03-7898164659B2}"/>
              </a:ext>
            </a:extLst>
          </p:cNvPr>
          <p:cNvSpPr>
            <a:spLocks noChangeShapeType="1"/>
          </p:cNvSpPr>
          <p:nvPr/>
        </p:nvSpPr>
        <p:spPr bwMode="auto">
          <a:xfrm>
            <a:off x="1980327" y="2755329"/>
            <a:ext cx="3232065" cy="19035"/>
          </a:xfrm>
          <a:prstGeom prst="line">
            <a:avLst/>
          </a:prstGeom>
          <a:noFill/>
          <a:ln w="25400" cap="flat" cmpd="sng">
            <a:solidFill>
              <a:schemeClr val="accent6"/>
            </a:solidFill>
            <a:prstDash val="solid"/>
            <a:round/>
            <a:headEnd/>
            <a:tailEnd/>
          </a:ln>
          <a:effectLst>
            <a:outerShdw blurRad="38100" dist="20000" dir="5400000" algn="ctr" rotWithShape="0">
              <a:srgbClr val="000000">
                <a:alpha val="37999"/>
              </a:srgbClr>
            </a:outerShdw>
          </a:effectLst>
          <a:extLst>
            <a:ext uri="{909E8E84-426E-40dd-AFC4-6F175D3DCCD1}">
              <a14:hiddenFill xmlns="" xmlns:a14="http://schemas.microsoft.com/office/drawing/2010/main">
                <a:noFill/>
              </a14:hiddenFill>
            </a:ext>
          </a:extLst>
        </p:spPr>
        <p:txBody>
          <a:bodyPr lIns="45719" tIns="45719" rIns="45719" bIns="45719"/>
          <a:lstStyle/>
          <a:p>
            <a:endParaRPr lang="es-ES" sz="1200">
              <a:latin typeface="Helvetica" charset="0"/>
              <a:cs typeface="Helvetica" charset="0"/>
              <a:sym typeface="Helvetica" charset="0"/>
            </a:endParaRPr>
          </a:p>
        </p:txBody>
      </p:sp>
      <p:sp>
        <p:nvSpPr>
          <p:cNvPr id="24" name="Line 15">
            <a:extLst>
              <a:ext uri="{FF2B5EF4-FFF2-40B4-BE49-F238E27FC236}">
                <a16:creationId xmlns:a16="http://schemas.microsoft.com/office/drawing/2014/main" id="{587FAFE0-035A-4178-850C-0B77729D02A8}"/>
              </a:ext>
            </a:extLst>
          </p:cNvPr>
          <p:cNvSpPr>
            <a:spLocks noChangeShapeType="1"/>
          </p:cNvSpPr>
          <p:nvPr/>
        </p:nvSpPr>
        <p:spPr bwMode="auto">
          <a:xfrm flipV="1">
            <a:off x="2016841" y="3602791"/>
            <a:ext cx="3232065" cy="24501"/>
          </a:xfrm>
          <a:prstGeom prst="line">
            <a:avLst/>
          </a:prstGeom>
          <a:noFill/>
          <a:ln w="25400" cap="flat" cmpd="sng">
            <a:solidFill>
              <a:schemeClr val="accent6"/>
            </a:solidFill>
            <a:prstDash val="solid"/>
            <a:round/>
            <a:headEnd/>
            <a:tailEnd/>
          </a:ln>
          <a:effectLst>
            <a:outerShdw blurRad="38100" dist="20000" dir="5400000" algn="ctr" rotWithShape="0">
              <a:srgbClr val="000000">
                <a:alpha val="37999"/>
              </a:srgbClr>
            </a:outerShdw>
          </a:effectLst>
          <a:extLst>
            <a:ext uri="{909E8E84-426E-40dd-AFC4-6F175D3DCCD1}">
              <a14:hiddenFill xmlns="" xmlns:a14="http://schemas.microsoft.com/office/drawing/2010/main">
                <a:noFill/>
              </a14:hiddenFill>
            </a:ext>
          </a:extLst>
        </p:spPr>
        <p:txBody>
          <a:bodyPr lIns="45719" tIns="45719" rIns="45719" bIns="45719"/>
          <a:lstStyle/>
          <a:p>
            <a:endParaRPr lang="es-ES" sz="1200">
              <a:latin typeface="Helvetica" charset="0"/>
              <a:cs typeface="Helvetica" charset="0"/>
              <a:sym typeface="Helvetica" charset="0"/>
            </a:endParaRPr>
          </a:p>
        </p:txBody>
      </p:sp>
      <p:sp>
        <p:nvSpPr>
          <p:cNvPr id="25" name="Line 16">
            <a:extLst>
              <a:ext uri="{FF2B5EF4-FFF2-40B4-BE49-F238E27FC236}">
                <a16:creationId xmlns:a16="http://schemas.microsoft.com/office/drawing/2014/main" id="{5785FD63-D41B-46BB-ACA3-3C024718DC88}"/>
              </a:ext>
            </a:extLst>
          </p:cNvPr>
          <p:cNvSpPr>
            <a:spLocks noChangeShapeType="1"/>
          </p:cNvSpPr>
          <p:nvPr/>
        </p:nvSpPr>
        <p:spPr bwMode="auto">
          <a:xfrm flipV="1">
            <a:off x="2016841" y="4181488"/>
            <a:ext cx="3232065" cy="24500"/>
          </a:xfrm>
          <a:prstGeom prst="line">
            <a:avLst/>
          </a:prstGeom>
          <a:noFill/>
          <a:ln w="25400" cap="flat" cmpd="sng">
            <a:solidFill>
              <a:schemeClr val="accent6"/>
            </a:solidFill>
            <a:prstDash val="solid"/>
            <a:round/>
            <a:headEnd/>
            <a:tailEnd/>
          </a:ln>
          <a:effectLst>
            <a:outerShdw blurRad="38100" dist="20000" dir="5400000" algn="ctr" rotWithShape="0">
              <a:srgbClr val="000000">
                <a:alpha val="37999"/>
              </a:srgbClr>
            </a:outerShdw>
          </a:effectLst>
          <a:extLst>
            <a:ext uri="{909E8E84-426E-40dd-AFC4-6F175D3DCCD1}">
              <a14:hiddenFill xmlns="" xmlns:a14="http://schemas.microsoft.com/office/drawing/2010/main">
                <a:noFill/>
              </a14:hiddenFill>
            </a:ext>
          </a:extLst>
        </p:spPr>
        <p:txBody>
          <a:bodyPr lIns="45719" tIns="45719" rIns="45719" bIns="45719"/>
          <a:lstStyle/>
          <a:p>
            <a:endParaRPr lang="es-ES" sz="1200">
              <a:latin typeface="Helvetica" charset="0"/>
              <a:cs typeface="Helvetica" charset="0"/>
              <a:sym typeface="Helvetica" charset="0"/>
            </a:endParaRPr>
          </a:p>
        </p:txBody>
      </p:sp>
      <p:sp>
        <p:nvSpPr>
          <p:cNvPr id="26" name="Line 17">
            <a:extLst>
              <a:ext uri="{FF2B5EF4-FFF2-40B4-BE49-F238E27FC236}">
                <a16:creationId xmlns:a16="http://schemas.microsoft.com/office/drawing/2014/main" id="{D43C1828-2757-45F4-860C-8BB2FC846152}"/>
              </a:ext>
            </a:extLst>
          </p:cNvPr>
          <p:cNvSpPr>
            <a:spLocks noChangeShapeType="1"/>
          </p:cNvSpPr>
          <p:nvPr/>
        </p:nvSpPr>
        <p:spPr bwMode="auto">
          <a:xfrm>
            <a:off x="2016841" y="4772354"/>
            <a:ext cx="3195551" cy="24500"/>
          </a:xfrm>
          <a:prstGeom prst="line">
            <a:avLst/>
          </a:prstGeom>
          <a:noFill/>
          <a:ln w="25400" cap="flat" cmpd="sng">
            <a:solidFill>
              <a:schemeClr val="accent6"/>
            </a:solidFill>
            <a:prstDash val="solid"/>
            <a:round/>
            <a:headEnd/>
            <a:tailEnd/>
          </a:ln>
          <a:effectLst>
            <a:outerShdw blurRad="38100" dist="20000" dir="5400000" algn="ctr" rotWithShape="0">
              <a:srgbClr val="000000">
                <a:alpha val="37999"/>
              </a:srgbClr>
            </a:outerShdw>
          </a:effectLst>
          <a:extLst>
            <a:ext uri="{909E8E84-426E-40dd-AFC4-6F175D3DCCD1}">
              <a14:hiddenFill xmlns="" xmlns:a14="http://schemas.microsoft.com/office/drawing/2010/main">
                <a:noFill/>
              </a14:hiddenFill>
            </a:ext>
          </a:extLst>
        </p:spPr>
        <p:txBody>
          <a:bodyPr lIns="45719" tIns="45719" rIns="45719" bIns="45719"/>
          <a:lstStyle/>
          <a:p>
            <a:endParaRPr lang="es-ES" sz="1200">
              <a:latin typeface="Helvetica" charset="0"/>
              <a:cs typeface="Helvetica" charset="0"/>
              <a:sym typeface="Helvetica" charset="0"/>
            </a:endParaRPr>
          </a:p>
        </p:txBody>
      </p:sp>
      <p:sp>
        <p:nvSpPr>
          <p:cNvPr id="27" name="AutoShape 18">
            <a:extLst>
              <a:ext uri="{FF2B5EF4-FFF2-40B4-BE49-F238E27FC236}">
                <a16:creationId xmlns:a16="http://schemas.microsoft.com/office/drawing/2014/main" id="{263612B4-87A7-4E3B-98B9-3598B1BEF3D0}"/>
              </a:ext>
            </a:extLst>
          </p:cNvPr>
          <p:cNvSpPr>
            <a:spLocks/>
          </p:cNvSpPr>
          <p:nvPr/>
        </p:nvSpPr>
        <p:spPr bwMode="auto">
          <a:xfrm rot="10800000" flipH="1">
            <a:off x="3023315" y="2791076"/>
            <a:ext cx="3513138" cy="96767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16816" y="0"/>
                </a:lnTo>
                <a:lnTo>
                  <a:pt x="16816" y="21599"/>
                </a:lnTo>
                <a:lnTo>
                  <a:pt x="21599" y="21599"/>
                </a:lnTo>
              </a:path>
            </a:pathLst>
          </a:custGeom>
          <a:noFill/>
          <a:ln w="25400" cap="flat" cmpd="sng">
            <a:solidFill>
              <a:srgbClr val="C00000"/>
            </a:solidFill>
            <a:prstDash val="solid"/>
            <a:round/>
            <a:headEnd/>
            <a:tailEnd type="triangle" w="med" len="med"/>
          </a:ln>
          <a:effectLst>
            <a:outerShdw blurRad="38100" dist="20000" dir="5400000" algn="ctr" rotWithShape="0">
              <a:srgbClr val="000000">
                <a:alpha val="37999"/>
              </a:srgbClr>
            </a:outerShdw>
          </a:effectLst>
          <a:extLst>
            <a:ext uri="{909E8E84-426E-40dd-AFC4-6F175D3DCCD1}">
              <a14:hiddenFill xmlns="" xmlns:a14="http://schemas.microsoft.com/office/drawing/2010/main">
                <a:solidFill>
                  <a:srgbClr val="FFFFFF"/>
                </a:solidFill>
              </a14:hiddenFill>
            </a:ext>
          </a:extLst>
        </p:spPr>
        <p:txBody>
          <a:bodyPr lIns="0" tIns="0" rIns="0" bIns="0" anchor="ctr"/>
          <a:lstStyle/>
          <a:p>
            <a:endParaRPr lang="es-ES"/>
          </a:p>
        </p:txBody>
      </p:sp>
      <p:grpSp>
        <p:nvGrpSpPr>
          <p:cNvPr id="28" name="Group 19">
            <a:extLst>
              <a:ext uri="{FF2B5EF4-FFF2-40B4-BE49-F238E27FC236}">
                <a16:creationId xmlns:a16="http://schemas.microsoft.com/office/drawing/2014/main" id="{A97BEFA3-859A-4CAD-831E-B2031B56659E}"/>
              </a:ext>
            </a:extLst>
          </p:cNvPr>
          <p:cNvGrpSpPr>
            <a:grpSpLocks/>
          </p:cNvGrpSpPr>
          <p:nvPr/>
        </p:nvGrpSpPr>
        <p:grpSpPr bwMode="auto">
          <a:xfrm>
            <a:off x="4279028" y="3895757"/>
            <a:ext cx="1865315" cy="1923831"/>
            <a:chOff x="0" y="-160233"/>
            <a:chExt cx="1865919" cy="1925196"/>
          </a:xfrm>
        </p:grpSpPr>
        <p:sp>
          <p:nvSpPr>
            <p:cNvPr id="29" name="AutoShape 20">
              <a:extLst>
                <a:ext uri="{FF2B5EF4-FFF2-40B4-BE49-F238E27FC236}">
                  <a16:creationId xmlns:a16="http://schemas.microsoft.com/office/drawing/2014/main" id="{B0DCA8CC-F8DD-4A20-ADCE-4B921B7BE6E5}"/>
                </a:ext>
              </a:extLst>
            </p:cNvPr>
            <p:cNvSpPr>
              <a:spLocks/>
            </p:cNvSpPr>
            <p:nvPr/>
          </p:nvSpPr>
          <p:spPr bwMode="auto">
            <a:xfrm>
              <a:off x="0" y="881726"/>
              <a:ext cx="1668950" cy="88323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solidFill>
              <a:srgbClr val="9BBB59"/>
            </a:solidFill>
            <a:ln w="25400" cap="flat" cmpd="sng">
              <a:solidFill>
                <a:srgbClr val="718841"/>
              </a:solidFill>
              <a:prstDash val="solid"/>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lstStyle/>
            <a:p>
              <a:pPr algn="ctr"/>
              <a:endParaRPr lang="es-ES" sz="1100" b="1">
                <a:solidFill>
                  <a:srgbClr val="404040"/>
                </a:solidFill>
              </a:endParaRPr>
            </a:p>
          </p:txBody>
        </p:sp>
        <p:sp>
          <p:nvSpPr>
            <p:cNvPr id="30" name="Line 21">
              <a:extLst>
                <a:ext uri="{FF2B5EF4-FFF2-40B4-BE49-F238E27FC236}">
                  <a16:creationId xmlns:a16="http://schemas.microsoft.com/office/drawing/2014/main" id="{30F96E37-4578-4D76-8629-E9BFD198A448}"/>
                </a:ext>
              </a:extLst>
            </p:cNvPr>
            <p:cNvSpPr>
              <a:spLocks noChangeShapeType="1"/>
            </p:cNvSpPr>
            <p:nvPr/>
          </p:nvSpPr>
          <p:spPr bwMode="auto">
            <a:xfrm flipV="1">
              <a:off x="933666" y="-160233"/>
              <a:ext cx="932253" cy="1048425"/>
            </a:xfrm>
            <a:prstGeom prst="line">
              <a:avLst/>
            </a:prstGeom>
            <a:noFill/>
            <a:ln w="25400" cap="flat" cmpd="sng">
              <a:solidFill>
                <a:srgbClr val="718841"/>
              </a:solidFill>
              <a:prstDash val="solid"/>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lstStyle/>
            <a:p>
              <a:endParaRPr lang="es-ES" sz="1200">
                <a:latin typeface="Helvetica" charset="0"/>
                <a:cs typeface="Helvetica" charset="0"/>
                <a:sym typeface="Helvetica" charset="0"/>
              </a:endParaRPr>
            </a:p>
          </p:txBody>
        </p:sp>
        <p:sp>
          <p:nvSpPr>
            <p:cNvPr id="31" name="AutoShape 22">
              <a:extLst>
                <a:ext uri="{FF2B5EF4-FFF2-40B4-BE49-F238E27FC236}">
                  <a16:creationId xmlns:a16="http://schemas.microsoft.com/office/drawing/2014/main" id="{A4E8CEF7-16A7-4A1D-9D8A-4B6D8CEC0C38}"/>
                </a:ext>
              </a:extLst>
            </p:cNvPr>
            <p:cNvSpPr>
              <a:spLocks/>
            </p:cNvSpPr>
            <p:nvPr/>
          </p:nvSpPr>
          <p:spPr bwMode="auto">
            <a:xfrm>
              <a:off x="0" y="1029974"/>
              <a:ext cx="1668950" cy="58674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0" tIns="0" rIns="0" bIns="0" anchor="ctr"/>
            <a:lstStyle/>
            <a:p>
              <a:pPr algn="ctr"/>
              <a:r>
                <a:rPr lang="es-ES" sz="1100" b="1">
                  <a:solidFill>
                    <a:srgbClr val="404040"/>
                  </a:solidFill>
                  <a:latin typeface="Century Gothic" panose="020B0502020202020204" pitchFamily="34" charset="0"/>
                </a:rPr>
                <a:t>Ajusta el principio de causación para que refleje el principio de caja</a:t>
              </a:r>
              <a:endParaRPr lang="es-ES">
                <a:latin typeface="Century Gothic" panose="020B0502020202020204" pitchFamily="34" charset="0"/>
              </a:endParaRPr>
            </a:p>
          </p:txBody>
        </p:sp>
      </p:grpSp>
      <p:sp>
        <p:nvSpPr>
          <p:cNvPr id="32" name="Rectángulo 31">
            <a:extLst>
              <a:ext uri="{FF2B5EF4-FFF2-40B4-BE49-F238E27FC236}">
                <a16:creationId xmlns:a16="http://schemas.microsoft.com/office/drawing/2014/main" id="{19F1C3A5-A8F4-465B-8CC6-6D3AC4653773}"/>
              </a:ext>
            </a:extLst>
          </p:cNvPr>
          <p:cNvSpPr/>
          <p:nvPr/>
        </p:nvSpPr>
        <p:spPr>
          <a:xfrm>
            <a:off x="1767011" y="6058936"/>
            <a:ext cx="7898318" cy="584775"/>
          </a:xfrm>
          <a:prstGeom prst="rect">
            <a:avLst/>
          </a:prstGeom>
          <a:solidFill>
            <a:srgbClr val="DFFFFF"/>
          </a:solidFill>
          <a:ln w="28575">
            <a:solidFill>
              <a:srgbClr val="0070C0"/>
            </a:solidFill>
          </a:ln>
        </p:spPr>
        <p:txBody>
          <a:bodyPr wrap="square">
            <a:spAutoFit/>
          </a:bodyPr>
          <a:lstStyle/>
          <a:p>
            <a:pPr algn="ctr">
              <a:spcBef>
                <a:spcPts val="400"/>
              </a:spcBef>
              <a:buClr>
                <a:srgbClr val="808080"/>
              </a:buClr>
              <a:buSzPct val="100000"/>
            </a:pPr>
            <a:r>
              <a:rPr lang="es-ES" sz="1600">
                <a:solidFill>
                  <a:schemeClr val="accent1"/>
                </a:solidFill>
                <a:latin typeface="Century Gothic" panose="020B0502020202020204" pitchFamily="34" charset="0"/>
                <a:sym typeface="Arial" charset="0"/>
              </a:rPr>
              <a:t>Este resultado sí representa las </a:t>
            </a:r>
            <a:r>
              <a:rPr lang="es-ES" sz="1600" b="1">
                <a:solidFill>
                  <a:srgbClr val="800000"/>
                </a:solidFill>
                <a:latin typeface="Century Gothic" panose="020B0502020202020204" pitchFamily="34" charset="0"/>
                <a:sym typeface="Arial" charset="0"/>
              </a:rPr>
              <a:t>entradas y salidas efectivas</a:t>
            </a:r>
            <a:r>
              <a:rPr lang="es-ES" sz="1600">
                <a:latin typeface="Century Gothic" panose="020B0502020202020204" pitchFamily="34" charset="0"/>
                <a:sym typeface="Arial" charset="0"/>
              </a:rPr>
              <a:t> </a:t>
            </a:r>
            <a:r>
              <a:rPr lang="es-ES" sz="1600">
                <a:solidFill>
                  <a:schemeClr val="accent1"/>
                </a:solidFill>
                <a:latin typeface="Century Gothic" panose="020B0502020202020204" pitchFamily="34" charset="0"/>
                <a:sym typeface="Arial" charset="0"/>
              </a:rPr>
              <a:t>de dinero, y da la información real sobre el desempeño de la operación de la compañía.</a:t>
            </a:r>
            <a:endParaRPr lang="es-ES" sz="1600">
              <a:solidFill>
                <a:schemeClr val="accent1"/>
              </a:solidFill>
              <a:latin typeface="Century Gothic" panose="020B0502020202020204" pitchFamily="34" charset="0"/>
            </a:endParaRPr>
          </a:p>
        </p:txBody>
      </p:sp>
      <p:cxnSp>
        <p:nvCxnSpPr>
          <p:cNvPr id="33" name="Conector recto 32">
            <a:extLst>
              <a:ext uri="{FF2B5EF4-FFF2-40B4-BE49-F238E27FC236}">
                <a16:creationId xmlns:a16="http://schemas.microsoft.com/office/drawing/2014/main" id="{2E9F8A88-7033-4E79-836A-38D5F8A3ACC3}"/>
              </a:ext>
            </a:extLst>
          </p:cNvPr>
          <p:cNvCxnSpPr/>
          <p:nvPr/>
        </p:nvCxnSpPr>
        <p:spPr>
          <a:xfrm>
            <a:off x="8765263" y="5343855"/>
            <a:ext cx="443869" cy="678095"/>
          </a:xfrm>
          <a:prstGeom prst="line">
            <a:avLst/>
          </a:prstGeom>
          <a:ln>
            <a:solidFill>
              <a:srgbClr val="0070C0"/>
            </a:solidFill>
          </a:ln>
        </p:spPr>
        <p:style>
          <a:lnRef idx="2">
            <a:schemeClr val="accent1"/>
          </a:lnRef>
          <a:fillRef idx="0">
            <a:schemeClr val="accent1"/>
          </a:fillRef>
          <a:effectRef idx="1">
            <a:schemeClr val="accent1"/>
          </a:effectRef>
          <a:fontRef idx="minor">
            <a:schemeClr val="tx1"/>
          </a:fontRef>
        </p:style>
      </p:cxnSp>
      <p:sp>
        <p:nvSpPr>
          <p:cNvPr id="2" name="Rectángulo 1">
            <a:extLst>
              <a:ext uri="{FF2B5EF4-FFF2-40B4-BE49-F238E27FC236}">
                <a16:creationId xmlns:a16="http://schemas.microsoft.com/office/drawing/2014/main" id="{5EDF1856-C6F2-4239-B2B4-07818AB2A27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2DE02BA4-74A6-4889-0C6E-AA5A874D66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5F6656D9-F4F9-94DC-EEA1-70045695F45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561CEDC6-5834-7931-5B8F-0D2B898888C3}"/>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60</a:t>
            </a:fld>
            <a:endParaRPr lang="en-US" sz="2000" b="1">
              <a:latin typeface="Century Gothic" panose="020B0502020202020204" pitchFamily="34" charset="0"/>
            </a:endParaRPr>
          </a:p>
        </p:txBody>
      </p:sp>
    </p:spTree>
    <p:extLst>
      <p:ext uri="{BB962C8B-B14F-4D97-AF65-F5344CB8AC3E}">
        <p14:creationId xmlns:p14="http://schemas.microsoft.com/office/powerpoint/2010/main" val="1325660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33686888" presetClass="entr" presetSubtype="0" fill="hold" grpId="0" nodeType="clickEffect">
                                  <p:stCondLst>
                                    <p:cond delay="0"/>
                                  </p:stCondLst>
                                  <p:childTnLst>
                                    <p:set>
                                      <p:cBhvr>
                                        <p:cTn id="6" dur="1" fill="hold">
                                          <p:stCondLst>
                                            <p:cond delay="499"/>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33686888" presetClass="entr" presetSubtype="0" fill="hold" grpId="0" nodeType="clickEffect">
                                  <p:stCondLst>
                                    <p:cond delay="0"/>
                                  </p:stCondLst>
                                  <p:childTnLst>
                                    <p:set>
                                      <p:cBhvr>
                                        <p:cTn id="10" dur="1" fill="hold">
                                          <p:stCondLst>
                                            <p:cond delay="499"/>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133686888" presetClass="entr" presetSubtype="0" fill="hold" grpId="0" nodeType="clickEffect">
                                  <p:stCondLst>
                                    <p:cond delay="0"/>
                                  </p:stCondLst>
                                  <p:childTnLst>
                                    <p:set>
                                      <p:cBhvr>
                                        <p:cTn id="14" dur="1" fill="hold">
                                          <p:stCondLst>
                                            <p:cond delay="499"/>
                                          </p:stCondLst>
                                        </p:cTn>
                                        <p:tgtEl>
                                          <p:spTgt spid="7">
                                            <p:txEl>
                                              <p:pRg st="2" end="2"/>
                                            </p:txEl>
                                          </p:spTgt>
                                        </p:tgtEl>
                                        <p:attrNameLst>
                                          <p:attrName>style.visibility</p:attrName>
                                        </p:attrNameLst>
                                      </p:cBhvr>
                                      <p:to>
                                        <p:strVal val="visible"/>
                                      </p:to>
                                    </p:set>
                                  </p:childTnLst>
                                </p:cTn>
                              </p:par>
                            </p:childTnLst>
                          </p:cTn>
                        </p:par>
                        <p:par>
                          <p:cTn id="15" fill="hold">
                            <p:stCondLst>
                              <p:cond delay="500"/>
                            </p:stCondLst>
                            <p:childTnLst>
                              <p:par>
                                <p:cTn id="16" presetID="-2133686888" presetClass="entr" presetSubtype="0" fill="hold" nodeType="afterEffect">
                                  <p:stCondLst>
                                    <p:cond delay="0"/>
                                  </p:stCondLst>
                                  <p:childTnLst>
                                    <p:set>
                                      <p:cBhvr>
                                        <p:cTn id="17" dur="1" fill="hold">
                                          <p:stCondLst>
                                            <p:cond delay="499"/>
                                          </p:stCondLst>
                                        </p:cTn>
                                        <p:tgtEl>
                                          <p:spTgt spid="1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133686888" presetClass="entr" presetSubtype="0" fill="hold" grpId="0" nodeType="clickEffect">
                                  <p:stCondLst>
                                    <p:cond delay="0"/>
                                  </p:stCondLst>
                                  <p:childTnLst>
                                    <p:set>
                                      <p:cBhvr>
                                        <p:cTn id="21" dur="1" fill="hold">
                                          <p:stCondLst>
                                            <p:cond delay="499"/>
                                          </p:stCondLst>
                                        </p:cTn>
                                        <p:tgtEl>
                                          <p:spTgt spid="1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133686888" presetClass="entr" presetSubtype="0" fill="hold" grpId="0" nodeType="clickEffect">
                                  <p:stCondLst>
                                    <p:cond delay="0"/>
                                  </p:stCondLst>
                                  <p:childTnLst>
                                    <p:set>
                                      <p:cBhvr>
                                        <p:cTn id="25" dur="1" fill="hold">
                                          <p:stCondLst>
                                            <p:cond delay="499"/>
                                          </p:stCondLst>
                                        </p:cTn>
                                        <p:tgtEl>
                                          <p:spTgt spid="7">
                                            <p:txEl>
                                              <p:pRg st="4" end="4"/>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133686888" presetClass="entr" presetSubtype="0" fill="hold" grpId="0" nodeType="clickEffect">
                                  <p:stCondLst>
                                    <p:cond delay="0"/>
                                  </p:stCondLst>
                                  <p:childTnLst>
                                    <p:set>
                                      <p:cBhvr>
                                        <p:cTn id="29" dur="1" fill="hold">
                                          <p:stCondLst>
                                            <p:cond delay="499"/>
                                          </p:stCondLst>
                                        </p:cTn>
                                        <p:tgtEl>
                                          <p:spTgt spid="7">
                                            <p:txEl>
                                              <p:pRg st="6" end="6"/>
                                            </p:txEl>
                                          </p:spTgt>
                                        </p:tgtEl>
                                        <p:attrNameLst>
                                          <p:attrName>style.visibility</p:attrName>
                                        </p:attrNameLst>
                                      </p:cBhvr>
                                      <p:to>
                                        <p:strVal val="visible"/>
                                      </p:to>
                                    </p:set>
                                  </p:childTnLst>
                                </p:cTn>
                              </p:par>
                            </p:childTnLst>
                          </p:cTn>
                        </p:par>
                        <p:par>
                          <p:cTn id="30" fill="hold">
                            <p:stCondLst>
                              <p:cond delay="500"/>
                            </p:stCondLst>
                            <p:childTnLst>
                              <p:par>
                                <p:cTn id="31" presetID="-2133686888" presetClass="entr" presetSubtype="0" fill="hold" nodeType="afterEffect">
                                  <p:stCondLst>
                                    <p:cond delay="0"/>
                                  </p:stCondLst>
                                  <p:childTnLst>
                                    <p:set>
                                      <p:cBhvr>
                                        <p:cTn id="32" dur="1" fill="hold">
                                          <p:stCondLst>
                                            <p:cond delay="499"/>
                                          </p:stCondLst>
                                        </p:cTn>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133686888" presetClass="entr" presetSubtype="0" fill="hold" grpId="0" nodeType="clickEffect">
                                  <p:stCondLst>
                                    <p:cond delay="0"/>
                                  </p:stCondLst>
                                  <p:childTnLst>
                                    <p:set>
                                      <p:cBhvr>
                                        <p:cTn id="36" dur="1" fill="hold">
                                          <p:stCondLst>
                                            <p:cond delay="499"/>
                                          </p:stCondLst>
                                        </p:cTn>
                                        <p:tgtEl>
                                          <p:spTgt spid="7">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133686888" presetClass="entr" presetSubtype="0" fill="hold" nodeType="clickEffect">
                                  <p:stCondLst>
                                    <p:cond delay="0"/>
                                  </p:stCondLst>
                                  <p:childTnLst>
                                    <p:set>
                                      <p:cBhvr>
                                        <p:cTn id="40" dur="1" fill="hold">
                                          <p:stCondLst>
                                            <p:cond delay="499"/>
                                          </p:stCondLst>
                                        </p:cTn>
                                        <p:tgtEl>
                                          <p:spTgt spid="1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133686888" presetClass="entr" presetSubtype="0" fill="hold" grpId="0" nodeType="clickEffect">
                                  <p:stCondLst>
                                    <p:cond delay="0"/>
                                  </p:stCondLst>
                                  <p:childTnLst>
                                    <p:set>
                                      <p:cBhvr>
                                        <p:cTn id="44" dur="1" fill="hold">
                                          <p:stCondLst>
                                            <p:cond delay="499"/>
                                          </p:stCondLst>
                                        </p:cTn>
                                        <p:tgtEl>
                                          <p:spTgt spid="7">
                                            <p:txEl>
                                              <p:pRg st="10" end="1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133686888" presetClass="entr" presetSubtype="0" fill="hold" grpId="0" nodeType="clickEffect">
                                  <p:stCondLst>
                                    <p:cond delay="0"/>
                                  </p:stCondLst>
                                  <p:childTnLst>
                                    <p:set>
                                      <p:cBhvr>
                                        <p:cTn id="48" dur="1" fill="hold">
                                          <p:stCondLst>
                                            <p:cond delay="499"/>
                                          </p:stCondLst>
                                        </p:cTn>
                                        <p:tgtEl>
                                          <p:spTgt spid="1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133686888" presetClass="entr" presetSubtype="0" fill="hold" grpId="0" nodeType="clickEffect">
                                  <p:stCondLst>
                                    <p:cond delay="0"/>
                                  </p:stCondLst>
                                  <p:childTnLst>
                                    <p:set>
                                      <p:cBhvr>
                                        <p:cTn id="52" dur="1" fill="hold">
                                          <p:stCondLst>
                                            <p:cond delay="499"/>
                                          </p:stCondLst>
                                        </p:cTn>
                                        <p:tgtEl>
                                          <p:spTgt spid="7">
                                            <p:txEl>
                                              <p:pRg st="12" end="12"/>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bldLvl="5" autoUpdateAnimBg="0"/>
      <p:bldP spid="11" grpId="0" animBg="1" autoUpdateAnimBg="0"/>
      <p:bldP spid="12" grpId="0" animBg="1" autoUpdateAnimBg="0"/>
      <p:bldP spid="27" grpId="0" animBg="1" autoUpdateAnimBg="0"/>
      <p:bldP spid="32"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1">
            <a:extLst>
              <a:ext uri="{FF2B5EF4-FFF2-40B4-BE49-F238E27FC236}">
                <a16:creationId xmlns:a16="http://schemas.microsoft.com/office/drawing/2014/main" id="{36AE3364-6759-4A10-9311-1E663DBE1C97}"/>
              </a:ext>
            </a:extLst>
          </p:cNvPr>
          <p:cNvSpPr>
            <a:spLocks noGrp="1"/>
          </p:cNvSpPr>
          <p:nvPr>
            <p:ph type="title"/>
          </p:nvPr>
        </p:nvSpPr>
        <p:spPr/>
        <p:txBody>
          <a:bodyPr/>
          <a:lstStyle/>
          <a:p>
            <a:r>
              <a:rPr lang="es-ES">
                <a:latin typeface="Century Gothic" panose="020B0502020202020204" pitchFamily="34" charset="0"/>
              </a:rPr>
              <a:t>FLUJO DE CAJA LIBRE (FCL)</a:t>
            </a:r>
          </a:p>
        </p:txBody>
      </p:sp>
      <p:sp>
        <p:nvSpPr>
          <p:cNvPr id="15" name="Marcador de contenido 2">
            <a:extLst>
              <a:ext uri="{FF2B5EF4-FFF2-40B4-BE49-F238E27FC236}">
                <a16:creationId xmlns:a16="http://schemas.microsoft.com/office/drawing/2014/main" id="{08821477-E518-41DF-A301-308E69BDC7E6}"/>
              </a:ext>
            </a:extLst>
          </p:cNvPr>
          <p:cNvSpPr>
            <a:spLocks noGrp="1"/>
          </p:cNvSpPr>
          <p:nvPr>
            <p:ph idx="1"/>
          </p:nvPr>
        </p:nvSpPr>
        <p:spPr>
          <a:xfrm>
            <a:off x="1149179" y="2155698"/>
            <a:ext cx="7053207" cy="3983001"/>
          </a:xfrm>
        </p:spPr>
        <p:txBody>
          <a:bodyPr>
            <a:normAutofit/>
          </a:bodyPr>
          <a:lstStyle/>
          <a:p>
            <a:pPr marL="0" indent="0" algn="ctr">
              <a:buNone/>
            </a:pPr>
            <a:r>
              <a:rPr lang="es-ES" dirty="0">
                <a:solidFill>
                  <a:schemeClr val="accent1"/>
                </a:solidFill>
                <a:latin typeface="Century Gothic" panose="020B0502020202020204" pitchFamily="34" charset="0"/>
              </a:rPr>
              <a:t>Obsérvese que el Flujo de Caja Libre (FCL) resulta después de deducir de los ingresos operacionales todos los costos y/o gastos operacionales, los impuestos y luego de hacer las correcciones por pertinencia, gastos no efectivos y causación.</a:t>
            </a:r>
          </a:p>
          <a:p>
            <a:pPr marL="0" indent="0" algn="ctr">
              <a:buNone/>
            </a:pPr>
            <a:endParaRPr lang="es-ES" dirty="0">
              <a:solidFill>
                <a:schemeClr val="accent1"/>
              </a:solidFill>
              <a:latin typeface="Century Gothic" panose="020B0502020202020204" pitchFamily="34" charset="0"/>
            </a:endParaRPr>
          </a:p>
          <a:p>
            <a:pPr marL="0" indent="0" algn="ctr">
              <a:buNone/>
            </a:pPr>
            <a:r>
              <a:rPr lang="es-ES" dirty="0">
                <a:solidFill>
                  <a:schemeClr val="accent1"/>
                </a:solidFill>
                <a:latin typeface="Century Gothic" panose="020B0502020202020204" pitchFamily="34" charset="0"/>
              </a:rPr>
              <a:t>En otras palabras, es el flujo de caja que queda libre después de cubrir todas las necesidades de caja operativas, dejando lo restante para remunerar la </a:t>
            </a:r>
            <a:r>
              <a:rPr lang="es-ES" b="1" dirty="0">
                <a:solidFill>
                  <a:srgbClr val="C00000"/>
                </a:solidFill>
                <a:latin typeface="Century Gothic" panose="020B0502020202020204" pitchFamily="34" charset="0"/>
              </a:rPr>
              <a:t>DEUDA</a:t>
            </a:r>
            <a:r>
              <a:rPr lang="es-ES" dirty="0">
                <a:latin typeface="Century Gothic" panose="020B0502020202020204" pitchFamily="34" charset="0"/>
              </a:rPr>
              <a:t> </a:t>
            </a:r>
            <a:r>
              <a:rPr lang="es-ES" dirty="0">
                <a:solidFill>
                  <a:schemeClr val="accent1"/>
                </a:solidFill>
                <a:latin typeface="Century Gothic" panose="020B0502020202020204" pitchFamily="34" charset="0"/>
              </a:rPr>
              <a:t>y el </a:t>
            </a:r>
            <a:r>
              <a:rPr lang="es-ES" b="1" i="1" dirty="0">
                <a:solidFill>
                  <a:srgbClr val="C00000"/>
                </a:solidFill>
                <a:latin typeface="Century Gothic" panose="020B0502020202020204" pitchFamily="34" charset="0"/>
              </a:rPr>
              <a:t>EQUITY</a:t>
            </a:r>
            <a:r>
              <a:rPr lang="es-ES" dirty="0">
                <a:latin typeface="Century Gothic" panose="020B0502020202020204" pitchFamily="34" charset="0"/>
              </a:rPr>
              <a:t>.</a:t>
            </a:r>
          </a:p>
        </p:txBody>
      </p:sp>
      <p:sp>
        <p:nvSpPr>
          <p:cNvPr id="2" name="Rectángulo 1">
            <a:extLst>
              <a:ext uri="{FF2B5EF4-FFF2-40B4-BE49-F238E27FC236}">
                <a16:creationId xmlns:a16="http://schemas.microsoft.com/office/drawing/2014/main" id="{5B0480CE-05A7-57BE-517F-565BB38B5D8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0166C5D8-C8A9-1523-D048-02EF8BFEB9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5362" name="Picture 2" descr="Crea un fondo de inversión: ¿Se puede? - GENERAMÁS">
            <a:extLst>
              <a:ext uri="{FF2B5EF4-FFF2-40B4-BE49-F238E27FC236}">
                <a16:creationId xmlns:a16="http://schemas.microsoft.com/office/drawing/2014/main" id="{20936F7E-0248-E274-EF98-94A92EFF25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87946" y="2961224"/>
            <a:ext cx="2822447" cy="2180821"/>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D1077781-3734-7FFE-563B-82A5F977F3B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43E1B744-5397-56C8-CF4A-A2C1D03ECAB3}"/>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61</a:t>
            </a:fld>
            <a:endParaRPr lang="en-US" sz="2000" b="1">
              <a:latin typeface="Century Gothic" panose="020B0502020202020204" pitchFamily="34" charset="0"/>
            </a:endParaRPr>
          </a:p>
        </p:txBody>
      </p:sp>
    </p:spTree>
    <p:extLst>
      <p:ext uri="{BB962C8B-B14F-4D97-AF65-F5344CB8AC3E}">
        <p14:creationId xmlns:p14="http://schemas.microsoft.com/office/powerpoint/2010/main" val="3259415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xEl>
                                              <p:pRg st="2" end="2"/>
                                            </p:txEl>
                                          </p:spTgt>
                                        </p:tgtEl>
                                        <p:attrNameLst>
                                          <p:attrName>style.visibility</p:attrName>
                                        </p:attrNameLst>
                                      </p:cBhvr>
                                      <p:to>
                                        <p:strVal val="visible"/>
                                      </p:to>
                                    </p:set>
                                    <p:animEffect transition="in" filter="fade">
                                      <p:cBhvr>
                                        <p:cTn id="7" dur="500"/>
                                        <p:tgtEl>
                                          <p:spTgt spid="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1">
            <a:extLst>
              <a:ext uri="{FF2B5EF4-FFF2-40B4-BE49-F238E27FC236}">
                <a16:creationId xmlns:a16="http://schemas.microsoft.com/office/drawing/2014/main" id="{36AE3364-6759-4A10-9311-1E663DBE1C97}"/>
              </a:ext>
            </a:extLst>
          </p:cNvPr>
          <p:cNvSpPr>
            <a:spLocks noGrp="1"/>
          </p:cNvSpPr>
          <p:nvPr>
            <p:ph type="title"/>
          </p:nvPr>
        </p:nvSpPr>
        <p:spPr/>
        <p:txBody>
          <a:bodyPr/>
          <a:lstStyle/>
          <a:p>
            <a:r>
              <a:rPr lang="es-ES">
                <a:latin typeface="Century Gothic" panose="020B0502020202020204" pitchFamily="34" charset="0"/>
              </a:rPr>
              <a:t>FLUJO DE CAJA LIBRE (FCL)</a:t>
            </a:r>
          </a:p>
        </p:txBody>
      </p:sp>
      <p:sp>
        <p:nvSpPr>
          <p:cNvPr id="6" name="TextBox 5"/>
          <p:cNvSpPr txBox="1"/>
          <p:nvPr/>
        </p:nvSpPr>
        <p:spPr>
          <a:xfrm>
            <a:off x="4079161" y="2207615"/>
            <a:ext cx="5403227" cy="3539430"/>
          </a:xfrm>
          <a:prstGeom prst="rect">
            <a:avLst/>
          </a:prstGeom>
          <a:noFill/>
        </p:spPr>
        <p:txBody>
          <a:bodyPr wrap="square" lIns="91440" tIns="45720" rIns="91440" bIns="45720" rtlCol="0" anchor="t">
            <a:spAutoFit/>
          </a:bodyPr>
          <a:lstStyle/>
          <a:p>
            <a:pPr lvl="1"/>
            <a:r>
              <a:rPr lang="es-ES_tradnl" sz="1600" dirty="0">
                <a:solidFill>
                  <a:schemeClr val="accent1"/>
                </a:solidFill>
                <a:latin typeface="Century Gothic" panose="020B0502020202020204" pitchFamily="34" charset="0"/>
              </a:rPr>
              <a:t>EBIT (UAII)</a:t>
            </a:r>
          </a:p>
          <a:p>
            <a:pPr lvl="1"/>
            <a:endParaRPr lang="es-ES_tradnl" sz="1600" dirty="0">
              <a:solidFill>
                <a:schemeClr val="accent1"/>
              </a:solidFill>
              <a:latin typeface="Century Gothic" panose="020B0502020202020204" pitchFamily="34" charset="0"/>
            </a:endParaRPr>
          </a:p>
          <a:p>
            <a:r>
              <a:rPr lang="es-ES_tradnl" sz="1600" dirty="0">
                <a:solidFill>
                  <a:schemeClr val="accent1"/>
                </a:solidFill>
                <a:latin typeface="Century Gothic" panose="020B0502020202020204" pitchFamily="34" charset="0"/>
              </a:rPr>
              <a:t>(+)	Depreciación &amp; Amortización</a:t>
            </a:r>
          </a:p>
          <a:p>
            <a:endParaRPr lang="es-ES_tradnl" sz="1600" dirty="0">
              <a:solidFill>
                <a:schemeClr val="accent1"/>
              </a:solidFill>
              <a:latin typeface="Century Gothic" panose="020B0502020202020204" pitchFamily="34" charset="0"/>
            </a:endParaRPr>
          </a:p>
          <a:p>
            <a:r>
              <a:rPr lang="es-ES_tradnl" sz="1600" dirty="0">
                <a:solidFill>
                  <a:schemeClr val="accent1"/>
                </a:solidFill>
                <a:latin typeface="Century Gothic" panose="020B0502020202020204" pitchFamily="34" charset="0"/>
              </a:rPr>
              <a:t>	</a:t>
            </a:r>
            <a:r>
              <a:rPr lang="es-ES_tradnl" sz="1600" b="1" dirty="0">
                <a:solidFill>
                  <a:srgbClr val="C00000"/>
                </a:solidFill>
                <a:latin typeface="Century Gothic" panose="020B0502020202020204" pitchFamily="34" charset="0"/>
              </a:rPr>
              <a:t>EBITDA</a:t>
            </a:r>
          </a:p>
          <a:p>
            <a:endParaRPr lang="es-ES_tradnl" sz="1600" dirty="0">
              <a:solidFill>
                <a:schemeClr val="accent1"/>
              </a:solidFill>
              <a:latin typeface="Century Gothic" panose="020B0502020202020204" pitchFamily="34" charset="0"/>
            </a:endParaRPr>
          </a:p>
          <a:p>
            <a:r>
              <a:rPr lang="es-ES_tradnl" sz="1600" dirty="0">
                <a:solidFill>
                  <a:schemeClr val="accent1"/>
                </a:solidFill>
                <a:latin typeface="Century Gothic" panose="020B0502020202020204" pitchFamily="34" charset="0"/>
              </a:rPr>
              <a:t>(-)	Variación en WK</a:t>
            </a:r>
          </a:p>
          <a:p>
            <a:endParaRPr lang="es-ES_tradnl" sz="1600" dirty="0">
              <a:solidFill>
                <a:schemeClr val="accent1"/>
              </a:solidFill>
              <a:latin typeface="Century Gothic" panose="020B0502020202020204" pitchFamily="34" charset="0"/>
            </a:endParaRPr>
          </a:p>
          <a:p>
            <a:r>
              <a:rPr lang="es-ES_tradnl" sz="1600" dirty="0">
                <a:solidFill>
                  <a:schemeClr val="accent1"/>
                </a:solidFill>
                <a:latin typeface="Century Gothic"/>
              </a:rPr>
              <a:t>(-)	Variación en PPE e Intangibles (CAPEX)</a:t>
            </a:r>
          </a:p>
          <a:p>
            <a:endParaRPr lang="es-ES_tradnl" sz="1600" dirty="0">
              <a:solidFill>
                <a:schemeClr val="accent1"/>
              </a:solidFill>
              <a:latin typeface="Century Gothic" panose="020B0502020202020204" pitchFamily="34" charset="0"/>
            </a:endParaRPr>
          </a:p>
          <a:p>
            <a:r>
              <a:rPr lang="es-ES_tradnl" sz="1600">
                <a:solidFill>
                  <a:schemeClr val="accent1"/>
                </a:solidFill>
                <a:latin typeface="Century Gothic"/>
              </a:rPr>
              <a:t>(-) 	Impuestos operacionales</a:t>
            </a:r>
            <a:endParaRPr lang="es-ES_tradnl" sz="1600">
              <a:solidFill>
                <a:schemeClr val="accent1"/>
              </a:solidFill>
              <a:latin typeface="Century Gothic" panose="020B0502020202020204" pitchFamily="34" charset="0"/>
            </a:endParaRPr>
          </a:p>
          <a:p>
            <a:endParaRPr lang="es-ES_tradnl" sz="1600" dirty="0">
              <a:solidFill>
                <a:schemeClr val="accent1"/>
              </a:solidFill>
              <a:latin typeface="Century Gothic" panose="020B0502020202020204" pitchFamily="34" charset="0"/>
            </a:endParaRPr>
          </a:p>
          <a:p>
            <a:r>
              <a:rPr lang="es-ES_tradnl" sz="1600" dirty="0">
                <a:solidFill>
                  <a:schemeClr val="accent1"/>
                </a:solidFill>
                <a:latin typeface="Century Gothic" panose="020B0502020202020204" pitchFamily="34" charset="0"/>
              </a:rPr>
              <a:t>	</a:t>
            </a:r>
            <a:r>
              <a:rPr lang="es-ES_tradnl" sz="1600" b="1" dirty="0">
                <a:solidFill>
                  <a:srgbClr val="C00000"/>
                </a:solidFill>
                <a:latin typeface="Century Gothic" panose="020B0502020202020204" pitchFamily="34" charset="0"/>
              </a:rPr>
              <a:t>Flujo de Caja Libre (FCL)</a:t>
            </a:r>
          </a:p>
          <a:p>
            <a:endParaRPr lang="es-ES_tradnl" sz="1600" dirty="0">
              <a:solidFill>
                <a:schemeClr val="accent1"/>
              </a:solidFill>
              <a:latin typeface="Century Gothic" panose="020B0502020202020204" pitchFamily="34" charset="0"/>
            </a:endParaRPr>
          </a:p>
        </p:txBody>
      </p:sp>
      <p:cxnSp>
        <p:nvCxnSpPr>
          <p:cNvPr id="8" name="Straight Connector 7"/>
          <p:cNvCxnSpPr/>
          <p:nvPr/>
        </p:nvCxnSpPr>
        <p:spPr>
          <a:xfrm flipV="1">
            <a:off x="4000342" y="5127933"/>
            <a:ext cx="4134556" cy="14112"/>
          </a:xfrm>
          <a:prstGeom prst="line">
            <a:avLst/>
          </a:prstGeom>
          <a:ln>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V="1">
            <a:off x="3998503" y="3185502"/>
            <a:ext cx="4035778" cy="14112"/>
          </a:xfrm>
          <a:prstGeom prst="line">
            <a:avLst/>
          </a:prstGeom>
          <a:ln>
            <a:solidFill>
              <a:schemeClr val="accent6"/>
            </a:solidFill>
          </a:ln>
        </p:spPr>
        <p:style>
          <a:lnRef idx="2">
            <a:schemeClr val="accent1"/>
          </a:lnRef>
          <a:fillRef idx="0">
            <a:schemeClr val="accent1"/>
          </a:fillRef>
          <a:effectRef idx="1">
            <a:schemeClr val="accent1"/>
          </a:effectRef>
          <a:fontRef idx="minor">
            <a:schemeClr val="tx1"/>
          </a:fontRef>
        </p:style>
      </p:cxnSp>
      <p:sp>
        <p:nvSpPr>
          <p:cNvPr id="15" name="Shape 78">
            <a:extLst>
              <a:ext uri="{FF2B5EF4-FFF2-40B4-BE49-F238E27FC236}">
                <a16:creationId xmlns:a16="http://schemas.microsoft.com/office/drawing/2014/main" id="{DF81CB1C-4A3C-4CD6-998D-00DE3E2D1A3B}"/>
              </a:ext>
            </a:extLst>
          </p:cNvPr>
          <p:cNvSpPr/>
          <p:nvPr/>
        </p:nvSpPr>
        <p:spPr>
          <a:xfrm>
            <a:off x="3897887" y="2553036"/>
            <a:ext cx="4237011" cy="573851"/>
          </a:xfrm>
          <a:prstGeom prst="roundRect">
            <a:avLst>
              <a:gd name="adj" fmla="val 19531"/>
            </a:avLst>
          </a:prstGeom>
          <a:blipFill>
            <a:blip r:embed="rId2">
              <a:alphaModFix amt="30000"/>
            </a:blip>
          </a:blipFill>
          <a:ln w="12700">
            <a:miter lim="400000"/>
          </a:ln>
          <a:effectLst>
            <a:outerShdw blurRad="50800" dist="25400" dir="5400000" rotWithShape="0">
              <a:srgbClr val="000000">
                <a:alpha val="60000"/>
              </a:srgbClr>
            </a:outerShdw>
          </a:effectLst>
        </p:spPr>
        <p:txBody>
          <a:bodyPr lIns="0" tIns="0" rIns="0" bIns="0" anchor="ctr"/>
          <a:lstStyle/>
          <a:p>
            <a:pPr lvl="0">
              <a:defRPr sz="3000">
                <a:solidFill>
                  <a:srgbClr val="FFFFFF"/>
                </a:solidFill>
                <a:effectLst>
                  <a:outerShdw blurRad="25400" dist="12700" dir="5400000" rotWithShape="0">
                    <a:srgbClr val="000000">
                      <a:alpha val="50000"/>
                    </a:srgbClr>
                  </a:outerShdw>
                </a:effectLst>
              </a:defRPr>
            </a:pPr>
            <a:endParaRPr sz="2109"/>
          </a:p>
        </p:txBody>
      </p:sp>
      <p:sp>
        <p:nvSpPr>
          <p:cNvPr id="2" name="Rectángulo 1">
            <a:extLst>
              <a:ext uri="{FF2B5EF4-FFF2-40B4-BE49-F238E27FC236}">
                <a16:creationId xmlns:a16="http://schemas.microsoft.com/office/drawing/2014/main" id="{3C119E13-613D-ACF5-9385-D08BEB05103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8417361E-A7B6-1526-84C1-AF196E60A3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6390" name="Picture 6" descr="Protección al público inversor | Argentina.gob.ar">
            <a:extLst>
              <a:ext uri="{FF2B5EF4-FFF2-40B4-BE49-F238E27FC236}">
                <a16:creationId xmlns:a16="http://schemas.microsoft.com/office/drawing/2014/main" id="{452C9680-C348-0DD4-6133-977D63D5FE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3000" y="3067039"/>
            <a:ext cx="3091341" cy="2060894"/>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34A30C25-711E-2A3D-B9AF-052F49B2206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84EC6A1C-DCF5-FCE1-7DB4-95EDB997CA8E}"/>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62</a:t>
            </a:fld>
            <a:endParaRPr lang="en-US" sz="2000" b="1">
              <a:latin typeface="Century Gothic" panose="020B0502020202020204" pitchFamily="34" charset="0"/>
            </a:endParaRPr>
          </a:p>
        </p:txBody>
      </p:sp>
    </p:spTree>
    <p:extLst>
      <p:ext uri="{BB962C8B-B14F-4D97-AF65-F5344CB8AC3E}">
        <p14:creationId xmlns:p14="http://schemas.microsoft.com/office/powerpoint/2010/main" val="4069386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34957" y="3342889"/>
            <a:ext cx="2695807" cy="2695807"/>
          </a:xfrm>
          <a:prstGeom prst="rect">
            <a:avLst/>
          </a:prstGeom>
        </p:spPr>
      </p:pic>
      <p:sp>
        <p:nvSpPr>
          <p:cNvPr id="10" name="Título 1">
            <a:extLst>
              <a:ext uri="{FF2B5EF4-FFF2-40B4-BE49-F238E27FC236}">
                <a16:creationId xmlns:a16="http://schemas.microsoft.com/office/drawing/2014/main" id="{71B4665E-5818-A201-3D91-B92FC5A0D1FE}"/>
              </a:ext>
            </a:extLst>
          </p:cNvPr>
          <p:cNvSpPr txBox="1">
            <a:spLocks/>
          </p:cNvSpPr>
          <p:nvPr/>
        </p:nvSpPr>
        <p:spPr>
          <a:xfrm>
            <a:off x="486108" y="1814732"/>
            <a:ext cx="10550396" cy="826833"/>
          </a:xfrm>
          <a:prstGeom prst="rect">
            <a:avLst/>
          </a:prstGeom>
          <a:effectLst/>
        </p:spPr>
        <p:txBody>
          <a:bodyPr vert="horz" lIns="91440" tIns="45720" rIns="91440" bIns="45720" rtlCol="0" anchor="b">
            <a:noAutofit/>
          </a:bodyPr>
          <a:lstStyle>
            <a:lvl1pPr algn="l" defTabSz="457200" rtl="0" eaLnBrk="1" latinLnBrk="0" hangingPunct="1">
              <a:spcBef>
                <a:spcPct val="0"/>
              </a:spcBef>
              <a:buNone/>
              <a:defRPr sz="3600" b="0" kern="1200" cap="all">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CO" sz="3200">
                <a:latin typeface="Century Gothic"/>
              </a:rPr>
              <a:t>LA CONSTRUCCIÓN DEL FLUJO DE CAJA LIBRE DE UN PROYECTO (</a:t>
            </a:r>
            <a:r>
              <a:rPr lang="es-CO" sz="3200">
                <a:solidFill>
                  <a:srgbClr val="D7A700"/>
                </a:solidFill>
                <a:latin typeface="Century Gothic"/>
              </a:rPr>
              <a:t>PARTE I</a:t>
            </a:r>
            <a:r>
              <a:rPr lang="es-CO" sz="3200">
                <a:latin typeface="Century Gothic"/>
              </a:rPr>
              <a:t>)</a:t>
            </a:r>
            <a:endParaRPr lang="es-CO" sz="3200">
              <a:latin typeface="Century Gothic" panose="020B0502020202020204" pitchFamily="34" charset="0"/>
            </a:endParaRPr>
          </a:p>
        </p:txBody>
      </p:sp>
      <p:sp>
        <p:nvSpPr>
          <p:cNvPr id="2" name="Rectángulo 1">
            <a:extLst>
              <a:ext uri="{FF2B5EF4-FFF2-40B4-BE49-F238E27FC236}">
                <a16:creationId xmlns:a16="http://schemas.microsoft.com/office/drawing/2014/main" id="{AD2D8E76-3089-95CB-65BF-2D71AD9839E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4" name="CuadroTexto 3">
            <a:extLst>
              <a:ext uri="{FF2B5EF4-FFF2-40B4-BE49-F238E27FC236}">
                <a16:creationId xmlns:a16="http://schemas.microsoft.com/office/drawing/2014/main" id="{49A8C3A8-2EB9-80A7-6E38-729A4BF27A8D}"/>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latin typeface="Century Gothic"/>
              </a:rPr>
              <a:t>													</a:t>
            </a:r>
            <a:endParaRPr lang="es-CO" sz="2000" b="1" u="sng">
              <a:solidFill>
                <a:schemeClr val="bg1"/>
              </a:solidFill>
              <a:latin typeface="Century Gothic"/>
            </a:endParaRPr>
          </a:p>
          <a:p>
            <a:endParaRPr lang="es-CO" sz="1000" b="1">
              <a:solidFill>
                <a:schemeClr val="bg1"/>
              </a:solidFill>
              <a:latin typeface="Century Gothic" panose="020B0502020202020204" pitchFamily="34" charset="0"/>
            </a:endParaRPr>
          </a:p>
          <a:p>
            <a:r>
              <a:rPr lang="es-CO" sz="2000" b="1">
                <a:solidFill>
                  <a:schemeClr val="bg1"/>
                </a:solidFill>
                <a:latin typeface="Century Gothic"/>
              </a:rPr>
              <a:t>DEPARTAMENTO DE INGENIERÍA INDUSTRIAL</a:t>
            </a:r>
          </a:p>
          <a:p>
            <a:r>
              <a:rPr lang="es-CO" sz="2000" b="1">
                <a:solidFill>
                  <a:schemeClr val="bg1"/>
                </a:solidFill>
                <a:latin typeface="Century Gothic"/>
              </a:rPr>
              <a:t>FACULTAD DE INGENIERÍA</a:t>
            </a:r>
          </a:p>
          <a:p>
            <a:r>
              <a:rPr lang="es-CO" sz="1000" b="1" u="sng">
                <a:solidFill>
                  <a:schemeClr val="bg1"/>
                </a:solidFill>
                <a:latin typeface="Century Gothic"/>
              </a:rPr>
              <a:t>													</a:t>
            </a:r>
          </a:p>
          <a:p>
            <a:endParaRPr lang="es-CO" sz="2000" b="1">
              <a:solidFill>
                <a:schemeClr val="bg1"/>
              </a:solidFill>
              <a:latin typeface="Century Gothic" panose="020B0502020202020204" pitchFamily="34" charset="0"/>
            </a:endParaRPr>
          </a:p>
          <a:p>
            <a:r>
              <a:rPr lang="es-CO" sz="2000" b="1">
                <a:solidFill>
                  <a:schemeClr val="bg1"/>
                </a:solidFill>
                <a:latin typeface="Century Gothic"/>
              </a:rPr>
              <a:t>Curso       </a:t>
            </a:r>
            <a:r>
              <a:rPr lang="es-CO" sz="2000">
                <a:solidFill>
                  <a:schemeClr val="bg1"/>
                </a:solidFill>
                <a:latin typeface="Century Gothic"/>
              </a:rPr>
              <a:t>ANÁLISIS DE DECISIONES DE INVERSIÓN</a:t>
            </a:r>
          </a:p>
          <a:p>
            <a:r>
              <a:rPr lang="es-CO" sz="2000" b="1">
                <a:solidFill>
                  <a:schemeClr val="bg1"/>
                </a:solidFill>
                <a:latin typeface="Century Gothic"/>
              </a:rPr>
              <a:t>Correo     </a:t>
            </a:r>
            <a:r>
              <a:rPr lang="es-CO" sz="2000">
                <a:solidFill>
                  <a:schemeClr val="bg1"/>
                </a:solidFill>
                <a:latin typeface="Century Gothic"/>
              </a:rPr>
              <a:t>cursoanadec@uniandes.edu.co</a:t>
            </a:r>
          </a:p>
          <a:p>
            <a:endParaRPr lang="es-CO" sz="2000" b="1">
              <a:solidFill>
                <a:schemeClr val="bg1"/>
              </a:solidFill>
              <a:latin typeface="Century Gothic" panose="020B0502020202020204" pitchFamily="34" charset="0"/>
            </a:endParaRPr>
          </a:p>
        </p:txBody>
      </p:sp>
    </p:spTree>
    <p:extLst>
      <p:ext uri="{BB962C8B-B14F-4D97-AF65-F5344CB8AC3E}">
        <p14:creationId xmlns:p14="http://schemas.microsoft.com/office/powerpoint/2010/main" val="813002317"/>
      </p:ext>
    </p:extLst>
  </p:cSld>
  <p:clrMapOvr>
    <a:masterClrMapping/>
  </p:clrMapOvr>
</p:sld>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81</TotalTime>
  <Words>4835</Words>
  <Application>Microsoft Macintosh PowerPoint</Application>
  <PresentationFormat>Widescreen</PresentationFormat>
  <Paragraphs>862</Paragraphs>
  <Slides>63</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63</vt:i4>
      </vt:variant>
    </vt:vector>
  </HeadingPairs>
  <TitlesOfParts>
    <vt:vector size="72" baseType="lpstr">
      <vt:lpstr>Arial</vt:lpstr>
      <vt:lpstr>Calibri</vt:lpstr>
      <vt:lpstr>Century Gothic</vt:lpstr>
      <vt:lpstr>Courier New</vt:lpstr>
      <vt:lpstr>Gill Sans MT</vt:lpstr>
      <vt:lpstr>Helvetica</vt:lpstr>
      <vt:lpstr>Wingdings</vt:lpstr>
      <vt:lpstr>Wingdings 2</vt:lpstr>
      <vt:lpstr>Dividendo</vt:lpstr>
      <vt:lpstr>LA CONSTRUCCIÓN DEL FLUJO DE CAJA LIBRE DE UN PROYECTO (parte i)</vt:lpstr>
      <vt:lpstr>AGENDA PROPUESTA</vt:lpstr>
      <vt:lpstr>AGENDA PROPUESTA</vt:lpstr>
      <vt:lpstr>PowerPoint Presentation</vt:lpstr>
      <vt:lpstr>Construcción del flujo de caja libre</vt:lpstr>
      <vt:lpstr>Construcción del flujo de caja libre</vt:lpstr>
      <vt:lpstr>¿Qué es la contabilidad?</vt:lpstr>
      <vt:lpstr>AGENDA PROPUESTA</vt:lpstr>
      <vt:lpstr>¿Dónde se registra la contabilidad?</vt:lpstr>
      <vt:lpstr>LOS ESTADOS FINANCIEROS (E.E.F.F.)</vt:lpstr>
      <vt:lpstr>¿Qué es el ESTADO DE SITUACIÓN FINANCIERA?</vt:lpstr>
      <vt:lpstr>¿Qué es el ESTADO DE SITUACIÓN FINANCIERA?</vt:lpstr>
      <vt:lpstr>EL ESTADO DE SITUACIÓN FINANCIERA</vt:lpstr>
      <vt:lpstr>EL ESTADO DE SITUACIÓN FINANCIERA</vt:lpstr>
      <vt:lpstr>¿Qué es un activo?</vt:lpstr>
      <vt:lpstr>¿Cómo es la estructura del ESTADO DE SITUACIÓN FINANCIERA?</vt:lpstr>
      <vt:lpstr>¿Cómo es la estructura del ESTADO DE SITUACIÓN FINANCIERA?</vt:lpstr>
      <vt:lpstr>Activos Corrientes</vt:lpstr>
      <vt:lpstr>¿Cómo es la estructura del ESTADO DE SITUACIÓN FINANCIERA?</vt:lpstr>
      <vt:lpstr>Activos NO CORRIENTES</vt:lpstr>
      <vt:lpstr>Los Pasivos</vt:lpstr>
      <vt:lpstr>PowerPoint Presentation</vt:lpstr>
      <vt:lpstr>Los Pasivos</vt:lpstr>
      <vt:lpstr>El Patrimonio</vt:lpstr>
      <vt:lpstr>Los Pasivos</vt:lpstr>
      <vt:lpstr>El Patrimonio</vt:lpstr>
      <vt:lpstr>EL ESTADO DE SITUACIÓN FINANCIERA</vt:lpstr>
      <vt:lpstr>EL ESTADO DE SITUACIÓN FINANCIERA</vt:lpstr>
      <vt:lpstr>EL ESTADO DE SITUACIÓN FINANCIERA</vt:lpstr>
      <vt:lpstr>EL ESTADO DE SITUACIÓN FINANCIERA</vt:lpstr>
      <vt:lpstr>EL ESTADO DE SITUACIÓN FINANCIERA</vt:lpstr>
      <vt:lpstr>EL ESTADO DE SITUACIÓN FINANCIERA</vt:lpstr>
      <vt:lpstr>EL ESTADO DE SITUACIÓN FINANCIERA</vt:lpstr>
      <vt:lpstr>EL ESTADO DE SITUACIÓN FINANCIERA</vt:lpstr>
      <vt:lpstr>EL ESTADO DE SITUACIÓN FINANCIERA</vt:lpstr>
      <vt:lpstr>ESTADO DE RESULTADOS</vt:lpstr>
      <vt:lpstr>ESTADO DE RESULTADOS</vt:lpstr>
      <vt:lpstr>¿Cómo SE ESTIMA EL EFECTIVO?</vt:lpstr>
      <vt:lpstr>AGENDA PROPUESTA</vt:lpstr>
      <vt:lpstr>Principio de Causación vs. Caja</vt:lpstr>
      <vt:lpstr>Principio de Causación vs. Caja</vt:lpstr>
      <vt:lpstr>Principio de Causación vs. Caja</vt:lpstr>
      <vt:lpstr>Principio de Causación vs. Caja</vt:lpstr>
      <vt:lpstr>Principio de Causación vs. Caja</vt:lpstr>
      <vt:lpstr>AGENDA PROPUESTA</vt:lpstr>
      <vt:lpstr>Principio de Pertinencia</vt:lpstr>
      <vt:lpstr>Principio de Pertinencia</vt:lpstr>
      <vt:lpstr>Principio de Pertinencia</vt:lpstr>
      <vt:lpstr>Principio de Pertinencia</vt:lpstr>
      <vt:lpstr>AGENDA PROPUESTA</vt:lpstr>
      <vt:lpstr>GASTOS NO EFECTIVOS</vt:lpstr>
      <vt:lpstr>GASTOS NO EFECTIVOS</vt:lpstr>
      <vt:lpstr>GASTOS NO EFECTIVOS</vt:lpstr>
      <vt:lpstr>GASTOS NO EFECTIVOS</vt:lpstr>
      <vt:lpstr>AGENDA PROPUESTA</vt:lpstr>
      <vt:lpstr>FLUJO DE CAJA LIBRE (FCL)</vt:lpstr>
      <vt:lpstr>FLUJO DE CAJA LIBRE (FCL)</vt:lpstr>
      <vt:lpstr>FLUJO DE CAJA LIBRE (FCL)</vt:lpstr>
      <vt:lpstr>FLUJO DE CAJA LIBRE (FCL)</vt:lpstr>
      <vt:lpstr>FLUJO DE CAJA LIBRE (FCL)</vt:lpstr>
      <vt:lpstr>FLUJO DE CAJA LIBRE (FCL)</vt:lpstr>
      <vt:lpstr>FLUJO DE CAJA LIBRE (FCL)</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DESDE UNA ÓPTICA ECONOMÉTRICA DE LA PREVISIBILIDAD DE LAS VARIACIONES DEL TRÁFICO DEL CORREDOR BOGOTÁ – PUERTO GAITÁN TENIENDO EN CUENTA EL COMPORTAMIENTO HISTÓRICO DEL TRÁFICO Y DEL PRECIO DEL PETRÓLEO WTI</dc:title>
  <dc:creator>Sebastian Joseph Sanchez Oyola</dc:creator>
  <cp:lastModifiedBy>Brigitte Castañeda</cp:lastModifiedBy>
  <cp:revision>21</cp:revision>
  <dcterms:created xsi:type="dcterms:W3CDTF">2019-06-20T04:25:04Z</dcterms:created>
  <dcterms:modified xsi:type="dcterms:W3CDTF">2026-09-08T18:43:02Z</dcterms:modified>
</cp:coreProperties>
</file>