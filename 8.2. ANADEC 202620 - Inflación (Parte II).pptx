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2" r:id="rId1"/>
  </p:sldMasterIdLst>
  <p:notesMasterIdLst>
    <p:notesMasterId r:id="rId20"/>
  </p:notesMasterIdLst>
  <p:handoutMasterIdLst>
    <p:handoutMasterId r:id="rId21"/>
  </p:handoutMasterIdLst>
  <p:sldIdLst>
    <p:sldId id="398" r:id="rId2"/>
    <p:sldId id="541" r:id="rId3"/>
    <p:sldId id="542" r:id="rId4"/>
    <p:sldId id="544" r:id="rId5"/>
    <p:sldId id="546" r:id="rId6"/>
    <p:sldId id="547" r:id="rId7"/>
    <p:sldId id="548" r:id="rId8"/>
    <p:sldId id="550" r:id="rId9"/>
    <p:sldId id="553" r:id="rId10"/>
    <p:sldId id="559" r:id="rId11"/>
    <p:sldId id="554" r:id="rId12"/>
    <p:sldId id="556" r:id="rId13"/>
    <p:sldId id="555" r:id="rId14"/>
    <p:sldId id="560" r:id="rId15"/>
    <p:sldId id="557" r:id="rId16"/>
    <p:sldId id="561" r:id="rId17"/>
    <p:sldId id="562" r:id="rId18"/>
    <p:sldId id="56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A700"/>
    <a:srgbClr val="B8E6CB"/>
    <a:srgbClr val="48BE7A"/>
    <a:srgbClr val="FFFFFF"/>
    <a:srgbClr val="6666FF"/>
    <a:srgbClr val="FFF4E6"/>
    <a:srgbClr val="002F90"/>
    <a:srgbClr val="E8F8FA"/>
    <a:srgbClr val="DFFF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F7DAF6-44E2-E81A-75D7-1C0C5A83AD34}" v="12" dt="2026-10-26T20:43:38.0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96"/>
    <p:restoredTop sz="94544"/>
  </p:normalViewPr>
  <p:slideViewPr>
    <p:cSldViewPr snapToGrid="0">
      <p:cViewPr varScale="1">
        <p:scale>
          <a:sx n="100" d="100"/>
          <a:sy n="100" d="100"/>
        </p:scale>
        <p:origin x="4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 Lucila Bohorquez Gomez" userId="S::dl.bohorquez@uniandes.edu.co::a5eb8baf-0f6a-49af-b1ae-2734181cf298" providerId="AD" clId="Web-{6AF7DAF6-44E2-E81A-75D7-1C0C5A83AD34}"/>
    <pc:docChg chg="modSld">
      <pc:chgData name="Diana Lucila Bohorquez Gomez" userId="S::dl.bohorquez@uniandes.edu.co::a5eb8baf-0f6a-49af-b1ae-2734181cf298" providerId="AD" clId="Web-{6AF7DAF6-44E2-E81A-75D7-1C0C5A83AD34}" dt="2026-10-26T20:43:38.096" v="11" actId="20577"/>
      <pc:docMkLst>
        <pc:docMk/>
      </pc:docMkLst>
      <pc:sldChg chg="modSp">
        <pc:chgData name="Diana Lucila Bohorquez Gomez" userId="S::dl.bohorquez@uniandes.edu.co::a5eb8baf-0f6a-49af-b1ae-2734181cf298" providerId="AD" clId="Web-{6AF7DAF6-44E2-E81A-75D7-1C0C5A83AD34}" dt="2026-10-26T20:42:16.906" v="1" actId="20577"/>
        <pc:sldMkLst>
          <pc:docMk/>
          <pc:sldMk cId="1142674507" sldId="398"/>
        </pc:sldMkLst>
        <pc:spChg chg="mod">
          <ac:chgData name="Diana Lucila Bohorquez Gomez" userId="S::dl.bohorquez@uniandes.edu.co::a5eb8baf-0f6a-49af-b1ae-2734181cf298" providerId="AD" clId="Web-{6AF7DAF6-44E2-E81A-75D7-1C0C5A83AD34}" dt="2026-10-26T20:42:16.906" v="1" actId="20577"/>
          <ac:spMkLst>
            <pc:docMk/>
            <pc:sldMk cId="1142674507" sldId="398"/>
            <ac:spMk id="2" creationId="{00000000-0000-0000-0000-000000000000}"/>
          </ac:spMkLst>
        </pc:spChg>
      </pc:sldChg>
      <pc:sldChg chg="modSp">
        <pc:chgData name="Diana Lucila Bohorquez Gomez" userId="S::dl.bohorquez@uniandes.edu.co::a5eb8baf-0f6a-49af-b1ae-2734181cf298" providerId="AD" clId="Web-{6AF7DAF6-44E2-E81A-75D7-1C0C5A83AD34}" dt="2026-10-26T20:42:54.220" v="9" actId="20577"/>
        <pc:sldMkLst>
          <pc:docMk/>
          <pc:sldMk cId="2971010613" sldId="544"/>
        </pc:sldMkLst>
        <pc:spChg chg="mod">
          <ac:chgData name="Diana Lucila Bohorquez Gomez" userId="S::dl.bohorquez@uniandes.edu.co::a5eb8baf-0f6a-49af-b1ae-2734181cf298" providerId="AD" clId="Web-{6AF7DAF6-44E2-E81A-75D7-1C0C5A83AD34}" dt="2026-10-26T20:42:54.220" v="9" actId="20577"/>
          <ac:spMkLst>
            <pc:docMk/>
            <pc:sldMk cId="2971010613" sldId="544"/>
            <ac:spMk id="3" creationId="{E0F2940D-226E-5819-CF06-23B5ECBCB6CB}"/>
          </ac:spMkLst>
        </pc:spChg>
      </pc:sldChg>
      <pc:sldChg chg="modSp">
        <pc:chgData name="Diana Lucila Bohorquez Gomez" userId="S::dl.bohorquez@uniandes.edu.co::a5eb8baf-0f6a-49af-b1ae-2734181cf298" providerId="AD" clId="Web-{6AF7DAF6-44E2-E81A-75D7-1C0C5A83AD34}" dt="2026-10-26T20:43:05.267" v="10" actId="20577"/>
        <pc:sldMkLst>
          <pc:docMk/>
          <pc:sldMk cId="2659173154" sldId="555"/>
        </pc:sldMkLst>
        <pc:spChg chg="mod">
          <ac:chgData name="Diana Lucila Bohorquez Gomez" userId="S::dl.bohorquez@uniandes.edu.co::a5eb8baf-0f6a-49af-b1ae-2734181cf298" providerId="AD" clId="Web-{6AF7DAF6-44E2-E81A-75D7-1C0C5A83AD34}" dt="2026-10-26T20:43:05.267" v="10" actId="20577"/>
          <ac:spMkLst>
            <pc:docMk/>
            <pc:sldMk cId="2659173154" sldId="555"/>
            <ac:spMk id="3" creationId="{A47EB2E7-669B-C1B5-91C1-0BAB846BD81F}"/>
          </ac:spMkLst>
        </pc:spChg>
      </pc:sldChg>
      <pc:sldChg chg="modSp">
        <pc:chgData name="Diana Lucila Bohorquez Gomez" userId="S::dl.bohorquez@uniandes.edu.co::a5eb8baf-0f6a-49af-b1ae-2734181cf298" providerId="AD" clId="Web-{6AF7DAF6-44E2-E81A-75D7-1C0C5A83AD34}" dt="2026-10-26T20:43:38.096" v="11" actId="20577"/>
        <pc:sldMkLst>
          <pc:docMk/>
          <pc:sldMk cId="2225115189" sldId="557"/>
        </pc:sldMkLst>
        <pc:spChg chg="mod">
          <ac:chgData name="Diana Lucila Bohorquez Gomez" userId="S::dl.bohorquez@uniandes.edu.co::a5eb8baf-0f6a-49af-b1ae-2734181cf298" providerId="AD" clId="Web-{6AF7DAF6-44E2-E81A-75D7-1C0C5A83AD34}" dt="2026-10-26T20:43:38.096" v="11" actId="20577"/>
          <ac:spMkLst>
            <pc:docMk/>
            <pc:sldMk cId="2225115189" sldId="557"/>
            <ac:spMk id="3" creationId="{CDED147A-DE7F-FFA3-670B-0CD7A20B3CA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193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F2C1E-888C-1DEC-FADD-ABFFDEA67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A615A05-C551-F640-D624-7E99B3328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8071C6B-32B2-E316-2CD8-18F307EAC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313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4087E-19CF-D51D-BFC5-79DC49D2E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4604A6D-65D9-3CA0-FCB8-B54CCC418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016A4C2-72F3-EF13-0F99-CDB710986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104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10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48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25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11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1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0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56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62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09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DF8C-FC0D-41BB-BB53-20BBB44E4230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6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22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8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0867" y="1814732"/>
            <a:ext cx="11079167" cy="826833"/>
          </a:xfrm>
        </p:spPr>
        <p:txBody>
          <a:bodyPr>
            <a:noAutofit/>
          </a:bodyPr>
          <a:lstStyle/>
          <a:p>
            <a:r>
              <a:rPr lang="es-CO" sz="3200">
                <a:latin typeface="Century Gothic"/>
              </a:rPr>
              <a:t>INFLACIÓN y SU IMPACTO EN EL FLUJO DE CAJA DE UN PROYECTO (</a:t>
            </a:r>
            <a:r>
              <a:rPr lang="es-CO" sz="3200">
                <a:solidFill>
                  <a:srgbClr val="D7A700"/>
                </a:solidFill>
                <a:latin typeface="Century Gothic"/>
              </a:rPr>
              <a:t>PARTE II</a:t>
            </a:r>
            <a:r>
              <a:rPr lang="es-CO" sz="3200" dirty="0">
                <a:latin typeface="Century Gothic"/>
              </a:rPr>
              <a:t>)</a:t>
            </a:r>
            <a:endParaRPr lang="es-CO" sz="3200" dirty="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2E3B9B72-D13E-2CBF-D0CA-6E449C2508E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A2076B-5CA2-165C-9873-6BBE655A1318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67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02554-6D7F-61DC-2791-CAD3DCB88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368F6-61BC-F577-FA96-7A0725FF8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5ED99EBD-7641-3811-449B-3440F835E3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1B6B07C4-447C-CCE4-0651-995A9F221735}"/>
              </a:ext>
            </a:extLst>
          </p:cNvPr>
          <p:cNvSpPr/>
          <p:nvPr/>
        </p:nvSpPr>
        <p:spPr>
          <a:xfrm>
            <a:off x="2806200" y="2772729"/>
            <a:ext cx="8540907" cy="258532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Inflación variable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Ejercicios</a:t>
            </a:r>
          </a:p>
          <a:p>
            <a:pPr marL="342900" indent="-342900">
              <a:buClr>
                <a:srgbClr val="48BE7A"/>
              </a:buClr>
              <a:buAutoNum type="arabicPeriod" startAt="5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	</a:t>
            </a: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C4E3687-44B0-2984-3524-525CBF89A8C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35F69131-DA4C-C9D8-473F-8516A2B5C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F7E3BB8F-32DF-73B1-9E0D-1180DF69513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96DD215E-90A4-CE47-52AD-2F69358EF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2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5465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52E00-D75E-0776-F112-396817386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27A0D-EDF3-C495-25E2-D250483F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INFLACIÓN VARIABLE - PROCESO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5B457-AE9A-18F0-5B1C-BB65AD2F7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838848"/>
            <a:ext cx="8964742" cy="43169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El proceso para el análisis de escenarios de inflación variable son muy comunes. Debemos retomar el proceso inicial donde se debe:</a:t>
            </a:r>
          </a:p>
          <a:p>
            <a:pPr marL="342900" indent="-342900">
              <a:buAutoNum type="arabicParenR"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Realizar el escenario tradicional, con pesos nominales</a:t>
            </a:r>
          </a:p>
          <a:p>
            <a:pPr marL="342900" indent="-342900">
              <a:buAutoNum type="arabicParenR"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Obtener los FCL en precios nominales y calcular los </a:t>
            </a:r>
            <a:r>
              <a:rPr lang="es-CO" sz="20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IBF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 pertinentes.</a:t>
            </a:r>
          </a:p>
          <a:p>
            <a:pPr marL="342900" indent="-342900">
              <a:buAutoNum type="arabicParenR"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Deflactar los precios nominales.</a:t>
            </a:r>
          </a:p>
          <a:p>
            <a:pPr marL="342900" indent="-342900">
              <a:buAutoNum type="arabicParenR"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Obtener las tasas constantes o corrientes del </a:t>
            </a:r>
            <a:r>
              <a:rPr lang="es-CO" sz="20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WACC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 para cada periodo.</a:t>
            </a:r>
          </a:p>
          <a:p>
            <a:pPr marL="342900" indent="-342900">
              <a:buAutoNum type="arabicParenR"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Determinar el VPN o el indicador propicio del FCL.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9B57F-F210-63DD-89CD-8826C488F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41B16EA-3A08-A29A-F325-5AA4E67E11D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0E777E13-06FA-F361-2056-E22FDFB46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918BB45-1BD4-98EB-A55F-8FF2B75A74B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685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C9B9F-87DB-AB18-340D-7A3B77E74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2B17-883E-2DB8-5752-078976C76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INFLACIÓN VARIABLE - PROCESO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2940D-226E-5819-CF06-23B5ECBCB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61740"/>
            <a:ext cx="10828930" cy="22428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sz="2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Ejemplo:</a:t>
            </a:r>
          </a:p>
          <a:p>
            <a:pPr marL="0" indent="0">
              <a:buNone/>
            </a:pPr>
            <a:r>
              <a:rPr lang="es-CO" sz="2000">
                <a:solidFill>
                  <a:schemeClr val="accent1"/>
                </a:solidFill>
                <a:latin typeface="Century Gothic"/>
              </a:rPr>
              <a:t>Suponga que en el ejercicio anterior se tiene un escenario con inflación variable. Un </a:t>
            </a:r>
            <a:r>
              <a:rPr lang="es-CO" sz="2000" dirty="0">
                <a:solidFill>
                  <a:schemeClr val="accent1"/>
                </a:solidFill>
                <a:latin typeface="Century Gothic"/>
              </a:rPr>
              <a:t>ejemplo sería considerar otra economía donde llevar a cabo el análisis y desarrollo del proyecto. En esta situación, supongamos que los precios se proyectan con el incremento inflacionario*, tomando de referencia el año t=0.</a:t>
            </a:r>
          </a:p>
          <a:p>
            <a:pPr marL="0" indent="0">
              <a:buNone/>
            </a:pPr>
            <a:endParaRPr lang="es-CO" sz="20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F3ED6-508C-BC8B-AE78-23653EADF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E43E429-E846-5407-1CB9-580A2EA35B1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54FE543A-1D45-E20F-608E-AB58F5E75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570F22C-6DE4-3AA2-A80E-51ED98DB2A6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26DD935-8C46-7D83-3702-8D81D078A8C5}"/>
              </a:ext>
            </a:extLst>
          </p:cNvPr>
          <p:cNvSpPr txBox="1"/>
          <p:nvPr/>
        </p:nvSpPr>
        <p:spPr>
          <a:xfrm>
            <a:off x="539834" y="5718993"/>
            <a:ext cx="10684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*Otra situación usual es proyectar los precios con tasas por arriba de las tasas inflacionarias, en cuyo caso, el proceso es el mismo que el acá ilustrado.</a:t>
            </a: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B2FED732-4E12-E612-CA94-ABD0FD212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054042"/>
              </p:ext>
            </p:extLst>
          </p:nvPr>
        </p:nvGraphicFramePr>
        <p:xfrm>
          <a:off x="1878115" y="4593477"/>
          <a:ext cx="843577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110">
                  <a:extLst>
                    <a:ext uri="{9D8B030D-6E8A-4147-A177-3AD203B41FA5}">
                      <a16:colId xmlns:a16="http://schemas.microsoft.com/office/drawing/2014/main" val="3448071219"/>
                    </a:ext>
                  </a:extLst>
                </a:gridCol>
                <a:gridCol w="1205110">
                  <a:extLst>
                    <a:ext uri="{9D8B030D-6E8A-4147-A177-3AD203B41FA5}">
                      <a16:colId xmlns:a16="http://schemas.microsoft.com/office/drawing/2014/main" val="3756713326"/>
                    </a:ext>
                  </a:extLst>
                </a:gridCol>
                <a:gridCol w="1205110">
                  <a:extLst>
                    <a:ext uri="{9D8B030D-6E8A-4147-A177-3AD203B41FA5}">
                      <a16:colId xmlns:a16="http://schemas.microsoft.com/office/drawing/2014/main" val="438723783"/>
                    </a:ext>
                  </a:extLst>
                </a:gridCol>
                <a:gridCol w="1205110">
                  <a:extLst>
                    <a:ext uri="{9D8B030D-6E8A-4147-A177-3AD203B41FA5}">
                      <a16:colId xmlns:a16="http://schemas.microsoft.com/office/drawing/2014/main" val="3901456325"/>
                    </a:ext>
                  </a:extLst>
                </a:gridCol>
                <a:gridCol w="1205110">
                  <a:extLst>
                    <a:ext uri="{9D8B030D-6E8A-4147-A177-3AD203B41FA5}">
                      <a16:colId xmlns:a16="http://schemas.microsoft.com/office/drawing/2014/main" val="3023400028"/>
                    </a:ext>
                  </a:extLst>
                </a:gridCol>
                <a:gridCol w="1205110">
                  <a:extLst>
                    <a:ext uri="{9D8B030D-6E8A-4147-A177-3AD203B41FA5}">
                      <a16:colId xmlns:a16="http://schemas.microsoft.com/office/drawing/2014/main" val="1895589594"/>
                    </a:ext>
                  </a:extLst>
                </a:gridCol>
                <a:gridCol w="1205110">
                  <a:extLst>
                    <a:ext uri="{9D8B030D-6E8A-4147-A177-3AD203B41FA5}">
                      <a16:colId xmlns:a16="http://schemas.microsoft.com/office/drawing/2014/main" val="38320647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343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Inflación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4,5%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3,5%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6,0%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5,5%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957484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A523F5BE-0045-01F4-155C-38A1D79C6AF5}"/>
              </a:ext>
            </a:extLst>
          </p:cNvPr>
          <p:cNvSpPr txBox="1"/>
          <p:nvPr/>
        </p:nvSpPr>
        <p:spPr>
          <a:xfrm>
            <a:off x="4479083" y="3998909"/>
            <a:ext cx="3233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Inflación Variable</a:t>
            </a:r>
          </a:p>
        </p:txBody>
      </p:sp>
    </p:spTree>
    <p:extLst>
      <p:ext uri="{BB962C8B-B14F-4D97-AF65-F5344CB8AC3E}">
        <p14:creationId xmlns:p14="http://schemas.microsoft.com/office/powerpoint/2010/main" val="2971010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5B45E-95CC-4EC9-C6E1-D3E687A6E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0BAD-25D9-66C1-DC30-DE6ED22A0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6592E-F1A2-B8FF-788F-5DA8C5908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30C6318-FAE1-2853-75BD-EE15554D776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BEC12262-E336-745B-E31A-FA88D58C9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4762E8F-CD24-F3BA-CF2B-1D46DCA742F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B53CB9A8-4C4E-B7DF-3060-0B1DD7120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663389"/>
              </p:ext>
            </p:extLst>
          </p:nvPr>
        </p:nvGraphicFramePr>
        <p:xfrm>
          <a:off x="520417" y="2181217"/>
          <a:ext cx="11029618" cy="4095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22898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18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Inflación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s-ES_tradnl" sz="1400" b="1" kern="1200" noProof="0" dirty="0">
                        <a:solidFill>
                          <a:schemeClr val="l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4,5%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2405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2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2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2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2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2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2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2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0009C6DA-7398-CEB2-CE35-134271B2D076}"/>
              </a:ext>
            </a:extLst>
          </p:cNvPr>
          <p:cNvSpPr txBox="1"/>
          <p:nvPr/>
        </p:nvSpPr>
        <p:spPr>
          <a:xfrm>
            <a:off x="520417" y="1805273"/>
            <a:ext cx="85705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</a:pPr>
            <a:r>
              <a:rPr lang="es-CO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1. Realizar el escenario tradicional o con pesos nominales</a:t>
            </a:r>
          </a:p>
        </p:txBody>
      </p:sp>
    </p:spTree>
    <p:extLst>
      <p:ext uri="{BB962C8B-B14F-4D97-AF65-F5344CB8AC3E}">
        <p14:creationId xmlns:p14="http://schemas.microsoft.com/office/powerpoint/2010/main" val="3728989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FEC12-D272-73D9-68BF-E339A446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91E8F-6125-3755-487F-F6CBEC5E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011E8-D1C3-072D-9C34-12258AF1D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6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5729794-04DF-DC33-B77E-CF11B67C1FB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1FAAECB-397E-69CB-1083-092D48039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5043613-9E0C-C44F-40A2-CFAC97C6FB5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06A8BCEA-EF97-83A5-5AD6-61698D8E3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963937"/>
              </p:ext>
            </p:extLst>
          </p:nvPr>
        </p:nvGraphicFramePr>
        <p:xfrm>
          <a:off x="520417" y="2181217"/>
          <a:ext cx="11029618" cy="4095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22898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18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Inflación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s-ES_tradnl" sz="1400" b="1" kern="1200" noProof="0" dirty="0">
                        <a:solidFill>
                          <a:schemeClr val="l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4,5%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2405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$10.973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$11.357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$12.038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$12.700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2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2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2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60664F55-EDDD-B982-2E93-603E70766A5C}"/>
              </a:ext>
            </a:extLst>
          </p:cNvPr>
          <p:cNvSpPr txBox="1"/>
          <p:nvPr/>
        </p:nvSpPr>
        <p:spPr>
          <a:xfrm>
            <a:off x="520417" y="1805273"/>
            <a:ext cx="85705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</a:pPr>
            <a:r>
              <a:rPr lang="es-CO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1. Realizar el escenario tradicional o con pesos nominales</a:t>
            </a:r>
          </a:p>
        </p:txBody>
      </p:sp>
    </p:spTree>
    <p:extLst>
      <p:ext uri="{BB962C8B-B14F-4D97-AF65-F5344CB8AC3E}">
        <p14:creationId xmlns:p14="http://schemas.microsoft.com/office/powerpoint/2010/main" val="2120400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64045-8D15-013A-9F7A-BDAC3FBC1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251C6-E73B-BD5F-E600-C7ABB83CA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A678D-09CA-C628-A02F-B824B98A3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7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DFAFAF9-7343-B6E4-295A-19041CDB72D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57C8F40C-3EA8-477D-74E9-5E8821232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DFBC443F-053C-8684-5FB3-0487DBD3738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D626AB27-515C-81C1-8686-464D8C0CEC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81184"/>
              </p:ext>
            </p:extLst>
          </p:nvPr>
        </p:nvGraphicFramePr>
        <p:xfrm>
          <a:off x="520418" y="2212241"/>
          <a:ext cx="11029618" cy="3779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277209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09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Inflación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s-ES_tradnl" sz="1400" b="1" kern="1200" noProof="0" dirty="0">
                        <a:solidFill>
                          <a:schemeClr val="l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4,5%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24051"/>
                  </a:ext>
                </a:extLst>
              </a:tr>
              <a:tr h="283448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$10.973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$11.357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$12.038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$12.700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48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2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48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$ 10.500.000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$ 10.972.500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$ 11.356.538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$ 12.037.930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$ 12.700.016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48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$ 2.625.000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$ 2.743.125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$ 2.839.134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$ 3.009.482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$ 3.175.004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48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$ 7.875.000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$ 8.229.375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$ 8.517.403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$ 9.028.447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$ 9.525.012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283448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283448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$ 3.875.000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$ 4.229.375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$ 4.517.403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$ 5.028.447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$ 5.525.012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283448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283448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20.000.000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35916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$1.278.750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$1.395.694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$1.490.743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$1.659.388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$1.823.254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283448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2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$-20.000.000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$ 6.596.250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$ 6.833.681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$ 7.026.660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$ 7.369.060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$ 7.701.758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A60836FC-51CF-F282-03D6-E918AE359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619787"/>
              </p:ext>
            </p:extLst>
          </p:nvPr>
        </p:nvGraphicFramePr>
        <p:xfrm>
          <a:off x="520418" y="6000014"/>
          <a:ext cx="3459400" cy="62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1456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07944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 Nominal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22,10%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b="1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Nominal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="1" i="0" u="none" strike="noStrike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$ 3.565.676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263349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E208B217-1EDA-4DCE-95F6-B63426603654}"/>
              </a:ext>
            </a:extLst>
          </p:cNvPr>
          <p:cNvSpPr txBox="1"/>
          <p:nvPr/>
        </p:nvSpPr>
        <p:spPr>
          <a:xfrm>
            <a:off x="4127458" y="6188521"/>
            <a:ext cx="284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entury Gothic" panose="020B0502020202020204" pitchFamily="34" charset="0"/>
              </a:rPr>
              <a:t>WACC Nominal 15%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BB58F09-E05B-E6AA-ED97-0C88619C12F6}"/>
              </a:ext>
            </a:extLst>
          </p:cNvPr>
          <p:cNvSpPr txBox="1"/>
          <p:nvPr/>
        </p:nvSpPr>
        <p:spPr>
          <a:xfrm>
            <a:off x="520417" y="1805273"/>
            <a:ext cx="85705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</a:pPr>
            <a:r>
              <a:rPr lang="es-CO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2. </a:t>
            </a:r>
            <a:r>
              <a:rPr lang="es-MX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Obtener los </a:t>
            </a:r>
            <a:r>
              <a:rPr lang="es-MX" sz="16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 en precios nominales y cálculo de los </a:t>
            </a:r>
            <a:r>
              <a:rPr lang="es-MX" sz="16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IBF</a:t>
            </a:r>
            <a:r>
              <a:rPr lang="es-MX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 pertinentes</a:t>
            </a:r>
          </a:p>
        </p:txBody>
      </p:sp>
    </p:spTree>
    <p:extLst>
      <p:ext uri="{BB962C8B-B14F-4D97-AF65-F5344CB8AC3E}">
        <p14:creationId xmlns:p14="http://schemas.microsoft.com/office/powerpoint/2010/main" val="303681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90355-26BA-424E-1146-CAAF0EDCA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24E5-1F9E-2187-EFA2-B521E2A76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INFLACIÓN VARIABLE - PROCESO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507F6-1D1A-BC61-5BB6-6C3503C8B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8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D7CF7FB-2EC5-6101-DED7-9C510D844A2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31A9992D-CA8C-DC60-CC33-1B8E9232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FE3D32C-6B80-D4C1-2066-E8A6C5A63E5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52627C2-E3E1-8928-5A50-59177928F093}"/>
              </a:ext>
            </a:extLst>
          </p:cNvPr>
          <p:cNvSpPr txBox="1"/>
          <p:nvPr/>
        </p:nvSpPr>
        <p:spPr>
          <a:xfrm>
            <a:off x="539834" y="19125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3. Deflactar los precios nominales o corrientes</a:t>
            </a:r>
            <a:endParaRPr lang="en-US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3" name="Table 24">
            <a:extLst>
              <a:ext uri="{FF2B5EF4-FFF2-40B4-BE49-F238E27FC236}">
                <a16:creationId xmlns:a16="http://schemas.microsoft.com/office/drawing/2014/main" id="{05D62A68-D4F3-69F2-3CB7-B83CB442F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58425"/>
              </p:ext>
            </p:extLst>
          </p:nvPr>
        </p:nvGraphicFramePr>
        <p:xfrm>
          <a:off x="517693" y="2309027"/>
          <a:ext cx="11029618" cy="92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22898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18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Inflación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s-ES_tradnl" sz="1400" b="1" kern="1200" noProof="0" dirty="0">
                        <a:solidFill>
                          <a:schemeClr val="l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4,5%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2405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4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r>
                        <a:rPr lang="es-ES_tradnl" sz="14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Nominal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$-20.000.000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$ 6.596.250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$ 6.833.681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$ 7.026.660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$ 7.369.060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$ 7.701.758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003BDE77-6446-3EBE-8168-1162489AE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788084"/>
              </p:ext>
            </p:extLst>
          </p:nvPr>
        </p:nvGraphicFramePr>
        <p:xfrm>
          <a:off x="517693" y="3240368"/>
          <a:ext cx="3466109" cy="62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41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0868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22,10%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b="1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="1" i="0" u="none" strike="noStrike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$ 3.565.676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263349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E6D57402-2A1F-55A1-2670-5EBC1E883201}"/>
              </a:ext>
            </a:extLst>
          </p:cNvPr>
          <p:cNvSpPr txBox="1"/>
          <p:nvPr/>
        </p:nvSpPr>
        <p:spPr>
          <a:xfrm>
            <a:off x="1814857" y="4029513"/>
            <a:ext cx="8562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Usemos el enfoque de convertir directamente los FCL nominales o corrientes a reales o constantes mediante el Factor Inflacionario.</a:t>
            </a:r>
          </a:p>
        </p:txBody>
      </p:sp>
      <p:graphicFrame>
        <p:nvGraphicFramePr>
          <p:cNvPr id="17" name="Table 24">
            <a:extLst>
              <a:ext uri="{FF2B5EF4-FFF2-40B4-BE49-F238E27FC236}">
                <a16:creationId xmlns:a16="http://schemas.microsoft.com/office/drawing/2014/main" id="{DE3D4628-1D71-EC4A-D91F-1F5AC1FE5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247262"/>
              </p:ext>
            </p:extLst>
          </p:nvPr>
        </p:nvGraphicFramePr>
        <p:xfrm>
          <a:off x="517693" y="4841669"/>
          <a:ext cx="11029618" cy="92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22898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18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Factor inflacionario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1,05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1,097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1,135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1,203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1,270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2405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400" b="1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r>
                        <a:rPr lang="es-ES_tradnl" sz="1400" b="1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$-20.000.000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$6.282.143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$6.228.008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$6.187.326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$6.121.534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$6.064.369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7F38895-1AC6-CE57-6830-078AD4D7C9DE}"/>
                  </a:ext>
                </a:extLst>
              </p:cNvPr>
              <p:cNvSpPr txBox="1"/>
              <p:nvPr/>
            </p:nvSpPr>
            <p:spPr>
              <a:xfrm>
                <a:off x="6635834" y="5883718"/>
                <a:ext cx="3239605" cy="54425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419" b="0" i="0" smtClean="0">
                          <a:latin typeface="Cambria Math" panose="02040503050406030204" pitchFamily="18" charset="0"/>
                        </a:rPr>
                        <m:t>FC</m:t>
                      </m:r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419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s-419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419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s-CO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</a:rPr>
                            <m:t>6.833.681 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s-CO" b="1" dirty="0">
                              <a:solidFill>
                                <a:schemeClr val="accent1"/>
                              </a:solidFill>
                              <a:latin typeface="Calibri" panose="020F0502020204030204" pitchFamily="34" charset="0"/>
                            </a:rPr>
                            <m:t>1,097 </m:t>
                          </m:r>
                        </m:den>
                      </m:f>
                      <m:r>
                        <a:rPr lang="es-419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419" b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m:rPr>
                          <m:nor/>
                        </m:rPr>
                        <a:rPr lang="es-419" b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CO" b="1" dirty="0" smtClean="0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</a:rPr>
                        <m:t>6.228.008</m:t>
                      </m:r>
                    </m:oMath>
                  </m:oMathPara>
                </a14:m>
                <a:endParaRPr lang="es-CO" b="1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7F38895-1AC6-CE57-6830-078AD4D7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834" y="5883718"/>
                <a:ext cx="3239605" cy="544252"/>
              </a:xfrm>
              <a:prstGeom prst="rect">
                <a:avLst/>
              </a:prstGeom>
              <a:blipFill>
                <a:blip r:embed="rId3"/>
                <a:stretch>
                  <a:fillRect b="-1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curvado 3">
            <a:extLst>
              <a:ext uri="{FF2B5EF4-FFF2-40B4-BE49-F238E27FC236}">
                <a16:creationId xmlns:a16="http://schemas.microsoft.com/office/drawing/2014/main" id="{49D68AB2-53CA-3553-BB14-75DE11C06BE8}"/>
              </a:ext>
            </a:extLst>
          </p:cNvPr>
          <p:cNvCxnSpPr>
            <a:cxnSpLocks/>
            <a:stCxn id="17" idx="2"/>
            <a:endCxn id="18" idx="1"/>
          </p:cNvCxnSpPr>
          <p:nvPr/>
        </p:nvCxnSpPr>
        <p:spPr>
          <a:xfrm rot="16200000" flipH="1">
            <a:off x="6137711" y="5657720"/>
            <a:ext cx="392915" cy="60333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CBF4454-C9F1-265B-4678-9C0E73FE2ECA}"/>
              </a:ext>
            </a:extLst>
          </p:cNvPr>
          <p:cNvSpPr txBox="1"/>
          <p:nvPr/>
        </p:nvSpPr>
        <p:spPr>
          <a:xfrm>
            <a:off x="4672593" y="3398139"/>
            <a:ext cx="284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entury Gothic" panose="020B0502020202020204" pitchFamily="34" charset="0"/>
              </a:rPr>
              <a:t>WACC Nominal = 15%</a:t>
            </a:r>
          </a:p>
        </p:txBody>
      </p:sp>
    </p:spTree>
    <p:extLst>
      <p:ext uri="{BB962C8B-B14F-4D97-AF65-F5344CB8AC3E}">
        <p14:creationId xmlns:p14="http://schemas.microsoft.com/office/powerpoint/2010/main" val="321703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5C7F7-8060-B000-429D-35C6F9835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A270E-7CAB-30CD-8067-3D2B153FC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INFLACIÓN VARIABLE - PROCESO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698E3-6E83-903C-E054-470E0479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9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EADABB7-4C66-228B-2644-6FAE0124E53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BE33198C-2C88-9E0B-C6BF-70239823B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BB709B3D-78D9-2B48-6A17-0E0A3AAEAD1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8E4AB5-264B-6E60-1992-88194C2B8102}"/>
              </a:ext>
            </a:extLst>
          </p:cNvPr>
          <p:cNvSpPr txBox="1"/>
          <p:nvPr/>
        </p:nvSpPr>
        <p:spPr>
          <a:xfrm>
            <a:off x="539834" y="1978060"/>
            <a:ext cx="10018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Century Gothic" panose="020B0502020202020204" pitchFamily="34" charset="0"/>
              </a:rPr>
              <a:t>4. Obtener las tasas constantes o reales del </a:t>
            </a:r>
            <a:r>
              <a:rPr lang="es-MX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WACC</a:t>
            </a:r>
            <a:r>
              <a:rPr lang="es-MX" dirty="0">
                <a:solidFill>
                  <a:schemeClr val="accent1"/>
                </a:solidFill>
                <a:latin typeface="Century Gothic" panose="020B0502020202020204" pitchFamily="34" charset="0"/>
              </a:rPr>
              <a:t> usando la ecuación de Fisher.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1B32A6F-A765-C1A8-E37F-0BEFCF537C35}"/>
              </a:ext>
            </a:extLst>
          </p:cNvPr>
          <p:cNvSpPr txBox="1"/>
          <p:nvPr/>
        </p:nvSpPr>
        <p:spPr>
          <a:xfrm>
            <a:off x="4692014" y="3318643"/>
            <a:ext cx="28468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entury Gothic" panose="020B0502020202020204" pitchFamily="34" charset="0"/>
              </a:rPr>
              <a:t>WACC Nominal = 15%</a:t>
            </a:r>
          </a:p>
        </p:txBody>
      </p:sp>
      <p:graphicFrame>
        <p:nvGraphicFramePr>
          <p:cNvPr id="17" name="Table 24">
            <a:extLst>
              <a:ext uri="{FF2B5EF4-FFF2-40B4-BE49-F238E27FC236}">
                <a16:creationId xmlns:a16="http://schemas.microsoft.com/office/drawing/2014/main" id="{F9C117F9-8065-AB63-A529-BC3ECA5E9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824339"/>
              </p:ext>
            </p:extLst>
          </p:nvPr>
        </p:nvGraphicFramePr>
        <p:xfrm>
          <a:off x="539834" y="3909125"/>
          <a:ext cx="11029618" cy="123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226011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18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Inflación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4,5%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4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2405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400" b="1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r>
                        <a:rPr lang="es-ES_tradnl" sz="1400" b="1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$-20.000.000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$6.282.143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$6.228.008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$6.187.326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$6.121.534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4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$6.064.369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400" b="1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WACC</a:t>
                      </a:r>
                      <a:r>
                        <a:rPr lang="es-ES_tradnl" sz="1400" b="1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4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9,52%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10,05%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11,11%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8,49%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9,00%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5192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91B4BE4-C64A-608A-FD85-1EB81FBCD66B}"/>
                  </a:ext>
                </a:extLst>
              </p:cNvPr>
              <p:cNvSpPr txBox="1"/>
              <p:nvPr/>
            </p:nvSpPr>
            <p:spPr>
              <a:xfrm>
                <a:off x="1770004" y="5464151"/>
                <a:ext cx="2300630" cy="5367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𝑊𝐴𝐶𝐶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s-CO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1+15%</m:t>
                          </m:r>
                          <m:r>
                            <m:rPr>
                              <m:nor/>
                            </m:rPr>
                            <a:rPr lang="es-CO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s-CO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1+5%</m:t>
                          </m:r>
                        </m:den>
                      </m:f>
                      <m:r>
                        <a:rPr lang="es-CO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s-CO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91B4BE4-C64A-608A-FD85-1EB81FBCD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004" y="5464151"/>
                <a:ext cx="2300630" cy="536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curvado 3">
            <a:extLst>
              <a:ext uri="{FF2B5EF4-FFF2-40B4-BE49-F238E27FC236}">
                <a16:creationId xmlns:a16="http://schemas.microsoft.com/office/drawing/2014/main" id="{A3339C1B-022B-B337-247C-7DBF11179DE0}"/>
              </a:ext>
            </a:extLst>
          </p:cNvPr>
          <p:cNvCxnSpPr>
            <a:cxnSpLocks/>
            <a:endCxn id="18" idx="3"/>
          </p:cNvCxnSpPr>
          <p:nvPr/>
        </p:nvCxnSpPr>
        <p:spPr>
          <a:xfrm rot="10800000" flipV="1">
            <a:off x="4070634" y="5142044"/>
            <a:ext cx="621380" cy="59048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0275CD0-4B03-F620-A8E5-D6A0AD2AEC2B}"/>
                  </a:ext>
                </a:extLst>
              </p:cNvPr>
              <p:cNvSpPr txBox="1"/>
              <p:nvPr/>
            </p:nvSpPr>
            <p:spPr>
              <a:xfrm>
                <a:off x="2198010" y="2568542"/>
                <a:ext cx="7674429" cy="4517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s-ES_tradnl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𝒏𝒐𝒎𝒊𝒏𝒂𝒍</m:t>
                          </m:r>
                          <m:r>
                            <a:rPr lang="es-ES_tradnl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s-ES_tradnl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𝒄𝒐𝒓𝒓𝒊𝒆𝒏𝒕𝒆</m:t>
                          </m:r>
                          <m:r>
                            <a:rPr lang="es-ES_tradnl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s-ES_tradnl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O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_tradnl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O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s-ES_tradnl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𝒓𝒆𝒂𝒍</m:t>
                              </m:r>
                              <m:r>
                                <a:rPr lang="es-ES_tradnl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s-CO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_tradnl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𝒄𝒐𝒏𝒔𝒕𝒂𝒏𝒕𝒆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d>
                        <m:dPr>
                          <m:ctrlPr>
                            <a:rPr lang="es-CO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_tradnl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O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s-ES_tradnl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𝒊𝒏𝒇𝒍𝒂𝒄𝒊</m:t>
                              </m:r>
                              <m:r>
                                <a:rPr lang="es-ES_tradnl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ES_tradnl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O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0275CD0-4B03-F620-A8E5-D6A0AD2AE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010" y="2568542"/>
                <a:ext cx="7674429" cy="451790"/>
              </a:xfrm>
              <a:prstGeom prst="rect">
                <a:avLst/>
              </a:prstGeom>
              <a:blipFill>
                <a:blip r:embed="rId4"/>
                <a:stretch>
                  <a:fillRect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F5E22A9B-E595-E397-0943-B39223C0CC5B}"/>
                  </a:ext>
                </a:extLst>
              </p:cNvPr>
              <p:cNvSpPr txBox="1"/>
              <p:nvPr/>
            </p:nvSpPr>
            <p:spPr>
              <a:xfrm>
                <a:off x="6702924" y="5445749"/>
                <a:ext cx="2384294" cy="55540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𝑊𝐴𝐶𝐶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419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s-CO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1+15%</m:t>
                          </m:r>
                          <m:r>
                            <m:rPr>
                              <m:nor/>
                            </m:rPr>
                            <a:rPr lang="es-CO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s-CO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1+4,5%</m:t>
                          </m:r>
                        </m:den>
                      </m:f>
                      <m:r>
                        <a:rPr lang="es-CO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s-CO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F5E22A9B-E595-E397-0943-B39223C0C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2924" y="5445749"/>
                <a:ext cx="2384294" cy="5554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ector curvado 3">
            <a:extLst>
              <a:ext uri="{FF2B5EF4-FFF2-40B4-BE49-F238E27FC236}">
                <a16:creationId xmlns:a16="http://schemas.microsoft.com/office/drawing/2014/main" id="{B0D327B0-3ECD-DC04-73C8-517833B6E448}"/>
              </a:ext>
            </a:extLst>
          </p:cNvPr>
          <p:cNvCxnSpPr>
            <a:cxnSpLocks/>
            <a:stCxn id="17" idx="2"/>
            <a:endCxn id="23" idx="1"/>
          </p:cNvCxnSpPr>
          <p:nvPr/>
        </p:nvCxnSpPr>
        <p:spPr>
          <a:xfrm rot="16200000" flipH="1">
            <a:off x="6088079" y="5108608"/>
            <a:ext cx="581408" cy="64828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89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EAEEC-1F60-DBCE-BBB8-64E6FE4D8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83363-1E23-923F-4E54-16C327A04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INFLACIÓN VARIABLE - PROCESO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363D6-A3B6-05EB-CEC3-F4E342697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10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6B58C80-7DCF-EA00-D815-9CC08988A0A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7730685A-3E0C-AD8A-59AF-5D70F7190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AD979BF-D2D5-D318-85CC-8B3D86FBA29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A945F08-A515-31D5-7D39-5F35235910BC}"/>
              </a:ext>
            </a:extLst>
          </p:cNvPr>
          <p:cNvSpPr txBox="1"/>
          <p:nvPr/>
        </p:nvSpPr>
        <p:spPr>
          <a:xfrm>
            <a:off x="539834" y="1978060"/>
            <a:ext cx="10018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Century Gothic" panose="020B0502020202020204" pitchFamily="34" charset="0"/>
              </a:rPr>
              <a:t>5. Determinar el VPN o el indicador propicio del </a:t>
            </a:r>
            <a:r>
              <a:rPr lang="es-MX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C4BF142-7D46-5A6E-477A-E8531F216ADC}"/>
              </a:ext>
            </a:extLst>
          </p:cNvPr>
          <p:cNvSpPr txBox="1"/>
          <p:nvPr/>
        </p:nvSpPr>
        <p:spPr>
          <a:xfrm>
            <a:off x="597628" y="2375622"/>
            <a:ext cx="11029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Calculamos los el VPN, descontando cada FCL por periodo en función de su WACC y sumándole el FCL del periodo anterior. Comenzamos con el último periodo.</a:t>
            </a:r>
          </a:p>
        </p:txBody>
      </p:sp>
      <p:graphicFrame>
        <p:nvGraphicFramePr>
          <p:cNvPr id="9" name="Table 24">
            <a:extLst>
              <a:ext uri="{FF2B5EF4-FFF2-40B4-BE49-F238E27FC236}">
                <a16:creationId xmlns:a16="http://schemas.microsoft.com/office/drawing/2014/main" id="{8D0056E0-4E19-45D8-0BCE-9826459C0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729140"/>
              </p:ext>
            </p:extLst>
          </p:nvPr>
        </p:nvGraphicFramePr>
        <p:xfrm>
          <a:off x="597628" y="3139523"/>
          <a:ext cx="11029618" cy="13689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247747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747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2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Inflación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2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2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2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4,5%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2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2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2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5,5%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24051"/>
                  </a:ext>
                </a:extLst>
              </a:tr>
              <a:tr h="281470">
                <a:tc>
                  <a:txBody>
                    <a:bodyPr/>
                    <a:lstStyle/>
                    <a:p>
                      <a:pPr algn="l"/>
                      <a:r>
                        <a:rPr lang="es-ES_tradnl" sz="1200" b="1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r>
                        <a:rPr lang="es-ES_tradnl" sz="1200" b="1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$-20.000.000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$6.282.143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$6.228.008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$6.187.326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kern="12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$6.121.534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$6.064.369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  <a:tr h="281470">
                <a:tc>
                  <a:txBody>
                    <a:bodyPr/>
                    <a:lstStyle/>
                    <a:p>
                      <a:pPr algn="l"/>
                      <a:r>
                        <a:rPr lang="es-ES_tradnl" sz="1200" b="1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WACC</a:t>
                      </a:r>
                      <a:r>
                        <a:rPr lang="es-ES_tradnl" sz="1200" b="1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9,52%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10,05%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11,11%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8,49%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9,00%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519238"/>
                  </a:ext>
                </a:extLst>
              </a:tr>
              <a:tr h="257397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 </a:t>
                      </a:r>
                      <a:r>
                        <a:rPr lang="es-CO" sz="1400" b="1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VPN Real</a:t>
                      </a:r>
                      <a:endParaRPr lang="es-CO" sz="1200" b="1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kern="1200" dirty="0">
                          <a:solidFill>
                            <a:srgbClr val="C0000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$ 3.565.676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$25.810.026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$21.490.015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$16.957.786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$11.684.933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$6.064.368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36419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041D8DE-76F6-9275-B737-A623FA6E024C}"/>
                  </a:ext>
                </a:extLst>
              </p:cNvPr>
              <p:cNvSpPr txBox="1"/>
              <p:nvPr/>
            </p:nvSpPr>
            <p:spPr>
              <a:xfrm>
                <a:off x="6754904" y="4677782"/>
                <a:ext cx="4320991" cy="6978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419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sSub>
                      <m:sSubPr>
                        <m:ctrlPr>
                          <a:rPr lang="es-419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419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s-419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s-419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419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s-419" sz="1600" b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$</m:t>
                            </m:r>
                            <m:r>
                              <m:rPr>
                                <m:nor/>
                              </m:rPr>
                              <a:rPr lang="es-CO" sz="1600" b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6.064.368 </m:t>
                            </m:r>
                          </m:num>
                          <m:den>
                            <m:r>
                              <a:rPr lang="es-419" sz="16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1+9%</m:t>
                            </m:r>
                          </m:den>
                        </m:f>
                      </m:e>
                    </m:d>
                    <m:r>
                      <a:rPr lang="es-419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s-419" sz="1600" b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</m:t>
                    </m:r>
                    <m:r>
                      <m:rPr>
                        <m:nor/>
                      </m:rPr>
                      <a:rPr lang="es-CO" sz="1600" b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6.121.534</m:t>
                    </m:r>
                  </m:oMath>
                </a14:m>
                <a:r>
                  <a:rPr lang="es-CO" sz="1400" b="1" dirty="0">
                    <a:solidFill>
                      <a:schemeClr val="accent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s-CO" sz="1400" b="1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:r>
                  <a:rPr lang="es-CO" sz="1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$11.684.933</a:t>
                </a:r>
                <a:endParaRPr lang="es-CO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s-CO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041D8DE-76F6-9275-B737-A623FA6E0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904" y="4677782"/>
                <a:ext cx="4320991" cy="697883"/>
              </a:xfrm>
              <a:prstGeom prst="rect">
                <a:avLst/>
              </a:prstGeom>
              <a:blipFill>
                <a:blip r:embed="rId3"/>
                <a:stretch>
                  <a:fillRect l="-1462" t="-3571" r="-1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D1B7FF3-FEE8-2649-41E9-96598D2C2378}"/>
                  </a:ext>
                </a:extLst>
              </p:cNvPr>
              <p:cNvSpPr txBox="1"/>
              <p:nvPr/>
            </p:nvSpPr>
            <p:spPr>
              <a:xfrm>
                <a:off x="651001" y="4649570"/>
                <a:ext cx="5057988" cy="7543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419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VPN</m:t>
                    </m:r>
                    <m:r>
                      <a:rPr lang="es-419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s-419" b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$ </m:t>
                            </m:r>
                            <m:r>
                              <m:rPr>
                                <m:nor/>
                              </m:rPr>
                              <a:rPr lang="es-419" b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25.810.026</m:t>
                            </m:r>
                            <m:r>
                              <m:rPr>
                                <m:nor/>
                              </m:rPr>
                              <a:rPr lang="es-CO" b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a:rPr lang="es-419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1+9</m:t>
                            </m:r>
                            <m:r>
                              <a:rPr lang="es-419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,62</m:t>
                            </m:r>
                            <m:r>
                              <a:rPr lang="es-419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%</m:t>
                            </m:r>
                          </m:den>
                        </m:f>
                      </m:e>
                    </m:d>
                    <m:r>
                      <a:rPr lang="es-419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−20.000.000</m:t>
                    </m:r>
                  </m:oMath>
                </a14:m>
                <a:r>
                  <a:rPr lang="es-CO" sz="1600" b="1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s-CO" sz="16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:r>
                  <a:rPr lang="es-CO" sz="1600" b="1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$ 3.565.676</a:t>
                </a:r>
              </a:p>
              <a:p>
                <a:endParaRPr lang="es-CO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D1B7FF3-FEE8-2649-41E9-96598D2C2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01" y="4649570"/>
                <a:ext cx="5057988" cy="754309"/>
              </a:xfrm>
              <a:prstGeom prst="rect">
                <a:avLst/>
              </a:prstGeom>
              <a:blipFill>
                <a:blip r:embed="rId4"/>
                <a:stretch>
                  <a:fillRect l="-1504" t="-5000" r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uadroTexto 12">
            <a:extLst>
              <a:ext uri="{FF2B5EF4-FFF2-40B4-BE49-F238E27FC236}">
                <a16:creationId xmlns:a16="http://schemas.microsoft.com/office/drawing/2014/main" id="{D5DFF881-166B-87CE-183C-C2C35932D047}"/>
              </a:ext>
            </a:extLst>
          </p:cNvPr>
          <p:cNvSpPr txBox="1"/>
          <p:nvPr/>
        </p:nvSpPr>
        <p:spPr>
          <a:xfrm>
            <a:off x="1651514" y="5278249"/>
            <a:ext cx="888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Como podemos ver, el VPN ante el escenario nominal y real son consistentes.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CE221944-90C1-AAF8-7F2B-9AB3B658A29D}"/>
              </a:ext>
            </a:extLst>
          </p:cNvPr>
          <p:cNvGrpSpPr/>
          <p:nvPr/>
        </p:nvGrpSpPr>
        <p:grpSpPr>
          <a:xfrm>
            <a:off x="3067425" y="5843448"/>
            <a:ext cx="6057150" cy="523220"/>
            <a:chOff x="3492241" y="5891452"/>
            <a:chExt cx="6057150" cy="523220"/>
          </a:xfrm>
        </p:grpSpPr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20E266C3-EC36-8EA5-7973-AA0E3339D6BE}"/>
                </a:ext>
              </a:extLst>
            </p:cNvPr>
            <p:cNvSpPr txBox="1"/>
            <p:nvPr/>
          </p:nvSpPr>
          <p:spPr>
            <a:xfrm>
              <a:off x="3492241" y="5891452"/>
              <a:ext cx="288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Century Gothic" panose="020B0502020202020204" pitchFamily="34" charset="0"/>
                </a:rPr>
                <a:t>VPN CORRIENTE/NOMINAL</a:t>
              </a:r>
            </a:p>
            <a:p>
              <a:pPr algn="ctr"/>
              <a:r>
                <a:rPr lang="es-ES_tradnl" sz="1400" b="1" dirty="0">
                  <a:solidFill>
                    <a:srgbClr val="C00000"/>
                  </a:solidFill>
                  <a:latin typeface="Century Gothic" panose="020B0502020202020204" pitchFamily="34" charset="0"/>
                </a:rPr>
                <a:t>$3.565.676</a:t>
              </a:r>
              <a:endParaRPr lang="en-US" sz="1400" b="1" dirty="0">
                <a:solidFill>
                  <a:srgbClr val="C00000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4B471471-8A16-FF15-2F5D-23DC7ACAFB76}"/>
                </a:ext>
              </a:extLst>
            </p:cNvPr>
            <p:cNvSpPr txBox="1"/>
            <p:nvPr/>
          </p:nvSpPr>
          <p:spPr>
            <a:xfrm>
              <a:off x="6669391" y="5891452"/>
              <a:ext cx="288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Century Gothic" panose="020B0502020202020204" pitchFamily="34" charset="0"/>
                </a:rPr>
                <a:t>VPN CONSTANTE/REAL</a:t>
              </a:r>
            </a:p>
            <a:p>
              <a:pPr algn="ctr"/>
              <a:r>
                <a:rPr lang="es-ES_tradnl" sz="1400" b="1" dirty="0">
                  <a:solidFill>
                    <a:srgbClr val="C00000"/>
                  </a:solidFill>
                  <a:latin typeface="Century Gothic" panose="020B0502020202020204" pitchFamily="34" charset="0"/>
                </a:rPr>
                <a:t>$3.565.676</a:t>
              </a:r>
              <a:endParaRPr lang="en-US" sz="1400" b="1" dirty="0">
                <a:solidFill>
                  <a:srgbClr val="C00000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B4C199CB-80E8-7CF3-413C-FAEA327673AC}"/>
                </a:ext>
              </a:extLst>
            </p:cNvPr>
            <p:cNvSpPr txBox="1"/>
            <p:nvPr/>
          </p:nvSpPr>
          <p:spPr>
            <a:xfrm>
              <a:off x="6217379" y="5968396"/>
              <a:ext cx="89179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latin typeface="Century Gothic" panose="020B0502020202020204" pitchFamily="34" charset="0"/>
                </a:rPr>
                <a:t>=</a:t>
              </a:r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65C8D3C-FFA8-ADF5-5B53-A003C58BCF06}"/>
              </a:ext>
            </a:extLst>
          </p:cNvPr>
          <p:cNvSpPr/>
          <p:nvPr/>
        </p:nvSpPr>
        <p:spPr>
          <a:xfrm>
            <a:off x="3276600" y="5724525"/>
            <a:ext cx="5638800" cy="7564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ector curvado 14">
            <a:extLst>
              <a:ext uri="{FF2B5EF4-FFF2-40B4-BE49-F238E27FC236}">
                <a16:creationId xmlns:a16="http://schemas.microsoft.com/office/drawing/2014/main" id="{AF914FD8-2D0D-A425-9495-45271D3C3175}"/>
              </a:ext>
            </a:extLst>
          </p:cNvPr>
          <p:cNvCxnSpPr/>
          <p:nvPr/>
        </p:nvCxnSpPr>
        <p:spPr>
          <a:xfrm>
            <a:off x="3378200" y="4532573"/>
            <a:ext cx="1397000" cy="242627"/>
          </a:xfrm>
          <a:prstGeom prst="curvedConnector3">
            <a:avLst>
              <a:gd name="adj1" fmla="val 1009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curvado 17">
            <a:extLst>
              <a:ext uri="{FF2B5EF4-FFF2-40B4-BE49-F238E27FC236}">
                <a16:creationId xmlns:a16="http://schemas.microsoft.com/office/drawing/2014/main" id="{FCC7DBEE-DEAF-7753-6D8E-F944E9AFA777}"/>
              </a:ext>
            </a:extLst>
          </p:cNvPr>
          <p:cNvCxnSpPr>
            <a:cxnSpLocks/>
          </p:cNvCxnSpPr>
          <p:nvPr/>
        </p:nvCxnSpPr>
        <p:spPr>
          <a:xfrm>
            <a:off x="9385300" y="4532573"/>
            <a:ext cx="850900" cy="242627"/>
          </a:xfrm>
          <a:prstGeom prst="curvedConnector3">
            <a:avLst>
              <a:gd name="adj1" fmla="val 1022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40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3" grpId="0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D834F-A9A8-9654-AC3E-622B06C4F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D30FB-FC8A-5309-EC96-B85184C43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INFLACIÓN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8E3B7-C083-78E8-DCCA-913FB088E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11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AF82B5C-DDA3-5C56-91DF-4017903AF8D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B2DDAE02-E425-5EE8-DC9A-BA153305C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EACD69A0-B024-D685-CD2B-467FC44AE6A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F039CA1-6828-1C37-DD44-CCF5FF00F8FE}"/>
              </a:ext>
            </a:extLst>
          </p:cNvPr>
          <p:cNvSpPr txBox="1"/>
          <p:nvPr/>
        </p:nvSpPr>
        <p:spPr>
          <a:xfrm>
            <a:off x="641965" y="5032807"/>
            <a:ext cx="108996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Recordando, el VPN del escenario de inflación constante (Escenario 1)es mayor, por lo que, en la selección de la economía (país) a desarrollar el proyecto, se elegiría aquél que permita maximizar el valor del mismo, dadas las condiciones económicas en el cual se desarrollará.</a:t>
            </a:r>
          </a:p>
        </p:txBody>
      </p:sp>
      <p:graphicFrame>
        <p:nvGraphicFramePr>
          <p:cNvPr id="33" name="Tabla 32">
            <a:extLst>
              <a:ext uri="{FF2B5EF4-FFF2-40B4-BE49-F238E27FC236}">
                <a16:creationId xmlns:a16="http://schemas.microsoft.com/office/drawing/2014/main" id="{2A511B3C-627A-62FC-45EB-A401BB02F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011441"/>
              </p:ext>
            </p:extLst>
          </p:nvPr>
        </p:nvGraphicFramePr>
        <p:xfrm>
          <a:off x="1689100" y="1949918"/>
          <a:ext cx="7431690" cy="2920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7230">
                  <a:extLst>
                    <a:ext uri="{9D8B030D-6E8A-4147-A177-3AD203B41FA5}">
                      <a16:colId xmlns:a16="http://schemas.microsoft.com/office/drawing/2014/main" val="1547052318"/>
                    </a:ext>
                  </a:extLst>
                </a:gridCol>
                <a:gridCol w="2477230">
                  <a:extLst>
                    <a:ext uri="{9D8B030D-6E8A-4147-A177-3AD203B41FA5}">
                      <a16:colId xmlns:a16="http://schemas.microsoft.com/office/drawing/2014/main" val="1629281632"/>
                    </a:ext>
                  </a:extLst>
                </a:gridCol>
                <a:gridCol w="2477230">
                  <a:extLst>
                    <a:ext uri="{9D8B030D-6E8A-4147-A177-3AD203B41FA5}">
                      <a16:colId xmlns:a16="http://schemas.microsoft.com/office/drawing/2014/main" val="730417682"/>
                    </a:ext>
                  </a:extLst>
                </a:gridCol>
              </a:tblGrid>
              <a:tr h="393603">
                <a:tc>
                  <a:txBody>
                    <a:bodyPr/>
                    <a:lstStyle/>
                    <a:p>
                      <a:r>
                        <a:rPr lang="es-CO" dirty="0">
                          <a:latin typeface="Century Gothic" panose="020B0502020202020204" pitchFamily="34" charset="0"/>
                        </a:rPr>
                        <a:t>Escenario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dirty="0">
                          <a:latin typeface="Century Gothic" panose="020B0502020202020204" pitchFamily="34" charset="0"/>
                        </a:rPr>
                        <a:t>Método / VPN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585473"/>
                  </a:ext>
                </a:extLst>
              </a:tr>
              <a:tr h="653679">
                <a:tc rowSpan="2">
                  <a:txBody>
                    <a:bodyPr/>
                    <a:lstStyle/>
                    <a:p>
                      <a:r>
                        <a:rPr lang="es-CO" b="1" dirty="0">
                          <a:latin typeface="Century Gothic" panose="020B0502020202020204" pitchFamily="34" charset="0"/>
                        </a:rPr>
                        <a:t>1: Inflación constante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Century Gothic" panose="020B0502020202020204" pitchFamily="34" charset="0"/>
                        </a:rPr>
                        <a:t>Corriente o Nominal: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n-US" sz="1800" b="1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$ 4.231.457 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5881481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Century Gothic" panose="020B0502020202020204" pitchFamily="34" charset="0"/>
                        </a:rPr>
                        <a:t>Constante o Real: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882657"/>
                  </a:ext>
                </a:extLst>
              </a:tr>
              <a:tr h="679530">
                <a:tc rowSpan="2"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b="1" dirty="0">
                          <a:latin typeface="Century Gothic" panose="020B0502020202020204" pitchFamily="34" charset="0"/>
                        </a:rPr>
                        <a:t>2: Inflación variable</a:t>
                      </a:r>
                    </a:p>
                    <a:p>
                      <a:endParaRPr lang="es-CO" b="1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>
                          <a:latin typeface="Century Gothic" panose="020B0502020202020204" pitchFamily="34" charset="0"/>
                        </a:rPr>
                        <a:t>Corriente o Nominal: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$ 3.565.676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912442"/>
                  </a:ext>
                </a:extLst>
              </a:tr>
              <a:tr h="5842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>
                          <a:latin typeface="Century Gothic" panose="020B0502020202020204" pitchFamily="34" charset="0"/>
                        </a:rPr>
                        <a:t>Constante o Real: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596012"/>
                  </a:ext>
                </a:extLst>
              </a:tr>
            </a:tbl>
          </a:graphicData>
        </a:graphic>
      </p:graphicFrame>
      <p:pic>
        <p:nvPicPr>
          <p:cNvPr id="34" name="Gráfico 33" descr="Badge Tick1 con relleno sólido">
            <a:extLst>
              <a:ext uri="{FF2B5EF4-FFF2-40B4-BE49-F238E27FC236}">
                <a16:creationId xmlns:a16="http://schemas.microsoft.com/office/drawing/2014/main" id="{9ED121E9-0EB1-8924-B481-EA49723CEA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0790" y="2636758"/>
            <a:ext cx="568430" cy="56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97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6AA42-BA51-976B-9EC5-A7E5CAC0C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A78B3C-7E28-81A2-FBB9-11060163B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671F9A0B-C404-FE96-9228-87740D6BFB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75096837-BC9D-1A2B-6A0D-39E0CC403B9B}"/>
              </a:ext>
            </a:extLst>
          </p:cNvPr>
          <p:cNvSpPr/>
          <p:nvPr/>
        </p:nvSpPr>
        <p:spPr>
          <a:xfrm>
            <a:off x="2806200" y="2772729"/>
            <a:ext cx="8540907" cy="258532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Inflación variable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Ejercicios</a:t>
            </a:r>
          </a:p>
          <a:p>
            <a:pPr marL="342900" indent="-342900">
              <a:buClr>
                <a:srgbClr val="48BE7A"/>
              </a:buClr>
              <a:buAutoNum type="arabicPeriod" startAt="5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	</a:t>
            </a: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069763C-C459-7167-0484-2E01031C13D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78D2F523-3F47-B126-772D-CA3367694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FDB68756-AA2B-A8DA-35A7-1F480683278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69FEBB6-A068-B876-57A0-4019C127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12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83337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48B2-2B5A-B8A9-3B6E-66C88D3E4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Tendencias ineficaces a la hora de resolver problemas">
            <a:extLst>
              <a:ext uri="{FF2B5EF4-FFF2-40B4-BE49-F238E27FC236}">
                <a16:creationId xmlns:a16="http://schemas.microsoft.com/office/drawing/2014/main" id="{832308F3-A519-44DD-47EB-0DB305E2C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9774" y="4985889"/>
            <a:ext cx="2523921" cy="153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3B993D-A2FD-21A7-B96A-4718A5897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Ejercicio 1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D3D83-9E4E-D6E6-15C6-36AE84943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13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A2E04FB-748F-9C23-07A3-F9DF0E13425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3735381C-18E1-778E-8DB8-03CAFE21A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81E8960-EBE2-E349-B48F-01283F83D18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EB2E7-669B-C1B5-91C1-0BAB846BD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252" y="1713713"/>
            <a:ext cx="11096458" cy="460754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1800" dirty="0">
                <a:solidFill>
                  <a:schemeClr val="accent1"/>
                </a:solidFill>
                <a:latin typeface="Century Gothic"/>
              </a:rPr>
              <a:t>Una empresa comenzó su proceso de evaluación de expansión en un cierto país, mediante el </a:t>
            </a:r>
            <a:r>
              <a:rPr lang="es-ES_tradnl" sz="1800">
                <a:solidFill>
                  <a:schemeClr val="accent1"/>
                </a:solidFill>
                <a:latin typeface="Century Gothic"/>
              </a:rPr>
              <a:t>análisis de un proyecto de inversión el </a:t>
            </a:r>
            <a:r>
              <a:rPr lang="es-ES_tradnl">
                <a:solidFill>
                  <a:schemeClr val="accent1"/>
                </a:solidFill>
                <a:latin typeface="Century Gothic"/>
              </a:rPr>
              <a:t>cual</a:t>
            </a:r>
            <a:r>
              <a:rPr lang="es-ES_tradnl" sz="1800">
                <a:solidFill>
                  <a:schemeClr val="accent1"/>
                </a:solidFill>
                <a:latin typeface="Century Gothic"/>
              </a:rPr>
              <a:t> consiste en producir cámaras de reciclaje de aguas </a:t>
            </a:r>
            <a:r>
              <a:rPr lang="es-ES_tradnl" sz="1800" dirty="0">
                <a:solidFill>
                  <a:schemeClr val="accent1"/>
                </a:solidFill>
                <a:latin typeface="Century Gothic"/>
              </a:rPr>
              <a:t>grises para la industria alimentaria.</a:t>
            </a:r>
          </a:p>
          <a:p>
            <a:pPr marL="0" indent="0" algn="just">
              <a:buNone/>
            </a:pPr>
            <a:r>
              <a:rPr lang="es-ES_tradnl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La inversión en maquinaria es de 36 millones de UM (unidades Monetarias), depreciable a 6 años en línea recta y sin valor de salvamento.</a:t>
            </a:r>
          </a:p>
          <a:p>
            <a:pPr marL="0" indent="0" algn="just">
              <a:buNone/>
            </a:pPr>
            <a:r>
              <a:rPr lang="es-ES_tradnl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Se esperan tener ventas de 800 unidades (constantes todo el proyecto). Actualmente (t=0), las cámaras poseen un precio de 20 mil UM, donde cada año crecerá a la tasa de inflación. Los costos y gastos totales son el 20% de las ventas. </a:t>
            </a:r>
          </a:p>
          <a:p>
            <a:pPr marL="0" indent="0" algn="just">
              <a:buNone/>
            </a:pPr>
            <a:r>
              <a:rPr lang="es-ES_tradnl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El WACC de la compañía es del 13% E.A. La inflación anual de ese país se considera estable, con un valor del 5% a lo largo del proyecto y la tasa de impuestos es del 33%.</a:t>
            </a:r>
          </a:p>
          <a:p>
            <a:pPr marL="0" indent="0" algn="just">
              <a:buNone/>
            </a:pPr>
            <a:r>
              <a:rPr lang="es-ES_tradnl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Determine FCL, VPN y  TIR mediante precios nominales y reales. </a:t>
            </a:r>
          </a:p>
          <a:p>
            <a:pPr marL="0" indent="0" algn="just">
              <a:buNone/>
            </a:pPr>
            <a:endParaRPr lang="es-ES_tradnl" sz="1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173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D691-4E60-FFC2-F1D5-4C31E2DC8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96F23-03F3-D2E7-C612-5506DBAE3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Ejercicio 1 – inflación constante 5%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77B4D-5F2D-32D9-585B-2B0D7264A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14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83B991A-0BA0-C4D3-0F1D-AC1E4372CCD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4305AA11-338B-4C39-881F-B24BA7083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C68E4B3-019A-2D1F-484D-753B9699634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DED015BF-AD7B-86D5-E87E-75DF3A528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385330"/>
              </p:ext>
            </p:extLst>
          </p:nvPr>
        </p:nvGraphicFramePr>
        <p:xfrm>
          <a:off x="520417" y="1887019"/>
          <a:ext cx="1102961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1412943964"/>
                    </a:ext>
                  </a:extLst>
                </a:gridCol>
              </a:tblGrid>
              <a:tr h="249451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$21.000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$22.050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$23.153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$24.310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$25.526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$26.802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$16.800.000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$1.7640.000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$18.522.000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$19.448.100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$20.420.505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$21.441.530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$3.360.000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$3.528.000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$3.704.400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$3.889.620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$4.084.101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$4.288.306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$13.440.000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$14.112.000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$14.817.600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$15.558.480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$16.336.404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$17.153.224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$7.440.000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$8.112.000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$8.817.600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$9.558.480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$10.336.404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$11.153.224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$36.000.000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415751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$2.455.200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$2.676.960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$2.909.808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$31.54.298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$3.411.013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3.680.564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Nominal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-$36.000.000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$10.984.800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$11.435.040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$11.907.792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$12.404.182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$12.925.391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$13.472.660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2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Factor Inflacionario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E7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_tradnl" sz="12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E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1,05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E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1,10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E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1,16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E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1,22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E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1,28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E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1,34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E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670447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E6C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-$36.000.000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E6C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$10.461.714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E6C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$10.371.918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E6C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$10.286.398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E6C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$10.204.951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E6C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$10.127.382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E6C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$10.053.506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E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955529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5573AF06-C88B-041A-E972-63E919877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723927"/>
              </p:ext>
            </p:extLst>
          </p:nvPr>
        </p:nvGraphicFramePr>
        <p:xfrm>
          <a:off x="520417" y="5910379"/>
          <a:ext cx="5716755" cy="62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394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331787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  <a:gridCol w="1331787">
                  <a:extLst>
                    <a:ext uri="{9D8B030D-6E8A-4147-A177-3AD203B41FA5}">
                      <a16:colId xmlns:a16="http://schemas.microsoft.com/office/drawing/2014/main" val="342163960"/>
                    </a:ext>
                  </a:extLst>
                </a:gridCol>
                <a:gridCol w="1331787">
                  <a:extLst>
                    <a:ext uri="{9D8B030D-6E8A-4147-A177-3AD203B41FA5}">
                      <a16:colId xmlns:a16="http://schemas.microsoft.com/office/drawing/2014/main" val="1710923137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 Nominal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23,89%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 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17,99%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b="1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Nominal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="1" i="0" u="none" strike="noStrike" dirty="0">
                          <a:solidFill>
                            <a:schemeClr val="accent1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$ 12.023.342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300" b="1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VPN 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="1" i="0" u="none" strike="noStrike" dirty="0">
                          <a:solidFill>
                            <a:schemeClr val="accent1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$12.023.342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263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17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F15B7-DABA-2DA2-2A53-F5465C8A5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C7168-9A0B-C899-2256-34988EE0E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Ejercicio 2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8BCAA-C137-DF38-38CA-854143EF3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15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EA35E5D-F537-C64C-8DF6-5773CBC3FD6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C600152D-DD89-8A1E-54F7-D50E8F23B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777FEE95-A81D-3A7B-7830-51498E1D252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D147A-DE7F-FFA3-670B-0CD7A20B3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577" y="1403038"/>
            <a:ext cx="11096458" cy="45530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>
                <a:solidFill>
                  <a:schemeClr val="accent1"/>
                </a:solidFill>
                <a:latin typeface="Century Gothic" panose="020B0502020202020204" pitchFamily="34" charset="0"/>
              </a:rPr>
              <a:t>En el anterior análisis, se tiene la posibilidad de llevar a cabo el proyecto en otro país. En dicha economía, las tasas de inflación se pronostican serán del: </a:t>
            </a:r>
          </a:p>
          <a:p>
            <a:pPr marL="0" indent="0" algn="just">
              <a:buNone/>
            </a:pPr>
            <a:endParaRPr lang="es-MX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endParaRPr lang="es-MX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endParaRPr lang="es-MX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r>
              <a:rPr lang="es-MX" dirty="0">
                <a:solidFill>
                  <a:schemeClr val="accent1"/>
                </a:solidFill>
                <a:latin typeface="Century Gothic" panose="020B0502020202020204" pitchFamily="34" charset="0"/>
              </a:rPr>
              <a:t>Calcule el FLC y TIR, para pesos constantes y corrientes.</a:t>
            </a:r>
          </a:p>
          <a:p>
            <a:pPr marL="0" indent="0" algn="just">
              <a:buNone/>
            </a:pPr>
            <a:r>
              <a:rPr lang="es-MX" dirty="0">
                <a:solidFill>
                  <a:schemeClr val="accent1"/>
                </a:solidFill>
                <a:latin typeface="Century Gothic" panose="020B0502020202020204" pitchFamily="34" charset="0"/>
              </a:rPr>
              <a:t>Determine el VPN de los escenarios.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MX" dirty="0">
                <a:solidFill>
                  <a:schemeClr val="accent1"/>
                </a:solidFill>
                <a:latin typeface="Century Gothic" panose="020B0502020202020204" pitchFamily="34" charset="0"/>
              </a:rPr>
              <a:t>¿Cómo es el VPN en ambos escenarios?</a:t>
            </a:r>
          </a:p>
          <a:p>
            <a:pPr marL="305435" indent="-305435" algn="just">
              <a:buFont typeface="Wingdings" panose="05000000000000000000" pitchFamily="2" charset="2"/>
              <a:buChar char="§"/>
            </a:pPr>
            <a:r>
              <a:rPr lang="es-MX">
                <a:solidFill>
                  <a:schemeClr val="accent1"/>
                </a:solidFill>
                <a:latin typeface="Century Gothic"/>
              </a:rPr>
              <a:t>¿En qué economía es más recomendable llevar a cabo la inversión, por qué?</a:t>
            </a:r>
          </a:p>
          <a:p>
            <a:pPr marL="0" indent="0" algn="just">
              <a:buNone/>
            </a:pPr>
            <a:endParaRPr lang="es-ES_tradnl" sz="1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Tendencias ineficaces a la hora de resolver problemas">
            <a:extLst>
              <a:ext uri="{FF2B5EF4-FFF2-40B4-BE49-F238E27FC236}">
                <a16:creationId xmlns:a16="http://schemas.microsoft.com/office/drawing/2014/main" id="{66283A5D-9C6A-4066-38C1-293B67627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0433" y="5125752"/>
            <a:ext cx="2523921" cy="153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3F257761-79F7-7260-DC41-9E1039925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831772"/>
              </p:ext>
            </p:extLst>
          </p:nvPr>
        </p:nvGraphicFramePr>
        <p:xfrm>
          <a:off x="1045026" y="2639209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33531363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747405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5855770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6504417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50833216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4575045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715961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081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907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115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A3670-E049-7268-E1A7-0F528A5BB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BED4E-CB98-8E2A-B323-721EB7C60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Ejercicio 2 – inflación variable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EEFC3-7AC9-0F97-221B-368666F72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16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E39E917-96B2-59C8-A402-C89B634ABED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E4CB8684-E06A-5E32-25A4-9805B929C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9B0A7C0-EEBF-A845-054C-5617936FABB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7271D6E1-E781-93FD-6BCF-789476B34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4322"/>
              </p:ext>
            </p:extLst>
          </p:nvPr>
        </p:nvGraphicFramePr>
        <p:xfrm>
          <a:off x="520417" y="1887019"/>
          <a:ext cx="11029618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1412943964"/>
                    </a:ext>
                  </a:extLst>
                </a:gridCol>
              </a:tblGrid>
              <a:tr h="249451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45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kern="1200" noProof="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Inflación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200" noProof="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4,5%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3,5%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6,0%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5,5%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6,5%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871843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$21.000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$21945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$22.713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$24.076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$25.400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$27.051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$16.800.000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$17.556.000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$18.170.460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$19.260.688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$20.320.025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$21.640.827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$3.360.000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$3.511.200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$3.634.092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$3.852.138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$4.064.005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$4.328.165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$1.3440.000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$14.044.800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$14.536.368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$15.408.550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$16.256.020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$17.312.662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$7.440.000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$8.044.800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$8.536.368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$9.408.550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$10.256.020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$11.312.662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$36.000.000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415751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-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$2455200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$2.654.784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$2.817.001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$3104.822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$3.384.487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$3.733.178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251734">
                <a:tc>
                  <a:txBody>
                    <a:bodyPr/>
                    <a:lstStyle/>
                    <a:p>
                      <a:pPr algn="l"/>
                      <a:r>
                        <a:rPr lang="es-ES_tradnl" sz="12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Nominal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-$36.000.000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$10.984.800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$11.390.016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11.719.367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12.303.729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$12.871.534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$13.579.483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C7608233-4BCF-8181-53B8-6F27224BE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82765"/>
              </p:ext>
            </p:extLst>
          </p:nvPr>
        </p:nvGraphicFramePr>
        <p:xfrm>
          <a:off x="520417" y="5636059"/>
          <a:ext cx="3053181" cy="62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394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331787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 Nominal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23,71%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b="1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Nominal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="1" i="0" u="none" strike="noStrike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$ 11.817.961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263349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738F5194-C117-3A30-2E48-6F1D96FDF5BA}"/>
              </a:ext>
            </a:extLst>
          </p:cNvPr>
          <p:cNvSpPr txBox="1"/>
          <p:nvPr/>
        </p:nvSpPr>
        <p:spPr>
          <a:xfrm>
            <a:off x="4070308" y="5947719"/>
            <a:ext cx="284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entury Gothic" panose="020B0502020202020204" pitchFamily="34" charset="0"/>
              </a:rPr>
              <a:t>WACC Nominal 13%</a:t>
            </a:r>
          </a:p>
        </p:txBody>
      </p:sp>
    </p:spTree>
    <p:extLst>
      <p:ext uri="{BB962C8B-B14F-4D97-AF65-F5344CB8AC3E}">
        <p14:creationId xmlns:p14="http://schemas.microsoft.com/office/powerpoint/2010/main" val="417189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12724-0D4E-E23A-4744-6AEE2505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863F4-B4E4-E98B-AF6B-D4FB4EA2E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Ejercicio 2 </a:t>
            </a:r>
            <a:r>
              <a:rPr lang="es-ES" sz="3200" dirty="0">
                <a:latin typeface="Century Gothic" panose="020B0502020202020204" pitchFamily="34" charset="0"/>
              </a:rPr>
              <a:t>– inflación variable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6A551-8E54-1D81-9D5E-E3DB4E51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17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E516A06-8E25-86B4-9960-BEF113D6C89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6631C51A-E813-8FB0-32F7-689CF6AAE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5A27651-88FA-7136-4C9F-B561D550861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F41B55A5-53A9-EE36-BC37-A2B9294E1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081574"/>
              </p:ext>
            </p:extLst>
          </p:nvPr>
        </p:nvGraphicFramePr>
        <p:xfrm>
          <a:off x="520417" y="1887019"/>
          <a:ext cx="11029618" cy="2324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  <a:gridCol w="1329812">
                  <a:extLst>
                    <a:ext uri="{9D8B030D-6E8A-4147-A177-3AD203B41FA5}">
                      <a16:colId xmlns:a16="http://schemas.microsoft.com/office/drawing/2014/main" val="1412943964"/>
                    </a:ext>
                  </a:extLst>
                </a:gridCol>
              </a:tblGrid>
              <a:tr h="326419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41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kern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Inflación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200" noProof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4,5%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3,5%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6,0%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5,5%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6,5%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871843"/>
                  </a:ext>
                </a:extLst>
              </a:tr>
              <a:tr h="326419">
                <a:tc>
                  <a:txBody>
                    <a:bodyPr/>
                    <a:lstStyle/>
                    <a:p>
                      <a:pPr algn="l"/>
                      <a:r>
                        <a:rPr lang="es-ES_tradnl" sz="1200" b="1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r>
                        <a:rPr lang="es-ES_tradnl" sz="1200" b="1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Nominal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-$36.000.000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$10.984.800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$11.390.016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$11.719.367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$12.303.729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$12.871.534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$13.579.483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  <a:tr h="32641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 Factor Inflacionario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1,00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1,05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1,10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1,14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1,20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1,27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1,35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303809"/>
                  </a:ext>
                </a:extLst>
              </a:tr>
              <a:tr h="32641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  </a:t>
                      </a:r>
                      <a:r>
                        <a:rPr lang="es-ES_tradnl" sz="1200" b="1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r>
                        <a:rPr lang="es-ES_tradnl" sz="1200" b="1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Real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b="1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-$36.000.000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$10.461.714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$10.380.511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$10.319.489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$10.220.801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$10.135.053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$10.039.900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14874"/>
                  </a:ext>
                </a:extLst>
              </a:tr>
              <a:tr h="32641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 </a:t>
                      </a:r>
                      <a:r>
                        <a:rPr lang="es-CO" sz="1200" b="1" kern="120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WACC</a:t>
                      </a:r>
                      <a:r>
                        <a:rPr lang="es-CO" sz="1200" b="1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Real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s-CO" sz="1200" kern="12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7,62%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8,13%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9,18%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6,60%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7,11%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6,10%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766198"/>
                  </a:ext>
                </a:extLst>
              </a:tr>
              <a:tr h="32641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 VPN Real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$ 11.817.961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$51.461.234,68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$44.334.409,62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$37.070.439,73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$28.517.522,78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$19.597.436,50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s-CO" sz="1200" kern="120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$10.039.899,69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622664"/>
                  </a:ext>
                </a:extLst>
              </a:tr>
            </a:tbl>
          </a:graphicData>
        </a:graphic>
      </p:graphicFrame>
      <p:grpSp>
        <p:nvGrpSpPr>
          <p:cNvPr id="9" name="Grupo 8">
            <a:extLst>
              <a:ext uri="{FF2B5EF4-FFF2-40B4-BE49-F238E27FC236}">
                <a16:creationId xmlns:a16="http://schemas.microsoft.com/office/drawing/2014/main" id="{A5178428-C2E6-F065-BF4A-046F1EE5D2E2}"/>
              </a:ext>
            </a:extLst>
          </p:cNvPr>
          <p:cNvGrpSpPr/>
          <p:nvPr/>
        </p:nvGrpSpPr>
        <p:grpSpPr>
          <a:xfrm>
            <a:off x="2928633" y="4984727"/>
            <a:ext cx="6057150" cy="523220"/>
            <a:chOff x="3492241" y="5891452"/>
            <a:chExt cx="6057150" cy="523220"/>
          </a:xfrm>
        </p:grpSpPr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1F77E7EE-98DF-A081-8129-37E53A53390C}"/>
                </a:ext>
              </a:extLst>
            </p:cNvPr>
            <p:cNvSpPr txBox="1"/>
            <p:nvPr/>
          </p:nvSpPr>
          <p:spPr>
            <a:xfrm>
              <a:off x="3492241" y="5891452"/>
              <a:ext cx="288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Century Gothic" panose="020B0502020202020204" pitchFamily="34" charset="0"/>
                </a:rPr>
                <a:t>VPN CORRIENTE/NOMINAL</a:t>
              </a:r>
            </a:p>
            <a:p>
              <a:pPr algn="ctr"/>
              <a:r>
                <a:rPr lang="es-ES_tradnl" sz="1400" b="1" dirty="0">
                  <a:solidFill>
                    <a:srgbClr val="C00000"/>
                  </a:solidFill>
                  <a:latin typeface="Century Gothic" panose="020B0502020202020204" pitchFamily="34" charset="0"/>
                </a:rPr>
                <a:t>$11.817.961</a:t>
              </a:r>
              <a:endParaRPr lang="en-US" sz="1400" b="1" dirty="0">
                <a:solidFill>
                  <a:srgbClr val="C00000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217DF8A0-38E0-73A9-018F-EDB89A77E874}"/>
                </a:ext>
              </a:extLst>
            </p:cNvPr>
            <p:cNvSpPr txBox="1"/>
            <p:nvPr/>
          </p:nvSpPr>
          <p:spPr>
            <a:xfrm>
              <a:off x="6669391" y="5891452"/>
              <a:ext cx="288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Century Gothic" panose="020B0502020202020204" pitchFamily="34" charset="0"/>
                </a:rPr>
                <a:t>VPN CONSTANTE/REAL</a:t>
              </a:r>
            </a:p>
            <a:p>
              <a:pPr algn="ctr"/>
              <a:r>
                <a:rPr lang="es-ES_tradnl" sz="1400" b="1" dirty="0">
                  <a:solidFill>
                    <a:srgbClr val="C00000"/>
                  </a:solidFill>
                  <a:latin typeface="Century Gothic" panose="020B0502020202020204" pitchFamily="34" charset="0"/>
                </a:rPr>
                <a:t>$11.817.961</a:t>
              </a:r>
              <a:endParaRPr lang="en-US" sz="1400" b="1" dirty="0">
                <a:solidFill>
                  <a:srgbClr val="C00000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3F98F096-7218-106B-13B5-537C98EFCF56}"/>
                </a:ext>
              </a:extLst>
            </p:cNvPr>
            <p:cNvSpPr txBox="1"/>
            <p:nvPr/>
          </p:nvSpPr>
          <p:spPr>
            <a:xfrm>
              <a:off x="6217379" y="5968396"/>
              <a:ext cx="89179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latin typeface="Century Gothic" panose="020B0502020202020204" pitchFamily="34" charset="0"/>
                </a:rPr>
                <a:t>=</a:t>
              </a:r>
            </a:p>
          </p:txBody>
        </p:sp>
      </p:grp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DA5D396-6E02-AECB-EA2C-CC73B23DD23E}"/>
              </a:ext>
            </a:extLst>
          </p:cNvPr>
          <p:cNvSpPr/>
          <p:nvPr/>
        </p:nvSpPr>
        <p:spPr>
          <a:xfrm>
            <a:off x="3137808" y="4865804"/>
            <a:ext cx="5638800" cy="7564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9EDD4F9-AD14-E026-D9D4-5E5780DC4B28}"/>
              </a:ext>
            </a:extLst>
          </p:cNvPr>
          <p:cNvGrpSpPr/>
          <p:nvPr/>
        </p:nvGrpSpPr>
        <p:grpSpPr>
          <a:xfrm>
            <a:off x="2928633" y="6015158"/>
            <a:ext cx="6057150" cy="738664"/>
            <a:chOff x="3492241" y="5891452"/>
            <a:chExt cx="6057150" cy="738664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AA57308C-31EC-A170-129D-3BCBB959746D}"/>
                </a:ext>
              </a:extLst>
            </p:cNvPr>
            <p:cNvSpPr txBox="1"/>
            <p:nvPr/>
          </p:nvSpPr>
          <p:spPr>
            <a:xfrm>
              <a:off x="3492241" y="5891452"/>
              <a:ext cx="28800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Century Gothic" panose="020B0502020202020204" pitchFamily="34" charset="0"/>
                </a:rPr>
                <a:t>VPN CORRIENTE/NOMINAL</a:t>
              </a:r>
            </a:p>
            <a:p>
              <a:pPr algn="ctr"/>
              <a:r>
                <a:rPr lang="es-ES_tradnl" sz="1400" b="1" dirty="0">
                  <a:solidFill>
                    <a:srgbClr val="C00000"/>
                  </a:solidFill>
                  <a:latin typeface="Century Gothic" panose="020B0502020202020204" pitchFamily="34" charset="0"/>
                </a:rPr>
                <a:t>$</a:t>
              </a:r>
              <a:r>
                <a:rPr lang="es-CO" sz="1400" b="1" dirty="0">
                  <a:solidFill>
                    <a:srgbClr val="C00000"/>
                  </a:solidFill>
                  <a:latin typeface="Century Gothic" panose="020B0502020202020204" pitchFamily="34" charset="0"/>
                </a:rPr>
                <a:t>12.023.342</a:t>
              </a:r>
            </a:p>
            <a:p>
              <a:pPr algn="ctr"/>
              <a:endParaRPr lang="en-US" sz="1400" b="1" dirty="0">
                <a:solidFill>
                  <a:srgbClr val="C00000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66127E49-3177-0BAB-5B10-7743A272EAB3}"/>
                </a:ext>
              </a:extLst>
            </p:cNvPr>
            <p:cNvSpPr txBox="1"/>
            <p:nvPr/>
          </p:nvSpPr>
          <p:spPr>
            <a:xfrm>
              <a:off x="6669391" y="5891452"/>
              <a:ext cx="288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Century Gothic" panose="020B0502020202020204" pitchFamily="34" charset="0"/>
                </a:rPr>
                <a:t>VPN CONSTANTE/REAL</a:t>
              </a:r>
            </a:p>
            <a:p>
              <a:pPr algn="ctr"/>
              <a:r>
                <a:rPr lang="es-ES_tradnl" sz="1400" b="1" dirty="0">
                  <a:solidFill>
                    <a:srgbClr val="C00000"/>
                  </a:solidFill>
                  <a:latin typeface="Century Gothic" panose="020B0502020202020204" pitchFamily="34" charset="0"/>
                </a:rPr>
                <a:t>$</a:t>
              </a:r>
              <a:r>
                <a:rPr lang="es-CO" sz="1400" b="1" dirty="0">
                  <a:solidFill>
                    <a:srgbClr val="C00000"/>
                  </a:solidFill>
                  <a:latin typeface="Century Gothic" panose="020B0502020202020204" pitchFamily="34" charset="0"/>
                </a:rPr>
                <a:t>12.023.342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742348E5-066A-7F2E-6031-217BE2FEE8E2}"/>
                </a:ext>
              </a:extLst>
            </p:cNvPr>
            <p:cNvSpPr txBox="1"/>
            <p:nvPr/>
          </p:nvSpPr>
          <p:spPr>
            <a:xfrm>
              <a:off x="6217379" y="5968396"/>
              <a:ext cx="89179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latin typeface="Century Gothic" panose="020B0502020202020204" pitchFamily="34" charset="0"/>
                </a:rPr>
                <a:t>=</a:t>
              </a:r>
            </a:p>
          </p:txBody>
        </p:sp>
      </p:grp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ABEEE19-1C19-679E-544F-4F6A2A5D185C}"/>
              </a:ext>
            </a:extLst>
          </p:cNvPr>
          <p:cNvSpPr/>
          <p:nvPr/>
        </p:nvSpPr>
        <p:spPr>
          <a:xfrm>
            <a:off x="3137808" y="5896235"/>
            <a:ext cx="5638800" cy="7564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2460E0B-D896-A5D9-E639-333270DA865D}"/>
              </a:ext>
            </a:extLst>
          </p:cNvPr>
          <p:cNvSpPr txBox="1"/>
          <p:nvPr/>
        </p:nvSpPr>
        <p:spPr>
          <a:xfrm>
            <a:off x="887896" y="4972241"/>
            <a:ext cx="2249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Escenario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Inflación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Variable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1FC2E22-108C-CA5F-D6AB-132E1CA7B2C9}"/>
              </a:ext>
            </a:extLst>
          </p:cNvPr>
          <p:cNvSpPr txBox="1"/>
          <p:nvPr/>
        </p:nvSpPr>
        <p:spPr>
          <a:xfrm>
            <a:off x="1017419" y="5951295"/>
            <a:ext cx="2249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Escenario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Inflación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Constante</a:t>
            </a:r>
          </a:p>
        </p:txBody>
      </p:sp>
    </p:spTree>
    <p:extLst>
      <p:ext uri="{BB962C8B-B14F-4D97-AF65-F5344CB8AC3E}">
        <p14:creationId xmlns:p14="http://schemas.microsoft.com/office/powerpoint/2010/main" val="301462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7" grpId="1" animBg="1"/>
      <p:bldP spid="18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7DCCA-5DB6-5E9B-94B4-CBF783541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3CCDA-B0DC-3774-A0CC-EF43F1E22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867" y="1814732"/>
            <a:ext cx="11079167" cy="826833"/>
          </a:xfrm>
        </p:spPr>
        <p:txBody>
          <a:bodyPr>
            <a:noAutofit/>
          </a:bodyPr>
          <a:lstStyle/>
          <a:p>
            <a:r>
              <a:rPr lang="es-CO" sz="3200" dirty="0">
                <a:latin typeface="Century Gothic"/>
              </a:rPr>
              <a:t>INFLACIÓN y SU IMPACTO EN EL FLUJO DE CAJA DE UN PROYECTO (</a:t>
            </a:r>
            <a:r>
              <a:rPr lang="es-CO" sz="3200" dirty="0">
                <a:solidFill>
                  <a:srgbClr val="D7A700"/>
                </a:solidFill>
                <a:latin typeface="Century Gothic"/>
              </a:rPr>
              <a:t>PARTE II</a:t>
            </a:r>
            <a:r>
              <a:rPr lang="es-CO" sz="3200" dirty="0">
                <a:latin typeface="Century Gothic"/>
              </a:rPr>
              <a:t>)</a:t>
            </a:r>
            <a:endParaRPr lang="es-CO" sz="3200" dirty="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30A05B0-BDA8-C706-7E9A-BCE24DABF2F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2679DFB6-5931-BB62-76F1-7570AF2BE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D0FFA625-37E0-7672-3B61-DB05FD4880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157AB3F8-EEFE-B8EF-DF18-C81F969310C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422D6A0-B396-BE36-122E-EB3AC36FCE49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70721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3695</TotalTime>
  <Words>2074</Words>
  <Application>Microsoft Office PowerPoint</Application>
  <PresentationFormat>Panorámica</PresentationFormat>
  <Paragraphs>730</Paragraphs>
  <Slides>18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Dividendo</vt:lpstr>
      <vt:lpstr>INFLACIÓN y SU IMPACTO EN EL FLUJO DE CAJA DE UN PROYECTO (PARTE II)</vt:lpstr>
      <vt:lpstr>AGENDA PROPUESTA</vt:lpstr>
      <vt:lpstr>INFLACIÓN VARIABLE - PROCESO</vt:lpstr>
      <vt:lpstr>INFLACIÓN VARIABLE - PROCESO</vt:lpstr>
      <vt:lpstr>Precios corrientes</vt:lpstr>
      <vt:lpstr>Precios corrientes</vt:lpstr>
      <vt:lpstr>Precios corrientes</vt:lpstr>
      <vt:lpstr>INFLACIÓN VARIABLE - PROCESO</vt:lpstr>
      <vt:lpstr>INFLACIÓN VARIABLE - PROCESO</vt:lpstr>
      <vt:lpstr>INFLACIÓN VARIABLE - PROCESO</vt:lpstr>
      <vt:lpstr>INFLACIÓN</vt:lpstr>
      <vt:lpstr>AGENDA PROPUESTA</vt:lpstr>
      <vt:lpstr>Ejercicio 1</vt:lpstr>
      <vt:lpstr>Ejercicio 1 – inflación constante 5%</vt:lpstr>
      <vt:lpstr>Ejercicio 2</vt:lpstr>
      <vt:lpstr>Ejercicio 2 – inflación variable</vt:lpstr>
      <vt:lpstr>Ejercicio 2 – inflación variable</vt:lpstr>
      <vt:lpstr>INFLACIÓN y SU IMPACTO EN EL FLUJO DE CAJA DE UN PROYECTO (PARTE II)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ESernaG</cp:lastModifiedBy>
  <cp:revision>78</cp:revision>
  <dcterms:created xsi:type="dcterms:W3CDTF">2019-06-20T04:25:04Z</dcterms:created>
  <dcterms:modified xsi:type="dcterms:W3CDTF">2026-10-26T20:43:51Z</dcterms:modified>
</cp:coreProperties>
</file>