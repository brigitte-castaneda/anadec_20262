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83"/>
  </p:notesMasterIdLst>
  <p:handoutMasterIdLst>
    <p:handoutMasterId r:id="rId84"/>
  </p:handoutMasterIdLst>
  <p:sldIdLst>
    <p:sldId id="398" r:id="rId2"/>
    <p:sldId id="354" r:id="rId3"/>
    <p:sldId id="639" r:id="rId4"/>
    <p:sldId id="640" r:id="rId5"/>
    <p:sldId id="641" r:id="rId6"/>
    <p:sldId id="642" r:id="rId7"/>
    <p:sldId id="644" r:id="rId8"/>
    <p:sldId id="645" r:id="rId9"/>
    <p:sldId id="646" r:id="rId10"/>
    <p:sldId id="643" r:id="rId11"/>
    <p:sldId id="648" r:id="rId12"/>
    <p:sldId id="649" r:id="rId13"/>
    <p:sldId id="650" r:id="rId14"/>
    <p:sldId id="651" r:id="rId15"/>
    <p:sldId id="652" r:id="rId16"/>
    <p:sldId id="715" r:id="rId17"/>
    <p:sldId id="654" r:id="rId18"/>
    <p:sldId id="655" r:id="rId19"/>
    <p:sldId id="656" r:id="rId20"/>
    <p:sldId id="657" r:id="rId21"/>
    <p:sldId id="658" r:id="rId22"/>
    <p:sldId id="659" r:id="rId23"/>
    <p:sldId id="653" r:id="rId24"/>
    <p:sldId id="660" r:id="rId25"/>
    <p:sldId id="661" r:id="rId26"/>
    <p:sldId id="662" r:id="rId27"/>
    <p:sldId id="663" r:id="rId28"/>
    <p:sldId id="664" r:id="rId29"/>
    <p:sldId id="665" r:id="rId30"/>
    <p:sldId id="666" r:id="rId31"/>
    <p:sldId id="667" r:id="rId32"/>
    <p:sldId id="668" r:id="rId33"/>
    <p:sldId id="669" r:id="rId34"/>
    <p:sldId id="647" r:id="rId35"/>
    <p:sldId id="670" r:id="rId36"/>
    <p:sldId id="709" r:id="rId37"/>
    <p:sldId id="671" r:id="rId38"/>
    <p:sldId id="672" r:id="rId39"/>
    <p:sldId id="673" r:id="rId40"/>
    <p:sldId id="674" r:id="rId41"/>
    <p:sldId id="675" r:id="rId42"/>
    <p:sldId id="676" r:id="rId43"/>
    <p:sldId id="677" r:id="rId44"/>
    <p:sldId id="678" r:id="rId45"/>
    <p:sldId id="679" r:id="rId46"/>
    <p:sldId id="680" r:id="rId47"/>
    <p:sldId id="681" r:id="rId48"/>
    <p:sldId id="682" r:id="rId49"/>
    <p:sldId id="683" r:id="rId50"/>
    <p:sldId id="684" r:id="rId51"/>
    <p:sldId id="685" r:id="rId52"/>
    <p:sldId id="686" r:id="rId53"/>
    <p:sldId id="718" r:id="rId54"/>
    <p:sldId id="716" r:id="rId55"/>
    <p:sldId id="717" r:id="rId56"/>
    <p:sldId id="720" r:id="rId57"/>
    <p:sldId id="721" r:id="rId58"/>
    <p:sldId id="719" r:id="rId59"/>
    <p:sldId id="710" r:id="rId60"/>
    <p:sldId id="687" r:id="rId61"/>
    <p:sldId id="688" r:id="rId62"/>
    <p:sldId id="689" r:id="rId63"/>
    <p:sldId id="690" r:id="rId64"/>
    <p:sldId id="691" r:id="rId65"/>
    <p:sldId id="692" r:id="rId66"/>
    <p:sldId id="693" r:id="rId67"/>
    <p:sldId id="694" r:id="rId68"/>
    <p:sldId id="695" r:id="rId69"/>
    <p:sldId id="696" r:id="rId70"/>
    <p:sldId id="697" r:id="rId71"/>
    <p:sldId id="698" r:id="rId72"/>
    <p:sldId id="699" r:id="rId73"/>
    <p:sldId id="700" r:id="rId74"/>
    <p:sldId id="711" r:id="rId75"/>
    <p:sldId id="701" r:id="rId76"/>
    <p:sldId id="702" r:id="rId77"/>
    <p:sldId id="712" r:id="rId78"/>
    <p:sldId id="703" r:id="rId79"/>
    <p:sldId id="714" r:id="rId80"/>
    <p:sldId id="705" r:id="rId81"/>
    <p:sldId id="713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67B"/>
    <a:srgbClr val="698937"/>
    <a:srgbClr val="FFFFFF"/>
    <a:srgbClr val="A6DFBF"/>
    <a:srgbClr val="485056"/>
    <a:srgbClr val="FF0000"/>
    <a:srgbClr val="FFEFEF"/>
    <a:srgbClr val="00B050"/>
    <a:srgbClr val="FAEEDA"/>
    <a:srgbClr val="F5D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067A8-82C0-5E40-800E-9A684FB5E297}" v="11" dt="2026-10-15T16:39:37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32" autoAdjust="0"/>
    <p:restoredTop sz="94691"/>
  </p:normalViewPr>
  <p:slideViewPr>
    <p:cSldViewPr snapToGrid="0">
      <p:cViewPr varScale="1">
        <p:scale>
          <a:sx n="213" d="100"/>
          <a:sy n="213" d="100"/>
        </p:scale>
        <p:origin x="1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FA146403-BBA5-5A93-8956-7210BF70CAFE}"/>
    <pc:docChg chg="addSld modSld sldOrd">
      <pc:chgData name="Brigitte Castañeda Rodriguez" userId="5c201908-82f6-498c-9281-7eaa96fb17b4" providerId="ADAL" clId="{FA146403-BBA5-5A93-8956-7210BF70CAFE}" dt="2026-10-15T16:39:37.582" v="42" actId="108"/>
      <pc:docMkLst>
        <pc:docMk/>
      </pc:docMkLst>
      <pc:sldChg chg="addSp delSp modSp new mod modNotesTx">
        <pc:chgData name="Brigitte Castañeda Rodriguez" userId="5c201908-82f6-498c-9281-7eaa96fb17b4" providerId="ADAL" clId="{FA146403-BBA5-5A93-8956-7210BF70CAFE}" dt="2026-10-13T16:17:32.918" v="33" actId="20577"/>
        <pc:sldMkLst>
          <pc:docMk/>
          <pc:sldMk cId="498179394" sldId="715"/>
        </pc:sldMkLst>
        <pc:spChg chg="mod">
          <ac:chgData name="Brigitte Castañeda Rodriguez" userId="5c201908-82f6-498c-9281-7eaa96fb17b4" providerId="ADAL" clId="{FA146403-BBA5-5A93-8956-7210BF70CAFE}" dt="2026-10-13T16:16:20.481" v="22" actId="20577"/>
          <ac:spMkLst>
            <pc:docMk/>
            <pc:sldMk cId="498179394" sldId="715"/>
            <ac:spMk id="2" creationId="{5A387F99-AD27-26CA-106B-32F6943031FC}"/>
          </ac:spMkLst>
        </pc:spChg>
        <pc:spChg chg="add mod">
          <ac:chgData name="Brigitte Castañeda Rodriguez" userId="5c201908-82f6-498c-9281-7eaa96fb17b4" providerId="ADAL" clId="{FA146403-BBA5-5A93-8956-7210BF70CAFE}" dt="2026-10-13T16:17:29.674" v="32" actId="403"/>
          <ac:spMkLst>
            <pc:docMk/>
            <pc:sldMk cId="498179394" sldId="715"/>
            <ac:spMk id="6" creationId="{A3343449-93A7-DE0C-865A-7CFD8200A79C}"/>
          </ac:spMkLst>
        </pc:spChg>
        <pc:picChg chg="add mod">
          <ac:chgData name="Brigitte Castañeda Rodriguez" userId="5c201908-82f6-498c-9281-7eaa96fb17b4" providerId="ADAL" clId="{FA146403-BBA5-5A93-8956-7210BF70CAFE}" dt="2026-10-13T16:17:01.950" v="24" actId="1076"/>
          <ac:picMkLst>
            <pc:docMk/>
            <pc:sldMk cId="498179394" sldId="715"/>
            <ac:picMk id="5" creationId="{2C513478-59CD-8183-C3B1-D40B767E5C85}"/>
          </ac:picMkLst>
        </pc:picChg>
      </pc:sldChg>
      <pc:sldChg chg="add">
        <pc:chgData name="Brigitte Castañeda Rodriguez" userId="5c201908-82f6-498c-9281-7eaa96fb17b4" providerId="ADAL" clId="{FA146403-BBA5-5A93-8956-7210BF70CAFE}" dt="2026-10-15T16:38:40.537" v="34"/>
        <pc:sldMkLst>
          <pc:docMk/>
          <pc:sldMk cId="1521400734" sldId="716"/>
        </pc:sldMkLst>
      </pc:sldChg>
      <pc:sldChg chg="add">
        <pc:chgData name="Brigitte Castañeda Rodriguez" userId="5c201908-82f6-498c-9281-7eaa96fb17b4" providerId="ADAL" clId="{FA146403-BBA5-5A93-8956-7210BF70CAFE}" dt="2026-10-15T16:38:51.742" v="35"/>
        <pc:sldMkLst>
          <pc:docMk/>
          <pc:sldMk cId="4134576705" sldId="717"/>
        </pc:sldMkLst>
      </pc:sldChg>
      <pc:sldChg chg="modSp add ord">
        <pc:chgData name="Brigitte Castañeda Rodriguez" userId="5c201908-82f6-498c-9281-7eaa96fb17b4" providerId="ADAL" clId="{FA146403-BBA5-5A93-8956-7210BF70CAFE}" dt="2026-10-15T16:39:37.582" v="42" actId="108"/>
        <pc:sldMkLst>
          <pc:docMk/>
          <pc:sldMk cId="2373028664" sldId="718"/>
        </pc:sldMkLst>
        <pc:spChg chg="mod">
          <ac:chgData name="Brigitte Castañeda Rodriguez" userId="5c201908-82f6-498c-9281-7eaa96fb17b4" providerId="ADAL" clId="{FA146403-BBA5-5A93-8956-7210BF70CAFE}" dt="2026-10-15T16:39:37.582" v="42" actId="108"/>
          <ac:spMkLst>
            <pc:docMk/>
            <pc:sldMk cId="2373028664" sldId="718"/>
            <ac:spMk id="23" creationId="{428CBB9B-2562-4C84-9F3A-DDE6045E56F8}"/>
          </ac:spMkLst>
        </pc:spChg>
      </pc:sldChg>
      <pc:sldChg chg="add ord">
        <pc:chgData name="Brigitte Castañeda Rodriguez" userId="5c201908-82f6-498c-9281-7eaa96fb17b4" providerId="ADAL" clId="{FA146403-BBA5-5A93-8956-7210BF70CAFE}" dt="2026-10-15T16:39:19.848" v="40" actId="20578"/>
        <pc:sldMkLst>
          <pc:docMk/>
          <pc:sldMk cId="2583372083" sldId="719"/>
        </pc:sldMkLst>
      </pc:sldChg>
      <pc:sldChg chg="add ord">
        <pc:chgData name="Brigitte Castañeda Rodriguez" userId="5c201908-82f6-498c-9281-7eaa96fb17b4" providerId="ADAL" clId="{FA146403-BBA5-5A93-8956-7210BF70CAFE}" dt="2026-10-15T16:39:19.848" v="40" actId="20578"/>
        <pc:sldMkLst>
          <pc:docMk/>
          <pc:sldMk cId="3172623268" sldId="720"/>
        </pc:sldMkLst>
      </pc:sldChg>
      <pc:sldChg chg="add ord">
        <pc:chgData name="Brigitte Castañeda Rodriguez" userId="5c201908-82f6-498c-9281-7eaa96fb17b4" providerId="ADAL" clId="{FA146403-BBA5-5A93-8956-7210BF70CAFE}" dt="2026-10-15T16:39:19.848" v="40" actId="20578"/>
        <pc:sldMkLst>
          <pc:docMk/>
          <pc:sldMk cId="2418099473" sldId="721"/>
        </pc:sldMkLst>
      </pc:sldChg>
    </pc:docChg>
  </pc:docChgLst>
  <pc:docChgLst>
    <pc:chgData clId="Web-{F3711BEA-F195-CB59-3F4C-0F0C8298C3F0}"/>
    <pc:docChg chg="modSld">
      <pc:chgData name="" userId="" providerId="" clId="Web-{F3711BEA-F195-CB59-3F4C-0F0C8298C3F0}" dt="2026-10-07T15:50:55.874" v="0" actId="20577"/>
      <pc:docMkLst>
        <pc:docMk/>
      </pc:docMkLst>
      <pc:sldChg chg="modSp">
        <pc:chgData name="" userId="" providerId="" clId="Web-{F3711BEA-F195-CB59-3F4C-0F0C8298C3F0}" dt="2026-10-07T15:50:55.874" v="0" actId="20577"/>
        <pc:sldMkLst>
          <pc:docMk/>
          <pc:sldMk cId="3254971150" sldId="354"/>
        </pc:sldMkLst>
        <pc:spChg chg="mod">
          <ac:chgData name="" userId="" providerId="" clId="Web-{F3711BEA-F195-CB59-3F4C-0F0C8298C3F0}" dt="2026-10-07T15:50:55.874" v="0" actId="20577"/>
          <ac:spMkLst>
            <pc:docMk/>
            <pc:sldMk cId="3254971150" sldId="354"/>
            <ac:spMk id="23" creationId="{8F837980-0A38-47A1-8A30-C7AFF3A98D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15/10/26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15/10/26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shorturl.at</a:t>
            </a:r>
            <a:r>
              <a:rPr lang="en-US" dirty="0"/>
              <a:t>/</a:t>
            </a:r>
            <a:r>
              <a:rPr lang="en-US" dirty="0" err="1"/>
              <a:t>yUJAj</a:t>
            </a:r>
            <a:r>
              <a:rPr lang="en-US" dirty="0"/>
              <a:t> 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239066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32983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>
                <a:solidFill>
                  <a:schemeClr val="accent1"/>
                </a:solidFill>
                <a:latin typeface="Century Gothic"/>
                <a:cs typeface="Arial"/>
              </a:rPr>
              <a:t>Introducción al Costo de la Deuda</a:t>
            </a:r>
            <a:endParaRPr lang="es-ES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accent1"/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A804F0A-3A31-D532-1D1D-5395A053AC0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FAFB-0619-0436-2419-40943D9A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E4B47-378B-F139-7CD6-D77D30C9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84BFA4-6122-9182-BB8E-780F6F51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62EEA44A-2FDC-A847-D7E7-EC1543922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E12A9A06-17D4-2CFB-BB6E-FA66429E6E64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23740A-3FE8-3904-FDF1-52177420FF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8C0C0B8A-6166-6563-79AB-C7A26B00C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36D11CA-EE73-EE57-8AF4-E00E8B07707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6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EA48-BB56-25A9-0DC7-43DF32A3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E1A547-8757-1768-B24C-D71DED32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540E77-805B-7BD0-18A6-C375457C12C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6C2A1F4-EB0C-37D6-598A-9FDFE24C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EF4301A-14BF-22E0-AF95-EF965EE1A4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F4F208E-73BE-CB9B-44EB-8943E508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F351BCC-05B8-5668-78F5-6D8BBE39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3676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85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¿Cuáles son algunas fuentes de deuda?</a:t>
            </a:r>
          </a:p>
          <a:p>
            <a:pPr marL="0" indent="0" algn="ctr">
              <a:buNone/>
            </a:pPr>
            <a:endParaRPr lang="es-ES" sz="1850" i="1" dirty="0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</a:t>
            </a:r>
            <a:r>
              <a:rPr lang="es-ES" sz="1850" dirty="0"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deuda a largo plazo es parte fundamental de la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estructura de capital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Algunos instrumentos financieros son: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Créditos con Entidades Financieras</a:t>
            </a: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Emisión de Bonos</a:t>
            </a: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Contratos </a:t>
            </a:r>
            <a:r>
              <a:rPr lang="es-ES" sz="1800" i="1" dirty="0">
                <a:solidFill>
                  <a:schemeClr val="accent1"/>
                </a:solidFill>
                <a:latin typeface="Century Gothic" panose="020B0502020202020204" pitchFamily="34" charset="0"/>
              </a:rPr>
              <a:t>Leasing</a:t>
            </a:r>
          </a:p>
        </p:txBody>
      </p:sp>
    </p:spTree>
    <p:extLst>
      <p:ext uri="{BB962C8B-B14F-4D97-AF65-F5344CB8AC3E}">
        <p14:creationId xmlns:p14="http://schemas.microsoft.com/office/powerpoint/2010/main" val="41924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CAC0-FD0F-3B6D-21FE-C5BC0188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4074CF-1ADB-0446-B02C-D47408BC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721803-221F-3CFF-29B8-FAA89F1F463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D921C72-D2C0-9A92-800B-2148AB387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959A820-13E2-1585-BE38-39EBFE0630C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6C3C46-9052-1FE1-A21E-673FADAD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53264941-8927-BE35-74DC-711FDB78C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648" y="2050107"/>
            <a:ext cx="7856704" cy="7719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es la diferencia de un flujo de inversión y un flujo de financiación?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F9C16C-4411-97F7-4BF9-AF498D71924D}"/>
              </a:ext>
            </a:extLst>
          </p:cNvPr>
          <p:cNvSpPr txBox="1"/>
          <p:nvPr/>
        </p:nvSpPr>
        <p:spPr>
          <a:xfrm>
            <a:off x="3124223" y="301817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Flujos de Inversión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E4A162-BD33-DA09-6402-A784B1B9198C}"/>
              </a:ext>
            </a:extLst>
          </p:cNvPr>
          <p:cNvSpPr txBox="1"/>
          <p:nvPr/>
        </p:nvSpPr>
        <p:spPr>
          <a:xfrm>
            <a:off x="7165718" y="3018945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Flujos de Financiación</a:t>
            </a:r>
          </a:p>
        </p:txBody>
      </p:sp>
      <p:sp>
        <p:nvSpPr>
          <p:cNvPr id="55" name="Marcador de contenido 2">
            <a:extLst>
              <a:ext uri="{FF2B5EF4-FFF2-40B4-BE49-F238E27FC236}">
                <a16:creationId xmlns:a16="http://schemas.microsoft.com/office/drawing/2014/main" id="{8A87001C-6557-8707-419A-33DB82111DD4}"/>
              </a:ext>
            </a:extLst>
          </p:cNvPr>
          <p:cNvSpPr txBox="1">
            <a:spLocks/>
          </p:cNvSpPr>
          <p:nvPr/>
        </p:nvSpPr>
        <p:spPr>
          <a:xfrm>
            <a:off x="2290762" y="5739099"/>
            <a:ext cx="7610476" cy="771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¿Cambia la interpretación de los IBF (TIR, por ejemplo) según el diagrama?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4AFEF96-5852-9986-5B57-A98C8E3333A2}"/>
              </a:ext>
            </a:extLst>
          </p:cNvPr>
          <p:cNvGrpSpPr/>
          <p:nvPr/>
        </p:nvGrpSpPr>
        <p:grpSpPr>
          <a:xfrm>
            <a:off x="2687183" y="3918627"/>
            <a:ext cx="3227515" cy="1625345"/>
            <a:chOff x="2687183" y="3850470"/>
            <a:chExt cx="3227515" cy="1625345"/>
          </a:xfrm>
        </p:grpSpPr>
        <p:cxnSp>
          <p:nvCxnSpPr>
            <p:cNvPr id="56" name="Straight Connector 5">
              <a:extLst>
                <a:ext uri="{FF2B5EF4-FFF2-40B4-BE49-F238E27FC236}">
                  <a16:creationId xmlns:a16="http://schemas.microsoft.com/office/drawing/2014/main" id="{EFD89785-2402-FFB0-244B-BD94564719D4}"/>
                </a:ext>
              </a:extLst>
            </p:cNvPr>
            <p:cNvCxnSpPr/>
            <p:nvPr/>
          </p:nvCxnSpPr>
          <p:spPr>
            <a:xfrm>
              <a:off x="2734298" y="4432350"/>
              <a:ext cx="30118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6">
              <a:extLst>
                <a:ext uri="{FF2B5EF4-FFF2-40B4-BE49-F238E27FC236}">
                  <a16:creationId xmlns:a16="http://schemas.microsoft.com/office/drawing/2014/main" id="{CCEC5168-9764-BCDC-A87F-DCE7F59FD04A}"/>
                </a:ext>
              </a:extLst>
            </p:cNvPr>
            <p:cNvCxnSpPr/>
            <p:nvPr/>
          </p:nvCxnSpPr>
          <p:spPr>
            <a:xfrm>
              <a:off x="2734297" y="4432352"/>
              <a:ext cx="0" cy="10434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1EFA50B1-B325-5B6D-EC90-73186347F5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87183" y="4153271"/>
              <a:ext cx="13172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0</a:t>
              </a:r>
            </a:p>
          </p:txBody>
        </p:sp>
        <p:sp>
          <p:nvSpPr>
            <p:cNvPr id="59" name="Rectangle 13">
              <a:extLst>
                <a:ext uri="{FF2B5EF4-FFF2-40B4-BE49-F238E27FC236}">
                  <a16:creationId xmlns:a16="http://schemas.microsoft.com/office/drawing/2014/main" id="{4E741C63-792C-BF00-437F-225FEE52E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320" y="4445179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cxnSp>
          <p:nvCxnSpPr>
            <p:cNvPr id="60" name="Straight Arrow Connector 7">
              <a:extLst>
                <a:ext uri="{FF2B5EF4-FFF2-40B4-BE49-F238E27FC236}">
                  <a16:creationId xmlns:a16="http://schemas.microsoft.com/office/drawing/2014/main" id="{1432754E-A18F-8EFA-5FF6-90269709C293}"/>
                </a:ext>
              </a:extLst>
            </p:cNvPr>
            <p:cNvCxnSpPr/>
            <p:nvPr/>
          </p:nvCxnSpPr>
          <p:spPr>
            <a:xfrm flipV="1">
              <a:off x="3267780" y="3861545"/>
              <a:ext cx="0" cy="58352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7">
              <a:extLst>
                <a:ext uri="{FF2B5EF4-FFF2-40B4-BE49-F238E27FC236}">
                  <a16:creationId xmlns:a16="http://schemas.microsoft.com/office/drawing/2014/main" id="{16286708-5F3D-E9C3-B974-AC70EED82399}"/>
                </a:ext>
              </a:extLst>
            </p:cNvPr>
            <p:cNvCxnSpPr/>
            <p:nvPr/>
          </p:nvCxnSpPr>
          <p:spPr>
            <a:xfrm flipV="1">
              <a:off x="3882030" y="3855209"/>
              <a:ext cx="0" cy="5898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7">
              <a:extLst>
                <a:ext uri="{FF2B5EF4-FFF2-40B4-BE49-F238E27FC236}">
                  <a16:creationId xmlns:a16="http://schemas.microsoft.com/office/drawing/2014/main" id="{2C599CB5-03B9-AAFF-34FC-D3F2F4BBBABC}"/>
                </a:ext>
              </a:extLst>
            </p:cNvPr>
            <p:cNvCxnSpPr/>
            <p:nvPr/>
          </p:nvCxnSpPr>
          <p:spPr>
            <a:xfrm flipV="1">
              <a:off x="4522610" y="3855209"/>
              <a:ext cx="0" cy="5898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7">
              <a:extLst>
                <a:ext uri="{FF2B5EF4-FFF2-40B4-BE49-F238E27FC236}">
                  <a16:creationId xmlns:a16="http://schemas.microsoft.com/office/drawing/2014/main" id="{A294B411-9161-848B-6AA2-17545F937CD1}"/>
                </a:ext>
              </a:extLst>
            </p:cNvPr>
            <p:cNvCxnSpPr/>
            <p:nvPr/>
          </p:nvCxnSpPr>
          <p:spPr>
            <a:xfrm flipV="1">
              <a:off x="5746168" y="3850470"/>
              <a:ext cx="0" cy="58188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13">
              <a:extLst>
                <a:ext uri="{FF2B5EF4-FFF2-40B4-BE49-F238E27FC236}">
                  <a16:creationId xmlns:a16="http://schemas.microsoft.com/office/drawing/2014/main" id="{68B39E3E-8D1A-8EAF-50F9-9D420FE5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500" y="4432351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65" name="Rectangle 13">
              <a:extLst>
                <a:ext uri="{FF2B5EF4-FFF2-40B4-BE49-F238E27FC236}">
                  <a16:creationId xmlns:a16="http://schemas.microsoft.com/office/drawing/2014/main" id="{9F391E5E-2371-653F-B1BF-DCD6CAC5A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251" y="4445070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66" name="Rectangle 13">
              <a:extLst>
                <a:ext uri="{FF2B5EF4-FFF2-40B4-BE49-F238E27FC236}">
                  <a16:creationId xmlns:a16="http://schemas.microsoft.com/office/drawing/2014/main" id="{46222231-4A65-AED4-BDCC-EBC845D5A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216" y="4432351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67" name="Rectangle 13">
              <a:extLst>
                <a:ext uri="{FF2B5EF4-FFF2-40B4-BE49-F238E27FC236}">
                  <a16:creationId xmlns:a16="http://schemas.microsoft.com/office/drawing/2014/main" id="{F8D948B1-A5FC-4A7C-0ED5-164C98D95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638" y="4434623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n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3E27219-5B9A-E7A1-40AA-6B84D6AD7E22}"/>
              </a:ext>
            </a:extLst>
          </p:cNvPr>
          <p:cNvGrpSpPr/>
          <p:nvPr/>
        </p:nvGrpSpPr>
        <p:grpSpPr>
          <a:xfrm>
            <a:off x="6922611" y="3475035"/>
            <a:ext cx="3227515" cy="1634705"/>
            <a:chOff x="6922611" y="3401567"/>
            <a:chExt cx="3227515" cy="1634705"/>
          </a:xfrm>
        </p:grpSpPr>
        <p:cxnSp>
          <p:nvCxnSpPr>
            <p:cNvPr id="68" name="Straight Connector 5">
              <a:extLst>
                <a:ext uri="{FF2B5EF4-FFF2-40B4-BE49-F238E27FC236}">
                  <a16:creationId xmlns:a16="http://schemas.microsoft.com/office/drawing/2014/main" id="{BD9F19E6-049C-56CF-9B79-6E2861639FBF}"/>
                </a:ext>
              </a:extLst>
            </p:cNvPr>
            <p:cNvCxnSpPr/>
            <p:nvPr/>
          </p:nvCxnSpPr>
          <p:spPr>
            <a:xfrm>
              <a:off x="6969726" y="4432241"/>
              <a:ext cx="30118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">
              <a:extLst>
                <a:ext uri="{FF2B5EF4-FFF2-40B4-BE49-F238E27FC236}">
                  <a16:creationId xmlns:a16="http://schemas.microsoft.com/office/drawing/2014/main" id="{03D29551-9120-8BF6-3CD2-4038E0A33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725" y="3401567"/>
              <a:ext cx="1" cy="10440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028084E7-863A-0618-AA1A-7CAA354EE3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22611" y="4436626"/>
              <a:ext cx="13172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0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A300B81A-4720-D766-EC4E-82DC6FB56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748" y="4152462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cxnSp>
          <p:nvCxnSpPr>
            <p:cNvPr id="72" name="Straight Arrow Connector 7">
              <a:extLst>
                <a:ext uri="{FF2B5EF4-FFF2-40B4-BE49-F238E27FC236}">
                  <a16:creationId xmlns:a16="http://schemas.microsoft.com/office/drawing/2014/main" id="{6E907355-9F42-91D8-6589-DCB5D6419474}"/>
                </a:ext>
              </a:extLst>
            </p:cNvPr>
            <p:cNvCxnSpPr>
              <a:cxnSpLocks/>
            </p:cNvCxnSpPr>
            <p:nvPr/>
          </p:nvCxnSpPr>
          <p:spPr>
            <a:xfrm>
              <a:off x="7503208" y="4446652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13">
              <a:extLst>
                <a:ext uri="{FF2B5EF4-FFF2-40B4-BE49-F238E27FC236}">
                  <a16:creationId xmlns:a16="http://schemas.microsoft.com/office/drawing/2014/main" id="{8B782A8A-F9D8-2B20-2ADA-DDB57FFDF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8928" y="4148778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77" name="Rectangle 13">
              <a:extLst>
                <a:ext uri="{FF2B5EF4-FFF2-40B4-BE49-F238E27FC236}">
                  <a16:creationId xmlns:a16="http://schemas.microsoft.com/office/drawing/2014/main" id="{334FD519-6D6D-6C68-AE81-29D042F89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79" y="4161497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78" name="Rectangle 13">
              <a:extLst>
                <a:ext uri="{FF2B5EF4-FFF2-40B4-BE49-F238E27FC236}">
                  <a16:creationId xmlns:a16="http://schemas.microsoft.com/office/drawing/2014/main" id="{2D9FC7AA-C477-17FB-A0DE-1056987FA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1644" y="4148778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79" name="Rectangle 13">
              <a:extLst>
                <a:ext uri="{FF2B5EF4-FFF2-40B4-BE49-F238E27FC236}">
                  <a16:creationId xmlns:a16="http://schemas.microsoft.com/office/drawing/2014/main" id="{CFA5E88F-0EDA-F017-CA94-BBDAF53A2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066" y="4151050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n</a:t>
              </a:r>
            </a:p>
          </p:txBody>
        </p:sp>
        <p:cxnSp>
          <p:nvCxnSpPr>
            <p:cNvPr id="81" name="Straight Arrow Connector 7">
              <a:extLst>
                <a:ext uri="{FF2B5EF4-FFF2-40B4-BE49-F238E27FC236}">
                  <a16:creationId xmlns:a16="http://schemas.microsoft.com/office/drawing/2014/main" id="{E1AD2949-94FA-F6FB-2EFF-0383B89585DC}"/>
                </a:ext>
              </a:extLst>
            </p:cNvPr>
            <p:cNvCxnSpPr>
              <a:cxnSpLocks/>
            </p:cNvCxnSpPr>
            <p:nvPr/>
          </p:nvCxnSpPr>
          <p:spPr>
            <a:xfrm>
              <a:off x="8121952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7">
              <a:extLst>
                <a:ext uri="{FF2B5EF4-FFF2-40B4-BE49-F238E27FC236}">
                  <a16:creationId xmlns:a16="http://schemas.microsoft.com/office/drawing/2014/main" id="{48F4E9F9-B24A-4527-3115-EF2DE6CF47E9}"/>
                </a:ext>
              </a:extLst>
            </p:cNvPr>
            <p:cNvCxnSpPr>
              <a:cxnSpLocks/>
            </p:cNvCxnSpPr>
            <p:nvPr/>
          </p:nvCxnSpPr>
          <p:spPr>
            <a:xfrm>
              <a:off x="8740696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7">
              <a:extLst>
                <a:ext uri="{FF2B5EF4-FFF2-40B4-BE49-F238E27FC236}">
                  <a16:creationId xmlns:a16="http://schemas.microsoft.com/office/drawing/2014/main" id="{233958DB-7E23-06AE-086B-AD1E14DF8E19}"/>
                </a:ext>
              </a:extLst>
            </p:cNvPr>
            <p:cNvCxnSpPr>
              <a:cxnSpLocks/>
            </p:cNvCxnSpPr>
            <p:nvPr/>
          </p:nvCxnSpPr>
          <p:spPr>
            <a:xfrm>
              <a:off x="9974616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C860-83C0-23BA-6366-B43317D3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CE2106-2D9E-3DA0-C105-F81A0B5E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8ED864-BC1F-4283-BFBE-A94A0C08E9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60E1128-9F26-E3B4-50EA-A72E5D2B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49FC000-9FC5-BB1A-D9CD-3722BAE5B17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AF1F386-BC34-1D97-25AD-EB681DA7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E14002-3383-EBCB-85B0-BBCEE63E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340" y="2045822"/>
            <a:ext cx="10090616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es el costo de una deuda?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cierta manera, ya hemos respondido a esta pregunta: la TIR del ya conocido flujo de caja de financiación o flujo de caja de la deuda.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Ahora, recordemos que la deuda (vía gastos financieros) proporciona un ahorro tributario.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Por ende, el costo de la deuda se puede estimar antes y después de impuestos. En el primer caso, el costo no incorpora los ahorros tributarios. En el segundo caso, sí.</a:t>
            </a:r>
          </a:p>
          <a:p>
            <a:pPr algn="just"/>
            <a:endParaRPr lang="es-ES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5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6F56-0984-B7A9-9905-AD2C5E97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C03E6C-EF43-60ED-837A-3F685E21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6776A6-A1F5-B8C1-326F-9D0058DDBE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EE7183E-ED3D-AA24-D2B6-6F855F752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E769356-A529-1FE5-E7DF-433F2EBBAC1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752F9A-56A4-9C37-3BC3-526DEE7D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03BC6E6F-EE9E-C7B2-7D2B-5806D051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2096299"/>
            <a:ext cx="7610476" cy="5622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6C7CAF-3A4B-A43E-D9C3-5FE4D5E042AE}"/>
              </a:ext>
            </a:extLst>
          </p:cNvPr>
          <p:cNvCxnSpPr/>
          <p:nvPr/>
        </p:nvCxnSpPr>
        <p:spPr>
          <a:xfrm>
            <a:off x="4217123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62BFBE1-03A5-F7B5-3276-31D9973231AE}"/>
              </a:ext>
            </a:extLst>
          </p:cNvPr>
          <p:cNvCxnSpPr/>
          <p:nvPr/>
        </p:nvCxnSpPr>
        <p:spPr>
          <a:xfrm>
            <a:off x="4555044" y="4111393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B31A2E-F83C-8FBB-875D-544CCD7A3F70}"/>
              </a:ext>
            </a:extLst>
          </p:cNvPr>
          <p:cNvCxnSpPr/>
          <p:nvPr/>
        </p:nvCxnSpPr>
        <p:spPr>
          <a:xfrm>
            <a:off x="4911813" y="4111393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89087D-2998-9D36-ED3A-170B8969ED00}"/>
              </a:ext>
            </a:extLst>
          </p:cNvPr>
          <p:cNvCxnSpPr/>
          <p:nvPr/>
        </p:nvCxnSpPr>
        <p:spPr>
          <a:xfrm>
            <a:off x="5211499" y="4110319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ADA096-6C6D-250F-7712-21A38B872C3D}"/>
              </a:ext>
            </a:extLst>
          </p:cNvPr>
          <p:cNvCxnSpPr/>
          <p:nvPr/>
        </p:nvCxnSpPr>
        <p:spPr>
          <a:xfrm>
            <a:off x="5549420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C3BAA7-05E2-23EF-C785-84534D9E7F0B}"/>
              </a:ext>
            </a:extLst>
          </p:cNvPr>
          <p:cNvCxnSpPr/>
          <p:nvPr/>
        </p:nvCxnSpPr>
        <p:spPr>
          <a:xfrm>
            <a:off x="5906189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3E12CC-9833-32E8-335A-6A199E116228}"/>
              </a:ext>
            </a:extLst>
          </p:cNvPr>
          <p:cNvCxnSpPr/>
          <p:nvPr/>
        </p:nvCxnSpPr>
        <p:spPr>
          <a:xfrm>
            <a:off x="6253267" y="4110319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F1CD65-85BD-363F-CBA7-217C848FAC34}"/>
              </a:ext>
            </a:extLst>
          </p:cNvPr>
          <p:cNvCxnSpPr/>
          <p:nvPr/>
        </p:nvCxnSpPr>
        <p:spPr>
          <a:xfrm>
            <a:off x="6591188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A2E805-F8CD-C58C-0C8B-9987C1CCED15}"/>
              </a:ext>
            </a:extLst>
          </p:cNvPr>
          <p:cNvCxnSpPr/>
          <p:nvPr/>
        </p:nvCxnSpPr>
        <p:spPr>
          <a:xfrm>
            <a:off x="6591188" y="4802528"/>
            <a:ext cx="0" cy="95918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D7618B-3C9B-254D-8775-19045EA5F098}"/>
              </a:ext>
            </a:extLst>
          </p:cNvPr>
          <p:cNvCxnSpPr/>
          <p:nvPr/>
        </p:nvCxnSpPr>
        <p:spPr>
          <a:xfrm flipV="1">
            <a:off x="6591188" y="380719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15F788-5C11-8B59-0021-F58AEBC83F7B}"/>
              </a:ext>
            </a:extLst>
          </p:cNvPr>
          <p:cNvCxnSpPr/>
          <p:nvPr/>
        </p:nvCxnSpPr>
        <p:spPr>
          <a:xfrm flipV="1">
            <a:off x="6261870" y="380749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9B3115-E792-005B-AC9C-ECD1B0EC5F2A}"/>
              </a:ext>
            </a:extLst>
          </p:cNvPr>
          <p:cNvCxnSpPr/>
          <p:nvPr/>
        </p:nvCxnSpPr>
        <p:spPr>
          <a:xfrm flipV="1">
            <a:off x="5906189" y="378593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F0A4D3-5984-70CE-A627-39A7020058F4}"/>
              </a:ext>
            </a:extLst>
          </p:cNvPr>
          <p:cNvCxnSpPr/>
          <p:nvPr/>
        </p:nvCxnSpPr>
        <p:spPr>
          <a:xfrm flipV="1">
            <a:off x="5549420" y="380749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CDC3ED-CC78-C08D-9D50-A6A50022477F}"/>
              </a:ext>
            </a:extLst>
          </p:cNvPr>
          <p:cNvCxnSpPr/>
          <p:nvPr/>
        </p:nvCxnSpPr>
        <p:spPr>
          <a:xfrm flipV="1">
            <a:off x="5220102" y="380611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FC4643-5F4A-1CC0-1DAB-95CF8D857E75}"/>
              </a:ext>
            </a:extLst>
          </p:cNvPr>
          <p:cNvCxnSpPr/>
          <p:nvPr/>
        </p:nvCxnSpPr>
        <p:spPr>
          <a:xfrm flipV="1">
            <a:off x="4903252" y="3820254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9FD238-1DF0-F90B-C7DE-266F2E85E30F}"/>
              </a:ext>
            </a:extLst>
          </p:cNvPr>
          <p:cNvCxnSpPr/>
          <p:nvPr/>
        </p:nvCxnSpPr>
        <p:spPr>
          <a:xfrm flipV="1">
            <a:off x="4563647" y="380611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D4BD1C-0ACC-833C-896E-D22994F5CF5D}"/>
              </a:ext>
            </a:extLst>
          </p:cNvPr>
          <p:cNvCxnSpPr/>
          <p:nvPr/>
        </p:nvCxnSpPr>
        <p:spPr>
          <a:xfrm flipV="1">
            <a:off x="4225726" y="380309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BEA96D-F059-B02C-676F-B2376ADF4897}"/>
              </a:ext>
            </a:extLst>
          </p:cNvPr>
          <p:cNvSpPr txBox="1"/>
          <p:nvPr/>
        </p:nvSpPr>
        <p:spPr>
          <a:xfrm>
            <a:off x="7082306" y="3728978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60A994-04A3-9C16-EB9A-8155670731DA}"/>
              </a:ext>
            </a:extLst>
          </p:cNvPr>
          <p:cNvSpPr txBox="1"/>
          <p:nvPr/>
        </p:nvSpPr>
        <p:spPr>
          <a:xfrm>
            <a:off x="7019355" y="4202855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30F81A-789B-BAA5-AC7A-386EEF82B12C}"/>
              </a:ext>
            </a:extLst>
          </p:cNvPr>
          <p:cNvSpPr txBox="1"/>
          <p:nvPr/>
        </p:nvSpPr>
        <p:spPr>
          <a:xfrm>
            <a:off x="6964391" y="5107619"/>
            <a:ext cx="3058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Movimientos de Capital o</a:t>
            </a:r>
          </a:p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  </a:t>
            </a:r>
          </a:p>
        </p:txBody>
      </p:sp>
      <p:sp>
        <p:nvSpPr>
          <p:cNvPr id="52" name="TextBox 32">
            <a:extLst>
              <a:ext uri="{FF2B5EF4-FFF2-40B4-BE49-F238E27FC236}">
                <a16:creationId xmlns:a16="http://schemas.microsoft.com/office/drawing/2014/main" id="{AB427A38-4577-AEB2-47DF-D1B7174F05E5}"/>
              </a:ext>
            </a:extLst>
          </p:cNvPr>
          <p:cNvSpPr txBox="1"/>
          <p:nvPr/>
        </p:nvSpPr>
        <p:spPr>
          <a:xfrm>
            <a:off x="2103914" y="300585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9CD6CF-3A7C-A625-D2BD-BD278CCF09F6}"/>
              </a:ext>
            </a:extLst>
          </p:cNvPr>
          <p:cNvCxnSpPr/>
          <p:nvPr/>
        </p:nvCxnSpPr>
        <p:spPr>
          <a:xfrm>
            <a:off x="3833056" y="4111392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68FCB0-10F3-5A99-A2C1-4B238348CF56}"/>
              </a:ext>
            </a:extLst>
          </p:cNvPr>
          <p:cNvCxnSpPr/>
          <p:nvPr/>
        </p:nvCxnSpPr>
        <p:spPr>
          <a:xfrm flipV="1">
            <a:off x="3833056" y="3152209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27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C576-93DD-0C7C-3A2A-0F1E9B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9F8664-F65F-C9E9-1601-B43A654A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85FF26-00F1-3214-5D7F-3465F93F4B6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9480989-93EC-E161-C011-4FFD582F2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2DB6951-E27F-0F29-53D4-71E2430277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ED10C6A-9755-82D0-3BFD-ED4D35F3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B22E3C-9296-54E0-84ED-9976A359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243" y="2270589"/>
            <a:ext cx="10341565" cy="259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de interés estudiar tres tipos de estructuras de deuda:</a:t>
            </a:r>
          </a:p>
          <a:p>
            <a:pPr marL="0" indent="0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amortización constante</a:t>
            </a: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cuotas constantes</a:t>
            </a: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Créditos con amortización Tipo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5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FADD-B764-1EE7-11AF-6D06338C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348C-0F92-6846-435E-C20E82EB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36FC8-7098-C7EB-44CD-8E3FC094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F824954-717B-50CD-C228-5EE0152C2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56D41246-CCFC-EF85-AA3B-326035F4E86A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427C2A-5C91-98D6-2FB2-52B3DCEA1CB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4C0E688-771C-A9BE-2660-C9BD118B9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96FDF16-6EF7-7C36-784D-36062696B80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540D-E0A0-25D3-4F43-075DCDE8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1CEED2-10A1-FC0C-82EC-685AD8A9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D983E6-6170-193F-F90B-02B358FC080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9E89FC2-592B-9019-BAA9-57E25B0F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B27A94-E4B0-F635-BDD5-E552B3A62B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B1FFBF-1479-D8FE-3BFA-9AC706CC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3C46CCEE-54A4-EEF0-05E4-5DE4496B966F}"/>
              </a:ext>
            </a:extLst>
          </p:cNvPr>
          <p:cNvCxnSpPr>
            <a:cxnSpLocks/>
          </p:cNvCxnSpPr>
          <p:nvPr/>
        </p:nvCxnSpPr>
        <p:spPr>
          <a:xfrm flipH="1" flipV="1">
            <a:off x="6701051" y="4067033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7F0DC3E6-D239-CC10-DB8D-7EDE45317D5B}"/>
              </a:ext>
            </a:extLst>
          </p:cNvPr>
          <p:cNvCxnSpPr>
            <a:cxnSpLocks/>
          </p:cNvCxnSpPr>
          <p:nvPr/>
        </p:nvCxnSpPr>
        <p:spPr>
          <a:xfrm flipV="1">
            <a:off x="6371051" y="4067033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2">
            <a:extLst>
              <a:ext uri="{FF2B5EF4-FFF2-40B4-BE49-F238E27FC236}">
                <a16:creationId xmlns:a16="http://schemas.microsoft.com/office/drawing/2014/main" id="{CFDF279A-D0AD-970C-7FCD-9FAC2A7B1FAB}"/>
              </a:ext>
            </a:extLst>
          </p:cNvPr>
          <p:cNvCxnSpPr>
            <a:cxnSpLocks/>
          </p:cNvCxnSpPr>
          <p:nvPr/>
        </p:nvCxnSpPr>
        <p:spPr>
          <a:xfrm flipV="1">
            <a:off x="6028623" y="4067033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3">
            <a:extLst>
              <a:ext uri="{FF2B5EF4-FFF2-40B4-BE49-F238E27FC236}">
                <a16:creationId xmlns:a16="http://schemas.microsoft.com/office/drawing/2014/main" id="{0F6B5414-12B3-98E8-426F-BEA0CA75830E}"/>
              </a:ext>
            </a:extLst>
          </p:cNvPr>
          <p:cNvCxnSpPr>
            <a:cxnSpLocks/>
          </p:cNvCxnSpPr>
          <p:nvPr/>
        </p:nvCxnSpPr>
        <p:spPr>
          <a:xfrm flipV="1">
            <a:off x="5644955" y="4050197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59459DCC-3B8F-FCEE-2C2C-1DE2C3BC319C}"/>
              </a:ext>
            </a:extLst>
          </p:cNvPr>
          <p:cNvCxnSpPr>
            <a:cxnSpLocks/>
          </p:cNvCxnSpPr>
          <p:nvPr/>
        </p:nvCxnSpPr>
        <p:spPr>
          <a:xfrm flipV="1">
            <a:off x="5342931" y="4030011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5">
            <a:extLst>
              <a:ext uri="{FF2B5EF4-FFF2-40B4-BE49-F238E27FC236}">
                <a16:creationId xmlns:a16="http://schemas.microsoft.com/office/drawing/2014/main" id="{71E6DD1C-2B92-065B-7E9B-6C012B456818}"/>
              </a:ext>
            </a:extLst>
          </p:cNvPr>
          <p:cNvCxnSpPr>
            <a:cxnSpLocks/>
          </p:cNvCxnSpPr>
          <p:nvPr/>
        </p:nvCxnSpPr>
        <p:spPr>
          <a:xfrm flipV="1">
            <a:off x="5012433" y="3977003"/>
            <a:ext cx="0" cy="39153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26">
            <a:extLst>
              <a:ext uri="{FF2B5EF4-FFF2-40B4-BE49-F238E27FC236}">
                <a16:creationId xmlns:a16="http://schemas.microsoft.com/office/drawing/2014/main" id="{3ED57078-825F-EE62-16AB-8BC1748BB931}"/>
              </a:ext>
            </a:extLst>
          </p:cNvPr>
          <p:cNvCxnSpPr>
            <a:cxnSpLocks/>
          </p:cNvCxnSpPr>
          <p:nvPr/>
        </p:nvCxnSpPr>
        <p:spPr>
          <a:xfrm flipV="1">
            <a:off x="4672828" y="3949707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7">
            <a:extLst>
              <a:ext uri="{FF2B5EF4-FFF2-40B4-BE49-F238E27FC236}">
                <a16:creationId xmlns:a16="http://schemas.microsoft.com/office/drawing/2014/main" id="{59A4EE04-005D-C335-5CC9-11D38AE7D1DC}"/>
              </a:ext>
            </a:extLst>
          </p:cNvPr>
          <p:cNvCxnSpPr>
            <a:cxnSpLocks/>
          </p:cNvCxnSpPr>
          <p:nvPr/>
        </p:nvCxnSpPr>
        <p:spPr>
          <a:xfrm flipV="1">
            <a:off x="4334907" y="3822603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7A2C845-5B7F-58FA-C23D-EDC74334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2188395"/>
            <a:ext cx="7610476" cy="685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3A7CD7-7966-B0F4-CB9C-B6D78E4D0B8B}"/>
              </a:ext>
            </a:extLst>
          </p:cNvPr>
          <p:cNvSpPr txBox="1"/>
          <p:nvPr/>
        </p:nvSpPr>
        <p:spPr>
          <a:xfrm>
            <a:off x="7119763" y="4756203"/>
            <a:ext cx="19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39532D5-4426-A0A8-25A4-DAF398B6B289}"/>
              </a:ext>
            </a:extLst>
          </p:cNvPr>
          <p:cNvCxnSpPr>
            <a:cxnSpLocks/>
          </p:cNvCxnSpPr>
          <p:nvPr/>
        </p:nvCxnSpPr>
        <p:spPr>
          <a:xfrm>
            <a:off x="3950404" y="4298621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D8A315-FA5B-1B62-3916-743689FF19F5}"/>
              </a:ext>
            </a:extLst>
          </p:cNvPr>
          <p:cNvCxnSpPr>
            <a:cxnSpLocks/>
          </p:cNvCxnSpPr>
          <p:nvPr/>
        </p:nvCxnSpPr>
        <p:spPr>
          <a:xfrm flipV="1">
            <a:off x="3942237" y="3343280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42B1F59A-5950-1FD4-78EE-6746ADA6ECF3}"/>
              </a:ext>
            </a:extLst>
          </p:cNvPr>
          <p:cNvCxnSpPr>
            <a:cxnSpLocks/>
          </p:cNvCxnSpPr>
          <p:nvPr/>
        </p:nvCxnSpPr>
        <p:spPr>
          <a:xfrm flipH="1">
            <a:off x="4334907" y="4573320"/>
            <a:ext cx="2610" cy="5811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6">
            <a:extLst>
              <a:ext uri="{FF2B5EF4-FFF2-40B4-BE49-F238E27FC236}">
                <a16:creationId xmlns:a16="http://schemas.microsoft.com/office/drawing/2014/main" id="{1CD121F6-371F-5934-27A3-57C3BF2198F1}"/>
              </a:ext>
            </a:extLst>
          </p:cNvPr>
          <p:cNvCxnSpPr>
            <a:cxnSpLocks/>
          </p:cNvCxnSpPr>
          <p:nvPr/>
        </p:nvCxnSpPr>
        <p:spPr>
          <a:xfrm flipH="1">
            <a:off x="4685408" y="4586668"/>
            <a:ext cx="2610" cy="440847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6">
            <a:extLst>
              <a:ext uri="{FF2B5EF4-FFF2-40B4-BE49-F238E27FC236}">
                <a16:creationId xmlns:a16="http://schemas.microsoft.com/office/drawing/2014/main" id="{6D6D7BD4-FDF8-D579-634D-4018FE677653}"/>
              </a:ext>
            </a:extLst>
          </p:cNvPr>
          <p:cNvCxnSpPr>
            <a:cxnSpLocks/>
          </p:cNvCxnSpPr>
          <p:nvPr/>
        </p:nvCxnSpPr>
        <p:spPr>
          <a:xfrm>
            <a:off x="5026544" y="4517585"/>
            <a:ext cx="0" cy="43937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6">
            <a:extLst>
              <a:ext uri="{FF2B5EF4-FFF2-40B4-BE49-F238E27FC236}">
                <a16:creationId xmlns:a16="http://schemas.microsoft.com/office/drawing/2014/main" id="{1D37C254-7BCB-22AF-D1DC-575DD856AA53}"/>
              </a:ext>
            </a:extLst>
          </p:cNvPr>
          <p:cNvCxnSpPr>
            <a:cxnSpLocks/>
          </p:cNvCxnSpPr>
          <p:nvPr/>
        </p:nvCxnSpPr>
        <p:spPr>
          <a:xfrm>
            <a:off x="5347297" y="4586667"/>
            <a:ext cx="8603" cy="29971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6">
            <a:extLst>
              <a:ext uri="{FF2B5EF4-FFF2-40B4-BE49-F238E27FC236}">
                <a16:creationId xmlns:a16="http://schemas.microsoft.com/office/drawing/2014/main" id="{30617A44-EB8A-E725-8BF5-E78CEB94ADEF}"/>
              </a:ext>
            </a:extLst>
          </p:cNvPr>
          <p:cNvCxnSpPr>
            <a:cxnSpLocks/>
          </p:cNvCxnSpPr>
          <p:nvPr/>
        </p:nvCxnSpPr>
        <p:spPr>
          <a:xfrm flipH="1">
            <a:off x="5665513" y="4552598"/>
            <a:ext cx="1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6">
            <a:extLst>
              <a:ext uri="{FF2B5EF4-FFF2-40B4-BE49-F238E27FC236}">
                <a16:creationId xmlns:a16="http://schemas.microsoft.com/office/drawing/2014/main" id="{07695820-0394-C3F3-3BBE-37A57BFAE76B}"/>
              </a:ext>
            </a:extLst>
          </p:cNvPr>
          <p:cNvCxnSpPr>
            <a:cxnSpLocks/>
          </p:cNvCxnSpPr>
          <p:nvPr/>
        </p:nvCxnSpPr>
        <p:spPr>
          <a:xfrm>
            <a:off x="6026584" y="4508713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6">
            <a:extLst>
              <a:ext uri="{FF2B5EF4-FFF2-40B4-BE49-F238E27FC236}">
                <a16:creationId xmlns:a16="http://schemas.microsoft.com/office/drawing/2014/main" id="{5835661C-DEE6-BDF7-866E-6A75BA04AEF9}"/>
              </a:ext>
            </a:extLst>
          </p:cNvPr>
          <p:cNvCxnSpPr>
            <a:cxnSpLocks/>
          </p:cNvCxnSpPr>
          <p:nvPr/>
        </p:nvCxnSpPr>
        <p:spPr>
          <a:xfrm>
            <a:off x="6382265" y="4473016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6">
            <a:extLst>
              <a:ext uri="{FF2B5EF4-FFF2-40B4-BE49-F238E27FC236}">
                <a16:creationId xmlns:a16="http://schemas.microsoft.com/office/drawing/2014/main" id="{18113E24-A009-2A87-DF2F-09A4A5B1C01A}"/>
              </a:ext>
            </a:extLst>
          </p:cNvPr>
          <p:cNvCxnSpPr>
            <a:cxnSpLocks/>
          </p:cNvCxnSpPr>
          <p:nvPr/>
        </p:nvCxnSpPr>
        <p:spPr>
          <a:xfrm>
            <a:off x="6705457" y="4444794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6">
            <a:extLst>
              <a:ext uri="{FF2B5EF4-FFF2-40B4-BE49-F238E27FC236}">
                <a16:creationId xmlns:a16="http://schemas.microsoft.com/office/drawing/2014/main" id="{495C55F1-B741-7720-4474-CDFB573AEAD2}"/>
              </a:ext>
            </a:extLst>
          </p:cNvPr>
          <p:cNvSpPr txBox="1"/>
          <p:nvPr/>
        </p:nvSpPr>
        <p:spPr>
          <a:xfrm>
            <a:off x="7021287" y="4252626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F3575C-0E0D-0681-F121-0F0073E7C8D6}"/>
              </a:ext>
            </a:extLst>
          </p:cNvPr>
          <p:cNvCxnSpPr>
            <a:cxnSpLocks/>
          </p:cNvCxnSpPr>
          <p:nvPr/>
        </p:nvCxnSpPr>
        <p:spPr>
          <a:xfrm>
            <a:off x="4326305" y="430192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6">
            <a:extLst>
              <a:ext uri="{FF2B5EF4-FFF2-40B4-BE49-F238E27FC236}">
                <a16:creationId xmlns:a16="http://schemas.microsoft.com/office/drawing/2014/main" id="{85AA95BF-22AD-5F96-01A1-ED5C0224BA7D}"/>
              </a:ext>
            </a:extLst>
          </p:cNvPr>
          <p:cNvCxnSpPr>
            <a:cxnSpLocks/>
          </p:cNvCxnSpPr>
          <p:nvPr/>
        </p:nvCxnSpPr>
        <p:spPr>
          <a:xfrm>
            <a:off x="4676806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6">
            <a:extLst>
              <a:ext uri="{FF2B5EF4-FFF2-40B4-BE49-F238E27FC236}">
                <a16:creationId xmlns:a16="http://schemas.microsoft.com/office/drawing/2014/main" id="{EADD6C33-E0FD-AD3D-5D36-6C2C651C78FF}"/>
              </a:ext>
            </a:extLst>
          </p:cNvPr>
          <p:cNvCxnSpPr>
            <a:cxnSpLocks/>
          </p:cNvCxnSpPr>
          <p:nvPr/>
        </p:nvCxnSpPr>
        <p:spPr>
          <a:xfrm>
            <a:off x="501243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6">
            <a:extLst>
              <a:ext uri="{FF2B5EF4-FFF2-40B4-BE49-F238E27FC236}">
                <a16:creationId xmlns:a16="http://schemas.microsoft.com/office/drawing/2014/main" id="{F155513A-F2AF-AD4F-1193-7DCC7E16C616}"/>
              </a:ext>
            </a:extLst>
          </p:cNvPr>
          <p:cNvCxnSpPr>
            <a:cxnSpLocks/>
          </p:cNvCxnSpPr>
          <p:nvPr/>
        </p:nvCxnSpPr>
        <p:spPr>
          <a:xfrm>
            <a:off x="5336084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6">
            <a:extLst>
              <a:ext uri="{FF2B5EF4-FFF2-40B4-BE49-F238E27FC236}">
                <a16:creationId xmlns:a16="http://schemas.microsoft.com/office/drawing/2014/main" id="{4F7BDD63-A0F8-4AD3-43F5-D5BAF6EFA284}"/>
              </a:ext>
            </a:extLst>
          </p:cNvPr>
          <p:cNvCxnSpPr>
            <a:cxnSpLocks/>
          </p:cNvCxnSpPr>
          <p:nvPr/>
        </p:nvCxnSpPr>
        <p:spPr>
          <a:xfrm>
            <a:off x="5654300" y="432353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6">
            <a:extLst>
              <a:ext uri="{FF2B5EF4-FFF2-40B4-BE49-F238E27FC236}">
                <a16:creationId xmlns:a16="http://schemas.microsoft.com/office/drawing/2014/main" id="{012C01B0-34FF-E675-4C3C-AFB38AC04A1E}"/>
              </a:ext>
            </a:extLst>
          </p:cNvPr>
          <p:cNvCxnSpPr>
            <a:cxnSpLocks/>
          </p:cNvCxnSpPr>
          <p:nvPr/>
        </p:nvCxnSpPr>
        <p:spPr>
          <a:xfrm>
            <a:off x="6015371" y="4321985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464657DE-7B2E-7E9C-13C1-0217F8392927}"/>
              </a:ext>
            </a:extLst>
          </p:cNvPr>
          <p:cNvCxnSpPr>
            <a:cxnSpLocks/>
          </p:cNvCxnSpPr>
          <p:nvPr/>
        </p:nvCxnSpPr>
        <p:spPr>
          <a:xfrm>
            <a:off x="6371052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6">
            <a:extLst>
              <a:ext uri="{FF2B5EF4-FFF2-40B4-BE49-F238E27FC236}">
                <a16:creationId xmlns:a16="http://schemas.microsoft.com/office/drawing/2014/main" id="{5FD05F13-0F4F-9F48-00AE-AC581DD1F912}"/>
              </a:ext>
            </a:extLst>
          </p:cNvPr>
          <p:cNvCxnSpPr>
            <a:cxnSpLocks/>
          </p:cNvCxnSpPr>
          <p:nvPr/>
        </p:nvCxnSpPr>
        <p:spPr>
          <a:xfrm>
            <a:off x="669424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6">
            <a:extLst>
              <a:ext uri="{FF2B5EF4-FFF2-40B4-BE49-F238E27FC236}">
                <a16:creationId xmlns:a16="http://schemas.microsoft.com/office/drawing/2014/main" id="{55F368E9-8AEE-9AC9-6307-59B9E2760DC1}"/>
              </a:ext>
            </a:extLst>
          </p:cNvPr>
          <p:cNvSpPr txBox="1"/>
          <p:nvPr/>
        </p:nvSpPr>
        <p:spPr>
          <a:xfrm>
            <a:off x="7092573" y="3865531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41" name="TextBox 36">
            <a:extLst>
              <a:ext uri="{FF2B5EF4-FFF2-40B4-BE49-F238E27FC236}">
                <a16:creationId xmlns:a16="http://schemas.microsoft.com/office/drawing/2014/main" id="{D6EBC9B5-03BA-15A3-9F83-09642BDC5F71}"/>
              </a:ext>
            </a:extLst>
          </p:cNvPr>
          <p:cNvSpPr txBox="1"/>
          <p:nvPr/>
        </p:nvSpPr>
        <p:spPr>
          <a:xfrm>
            <a:off x="2382822" y="317124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</p:spTree>
    <p:extLst>
      <p:ext uri="{BB962C8B-B14F-4D97-AF65-F5344CB8AC3E}">
        <p14:creationId xmlns:p14="http://schemas.microsoft.com/office/powerpoint/2010/main" val="257062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B03F-1B94-A5B7-ADCA-62EE3F26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D7EDDA-5ACB-643D-EC3C-EFEC0812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159094-FA1D-52C4-F139-89BF224E9B9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18C5A34-C2E5-6A57-3D85-71567D140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0210FC-9112-F81A-BB6E-BB53C8064A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C316ED5-3259-D736-60C0-C2625238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537B2D-B725-084C-261C-A37B14E8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2741129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D82E-53AD-1550-C0DE-369080D7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6BC45-AF95-365E-6EF7-A0A19248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C9208A-1678-12D7-4AC9-3152935368B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AF27569-DDBA-F07A-6C31-950EB383D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E15DC72-30A2-6A85-4484-D22A4549B66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470B6AC-DA23-9AA5-F3AB-1B74FDE8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7A556-029E-6937-EB65-103617827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20">
            <a:extLst>
              <a:ext uri="{FF2B5EF4-FFF2-40B4-BE49-F238E27FC236}">
                <a16:creationId xmlns:a16="http://schemas.microsoft.com/office/drawing/2014/main" id="{7D1B411F-807A-B69C-1AA4-1DC7E83775FD}"/>
              </a:ext>
            </a:extLst>
          </p:cNvPr>
          <p:cNvSpPr/>
          <p:nvPr/>
        </p:nvSpPr>
        <p:spPr>
          <a:xfrm>
            <a:off x="1718808" y="4167381"/>
            <a:ext cx="3546917" cy="355185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8" name="Rectángulo 21">
            <a:extLst>
              <a:ext uri="{FF2B5EF4-FFF2-40B4-BE49-F238E27FC236}">
                <a16:creationId xmlns:a16="http://schemas.microsoft.com/office/drawing/2014/main" id="{C20D1F49-9CB6-C25C-681F-F4768EC230FE}"/>
              </a:ext>
            </a:extLst>
          </p:cNvPr>
          <p:cNvSpPr/>
          <p:nvPr/>
        </p:nvSpPr>
        <p:spPr>
          <a:xfrm>
            <a:off x="1718808" y="4943553"/>
            <a:ext cx="3546917" cy="37661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9" name="Conector recto 22">
            <a:extLst>
              <a:ext uri="{FF2B5EF4-FFF2-40B4-BE49-F238E27FC236}">
                <a16:creationId xmlns:a16="http://schemas.microsoft.com/office/drawing/2014/main" id="{7EC0BFD3-70C5-71BF-1155-7CE525CF7C79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5265725" y="4120026"/>
            <a:ext cx="3215274" cy="224948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23">
            <a:extLst>
              <a:ext uri="{FF2B5EF4-FFF2-40B4-BE49-F238E27FC236}">
                <a16:creationId xmlns:a16="http://schemas.microsoft.com/office/drawing/2014/main" id="{DD41F2C8-6A3A-EBAE-AF5B-4F941816A5E1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5265725" y="4120026"/>
            <a:ext cx="3215274" cy="101183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24">
            <a:extLst>
              <a:ext uri="{FF2B5EF4-FFF2-40B4-BE49-F238E27FC236}">
                <a16:creationId xmlns:a16="http://schemas.microsoft.com/office/drawing/2014/main" id="{A322272F-9D5A-0AC9-C963-6E9C307E84EF}"/>
              </a:ext>
            </a:extLst>
          </p:cNvPr>
          <p:cNvSpPr/>
          <p:nvPr/>
        </p:nvSpPr>
        <p:spPr>
          <a:xfrm>
            <a:off x="8480999" y="3935360"/>
            <a:ext cx="312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#Periodos del FCD</a:t>
            </a:r>
          </a:p>
        </p:txBody>
      </p:sp>
      <p:sp>
        <p:nvSpPr>
          <p:cNvPr id="13" name="Rectángulo 16">
            <a:extLst>
              <a:ext uri="{FF2B5EF4-FFF2-40B4-BE49-F238E27FC236}">
                <a16:creationId xmlns:a16="http://schemas.microsoft.com/office/drawing/2014/main" id="{0E8FDEDC-F25C-328B-430D-B819B7F9CE12}"/>
              </a:ext>
            </a:extLst>
          </p:cNvPr>
          <p:cNvSpPr/>
          <p:nvPr/>
        </p:nvSpPr>
        <p:spPr>
          <a:xfrm>
            <a:off x="4126726" y="3356723"/>
            <a:ext cx="3456000" cy="31610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14" name="Conector recto 27">
            <a:extLst>
              <a:ext uri="{FF2B5EF4-FFF2-40B4-BE49-F238E27FC236}">
                <a16:creationId xmlns:a16="http://schemas.microsoft.com/office/drawing/2014/main" id="{538BA90D-EBF8-062F-EF7C-ABCD6D696215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>
            <a:off x="5854726" y="3672830"/>
            <a:ext cx="2626273" cy="44719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40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D1E8-CECD-FB3D-96D5-A4D1BEA3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BC42B2-76D0-3C53-0741-43F8E9D9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8EFCF2-E04E-79B7-B5E7-52D3BC16596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6DE7DCC-75A7-4B2E-6ED7-4C9DB779B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E78D43A-9E90-87B6-85AA-0449C15585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4758F66-D133-FF3F-F806-1C5F2116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5C94A3-D47F-C5EB-5587-84D47837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16">
            <a:extLst>
              <a:ext uri="{FF2B5EF4-FFF2-40B4-BE49-F238E27FC236}">
                <a16:creationId xmlns:a16="http://schemas.microsoft.com/office/drawing/2014/main" id="{5E7EEBD7-0667-C9C5-0327-0E3AC4508DCD}"/>
              </a:ext>
            </a:extLst>
          </p:cNvPr>
          <p:cNvSpPr/>
          <p:nvPr/>
        </p:nvSpPr>
        <p:spPr>
          <a:xfrm>
            <a:off x="1802111" y="4153535"/>
            <a:ext cx="3546917" cy="37661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Herramienta - Vikidia">
            <a:extLst>
              <a:ext uri="{FF2B5EF4-FFF2-40B4-BE49-F238E27FC236}">
                <a16:creationId xmlns:a16="http://schemas.microsoft.com/office/drawing/2014/main" id="{2B33AD81-44EC-9DD7-673C-37BF4BC3F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17214">
            <a:off x="5528208" y="3656201"/>
            <a:ext cx="761080" cy="76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🚫 Prohibido Emoji">
            <a:extLst>
              <a:ext uri="{FF2B5EF4-FFF2-40B4-BE49-F238E27FC236}">
                <a16:creationId xmlns:a16="http://schemas.microsoft.com/office/drawing/2014/main" id="{DFF4845B-A3B2-4176-9960-07375842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86449" y="3525983"/>
            <a:ext cx="1044598" cy="104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21">
            <a:extLst>
              <a:ext uri="{FF2B5EF4-FFF2-40B4-BE49-F238E27FC236}">
                <a16:creationId xmlns:a16="http://schemas.microsoft.com/office/drawing/2014/main" id="{42FDC0E6-E9DE-AAF6-B7E8-61FDF28CEE4F}"/>
              </a:ext>
            </a:extLst>
          </p:cNvPr>
          <p:cNvSpPr/>
          <p:nvPr/>
        </p:nvSpPr>
        <p:spPr>
          <a:xfrm>
            <a:off x="6052565" y="3652020"/>
            <a:ext cx="50257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La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única conversión permitida es </a:t>
            </a:r>
          </a:p>
          <a:p>
            <a:pPr lvl="1"/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quitar el Nominal en caso de que haya</a:t>
            </a:r>
          </a:p>
        </p:txBody>
      </p:sp>
    </p:spTree>
    <p:extLst>
      <p:ext uri="{BB962C8B-B14F-4D97-AF65-F5344CB8AC3E}">
        <p14:creationId xmlns:p14="http://schemas.microsoft.com/office/powerpoint/2010/main" val="108577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0ABD-6D8E-CB6E-09FD-56DEB805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280A0C-7217-5482-BE34-0FD4340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C6B916-8231-7A29-3D15-5C895486C59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CD37175-C609-B8FC-34A7-4B188C100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0723FF9-AAE0-BC56-20C9-231A153A0A2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0EBAFE1-8591-DE70-EDF7-A7A6F227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3D8B6A-982D-997A-7BDF-71295ABA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16">
            <a:extLst>
              <a:ext uri="{FF2B5EF4-FFF2-40B4-BE49-F238E27FC236}">
                <a16:creationId xmlns:a16="http://schemas.microsoft.com/office/drawing/2014/main" id="{3D1F2D51-BE47-0AA1-06C5-045995B95CF3}"/>
              </a:ext>
            </a:extLst>
          </p:cNvPr>
          <p:cNvSpPr/>
          <p:nvPr/>
        </p:nvSpPr>
        <p:spPr>
          <a:xfrm>
            <a:off x="4144433" y="3305969"/>
            <a:ext cx="3399368" cy="43088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8" name="Rectángulo 17">
            <a:extLst>
              <a:ext uri="{FF2B5EF4-FFF2-40B4-BE49-F238E27FC236}">
                <a16:creationId xmlns:a16="http://schemas.microsoft.com/office/drawing/2014/main" id="{9FF11C00-20F0-A287-5C58-14781A90B0F8}"/>
              </a:ext>
            </a:extLst>
          </p:cNvPr>
          <p:cNvSpPr/>
          <p:nvPr/>
        </p:nvSpPr>
        <p:spPr>
          <a:xfrm>
            <a:off x="1750741" y="4920808"/>
            <a:ext cx="2940132" cy="43088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9" name="Conector recto 18">
            <a:extLst>
              <a:ext uri="{FF2B5EF4-FFF2-40B4-BE49-F238E27FC236}">
                <a16:creationId xmlns:a16="http://schemas.microsoft.com/office/drawing/2014/main" id="{6CD0D5D0-E92C-816F-ACF1-283BCAB8457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844117" y="3736856"/>
            <a:ext cx="1252025" cy="550670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9">
            <a:extLst>
              <a:ext uri="{FF2B5EF4-FFF2-40B4-BE49-F238E27FC236}">
                <a16:creationId xmlns:a16="http://schemas.microsoft.com/office/drawing/2014/main" id="{461CF208-D731-3C5D-E15C-B5D2CDC6FDE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690873" y="4287526"/>
            <a:ext cx="2405269" cy="84872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20">
            <a:extLst>
              <a:ext uri="{FF2B5EF4-FFF2-40B4-BE49-F238E27FC236}">
                <a16:creationId xmlns:a16="http://schemas.microsoft.com/office/drawing/2014/main" id="{501AA9E7-F01B-6309-1AD6-635D5ADDA15A}"/>
              </a:ext>
            </a:extLst>
          </p:cNvPr>
          <p:cNvSpPr/>
          <p:nvPr/>
        </p:nvSpPr>
        <p:spPr>
          <a:xfrm>
            <a:off x="6719541" y="4087596"/>
            <a:ext cx="292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#Amortizaciones (N)</a:t>
            </a:r>
          </a:p>
        </p:txBody>
      </p:sp>
    </p:spTree>
    <p:extLst>
      <p:ext uri="{BB962C8B-B14F-4D97-AF65-F5344CB8AC3E}">
        <p14:creationId xmlns:p14="http://schemas.microsoft.com/office/powerpoint/2010/main" val="1732460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41D0-11FE-5DA7-64EA-55A8FD5A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F4E930-6D2F-DA1E-6FB8-0D8F6DD7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1B8B0D-1917-71AB-A148-0569C30491A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0B2ACC6-29FD-03C6-9C3F-645E1FC8A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FA944F6-D382-083D-B7FD-A967695D56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F93E42B-1FD2-77FF-1C48-A41B9663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ADE8A5-BA2D-D155-956A-CD2842493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F2EC183-3928-9557-7817-17054F779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77481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68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7F99-AD27-26CA-106B-32F69430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EXCEL REPASO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13478-59CD-8183-C3B1-D40B767E5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1083" y="2285837"/>
            <a:ext cx="3746500" cy="3670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54DAD-A0D9-3745-F183-98DD30E3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43449-93A7-DE0C-865A-7CFD8200A79C}"/>
              </a:ext>
            </a:extLst>
          </p:cNvPr>
          <p:cNvSpPr txBox="1"/>
          <p:nvPr/>
        </p:nvSpPr>
        <p:spPr>
          <a:xfrm>
            <a:off x="1388533" y="3466714"/>
            <a:ext cx="316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https://</a:t>
            </a:r>
            <a:r>
              <a:rPr lang="en-US" sz="2400" dirty="0" err="1">
                <a:solidFill>
                  <a:srgbClr val="FF0000"/>
                </a:solidFill>
              </a:rPr>
              <a:t>shorturl.at</a:t>
            </a:r>
            <a:r>
              <a:rPr lang="en-US" sz="2400" dirty="0">
                <a:solidFill>
                  <a:srgbClr val="FF0000"/>
                </a:solidFill>
              </a:rPr>
              <a:t>/</a:t>
            </a:r>
            <a:r>
              <a:rPr lang="en-US" sz="2400" dirty="0" err="1">
                <a:solidFill>
                  <a:srgbClr val="FF0000"/>
                </a:solidFill>
              </a:rPr>
              <a:t>yUJAj</a:t>
            </a:r>
            <a:endParaRPr lang="en-C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7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5892-A07C-77E6-D361-D324A349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DAD59-5CD7-C3C5-7BFF-83E13BA6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2C06E8-8154-DA82-499D-1F2EDCF53C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51FE673-FE94-7F43-ED2F-D1C8095B1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78FE1A2-3AE1-0A19-642B-47A029D0425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642DE1A-EC3D-CE02-DC70-26F72C71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1B0F66-7EA9-4534-CCB2-282051B31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1A51342D-47FC-78E0-B24B-6C8FCDF33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59935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1">
            <a:extLst>
              <a:ext uri="{FF2B5EF4-FFF2-40B4-BE49-F238E27FC236}">
                <a16:creationId xmlns:a16="http://schemas.microsoft.com/office/drawing/2014/main" id="{83716429-526D-EDB0-CAFE-CA9BED2F1645}"/>
              </a:ext>
            </a:extLst>
          </p:cNvPr>
          <p:cNvSpPr/>
          <p:nvPr/>
        </p:nvSpPr>
        <p:spPr>
          <a:xfrm>
            <a:off x="2114760" y="3385229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05B5259A-4DF9-E629-1E3B-68CE94A8088E}"/>
              </a:ext>
            </a:extLst>
          </p:cNvPr>
          <p:cNvSpPr txBox="1"/>
          <p:nvPr/>
        </p:nvSpPr>
        <p:spPr>
          <a:xfrm>
            <a:off x="4196966" y="2475497"/>
            <a:ext cx="616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Adquisición Deuda (t)  = Monto(s) Solicitado(s) al Banco en t</a:t>
            </a:r>
          </a:p>
        </p:txBody>
      </p:sp>
    </p:spTree>
    <p:extLst>
      <p:ext uri="{BB962C8B-B14F-4D97-AF65-F5344CB8AC3E}">
        <p14:creationId xmlns:p14="http://schemas.microsoft.com/office/powerpoint/2010/main" val="39007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64C1-1F70-4D4A-FF16-F666508B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44C2DB-3655-E33C-E14E-810E6D1E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10B188-7302-2B93-9A61-EBB8F020F1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B39A6B3-1C08-1194-E077-547C82A2D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6E240C7-375E-E7F1-D48C-E1072FEB051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F3476A1-9046-A284-B142-D202724E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2365BA-81EC-BB7B-42F9-E4566D13E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DC14BF8-0DE0-BD67-9D20-D9A5EED3D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868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1">
            <a:extLst>
              <a:ext uri="{FF2B5EF4-FFF2-40B4-BE49-F238E27FC236}">
                <a16:creationId xmlns:a16="http://schemas.microsoft.com/office/drawing/2014/main" id="{4814C25E-1004-A89B-A6B0-17C7CED1830D}"/>
              </a:ext>
            </a:extLst>
          </p:cNvPr>
          <p:cNvSpPr/>
          <p:nvPr/>
        </p:nvSpPr>
        <p:spPr>
          <a:xfrm>
            <a:off x="2114760" y="3385229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6A075587-00AA-64CC-0D95-E4130AF5F04F}"/>
              </a:ext>
            </a:extLst>
          </p:cNvPr>
          <p:cNvSpPr txBox="1"/>
          <p:nvPr/>
        </p:nvSpPr>
        <p:spPr>
          <a:xfrm>
            <a:off x="4196966" y="2475497"/>
            <a:ext cx="5415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Adquisición Deuda (t)  = Monto(s) Solicitado(s) al Banco en t</a:t>
            </a:r>
          </a:p>
        </p:txBody>
      </p:sp>
    </p:spTree>
    <p:extLst>
      <p:ext uri="{BB962C8B-B14F-4D97-AF65-F5344CB8AC3E}">
        <p14:creationId xmlns:p14="http://schemas.microsoft.com/office/powerpoint/2010/main" val="388859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99E9-8ECC-21B6-568B-883F1C07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E3BCA2-3E67-A041-2398-09C49CE2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1AB2CB-C7D0-FC7F-EB5C-2865E047931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588DEC5-3F8A-D73A-E0F5-9FD1392FB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AA911EA-093D-210F-7E49-05C72F9D3C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07B03B-069B-A502-86B4-841E5E1B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E293BD4-E70A-34B5-EC0D-1E0A63F8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4" name="Tabla 8">
            <a:extLst>
              <a:ext uri="{FF2B5EF4-FFF2-40B4-BE49-F238E27FC236}">
                <a16:creationId xmlns:a16="http://schemas.microsoft.com/office/drawing/2014/main" id="{1465DFB7-2469-84DB-AD0C-D340972C5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3710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5" name="Elipse 13">
            <a:extLst>
              <a:ext uri="{FF2B5EF4-FFF2-40B4-BE49-F238E27FC236}">
                <a16:creationId xmlns:a16="http://schemas.microsoft.com/office/drawing/2014/main" id="{FB54305A-66BA-34A5-9212-B3B0F43F92F9}"/>
              </a:ext>
            </a:extLst>
          </p:cNvPr>
          <p:cNvSpPr/>
          <p:nvPr/>
        </p:nvSpPr>
        <p:spPr>
          <a:xfrm>
            <a:off x="2062833" y="4128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6" name="CuadroTexto 21">
            <a:extLst>
              <a:ext uri="{FF2B5EF4-FFF2-40B4-BE49-F238E27FC236}">
                <a16:creationId xmlns:a16="http://schemas.microsoft.com/office/drawing/2014/main" id="{E69BB8D8-E63A-0418-2DF2-B8B58E8D952A}"/>
              </a:ext>
            </a:extLst>
          </p:cNvPr>
          <p:cNvSpPr txBox="1"/>
          <p:nvPr/>
        </p:nvSpPr>
        <p:spPr>
          <a:xfrm>
            <a:off x="4196966" y="2475497"/>
            <a:ext cx="4970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Deuda/N</a:t>
            </a:r>
          </a:p>
        </p:txBody>
      </p:sp>
    </p:spTree>
    <p:extLst>
      <p:ext uri="{BB962C8B-B14F-4D97-AF65-F5344CB8AC3E}">
        <p14:creationId xmlns:p14="http://schemas.microsoft.com/office/powerpoint/2010/main" val="16097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9175-E798-03F7-7AE3-101CF4ABF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FCA059-136B-7031-4E36-4B199E08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A15C7D-221D-9283-4FF8-58B825C88E6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D433F23-43EA-D631-CFF3-DE81E40B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5F04D71-C638-2A66-8673-046E6C3CD32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0D32070-E835-DE65-7405-2CE28FBE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2671B27-CA38-99B9-B327-798C6ED5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1" name="Tabla 8">
            <a:extLst>
              <a:ext uri="{FF2B5EF4-FFF2-40B4-BE49-F238E27FC236}">
                <a16:creationId xmlns:a16="http://schemas.microsoft.com/office/drawing/2014/main" id="{8A61A01F-63A1-BFE8-978C-24B8E4DA4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09757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Elipse 13">
            <a:extLst>
              <a:ext uri="{FF2B5EF4-FFF2-40B4-BE49-F238E27FC236}">
                <a16:creationId xmlns:a16="http://schemas.microsoft.com/office/drawing/2014/main" id="{AA120CDB-72AF-DA4A-2C0A-AEBA460574C6}"/>
              </a:ext>
            </a:extLst>
          </p:cNvPr>
          <p:cNvSpPr/>
          <p:nvPr/>
        </p:nvSpPr>
        <p:spPr>
          <a:xfrm>
            <a:off x="2062833" y="4128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21">
            <a:extLst>
              <a:ext uri="{FF2B5EF4-FFF2-40B4-BE49-F238E27FC236}">
                <a16:creationId xmlns:a16="http://schemas.microsoft.com/office/drawing/2014/main" id="{81CFE6F4-D0C3-C626-34BF-895659E0865B}"/>
              </a:ext>
            </a:extLst>
          </p:cNvPr>
          <p:cNvSpPr txBox="1"/>
          <p:nvPr/>
        </p:nvSpPr>
        <p:spPr>
          <a:xfrm>
            <a:off x="4196966" y="2475497"/>
            <a:ext cx="4970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Deuda/N</a:t>
            </a:r>
          </a:p>
        </p:txBody>
      </p:sp>
    </p:spTree>
    <p:extLst>
      <p:ext uri="{BB962C8B-B14F-4D97-AF65-F5344CB8AC3E}">
        <p14:creationId xmlns:p14="http://schemas.microsoft.com/office/powerpoint/2010/main" val="39379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5ECB-EB44-06AA-E6CE-2D22C8A3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82242E-08D4-B792-2CE7-BCA9A9E5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43D08B-C38D-0438-0EB8-DD83CC04106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AE7FDFF-3444-F765-24E6-C7C46B7B5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6DB7C00-5BE9-3C7F-BA5A-5273E40F79C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56A93D9-F748-02A9-39E1-0B8D2BE7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3AAABC-8BED-20B8-4BB6-FEF06689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E48703F-3A55-67A6-6390-B496ECADC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46224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2">
            <a:extLst>
              <a:ext uri="{FF2B5EF4-FFF2-40B4-BE49-F238E27FC236}">
                <a16:creationId xmlns:a16="http://schemas.microsoft.com/office/drawing/2014/main" id="{14687838-9124-C035-A7AA-D8B930DF3DE4}"/>
              </a:ext>
            </a:extLst>
          </p:cNvPr>
          <p:cNvSpPr/>
          <p:nvPr/>
        </p:nvSpPr>
        <p:spPr>
          <a:xfrm>
            <a:off x="2062832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13452724-FBC6-8C81-DF46-F231202C8223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Saldo (t) = Saldo (t-1) + Adquisición Deuda (t) –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163116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76D3-2AE2-EA9B-C8B2-342BF4DD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683384-3BC1-927D-28A7-77E74E27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FCDB3C-ACC9-2287-EDE3-E046043EB0C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C490B77-EF32-F46F-FFEE-896C63C3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FB0632-0B1A-5B6E-933B-658CDF0DB31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A5FCA9-5F6D-4FF3-C5A7-04E37670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0EED0-884D-B555-4878-996C61C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32F34BE-4146-5612-9A2A-E7815AC44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524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2">
            <a:extLst>
              <a:ext uri="{FF2B5EF4-FFF2-40B4-BE49-F238E27FC236}">
                <a16:creationId xmlns:a16="http://schemas.microsoft.com/office/drawing/2014/main" id="{E6C51AD5-5A87-3308-BCE4-E8CB69342455}"/>
              </a:ext>
            </a:extLst>
          </p:cNvPr>
          <p:cNvSpPr/>
          <p:nvPr/>
        </p:nvSpPr>
        <p:spPr>
          <a:xfrm>
            <a:off x="2062832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C3E71023-E849-2CA5-A5E2-A22E71764B90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Saldo (t) = Saldo (t-1) + Adquisición Deuda (t) – Amortización (t)</a:t>
            </a:r>
          </a:p>
        </p:txBody>
      </p:sp>
      <p:sp>
        <p:nvSpPr>
          <p:cNvPr id="11" name="Elipse 13">
            <a:extLst>
              <a:ext uri="{FF2B5EF4-FFF2-40B4-BE49-F238E27FC236}">
                <a16:creationId xmlns:a16="http://schemas.microsoft.com/office/drawing/2014/main" id="{7ABA0697-B65D-DBCC-8042-A05050E95377}"/>
              </a:ext>
            </a:extLst>
          </p:cNvPr>
          <p:cNvSpPr/>
          <p:nvPr/>
        </p:nvSpPr>
        <p:spPr>
          <a:xfrm>
            <a:off x="8973483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1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F03F-2793-669D-BA33-E7D579FD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EDBBD8-CDDB-3A43-8633-6EE29995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28C8B0-8F90-239E-FC81-AA8D39FE55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66094EB-D2A5-EA87-9767-46C00763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980A35B-78AA-E886-6A22-3AF95590D2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738DF25-BB00-DD84-2B74-F6DAF8F8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FC8028D2-40FA-A534-C961-4C60258A2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D0B724FE-863E-C79D-F914-C748063BE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28926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4" name="Elipse 21">
            <a:extLst>
              <a:ext uri="{FF2B5EF4-FFF2-40B4-BE49-F238E27FC236}">
                <a16:creationId xmlns:a16="http://schemas.microsoft.com/office/drawing/2014/main" id="{186E7AFD-49EA-91E2-D661-B1B003F976F6}"/>
              </a:ext>
            </a:extLst>
          </p:cNvPr>
          <p:cNvSpPr/>
          <p:nvPr/>
        </p:nvSpPr>
        <p:spPr>
          <a:xfrm>
            <a:off x="2125647" y="37515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15" name="CuadroTexto 24">
            <a:extLst>
              <a:ext uri="{FF2B5EF4-FFF2-40B4-BE49-F238E27FC236}">
                <a16:creationId xmlns:a16="http://schemas.microsoft.com/office/drawing/2014/main" id="{D73D014E-AA63-05E0-F82A-ED3C27DF35B1}"/>
              </a:ext>
            </a:extLst>
          </p:cNvPr>
          <p:cNvSpPr txBox="1"/>
          <p:nvPr/>
        </p:nvSpPr>
        <p:spPr>
          <a:xfrm>
            <a:off x="4196966" y="2475497"/>
            <a:ext cx="568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(t-1) *Tasa de Interés</a:t>
            </a:r>
          </a:p>
        </p:txBody>
      </p:sp>
    </p:spTree>
    <p:extLst>
      <p:ext uri="{BB962C8B-B14F-4D97-AF65-F5344CB8AC3E}">
        <p14:creationId xmlns:p14="http://schemas.microsoft.com/office/powerpoint/2010/main" val="85956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ADC8-459A-F224-F88D-58ED9A01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6E97B-7475-907E-9849-C84CDAAC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993869-3B53-ACF3-06EF-534B183DB61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88933BE-9556-8326-BC96-0A79D7C4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F5AE7B2-528A-62A4-C6BB-ED69BA98B8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BA33EF1-61FD-F6DC-AC19-A04B634E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E994721-4D9D-3400-2EB6-DB9EE8152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1" name="Tabla 8">
            <a:extLst>
              <a:ext uri="{FF2B5EF4-FFF2-40B4-BE49-F238E27FC236}">
                <a16:creationId xmlns:a16="http://schemas.microsoft.com/office/drawing/2014/main" id="{200D0B85-878A-7A41-F3E7-85B0F0E33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9076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Elipse 21">
            <a:extLst>
              <a:ext uri="{FF2B5EF4-FFF2-40B4-BE49-F238E27FC236}">
                <a16:creationId xmlns:a16="http://schemas.microsoft.com/office/drawing/2014/main" id="{1C0BF7BA-A8E3-7649-3F18-2325CB4C2375}"/>
              </a:ext>
            </a:extLst>
          </p:cNvPr>
          <p:cNvSpPr/>
          <p:nvPr/>
        </p:nvSpPr>
        <p:spPr>
          <a:xfrm>
            <a:off x="2125647" y="37515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13" name="CuadroTexto 24">
            <a:extLst>
              <a:ext uri="{FF2B5EF4-FFF2-40B4-BE49-F238E27FC236}">
                <a16:creationId xmlns:a16="http://schemas.microsoft.com/office/drawing/2014/main" id="{215BD125-E847-3FD0-0B84-CF33FC5E7993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(t-1) *Tasa de Interés</a:t>
            </a:r>
          </a:p>
        </p:txBody>
      </p:sp>
    </p:spTree>
    <p:extLst>
      <p:ext uri="{BB962C8B-B14F-4D97-AF65-F5344CB8AC3E}">
        <p14:creationId xmlns:p14="http://schemas.microsoft.com/office/powerpoint/2010/main" val="305204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06740-3426-207D-6F75-9C52F535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44E2CC-3477-4E1D-FB7C-85261948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A9590F-9B59-9912-A418-BBB522BE37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188E860-AEB5-F8A9-523C-B4AB8DAD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C63AF88-EEDE-CC7B-91BC-15E598E0A0A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2059981-0DBD-A7ED-DC7F-96C80EBC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7D554-3BA0-A4DD-6457-14A51F45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789B995-2BAB-2EF2-76D4-2B99E086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2925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BBF9A18F-2127-414F-4822-29EC037964DC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7C8458C1-D136-48C3-B8BD-1F3D7DEE4B14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Cuota (t) = Interés (t) +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122109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9F77-B698-53CD-8DB7-503DF3B7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527B36-F90A-2F6F-C978-1CF5432E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BEF2C9C-ECCD-22CD-CC26-B297B1DE382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951C033-DB3F-AB73-3284-05532314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FE5A7A3-3BAD-CC91-BD3C-225A4AC2991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A95467F-C1D1-B048-4E89-65C9BE76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DCDE30-C11A-A531-86F6-93F391067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39AAB30-17D8-3BB3-D171-EF8D09D1C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965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3A5174C4-659A-B8F9-32A4-5C3B0EBBED20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D844B27D-7A8B-B109-9D12-DDB482912B3B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Cuota (t) = Interés (t) +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3271269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77AC-8BF7-69D0-9CE5-39840BFE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441BF9-F6D6-444F-0805-3496BE0A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B59FE7-E1EE-6FD8-6A8C-44201623065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AA6B522-B997-0E67-A2E8-E6CB81B8E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8280BC-5A74-2907-EA8D-0C1ADD1EBB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27695F6-65FE-8978-E4E1-1638CBAC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CAA1B-0D72-4C31-5BB6-CA2FC825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5A6D5E4-319B-E393-EB98-7681C349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0447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25CD8EF6-3678-2C8B-1903-5D8E9E80D33B}"/>
              </a:ext>
            </a:extLst>
          </p:cNvPr>
          <p:cNvSpPr/>
          <p:nvPr/>
        </p:nvSpPr>
        <p:spPr>
          <a:xfrm>
            <a:off x="2062833" y="5245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EB730C62-6B9F-5693-55AF-5D225B86F404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</a:t>
            </a:r>
          </a:p>
        </p:txBody>
      </p:sp>
    </p:spTree>
    <p:extLst>
      <p:ext uri="{BB962C8B-B14F-4D97-AF65-F5344CB8AC3E}">
        <p14:creationId xmlns:p14="http://schemas.microsoft.com/office/powerpoint/2010/main" val="8333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8288-2CD2-98A1-6EA3-2D2A1E56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D64564-EF4C-113C-E30A-222F289A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5616D5-827D-C0D8-366B-11547C311A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B6E5D30-572F-E331-7142-DB87481DA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4364DBF-EA5F-520E-5800-E5DE64F2F6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594062-B1FD-FE40-141A-5D471B9C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6" name="Tabla 8">
            <a:extLst>
              <a:ext uri="{FF2B5EF4-FFF2-40B4-BE49-F238E27FC236}">
                <a16:creationId xmlns:a16="http://schemas.microsoft.com/office/drawing/2014/main" id="{2D4E8844-A39B-B692-067F-02EFB60B9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2941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7" name="Elipse 21">
            <a:extLst>
              <a:ext uri="{FF2B5EF4-FFF2-40B4-BE49-F238E27FC236}">
                <a16:creationId xmlns:a16="http://schemas.microsoft.com/office/drawing/2014/main" id="{8D1E7D6C-89C9-CEB3-FD5C-1B9DC2F5F7A2}"/>
              </a:ext>
            </a:extLst>
          </p:cNvPr>
          <p:cNvSpPr/>
          <p:nvPr/>
        </p:nvSpPr>
        <p:spPr>
          <a:xfrm>
            <a:off x="2062833" y="5245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23">
            <a:extLst>
              <a:ext uri="{FF2B5EF4-FFF2-40B4-BE49-F238E27FC236}">
                <a16:creationId xmlns:a16="http://schemas.microsoft.com/office/drawing/2014/main" id="{B649043B-3108-E11D-9BA5-B96B4BDC8CF6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7C667480-4322-18B5-AB8E-F006B7844B0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411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D0E9-4A2E-8C2C-AC53-DFDEA1BC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28A044-EFE7-8E60-5D74-21250916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0CEFB7-92B6-B96E-EEE1-3C2E6B9EA0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9B8D56C-6E09-20E7-3E50-55131AAF1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CAF9F8E-1197-3F06-4FEC-2D5DDA33183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90C6503-01FC-0391-FC4A-1B26BB5F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65F17-7CD8-4A7B-0C06-46EC98CA0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46B723CB-E573-7DE8-37FD-303504FEC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32974"/>
              </p:ext>
            </p:extLst>
          </p:nvPr>
        </p:nvGraphicFramePr>
        <p:xfrm>
          <a:off x="677847" y="2901412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8" name="Conector recto 13">
            <a:extLst>
              <a:ext uri="{FF2B5EF4-FFF2-40B4-BE49-F238E27FC236}">
                <a16:creationId xmlns:a16="http://schemas.microsoft.com/office/drawing/2014/main" id="{0A4FD244-F7C3-6440-F81F-4B042DBE698D}"/>
              </a:ext>
            </a:extLst>
          </p:cNvPr>
          <p:cNvCxnSpPr>
            <a:cxnSpLocks/>
          </p:cNvCxnSpPr>
          <p:nvPr/>
        </p:nvCxnSpPr>
        <p:spPr>
          <a:xfrm flipV="1">
            <a:off x="9167439" y="4005072"/>
            <a:ext cx="881817" cy="131422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errar llave 4">
            <a:extLst>
              <a:ext uri="{FF2B5EF4-FFF2-40B4-BE49-F238E27FC236}">
                <a16:creationId xmlns:a16="http://schemas.microsoft.com/office/drawing/2014/main" id="{47E6643C-6E5C-FB07-CD0D-9A61500E758D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1" name="Rectángulo 22">
            <a:extLst>
              <a:ext uri="{FF2B5EF4-FFF2-40B4-BE49-F238E27FC236}">
                <a16:creationId xmlns:a16="http://schemas.microsoft.com/office/drawing/2014/main" id="{67B72895-63F1-32E4-F49F-C5818B426AB2}"/>
              </a:ext>
            </a:extLst>
          </p:cNvPr>
          <p:cNvSpPr/>
          <p:nvPr/>
        </p:nvSpPr>
        <p:spPr>
          <a:xfrm>
            <a:off x="10005826" y="3361085"/>
            <a:ext cx="1545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24">
            <a:extLst>
              <a:ext uri="{FF2B5EF4-FFF2-40B4-BE49-F238E27FC236}">
                <a16:creationId xmlns:a16="http://schemas.microsoft.com/office/drawing/2014/main" id="{62B854AE-17D6-F4CB-3BD4-28C8CC49613A}"/>
              </a:ext>
            </a:extLst>
          </p:cNvPr>
          <p:cNvSpPr/>
          <p:nvPr/>
        </p:nvSpPr>
        <p:spPr>
          <a:xfrm>
            <a:off x="10043115" y="3666964"/>
            <a:ext cx="1506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</p:spTree>
    <p:extLst>
      <p:ext uri="{BB962C8B-B14F-4D97-AF65-F5344CB8AC3E}">
        <p14:creationId xmlns:p14="http://schemas.microsoft.com/office/powerpoint/2010/main" val="104593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B25B-FC08-8163-C6FA-ADF88361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E96D65-580F-589B-FCC4-23872F35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90B8C1-D0FE-1775-F349-64DB9E0616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44579ED-8433-F6AE-5B06-0FA957570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0673D96-01A5-B97C-EEE4-B1416F4FAB6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69FC774-0420-87B8-4EED-E7F9E81C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E74BA-3BD6-EF64-2EDE-90B414E0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13" y="2363055"/>
            <a:ext cx="10286974" cy="3369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Ahora, recordemos que uno de los elementos fundamentales del FCD es el ahorro tributario (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Shield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).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Recordemos, el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shield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es el ahorro en menores impuestos obtenido gracias a la financiación vía deuda.</a:t>
            </a:r>
          </a:p>
        </p:txBody>
      </p:sp>
    </p:spTree>
    <p:extLst>
      <p:ext uri="{BB962C8B-B14F-4D97-AF65-F5344CB8AC3E}">
        <p14:creationId xmlns:p14="http://schemas.microsoft.com/office/powerpoint/2010/main" val="3870532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9B2F-7C0E-D4D5-E24A-275B48AB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0B6A58-B889-8D8A-6A01-7A348486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E5F943-B680-5CA4-9FA5-4D84F504E99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EAB4C43-2F6A-DDCA-7AAC-465239711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502A13A-D9A7-5F45-EA8B-E28EB5B2D1E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D4D514-D510-30B2-E3F9-A26F15F4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FAFE0C0-C7C7-88A0-CFDE-C480CC32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97995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C0F3F120-6977-AE22-76AA-43AE17F51D5A}"/>
              </a:ext>
            </a:extLst>
          </p:cNvPr>
          <p:cNvSpPr/>
          <p:nvPr/>
        </p:nvSpPr>
        <p:spPr>
          <a:xfrm>
            <a:off x="2062833" y="561585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C758784F-7C9F-F7ED-CE42-28CB7D165407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Ahorro Tributario (t) = Interés (t)*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Tx</a:t>
            </a:r>
            <a:endParaRPr lang="es-CO" sz="1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uadroTexto 24">
            <a:extLst>
              <a:ext uri="{FF2B5EF4-FFF2-40B4-BE49-F238E27FC236}">
                <a16:creationId xmlns:a16="http://schemas.microsoft.com/office/drawing/2014/main" id="{0F7F1EDD-DFAD-C3A5-596C-F03BCCFB494E}"/>
              </a:ext>
            </a:extLst>
          </p:cNvPr>
          <p:cNvSpPr txBox="1"/>
          <p:nvPr/>
        </p:nvSpPr>
        <p:spPr>
          <a:xfrm>
            <a:off x="8477959" y="2614595"/>
            <a:ext cx="3793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2" name="CuadroTexto 25">
            <a:extLst>
              <a:ext uri="{FF2B5EF4-FFF2-40B4-BE49-F238E27FC236}">
                <a16:creationId xmlns:a16="http://schemas.microsoft.com/office/drawing/2014/main" id="{A83804E0-911C-188C-6289-DB542D8E0BD6}"/>
              </a:ext>
            </a:extLst>
          </p:cNvPr>
          <p:cNvSpPr txBox="1"/>
          <p:nvPr/>
        </p:nvSpPr>
        <p:spPr>
          <a:xfrm>
            <a:off x="2062833" y="6476381"/>
            <a:ext cx="8310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Century Gothic" panose="020B0502020202020204" pitchFamily="34" charset="0"/>
              </a:rPr>
              <a:t>1. Aplica solo si los Flujos son Anuales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74550109-35C7-8E83-5251-BF8D80836B74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191520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3185-36BC-57D1-78DA-AEC22F31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7137F9-D73A-257D-FD40-77D1479B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7000A9-CC40-2815-6423-A82BA3C94BB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AF5C849-CB2E-A743-2EB5-5C12974E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794D618-2CAD-2D99-44BF-C70C223361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A92D19-96BA-4C2E-AA2A-2809A259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3B530AE8-F5BE-C6CE-81E3-01C3F68E8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8228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4" name="Elipse 13">
            <a:extLst>
              <a:ext uri="{FF2B5EF4-FFF2-40B4-BE49-F238E27FC236}">
                <a16:creationId xmlns:a16="http://schemas.microsoft.com/office/drawing/2014/main" id="{96A45C4D-2306-0F5A-B7E1-F0402003EF9E}"/>
              </a:ext>
            </a:extLst>
          </p:cNvPr>
          <p:cNvSpPr/>
          <p:nvPr/>
        </p:nvSpPr>
        <p:spPr>
          <a:xfrm>
            <a:off x="2062833" y="561585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22">
            <a:extLst>
              <a:ext uri="{FF2B5EF4-FFF2-40B4-BE49-F238E27FC236}">
                <a16:creationId xmlns:a16="http://schemas.microsoft.com/office/drawing/2014/main" id="{4A4E0FEC-A329-D9F2-012B-FD635105CD42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Ahorro Tributario (t) = Interés (t)*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Tx</a:t>
            </a:r>
            <a:endParaRPr lang="es-CO" sz="1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uadroTexto 24">
            <a:extLst>
              <a:ext uri="{FF2B5EF4-FFF2-40B4-BE49-F238E27FC236}">
                <a16:creationId xmlns:a16="http://schemas.microsoft.com/office/drawing/2014/main" id="{B2E49995-ADDB-B6A1-2BDC-DC9F803FF887}"/>
              </a:ext>
            </a:extLst>
          </p:cNvPr>
          <p:cNvSpPr txBox="1"/>
          <p:nvPr/>
        </p:nvSpPr>
        <p:spPr>
          <a:xfrm>
            <a:off x="8477959" y="2586735"/>
            <a:ext cx="3793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7" name="CuadroTexto 25">
            <a:extLst>
              <a:ext uri="{FF2B5EF4-FFF2-40B4-BE49-F238E27FC236}">
                <a16:creationId xmlns:a16="http://schemas.microsoft.com/office/drawing/2014/main" id="{E4670F5E-C9FF-4270-65F4-4CB38129FF93}"/>
              </a:ext>
            </a:extLst>
          </p:cNvPr>
          <p:cNvSpPr txBox="1"/>
          <p:nvPr/>
        </p:nvSpPr>
        <p:spPr>
          <a:xfrm>
            <a:off x="2062833" y="6476381"/>
            <a:ext cx="8310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Century Gothic" panose="020B0502020202020204" pitchFamily="34" charset="0"/>
              </a:rPr>
              <a:t>1. Aplica solo si los Flujos son Anuales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AB1F0723-9063-4B18-742D-B7BE444F4D9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235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C6BA-847A-240B-BE7D-6887CE0D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ADCE64-24D2-8839-3D2C-47C90B04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B15771-D061-08D5-8EA5-3E5C3414ECC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89F2A61-6C84-A8D2-C10C-CEF420629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19F08C-6425-0048-D2CF-1D973E2C8C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BDFBB3D-2F3B-E866-E178-E7842A30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CC6C5-C390-73F9-8C82-6ED019AD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4536770A-4274-5B97-3B2A-478D27FA2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397576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7CD3F839-27F0-5FB6-A352-C8F723B436F4}"/>
              </a:ext>
            </a:extLst>
          </p:cNvPr>
          <p:cNvSpPr/>
          <p:nvPr/>
        </p:nvSpPr>
        <p:spPr>
          <a:xfrm>
            <a:off x="2062833" y="5993213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5E0A1F85-2D97-891C-279E-26EB02D48CD8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(Post-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+ Ahorro Tributario (t)</a:t>
            </a:r>
          </a:p>
        </p:txBody>
      </p:sp>
    </p:spTree>
    <p:extLst>
      <p:ext uri="{BB962C8B-B14F-4D97-AF65-F5344CB8AC3E}">
        <p14:creationId xmlns:p14="http://schemas.microsoft.com/office/powerpoint/2010/main" val="4861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BBA7-AE0D-BD4B-247B-9C8F184E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02AC6D-8E8F-1883-6755-9096CF7C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7D419C-BC7D-BECB-5842-449D4810E9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8AFBCF5-F7D3-B072-FF44-CAA482DE6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67AAE7F-A102-62EC-A915-40DA3DF8A7E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35E9077-18F0-8524-AA3A-8FEFEBC8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DA5ED-89AD-3CD5-5A03-E4C4ABEF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74A3B05F-815B-F405-38D8-2E36773AA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4325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$ 2.857,6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$ 2.643,2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$ 2.428,8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$ 2.214,4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9AB8FA43-2F81-FC9B-3E6D-E72EA0D2300D}"/>
              </a:ext>
            </a:extLst>
          </p:cNvPr>
          <p:cNvSpPr/>
          <p:nvPr/>
        </p:nvSpPr>
        <p:spPr>
          <a:xfrm>
            <a:off x="2062833" y="5993213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F39BD588-08F1-1B08-B973-E42493CC53EA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</a:rPr>
              <a:t>FCD (Post-</a:t>
            </a:r>
            <a:r>
              <a:rPr lang="es-CO" sz="1400" b="1" dirty="0" err="1">
                <a:solidFill>
                  <a:srgbClr val="C00000"/>
                </a:solidFill>
              </a:rPr>
              <a:t>Tax</a:t>
            </a:r>
            <a:r>
              <a:rPr lang="es-CO" sz="1400" b="1" dirty="0">
                <a:solidFill>
                  <a:srgbClr val="C00000"/>
                </a:solidFill>
              </a:rPr>
              <a:t>) (t) = FCD (Pre-</a:t>
            </a:r>
            <a:r>
              <a:rPr lang="es-CO" sz="1400" b="1" dirty="0" err="1">
                <a:solidFill>
                  <a:srgbClr val="C00000"/>
                </a:solidFill>
              </a:rPr>
              <a:t>Tax</a:t>
            </a:r>
            <a:r>
              <a:rPr lang="es-CO" sz="1400" b="1" dirty="0">
                <a:solidFill>
                  <a:srgbClr val="C00000"/>
                </a:solidFill>
              </a:rPr>
              <a:t>) (t) + Ahorro Tributario (t)</a:t>
            </a:r>
          </a:p>
        </p:txBody>
      </p:sp>
    </p:spTree>
    <p:extLst>
      <p:ext uri="{BB962C8B-B14F-4D97-AF65-F5344CB8AC3E}">
        <p14:creationId xmlns:p14="http://schemas.microsoft.com/office/powerpoint/2010/main" val="2505462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6351-9558-2DB5-793C-3E942831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1AC2E2-5B87-C359-5044-B8898D1B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30DF15-B32E-6666-8316-C09D0DD14FF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5F636DE-5B10-205B-493A-D2F9351BC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88501F5-83F6-BF9D-B785-D434193892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324996C-AA1E-FCB2-FC64-9C1A03C8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B67E051-764B-C68A-2A97-3CF67A02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61B8073-0C3A-DD7A-71FB-00881C2F7D1D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errar llave 4">
            <a:extLst>
              <a:ext uri="{FF2B5EF4-FFF2-40B4-BE49-F238E27FC236}">
                <a16:creationId xmlns:a16="http://schemas.microsoft.com/office/drawing/2014/main" id="{C5FA0FB6-6DA3-9A87-B85D-6FD44DDEE322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22">
            <a:extLst>
              <a:ext uri="{FF2B5EF4-FFF2-40B4-BE49-F238E27FC236}">
                <a16:creationId xmlns:a16="http://schemas.microsoft.com/office/drawing/2014/main" id="{8B09176F-F599-7412-7D5C-324280DD9874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7" name="Rectángulo 24">
            <a:extLst>
              <a:ext uri="{FF2B5EF4-FFF2-40B4-BE49-F238E27FC236}">
                <a16:creationId xmlns:a16="http://schemas.microsoft.com/office/drawing/2014/main" id="{5C5F9B84-EE4B-11D5-3377-4D35E31823B1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  <p:graphicFrame>
        <p:nvGraphicFramePr>
          <p:cNvPr id="18" name="Tabla 25">
            <a:extLst>
              <a:ext uri="{FF2B5EF4-FFF2-40B4-BE49-F238E27FC236}">
                <a16:creationId xmlns:a16="http://schemas.microsoft.com/office/drawing/2014/main" id="{7DB6D482-3768-C32C-6A99-D1640ED1A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57953"/>
              </p:ext>
            </p:extLst>
          </p:nvPr>
        </p:nvGraphicFramePr>
        <p:xfrm>
          <a:off x="677847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$ 2.857,6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$ 2.643,2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$ 2.428,8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$ 2.214,4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38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F30E-B6FE-0596-4DD2-91500050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0AA09-D9CF-0E80-6E2E-53EBB16B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B2E3DC-CF2E-E1F7-3759-DAB05730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36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B3AB192E-D48E-11BD-938F-89C87710A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C8F67E49-756F-480D-8D85-0CD108476C77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888AE8-8656-C8F1-1258-42416C68A48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CDA87FD-4BAC-042C-D08C-D78DBA917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5C5FF21-6BF4-1EA0-D47C-16A1D6F3E8F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1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A1FA-E90E-07FC-CC77-C72A7A36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D0F007-5EDD-B4F5-F52D-37765AF9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2C6534-0712-9918-74BD-0E2C782F1B0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7E82D7-4BFA-B545-1E6A-30721C465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64F3F0C-75DF-12DA-1E8D-4ECF63B020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28F0A14-BB36-22C8-6879-4D1EFCC1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644E77-749C-89BA-C621-7AE0DA1E3209}"/>
              </a:ext>
            </a:extLst>
          </p:cNvPr>
          <p:cNvCxnSpPr/>
          <p:nvPr/>
        </p:nvCxnSpPr>
        <p:spPr>
          <a:xfrm>
            <a:off x="4477288" y="4329222"/>
            <a:ext cx="0" cy="21418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1D18944F-26F7-5139-9A05-00855AA52FD6}"/>
              </a:ext>
            </a:extLst>
          </p:cNvPr>
          <p:cNvCxnSpPr/>
          <p:nvPr/>
        </p:nvCxnSpPr>
        <p:spPr>
          <a:xfrm>
            <a:off x="4826931" y="4328459"/>
            <a:ext cx="8603" cy="22906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6">
            <a:extLst>
              <a:ext uri="{FF2B5EF4-FFF2-40B4-BE49-F238E27FC236}">
                <a16:creationId xmlns:a16="http://schemas.microsoft.com/office/drawing/2014/main" id="{5B0448E0-397E-E187-5985-4306886BEFA3}"/>
              </a:ext>
            </a:extLst>
          </p:cNvPr>
          <p:cNvCxnSpPr/>
          <p:nvPr/>
        </p:nvCxnSpPr>
        <p:spPr>
          <a:xfrm>
            <a:off x="5162559" y="4325661"/>
            <a:ext cx="14111" cy="28830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6">
            <a:extLst>
              <a:ext uri="{FF2B5EF4-FFF2-40B4-BE49-F238E27FC236}">
                <a16:creationId xmlns:a16="http://schemas.microsoft.com/office/drawing/2014/main" id="{699419D7-23CC-2D63-9D86-9FAC6D5A50BE}"/>
              </a:ext>
            </a:extLst>
          </p:cNvPr>
          <p:cNvCxnSpPr/>
          <p:nvPr/>
        </p:nvCxnSpPr>
        <p:spPr>
          <a:xfrm>
            <a:off x="5479409" y="4308500"/>
            <a:ext cx="18013" cy="35374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">
            <a:extLst>
              <a:ext uri="{FF2B5EF4-FFF2-40B4-BE49-F238E27FC236}">
                <a16:creationId xmlns:a16="http://schemas.microsoft.com/office/drawing/2014/main" id="{41C9DF5D-1E8A-3A35-D037-4271C59F5DEB}"/>
              </a:ext>
            </a:extLst>
          </p:cNvPr>
          <p:cNvCxnSpPr/>
          <p:nvPr/>
        </p:nvCxnSpPr>
        <p:spPr>
          <a:xfrm>
            <a:off x="5804424" y="4350833"/>
            <a:ext cx="0" cy="34703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">
            <a:extLst>
              <a:ext uri="{FF2B5EF4-FFF2-40B4-BE49-F238E27FC236}">
                <a16:creationId xmlns:a16="http://schemas.microsoft.com/office/drawing/2014/main" id="{48C66547-1025-AADD-CAD2-3CC7A4EB83D4}"/>
              </a:ext>
            </a:extLst>
          </p:cNvPr>
          <p:cNvCxnSpPr/>
          <p:nvPr/>
        </p:nvCxnSpPr>
        <p:spPr>
          <a:xfrm>
            <a:off x="6185311" y="4308500"/>
            <a:ext cx="0" cy="46068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6">
            <a:extLst>
              <a:ext uri="{FF2B5EF4-FFF2-40B4-BE49-F238E27FC236}">
                <a16:creationId xmlns:a16="http://schemas.microsoft.com/office/drawing/2014/main" id="{0B0403E2-E40C-C2E1-F754-49B3FD787E02}"/>
              </a:ext>
            </a:extLst>
          </p:cNvPr>
          <p:cNvCxnSpPr/>
          <p:nvPr/>
        </p:nvCxnSpPr>
        <p:spPr>
          <a:xfrm>
            <a:off x="6521177" y="4333100"/>
            <a:ext cx="8603" cy="49252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6">
            <a:extLst>
              <a:ext uri="{FF2B5EF4-FFF2-40B4-BE49-F238E27FC236}">
                <a16:creationId xmlns:a16="http://schemas.microsoft.com/office/drawing/2014/main" id="{D28B93F7-58C1-58D2-5183-55E5D61D2E7B}"/>
              </a:ext>
            </a:extLst>
          </p:cNvPr>
          <p:cNvCxnSpPr/>
          <p:nvPr/>
        </p:nvCxnSpPr>
        <p:spPr>
          <a:xfrm>
            <a:off x="6844368" y="4341805"/>
            <a:ext cx="19816" cy="53907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6">
            <a:extLst>
              <a:ext uri="{FF2B5EF4-FFF2-40B4-BE49-F238E27FC236}">
                <a16:creationId xmlns:a16="http://schemas.microsoft.com/office/drawing/2014/main" id="{87F1C261-9EAE-A763-6C11-0D56E0F8FB4B}"/>
              </a:ext>
            </a:extLst>
          </p:cNvPr>
          <p:cNvCxnSpPr/>
          <p:nvPr/>
        </p:nvCxnSpPr>
        <p:spPr>
          <a:xfrm>
            <a:off x="4477288" y="4538841"/>
            <a:ext cx="7744" cy="50496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6">
            <a:extLst>
              <a:ext uri="{FF2B5EF4-FFF2-40B4-BE49-F238E27FC236}">
                <a16:creationId xmlns:a16="http://schemas.microsoft.com/office/drawing/2014/main" id="{A705BFA5-E5A0-914E-45B6-422E317A906D}"/>
              </a:ext>
            </a:extLst>
          </p:cNvPr>
          <p:cNvCxnSpPr/>
          <p:nvPr/>
        </p:nvCxnSpPr>
        <p:spPr>
          <a:xfrm>
            <a:off x="4826931" y="4557520"/>
            <a:ext cx="8603" cy="48491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6">
            <a:extLst>
              <a:ext uri="{FF2B5EF4-FFF2-40B4-BE49-F238E27FC236}">
                <a16:creationId xmlns:a16="http://schemas.microsoft.com/office/drawing/2014/main" id="{7FAE44BA-E12E-00B5-BEC3-31FEF20298D0}"/>
              </a:ext>
            </a:extLst>
          </p:cNvPr>
          <p:cNvCxnSpPr/>
          <p:nvPr/>
        </p:nvCxnSpPr>
        <p:spPr>
          <a:xfrm>
            <a:off x="5177431" y="4610639"/>
            <a:ext cx="5913" cy="43909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6">
            <a:extLst>
              <a:ext uri="{FF2B5EF4-FFF2-40B4-BE49-F238E27FC236}">
                <a16:creationId xmlns:a16="http://schemas.microsoft.com/office/drawing/2014/main" id="{84696538-4C29-7421-BB8E-DB0B3293F710}"/>
              </a:ext>
            </a:extLst>
          </p:cNvPr>
          <p:cNvCxnSpPr/>
          <p:nvPr/>
        </p:nvCxnSpPr>
        <p:spPr>
          <a:xfrm>
            <a:off x="5497422" y="4647518"/>
            <a:ext cx="9471" cy="39491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6">
            <a:extLst>
              <a:ext uri="{FF2B5EF4-FFF2-40B4-BE49-F238E27FC236}">
                <a16:creationId xmlns:a16="http://schemas.microsoft.com/office/drawing/2014/main" id="{4AA947FD-2094-65F7-C894-6D47FC44E04F}"/>
              </a:ext>
            </a:extLst>
          </p:cNvPr>
          <p:cNvCxnSpPr/>
          <p:nvPr/>
        </p:nvCxnSpPr>
        <p:spPr>
          <a:xfrm>
            <a:off x="5804426" y="4694711"/>
            <a:ext cx="0" cy="3490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">
            <a:extLst>
              <a:ext uri="{FF2B5EF4-FFF2-40B4-BE49-F238E27FC236}">
                <a16:creationId xmlns:a16="http://schemas.microsoft.com/office/drawing/2014/main" id="{D3E8D812-2AA9-ADF7-84F0-57997F3E1AC3}"/>
              </a:ext>
            </a:extLst>
          </p:cNvPr>
          <p:cNvCxnSpPr/>
          <p:nvPr/>
        </p:nvCxnSpPr>
        <p:spPr>
          <a:xfrm>
            <a:off x="6187730" y="4761532"/>
            <a:ext cx="0" cy="29562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60944BFC-1E6A-B5EE-D77E-374A4AEE968A}"/>
              </a:ext>
            </a:extLst>
          </p:cNvPr>
          <p:cNvCxnSpPr/>
          <p:nvPr/>
        </p:nvCxnSpPr>
        <p:spPr>
          <a:xfrm>
            <a:off x="6529779" y="4813588"/>
            <a:ext cx="0" cy="22884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6">
            <a:extLst>
              <a:ext uri="{FF2B5EF4-FFF2-40B4-BE49-F238E27FC236}">
                <a16:creationId xmlns:a16="http://schemas.microsoft.com/office/drawing/2014/main" id="{6125522F-B097-F0A2-07B7-50F9555E6791}"/>
              </a:ext>
            </a:extLst>
          </p:cNvPr>
          <p:cNvCxnSpPr/>
          <p:nvPr/>
        </p:nvCxnSpPr>
        <p:spPr>
          <a:xfrm>
            <a:off x="6864184" y="4880879"/>
            <a:ext cx="1" cy="16292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36">
            <a:extLst>
              <a:ext uri="{FF2B5EF4-FFF2-40B4-BE49-F238E27FC236}">
                <a16:creationId xmlns:a16="http://schemas.microsoft.com/office/drawing/2014/main" id="{79F5D66D-1EA5-B4F9-68FA-16B84C353D86}"/>
              </a:ext>
            </a:extLst>
          </p:cNvPr>
          <p:cNvSpPr txBox="1"/>
          <p:nvPr/>
        </p:nvSpPr>
        <p:spPr>
          <a:xfrm>
            <a:off x="7078819" y="4728907"/>
            <a:ext cx="193514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90E5D478-F944-ED25-0637-0A9B991F2A0F}"/>
              </a:ext>
            </a:extLst>
          </p:cNvPr>
          <p:cNvSpPr txBox="1"/>
          <p:nvPr/>
        </p:nvSpPr>
        <p:spPr>
          <a:xfrm>
            <a:off x="6966695" y="4279922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sp>
        <p:nvSpPr>
          <p:cNvPr id="57" name="TextBox 36">
            <a:extLst>
              <a:ext uri="{FF2B5EF4-FFF2-40B4-BE49-F238E27FC236}">
                <a16:creationId xmlns:a16="http://schemas.microsoft.com/office/drawing/2014/main" id="{CF960BD6-2A31-D5AD-1521-AEE6D6DBBFF9}"/>
              </a:ext>
            </a:extLst>
          </p:cNvPr>
          <p:cNvSpPr txBox="1"/>
          <p:nvPr/>
        </p:nvSpPr>
        <p:spPr>
          <a:xfrm>
            <a:off x="7037981" y="3892827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cxnSp>
        <p:nvCxnSpPr>
          <p:cNvPr id="58" name="Straight Arrow Connector 18">
            <a:extLst>
              <a:ext uri="{FF2B5EF4-FFF2-40B4-BE49-F238E27FC236}">
                <a16:creationId xmlns:a16="http://schemas.microsoft.com/office/drawing/2014/main" id="{F2A4F21E-E028-3375-EFDF-76EDCBD2DA8B}"/>
              </a:ext>
            </a:extLst>
          </p:cNvPr>
          <p:cNvCxnSpPr>
            <a:cxnSpLocks/>
          </p:cNvCxnSpPr>
          <p:nvPr/>
        </p:nvCxnSpPr>
        <p:spPr>
          <a:xfrm flipH="1" flipV="1">
            <a:off x="6837531" y="4080681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21">
            <a:extLst>
              <a:ext uri="{FF2B5EF4-FFF2-40B4-BE49-F238E27FC236}">
                <a16:creationId xmlns:a16="http://schemas.microsoft.com/office/drawing/2014/main" id="{4B5F891C-5271-169B-2B69-4009CBBCBB68}"/>
              </a:ext>
            </a:extLst>
          </p:cNvPr>
          <p:cNvCxnSpPr>
            <a:cxnSpLocks/>
          </p:cNvCxnSpPr>
          <p:nvPr/>
        </p:nvCxnSpPr>
        <p:spPr>
          <a:xfrm flipV="1">
            <a:off x="6507531" y="4080681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2">
            <a:extLst>
              <a:ext uri="{FF2B5EF4-FFF2-40B4-BE49-F238E27FC236}">
                <a16:creationId xmlns:a16="http://schemas.microsoft.com/office/drawing/2014/main" id="{3EB952E6-F812-A136-EE20-FF9FF95246A4}"/>
              </a:ext>
            </a:extLst>
          </p:cNvPr>
          <p:cNvCxnSpPr>
            <a:cxnSpLocks/>
          </p:cNvCxnSpPr>
          <p:nvPr/>
        </p:nvCxnSpPr>
        <p:spPr>
          <a:xfrm flipV="1">
            <a:off x="6165103" y="4080681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23">
            <a:extLst>
              <a:ext uri="{FF2B5EF4-FFF2-40B4-BE49-F238E27FC236}">
                <a16:creationId xmlns:a16="http://schemas.microsoft.com/office/drawing/2014/main" id="{95F53DE8-78A7-5A67-A9A0-58EB9CEC1E19}"/>
              </a:ext>
            </a:extLst>
          </p:cNvPr>
          <p:cNvCxnSpPr>
            <a:cxnSpLocks/>
          </p:cNvCxnSpPr>
          <p:nvPr/>
        </p:nvCxnSpPr>
        <p:spPr>
          <a:xfrm flipV="1">
            <a:off x="5781435" y="4063845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4">
            <a:extLst>
              <a:ext uri="{FF2B5EF4-FFF2-40B4-BE49-F238E27FC236}">
                <a16:creationId xmlns:a16="http://schemas.microsoft.com/office/drawing/2014/main" id="{284B3411-D22B-18D8-06A8-A03A3F7DA3F5}"/>
              </a:ext>
            </a:extLst>
          </p:cNvPr>
          <p:cNvCxnSpPr>
            <a:cxnSpLocks/>
          </p:cNvCxnSpPr>
          <p:nvPr/>
        </p:nvCxnSpPr>
        <p:spPr>
          <a:xfrm flipV="1">
            <a:off x="5479411" y="4043659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25">
            <a:extLst>
              <a:ext uri="{FF2B5EF4-FFF2-40B4-BE49-F238E27FC236}">
                <a16:creationId xmlns:a16="http://schemas.microsoft.com/office/drawing/2014/main" id="{CB912B4D-144C-119B-4E8A-B68FCF96EE0E}"/>
              </a:ext>
            </a:extLst>
          </p:cNvPr>
          <p:cNvCxnSpPr>
            <a:cxnSpLocks/>
          </p:cNvCxnSpPr>
          <p:nvPr/>
        </p:nvCxnSpPr>
        <p:spPr>
          <a:xfrm flipH="1" flipV="1">
            <a:off x="5162561" y="3990651"/>
            <a:ext cx="14109" cy="33501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26">
            <a:extLst>
              <a:ext uri="{FF2B5EF4-FFF2-40B4-BE49-F238E27FC236}">
                <a16:creationId xmlns:a16="http://schemas.microsoft.com/office/drawing/2014/main" id="{8C22AFF7-76BB-DC99-47ED-1A6C8E233966}"/>
              </a:ext>
            </a:extLst>
          </p:cNvPr>
          <p:cNvCxnSpPr>
            <a:cxnSpLocks/>
          </p:cNvCxnSpPr>
          <p:nvPr/>
        </p:nvCxnSpPr>
        <p:spPr>
          <a:xfrm flipV="1">
            <a:off x="4822956" y="3977003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27">
            <a:extLst>
              <a:ext uri="{FF2B5EF4-FFF2-40B4-BE49-F238E27FC236}">
                <a16:creationId xmlns:a16="http://schemas.microsoft.com/office/drawing/2014/main" id="{17713CD1-7E2C-9C79-FC79-AA60D1EE6B65}"/>
              </a:ext>
            </a:extLst>
          </p:cNvPr>
          <p:cNvCxnSpPr>
            <a:cxnSpLocks/>
          </p:cNvCxnSpPr>
          <p:nvPr/>
        </p:nvCxnSpPr>
        <p:spPr>
          <a:xfrm flipV="1">
            <a:off x="4471387" y="3836251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B99B59-A112-CE80-35C4-FB8286A5F885}"/>
              </a:ext>
            </a:extLst>
          </p:cNvPr>
          <p:cNvCxnSpPr/>
          <p:nvPr/>
        </p:nvCxnSpPr>
        <p:spPr>
          <a:xfrm>
            <a:off x="4092362" y="4329759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01FAF96-1762-FE52-FBF9-108D443F2C9D}"/>
              </a:ext>
            </a:extLst>
          </p:cNvPr>
          <p:cNvCxnSpPr/>
          <p:nvPr/>
        </p:nvCxnSpPr>
        <p:spPr>
          <a:xfrm flipV="1">
            <a:off x="4092362" y="3370576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36">
            <a:extLst>
              <a:ext uri="{FF2B5EF4-FFF2-40B4-BE49-F238E27FC236}">
                <a16:creationId xmlns:a16="http://schemas.microsoft.com/office/drawing/2014/main" id="{E0D64FC8-C43D-46C1-D525-CD9A4DB63BE2}"/>
              </a:ext>
            </a:extLst>
          </p:cNvPr>
          <p:cNvSpPr txBox="1"/>
          <p:nvPr/>
        </p:nvSpPr>
        <p:spPr>
          <a:xfrm>
            <a:off x="2464710" y="3239482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sp>
        <p:nvSpPr>
          <p:cNvPr id="71" name="Marcador de contenido 2">
            <a:extLst>
              <a:ext uri="{FF2B5EF4-FFF2-40B4-BE49-F238E27FC236}">
                <a16:creationId xmlns:a16="http://schemas.microsoft.com/office/drawing/2014/main" id="{678A70DB-FBE7-9ADD-59E8-C8C58968BC71}"/>
              </a:ext>
            </a:extLst>
          </p:cNvPr>
          <p:cNvSpPr txBox="1">
            <a:spLocks/>
          </p:cNvSpPr>
          <p:nvPr/>
        </p:nvSpPr>
        <p:spPr>
          <a:xfrm>
            <a:off x="2290762" y="2188395"/>
            <a:ext cx="7610476" cy="685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</p:spTree>
    <p:extLst>
      <p:ext uri="{BB962C8B-B14F-4D97-AF65-F5344CB8AC3E}">
        <p14:creationId xmlns:p14="http://schemas.microsoft.com/office/powerpoint/2010/main" val="4131430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12B6-4E18-8953-2C59-34A03027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E4D975-4AC4-82CA-C6F1-04A0CEC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3A9416-119C-F63D-DFFA-15DB8399FA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3BBA2A1-4EDA-431C-E177-2FF02C9E7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5F817AA-4F22-9FE4-6CE3-A833F4AC7F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A35F6C4-62CC-C73A-0FB1-B0DA8078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23E0B-B85B-6970-669F-EEE3290B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cuotas constantes anuales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676534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B536-6983-407A-FD46-BB59BECC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1DC37D-5FE6-DFB1-E63A-D86953D8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20F3AD-140C-DD8B-3F98-9A2A7F9A125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075C5DF-D7CB-EAFB-A86F-DF16F0B62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FBE94F2-D8A2-8D15-74B8-B98E7408DEA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87C5D6B-CEFB-60EF-1F44-9C1005A7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EC741E-AA91-F780-371D-7BAD5EB52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B0500EE8-FA17-6DC2-9F27-F49190D2A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76405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81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35E0-2933-2901-60AE-DFA1E8A5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620401-2891-411B-0979-7602F9BD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A3135C-32CB-B18D-A31C-ABE0949FC7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234CBEA-04D4-52DE-B29C-DBCA091C5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0583145-FFDB-418E-F4D7-5C4D015C21A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5F15DE-CCE2-6E79-5646-BD06D90F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608CB29-3B49-0131-CF7E-7ACBCD30A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72C8C503-8704-D1C1-0EDE-7BF76D9F0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52208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401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3183-2FF0-4542-BB63-FB2F37FE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F684FB-E5E0-053F-D6CF-0C1701D0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FEB7DC-34E3-9B80-81B8-81A6A581810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3B5E2AA-5CDF-F6F2-5676-3A098C42E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E6A308-CAAA-0DB4-8D8C-4DE270C9AD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A03F5A-1F6B-F06D-AF70-23265FFF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9B8EB-3BAE-3834-269A-A0EC2D04A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6BB3B4E-B12E-41A4-7C01-949DA1AD0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1445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2A255344-BD4B-BF0B-513E-56B02C2034F2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4362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0430-FFD5-742F-AAE1-0A08B1A6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B25843-8E3E-B6CB-87C0-0625713B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70B71F-4ABC-D5BB-CB8D-EA08AAE5A1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3FAFDF9-6325-8EA8-15F4-CB43AC1BD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71509B3-D077-B8F5-88FA-9748B4751B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5B93229-5359-D4AF-E439-8E4CB6E9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04014-70F5-D43B-11FA-66E465D4F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2956097"/>
            <a:ext cx="4470400" cy="10922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549B5332-26F6-346D-C3B1-C56C1A4AFC99}"/>
              </a:ext>
            </a:extLst>
          </p:cNvPr>
          <p:cNvSpPr txBox="1"/>
          <p:nvPr/>
        </p:nvSpPr>
        <p:spPr>
          <a:xfrm>
            <a:off x="4155546" y="4554933"/>
            <a:ext cx="387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 = $ 3.054,09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956E132-D67F-E384-8B89-08EE57C7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205828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5A2F-3207-CCEC-629A-D9AE9E29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A0F10C-4204-DDF1-6743-09FB0D32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4414A5-7004-7E25-58AF-FF215B3690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6153DDF-795E-8932-7BF6-5E2EDC586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3B79012-E323-A709-7D55-BF787B20901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7CE1065-FF85-FB1A-FC2B-0B38DD58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01B9AF-6F0F-9E03-D2ED-84B11867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4D64877-AC0F-7506-4B68-0EDF958E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6281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C5ECA896-7E31-59D6-3441-EB0AB0BC0EE2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5427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0AE6-A318-5C34-AABB-7CC203B3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C9355-549A-09B5-2370-566D1FA6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BEE62A1-2EB1-E24A-48F0-91A8B73FD0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3CB9ACC-2D8E-6681-3335-831D1B8C2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47394CC-24D6-4A44-60D0-583DCA8530C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306E80-7457-B561-4597-6136721D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08412-639A-5DE6-001A-28D9511C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DCD682DA-8D5A-2B52-B06D-71B3D32A2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3043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691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CFB5-6465-F7AF-4004-C030875F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EE6F0E-09FA-4179-154C-8C06AEAA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D2ED6C-7797-E1C6-2869-03F6791752B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CD9F998-6F59-E29D-E6BB-8633CC798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DDC5135-23E5-D883-EFA2-2C760511229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CF21381-3B9B-D896-C24F-8B547660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52934D-5DFA-2884-1C6D-0833AA9E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B87EBED9-0596-7A7B-E887-523E39EC7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49115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485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17B10-EA9A-F761-5C11-C796B04B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C5C6D2-B49F-8460-1021-5F7B15F2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9246BB-9072-F562-B305-3E6F927EFA7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1A7DD9E-913D-F7EB-50BA-0C1CB7B63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3BB9671-3F30-29FF-9F99-243A7282A1B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983C808-E5C2-CEEF-14FF-3DB9FB66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5C89F8-8959-176A-8C26-DF346E589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37E0AD6F-74A3-AA1A-367D-37413E5E4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5285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2">
            <a:extLst>
              <a:ext uri="{FF2B5EF4-FFF2-40B4-BE49-F238E27FC236}">
                <a16:creationId xmlns:a16="http://schemas.microsoft.com/office/drawing/2014/main" id="{A467F78C-B78A-D986-8685-198340C66126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3">
            <a:extLst>
              <a:ext uri="{FF2B5EF4-FFF2-40B4-BE49-F238E27FC236}">
                <a16:creationId xmlns:a16="http://schemas.microsoft.com/office/drawing/2014/main" id="{EE1DA387-CF8F-9CCF-21C0-89DB94D56180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Cuota – Interés (t) </a:t>
            </a:r>
          </a:p>
        </p:txBody>
      </p:sp>
    </p:spTree>
    <p:extLst>
      <p:ext uri="{BB962C8B-B14F-4D97-AF65-F5344CB8AC3E}">
        <p14:creationId xmlns:p14="http://schemas.microsoft.com/office/powerpoint/2010/main" val="286247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D4DE-F21E-888A-4170-223F16C5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13305D-5E4E-E2F7-370C-59475C27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84FAE2-FE7C-C1A0-EBC3-44FBC8F527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5D11568-F864-85FA-A2C2-A335FB238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971E504-C2E0-7CA7-2694-C78261E8F7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8C0F8BF-98B2-DB22-6AAA-9D0647E8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6AC58-CDEF-730C-8E9E-192D5A88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D83B2FEE-9C4E-DA0D-939E-4EA8838DD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9505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2">
            <a:extLst>
              <a:ext uri="{FF2B5EF4-FFF2-40B4-BE49-F238E27FC236}">
                <a16:creationId xmlns:a16="http://schemas.microsoft.com/office/drawing/2014/main" id="{1520807A-D57D-3B0D-860D-0AC38935436F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3">
            <a:extLst>
              <a:ext uri="{FF2B5EF4-FFF2-40B4-BE49-F238E27FC236}">
                <a16:creationId xmlns:a16="http://schemas.microsoft.com/office/drawing/2014/main" id="{6D59EB61-4553-8AC1-8135-1749DF732A5D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Cuota – Interés (t) </a:t>
            </a:r>
          </a:p>
        </p:txBody>
      </p:sp>
    </p:spTree>
    <p:extLst>
      <p:ext uri="{BB962C8B-B14F-4D97-AF65-F5344CB8AC3E}">
        <p14:creationId xmlns:p14="http://schemas.microsoft.com/office/powerpoint/2010/main" val="4202079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90CC-B955-D455-8A10-666376C9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785B5F-934E-200C-0287-857D1B8E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CB7A3A-633A-B012-D2B2-AD8197FE858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87F89D-BF44-8E9C-69EA-F7EA8C57E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66A23F1-2727-5E07-F778-77F71B9456B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D857324-98CE-02E4-18B7-8007105E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EC6CF-6C10-1103-8B9A-DEDA211D5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81250687-C650-285C-520A-9E79B939E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5011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073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0258-7D4B-9507-DCAE-665266D6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5E42CD-3B7F-4024-6BFD-121E7432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73029C-188B-83D1-195F-49839020701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A99167F-9C38-6F33-452C-61884562F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6CFC04F-D3A7-9DC3-A206-579F9D5918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6181C43-6892-5403-AF76-8D97D21F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DD471-6323-C8AD-69BC-4CA2EBA89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11D554C9-7BCC-3BF2-51D0-1DBCB522B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0825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4808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8BEC-CEE3-E8F8-4575-835BC69E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09E5C6-957E-78FF-8124-70361E62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33FF7-C47D-39C2-5401-DF0708E7FB6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0E3B651-36B1-D627-D7DE-87C5E2892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A011D4-80DA-909A-43DD-F77D320951D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011466-3263-7F7F-0776-6161718C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D8897957-F16B-4B24-8FF3-56A962C8A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8299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D4E34ED-F48B-A9C3-8666-2F034948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2982692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EA1E-AA7C-6341-27F9-DA9D6A2E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4958CC-F999-426E-9A0D-1A642A8A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37D693-285E-0977-4AA0-80ACE02C5D4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35DCF16-547B-3562-A2EA-3CD10872B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5895DE9-44BB-F07C-5277-063D501469F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FD4DAC-F54D-0B93-C3F2-94A7ABD7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B101F-DC4F-7F5D-5A41-F11AAC54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cxnSp>
        <p:nvCxnSpPr>
          <p:cNvPr id="7" name="Conector recto 13">
            <a:extLst>
              <a:ext uri="{FF2B5EF4-FFF2-40B4-BE49-F238E27FC236}">
                <a16:creationId xmlns:a16="http://schemas.microsoft.com/office/drawing/2014/main" id="{7B02D0F4-D284-3E0E-9A55-AC56D6D1F95B}"/>
              </a:ext>
            </a:extLst>
          </p:cNvPr>
          <p:cNvCxnSpPr>
            <a:cxnSpLocks/>
          </p:cNvCxnSpPr>
          <p:nvPr/>
        </p:nvCxnSpPr>
        <p:spPr>
          <a:xfrm flipV="1">
            <a:off x="9167439" y="4036296"/>
            <a:ext cx="954969" cy="1283003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errar llave 4">
            <a:extLst>
              <a:ext uri="{FF2B5EF4-FFF2-40B4-BE49-F238E27FC236}">
                <a16:creationId xmlns:a16="http://schemas.microsoft.com/office/drawing/2014/main" id="{D2C36135-58E8-624D-DF01-4D82B0645748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22">
            <a:extLst>
              <a:ext uri="{FF2B5EF4-FFF2-40B4-BE49-F238E27FC236}">
                <a16:creationId xmlns:a16="http://schemas.microsoft.com/office/drawing/2014/main" id="{A58AB83B-B92D-02A7-139C-938DFB40B21A}"/>
              </a:ext>
            </a:extLst>
          </p:cNvPr>
          <p:cNvSpPr/>
          <p:nvPr/>
        </p:nvSpPr>
        <p:spPr>
          <a:xfrm>
            <a:off x="10357211" y="3283085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ángulo 24">
            <a:extLst>
              <a:ext uri="{FF2B5EF4-FFF2-40B4-BE49-F238E27FC236}">
                <a16:creationId xmlns:a16="http://schemas.microsoft.com/office/drawing/2014/main" id="{53EB1A01-49E7-D54B-F57E-598DD0D216F8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  <p:graphicFrame>
        <p:nvGraphicFramePr>
          <p:cNvPr id="12" name="Tabla 23">
            <a:extLst>
              <a:ext uri="{FF2B5EF4-FFF2-40B4-BE49-F238E27FC236}">
                <a16:creationId xmlns:a16="http://schemas.microsoft.com/office/drawing/2014/main" id="{494AB0E5-ECE6-9688-9E7A-FAB70D567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5850"/>
              </p:ext>
            </p:extLst>
          </p:nvPr>
        </p:nvGraphicFramePr>
        <p:xfrm>
          <a:off x="671938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11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B6F2-18D6-2D26-F65B-148F7EEC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04C380-9D5C-96A7-F22C-9ACF8F2F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9F44D0-B59B-259E-C8AB-D975C595373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EBE3D7-63A5-32E5-89C4-182F12B25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E7721FD-0D08-0371-9996-8E26AA48A12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874EC7B-A265-6D78-CC8E-F1E695A8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06E117-A354-E4FC-DD4F-83DF08839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23">
            <a:extLst>
              <a:ext uri="{FF2B5EF4-FFF2-40B4-BE49-F238E27FC236}">
                <a16:creationId xmlns:a16="http://schemas.microsoft.com/office/drawing/2014/main" id="{9B906C88-B99A-60C6-A06E-40345130D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91770"/>
              </p:ext>
            </p:extLst>
          </p:nvPr>
        </p:nvGraphicFramePr>
        <p:xfrm>
          <a:off x="671938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8" name="Conector recto 21">
            <a:extLst>
              <a:ext uri="{FF2B5EF4-FFF2-40B4-BE49-F238E27FC236}">
                <a16:creationId xmlns:a16="http://schemas.microsoft.com/office/drawing/2014/main" id="{F6135D94-77C3-8C79-F646-4BE421526B55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errar llave 25">
            <a:extLst>
              <a:ext uri="{FF2B5EF4-FFF2-40B4-BE49-F238E27FC236}">
                <a16:creationId xmlns:a16="http://schemas.microsoft.com/office/drawing/2014/main" id="{DC2839BF-ABC1-2EB0-5DC0-280F3D1F6123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26">
            <a:extLst>
              <a:ext uri="{FF2B5EF4-FFF2-40B4-BE49-F238E27FC236}">
                <a16:creationId xmlns:a16="http://schemas.microsoft.com/office/drawing/2014/main" id="{74F30179-F318-4478-7B6C-82D5AB6145D1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2" name="Rectángulo 27">
            <a:extLst>
              <a:ext uri="{FF2B5EF4-FFF2-40B4-BE49-F238E27FC236}">
                <a16:creationId xmlns:a16="http://schemas.microsoft.com/office/drawing/2014/main" id="{28E0A60E-702A-3EEA-7895-49F991C35692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</p:spTree>
    <p:extLst>
      <p:ext uri="{BB962C8B-B14F-4D97-AF65-F5344CB8AC3E}">
        <p14:creationId xmlns:p14="http://schemas.microsoft.com/office/powerpoint/2010/main" val="260403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9240-26F4-EFAF-D4ED-4961D958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FE0A6-0A6C-6335-CE35-00974BAE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DE6FD0-2AA8-A308-EC70-11D1BF99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53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14D7B9E9-09E3-C391-1904-1E5878F2E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428CBB9B-2562-4C84-9F3A-DDE6045E56F8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126994-E33C-BD15-0A84-6739A59816A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72801606-FFDF-A165-AB0E-B92F1CAD5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95C852CD-E860-3734-637F-A6B922948BE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02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E724-2071-D7C5-A619-C2EFFFAE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6047AD-333F-FCB3-6457-A691111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99E102A-795A-DB6A-13BC-4D1F360573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7236197-4360-6B95-29CE-1662BFB11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A875458-930C-A3FA-83C2-422A6E6CB44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80A4A73-D6E5-A189-EFD0-3240FFD2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4D6B2172-30ED-DF29-4490-99AFC199ADF7}"/>
              </a:ext>
            </a:extLst>
          </p:cNvPr>
          <p:cNvCxnSpPr>
            <a:cxnSpLocks/>
          </p:cNvCxnSpPr>
          <p:nvPr/>
        </p:nvCxnSpPr>
        <p:spPr>
          <a:xfrm flipH="1" flipV="1">
            <a:off x="6701051" y="4067033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74F6F510-EFAC-01E5-37B4-3D7C3F9380CA}"/>
              </a:ext>
            </a:extLst>
          </p:cNvPr>
          <p:cNvCxnSpPr>
            <a:cxnSpLocks/>
          </p:cNvCxnSpPr>
          <p:nvPr/>
        </p:nvCxnSpPr>
        <p:spPr>
          <a:xfrm flipV="1">
            <a:off x="6371051" y="4067033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2">
            <a:extLst>
              <a:ext uri="{FF2B5EF4-FFF2-40B4-BE49-F238E27FC236}">
                <a16:creationId xmlns:a16="http://schemas.microsoft.com/office/drawing/2014/main" id="{71C13E26-5628-A0EE-77C3-3482402B8BD2}"/>
              </a:ext>
            </a:extLst>
          </p:cNvPr>
          <p:cNvCxnSpPr>
            <a:cxnSpLocks/>
          </p:cNvCxnSpPr>
          <p:nvPr/>
        </p:nvCxnSpPr>
        <p:spPr>
          <a:xfrm flipV="1">
            <a:off x="6028623" y="4067033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3">
            <a:extLst>
              <a:ext uri="{FF2B5EF4-FFF2-40B4-BE49-F238E27FC236}">
                <a16:creationId xmlns:a16="http://schemas.microsoft.com/office/drawing/2014/main" id="{D9987CF5-BE25-7B33-C6D1-4CBEF9DD39FB}"/>
              </a:ext>
            </a:extLst>
          </p:cNvPr>
          <p:cNvCxnSpPr>
            <a:cxnSpLocks/>
          </p:cNvCxnSpPr>
          <p:nvPr/>
        </p:nvCxnSpPr>
        <p:spPr>
          <a:xfrm flipV="1">
            <a:off x="5644955" y="4050197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069B81BA-1839-F0C9-1F5D-68D89364D9E9}"/>
              </a:ext>
            </a:extLst>
          </p:cNvPr>
          <p:cNvCxnSpPr>
            <a:cxnSpLocks/>
          </p:cNvCxnSpPr>
          <p:nvPr/>
        </p:nvCxnSpPr>
        <p:spPr>
          <a:xfrm flipV="1">
            <a:off x="5342931" y="4030011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5">
            <a:extLst>
              <a:ext uri="{FF2B5EF4-FFF2-40B4-BE49-F238E27FC236}">
                <a16:creationId xmlns:a16="http://schemas.microsoft.com/office/drawing/2014/main" id="{831F7CDA-9E40-9313-5949-BE7784D0B12C}"/>
              </a:ext>
            </a:extLst>
          </p:cNvPr>
          <p:cNvCxnSpPr>
            <a:cxnSpLocks/>
          </p:cNvCxnSpPr>
          <p:nvPr/>
        </p:nvCxnSpPr>
        <p:spPr>
          <a:xfrm flipV="1">
            <a:off x="5012433" y="3977003"/>
            <a:ext cx="0" cy="39153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26">
            <a:extLst>
              <a:ext uri="{FF2B5EF4-FFF2-40B4-BE49-F238E27FC236}">
                <a16:creationId xmlns:a16="http://schemas.microsoft.com/office/drawing/2014/main" id="{B506AAA6-BA87-D181-4F53-53D337D9AD04}"/>
              </a:ext>
            </a:extLst>
          </p:cNvPr>
          <p:cNvCxnSpPr>
            <a:cxnSpLocks/>
          </p:cNvCxnSpPr>
          <p:nvPr/>
        </p:nvCxnSpPr>
        <p:spPr>
          <a:xfrm flipV="1">
            <a:off x="4672828" y="3949707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7">
            <a:extLst>
              <a:ext uri="{FF2B5EF4-FFF2-40B4-BE49-F238E27FC236}">
                <a16:creationId xmlns:a16="http://schemas.microsoft.com/office/drawing/2014/main" id="{3C03193A-0FDB-965A-0FBD-9A076273541E}"/>
              </a:ext>
            </a:extLst>
          </p:cNvPr>
          <p:cNvCxnSpPr>
            <a:cxnSpLocks/>
          </p:cNvCxnSpPr>
          <p:nvPr/>
        </p:nvCxnSpPr>
        <p:spPr>
          <a:xfrm flipV="1">
            <a:off x="4334907" y="3822603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56269DE-95C0-1183-EBD1-720AABDF9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2188395"/>
            <a:ext cx="7610476" cy="685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4A92D-2BA8-5F97-56FD-5901D5803D05}"/>
              </a:ext>
            </a:extLst>
          </p:cNvPr>
          <p:cNvSpPr txBox="1"/>
          <p:nvPr/>
        </p:nvSpPr>
        <p:spPr>
          <a:xfrm>
            <a:off x="7119763" y="4756203"/>
            <a:ext cx="19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0D6C22-E81F-AE94-D1FB-434D044AC877}"/>
              </a:ext>
            </a:extLst>
          </p:cNvPr>
          <p:cNvCxnSpPr>
            <a:cxnSpLocks/>
          </p:cNvCxnSpPr>
          <p:nvPr/>
        </p:nvCxnSpPr>
        <p:spPr>
          <a:xfrm>
            <a:off x="3950404" y="4298621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A2B74-6204-75FE-A472-B288C4B96565}"/>
              </a:ext>
            </a:extLst>
          </p:cNvPr>
          <p:cNvCxnSpPr>
            <a:cxnSpLocks/>
          </p:cNvCxnSpPr>
          <p:nvPr/>
        </p:nvCxnSpPr>
        <p:spPr>
          <a:xfrm flipV="1">
            <a:off x="3942237" y="3343280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0F9EC6E7-049A-77EC-D1C6-BADC984F9719}"/>
              </a:ext>
            </a:extLst>
          </p:cNvPr>
          <p:cNvCxnSpPr>
            <a:cxnSpLocks/>
          </p:cNvCxnSpPr>
          <p:nvPr/>
        </p:nvCxnSpPr>
        <p:spPr>
          <a:xfrm flipH="1">
            <a:off x="4334907" y="4573320"/>
            <a:ext cx="2610" cy="5811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6">
            <a:extLst>
              <a:ext uri="{FF2B5EF4-FFF2-40B4-BE49-F238E27FC236}">
                <a16:creationId xmlns:a16="http://schemas.microsoft.com/office/drawing/2014/main" id="{E4B153A9-B56D-ADC1-4AA1-DA1E869FEB5A}"/>
              </a:ext>
            </a:extLst>
          </p:cNvPr>
          <p:cNvCxnSpPr>
            <a:cxnSpLocks/>
          </p:cNvCxnSpPr>
          <p:nvPr/>
        </p:nvCxnSpPr>
        <p:spPr>
          <a:xfrm flipH="1">
            <a:off x="4685408" y="4586668"/>
            <a:ext cx="2610" cy="440847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6">
            <a:extLst>
              <a:ext uri="{FF2B5EF4-FFF2-40B4-BE49-F238E27FC236}">
                <a16:creationId xmlns:a16="http://schemas.microsoft.com/office/drawing/2014/main" id="{DC1AB520-BDE7-58BF-7B68-4881AF530177}"/>
              </a:ext>
            </a:extLst>
          </p:cNvPr>
          <p:cNvCxnSpPr>
            <a:cxnSpLocks/>
          </p:cNvCxnSpPr>
          <p:nvPr/>
        </p:nvCxnSpPr>
        <p:spPr>
          <a:xfrm>
            <a:off x="5026544" y="4517585"/>
            <a:ext cx="0" cy="43937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6">
            <a:extLst>
              <a:ext uri="{FF2B5EF4-FFF2-40B4-BE49-F238E27FC236}">
                <a16:creationId xmlns:a16="http://schemas.microsoft.com/office/drawing/2014/main" id="{8457428D-395D-522B-0F8A-AF0518AB5447}"/>
              </a:ext>
            </a:extLst>
          </p:cNvPr>
          <p:cNvCxnSpPr>
            <a:cxnSpLocks/>
          </p:cNvCxnSpPr>
          <p:nvPr/>
        </p:nvCxnSpPr>
        <p:spPr>
          <a:xfrm>
            <a:off x="5347297" y="4586667"/>
            <a:ext cx="8603" cy="29971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6">
            <a:extLst>
              <a:ext uri="{FF2B5EF4-FFF2-40B4-BE49-F238E27FC236}">
                <a16:creationId xmlns:a16="http://schemas.microsoft.com/office/drawing/2014/main" id="{DB349BDD-5D7F-04DA-7F62-BFAB0EECBCF3}"/>
              </a:ext>
            </a:extLst>
          </p:cNvPr>
          <p:cNvCxnSpPr>
            <a:cxnSpLocks/>
          </p:cNvCxnSpPr>
          <p:nvPr/>
        </p:nvCxnSpPr>
        <p:spPr>
          <a:xfrm flipH="1">
            <a:off x="5665513" y="4552598"/>
            <a:ext cx="1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6">
            <a:extLst>
              <a:ext uri="{FF2B5EF4-FFF2-40B4-BE49-F238E27FC236}">
                <a16:creationId xmlns:a16="http://schemas.microsoft.com/office/drawing/2014/main" id="{B4DE87AA-3908-8D3C-D078-9F2E698D0EC5}"/>
              </a:ext>
            </a:extLst>
          </p:cNvPr>
          <p:cNvCxnSpPr>
            <a:cxnSpLocks/>
          </p:cNvCxnSpPr>
          <p:nvPr/>
        </p:nvCxnSpPr>
        <p:spPr>
          <a:xfrm>
            <a:off x="6026584" y="4508713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6">
            <a:extLst>
              <a:ext uri="{FF2B5EF4-FFF2-40B4-BE49-F238E27FC236}">
                <a16:creationId xmlns:a16="http://schemas.microsoft.com/office/drawing/2014/main" id="{08E629DB-E13B-082B-76CE-C613142458E5}"/>
              </a:ext>
            </a:extLst>
          </p:cNvPr>
          <p:cNvCxnSpPr>
            <a:cxnSpLocks/>
          </p:cNvCxnSpPr>
          <p:nvPr/>
        </p:nvCxnSpPr>
        <p:spPr>
          <a:xfrm>
            <a:off x="6382265" y="4473016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6">
            <a:extLst>
              <a:ext uri="{FF2B5EF4-FFF2-40B4-BE49-F238E27FC236}">
                <a16:creationId xmlns:a16="http://schemas.microsoft.com/office/drawing/2014/main" id="{3B00B525-F8F4-263B-9B35-CE1D62E05C2E}"/>
              </a:ext>
            </a:extLst>
          </p:cNvPr>
          <p:cNvCxnSpPr>
            <a:cxnSpLocks/>
          </p:cNvCxnSpPr>
          <p:nvPr/>
        </p:nvCxnSpPr>
        <p:spPr>
          <a:xfrm>
            <a:off x="6705457" y="4444794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6">
            <a:extLst>
              <a:ext uri="{FF2B5EF4-FFF2-40B4-BE49-F238E27FC236}">
                <a16:creationId xmlns:a16="http://schemas.microsoft.com/office/drawing/2014/main" id="{997875A1-20B3-E04D-ECC0-B909E5BACDBA}"/>
              </a:ext>
            </a:extLst>
          </p:cNvPr>
          <p:cNvSpPr txBox="1"/>
          <p:nvPr/>
        </p:nvSpPr>
        <p:spPr>
          <a:xfrm>
            <a:off x="7021287" y="4252626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599AA4-1217-27CC-05E8-8FB5FA509E2C}"/>
              </a:ext>
            </a:extLst>
          </p:cNvPr>
          <p:cNvCxnSpPr>
            <a:cxnSpLocks/>
          </p:cNvCxnSpPr>
          <p:nvPr/>
        </p:nvCxnSpPr>
        <p:spPr>
          <a:xfrm>
            <a:off x="4326305" y="430192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6">
            <a:extLst>
              <a:ext uri="{FF2B5EF4-FFF2-40B4-BE49-F238E27FC236}">
                <a16:creationId xmlns:a16="http://schemas.microsoft.com/office/drawing/2014/main" id="{7DD4432C-1817-89A2-5D28-E2CC1E6B4B98}"/>
              </a:ext>
            </a:extLst>
          </p:cNvPr>
          <p:cNvCxnSpPr>
            <a:cxnSpLocks/>
          </p:cNvCxnSpPr>
          <p:nvPr/>
        </p:nvCxnSpPr>
        <p:spPr>
          <a:xfrm>
            <a:off x="4676806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6">
            <a:extLst>
              <a:ext uri="{FF2B5EF4-FFF2-40B4-BE49-F238E27FC236}">
                <a16:creationId xmlns:a16="http://schemas.microsoft.com/office/drawing/2014/main" id="{B5B2FE79-D647-F889-A758-65C2D89EC2E1}"/>
              </a:ext>
            </a:extLst>
          </p:cNvPr>
          <p:cNvCxnSpPr>
            <a:cxnSpLocks/>
          </p:cNvCxnSpPr>
          <p:nvPr/>
        </p:nvCxnSpPr>
        <p:spPr>
          <a:xfrm>
            <a:off x="501243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6">
            <a:extLst>
              <a:ext uri="{FF2B5EF4-FFF2-40B4-BE49-F238E27FC236}">
                <a16:creationId xmlns:a16="http://schemas.microsoft.com/office/drawing/2014/main" id="{C85B289B-0659-8642-1DED-80B1C9CC483F}"/>
              </a:ext>
            </a:extLst>
          </p:cNvPr>
          <p:cNvCxnSpPr>
            <a:cxnSpLocks/>
          </p:cNvCxnSpPr>
          <p:nvPr/>
        </p:nvCxnSpPr>
        <p:spPr>
          <a:xfrm>
            <a:off x="5336084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6">
            <a:extLst>
              <a:ext uri="{FF2B5EF4-FFF2-40B4-BE49-F238E27FC236}">
                <a16:creationId xmlns:a16="http://schemas.microsoft.com/office/drawing/2014/main" id="{13497CE6-2FA6-1931-A44B-8F5DDB5D654F}"/>
              </a:ext>
            </a:extLst>
          </p:cNvPr>
          <p:cNvCxnSpPr>
            <a:cxnSpLocks/>
          </p:cNvCxnSpPr>
          <p:nvPr/>
        </p:nvCxnSpPr>
        <p:spPr>
          <a:xfrm>
            <a:off x="5654300" y="432353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6">
            <a:extLst>
              <a:ext uri="{FF2B5EF4-FFF2-40B4-BE49-F238E27FC236}">
                <a16:creationId xmlns:a16="http://schemas.microsoft.com/office/drawing/2014/main" id="{6CBBAC64-448D-3443-3C27-D6E6ADE25FBC}"/>
              </a:ext>
            </a:extLst>
          </p:cNvPr>
          <p:cNvCxnSpPr>
            <a:cxnSpLocks/>
          </p:cNvCxnSpPr>
          <p:nvPr/>
        </p:nvCxnSpPr>
        <p:spPr>
          <a:xfrm>
            <a:off x="6015371" y="4321985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37E496D1-5738-A4F4-17C9-166D6EF7D867}"/>
              </a:ext>
            </a:extLst>
          </p:cNvPr>
          <p:cNvCxnSpPr>
            <a:cxnSpLocks/>
          </p:cNvCxnSpPr>
          <p:nvPr/>
        </p:nvCxnSpPr>
        <p:spPr>
          <a:xfrm>
            <a:off x="6371052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6">
            <a:extLst>
              <a:ext uri="{FF2B5EF4-FFF2-40B4-BE49-F238E27FC236}">
                <a16:creationId xmlns:a16="http://schemas.microsoft.com/office/drawing/2014/main" id="{CC5E4B85-441E-0056-F05F-117ABC68D9F0}"/>
              </a:ext>
            </a:extLst>
          </p:cNvPr>
          <p:cNvCxnSpPr>
            <a:cxnSpLocks/>
          </p:cNvCxnSpPr>
          <p:nvPr/>
        </p:nvCxnSpPr>
        <p:spPr>
          <a:xfrm>
            <a:off x="669424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6">
            <a:extLst>
              <a:ext uri="{FF2B5EF4-FFF2-40B4-BE49-F238E27FC236}">
                <a16:creationId xmlns:a16="http://schemas.microsoft.com/office/drawing/2014/main" id="{89D82614-8AEB-E6A1-0588-9462474233EE}"/>
              </a:ext>
            </a:extLst>
          </p:cNvPr>
          <p:cNvSpPr txBox="1"/>
          <p:nvPr/>
        </p:nvSpPr>
        <p:spPr>
          <a:xfrm>
            <a:off x="7092573" y="3865531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41" name="TextBox 36">
            <a:extLst>
              <a:ext uri="{FF2B5EF4-FFF2-40B4-BE49-F238E27FC236}">
                <a16:creationId xmlns:a16="http://schemas.microsoft.com/office/drawing/2014/main" id="{B5DCFCB4-DAFC-55A9-8ED2-F178C7F3C36C}"/>
              </a:ext>
            </a:extLst>
          </p:cNvPr>
          <p:cNvSpPr txBox="1"/>
          <p:nvPr/>
        </p:nvSpPr>
        <p:spPr>
          <a:xfrm>
            <a:off x="2382822" y="317124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</p:spTree>
    <p:extLst>
      <p:ext uri="{BB962C8B-B14F-4D97-AF65-F5344CB8AC3E}">
        <p14:creationId xmlns:p14="http://schemas.microsoft.com/office/powerpoint/2010/main" val="15214007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60B7-6146-7545-5E79-855EB574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8FAF79-AAF6-44C2-1D48-4AD8EDCD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1EE6FC-4F50-B19F-4513-F8B24FA25D1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B995237-2946-942D-92A9-29D1E73E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150FDC5-23DE-EED5-D72F-238E580AFB2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460EF2-F412-31FC-3726-B71C958B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A9B381-34A3-AEE0-0D74-E8D5FF7DC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B8247BD-8CDB-9888-7D20-6D3475A5C998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errar llave 4">
            <a:extLst>
              <a:ext uri="{FF2B5EF4-FFF2-40B4-BE49-F238E27FC236}">
                <a16:creationId xmlns:a16="http://schemas.microsoft.com/office/drawing/2014/main" id="{361F152C-3C15-50F7-EAF4-509202CD467F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22">
            <a:extLst>
              <a:ext uri="{FF2B5EF4-FFF2-40B4-BE49-F238E27FC236}">
                <a16:creationId xmlns:a16="http://schemas.microsoft.com/office/drawing/2014/main" id="{0F7155E6-0B4A-72B0-1631-EDE52AECDA7E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7" name="Rectángulo 24">
            <a:extLst>
              <a:ext uri="{FF2B5EF4-FFF2-40B4-BE49-F238E27FC236}">
                <a16:creationId xmlns:a16="http://schemas.microsoft.com/office/drawing/2014/main" id="{E075A74F-9A4E-83DD-281C-881204BD781E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  <p:graphicFrame>
        <p:nvGraphicFramePr>
          <p:cNvPr id="18" name="Tabla 25">
            <a:extLst>
              <a:ext uri="{FF2B5EF4-FFF2-40B4-BE49-F238E27FC236}">
                <a16:creationId xmlns:a16="http://schemas.microsoft.com/office/drawing/2014/main" id="{6EAD6BFD-A948-6C48-6D36-7DF6A73957F6}"/>
              </a:ext>
            </a:extLst>
          </p:cNvPr>
          <p:cNvGraphicFramePr>
            <a:graphicFrameLocks noGrp="1"/>
          </p:cNvGraphicFramePr>
          <p:nvPr/>
        </p:nvGraphicFramePr>
        <p:xfrm>
          <a:off x="677847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$ 2.857,6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$ 2.643,2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$ 2.428,8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$ 2.214,4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57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9DF6-2EA0-AAFB-0CF5-4BDC666D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A0BC34-C518-ADF0-4474-C6C489EC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D7ACEA-7E52-6AED-FD36-4225D25F995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22AD4F7-5E51-212A-07CE-1AD4DF01D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46EB910-245F-CB09-2A5D-677035ED528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16EBA91-6068-59BB-14C8-6B9A54C0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88C9032-B108-AC97-5128-C1EF91BEF42F}"/>
              </a:ext>
            </a:extLst>
          </p:cNvPr>
          <p:cNvCxnSpPr/>
          <p:nvPr/>
        </p:nvCxnSpPr>
        <p:spPr>
          <a:xfrm>
            <a:off x="4477288" y="4329222"/>
            <a:ext cx="0" cy="21418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399B54DE-EEE5-468F-A98D-A385CBBF77DE}"/>
              </a:ext>
            </a:extLst>
          </p:cNvPr>
          <p:cNvCxnSpPr/>
          <p:nvPr/>
        </p:nvCxnSpPr>
        <p:spPr>
          <a:xfrm>
            <a:off x="4826931" y="4328459"/>
            <a:ext cx="8603" cy="22906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6">
            <a:extLst>
              <a:ext uri="{FF2B5EF4-FFF2-40B4-BE49-F238E27FC236}">
                <a16:creationId xmlns:a16="http://schemas.microsoft.com/office/drawing/2014/main" id="{B44FC22E-5157-1C16-11DE-73B8EE694856}"/>
              </a:ext>
            </a:extLst>
          </p:cNvPr>
          <p:cNvCxnSpPr/>
          <p:nvPr/>
        </p:nvCxnSpPr>
        <p:spPr>
          <a:xfrm>
            <a:off x="5162559" y="4325661"/>
            <a:ext cx="14111" cy="28830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6">
            <a:extLst>
              <a:ext uri="{FF2B5EF4-FFF2-40B4-BE49-F238E27FC236}">
                <a16:creationId xmlns:a16="http://schemas.microsoft.com/office/drawing/2014/main" id="{B751258A-B48E-9FD2-5BA7-D584ECDB5379}"/>
              </a:ext>
            </a:extLst>
          </p:cNvPr>
          <p:cNvCxnSpPr/>
          <p:nvPr/>
        </p:nvCxnSpPr>
        <p:spPr>
          <a:xfrm>
            <a:off x="5479409" y="4308500"/>
            <a:ext cx="18013" cy="35374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">
            <a:extLst>
              <a:ext uri="{FF2B5EF4-FFF2-40B4-BE49-F238E27FC236}">
                <a16:creationId xmlns:a16="http://schemas.microsoft.com/office/drawing/2014/main" id="{42F07730-B7AB-DCE0-714F-ABEEDDB97705}"/>
              </a:ext>
            </a:extLst>
          </p:cNvPr>
          <p:cNvCxnSpPr/>
          <p:nvPr/>
        </p:nvCxnSpPr>
        <p:spPr>
          <a:xfrm>
            <a:off x="5804424" y="4350833"/>
            <a:ext cx="0" cy="34703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">
            <a:extLst>
              <a:ext uri="{FF2B5EF4-FFF2-40B4-BE49-F238E27FC236}">
                <a16:creationId xmlns:a16="http://schemas.microsoft.com/office/drawing/2014/main" id="{7B06E472-9BDF-6D09-762D-282524CBB377}"/>
              </a:ext>
            </a:extLst>
          </p:cNvPr>
          <p:cNvCxnSpPr/>
          <p:nvPr/>
        </p:nvCxnSpPr>
        <p:spPr>
          <a:xfrm>
            <a:off x="6185311" y="4308500"/>
            <a:ext cx="0" cy="46068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6">
            <a:extLst>
              <a:ext uri="{FF2B5EF4-FFF2-40B4-BE49-F238E27FC236}">
                <a16:creationId xmlns:a16="http://schemas.microsoft.com/office/drawing/2014/main" id="{E31CCC85-B80B-23D0-0328-21431143BC6C}"/>
              </a:ext>
            </a:extLst>
          </p:cNvPr>
          <p:cNvCxnSpPr/>
          <p:nvPr/>
        </p:nvCxnSpPr>
        <p:spPr>
          <a:xfrm>
            <a:off x="6521177" y="4333100"/>
            <a:ext cx="8603" cy="49252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6">
            <a:extLst>
              <a:ext uri="{FF2B5EF4-FFF2-40B4-BE49-F238E27FC236}">
                <a16:creationId xmlns:a16="http://schemas.microsoft.com/office/drawing/2014/main" id="{2065DB6A-33D1-4392-23D4-21D0D19233DF}"/>
              </a:ext>
            </a:extLst>
          </p:cNvPr>
          <p:cNvCxnSpPr/>
          <p:nvPr/>
        </p:nvCxnSpPr>
        <p:spPr>
          <a:xfrm>
            <a:off x="6844368" y="4341805"/>
            <a:ext cx="19816" cy="53907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6">
            <a:extLst>
              <a:ext uri="{FF2B5EF4-FFF2-40B4-BE49-F238E27FC236}">
                <a16:creationId xmlns:a16="http://schemas.microsoft.com/office/drawing/2014/main" id="{489C462B-C0E2-B711-156B-5942ACD7AE55}"/>
              </a:ext>
            </a:extLst>
          </p:cNvPr>
          <p:cNvCxnSpPr/>
          <p:nvPr/>
        </p:nvCxnSpPr>
        <p:spPr>
          <a:xfrm>
            <a:off x="4477288" y="4538841"/>
            <a:ext cx="7744" cy="50496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6">
            <a:extLst>
              <a:ext uri="{FF2B5EF4-FFF2-40B4-BE49-F238E27FC236}">
                <a16:creationId xmlns:a16="http://schemas.microsoft.com/office/drawing/2014/main" id="{7DB083DC-F7FF-AB1A-D517-A600D9D39914}"/>
              </a:ext>
            </a:extLst>
          </p:cNvPr>
          <p:cNvCxnSpPr/>
          <p:nvPr/>
        </p:nvCxnSpPr>
        <p:spPr>
          <a:xfrm>
            <a:off x="4826931" y="4557520"/>
            <a:ext cx="8603" cy="48491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6">
            <a:extLst>
              <a:ext uri="{FF2B5EF4-FFF2-40B4-BE49-F238E27FC236}">
                <a16:creationId xmlns:a16="http://schemas.microsoft.com/office/drawing/2014/main" id="{BA77C47E-B71D-39EA-DA50-2943FCABBECD}"/>
              </a:ext>
            </a:extLst>
          </p:cNvPr>
          <p:cNvCxnSpPr/>
          <p:nvPr/>
        </p:nvCxnSpPr>
        <p:spPr>
          <a:xfrm>
            <a:off x="5177431" y="4610639"/>
            <a:ext cx="5913" cy="43909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6">
            <a:extLst>
              <a:ext uri="{FF2B5EF4-FFF2-40B4-BE49-F238E27FC236}">
                <a16:creationId xmlns:a16="http://schemas.microsoft.com/office/drawing/2014/main" id="{1515840C-06E9-9192-E62E-9BD03CE3CBA1}"/>
              </a:ext>
            </a:extLst>
          </p:cNvPr>
          <p:cNvCxnSpPr/>
          <p:nvPr/>
        </p:nvCxnSpPr>
        <p:spPr>
          <a:xfrm>
            <a:off x="5497422" y="4647518"/>
            <a:ext cx="9471" cy="39491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6">
            <a:extLst>
              <a:ext uri="{FF2B5EF4-FFF2-40B4-BE49-F238E27FC236}">
                <a16:creationId xmlns:a16="http://schemas.microsoft.com/office/drawing/2014/main" id="{8C141E8E-A74D-FAFD-8D6D-137E5B83DE75}"/>
              </a:ext>
            </a:extLst>
          </p:cNvPr>
          <p:cNvCxnSpPr/>
          <p:nvPr/>
        </p:nvCxnSpPr>
        <p:spPr>
          <a:xfrm>
            <a:off x="5804426" y="4694711"/>
            <a:ext cx="0" cy="3490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">
            <a:extLst>
              <a:ext uri="{FF2B5EF4-FFF2-40B4-BE49-F238E27FC236}">
                <a16:creationId xmlns:a16="http://schemas.microsoft.com/office/drawing/2014/main" id="{3AE24E2F-677D-75E0-2993-97244E542647}"/>
              </a:ext>
            </a:extLst>
          </p:cNvPr>
          <p:cNvCxnSpPr/>
          <p:nvPr/>
        </p:nvCxnSpPr>
        <p:spPr>
          <a:xfrm>
            <a:off x="6187730" y="4761532"/>
            <a:ext cx="0" cy="29562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22394A9E-272E-1A30-40EA-DD067E34C806}"/>
              </a:ext>
            </a:extLst>
          </p:cNvPr>
          <p:cNvCxnSpPr/>
          <p:nvPr/>
        </p:nvCxnSpPr>
        <p:spPr>
          <a:xfrm>
            <a:off x="6529779" y="4813588"/>
            <a:ext cx="0" cy="22884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6">
            <a:extLst>
              <a:ext uri="{FF2B5EF4-FFF2-40B4-BE49-F238E27FC236}">
                <a16:creationId xmlns:a16="http://schemas.microsoft.com/office/drawing/2014/main" id="{9E4E3120-3587-ADBB-538B-46262A745BCA}"/>
              </a:ext>
            </a:extLst>
          </p:cNvPr>
          <p:cNvCxnSpPr/>
          <p:nvPr/>
        </p:nvCxnSpPr>
        <p:spPr>
          <a:xfrm>
            <a:off x="6864184" y="4880879"/>
            <a:ext cx="1" cy="16292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36">
            <a:extLst>
              <a:ext uri="{FF2B5EF4-FFF2-40B4-BE49-F238E27FC236}">
                <a16:creationId xmlns:a16="http://schemas.microsoft.com/office/drawing/2014/main" id="{FF9CA7B3-19E4-40D0-0F0E-65B7131EBB0E}"/>
              </a:ext>
            </a:extLst>
          </p:cNvPr>
          <p:cNvSpPr txBox="1"/>
          <p:nvPr/>
        </p:nvSpPr>
        <p:spPr>
          <a:xfrm>
            <a:off x="7078819" y="4728907"/>
            <a:ext cx="193514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FB4C0F8C-49F8-59DD-9342-76EBB9BE7140}"/>
              </a:ext>
            </a:extLst>
          </p:cNvPr>
          <p:cNvSpPr txBox="1"/>
          <p:nvPr/>
        </p:nvSpPr>
        <p:spPr>
          <a:xfrm>
            <a:off x="6966695" y="4279922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sp>
        <p:nvSpPr>
          <p:cNvPr id="57" name="TextBox 36">
            <a:extLst>
              <a:ext uri="{FF2B5EF4-FFF2-40B4-BE49-F238E27FC236}">
                <a16:creationId xmlns:a16="http://schemas.microsoft.com/office/drawing/2014/main" id="{C779CC62-1B65-EF63-9AA6-4879E5D621B1}"/>
              </a:ext>
            </a:extLst>
          </p:cNvPr>
          <p:cNvSpPr txBox="1"/>
          <p:nvPr/>
        </p:nvSpPr>
        <p:spPr>
          <a:xfrm>
            <a:off x="7037981" y="3892827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cxnSp>
        <p:nvCxnSpPr>
          <p:cNvPr id="58" name="Straight Arrow Connector 18">
            <a:extLst>
              <a:ext uri="{FF2B5EF4-FFF2-40B4-BE49-F238E27FC236}">
                <a16:creationId xmlns:a16="http://schemas.microsoft.com/office/drawing/2014/main" id="{51F4FC6B-1ED1-D0A5-62E0-33D47FDD212B}"/>
              </a:ext>
            </a:extLst>
          </p:cNvPr>
          <p:cNvCxnSpPr>
            <a:cxnSpLocks/>
          </p:cNvCxnSpPr>
          <p:nvPr/>
        </p:nvCxnSpPr>
        <p:spPr>
          <a:xfrm flipH="1" flipV="1">
            <a:off x="6837531" y="4080681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21">
            <a:extLst>
              <a:ext uri="{FF2B5EF4-FFF2-40B4-BE49-F238E27FC236}">
                <a16:creationId xmlns:a16="http://schemas.microsoft.com/office/drawing/2014/main" id="{4D5BD68C-8CA5-B3E7-C3CE-69003FB23614}"/>
              </a:ext>
            </a:extLst>
          </p:cNvPr>
          <p:cNvCxnSpPr>
            <a:cxnSpLocks/>
          </p:cNvCxnSpPr>
          <p:nvPr/>
        </p:nvCxnSpPr>
        <p:spPr>
          <a:xfrm flipV="1">
            <a:off x="6507531" y="4080681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2">
            <a:extLst>
              <a:ext uri="{FF2B5EF4-FFF2-40B4-BE49-F238E27FC236}">
                <a16:creationId xmlns:a16="http://schemas.microsoft.com/office/drawing/2014/main" id="{F3A4D947-4C35-81C3-FEAF-F954D49674A4}"/>
              </a:ext>
            </a:extLst>
          </p:cNvPr>
          <p:cNvCxnSpPr>
            <a:cxnSpLocks/>
          </p:cNvCxnSpPr>
          <p:nvPr/>
        </p:nvCxnSpPr>
        <p:spPr>
          <a:xfrm flipV="1">
            <a:off x="6165103" y="4080681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23">
            <a:extLst>
              <a:ext uri="{FF2B5EF4-FFF2-40B4-BE49-F238E27FC236}">
                <a16:creationId xmlns:a16="http://schemas.microsoft.com/office/drawing/2014/main" id="{621B2E7E-F459-B703-5483-415138CA1828}"/>
              </a:ext>
            </a:extLst>
          </p:cNvPr>
          <p:cNvCxnSpPr>
            <a:cxnSpLocks/>
          </p:cNvCxnSpPr>
          <p:nvPr/>
        </p:nvCxnSpPr>
        <p:spPr>
          <a:xfrm flipV="1">
            <a:off x="5781435" y="4063845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4">
            <a:extLst>
              <a:ext uri="{FF2B5EF4-FFF2-40B4-BE49-F238E27FC236}">
                <a16:creationId xmlns:a16="http://schemas.microsoft.com/office/drawing/2014/main" id="{18B8CFDC-C98A-4EF3-F171-99207A92FA36}"/>
              </a:ext>
            </a:extLst>
          </p:cNvPr>
          <p:cNvCxnSpPr>
            <a:cxnSpLocks/>
          </p:cNvCxnSpPr>
          <p:nvPr/>
        </p:nvCxnSpPr>
        <p:spPr>
          <a:xfrm flipV="1">
            <a:off x="5479411" y="4043659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25">
            <a:extLst>
              <a:ext uri="{FF2B5EF4-FFF2-40B4-BE49-F238E27FC236}">
                <a16:creationId xmlns:a16="http://schemas.microsoft.com/office/drawing/2014/main" id="{5F18B73E-F973-7F6B-BB4D-DC44F186CF50}"/>
              </a:ext>
            </a:extLst>
          </p:cNvPr>
          <p:cNvCxnSpPr>
            <a:cxnSpLocks/>
          </p:cNvCxnSpPr>
          <p:nvPr/>
        </p:nvCxnSpPr>
        <p:spPr>
          <a:xfrm flipH="1" flipV="1">
            <a:off x="5162561" y="3990651"/>
            <a:ext cx="14109" cy="33501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26">
            <a:extLst>
              <a:ext uri="{FF2B5EF4-FFF2-40B4-BE49-F238E27FC236}">
                <a16:creationId xmlns:a16="http://schemas.microsoft.com/office/drawing/2014/main" id="{C025A225-967B-462A-EFC4-B9C9092B6AFA}"/>
              </a:ext>
            </a:extLst>
          </p:cNvPr>
          <p:cNvCxnSpPr>
            <a:cxnSpLocks/>
          </p:cNvCxnSpPr>
          <p:nvPr/>
        </p:nvCxnSpPr>
        <p:spPr>
          <a:xfrm flipV="1">
            <a:off x="4822956" y="3977003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27">
            <a:extLst>
              <a:ext uri="{FF2B5EF4-FFF2-40B4-BE49-F238E27FC236}">
                <a16:creationId xmlns:a16="http://schemas.microsoft.com/office/drawing/2014/main" id="{6A8BCE6A-8709-BC2C-9793-22A68E640FD6}"/>
              </a:ext>
            </a:extLst>
          </p:cNvPr>
          <p:cNvCxnSpPr>
            <a:cxnSpLocks/>
          </p:cNvCxnSpPr>
          <p:nvPr/>
        </p:nvCxnSpPr>
        <p:spPr>
          <a:xfrm flipV="1">
            <a:off x="4471387" y="3836251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2849285-4C37-4607-5CA7-10916992B1AB}"/>
              </a:ext>
            </a:extLst>
          </p:cNvPr>
          <p:cNvCxnSpPr/>
          <p:nvPr/>
        </p:nvCxnSpPr>
        <p:spPr>
          <a:xfrm>
            <a:off x="4092362" y="4329759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02F5414-A577-CBA5-3138-6E1EE2352ABA}"/>
              </a:ext>
            </a:extLst>
          </p:cNvPr>
          <p:cNvCxnSpPr/>
          <p:nvPr/>
        </p:nvCxnSpPr>
        <p:spPr>
          <a:xfrm flipV="1">
            <a:off x="4092362" y="3370576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36">
            <a:extLst>
              <a:ext uri="{FF2B5EF4-FFF2-40B4-BE49-F238E27FC236}">
                <a16:creationId xmlns:a16="http://schemas.microsoft.com/office/drawing/2014/main" id="{E803EA32-E241-D063-585B-0EFB63CDD91F}"/>
              </a:ext>
            </a:extLst>
          </p:cNvPr>
          <p:cNvSpPr txBox="1"/>
          <p:nvPr/>
        </p:nvSpPr>
        <p:spPr>
          <a:xfrm>
            <a:off x="2464710" y="3239482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sp>
        <p:nvSpPr>
          <p:cNvPr id="71" name="Marcador de contenido 2">
            <a:extLst>
              <a:ext uri="{FF2B5EF4-FFF2-40B4-BE49-F238E27FC236}">
                <a16:creationId xmlns:a16="http://schemas.microsoft.com/office/drawing/2014/main" id="{B31E60E4-0FFA-78DE-3CDB-0F010648C435}"/>
              </a:ext>
            </a:extLst>
          </p:cNvPr>
          <p:cNvSpPr txBox="1">
            <a:spLocks/>
          </p:cNvSpPr>
          <p:nvPr/>
        </p:nvSpPr>
        <p:spPr>
          <a:xfrm>
            <a:off x="2290762" y="2188395"/>
            <a:ext cx="7610476" cy="685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</p:spTree>
    <p:extLst>
      <p:ext uri="{BB962C8B-B14F-4D97-AF65-F5344CB8AC3E}">
        <p14:creationId xmlns:p14="http://schemas.microsoft.com/office/powerpoint/2010/main" val="31726232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EB2E-51C7-9329-154C-23E52CEC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674FAD-77AF-AAF4-53E7-491AD40F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594040-1E13-CE19-2692-1E3585C063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03570E7-A731-C44A-30C5-4552E6414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555293A-4ED4-F340-B555-CF396CD87A1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7230642-4070-B4EC-ECBB-386F7AB4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27C0F-F8FB-8EB6-4465-08A09A990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2956097"/>
            <a:ext cx="4470400" cy="10922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465FFD58-FB91-53E6-AAFE-779FA074B372}"/>
              </a:ext>
            </a:extLst>
          </p:cNvPr>
          <p:cNvSpPr txBox="1"/>
          <p:nvPr/>
        </p:nvSpPr>
        <p:spPr>
          <a:xfrm>
            <a:off x="4155546" y="4554933"/>
            <a:ext cx="387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 = $ 3.054,09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EAFE2B7-B23B-F074-CED3-F7B52F5C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241809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6832-EACF-663B-3A5A-9F7607A4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4679FB-2931-898C-E6D6-7C1BBD08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5ABEEF-B634-3CF6-3630-9F08A7D8ACE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87FA900-619A-9E6F-C2B2-8E5F7F431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3552D72-CB47-52FE-FB14-5EE76E116DA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887569E-6029-182D-0940-11AB57E8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B2402-1F0B-A8B8-1E14-B974B3A8E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23">
            <a:extLst>
              <a:ext uri="{FF2B5EF4-FFF2-40B4-BE49-F238E27FC236}">
                <a16:creationId xmlns:a16="http://schemas.microsoft.com/office/drawing/2014/main" id="{8A8FD806-F788-967B-E184-92334479EF84}"/>
              </a:ext>
            </a:extLst>
          </p:cNvPr>
          <p:cNvGraphicFramePr>
            <a:graphicFrameLocks noGrp="1"/>
          </p:cNvGraphicFramePr>
          <p:nvPr/>
        </p:nvGraphicFramePr>
        <p:xfrm>
          <a:off x="671938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8" name="Conector recto 21">
            <a:extLst>
              <a:ext uri="{FF2B5EF4-FFF2-40B4-BE49-F238E27FC236}">
                <a16:creationId xmlns:a16="http://schemas.microsoft.com/office/drawing/2014/main" id="{5689F083-21F3-8A25-9E2A-653E1A97E3FB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errar llave 25">
            <a:extLst>
              <a:ext uri="{FF2B5EF4-FFF2-40B4-BE49-F238E27FC236}">
                <a16:creationId xmlns:a16="http://schemas.microsoft.com/office/drawing/2014/main" id="{BDB2D04F-A9D2-0D4B-1C55-0391757F61CE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26">
            <a:extLst>
              <a:ext uri="{FF2B5EF4-FFF2-40B4-BE49-F238E27FC236}">
                <a16:creationId xmlns:a16="http://schemas.microsoft.com/office/drawing/2014/main" id="{26AEABC9-7C38-0CC4-BBA2-3346D6CDD2C3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2" name="Rectángulo 27">
            <a:extLst>
              <a:ext uri="{FF2B5EF4-FFF2-40B4-BE49-F238E27FC236}">
                <a16:creationId xmlns:a16="http://schemas.microsoft.com/office/drawing/2014/main" id="{CED48E16-7C7D-523D-879C-E58AA03F7412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</p:spTree>
    <p:extLst>
      <p:ext uri="{BB962C8B-B14F-4D97-AF65-F5344CB8AC3E}">
        <p14:creationId xmlns:p14="http://schemas.microsoft.com/office/powerpoint/2010/main" val="258337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706C-00C4-D9F4-2731-4AF6BE0B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A9DAD-B86B-1BF4-80DD-87AC644C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0F8C0B-B0E5-E8F1-8E6E-7F8EE85F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59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493504B-CE4A-2964-69AF-B694EDBB1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07771955-FA16-B686-04AD-27BCDDB128A0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accent1"/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47D4CE-F30F-5387-A6A2-0EAD33A80C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AB71C063-31ED-24CC-DCC2-2E61F2395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E09A2AB-43BC-4C08-9505-6AE3369F5D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72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B84A-4CC6-D9DC-EF06-07E1EA8D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787488-69BC-2C19-5CB5-1A423282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E35608-909F-50EE-B64B-FEC0D7BAEE6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027C750-4328-09C0-95A7-F49D66645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BDE383F-91B3-8B68-45B6-DB9E293B9A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AA297AE-7A3C-E051-3116-9803AC08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98CA06B0-ABB7-DFE8-63F9-8F1C3C7B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1990469"/>
            <a:ext cx="7610476" cy="7165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0604A5-E606-C89C-4CB8-8D1E676F9ADA}"/>
              </a:ext>
            </a:extLst>
          </p:cNvPr>
          <p:cNvCxnSpPr/>
          <p:nvPr/>
        </p:nvCxnSpPr>
        <p:spPr>
          <a:xfrm>
            <a:off x="4517373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C0E65CF-DE59-F628-10CA-2C86AEDAC84F}"/>
              </a:ext>
            </a:extLst>
          </p:cNvPr>
          <p:cNvCxnSpPr/>
          <p:nvPr/>
        </p:nvCxnSpPr>
        <p:spPr>
          <a:xfrm>
            <a:off x="4855294" y="3920328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DB673E-1019-CFCF-03AC-E1D3DC16969E}"/>
              </a:ext>
            </a:extLst>
          </p:cNvPr>
          <p:cNvCxnSpPr/>
          <p:nvPr/>
        </p:nvCxnSpPr>
        <p:spPr>
          <a:xfrm>
            <a:off x="5212063" y="3920328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1B9A0D-FC40-D0AE-7BE2-5AF5D867D6E7}"/>
              </a:ext>
            </a:extLst>
          </p:cNvPr>
          <p:cNvCxnSpPr/>
          <p:nvPr/>
        </p:nvCxnSpPr>
        <p:spPr>
          <a:xfrm>
            <a:off x="5511749" y="3919254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98FA64-8FD0-6B08-6B07-7371B93607F2}"/>
              </a:ext>
            </a:extLst>
          </p:cNvPr>
          <p:cNvCxnSpPr/>
          <p:nvPr/>
        </p:nvCxnSpPr>
        <p:spPr>
          <a:xfrm>
            <a:off x="5849670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0E0E9F-7893-45D2-7924-24682BEB9998}"/>
              </a:ext>
            </a:extLst>
          </p:cNvPr>
          <p:cNvCxnSpPr/>
          <p:nvPr/>
        </p:nvCxnSpPr>
        <p:spPr>
          <a:xfrm>
            <a:off x="6206439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5A7431-E38F-7979-33E9-A27129F076DC}"/>
              </a:ext>
            </a:extLst>
          </p:cNvPr>
          <p:cNvCxnSpPr/>
          <p:nvPr/>
        </p:nvCxnSpPr>
        <p:spPr>
          <a:xfrm>
            <a:off x="6553517" y="3919254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C2D829-4484-7757-8450-82FFFC183970}"/>
              </a:ext>
            </a:extLst>
          </p:cNvPr>
          <p:cNvCxnSpPr/>
          <p:nvPr/>
        </p:nvCxnSpPr>
        <p:spPr>
          <a:xfrm>
            <a:off x="6891438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8A4A64F-1394-882B-96CE-9578AABA230B}"/>
              </a:ext>
            </a:extLst>
          </p:cNvPr>
          <p:cNvCxnSpPr/>
          <p:nvPr/>
        </p:nvCxnSpPr>
        <p:spPr>
          <a:xfrm>
            <a:off x="6891438" y="4611463"/>
            <a:ext cx="0" cy="95918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5C7AFA-B0F4-BD10-6CC0-B1AE4B74A1F0}"/>
              </a:ext>
            </a:extLst>
          </p:cNvPr>
          <p:cNvCxnSpPr/>
          <p:nvPr/>
        </p:nvCxnSpPr>
        <p:spPr>
          <a:xfrm flipV="1">
            <a:off x="6891438" y="3616128"/>
            <a:ext cx="0" cy="304201"/>
          </a:xfrm>
          <a:prstGeom prst="straightConnector1">
            <a:avLst/>
          </a:prstGeom>
          <a:ln w="38100"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AD49C9-4E21-C37F-0940-47B428132669}"/>
              </a:ext>
            </a:extLst>
          </p:cNvPr>
          <p:cNvCxnSpPr/>
          <p:nvPr/>
        </p:nvCxnSpPr>
        <p:spPr>
          <a:xfrm flipV="1">
            <a:off x="6562120" y="361642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996C43-5D5D-2AA5-E121-0302CFB0DDA9}"/>
              </a:ext>
            </a:extLst>
          </p:cNvPr>
          <p:cNvCxnSpPr/>
          <p:nvPr/>
        </p:nvCxnSpPr>
        <p:spPr>
          <a:xfrm flipV="1">
            <a:off x="6206439" y="359486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AEA764-5CBE-7CCA-51DC-1A45B24C9C09}"/>
              </a:ext>
            </a:extLst>
          </p:cNvPr>
          <p:cNvCxnSpPr/>
          <p:nvPr/>
        </p:nvCxnSpPr>
        <p:spPr>
          <a:xfrm flipV="1">
            <a:off x="5849670" y="361642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907C0E-8AC8-0A96-AEC5-E3AD4F963E9F}"/>
              </a:ext>
            </a:extLst>
          </p:cNvPr>
          <p:cNvCxnSpPr/>
          <p:nvPr/>
        </p:nvCxnSpPr>
        <p:spPr>
          <a:xfrm flipV="1">
            <a:off x="5520352" y="361505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6648A2-2436-377C-D473-3FBEFDC3200D}"/>
              </a:ext>
            </a:extLst>
          </p:cNvPr>
          <p:cNvCxnSpPr/>
          <p:nvPr/>
        </p:nvCxnSpPr>
        <p:spPr>
          <a:xfrm flipV="1">
            <a:off x="5203502" y="3629189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C51DD9-F1CF-1F33-6C3A-DD1087C1563E}"/>
              </a:ext>
            </a:extLst>
          </p:cNvPr>
          <p:cNvCxnSpPr/>
          <p:nvPr/>
        </p:nvCxnSpPr>
        <p:spPr>
          <a:xfrm flipV="1">
            <a:off x="4863897" y="361505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1B5EF9B-D49E-83E8-D665-55FA096A2EBB}"/>
              </a:ext>
            </a:extLst>
          </p:cNvPr>
          <p:cNvCxnSpPr/>
          <p:nvPr/>
        </p:nvCxnSpPr>
        <p:spPr>
          <a:xfrm flipV="1">
            <a:off x="4525976" y="361202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8">
            <a:extLst>
              <a:ext uri="{FF2B5EF4-FFF2-40B4-BE49-F238E27FC236}">
                <a16:creationId xmlns:a16="http://schemas.microsoft.com/office/drawing/2014/main" id="{927B872A-5F6F-C24B-0ED6-9701C19A7366}"/>
              </a:ext>
            </a:extLst>
          </p:cNvPr>
          <p:cNvCxnSpPr/>
          <p:nvPr/>
        </p:nvCxnSpPr>
        <p:spPr>
          <a:xfrm flipV="1">
            <a:off x="6891438" y="361612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36">
            <a:extLst>
              <a:ext uri="{FF2B5EF4-FFF2-40B4-BE49-F238E27FC236}">
                <a16:creationId xmlns:a16="http://schemas.microsoft.com/office/drawing/2014/main" id="{3CBF1988-9C2D-0257-734E-D83379CA741B}"/>
              </a:ext>
            </a:extLst>
          </p:cNvPr>
          <p:cNvSpPr txBox="1"/>
          <p:nvPr/>
        </p:nvSpPr>
        <p:spPr>
          <a:xfrm>
            <a:off x="7046272" y="4099829"/>
            <a:ext cx="19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4EB8E1-9568-F34E-CF1A-11E497BF1053}"/>
              </a:ext>
            </a:extLst>
          </p:cNvPr>
          <p:cNvSpPr txBox="1"/>
          <p:nvPr/>
        </p:nvSpPr>
        <p:spPr>
          <a:xfrm>
            <a:off x="7050536" y="4957379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sp>
        <p:nvSpPr>
          <p:cNvPr id="53" name="TextBox 36">
            <a:extLst>
              <a:ext uri="{FF2B5EF4-FFF2-40B4-BE49-F238E27FC236}">
                <a16:creationId xmlns:a16="http://schemas.microsoft.com/office/drawing/2014/main" id="{CD67C28E-AB80-10DB-046F-EC27345438A6}"/>
              </a:ext>
            </a:extLst>
          </p:cNvPr>
          <p:cNvSpPr txBox="1"/>
          <p:nvPr/>
        </p:nvSpPr>
        <p:spPr>
          <a:xfrm>
            <a:off x="7126614" y="3514475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54" name="TextBox 36">
            <a:extLst>
              <a:ext uri="{FF2B5EF4-FFF2-40B4-BE49-F238E27FC236}">
                <a16:creationId xmlns:a16="http://schemas.microsoft.com/office/drawing/2014/main" id="{3CCED3C2-0C63-06C9-41B0-191B990B78F8}"/>
              </a:ext>
            </a:extLst>
          </p:cNvPr>
          <p:cNvSpPr txBox="1"/>
          <p:nvPr/>
        </p:nvSpPr>
        <p:spPr>
          <a:xfrm>
            <a:off x="2533252" y="279684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983C6E2-FCCB-EC9F-B94F-C43E63FD4161}"/>
              </a:ext>
            </a:extLst>
          </p:cNvPr>
          <p:cNvCxnSpPr/>
          <p:nvPr/>
        </p:nvCxnSpPr>
        <p:spPr>
          <a:xfrm>
            <a:off x="4133306" y="3920327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BE1190-4543-C9DF-B26D-EA2385A179BB}"/>
              </a:ext>
            </a:extLst>
          </p:cNvPr>
          <p:cNvCxnSpPr/>
          <p:nvPr/>
        </p:nvCxnSpPr>
        <p:spPr>
          <a:xfrm flipV="1">
            <a:off x="4133306" y="2961144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5399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CE87-3318-2D31-EF50-A1AE2F08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C9C4DC-4BDE-2300-B3FF-BDDDF3C7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D01A56-ADEF-E7D0-8F85-C157EA37F87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5D2E19D-A161-3073-B21C-514666A3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8E996A4-F49F-B9F1-FCEA-DD45694944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FD367A3-4812-7CF1-F98F-71743680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75EEA-7928-5E0C-B580-288EA9A4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tipo </a:t>
            </a:r>
            <a:r>
              <a:rPr lang="es-ES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20224995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9F1C-E0F6-F476-D5E6-63DFBCF1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6226C6-7A16-3E78-EF7B-1C91F99C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793A98-374D-CB5D-C160-8CAFDEDA9F5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478ADCA-7788-E45A-7E95-1721EB4AC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A075F20-5F9E-787B-2D13-3301015AC1D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D30574-E2F1-D529-A37D-3D61BFA6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F769205A-E65C-2508-86F8-F17BCD7D3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330242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543FE33-C5F4-AB23-9D83-86AB79E41C8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78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E02D-6DDD-EFC7-032F-E2650EA1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09FDEC-B1CA-08A3-451D-AAFE69C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1D8C90-7976-FDF9-A84B-7FCD93CF0C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689C2BB-9EA3-B30E-3A7F-EBE4BFAC2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86BFD65-1CF5-8824-F5BB-7D7B481FACF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3FA5802-6B8C-7F69-920D-E3B98126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6B4BF73-A6C9-CE57-5AF5-D8A92CC75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6783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DAC43C5-F38C-9DBC-4A09-07FEB606A504}"/>
              </a:ext>
            </a:extLst>
          </p:cNvPr>
          <p:cNvSpPr txBox="1">
            <a:spLocks/>
          </p:cNvSpPr>
          <p:nvPr/>
        </p:nvSpPr>
        <p:spPr>
          <a:xfrm>
            <a:off x="581192" y="2189641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6813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E040-978E-E65F-F287-3F7889DB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0E04D3-5603-F8D6-C26A-BC3F936B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9DBBC3-5F69-9908-97E3-17385C76C6A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A9A9277-21F2-523A-562C-9644AE3F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A875F4A-F500-1E25-D47C-13101C30C39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D97BC5-F21F-BFD9-5AAD-0FE873C6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B4C1CC1-E97F-CA49-5439-5F70E2609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63359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3">
            <a:extLst>
              <a:ext uri="{FF2B5EF4-FFF2-40B4-BE49-F238E27FC236}">
                <a16:creationId xmlns:a16="http://schemas.microsoft.com/office/drawing/2014/main" id="{ACC683F9-F802-B3F0-9EB8-0F784EDE9471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869314B8-12CB-FA33-2347-D9DAFC7CCD10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52DE469-FBBB-42C4-B8CE-F6DBC8FC0E86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8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462D-5D34-E877-548F-80D4C15C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2134BE-A430-4E4A-E5A6-C8130D11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9915D4-444C-4D0F-74EB-A484CADC1F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E9FE8D3-F7BF-B6F3-EB55-DBBB51043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5F0919F-6115-4455-917D-54A6D577B9B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6DAD739-B4DC-FED8-9E0B-8F196276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6B6905B7-8403-4285-DF9A-F900F8BB7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2253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3">
            <a:extLst>
              <a:ext uri="{FF2B5EF4-FFF2-40B4-BE49-F238E27FC236}">
                <a16:creationId xmlns:a16="http://schemas.microsoft.com/office/drawing/2014/main" id="{35F55C2E-9733-3330-3CBC-C56E5D2B100C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F9AC5931-8E18-E80F-D753-0F7B32A5C8D4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D98A1D7-D29B-C9C7-F41D-1E60254FAC6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829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0BE1-D2E4-E330-545A-D0CB54E3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D1C4C-D318-5689-CEAD-5AB0D185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3D6D2D-194A-A75A-73EB-630A60FE8EB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8996C59-F810-311B-D9F3-079F29F67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6EE630-CF4C-EEBA-2ECB-C1ED94F132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E0F740-40A2-9489-BCCA-6470312D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402CD65-1340-8542-181D-7EEE66B3B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1296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C2BEDBC-91CC-0BEB-A537-B9834C09C62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886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3ED5-6E56-85A5-BCAC-D4288A47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4899E1-C204-BA20-972F-568A1B5E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E2EA9E9-B05B-507C-DFBA-640F8F55690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D1BA722-E388-7C3F-B8C2-3C6BADC69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6CF3B51-459B-4630-6759-E606CB8993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981457-56C4-791F-D8CA-C62BC73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3140E91-FC8E-8D19-3B08-BA45D28D1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9874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D79FCDC-5301-AD9C-20B3-C9C2C143387E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34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8BB3-1D13-FEE3-47A0-C311E635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91FAAC-23D6-81CC-DDCC-7B110576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A38A78-01E7-3C00-CBAC-0E5147310E5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DE4F39E-39BA-E28B-EE2B-7BFD9724C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A406673-12F1-6130-8BB7-3DC9BC94C49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A193515-89ED-2478-5530-24D04589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B4DD703-EAC1-1720-8EBE-4DEE22A2D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27738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24A2558-D4D3-2DEB-775F-B3DB9ED0ADA5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981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0077-4945-D77D-EA18-9CED4020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68BE9E-7A90-1698-49B8-6C2D84EC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C58E57-1FF5-E75B-D5FA-E94A315E21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45E0781-869B-8144-1AB6-7231E1269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392562-76B5-B7E5-A8C7-74F07F6B13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AE7A1B-2986-E706-09E3-2219CFDA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E9FAEA2A-53FE-9168-00C0-321B67011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7820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5F7F75A-690F-5B49-743F-3FB5B169327A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219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CBA3C-E0A8-E79C-FEFD-2E9070BC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34F29-A02C-8618-4597-60E0C833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FD8D0F-55AA-997F-725C-ADF7171A293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7DF846D-0892-5BFC-2581-A687FB64E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26365B2-93D4-13A9-8DD0-D6BD3976BA2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E8F960F-87DD-2022-4D91-EE7D6999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D78F9306-8B84-2EE4-9247-2E83268D8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3274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6660CCC-E102-0CBD-82BA-096001525535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423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51A5-E874-2B7C-65B8-0EA37C52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F651F3-C416-E4E8-8092-BA38038E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386BE2-E54D-3AED-C69B-81B0FB371D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48C6363-8EF4-DBEB-6B3C-034C435B7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C2089C0-06D9-6382-467F-574C8349BF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F5CCD71-197D-8468-F912-0D7E6EE5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16D9271-2557-EA99-A493-5BBF029E4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4969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E22552A-5498-A397-576A-A524536716D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123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CCD1-B96B-6932-0E10-A469126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6A810B-8B8F-ED0A-2D43-2D92A9E3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2B55E5-48C3-1775-02A5-A1BD598997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E1DBCE3-D507-AE80-D7AB-49141E1DD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B36095D-4E16-2F5E-9DF0-BBAB46E50C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B9CAD59-3E56-65F1-6FEC-1DB6A62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" name="Conector recto 13">
            <a:extLst>
              <a:ext uri="{FF2B5EF4-FFF2-40B4-BE49-F238E27FC236}">
                <a16:creationId xmlns:a16="http://schemas.microsoft.com/office/drawing/2014/main" id="{A56C073E-6AC7-DAA4-9931-0065FBB9B119}"/>
              </a:ext>
            </a:extLst>
          </p:cNvPr>
          <p:cNvCxnSpPr>
            <a:cxnSpLocks/>
          </p:cNvCxnSpPr>
          <p:nvPr/>
        </p:nvCxnSpPr>
        <p:spPr>
          <a:xfrm flipV="1">
            <a:off x="9167439" y="4036296"/>
            <a:ext cx="875676" cy="1283003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errar llave 4">
            <a:extLst>
              <a:ext uri="{FF2B5EF4-FFF2-40B4-BE49-F238E27FC236}">
                <a16:creationId xmlns:a16="http://schemas.microsoft.com/office/drawing/2014/main" id="{D27603E1-54B3-A88D-E680-106D57399144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22">
            <a:extLst>
              <a:ext uri="{FF2B5EF4-FFF2-40B4-BE49-F238E27FC236}">
                <a16:creationId xmlns:a16="http://schemas.microsoft.com/office/drawing/2014/main" id="{835CCFCD-937C-EA17-58F5-BB704D00873B}"/>
              </a:ext>
            </a:extLst>
          </p:cNvPr>
          <p:cNvSpPr/>
          <p:nvPr/>
        </p:nvSpPr>
        <p:spPr>
          <a:xfrm>
            <a:off x="10357211" y="3283085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ángulo 24">
            <a:extLst>
              <a:ext uri="{FF2B5EF4-FFF2-40B4-BE49-F238E27FC236}">
                <a16:creationId xmlns:a16="http://schemas.microsoft.com/office/drawing/2014/main" id="{A2CA6B92-41EF-DDDA-095D-70B567CD4D70}"/>
              </a:ext>
            </a:extLst>
          </p:cNvPr>
          <p:cNvSpPr/>
          <p:nvPr/>
        </p:nvSpPr>
        <p:spPr>
          <a:xfrm>
            <a:off x="9865183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  <p:graphicFrame>
        <p:nvGraphicFramePr>
          <p:cNvPr id="11" name="Tabla 25">
            <a:extLst>
              <a:ext uri="{FF2B5EF4-FFF2-40B4-BE49-F238E27FC236}">
                <a16:creationId xmlns:a16="http://schemas.microsoft.com/office/drawing/2014/main" id="{5FDBEDEB-54CD-3C4E-F855-3390BCD51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637373"/>
              </p:ext>
            </p:extLst>
          </p:nvPr>
        </p:nvGraphicFramePr>
        <p:xfrm>
          <a:off x="671937" y="2901410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E440D3B3-415F-1E16-BD51-104DE6AF1F88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5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8E0C-210E-C9B0-5FEB-84139ADB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C5079E-D127-0DC1-8E1E-F0019D62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9630D2-7EE8-4B72-9413-DF0AC2F3AD4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24BA31B-151C-C0E4-3C16-7C8739189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DA718E-B201-6455-8943-CC33C679DBD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55AE72A-1E00-08D0-355B-A396F7E1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" name="Conector recto 21">
            <a:extLst>
              <a:ext uri="{FF2B5EF4-FFF2-40B4-BE49-F238E27FC236}">
                <a16:creationId xmlns:a16="http://schemas.microsoft.com/office/drawing/2014/main" id="{BA6E2796-A232-7839-9A67-3BD4DA3D0F2D}"/>
              </a:ext>
            </a:extLst>
          </p:cNvPr>
          <p:cNvCxnSpPr>
            <a:cxnSpLocks/>
            <a:stCxn id="7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errar llave 25">
            <a:extLst>
              <a:ext uri="{FF2B5EF4-FFF2-40B4-BE49-F238E27FC236}">
                <a16:creationId xmlns:a16="http://schemas.microsoft.com/office/drawing/2014/main" id="{0ECF03EA-7CCD-5EC5-D1C6-6DFFF047DC39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26">
            <a:extLst>
              <a:ext uri="{FF2B5EF4-FFF2-40B4-BE49-F238E27FC236}">
                <a16:creationId xmlns:a16="http://schemas.microsoft.com/office/drawing/2014/main" id="{98312F8C-7ED7-2D05-08DF-0CD7591C0880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Rectángulo 27">
            <a:extLst>
              <a:ext uri="{FF2B5EF4-FFF2-40B4-BE49-F238E27FC236}">
                <a16:creationId xmlns:a16="http://schemas.microsoft.com/office/drawing/2014/main" id="{AE2EC6C4-B8D3-A11E-2409-835E0B9C192C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  <p:graphicFrame>
        <p:nvGraphicFramePr>
          <p:cNvPr id="11" name="Tabla 22">
            <a:extLst>
              <a:ext uri="{FF2B5EF4-FFF2-40B4-BE49-F238E27FC236}">
                <a16:creationId xmlns:a16="http://schemas.microsoft.com/office/drawing/2014/main" id="{A1C4856F-B818-E92D-DC46-37B63F869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3182"/>
              </p:ext>
            </p:extLst>
          </p:nvPr>
        </p:nvGraphicFramePr>
        <p:xfrm>
          <a:off x="671937" y="2901410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E94C66E6-1A7A-8E0E-0CED-8490C2557282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3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136-EB0E-68B4-FB20-46309DA7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D2000-836F-CBE0-2F37-A55A2A6D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5B9763-7703-E181-56BB-74A0DECB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74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DE80D8F-E8F2-DB64-854D-F175C48DC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383CE6D1-2697-350C-D9C1-70D3B096FFC1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E208C33-6F75-7FDA-5591-0B869207DCF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2CB9C945-D0B3-38EC-60BE-2926A3E1D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F7CE28E-8D87-172B-9311-9D1A03E75F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70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1041-E071-74EB-492F-0EC6F6B2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8EB23-B5F8-64C7-C2D2-6660D37D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3B1B-94C9-602E-8523-A1BE88BF6A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4E02685-D710-E716-2A59-920AB5A4B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B5B4A0-89E9-5748-5C4A-C9B71F10713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C630D7D-3026-F196-88DB-061E2141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7FFA2-704F-CA7E-224C-956CA49B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17" y="1948373"/>
            <a:ext cx="8283144" cy="47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resumen:</a:t>
            </a:r>
          </a:p>
        </p:txBody>
      </p:sp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B84E90CB-FAA1-9086-4607-E3CA8861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8475"/>
              </p:ext>
            </p:extLst>
          </p:nvPr>
        </p:nvGraphicFramePr>
        <p:xfrm>
          <a:off x="1222623" y="2633863"/>
          <a:ext cx="4438983" cy="150478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4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2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effectLst/>
                          <a:latin typeface="Century Gothic" panose="020B0502020202020204" pitchFamily="34" charset="0"/>
                        </a:rPr>
                        <a:t>Tipo Amortización</a:t>
                      </a:r>
                      <a:endParaRPr lang="es-CO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endParaRPr lang="es-CO" sz="1400" b="1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Kd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*(1-</a:t>
                      </a:r>
                      <a:r>
                        <a:rPr lang="el-GR" sz="1400" dirty="0">
                          <a:solidFill>
                            <a:schemeClr val="bg1"/>
                          </a:solidFill>
                        </a:rPr>
                        <a:t>τ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Constante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 Constante</a:t>
                      </a:r>
                      <a:endParaRPr lang="es-CO" sz="1400" b="0" i="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Tipo </a:t>
                      </a:r>
                      <a:r>
                        <a:rPr lang="es-CO" sz="14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Bullet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ángulo 5">
            <a:extLst>
              <a:ext uri="{FF2B5EF4-FFF2-40B4-BE49-F238E27FC236}">
                <a16:creationId xmlns:a16="http://schemas.microsoft.com/office/drawing/2014/main" id="{25E3CA6B-942C-5FCB-2234-62013803A05B}"/>
              </a:ext>
            </a:extLst>
          </p:cNvPr>
          <p:cNvSpPr/>
          <p:nvPr/>
        </p:nvSpPr>
        <p:spPr>
          <a:xfrm>
            <a:off x="6073978" y="2574865"/>
            <a:ext cx="54101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no existen costos de transacción, reciprocidades ni algún tipo de distorsión, el costo efectivo de la deuda antes de impuestos será igual a la tasa de interés de la deuda.</a:t>
            </a:r>
          </a:p>
        </p:txBody>
      </p:sp>
      <p:sp>
        <p:nvSpPr>
          <p:cNvPr id="9" name="Rectángulo 6">
            <a:extLst>
              <a:ext uri="{FF2B5EF4-FFF2-40B4-BE49-F238E27FC236}">
                <a16:creationId xmlns:a16="http://schemas.microsoft.com/office/drawing/2014/main" id="{A9B16567-392F-4B2C-4C49-7A292A0C1C30}"/>
              </a:ext>
            </a:extLst>
          </p:cNvPr>
          <p:cNvSpPr/>
          <p:nvPr/>
        </p:nvSpPr>
        <p:spPr>
          <a:xfrm>
            <a:off x="1161488" y="4311560"/>
            <a:ext cx="10322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no existen costos de transacción, reciprocidades ni algún tipo de distorsión, el mecanismo de amortización no afecta el costo efectivo de la deuda antes y después de impuestos.</a:t>
            </a:r>
          </a:p>
        </p:txBody>
      </p:sp>
      <p:sp>
        <p:nvSpPr>
          <p:cNvPr id="11" name="Rectángulo 7">
            <a:extLst>
              <a:ext uri="{FF2B5EF4-FFF2-40B4-BE49-F238E27FC236}">
                <a16:creationId xmlns:a16="http://schemas.microsoft.com/office/drawing/2014/main" id="{8787EF53-AFFC-4F62-9F1E-D532259E350C}"/>
              </a:ext>
            </a:extLst>
          </p:cNvPr>
          <p:cNvSpPr/>
          <p:nvPr/>
        </p:nvSpPr>
        <p:spPr>
          <a:xfrm>
            <a:off x="1161488" y="5563841"/>
            <a:ext cx="6633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Esto nos lleva a una forma “corta” de obtener 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el </a:t>
            </a:r>
            <a:r>
              <a:rPr lang="es-ES" dirty="0" err="1">
                <a:solidFill>
                  <a:srgbClr val="61867B"/>
                </a:solidFill>
                <a:latin typeface="Century Gothic" panose="020B0502020202020204" pitchFamily="34" charset="0"/>
              </a:rPr>
              <a:t>Kd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1867B"/>
                </a:solidFill>
              </a:rPr>
              <a:t>τ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2833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2EA2-8B8F-16F2-EDCF-E70DA2CF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0F0FD-B215-17CA-E992-562CEB81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089600-B2E8-6C41-CBDF-78034F4CB3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537AF8F-BD51-2E02-718C-C94910B3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A0C8C09-DA93-23AF-E5C2-449E36C6EAD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98243C-47AD-EE91-B983-2C4F070D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B17CB38-4B71-7579-8E66-E01A32005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706" y="4074748"/>
            <a:ext cx="9453362" cy="1979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Condiciones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No existe ningún costo de transacción ni reciprocidades.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de interés es efectiva o vencida.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temporalidad de la tasa de interés es anual.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30AEE-4586-3003-88D5-C77AEE5ED95A}"/>
                  </a:ext>
                </a:extLst>
              </p:cNvPr>
              <p:cNvSpPr txBox="1"/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30AEE-4586-3003-88D5-C77AEE5ED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E1C3F0-C9DF-D61C-D13E-A57A40FF0435}"/>
                  </a:ext>
                </a:extLst>
              </p:cNvPr>
              <p:cNvSpPr txBox="1"/>
              <p:nvPr/>
            </p:nvSpPr>
            <p:spPr>
              <a:xfrm>
                <a:off x="1719449" y="3152001"/>
                <a:ext cx="893860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=16%∗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1−33%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=10,72%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E1C3F0-C9DF-D61C-D13E-A57A40FF0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449" y="3152001"/>
                <a:ext cx="893860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59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89B3-BDDD-15A2-C978-A43E4941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10B03-70FC-FE0E-B3F9-3DA9AC7B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820A0D-2E76-61EF-6329-278F9012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77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604FB15-6ED3-D281-7D34-5BDC181C7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EA36E84D-0831-68A3-E3B0-E0276307A6E7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374E6F-7077-D0F3-4881-504CC7F42C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B3193E3C-CF95-CC69-C6DD-57449BD8B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BCD27E2-D5F3-4A67-FB44-43AC1AF9913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5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2993-F785-4D23-9C3B-BAC34127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479D5-9E01-820C-2208-8B1C1B35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14C296-9699-E071-01FC-3CABF7C187B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3E8D8B4-F3EE-3694-3F9B-94C6A7A64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E6A5CD4-957B-032C-C42C-034426C76A4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0A1DF41-E717-4AD3-2CB8-14CABC68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0C0F810-AE75-1975-20C8-7D2789F8C617}"/>
              </a:ext>
            </a:extLst>
          </p:cNvPr>
          <p:cNvSpPr txBox="1">
            <a:spLocks/>
          </p:cNvSpPr>
          <p:nvPr/>
        </p:nvSpPr>
        <p:spPr>
          <a:xfrm>
            <a:off x="1369319" y="1989939"/>
            <a:ext cx="9453362" cy="36047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¿Qué pasa si existen distorsiones?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Comisiones: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Asociadas a los costos de transacción de un crédito que son descontados, normalmente en el momento del desembolso.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Periodos de Gracia: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Son periodos en los cuales no se hacen abonos ya sea de capital a la deuda o del pago de intereses.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Interés Anticipado: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de interés utilizada es anticipada.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Seguros: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una póliza con la cual a través del cobro de una prima se cubren posibles riesgos en la deuda.</a:t>
            </a:r>
          </a:p>
        </p:txBody>
      </p:sp>
    </p:spTree>
    <p:extLst>
      <p:ext uri="{BB962C8B-B14F-4D97-AF65-F5344CB8AC3E}">
        <p14:creationId xmlns:p14="http://schemas.microsoft.com/office/powerpoint/2010/main" val="16512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4188-14EB-2454-9A1C-4C71D00B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618E03-C459-5928-534F-E7664B8D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85596C-5401-8BC6-991E-69E88BF9D69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8D30410-7C4A-E445-BFDA-AEB781B93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D6B7283-93BF-2B06-23D4-D7440DECB38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312AD44-84FA-0B26-1885-2D51EC2B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EE4CD74-8BC2-D2FB-2345-CBFAA70AC653}"/>
              </a:ext>
            </a:extLst>
          </p:cNvPr>
          <p:cNvSpPr txBox="1">
            <a:spLocks/>
          </p:cNvSpPr>
          <p:nvPr/>
        </p:nvSpPr>
        <p:spPr>
          <a:xfrm>
            <a:off x="1369319" y="1989939"/>
            <a:ext cx="9453362" cy="4072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¿Qué pasa si existen distorsiones?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s-ES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Anual: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impuesto se paga de manera anual, pero muchas deudas se pagar en periodos distintos.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Reciprocidades: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considerado como un costo de oportunidad, el cual está asociado a la condición de mantener por un periodo de tiempo fijo una cantidad de dinero sin que la entidad financiera reconozca intereses a la persona que recibirá el crédito.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una condición de la entidad financiera para aprobar el préstamo.                                             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costo no genera ahorro tributario, dado que no es un gasto que se pueda generar contablemente</a:t>
            </a:r>
            <a:r>
              <a:rPr lang="es-ES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72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7B13-9431-9115-1BEE-D4CAF197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65981E-97B3-983C-5EB0-502BA1C3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9CD55A-74C4-0639-092A-B658F51C09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F3489A0-AD72-1956-45FD-23AA61FAA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59271BE-132F-21B5-F4BD-46A5D00BE87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BEF9BA-D843-AFBE-A19D-588A5EA1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B5EBC9-457D-7D39-3030-1969716C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NA/TV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 del 5% del monto solicitado en el momento del desembolso.</a:t>
            </a:r>
          </a:p>
        </p:txBody>
      </p:sp>
    </p:spTree>
    <p:extLst>
      <p:ext uri="{BB962C8B-B14F-4D97-AF65-F5344CB8AC3E}">
        <p14:creationId xmlns:p14="http://schemas.microsoft.com/office/powerpoint/2010/main" val="17696305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D225-E0A2-2DBE-AA38-A990645D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969A2-E476-F780-EE38-275275DFF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BC32D1-3D54-EF9C-087C-B610A157074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75FBC43E-1D96-09D8-39AC-A199EA8DB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00F9B80-19B6-D6C9-5DFA-8EB78A03C71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DCD11877-DA30-BB7C-392C-3C2450753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DCEE70-CD5A-987E-A40C-AFA1ADD4D001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1349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3884</TotalTime>
  <Words>6274</Words>
  <Application>Microsoft Macintosh PowerPoint</Application>
  <PresentationFormat>Widescreen</PresentationFormat>
  <Paragraphs>2585</Paragraphs>
  <Slides>81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Calibri</vt:lpstr>
      <vt:lpstr>Cambria Math</vt:lpstr>
      <vt:lpstr>Century Gothic</vt:lpstr>
      <vt:lpstr>Gill Sans MT</vt:lpstr>
      <vt:lpstr>Wingdings 2</vt:lpstr>
      <vt:lpstr>Dividendo</vt:lpstr>
      <vt:lpstr>Costo de la deuda (parte i)</vt:lpstr>
      <vt:lpstr>AGENDA PROPUESTA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EXCEL REPASO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 DESPUÉS DE IMPUESTOS</vt:lpstr>
      <vt:lpstr>Costo de la deuda DESPUÉS DE IMPUESTOS</vt:lpstr>
      <vt:lpstr>AGENDA PROPUESTA</vt:lpstr>
      <vt:lpstr>Costo de la deuda</vt:lpstr>
      <vt:lpstr>Costo de la deuda</vt:lpstr>
      <vt:lpstr>Costo de la deuda</vt:lpstr>
      <vt:lpstr>Costo de la deuda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144</cp:revision>
  <dcterms:created xsi:type="dcterms:W3CDTF">2019-06-20T04:25:04Z</dcterms:created>
  <dcterms:modified xsi:type="dcterms:W3CDTF">2026-10-15T16:39:43Z</dcterms:modified>
</cp:coreProperties>
</file>