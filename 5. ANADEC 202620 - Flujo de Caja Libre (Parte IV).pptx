
<file path=[Content_Types].xml><?xml version="1.0" encoding="utf-8"?>
<Types xmlns="http://schemas.openxmlformats.org/package/2006/content-types">
  <Default Extension="emf" ContentType="image/x-emf"/>
  <Default Extension="gif" ContentType="image/gi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autoCompressPictures="0">
  <p:sldMasterIdLst>
    <p:sldMasterId id="2147483732" r:id="rId1"/>
  </p:sldMasterIdLst>
  <p:notesMasterIdLst>
    <p:notesMasterId r:id="rId34"/>
  </p:notesMasterIdLst>
  <p:handoutMasterIdLst>
    <p:handoutMasterId r:id="rId35"/>
  </p:handoutMasterIdLst>
  <p:sldIdLst>
    <p:sldId id="625" r:id="rId2"/>
    <p:sldId id="626" r:id="rId3"/>
    <p:sldId id="628" r:id="rId4"/>
    <p:sldId id="629" r:id="rId5"/>
    <p:sldId id="630" r:id="rId6"/>
    <p:sldId id="631" r:id="rId7"/>
    <p:sldId id="632" r:id="rId8"/>
    <p:sldId id="398" r:id="rId9"/>
    <p:sldId id="354" r:id="rId10"/>
    <p:sldId id="600" r:id="rId11"/>
    <p:sldId id="418" r:id="rId12"/>
    <p:sldId id="266" r:id="rId13"/>
    <p:sldId id="370" r:id="rId14"/>
    <p:sldId id="268" r:id="rId15"/>
    <p:sldId id="269" r:id="rId16"/>
    <p:sldId id="425" r:id="rId17"/>
    <p:sldId id="580" r:id="rId18"/>
    <p:sldId id="601" r:id="rId19"/>
    <p:sldId id="581" r:id="rId20"/>
    <p:sldId id="491" r:id="rId21"/>
    <p:sldId id="562" r:id="rId22"/>
    <p:sldId id="603" r:id="rId23"/>
    <p:sldId id="404" r:id="rId24"/>
    <p:sldId id="488" r:id="rId25"/>
    <p:sldId id="604" r:id="rId26"/>
    <p:sldId id="405" r:id="rId27"/>
    <p:sldId id="489" r:id="rId28"/>
    <p:sldId id="605" r:id="rId29"/>
    <p:sldId id="594" r:id="rId30"/>
    <p:sldId id="595" r:id="rId31"/>
    <p:sldId id="606" r:id="rId32"/>
    <p:sldId id="403" r:id="rId3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Sebastian Joseph Sanchez Oyola" initials="SJSO" lastIdx="1" clrIdx="0">
    <p:extLst>
      <p:ext uri="{19B8F6BF-5375-455C-9EA6-DF929625EA0E}">
        <p15:presenceInfo xmlns:p15="http://schemas.microsoft.com/office/powerpoint/2012/main" userId="Sebastian Joseph Sanchez Oyola"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7A700"/>
    <a:srgbClr val="FFF4E6"/>
    <a:srgbClr val="002F90"/>
    <a:srgbClr val="E8F8FA"/>
    <a:srgbClr val="DFFFFF"/>
    <a:srgbClr val="FF6600"/>
    <a:srgbClr val="33CC33"/>
    <a:srgbClr val="6666FF"/>
    <a:srgbClr val="FF5050"/>
    <a:srgbClr val="FFFF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1400E55-7B9E-B94C-A959-3F7C2B94FE37}" v="1" dt="2026-09-17T18:34:35.271"/>
  </p1510:revLst>
</p1510:revInfo>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CAF9ED-07DC-4A11-8D7F-57B35C25682E}" styleName="Estilo medio 1 - Énfasis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72833802-FEF1-4C79-8D5D-14CF1EAF98D9}" styleName="Estilo claro 2 - Acento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0660B408-B3CF-4A94-85FC-2B1E0A45F4A2}" styleName="Estilo oscuro 2 - Énfasis 1/Énfasis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 styleId="{5DA37D80-6434-44D0-A028-1B22A696006F}" styleName="Estilo claro 3 - Acento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21E4AEA4-8DFA-4A89-87EB-49C32662AFE0}" styleName="Estilo medio 2 - Énfasis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3003"/>
    <p:restoredTop sz="94645"/>
  </p:normalViewPr>
  <p:slideViewPr>
    <p:cSldViewPr snapToGrid="0">
      <p:cViewPr varScale="1">
        <p:scale>
          <a:sx n="169" d="100"/>
          <a:sy n="169" d="100"/>
        </p:scale>
        <p:origin x="216" y="25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notesMaster" Target="notesMasters/notesMaster1.xml"/><Relationship Id="rId42" Type="http://schemas.microsoft.com/office/2015/10/relationships/revisionInfo" Target="revisionInfo.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commentAuthors" Target="commentAuthor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handoutMaster" Target="handoutMasters/handoutMaster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rigitte Castañeda Rodriguez" userId="5c201908-82f6-498c-9281-7eaa96fb17b4" providerId="ADAL" clId="{938F7A95-1314-5A0F-843E-287C4A35EE59}"/>
    <pc:docChg chg="addSld delSld modSld sldOrd">
      <pc:chgData name="Brigitte Castañeda Rodriguez" userId="5c201908-82f6-498c-9281-7eaa96fb17b4" providerId="ADAL" clId="{938F7A95-1314-5A0F-843E-287C4A35EE59}" dt="2026-09-17T18:34:36.969" v="3" actId="2696"/>
      <pc:docMkLst>
        <pc:docMk/>
      </pc:docMkLst>
      <pc:sldChg chg="new del ord">
        <pc:chgData name="Brigitte Castañeda Rodriguez" userId="5c201908-82f6-498c-9281-7eaa96fb17b4" providerId="ADAL" clId="{938F7A95-1314-5A0F-843E-287C4A35EE59}" dt="2026-09-17T18:34:36.969" v="3" actId="2696"/>
        <pc:sldMkLst>
          <pc:docMk/>
          <pc:sldMk cId="2648030132" sldId="607"/>
        </pc:sldMkLst>
      </pc:sldChg>
      <pc:sldChg chg="add">
        <pc:chgData name="Brigitte Castañeda Rodriguez" userId="5c201908-82f6-498c-9281-7eaa96fb17b4" providerId="ADAL" clId="{938F7A95-1314-5A0F-843E-287C4A35EE59}" dt="2026-09-17T18:34:35.270" v="2"/>
        <pc:sldMkLst>
          <pc:docMk/>
          <pc:sldMk cId="622736776" sldId="625"/>
        </pc:sldMkLst>
      </pc:sldChg>
      <pc:sldChg chg="add">
        <pc:chgData name="Brigitte Castañeda Rodriguez" userId="5c201908-82f6-498c-9281-7eaa96fb17b4" providerId="ADAL" clId="{938F7A95-1314-5A0F-843E-287C4A35EE59}" dt="2026-09-17T18:34:35.270" v="2"/>
        <pc:sldMkLst>
          <pc:docMk/>
          <pc:sldMk cId="1045780823" sldId="626"/>
        </pc:sldMkLst>
      </pc:sldChg>
      <pc:sldChg chg="add">
        <pc:chgData name="Brigitte Castañeda Rodriguez" userId="5c201908-82f6-498c-9281-7eaa96fb17b4" providerId="ADAL" clId="{938F7A95-1314-5A0F-843E-287C4A35EE59}" dt="2026-09-17T18:34:35.270" v="2"/>
        <pc:sldMkLst>
          <pc:docMk/>
          <pc:sldMk cId="43353368" sldId="628"/>
        </pc:sldMkLst>
      </pc:sldChg>
      <pc:sldChg chg="add">
        <pc:chgData name="Brigitte Castañeda Rodriguez" userId="5c201908-82f6-498c-9281-7eaa96fb17b4" providerId="ADAL" clId="{938F7A95-1314-5A0F-843E-287C4A35EE59}" dt="2026-09-17T18:34:35.270" v="2"/>
        <pc:sldMkLst>
          <pc:docMk/>
          <pc:sldMk cId="617748370" sldId="629"/>
        </pc:sldMkLst>
      </pc:sldChg>
      <pc:sldChg chg="add">
        <pc:chgData name="Brigitte Castañeda Rodriguez" userId="5c201908-82f6-498c-9281-7eaa96fb17b4" providerId="ADAL" clId="{938F7A95-1314-5A0F-843E-287C4A35EE59}" dt="2026-09-17T18:34:35.270" v="2"/>
        <pc:sldMkLst>
          <pc:docMk/>
          <pc:sldMk cId="2432819037" sldId="630"/>
        </pc:sldMkLst>
      </pc:sldChg>
      <pc:sldChg chg="add">
        <pc:chgData name="Brigitte Castañeda Rodriguez" userId="5c201908-82f6-498c-9281-7eaa96fb17b4" providerId="ADAL" clId="{938F7A95-1314-5A0F-843E-287C4A35EE59}" dt="2026-09-17T18:34:35.270" v="2"/>
        <pc:sldMkLst>
          <pc:docMk/>
          <pc:sldMk cId="431984945" sldId="631"/>
        </pc:sldMkLst>
      </pc:sldChg>
      <pc:sldChg chg="add">
        <pc:chgData name="Brigitte Castañeda Rodriguez" userId="5c201908-82f6-498c-9281-7eaa96fb17b4" providerId="ADAL" clId="{938F7A95-1314-5A0F-843E-287C4A35EE59}" dt="2026-09-17T18:34:35.270" v="2"/>
        <pc:sldMkLst>
          <pc:docMk/>
          <pc:sldMk cId="1042118697" sldId="632"/>
        </pc:sldMkLst>
      </pc:sldChg>
    </pc:docChg>
  </pc:docChgLst>
  <pc:docChgLst>
    <pc:chgData name="Ricardo Andres Lloreda Palacios" userId="S::ra.lloreda10@uniandes.edu.co::e9f4a50f-533c-45a2-a29f-40107f9c58a3" providerId="AD" clId="Web-{F65963C3-628B-E5F8-32B2-9ABAEDB0A16F}"/>
    <pc:docChg chg="modSld">
      <pc:chgData name="Ricardo Andres Lloreda Palacios" userId="S::ra.lloreda10@uniandes.edu.co::e9f4a50f-533c-45a2-a29f-40107f9c58a3" providerId="AD" clId="Web-{F65963C3-628B-E5F8-32B2-9ABAEDB0A16F}" dt="2026-08-23T17:07:47.628" v="48" actId="1076"/>
      <pc:docMkLst>
        <pc:docMk/>
      </pc:docMkLst>
      <pc:sldChg chg="modSp">
        <pc:chgData name="Ricardo Andres Lloreda Palacios" userId="S::ra.lloreda10@uniandes.edu.co::e9f4a50f-533c-45a2-a29f-40107f9c58a3" providerId="AD" clId="Web-{F65963C3-628B-E5F8-32B2-9ABAEDB0A16F}" dt="2026-08-23T17:01:23.785" v="14" actId="20577"/>
        <pc:sldMkLst>
          <pc:docMk/>
          <pc:sldMk cId="2702106260" sldId="268"/>
        </pc:sldMkLst>
        <pc:spChg chg="mod">
          <ac:chgData name="Ricardo Andres Lloreda Palacios" userId="S::ra.lloreda10@uniandes.edu.co::e9f4a50f-533c-45a2-a29f-40107f9c58a3" providerId="AD" clId="Web-{F65963C3-628B-E5F8-32B2-9ABAEDB0A16F}" dt="2026-08-23T17:01:23.785" v="14" actId="20577"/>
          <ac:spMkLst>
            <pc:docMk/>
            <pc:sldMk cId="2702106260" sldId="268"/>
            <ac:spMk id="3" creationId="{00000000-0000-0000-0000-000000000000}"/>
          </ac:spMkLst>
        </pc:spChg>
      </pc:sldChg>
      <pc:sldChg chg="modSp">
        <pc:chgData name="Ricardo Andres Lloreda Palacios" userId="S::ra.lloreda10@uniandes.edu.co::e9f4a50f-533c-45a2-a29f-40107f9c58a3" providerId="AD" clId="Web-{F65963C3-628B-E5F8-32B2-9ABAEDB0A16F}" dt="2026-08-23T17:01:52.302" v="31" actId="1076"/>
        <pc:sldMkLst>
          <pc:docMk/>
          <pc:sldMk cId="943378874" sldId="269"/>
        </pc:sldMkLst>
        <pc:spChg chg="mod">
          <ac:chgData name="Ricardo Andres Lloreda Palacios" userId="S::ra.lloreda10@uniandes.edu.co::e9f4a50f-533c-45a2-a29f-40107f9c58a3" providerId="AD" clId="Web-{F65963C3-628B-E5F8-32B2-9ABAEDB0A16F}" dt="2026-08-23T17:01:52.224" v="21" actId="1076"/>
          <ac:spMkLst>
            <pc:docMk/>
            <pc:sldMk cId="943378874" sldId="269"/>
            <ac:spMk id="13" creationId="{00000000-0000-0000-0000-000000000000}"/>
          </ac:spMkLst>
        </pc:spChg>
        <pc:spChg chg="mod">
          <ac:chgData name="Ricardo Andres Lloreda Palacios" userId="S::ra.lloreda10@uniandes.edu.co::e9f4a50f-533c-45a2-a29f-40107f9c58a3" providerId="AD" clId="Web-{F65963C3-628B-E5F8-32B2-9ABAEDB0A16F}" dt="2026-08-23T17:01:52.239" v="22" actId="1076"/>
          <ac:spMkLst>
            <pc:docMk/>
            <pc:sldMk cId="943378874" sldId="269"/>
            <ac:spMk id="14" creationId="{00000000-0000-0000-0000-000000000000}"/>
          </ac:spMkLst>
        </pc:spChg>
        <pc:spChg chg="mod">
          <ac:chgData name="Ricardo Andres Lloreda Palacios" userId="S::ra.lloreda10@uniandes.edu.co::e9f4a50f-533c-45a2-a29f-40107f9c58a3" providerId="AD" clId="Web-{F65963C3-628B-E5F8-32B2-9ABAEDB0A16F}" dt="2026-08-23T17:01:52.255" v="26" actId="1076"/>
          <ac:spMkLst>
            <pc:docMk/>
            <pc:sldMk cId="943378874" sldId="269"/>
            <ac:spMk id="18" creationId="{00000000-0000-0000-0000-000000000000}"/>
          </ac:spMkLst>
        </pc:spChg>
        <pc:spChg chg="mod">
          <ac:chgData name="Ricardo Andres Lloreda Palacios" userId="S::ra.lloreda10@uniandes.edu.co::e9f4a50f-533c-45a2-a29f-40107f9c58a3" providerId="AD" clId="Web-{F65963C3-628B-E5F8-32B2-9ABAEDB0A16F}" dt="2026-08-23T17:01:52.286" v="29" actId="1076"/>
          <ac:spMkLst>
            <pc:docMk/>
            <pc:sldMk cId="943378874" sldId="269"/>
            <ac:spMk id="23" creationId="{842A065C-5733-F921-763E-7EBC2A859C72}"/>
          </ac:spMkLst>
        </pc:spChg>
        <pc:spChg chg="mod">
          <ac:chgData name="Ricardo Andres Lloreda Palacios" userId="S::ra.lloreda10@uniandes.edu.co::e9f4a50f-533c-45a2-a29f-40107f9c58a3" providerId="AD" clId="Web-{F65963C3-628B-E5F8-32B2-9ABAEDB0A16F}" dt="2026-08-23T17:01:52.286" v="30" actId="1076"/>
          <ac:spMkLst>
            <pc:docMk/>
            <pc:sldMk cId="943378874" sldId="269"/>
            <ac:spMk id="25" creationId="{D680CE2C-ACA8-82B4-F866-F380219FACBC}"/>
          </ac:spMkLst>
        </pc:spChg>
        <pc:spChg chg="mod">
          <ac:chgData name="Ricardo Andres Lloreda Palacios" userId="S::ra.lloreda10@uniandes.edu.co::e9f4a50f-533c-45a2-a29f-40107f9c58a3" providerId="AD" clId="Web-{F65963C3-628B-E5F8-32B2-9ABAEDB0A16F}" dt="2026-08-23T17:01:52.302" v="31" actId="1076"/>
          <ac:spMkLst>
            <pc:docMk/>
            <pc:sldMk cId="943378874" sldId="269"/>
            <ac:spMk id="26" creationId="{D384E3FB-279B-649F-A881-7DAE6C9009AA}"/>
          </ac:spMkLst>
        </pc:spChg>
        <pc:cxnChg chg="mod">
          <ac:chgData name="Ricardo Andres Lloreda Palacios" userId="S::ra.lloreda10@uniandes.edu.co::e9f4a50f-533c-45a2-a29f-40107f9c58a3" providerId="AD" clId="Web-{F65963C3-628B-E5F8-32B2-9ABAEDB0A16F}" dt="2026-08-23T17:01:52.177" v="15" actId="1076"/>
          <ac:cxnSpMkLst>
            <pc:docMk/>
            <pc:sldMk cId="943378874" sldId="269"/>
            <ac:cxnSpMk id="7" creationId="{00000000-0000-0000-0000-000000000000}"/>
          </ac:cxnSpMkLst>
        </pc:cxnChg>
        <pc:cxnChg chg="mod">
          <ac:chgData name="Ricardo Andres Lloreda Palacios" userId="S::ra.lloreda10@uniandes.edu.co::e9f4a50f-533c-45a2-a29f-40107f9c58a3" providerId="AD" clId="Web-{F65963C3-628B-E5F8-32B2-9ABAEDB0A16F}" dt="2026-08-23T17:01:52.192" v="16" actId="1076"/>
          <ac:cxnSpMkLst>
            <pc:docMk/>
            <pc:sldMk cId="943378874" sldId="269"/>
            <ac:cxnSpMk id="8" creationId="{00000000-0000-0000-0000-000000000000}"/>
          </ac:cxnSpMkLst>
        </pc:cxnChg>
        <pc:cxnChg chg="mod">
          <ac:chgData name="Ricardo Andres Lloreda Palacios" userId="S::ra.lloreda10@uniandes.edu.co::e9f4a50f-533c-45a2-a29f-40107f9c58a3" providerId="AD" clId="Web-{F65963C3-628B-E5F8-32B2-9ABAEDB0A16F}" dt="2026-08-23T17:01:52.192" v="17" actId="1076"/>
          <ac:cxnSpMkLst>
            <pc:docMk/>
            <pc:sldMk cId="943378874" sldId="269"/>
            <ac:cxnSpMk id="9" creationId="{00000000-0000-0000-0000-000000000000}"/>
          </ac:cxnSpMkLst>
        </pc:cxnChg>
        <pc:cxnChg chg="mod">
          <ac:chgData name="Ricardo Andres Lloreda Palacios" userId="S::ra.lloreda10@uniandes.edu.co::e9f4a50f-533c-45a2-a29f-40107f9c58a3" providerId="AD" clId="Web-{F65963C3-628B-E5F8-32B2-9ABAEDB0A16F}" dt="2026-08-23T17:01:52.208" v="18" actId="1076"/>
          <ac:cxnSpMkLst>
            <pc:docMk/>
            <pc:sldMk cId="943378874" sldId="269"/>
            <ac:cxnSpMk id="10" creationId="{00000000-0000-0000-0000-000000000000}"/>
          </ac:cxnSpMkLst>
        </pc:cxnChg>
        <pc:cxnChg chg="mod">
          <ac:chgData name="Ricardo Andres Lloreda Palacios" userId="S::ra.lloreda10@uniandes.edu.co::e9f4a50f-533c-45a2-a29f-40107f9c58a3" providerId="AD" clId="Web-{F65963C3-628B-E5F8-32B2-9ABAEDB0A16F}" dt="2026-08-23T17:01:52.208" v="19" actId="1076"/>
          <ac:cxnSpMkLst>
            <pc:docMk/>
            <pc:sldMk cId="943378874" sldId="269"/>
            <ac:cxnSpMk id="11" creationId="{00000000-0000-0000-0000-000000000000}"/>
          </ac:cxnSpMkLst>
        </pc:cxnChg>
        <pc:cxnChg chg="mod">
          <ac:chgData name="Ricardo Andres Lloreda Palacios" userId="S::ra.lloreda10@uniandes.edu.co::e9f4a50f-533c-45a2-a29f-40107f9c58a3" providerId="AD" clId="Web-{F65963C3-628B-E5F8-32B2-9ABAEDB0A16F}" dt="2026-08-23T17:01:52.224" v="20" actId="1076"/>
          <ac:cxnSpMkLst>
            <pc:docMk/>
            <pc:sldMk cId="943378874" sldId="269"/>
            <ac:cxnSpMk id="12" creationId="{00000000-0000-0000-0000-000000000000}"/>
          </ac:cxnSpMkLst>
        </pc:cxnChg>
        <pc:cxnChg chg="mod">
          <ac:chgData name="Ricardo Andres Lloreda Palacios" userId="S::ra.lloreda10@uniandes.edu.co::e9f4a50f-533c-45a2-a29f-40107f9c58a3" providerId="AD" clId="Web-{F65963C3-628B-E5F8-32B2-9ABAEDB0A16F}" dt="2026-08-23T17:01:52.239" v="23" actId="1076"/>
          <ac:cxnSpMkLst>
            <pc:docMk/>
            <pc:sldMk cId="943378874" sldId="269"/>
            <ac:cxnSpMk id="15" creationId="{00000000-0000-0000-0000-000000000000}"/>
          </ac:cxnSpMkLst>
        </pc:cxnChg>
        <pc:cxnChg chg="mod">
          <ac:chgData name="Ricardo Andres Lloreda Palacios" userId="S::ra.lloreda10@uniandes.edu.co::e9f4a50f-533c-45a2-a29f-40107f9c58a3" providerId="AD" clId="Web-{F65963C3-628B-E5F8-32B2-9ABAEDB0A16F}" dt="2026-08-23T17:01:52.255" v="24" actId="1076"/>
          <ac:cxnSpMkLst>
            <pc:docMk/>
            <pc:sldMk cId="943378874" sldId="269"/>
            <ac:cxnSpMk id="16" creationId="{00000000-0000-0000-0000-000000000000}"/>
          </ac:cxnSpMkLst>
        </pc:cxnChg>
        <pc:cxnChg chg="mod">
          <ac:chgData name="Ricardo Andres Lloreda Palacios" userId="S::ra.lloreda10@uniandes.edu.co::e9f4a50f-533c-45a2-a29f-40107f9c58a3" providerId="AD" clId="Web-{F65963C3-628B-E5F8-32B2-9ABAEDB0A16F}" dt="2026-08-23T17:01:52.255" v="25" actId="1076"/>
          <ac:cxnSpMkLst>
            <pc:docMk/>
            <pc:sldMk cId="943378874" sldId="269"/>
            <ac:cxnSpMk id="17" creationId="{00000000-0000-0000-0000-000000000000}"/>
          </ac:cxnSpMkLst>
        </pc:cxnChg>
        <pc:cxnChg chg="mod">
          <ac:chgData name="Ricardo Andres Lloreda Palacios" userId="S::ra.lloreda10@uniandes.edu.co::e9f4a50f-533c-45a2-a29f-40107f9c58a3" providerId="AD" clId="Web-{F65963C3-628B-E5F8-32B2-9ABAEDB0A16F}" dt="2026-08-23T17:01:52.270" v="27" actId="1076"/>
          <ac:cxnSpMkLst>
            <pc:docMk/>
            <pc:sldMk cId="943378874" sldId="269"/>
            <ac:cxnSpMk id="19" creationId="{00000000-0000-0000-0000-000000000000}"/>
          </ac:cxnSpMkLst>
        </pc:cxnChg>
        <pc:cxnChg chg="mod">
          <ac:chgData name="Ricardo Andres Lloreda Palacios" userId="S::ra.lloreda10@uniandes.edu.co::e9f4a50f-533c-45a2-a29f-40107f9c58a3" providerId="AD" clId="Web-{F65963C3-628B-E5F8-32B2-9ABAEDB0A16F}" dt="2026-08-23T17:01:52.270" v="28" actId="1076"/>
          <ac:cxnSpMkLst>
            <pc:docMk/>
            <pc:sldMk cId="943378874" sldId="269"/>
            <ac:cxnSpMk id="20" creationId="{00000000-0000-0000-0000-000000000000}"/>
          </ac:cxnSpMkLst>
        </pc:cxnChg>
      </pc:sldChg>
      <pc:sldChg chg="modSp">
        <pc:chgData name="Ricardo Andres Lloreda Palacios" userId="S::ra.lloreda10@uniandes.edu.co::e9f4a50f-533c-45a2-a29f-40107f9c58a3" providerId="AD" clId="Web-{F65963C3-628B-E5F8-32B2-9ABAEDB0A16F}" dt="2026-08-23T17:06:18.234" v="42" actId="20577"/>
        <pc:sldMkLst>
          <pc:docMk/>
          <pc:sldMk cId="1441309838" sldId="405"/>
        </pc:sldMkLst>
        <pc:spChg chg="mod">
          <ac:chgData name="Ricardo Andres Lloreda Palacios" userId="S::ra.lloreda10@uniandes.edu.co::e9f4a50f-533c-45a2-a29f-40107f9c58a3" providerId="AD" clId="Web-{F65963C3-628B-E5F8-32B2-9ABAEDB0A16F}" dt="2026-08-23T17:06:18.234" v="42" actId="20577"/>
          <ac:spMkLst>
            <pc:docMk/>
            <pc:sldMk cId="1441309838" sldId="405"/>
            <ac:spMk id="3" creationId="{00000000-0000-0000-0000-000000000000}"/>
          </ac:spMkLst>
        </pc:spChg>
      </pc:sldChg>
      <pc:sldChg chg="modSp">
        <pc:chgData name="Ricardo Andres Lloreda Palacios" userId="S::ra.lloreda10@uniandes.edu.co::e9f4a50f-533c-45a2-a29f-40107f9c58a3" providerId="AD" clId="Web-{F65963C3-628B-E5F8-32B2-9ABAEDB0A16F}" dt="2026-08-23T17:00:14.798" v="2" actId="20577"/>
        <pc:sldMkLst>
          <pc:docMk/>
          <pc:sldMk cId="2390111519" sldId="418"/>
        </pc:sldMkLst>
        <pc:spChg chg="mod">
          <ac:chgData name="Ricardo Andres Lloreda Palacios" userId="S::ra.lloreda10@uniandes.edu.co::e9f4a50f-533c-45a2-a29f-40107f9c58a3" providerId="AD" clId="Web-{F65963C3-628B-E5F8-32B2-9ABAEDB0A16F}" dt="2026-08-23T17:00:14.798" v="2" actId="20577"/>
          <ac:spMkLst>
            <pc:docMk/>
            <pc:sldMk cId="2390111519" sldId="418"/>
            <ac:spMk id="3" creationId="{00000000-0000-0000-0000-000000000000}"/>
          </ac:spMkLst>
        </pc:spChg>
      </pc:sldChg>
      <pc:sldChg chg="modSp">
        <pc:chgData name="Ricardo Andres Lloreda Palacios" userId="S::ra.lloreda10@uniandes.edu.co::e9f4a50f-533c-45a2-a29f-40107f9c58a3" providerId="AD" clId="Web-{F65963C3-628B-E5F8-32B2-9ABAEDB0A16F}" dt="2026-08-23T17:02:22.662" v="33" actId="20577"/>
        <pc:sldMkLst>
          <pc:docMk/>
          <pc:sldMk cId="1517493351" sldId="425"/>
        </pc:sldMkLst>
        <pc:spChg chg="mod">
          <ac:chgData name="Ricardo Andres Lloreda Palacios" userId="S::ra.lloreda10@uniandes.edu.co::e9f4a50f-533c-45a2-a29f-40107f9c58a3" providerId="AD" clId="Web-{F65963C3-628B-E5F8-32B2-9ABAEDB0A16F}" dt="2026-08-23T17:02:22.662" v="33" actId="20577"/>
          <ac:spMkLst>
            <pc:docMk/>
            <pc:sldMk cId="1517493351" sldId="425"/>
            <ac:spMk id="3" creationId="{00000000-0000-0000-0000-000000000000}"/>
          </ac:spMkLst>
        </pc:spChg>
      </pc:sldChg>
      <pc:sldChg chg="modSp">
        <pc:chgData name="Ricardo Andres Lloreda Palacios" userId="S::ra.lloreda10@uniandes.edu.co::e9f4a50f-533c-45a2-a29f-40107f9c58a3" providerId="AD" clId="Web-{F65963C3-628B-E5F8-32B2-9ABAEDB0A16F}" dt="2026-08-23T17:04:38.214" v="38" actId="20577"/>
        <pc:sldMkLst>
          <pc:docMk/>
          <pc:sldMk cId="2557121279" sldId="488"/>
        </pc:sldMkLst>
        <pc:spChg chg="mod">
          <ac:chgData name="Ricardo Andres Lloreda Palacios" userId="S::ra.lloreda10@uniandes.edu.co::e9f4a50f-533c-45a2-a29f-40107f9c58a3" providerId="AD" clId="Web-{F65963C3-628B-E5F8-32B2-9ABAEDB0A16F}" dt="2026-08-23T17:04:38.214" v="38" actId="20577"/>
          <ac:spMkLst>
            <pc:docMk/>
            <pc:sldMk cId="2557121279" sldId="488"/>
            <ac:spMk id="3" creationId="{00000000-0000-0000-0000-000000000000}"/>
          </ac:spMkLst>
        </pc:spChg>
      </pc:sldChg>
      <pc:sldChg chg="modSp">
        <pc:chgData name="Ricardo Andres Lloreda Palacios" userId="S::ra.lloreda10@uniandes.edu.co::e9f4a50f-533c-45a2-a29f-40107f9c58a3" providerId="AD" clId="Web-{F65963C3-628B-E5F8-32B2-9ABAEDB0A16F}" dt="2026-08-23T17:03:19.008" v="34" actId="20577"/>
        <pc:sldMkLst>
          <pc:docMk/>
          <pc:sldMk cId="3446104140" sldId="491"/>
        </pc:sldMkLst>
        <pc:spChg chg="mod">
          <ac:chgData name="Ricardo Andres Lloreda Palacios" userId="S::ra.lloreda10@uniandes.edu.co::e9f4a50f-533c-45a2-a29f-40107f9c58a3" providerId="AD" clId="Web-{F65963C3-628B-E5F8-32B2-9ABAEDB0A16F}" dt="2026-08-23T17:03:19.008" v="34" actId="20577"/>
          <ac:spMkLst>
            <pc:docMk/>
            <pc:sldMk cId="3446104140" sldId="491"/>
            <ac:spMk id="3" creationId="{00000000-0000-0000-0000-000000000000}"/>
          </ac:spMkLst>
        </pc:spChg>
      </pc:sldChg>
      <pc:sldChg chg="modSp">
        <pc:chgData name="Ricardo Andres Lloreda Palacios" userId="S::ra.lloreda10@uniandes.edu.co::e9f4a50f-533c-45a2-a29f-40107f9c58a3" providerId="AD" clId="Web-{F65963C3-628B-E5F8-32B2-9ABAEDB0A16F}" dt="2026-08-23T17:07:47.628" v="48" actId="1076"/>
        <pc:sldMkLst>
          <pc:docMk/>
          <pc:sldMk cId="1521903875" sldId="595"/>
        </pc:sldMkLst>
        <pc:spChg chg="mod">
          <ac:chgData name="Ricardo Andres Lloreda Palacios" userId="S::ra.lloreda10@uniandes.edu.co::e9f4a50f-533c-45a2-a29f-40107f9c58a3" providerId="AD" clId="Web-{F65963C3-628B-E5F8-32B2-9ABAEDB0A16F}" dt="2026-08-23T17:07:47.628" v="48" actId="1076"/>
          <ac:spMkLst>
            <pc:docMk/>
            <pc:sldMk cId="1521903875" sldId="595"/>
            <ac:spMk id="6" creationId="{00000000-0000-0000-0000-000000000000}"/>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a:extLst>
              <a:ext uri="{FF2B5EF4-FFF2-40B4-BE49-F238E27FC236}">
                <a16:creationId xmlns:a16="http://schemas.microsoft.com/office/drawing/2014/main" id="{97909239-6EB4-4F64-9166-01BA8CB152A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r>
              <a:rPr lang="es-CO"/>
              <a:t>Profesor Sebastián Joseph Sánchez Oyola</a:t>
            </a:r>
          </a:p>
        </p:txBody>
      </p:sp>
      <p:sp>
        <p:nvSpPr>
          <p:cNvPr id="3" name="Marcador de fecha 2">
            <a:extLst>
              <a:ext uri="{FF2B5EF4-FFF2-40B4-BE49-F238E27FC236}">
                <a16:creationId xmlns:a16="http://schemas.microsoft.com/office/drawing/2014/main" id="{C0D4A5E1-CC2B-4E68-93DE-1741C2D8FCC2}"/>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21EBC9B1-33DC-462F-829C-1E37E99682B9}" type="datetimeFigureOut">
              <a:rPr lang="es-CO" smtClean="0"/>
              <a:t>17/09/26</a:t>
            </a:fld>
            <a:endParaRPr lang="es-CO"/>
          </a:p>
        </p:txBody>
      </p:sp>
      <p:sp>
        <p:nvSpPr>
          <p:cNvPr id="4" name="Marcador de pie de página 3">
            <a:extLst>
              <a:ext uri="{FF2B5EF4-FFF2-40B4-BE49-F238E27FC236}">
                <a16:creationId xmlns:a16="http://schemas.microsoft.com/office/drawing/2014/main" id="{36E42B93-8418-4C73-AFC5-AD8733D5618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s-CO"/>
          </a:p>
        </p:txBody>
      </p:sp>
      <p:sp>
        <p:nvSpPr>
          <p:cNvPr id="5" name="Marcador de número de diapositiva 4">
            <a:extLst>
              <a:ext uri="{FF2B5EF4-FFF2-40B4-BE49-F238E27FC236}">
                <a16:creationId xmlns:a16="http://schemas.microsoft.com/office/drawing/2014/main" id="{2BF5AB0F-F981-4352-8DA3-CAD02A4EF5CC}"/>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C9216A6-D02D-421D-81B5-58C62FCB13EF}" type="slidenum">
              <a:rPr lang="es-CO" smtClean="0"/>
              <a:t>‹#›</a:t>
            </a:fld>
            <a:endParaRPr lang="es-CO"/>
          </a:p>
        </p:txBody>
      </p:sp>
    </p:spTree>
    <p:extLst>
      <p:ext uri="{BB962C8B-B14F-4D97-AF65-F5344CB8AC3E}">
        <p14:creationId xmlns:p14="http://schemas.microsoft.com/office/powerpoint/2010/main" val="3094247631"/>
      </p:ext>
    </p:extLst>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r>
              <a:rPr lang="es-CO"/>
              <a:t>Profesor Sebastián Joseph Sánchez Oyola</a:t>
            </a:r>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2BED2E0-4743-4E03-93B8-12386FF60236}" type="datetimeFigureOut">
              <a:rPr lang="es-CO" smtClean="0"/>
              <a:t>17/09/26</a:t>
            </a:fld>
            <a:endParaRPr lang="es-CO"/>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CO"/>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CO"/>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EAB8670-524E-4520-AA44-FE672760293D}" type="slidenum">
              <a:rPr lang="es-CO" smtClean="0"/>
              <a:t>‹#›</a:t>
            </a:fld>
            <a:endParaRPr lang="es-CO"/>
          </a:p>
        </p:txBody>
      </p:sp>
    </p:spTree>
    <p:extLst>
      <p:ext uri="{BB962C8B-B14F-4D97-AF65-F5344CB8AC3E}">
        <p14:creationId xmlns:p14="http://schemas.microsoft.com/office/powerpoint/2010/main" val="3044258673"/>
      </p:ext>
    </p:extLst>
  </p:cSld>
  <p:clrMap bg1="lt1" tx1="dk1" bg2="lt2" tx2="dk2" accent1="accent1" accent2="accent2" accent3="accent3" accent4="accent4" accent5="accent5" accent6="accent6" hlink="hlink" folHlink="folHlink"/>
  <p:hf sldNum="0"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O"/>
          </a:p>
        </p:txBody>
      </p:sp>
    </p:spTree>
    <p:extLst>
      <p:ext uri="{BB962C8B-B14F-4D97-AF65-F5344CB8AC3E}">
        <p14:creationId xmlns:p14="http://schemas.microsoft.com/office/powerpoint/2010/main" val="219058062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7" name="Rectangle 6"/>
          <p:cNvSpPr/>
          <p:nvPr/>
        </p:nvSpPr>
        <p:spPr>
          <a:xfrm>
            <a:off x="446534" y="3085765"/>
            <a:ext cx="11262866" cy="33048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CO"/>
          </a:p>
        </p:txBody>
      </p:sp>
      <p:sp>
        <p:nvSpPr>
          <p:cNvPr id="2" name="Title 1"/>
          <p:cNvSpPr>
            <a:spLocks noGrp="1"/>
          </p:cNvSpPr>
          <p:nvPr>
            <p:ph type="ctrTitle"/>
          </p:nvPr>
        </p:nvSpPr>
        <p:spPr>
          <a:xfrm>
            <a:off x="581191" y="1020431"/>
            <a:ext cx="10993549" cy="1475013"/>
          </a:xfrm>
          <a:effectLst/>
        </p:spPr>
        <p:txBody>
          <a:bodyPr anchor="b">
            <a:normAutofit/>
          </a:bodyPr>
          <a:lstStyle>
            <a:lvl1pPr>
              <a:defRPr sz="3600">
                <a:solidFill>
                  <a:schemeClr val="accent1"/>
                </a:solidFill>
              </a:defRPr>
            </a:lvl1pPr>
          </a:lstStyle>
          <a:p>
            <a:r>
              <a:rPr lang="es-MX"/>
              <a:t>Haz clic para modificar el estilo de título del patrón</a:t>
            </a:r>
            <a:endParaRPr lang="en-US"/>
          </a:p>
        </p:txBody>
      </p:sp>
      <p:sp>
        <p:nvSpPr>
          <p:cNvPr id="3" name="Subtitle 2"/>
          <p:cNvSpPr>
            <a:spLocks noGrp="1"/>
          </p:cNvSpPr>
          <p:nvPr>
            <p:ph type="subTitle" idx="1"/>
          </p:nvPr>
        </p:nvSpPr>
        <p:spPr>
          <a:xfrm>
            <a:off x="581194" y="2495445"/>
            <a:ext cx="10993546" cy="590321"/>
          </a:xfrm>
        </p:spPr>
        <p:txBody>
          <a:bodyPr anchor="t">
            <a:normAutofit/>
          </a:bodyPr>
          <a:lstStyle>
            <a:lvl1pPr marL="0" indent="0" algn="l">
              <a:buNone/>
              <a:defRPr sz="1600" cap="all">
                <a:solidFill>
                  <a:schemeClr val="accent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s-MX"/>
              <a:t>Haz clic para editar el estilo de subtítulo del patrón</a:t>
            </a:r>
            <a:endParaRPr lang="en-US"/>
          </a:p>
        </p:txBody>
      </p:sp>
      <p:sp>
        <p:nvSpPr>
          <p:cNvPr id="4" name="Date Placeholder 3"/>
          <p:cNvSpPr>
            <a:spLocks noGrp="1"/>
          </p:cNvSpPr>
          <p:nvPr>
            <p:ph type="dt" sz="half" idx="10"/>
          </p:nvPr>
        </p:nvSpPr>
        <p:spPr>
          <a:xfrm>
            <a:off x="7605951" y="5956137"/>
            <a:ext cx="2844800" cy="365125"/>
          </a:xfrm>
        </p:spPr>
        <p:txBody>
          <a:bodyPr/>
          <a:lstStyle>
            <a:lvl1pPr>
              <a:defRPr>
                <a:solidFill>
                  <a:schemeClr val="accent1">
                    <a:lumMod val="75000"/>
                    <a:lumOff val="25000"/>
                  </a:schemeClr>
                </a:solidFill>
              </a:defRPr>
            </a:lvl1pPr>
          </a:lstStyle>
          <a:p>
            <a:fld id="{9AFD365D-553E-437E-906F-693C2E6CE28D}" type="datetime1">
              <a:rPr lang="en-US" smtClean="0"/>
              <a:t>9/17/26</a:t>
            </a:fld>
            <a:endParaRPr lang="en-US"/>
          </a:p>
        </p:txBody>
      </p:sp>
      <p:sp>
        <p:nvSpPr>
          <p:cNvPr id="5" name="Footer Placeholder 4"/>
          <p:cNvSpPr>
            <a:spLocks noGrp="1"/>
          </p:cNvSpPr>
          <p:nvPr>
            <p:ph type="ftr" sz="quarter" idx="11"/>
          </p:nvPr>
        </p:nvSpPr>
        <p:spPr>
          <a:xfrm>
            <a:off x="581192" y="5951811"/>
            <a:ext cx="6917210" cy="365125"/>
          </a:xfrm>
        </p:spPr>
        <p:txBody>
          <a:bodyPr/>
          <a:lstStyle>
            <a:lvl1pPr>
              <a:defRPr>
                <a:solidFill>
                  <a:schemeClr val="accent1">
                    <a:lumMod val="75000"/>
                    <a:lumOff val="25000"/>
                  </a:schemeClr>
                </a:solidFill>
              </a:defRPr>
            </a:lvl1pPr>
          </a:lstStyle>
          <a:p>
            <a:endParaRPr lang="en-US"/>
          </a:p>
        </p:txBody>
      </p:sp>
      <p:sp>
        <p:nvSpPr>
          <p:cNvPr id="6" name="Slide Number Placeholder 5"/>
          <p:cNvSpPr>
            <a:spLocks noGrp="1"/>
          </p:cNvSpPr>
          <p:nvPr>
            <p:ph type="sldNum" sz="quarter" idx="12"/>
          </p:nvPr>
        </p:nvSpPr>
        <p:spPr>
          <a:xfrm>
            <a:off x="10558300" y="5956137"/>
            <a:ext cx="1016440" cy="365125"/>
          </a:xfrm>
        </p:spPr>
        <p:txBody>
          <a:bodyPr/>
          <a:lstStyle>
            <a:lvl1pPr>
              <a:defRPr>
                <a:solidFill>
                  <a:schemeClr val="accent1">
                    <a:lumMod val="75000"/>
                    <a:lumOff val="25000"/>
                  </a:schemeClr>
                </a:solidFill>
              </a:defRPr>
            </a:lvl1pPr>
          </a:lstStyle>
          <a:p>
            <a:fld id="{D57F1E4F-1CFF-5643-939E-217C01CDF565}" type="slidenum">
              <a:rPr lang="en-US" smtClean="0"/>
              <a:pPr/>
              <a:t>‹#›</a:t>
            </a:fld>
            <a:endParaRPr lang="en-US"/>
          </a:p>
        </p:txBody>
      </p:sp>
    </p:spTree>
    <p:extLst>
      <p:ext uri="{BB962C8B-B14F-4D97-AF65-F5344CB8AC3E}">
        <p14:creationId xmlns:p14="http://schemas.microsoft.com/office/powerpoint/2010/main" val="335364381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7" name="Rectangle 6"/>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CO"/>
          </a:p>
        </p:txBody>
      </p:sp>
      <p:sp>
        <p:nvSpPr>
          <p:cNvPr id="2" name="Title 1"/>
          <p:cNvSpPr>
            <a:spLocks noGrp="1"/>
          </p:cNvSpPr>
          <p:nvPr>
            <p:ph type="title"/>
          </p:nvPr>
        </p:nvSpPr>
        <p:spPr>
          <a:xfrm>
            <a:off x="581192" y="702156"/>
            <a:ext cx="11029616" cy="1013800"/>
          </a:xfrm>
        </p:spPr>
        <p:txBody>
          <a:bodyPr/>
          <a:lstStyle/>
          <a:p>
            <a:r>
              <a:rPr lang="es-MX"/>
              <a:t>Haz clic para modificar el estilo de título del patrón</a:t>
            </a:r>
            <a:endParaRPr lang="en-US"/>
          </a:p>
        </p:txBody>
      </p:sp>
      <p:sp>
        <p:nvSpPr>
          <p:cNvPr id="3" name="Content Placeholder 2"/>
          <p:cNvSpPr>
            <a:spLocks noGrp="1"/>
          </p:cNvSpPr>
          <p:nvPr>
            <p:ph idx="1"/>
          </p:nvPr>
        </p:nvSpPr>
        <p:spPr>
          <a:xfrm>
            <a:off x="581192" y="2180496"/>
            <a:ext cx="11029615" cy="3678303"/>
          </a:xfrm>
        </p:spPr>
        <p:txBody>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a:p>
        </p:txBody>
      </p:sp>
      <p:sp>
        <p:nvSpPr>
          <p:cNvPr id="4" name="Date Placeholder 3"/>
          <p:cNvSpPr>
            <a:spLocks noGrp="1"/>
          </p:cNvSpPr>
          <p:nvPr>
            <p:ph type="dt" sz="half" idx="10"/>
          </p:nvPr>
        </p:nvSpPr>
        <p:spPr/>
        <p:txBody>
          <a:bodyPr/>
          <a:lstStyle/>
          <a:p>
            <a:fld id="{A523018D-1CC0-468E-BE3B-579A148A0691}" type="datetime1">
              <a:rPr lang="en-US" smtClean="0"/>
              <a:t>9/17/26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10558300" y="5956137"/>
            <a:ext cx="1052508" cy="365125"/>
          </a:xfrm>
        </p:spPr>
        <p:txBody>
          <a:bodyPr/>
          <a:lstStyle/>
          <a:p>
            <a:fld id="{D57F1E4F-1CFF-5643-939E-217C01CDF565}" type="slidenum">
              <a:rPr lang="en-US" smtClean="0"/>
              <a:pPr/>
              <a:t>‹#›</a:t>
            </a:fld>
            <a:endParaRPr lang="en-US"/>
          </a:p>
        </p:txBody>
      </p:sp>
    </p:spTree>
    <p:extLst>
      <p:ext uri="{BB962C8B-B14F-4D97-AF65-F5344CB8AC3E}">
        <p14:creationId xmlns:p14="http://schemas.microsoft.com/office/powerpoint/2010/main" val="174951973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8" name="Rectangle 7"/>
          <p:cNvSpPr>
            <a:spLocks noChangeAspect="1"/>
          </p:cNvSpPr>
          <p:nvPr/>
        </p:nvSpPr>
        <p:spPr>
          <a:xfrm>
            <a:off x="447817" y="5141974"/>
            <a:ext cx="11290860"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3043910"/>
            <a:ext cx="11029615" cy="1497507"/>
          </a:xfrm>
        </p:spPr>
        <p:txBody>
          <a:bodyPr anchor="b">
            <a:normAutofit/>
          </a:bodyPr>
          <a:lstStyle>
            <a:lvl1pPr algn="l">
              <a:defRPr sz="3600" b="0" cap="all">
                <a:solidFill>
                  <a:schemeClr val="accent1"/>
                </a:solidFill>
              </a:defRPr>
            </a:lvl1pPr>
          </a:lstStyle>
          <a:p>
            <a:r>
              <a:rPr lang="es-MX"/>
              <a:t>Haz clic para modificar el estilo de título del patrón</a:t>
            </a:r>
            <a:endParaRPr lang="en-US"/>
          </a:p>
        </p:txBody>
      </p:sp>
      <p:sp>
        <p:nvSpPr>
          <p:cNvPr id="3" name="Text Placeholder 2"/>
          <p:cNvSpPr>
            <a:spLocks noGrp="1"/>
          </p:cNvSpPr>
          <p:nvPr>
            <p:ph type="body" idx="1"/>
          </p:nvPr>
        </p:nvSpPr>
        <p:spPr>
          <a:xfrm>
            <a:off x="581192" y="4541417"/>
            <a:ext cx="11029615" cy="600556"/>
          </a:xfrm>
        </p:spPr>
        <p:txBody>
          <a:bodyPr anchor="t">
            <a:normAutofit/>
          </a:bodyPr>
          <a:lstStyle>
            <a:lvl1pPr marL="0" indent="0" algn="l">
              <a:buNone/>
              <a:defRPr sz="1800" cap="all">
                <a:solidFill>
                  <a:schemeClr val="accent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MX"/>
              <a:t>Haga clic para modificar los estilos de texto del patrón</a:t>
            </a:r>
          </a:p>
        </p:txBody>
      </p:sp>
      <p:sp>
        <p:nvSpPr>
          <p:cNvPr id="4" name="Date Placeholder 3"/>
          <p:cNvSpPr>
            <a:spLocks noGrp="1"/>
          </p:cNvSpPr>
          <p:nvPr>
            <p:ph type="dt" sz="half" idx="10"/>
          </p:nvPr>
        </p:nvSpPr>
        <p:spPr/>
        <p:txBody>
          <a:bodyPr/>
          <a:lstStyle>
            <a:lvl1pPr>
              <a:defRPr>
                <a:solidFill>
                  <a:schemeClr val="accent1">
                    <a:lumMod val="75000"/>
                    <a:lumOff val="25000"/>
                  </a:schemeClr>
                </a:solidFill>
              </a:defRPr>
            </a:lvl1pPr>
          </a:lstStyle>
          <a:p>
            <a:fld id="{CE7F702F-46BE-40AA-9A05-7C69E0403EE7}" type="datetime1">
              <a:rPr lang="en-US" smtClean="0"/>
              <a:t>9/17/26</a:t>
            </a:fld>
            <a:endParaRPr lang="en-US"/>
          </a:p>
        </p:txBody>
      </p:sp>
      <p:sp>
        <p:nvSpPr>
          <p:cNvPr id="5" name="Footer Placeholder 4"/>
          <p:cNvSpPr>
            <a:spLocks noGrp="1"/>
          </p:cNvSpPr>
          <p:nvPr>
            <p:ph type="ftr" sz="quarter" idx="11"/>
          </p:nvPr>
        </p:nvSpPr>
        <p:spPr/>
        <p:txBody>
          <a:bodyPr/>
          <a:lstStyle>
            <a:lvl1pPr>
              <a:defRPr>
                <a:solidFill>
                  <a:schemeClr val="accent1">
                    <a:lumMod val="75000"/>
                    <a:lumOff val="25000"/>
                  </a:schemeClr>
                </a:solidFill>
              </a:defRPr>
            </a:lvl1pPr>
          </a:lstStyle>
          <a:p>
            <a:endParaRPr lang="en-US"/>
          </a:p>
        </p:txBody>
      </p:sp>
      <p:sp>
        <p:nvSpPr>
          <p:cNvPr id="6" name="Slide Number Placeholder 5"/>
          <p:cNvSpPr>
            <a:spLocks noGrp="1"/>
          </p:cNvSpPr>
          <p:nvPr>
            <p:ph type="sldNum" sz="quarter" idx="12"/>
          </p:nvPr>
        </p:nvSpPr>
        <p:spPr/>
        <p:txBody>
          <a:bodyPr/>
          <a:lstStyle>
            <a:lvl1pPr>
              <a:defRPr>
                <a:solidFill>
                  <a:schemeClr val="accent1">
                    <a:lumMod val="75000"/>
                    <a:lumOff val="25000"/>
                  </a:schemeClr>
                </a:solidFill>
              </a:defRPr>
            </a:lvl1pPr>
          </a:lstStyle>
          <a:p>
            <a:fld id="{D57F1E4F-1CFF-5643-939E-217C01CDF565}" type="slidenum">
              <a:rPr lang="en-US" smtClean="0"/>
              <a:pPr/>
              <a:t>‹#›</a:t>
            </a:fld>
            <a:endParaRPr lang="en-US"/>
          </a:p>
        </p:txBody>
      </p:sp>
    </p:spTree>
    <p:extLst>
      <p:ext uri="{BB962C8B-B14F-4D97-AF65-F5344CB8AC3E}">
        <p14:creationId xmlns:p14="http://schemas.microsoft.com/office/powerpoint/2010/main" val="97358899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8" name="Rectangle 7"/>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729658"/>
            <a:ext cx="11029616" cy="988332"/>
          </a:xfrm>
        </p:spPr>
        <p:txBody>
          <a:bodyPr/>
          <a:lstStyle/>
          <a:p>
            <a:r>
              <a:rPr lang="es-MX"/>
              <a:t>Haz clic para modificar el estilo de título del patrón</a:t>
            </a:r>
            <a:endParaRPr lang="en-US"/>
          </a:p>
        </p:txBody>
      </p:sp>
      <p:sp>
        <p:nvSpPr>
          <p:cNvPr id="3" name="Content Placeholder 2"/>
          <p:cNvSpPr>
            <a:spLocks noGrp="1"/>
          </p:cNvSpPr>
          <p:nvPr>
            <p:ph sz="half" idx="1"/>
          </p:nvPr>
        </p:nvSpPr>
        <p:spPr>
          <a:xfrm>
            <a:off x="581193" y="2228003"/>
            <a:ext cx="5422390" cy="3633047"/>
          </a:xfrm>
        </p:spPr>
        <p:txBody>
          <a:bodyPr>
            <a:normAutofit/>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a:p>
        </p:txBody>
      </p:sp>
      <p:sp>
        <p:nvSpPr>
          <p:cNvPr id="4" name="Content Placeholder 3"/>
          <p:cNvSpPr>
            <a:spLocks noGrp="1"/>
          </p:cNvSpPr>
          <p:nvPr>
            <p:ph sz="half" idx="2"/>
          </p:nvPr>
        </p:nvSpPr>
        <p:spPr>
          <a:xfrm>
            <a:off x="6188417" y="2228003"/>
            <a:ext cx="5422392" cy="3633047"/>
          </a:xfrm>
        </p:spPr>
        <p:txBody>
          <a:bodyPr>
            <a:normAutofit/>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a:p>
        </p:txBody>
      </p:sp>
      <p:sp>
        <p:nvSpPr>
          <p:cNvPr id="5" name="Date Placeholder 4"/>
          <p:cNvSpPr>
            <a:spLocks noGrp="1"/>
          </p:cNvSpPr>
          <p:nvPr>
            <p:ph type="dt" sz="half" idx="10"/>
          </p:nvPr>
        </p:nvSpPr>
        <p:spPr/>
        <p:txBody>
          <a:bodyPr/>
          <a:lstStyle/>
          <a:p>
            <a:fld id="{C51F0D08-E4F7-43DB-810A-34BADF6468F7}" type="datetime1">
              <a:rPr lang="en-US" smtClean="0"/>
              <a:t>9/17/26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a:p>
        </p:txBody>
      </p:sp>
    </p:spTree>
    <p:extLst>
      <p:ext uri="{BB962C8B-B14F-4D97-AF65-F5344CB8AC3E}">
        <p14:creationId xmlns:p14="http://schemas.microsoft.com/office/powerpoint/2010/main" val="352679757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11" name="Rectangle 10"/>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2" name="Title 1"/>
          <p:cNvSpPr>
            <a:spLocks noGrp="1"/>
          </p:cNvSpPr>
          <p:nvPr>
            <p:ph type="title"/>
          </p:nvPr>
        </p:nvSpPr>
        <p:spPr>
          <a:xfrm>
            <a:off x="581193" y="729658"/>
            <a:ext cx="11029616" cy="988332"/>
          </a:xfrm>
        </p:spPr>
        <p:txBody>
          <a:bodyPr/>
          <a:lstStyle/>
          <a:p>
            <a:r>
              <a:rPr lang="es-MX"/>
              <a:t>Haz clic para modificar el estilo de título del patrón</a:t>
            </a:r>
            <a:endParaRPr lang="en-US"/>
          </a:p>
        </p:txBody>
      </p:sp>
      <p:sp>
        <p:nvSpPr>
          <p:cNvPr id="3" name="Text Placeholder 2"/>
          <p:cNvSpPr>
            <a:spLocks noGrp="1"/>
          </p:cNvSpPr>
          <p:nvPr>
            <p:ph type="body" idx="1"/>
          </p:nvPr>
        </p:nvSpPr>
        <p:spPr>
          <a:xfrm>
            <a:off x="887219" y="2250892"/>
            <a:ext cx="5087075" cy="536005"/>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MX"/>
              <a:t>Haga clic para modificar los estilos de texto del patrón</a:t>
            </a:r>
          </a:p>
        </p:txBody>
      </p:sp>
      <p:sp>
        <p:nvSpPr>
          <p:cNvPr id="4" name="Content Placeholder 3"/>
          <p:cNvSpPr>
            <a:spLocks noGrp="1"/>
          </p:cNvSpPr>
          <p:nvPr>
            <p:ph sz="half" idx="2"/>
          </p:nvPr>
        </p:nvSpPr>
        <p:spPr>
          <a:xfrm>
            <a:off x="581194" y="2926052"/>
            <a:ext cx="5393100" cy="2934999"/>
          </a:xfrm>
        </p:spPr>
        <p:txBody>
          <a:bodyPr anchor="t">
            <a:normAutofit/>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a:p>
        </p:txBody>
      </p:sp>
      <p:sp>
        <p:nvSpPr>
          <p:cNvPr id="5" name="Text Placeholder 4"/>
          <p:cNvSpPr>
            <a:spLocks noGrp="1"/>
          </p:cNvSpPr>
          <p:nvPr>
            <p:ph type="body" sz="quarter" idx="3"/>
          </p:nvPr>
        </p:nvSpPr>
        <p:spPr>
          <a:xfrm>
            <a:off x="6523735" y="2250892"/>
            <a:ext cx="5087073" cy="553373"/>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MX"/>
              <a:t>Haga clic para modificar los estilos de texto del patrón</a:t>
            </a:r>
          </a:p>
        </p:txBody>
      </p:sp>
      <p:sp>
        <p:nvSpPr>
          <p:cNvPr id="6" name="Content Placeholder 5"/>
          <p:cNvSpPr>
            <a:spLocks noGrp="1"/>
          </p:cNvSpPr>
          <p:nvPr>
            <p:ph sz="quarter" idx="4"/>
          </p:nvPr>
        </p:nvSpPr>
        <p:spPr>
          <a:xfrm>
            <a:off x="6217709" y="2926052"/>
            <a:ext cx="5393100" cy="2934999"/>
          </a:xfrm>
        </p:spPr>
        <p:txBody>
          <a:bodyPr anchor="t">
            <a:normAutofit/>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a:p>
        </p:txBody>
      </p:sp>
      <p:sp>
        <p:nvSpPr>
          <p:cNvPr id="7" name="Date Placeholder 6"/>
          <p:cNvSpPr>
            <a:spLocks noGrp="1"/>
          </p:cNvSpPr>
          <p:nvPr>
            <p:ph type="dt" sz="half" idx="10"/>
          </p:nvPr>
        </p:nvSpPr>
        <p:spPr/>
        <p:txBody>
          <a:bodyPr/>
          <a:lstStyle/>
          <a:p>
            <a:fld id="{ADFE1DAC-EC09-4DEA-BBB4-788DDBA09515}" type="datetime1">
              <a:rPr lang="en-US" smtClean="0"/>
              <a:t>9/17/26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a:p>
        </p:txBody>
      </p:sp>
    </p:spTree>
    <p:extLst>
      <p:ext uri="{BB962C8B-B14F-4D97-AF65-F5344CB8AC3E}">
        <p14:creationId xmlns:p14="http://schemas.microsoft.com/office/powerpoint/2010/main" val="382729588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7" name="Rectangle 6"/>
          <p:cNvSpPr>
            <a:spLocks noChangeAspect="1"/>
          </p:cNvSpPr>
          <p:nvPr/>
        </p:nvSpPr>
        <p:spPr>
          <a:xfrm>
            <a:off x="440683"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8" name="Title 1"/>
          <p:cNvSpPr>
            <a:spLocks noGrp="1"/>
          </p:cNvSpPr>
          <p:nvPr>
            <p:ph type="title"/>
          </p:nvPr>
        </p:nvSpPr>
        <p:spPr>
          <a:xfrm>
            <a:off x="575894" y="729658"/>
            <a:ext cx="11029616" cy="988332"/>
          </a:xfrm>
        </p:spPr>
        <p:txBody>
          <a:bodyPr/>
          <a:lstStyle/>
          <a:p>
            <a:r>
              <a:rPr lang="es-MX"/>
              <a:t>Haz clic para modificar el estilo de título del patrón</a:t>
            </a:r>
            <a:endParaRPr lang="en-US"/>
          </a:p>
        </p:txBody>
      </p:sp>
      <p:sp>
        <p:nvSpPr>
          <p:cNvPr id="3" name="Date Placeholder 2"/>
          <p:cNvSpPr>
            <a:spLocks noGrp="1"/>
          </p:cNvSpPr>
          <p:nvPr>
            <p:ph type="dt" sz="half" idx="10"/>
          </p:nvPr>
        </p:nvSpPr>
        <p:spPr/>
        <p:txBody>
          <a:bodyPr/>
          <a:lstStyle/>
          <a:p>
            <a:fld id="{A9BFF582-E74C-4A8A-87B2-214B0CF47F99}" type="datetime1">
              <a:rPr lang="en-US" smtClean="0"/>
              <a:t>9/17/26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a:p>
        </p:txBody>
      </p:sp>
    </p:spTree>
    <p:extLst>
      <p:ext uri="{BB962C8B-B14F-4D97-AF65-F5344CB8AC3E}">
        <p14:creationId xmlns:p14="http://schemas.microsoft.com/office/powerpoint/2010/main" val="42903101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3FC8AEA-E303-4B9D-B167-0A45CB59E0C2}" type="datetime1">
              <a:rPr lang="en-US" smtClean="0"/>
              <a:t>9/17/26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a:p>
        </p:txBody>
      </p:sp>
    </p:spTree>
    <p:extLst>
      <p:ext uri="{BB962C8B-B14F-4D97-AF65-F5344CB8AC3E}">
        <p14:creationId xmlns:p14="http://schemas.microsoft.com/office/powerpoint/2010/main" val="327708529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9" name="Rectangle 8"/>
          <p:cNvSpPr>
            <a:spLocks noChangeAspect="1"/>
          </p:cNvSpPr>
          <p:nvPr/>
        </p:nvSpPr>
        <p:spPr>
          <a:xfrm>
            <a:off x="447817" y="5141973"/>
            <a:ext cx="11298200" cy="127470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2" y="5262296"/>
            <a:ext cx="4909445" cy="689514"/>
          </a:xfrm>
        </p:spPr>
        <p:txBody>
          <a:bodyPr anchor="ctr"/>
          <a:lstStyle>
            <a:lvl1pPr algn="l">
              <a:defRPr sz="2000" b="0">
                <a:solidFill>
                  <a:schemeClr val="accent1">
                    <a:lumMod val="75000"/>
                    <a:lumOff val="25000"/>
                  </a:schemeClr>
                </a:solidFill>
              </a:defRPr>
            </a:lvl1pPr>
          </a:lstStyle>
          <a:p>
            <a:r>
              <a:rPr lang="es-MX"/>
              <a:t>Haz clic para modificar el estilo de título del patrón</a:t>
            </a:r>
            <a:endParaRPr lang="en-US"/>
          </a:p>
        </p:txBody>
      </p:sp>
      <p:sp>
        <p:nvSpPr>
          <p:cNvPr id="3" name="Content Placeholder 2"/>
          <p:cNvSpPr>
            <a:spLocks noGrp="1"/>
          </p:cNvSpPr>
          <p:nvPr>
            <p:ph idx="1"/>
          </p:nvPr>
        </p:nvSpPr>
        <p:spPr>
          <a:xfrm>
            <a:off x="447816" y="601200"/>
            <a:ext cx="11292840" cy="4204800"/>
          </a:xfrm>
        </p:spPr>
        <p:txBody>
          <a:bodyPr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a:p>
        </p:txBody>
      </p:sp>
      <p:sp>
        <p:nvSpPr>
          <p:cNvPr id="4" name="Text Placeholder 3"/>
          <p:cNvSpPr>
            <a:spLocks noGrp="1"/>
          </p:cNvSpPr>
          <p:nvPr>
            <p:ph type="body" sz="half" idx="2"/>
          </p:nvPr>
        </p:nvSpPr>
        <p:spPr>
          <a:xfrm>
            <a:off x="5740823" y="5262296"/>
            <a:ext cx="5869987" cy="689515"/>
          </a:xfrm>
        </p:spPr>
        <p:txBody>
          <a:bodyPr anchor="ctr">
            <a:normAutofit/>
          </a:bodyPr>
          <a:lstStyle>
            <a:lvl1pPr marL="0" indent="0" algn="r">
              <a:buNone/>
              <a:defRPr sz="1100">
                <a:solidFill>
                  <a:schemeClr val="bg1"/>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MX"/>
              <a:t>Haga clic para modificar los estilos de texto del patrón</a:t>
            </a:r>
          </a:p>
        </p:txBody>
      </p:sp>
      <p:sp>
        <p:nvSpPr>
          <p:cNvPr id="5" name="Date Placeholder 4"/>
          <p:cNvSpPr>
            <a:spLocks noGrp="1"/>
          </p:cNvSpPr>
          <p:nvPr>
            <p:ph type="dt" sz="half" idx="10"/>
          </p:nvPr>
        </p:nvSpPr>
        <p:spPr/>
        <p:txBody>
          <a:bodyPr/>
          <a:lstStyle>
            <a:lvl1pPr>
              <a:defRPr>
                <a:solidFill>
                  <a:schemeClr val="accent1">
                    <a:lumMod val="75000"/>
                    <a:lumOff val="25000"/>
                  </a:schemeClr>
                </a:solidFill>
              </a:defRPr>
            </a:lvl1pPr>
          </a:lstStyle>
          <a:p>
            <a:fld id="{7EBE2AAB-C9FD-4A72-8C62-A7C81FA189B4}" type="datetime1">
              <a:rPr lang="en-US" smtClean="0"/>
              <a:t>9/17/26</a:t>
            </a:fld>
            <a:endParaRPr lang="en-US"/>
          </a:p>
        </p:txBody>
      </p:sp>
      <p:sp>
        <p:nvSpPr>
          <p:cNvPr id="6" name="Footer Placeholder 5"/>
          <p:cNvSpPr>
            <a:spLocks noGrp="1"/>
          </p:cNvSpPr>
          <p:nvPr>
            <p:ph type="ftr" sz="quarter" idx="11"/>
          </p:nvPr>
        </p:nvSpPr>
        <p:spPr/>
        <p:txBody>
          <a:bodyPr/>
          <a:lstStyle>
            <a:lvl1pPr>
              <a:defRPr>
                <a:solidFill>
                  <a:schemeClr val="accent1">
                    <a:lumMod val="75000"/>
                    <a:lumOff val="25000"/>
                  </a:schemeClr>
                </a:solidFill>
              </a:defRPr>
            </a:lvl1pPr>
          </a:lstStyle>
          <a:p>
            <a:endParaRPr lang="en-US"/>
          </a:p>
        </p:txBody>
      </p:sp>
      <p:sp>
        <p:nvSpPr>
          <p:cNvPr id="7" name="Slide Number Placeholder 6"/>
          <p:cNvSpPr>
            <a:spLocks noGrp="1"/>
          </p:cNvSpPr>
          <p:nvPr>
            <p:ph type="sldNum" sz="quarter" idx="12"/>
          </p:nvPr>
        </p:nvSpPr>
        <p:spPr/>
        <p:txBody>
          <a:bodyPr/>
          <a:lstStyle>
            <a:lvl1pPr>
              <a:defRPr>
                <a:solidFill>
                  <a:schemeClr val="accent1">
                    <a:lumMod val="75000"/>
                    <a:lumOff val="25000"/>
                  </a:schemeClr>
                </a:solidFill>
              </a:defRPr>
            </a:lvl1pPr>
          </a:lstStyle>
          <a:p>
            <a:fld id="{D57F1E4F-1CFF-5643-939E-217C01CDF565}" type="slidenum">
              <a:rPr lang="en-US" smtClean="0"/>
              <a:pPr/>
              <a:t>‹#›</a:t>
            </a:fld>
            <a:endParaRPr lang="en-US"/>
          </a:p>
        </p:txBody>
      </p:sp>
    </p:spTree>
    <p:extLst>
      <p:ext uri="{BB962C8B-B14F-4D97-AF65-F5344CB8AC3E}">
        <p14:creationId xmlns:p14="http://schemas.microsoft.com/office/powerpoint/2010/main" val="370758797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581193" y="4693389"/>
            <a:ext cx="11029616" cy="566738"/>
          </a:xfrm>
        </p:spPr>
        <p:txBody>
          <a:bodyPr anchor="b">
            <a:normAutofit/>
          </a:bodyPr>
          <a:lstStyle>
            <a:lvl1pPr algn="l">
              <a:defRPr sz="2400" b="0">
                <a:solidFill>
                  <a:schemeClr val="accent1"/>
                </a:solidFill>
              </a:defRPr>
            </a:lvl1pPr>
          </a:lstStyle>
          <a:p>
            <a:r>
              <a:rPr lang="es-MX"/>
              <a:t>Haz clic para modificar el estilo de título del patrón</a:t>
            </a:r>
            <a:endParaRPr lang="en-US"/>
          </a:p>
        </p:txBody>
      </p:sp>
      <p:sp>
        <p:nvSpPr>
          <p:cNvPr id="3" name="Picture Placeholder 2"/>
          <p:cNvSpPr>
            <a:spLocks noGrp="1" noChangeAspect="1"/>
          </p:cNvSpPr>
          <p:nvPr>
            <p:ph type="pic" idx="1"/>
          </p:nvPr>
        </p:nvSpPr>
        <p:spPr>
          <a:xfrm>
            <a:off x="447817" y="599725"/>
            <a:ext cx="11290859" cy="3557252"/>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MX"/>
              <a:t>Haz clic en el icono para agregar una imagen</a:t>
            </a:r>
            <a:endParaRPr lang="en-US"/>
          </a:p>
        </p:txBody>
      </p:sp>
      <p:sp>
        <p:nvSpPr>
          <p:cNvPr id="4" name="Text Placeholder 3"/>
          <p:cNvSpPr>
            <a:spLocks noGrp="1"/>
          </p:cNvSpPr>
          <p:nvPr>
            <p:ph type="body" sz="half" idx="2"/>
          </p:nvPr>
        </p:nvSpPr>
        <p:spPr>
          <a:xfrm>
            <a:off x="581192" y="5260127"/>
            <a:ext cx="11029617" cy="598671"/>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MX"/>
              <a:t>Haga clic para modificar los estilos de texto del patrón</a:t>
            </a:r>
          </a:p>
        </p:txBody>
      </p:sp>
      <p:sp>
        <p:nvSpPr>
          <p:cNvPr id="5" name="Date Placeholder 4"/>
          <p:cNvSpPr>
            <a:spLocks noGrp="1"/>
          </p:cNvSpPr>
          <p:nvPr>
            <p:ph type="dt" sz="half" idx="10"/>
          </p:nvPr>
        </p:nvSpPr>
        <p:spPr/>
        <p:txBody>
          <a:bodyPr/>
          <a:lstStyle/>
          <a:p>
            <a:fld id="{F4D9D4CC-5FC5-4711-9ACC-A7971700D612}" type="datetime1">
              <a:rPr lang="en-US" smtClean="0"/>
              <a:t>9/17/26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a:p>
        </p:txBody>
      </p:sp>
    </p:spTree>
    <p:extLst>
      <p:ext uri="{BB962C8B-B14F-4D97-AF65-F5344CB8AC3E}">
        <p14:creationId xmlns:p14="http://schemas.microsoft.com/office/powerpoint/2010/main" val="193094650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8" name="Rectangle 7"/>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9" name="Title 1"/>
          <p:cNvSpPr>
            <a:spLocks noGrp="1"/>
          </p:cNvSpPr>
          <p:nvPr>
            <p:ph type="title"/>
          </p:nvPr>
        </p:nvSpPr>
        <p:spPr>
          <a:xfrm>
            <a:off x="581192" y="702156"/>
            <a:ext cx="11029616" cy="1013800"/>
          </a:xfrm>
        </p:spPr>
        <p:txBody>
          <a:bodyPr/>
          <a:lstStyle/>
          <a:p>
            <a:r>
              <a:rPr lang="es-MX"/>
              <a:t>Haz clic para modificar el estilo de título del patrón</a:t>
            </a:r>
            <a:endParaRPr lang="en-US"/>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a:p>
        </p:txBody>
      </p:sp>
      <p:sp>
        <p:nvSpPr>
          <p:cNvPr id="4" name="Date Placeholder 3"/>
          <p:cNvSpPr>
            <a:spLocks noGrp="1"/>
          </p:cNvSpPr>
          <p:nvPr>
            <p:ph type="dt" sz="half" idx="10"/>
          </p:nvPr>
        </p:nvSpPr>
        <p:spPr/>
        <p:txBody>
          <a:bodyPr/>
          <a:lstStyle/>
          <a:p>
            <a:fld id="{5326DF8C-FC0D-41BB-BB53-20BBB44E4230}" type="datetime1">
              <a:rPr lang="en-US" smtClean="0"/>
              <a:t>9/17/26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a:p>
        </p:txBody>
      </p:sp>
    </p:spTree>
    <p:extLst>
      <p:ext uri="{BB962C8B-B14F-4D97-AF65-F5344CB8AC3E}">
        <p14:creationId xmlns:p14="http://schemas.microsoft.com/office/powerpoint/2010/main" val="354037924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7" name="Rectangle 6"/>
          <p:cNvSpPr>
            <a:spLocks noChangeAspect="1"/>
          </p:cNvSpPr>
          <p:nvPr/>
        </p:nvSpPr>
        <p:spPr>
          <a:xfrm>
            <a:off x="8839201" y="599725"/>
            <a:ext cx="2906817" cy="581695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8839201" y="675726"/>
            <a:ext cx="2004164" cy="5183073"/>
          </a:xfrm>
        </p:spPr>
        <p:txBody>
          <a:bodyPr vert="eaVert"/>
          <a:lstStyle/>
          <a:p>
            <a:r>
              <a:rPr lang="es-MX"/>
              <a:t>Haz clic para modificar el estilo de título del patrón</a:t>
            </a:r>
            <a:endParaRPr lang="en-US"/>
          </a:p>
        </p:txBody>
      </p:sp>
      <p:sp>
        <p:nvSpPr>
          <p:cNvPr id="3" name="Vertical Text Placeholder 2"/>
          <p:cNvSpPr>
            <a:spLocks noGrp="1"/>
          </p:cNvSpPr>
          <p:nvPr>
            <p:ph type="body" orient="vert" idx="1"/>
          </p:nvPr>
        </p:nvSpPr>
        <p:spPr>
          <a:xfrm>
            <a:off x="774923" y="675726"/>
            <a:ext cx="7896279" cy="5183073"/>
          </a:xfrm>
        </p:spPr>
        <p:txBody>
          <a:bodyPr vert="eaVert" anchor="t"/>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a:p>
        </p:txBody>
      </p:sp>
      <p:sp>
        <p:nvSpPr>
          <p:cNvPr id="4" name="Date Placeholder 3"/>
          <p:cNvSpPr>
            <a:spLocks noGrp="1"/>
          </p:cNvSpPr>
          <p:nvPr>
            <p:ph type="dt" sz="half" idx="10"/>
          </p:nvPr>
        </p:nvSpPr>
        <p:spPr>
          <a:xfrm>
            <a:off x="8993673" y="5956137"/>
            <a:ext cx="1328141" cy="365125"/>
          </a:xfrm>
        </p:spPr>
        <p:txBody>
          <a:bodyPr/>
          <a:lstStyle>
            <a:lvl1pPr>
              <a:defRPr>
                <a:solidFill>
                  <a:schemeClr val="accent1">
                    <a:lumMod val="75000"/>
                    <a:lumOff val="25000"/>
                  </a:schemeClr>
                </a:solidFill>
              </a:defRPr>
            </a:lvl1pPr>
          </a:lstStyle>
          <a:p>
            <a:fld id="{D119C4A7-5D51-4E42-9C0C-1785329211C5}" type="datetime1">
              <a:rPr lang="en-US" smtClean="0"/>
              <a:t>9/17/26</a:t>
            </a:fld>
            <a:endParaRPr lang="en-US"/>
          </a:p>
        </p:txBody>
      </p:sp>
      <p:sp>
        <p:nvSpPr>
          <p:cNvPr id="5" name="Footer Placeholder 4"/>
          <p:cNvSpPr>
            <a:spLocks noGrp="1"/>
          </p:cNvSpPr>
          <p:nvPr>
            <p:ph type="ftr" sz="quarter" idx="11"/>
          </p:nvPr>
        </p:nvSpPr>
        <p:spPr>
          <a:xfrm>
            <a:off x="774923" y="5951811"/>
            <a:ext cx="7896279" cy="365125"/>
          </a:xfrm>
        </p:spPr>
        <p:txBody>
          <a:bodyPr/>
          <a:lstStyle/>
          <a:p>
            <a:endParaRPr lang="en-US"/>
          </a:p>
        </p:txBody>
      </p:sp>
      <p:sp>
        <p:nvSpPr>
          <p:cNvPr id="6" name="Slide Number Placeholder 5"/>
          <p:cNvSpPr>
            <a:spLocks noGrp="1"/>
          </p:cNvSpPr>
          <p:nvPr>
            <p:ph type="sldNum" sz="quarter" idx="12"/>
          </p:nvPr>
        </p:nvSpPr>
        <p:spPr>
          <a:xfrm>
            <a:off x="10446615" y="5956137"/>
            <a:ext cx="1164195" cy="365125"/>
          </a:xfrm>
        </p:spPr>
        <p:txBody>
          <a:bodyPr/>
          <a:lstStyle>
            <a:lvl1pPr>
              <a:defRPr>
                <a:solidFill>
                  <a:schemeClr val="accent1">
                    <a:lumMod val="75000"/>
                    <a:lumOff val="25000"/>
                  </a:schemeClr>
                </a:solidFill>
              </a:defRPr>
            </a:lvl1pPr>
          </a:lstStyle>
          <a:p>
            <a:fld id="{D57F1E4F-1CFF-5643-939E-217C01CDF565}" type="slidenum">
              <a:rPr lang="en-US" smtClean="0"/>
              <a:pPr/>
              <a:t>‹#›</a:t>
            </a:fld>
            <a:endParaRPr lang="en-US"/>
          </a:p>
        </p:txBody>
      </p:sp>
    </p:spTree>
    <p:extLst>
      <p:ext uri="{BB962C8B-B14F-4D97-AF65-F5344CB8AC3E}">
        <p14:creationId xmlns:p14="http://schemas.microsoft.com/office/powerpoint/2010/main" val="358048385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1192" y="705124"/>
            <a:ext cx="11029616" cy="1189554"/>
          </a:xfrm>
          <a:prstGeom prst="rect">
            <a:avLst/>
          </a:prstGeom>
        </p:spPr>
        <p:txBody>
          <a:bodyPr vert="horz" lIns="91440" tIns="45720" rIns="91440" bIns="45720" rtlCol="0" anchor="b">
            <a:normAutofit/>
          </a:bodyPr>
          <a:lstStyle/>
          <a:p>
            <a:r>
              <a:rPr lang="es-MX"/>
              <a:t>Haz clic para modificar el estilo de título del patrón</a:t>
            </a:r>
            <a:endParaRPr lang="en-US"/>
          </a:p>
        </p:txBody>
      </p:sp>
      <p:sp>
        <p:nvSpPr>
          <p:cNvPr id="3" name="Text Placeholder 2"/>
          <p:cNvSpPr>
            <a:spLocks noGrp="1"/>
          </p:cNvSpPr>
          <p:nvPr>
            <p:ph type="body" idx="1"/>
          </p:nvPr>
        </p:nvSpPr>
        <p:spPr>
          <a:xfrm>
            <a:off x="581192" y="2336003"/>
            <a:ext cx="11029616" cy="3522794"/>
          </a:xfrm>
          <a:prstGeom prst="rect">
            <a:avLst/>
          </a:prstGeom>
        </p:spPr>
        <p:txBody>
          <a:bodyPr vert="horz" lIns="91440" tIns="45720" rIns="91440" bIns="45720" rtlCol="0" anchor="ctr">
            <a:normAutofit/>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a:p>
        </p:txBody>
      </p:sp>
      <p:sp>
        <p:nvSpPr>
          <p:cNvPr id="4" name="Date Placeholder 3"/>
          <p:cNvSpPr>
            <a:spLocks noGrp="1"/>
          </p:cNvSpPr>
          <p:nvPr>
            <p:ph type="dt" sz="half" idx="2"/>
          </p:nvPr>
        </p:nvSpPr>
        <p:spPr>
          <a:xfrm>
            <a:off x="7605951" y="5956137"/>
            <a:ext cx="2844799" cy="365125"/>
          </a:xfrm>
          <a:prstGeom prst="rect">
            <a:avLst/>
          </a:prstGeom>
        </p:spPr>
        <p:txBody>
          <a:bodyPr vert="horz" lIns="91440" tIns="45720" rIns="91440" bIns="45720" rtlCol="0" anchor="ctr"/>
          <a:lstStyle>
            <a:lvl1pPr algn="r">
              <a:defRPr sz="900">
                <a:solidFill>
                  <a:schemeClr val="accent2"/>
                </a:solidFill>
              </a:defRPr>
            </a:lvl1pPr>
          </a:lstStyle>
          <a:p>
            <a:fld id="{D8027E5A-4482-46C4-A2DC-45BEF00C1E0A}" type="datetime1">
              <a:rPr lang="en-US" smtClean="0"/>
              <a:t>9/17/26</a:t>
            </a:fld>
            <a:endParaRPr lang="en-US"/>
          </a:p>
        </p:txBody>
      </p:sp>
      <p:sp>
        <p:nvSpPr>
          <p:cNvPr id="5" name="Footer Placeholder 4"/>
          <p:cNvSpPr>
            <a:spLocks noGrp="1"/>
          </p:cNvSpPr>
          <p:nvPr>
            <p:ph type="ftr" sz="quarter" idx="3"/>
          </p:nvPr>
        </p:nvSpPr>
        <p:spPr>
          <a:xfrm>
            <a:off x="581192" y="5951811"/>
            <a:ext cx="6917210" cy="365125"/>
          </a:xfrm>
          <a:prstGeom prst="rect">
            <a:avLst/>
          </a:prstGeom>
        </p:spPr>
        <p:txBody>
          <a:bodyPr vert="horz" lIns="91440" tIns="45720" rIns="91440" bIns="45720" rtlCol="0" anchor="ctr"/>
          <a:lstStyle>
            <a:lvl1pPr algn="l">
              <a:defRPr sz="900" cap="all">
                <a:solidFill>
                  <a:schemeClr val="accent2"/>
                </a:solidFill>
              </a:defRPr>
            </a:lvl1pPr>
          </a:lstStyle>
          <a:p>
            <a:endParaRPr lang="en-US"/>
          </a:p>
        </p:txBody>
      </p:sp>
      <p:sp>
        <p:nvSpPr>
          <p:cNvPr id="6" name="Slide Number Placeholder 5"/>
          <p:cNvSpPr>
            <a:spLocks noGrp="1"/>
          </p:cNvSpPr>
          <p:nvPr>
            <p:ph type="sldNum" sz="quarter" idx="4"/>
          </p:nvPr>
        </p:nvSpPr>
        <p:spPr>
          <a:xfrm>
            <a:off x="10558300" y="5956137"/>
            <a:ext cx="1052510" cy="365125"/>
          </a:xfrm>
          <a:prstGeom prst="rect">
            <a:avLst/>
          </a:prstGeom>
        </p:spPr>
        <p:txBody>
          <a:bodyPr vert="horz" lIns="91440" tIns="45720" rIns="91440" bIns="45720" rtlCol="0" anchor="ctr"/>
          <a:lstStyle>
            <a:lvl1pPr algn="r">
              <a:defRPr sz="900">
                <a:solidFill>
                  <a:schemeClr val="accent2"/>
                </a:solidFill>
              </a:defRPr>
            </a:lvl1pPr>
          </a:lstStyle>
          <a:p>
            <a:fld id="{D57F1E4F-1CFF-5643-939E-217C01CDF565}" type="slidenum">
              <a:rPr lang="en-US" smtClean="0"/>
              <a:pPr/>
              <a:t>‹#›</a:t>
            </a:fld>
            <a:endParaRPr lang="en-US"/>
          </a:p>
        </p:txBody>
      </p:sp>
      <p:sp>
        <p:nvSpPr>
          <p:cNvPr id="9" name="Rectangle 8"/>
          <p:cNvSpPr/>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CO"/>
          </a:p>
        </p:txBody>
      </p:sp>
      <p:sp>
        <p:nvSpPr>
          <p:cNvPr id="10" name="Rectangle 9"/>
          <p:cNvSpPr/>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CO"/>
          </a:p>
        </p:txBody>
      </p:sp>
      <p:sp>
        <p:nvSpPr>
          <p:cNvPr id="11" name="Rectangle 10"/>
          <p:cNvSpPr/>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CO"/>
          </a:p>
        </p:txBody>
      </p:sp>
    </p:spTree>
    <p:extLst>
      <p:ext uri="{BB962C8B-B14F-4D97-AF65-F5344CB8AC3E}">
        <p14:creationId xmlns:p14="http://schemas.microsoft.com/office/powerpoint/2010/main" val="3105486307"/>
      </p:ext>
    </p:extLst>
  </p:cSld>
  <p:clrMap bg1="lt1" tx1="dk1" bg2="lt2" tx2="dk2" accent1="accent1" accent2="accent2" accent3="accent3" accent4="accent4" accent5="accent5" accent6="accent6" hlink="hlink" folHlink="folHlink"/>
  <p:sldLayoutIdLst>
    <p:sldLayoutId id="2147483733" r:id="rId1"/>
    <p:sldLayoutId id="2147483734" r:id="rId2"/>
    <p:sldLayoutId id="2147483735" r:id="rId3"/>
    <p:sldLayoutId id="2147483736" r:id="rId4"/>
    <p:sldLayoutId id="2147483737" r:id="rId5"/>
    <p:sldLayoutId id="2147483738" r:id="rId6"/>
    <p:sldLayoutId id="2147483739" r:id="rId7"/>
    <p:sldLayoutId id="2147483740" r:id="rId8"/>
    <p:sldLayoutId id="2147483741" r:id="rId9"/>
    <p:sldLayoutId id="2147483742" r:id="rId10"/>
    <p:sldLayoutId id="2147483743" r:id="rId11"/>
  </p:sldLayoutIdLst>
  <p:hf hdr="0" ftr="0" dt="0"/>
  <p:txStyles>
    <p:title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2.png"/><Relationship Id="rId1" Type="http://schemas.openxmlformats.org/officeDocument/2006/relationships/slideLayout" Target="../slideLayouts/slideLayout2.xml"/><Relationship Id="rId5" Type="http://schemas.openxmlformats.org/officeDocument/2006/relationships/image" Target="../media/image6.emf"/><Relationship Id="rId4" Type="http://schemas.openxmlformats.org/officeDocument/2006/relationships/image" Target="../media/image5.emf"/></Relationships>
</file>

<file path=ppt/slides/_rels/slide7.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7.gif"/><Relationship Id="rId2" Type="http://schemas.openxmlformats.org/officeDocument/2006/relationships/image" Target="../media/image16.gif"/><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2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2.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B3DBC2-73CA-37F8-925E-55539159B984}"/>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11A8FD73-38AB-8ADC-54CD-F77B8DA1BFBA}"/>
              </a:ext>
            </a:extLst>
          </p:cNvPr>
          <p:cNvSpPr>
            <a:spLocks noGrp="1"/>
          </p:cNvSpPr>
          <p:nvPr>
            <p:ph type="title"/>
          </p:nvPr>
        </p:nvSpPr>
        <p:spPr/>
        <p:txBody>
          <a:bodyPr>
            <a:normAutofit/>
          </a:bodyPr>
          <a:lstStyle/>
          <a:p>
            <a:r>
              <a:rPr lang="es-CO" sz="3200">
                <a:latin typeface="Century Gothic" panose="020B0502020202020204" pitchFamily="34" charset="0"/>
              </a:rPr>
              <a:t>AGENDA PROPUESTA</a:t>
            </a:r>
          </a:p>
        </p:txBody>
      </p:sp>
      <p:sp>
        <p:nvSpPr>
          <p:cNvPr id="4" name="Marcador de número de diapositiva 3">
            <a:extLst>
              <a:ext uri="{FF2B5EF4-FFF2-40B4-BE49-F238E27FC236}">
                <a16:creationId xmlns:a16="http://schemas.microsoft.com/office/drawing/2014/main" id="{25447C17-3F47-70EB-0062-26CE5BBF44B4}"/>
              </a:ext>
            </a:extLst>
          </p:cNvPr>
          <p:cNvSpPr>
            <a:spLocks noGrp="1"/>
          </p:cNvSpPr>
          <p:nvPr>
            <p:ph type="sldNum" sz="quarter" idx="12"/>
          </p:nvPr>
        </p:nvSpPr>
        <p:spPr/>
        <p:txBody>
          <a:bodyPr/>
          <a:lstStyle/>
          <a:p>
            <a:fld id="{D57F1E4F-1CFF-5643-939E-217C01CDF565}" type="slidenum">
              <a:rPr lang="en-US" sz="1400" b="1" smtClean="0"/>
              <a:pPr/>
              <a:t>1</a:t>
            </a:fld>
            <a:endParaRPr lang="en-US" sz="1400" b="1" dirty="0"/>
          </a:p>
        </p:txBody>
      </p:sp>
      <p:pic>
        <p:nvPicPr>
          <p:cNvPr id="6" name="Picture 6" descr="Resultado de imagen para RELOJ VECTOR">
            <a:extLst>
              <a:ext uri="{FF2B5EF4-FFF2-40B4-BE49-F238E27FC236}">
                <a16:creationId xmlns:a16="http://schemas.microsoft.com/office/drawing/2014/main" id="{35DCD210-92B8-DFD3-61A9-B6F8E57258BB}"/>
              </a:ext>
            </a:extLst>
          </p:cNvPr>
          <p:cNvPicPr>
            <a:picLocks noChangeAspect="1" noChangeArrowheads="1"/>
          </p:cNvPicPr>
          <p:nvPr/>
        </p:nvPicPr>
        <p:blipFill rotWithShape="1">
          <a:blip r:embed="rId2" cstate="print">
            <a:clrChange>
              <a:clrFrom>
                <a:srgbClr val="F6F6F6"/>
              </a:clrFrom>
              <a:clrTo>
                <a:srgbClr val="F6F6F6">
                  <a:alpha val="0"/>
                </a:srgbClr>
              </a:clrTo>
            </a:clrChange>
            <a:duotone>
              <a:schemeClr val="accent3">
                <a:shade val="45000"/>
                <a:satMod val="135000"/>
              </a:schemeClr>
              <a:prstClr val="white"/>
            </a:duotone>
            <a:extLst>
              <a:ext uri="{28A0092B-C50C-407E-A947-70E740481C1C}">
                <a14:useLocalDpi xmlns:a14="http://schemas.microsoft.com/office/drawing/2010/main" val="0"/>
              </a:ext>
            </a:extLst>
          </a:blip>
          <a:srcRect l="24517" t="6285" r="24815" b="6503"/>
          <a:stretch/>
        </p:blipFill>
        <p:spPr bwMode="auto">
          <a:xfrm>
            <a:off x="1256045" y="2772729"/>
            <a:ext cx="1236705" cy="1246074"/>
          </a:xfrm>
          <a:prstGeom prst="rect">
            <a:avLst/>
          </a:prstGeom>
          <a:noFill/>
          <a:extLst>
            <a:ext uri="{909E8E84-426E-40DD-AFC4-6F175D3DCCD1}">
              <a14:hiddenFill xmlns:a14="http://schemas.microsoft.com/office/drawing/2010/main">
                <a:solidFill>
                  <a:srgbClr val="FFFFFF"/>
                </a:solidFill>
              </a14:hiddenFill>
            </a:ext>
          </a:extLst>
        </p:spPr>
      </p:pic>
      <p:sp>
        <p:nvSpPr>
          <p:cNvPr id="23" name="Rectángulo 22">
            <a:extLst>
              <a:ext uri="{FF2B5EF4-FFF2-40B4-BE49-F238E27FC236}">
                <a16:creationId xmlns:a16="http://schemas.microsoft.com/office/drawing/2014/main" id="{0A7E34CD-F865-88E6-9D76-6C10E7474634}"/>
              </a:ext>
            </a:extLst>
          </p:cNvPr>
          <p:cNvSpPr/>
          <p:nvPr/>
        </p:nvSpPr>
        <p:spPr>
          <a:xfrm>
            <a:off x="2806200" y="2772729"/>
            <a:ext cx="8540907" cy="3293209"/>
          </a:xfrm>
          <a:prstGeom prst="rect">
            <a:avLst/>
          </a:prstGeom>
        </p:spPr>
        <p:txBody>
          <a:bodyPr wrap="square" lIns="91440" tIns="45720" rIns="91440" bIns="45720" anchor="t">
            <a:spAutoFit/>
          </a:bodyPr>
          <a:lstStyle/>
          <a:p>
            <a:pPr marL="342900" indent="-342900" algn="just">
              <a:buClr>
                <a:schemeClr val="accent3">
                  <a:lumMod val="75000"/>
                </a:schemeClr>
              </a:buClr>
              <a:buFont typeface="Gill Sans MT" panose="020B0502020104020203"/>
              <a:buAutoNum type="arabicPeriod"/>
            </a:pPr>
            <a:r>
              <a:rPr lang="es-CO" sz="1600" dirty="0">
                <a:solidFill>
                  <a:schemeClr val="bg2">
                    <a:lumMod val="90000"/>
                  </a:schemeClr>
                </a:solidFill>
                <a:latin typeface="Century Gothic"/>
                <a:cs typeface="Arial"/>
              </a:rPr>
              <a:t>Capital de Trabajo en el Estado de la Situación Financiera y en el Estado de Resultados.</a:t>
            </a:r>
            <a:endParaRPr lang="es-ES" sz="1600" dirty="0">
              <a:solidFill>
                <a:schemeClr val="bg2">
                  <a:lumMod val="90000"/>
                </a:schemeClr>
              </a:solidFill>
              <a:latin typeface="Century Gothic"/>
              <a:cs typeface="Arial"/>
            </a:endParaRPr>
          </a:p>
          <a:p>
            <a:pPr marL="342900" indent="-342900" algn="just">
              <a:buClr>
                <a:srgbClr val="2C7C9F"/>
              </a:buClr>
              <a:buFontTx/>
              <a:buAutoNum type="arabicPeriod"/>
            </a:pPr>
            <a:endParaRPr lang="es-CO" sz="1600" dirty="0">
              <a:solidFill>
                <a:schemeClr val="accent1"/>
              </a:solidFill>
              <a:latin typeface="Century Gothic"/>
              <a:cs typeface="Arial"/>
            </a:endParaRPr>
          </a:p>
          <a:p>
            <a:pPr marL="342900" indent="-342900" algn="just">
              <a:buClr>
                <a:srgbClr val="48BE7A"/>
              </a:buClr>
              <a:buFontTx/>
              <a:buAutoNum type="arabicPeriod"/>
            </a:pPr>
            <a:r>
              <a:rPr lang="es-CO" sz="1600" dirty="0">
                <a:solidFill>
                  <a:schemeClr val="bg2">
                    <a:lumMod val="90000"/>
                  </a:schemeClr>
                </a:solidFill>
                <a:latin typeface="Century Gothic"/>
                <a:cs typeface="Arial"/>
              </a:rPr>
              <a:t>Capital de Trabajo por Periodo de Cobro, Periodo de Pago y Periodo de Rotación de Inventario.</a:t>
            </a:r>
          </a:p>
          <a:p>
            <a:pPr marL="342900" indent="-342900" algn="just">
              <a:buClr>
                <a:srgbClr val="48BE7A"/>
              </a:buClr>
              <a:buFontTx/>
              <a:buAutoNum type="arabicPeriod"/>
            </a:pPr>
            <a:endParaRPr lang="es-CO" sz="1600" dirty="0">
              <a:solidFill>
                <a:schemeClr val="accent1"/>
              </a:solidFill>
              <a:latin typeface="Century Gothic"/>
              <a:cs typeface="Arial"/>
            </a:endParaRPr>
          </a:p>
          <a:p>
            <a:pPr marL="342900" indent="-342900" algn="just">
              <a:buClr>
                <a:srgbClr val="48BE7A"/>
              </a:buClr>
              <a:buFontTx/>
              <a:buAutoNum type="arabicPeriod"/>
            </a:pPr>
            <a:r>
              <a:rPr lang="es-ES" sz="1600" dirty="0">
                <a:solidFill>
                  <a:schemeClr val="bg2">
                    <a:lumMod val="90000"/>
                  </a:schemeClr>
                </a:solidFill>
                <a:latin typeface="Century Gothic"/>
                <a:cs typeface="Arial"/>
              </a:rPr>
              <a:t>Variación de PPE e Intangibles (CAPEX).</a:t>
            </a:r>
            <a:endParaRPr lang="es-CO" sz="1600" dirty="0">
              <a:solidFill>
                <a:schemeClr val="bg2">
                  <a:lumMod val="90000"/>
                </a:schemeClr>
              </a:solidFill>
              <a:latin typeface="Century Gothic"/>
              <a:cs typeface="Arial"/>
            </a:endParaRPr>
          </a:p>
          <a:p>
            <a:pPr marL="342900" indent="-342900" algn="just">
              <a:buClr>
                <a:srgbClr val="48BE7A"/>
              </a:buClr>
              <a:buFontTx/>
              <a:buAutoNum type="arabicPeriod"/>
            </a:pPr>
            <a:endParaRPr lang="es-CO" sz="1600" dirty="0">
              <a:solidFill>
                <a:schemeClr val="accent1"/>
              </a:solidFill>
              <a:latin typeface="Century Gothic"/>
              <a:cs typeface="Arial"/>
            </a:endParaRPr>
          </a:p>
          <a:p>
            <a:pPr marL="342900" indent="-342900" algn="just">
              <a:buClr>
                <a:srgbClr val="48BE7A"/>
              </a:buClr>
              <a:buFontTx/>
              <a:buAutoNum type="arabicPeriod"/>
            </a:pPr>
            <a:r>
              <a:rPr lang="es-CO" sz="1600" dirty="0">
                <a:solidFill>
                  <a:schemeClr val="bg2">
                    <a:lumMod val="90000"/>
                  </a:schemeClr>
                </a:solidFill>
                <a:latin typeface="Century Gothic"/>
                <a:cs typeface="Arial"/>
              </a:rPr>
              <a:t>Impuesto Ocasional.</a:t>
            </a:r>
          </a:p>
          <a:p>
            <a:pPr marL="342900" indent="-342900" algn="just">
              <a:buClr>
                <a:srgbClr val="48BE7A"/>
              </a:buClr>
              <a:buFontTx/>
              <a:buAutoNum type="arabicPeriod"/>
            </a:pPr>
            <a:endParaRPr lang="es-CO" sz="1600" dirty="0">
              <a:solidFill>
                <a:schemeClr val="accent1"/>
              </a:solidFill>
              <a:latin typeface="Century Gothic"/>
              <a:cs typeface="Arial"/>
            </a:endParaRPr>
          </a:p>
          <a:p>
            <a:pPr marL="342900" indent="-342900" algn="just">
              <a:buClr>
                <a:srgbClr val="48BE7A"/>
              </a:buClr>
              <a:buFontTx/>
              <a:buAutoNum type="arabicPeriod"/>
            </a:pPr>
            <a:r>
              <a:rPr lang="es-CO" sz="1600" dirty="0">
                <a:solidFill>
                  <a:schemeClr val="accent1"/>
                </a:solidFill>
                <a:latin typeface="Century Gothic"/>
                <a:cs typeface="Arial"/>
              </a:rPr>
              <a:t>Valor Terminal. </a:t>
            </a:r>
          </a:p>
          <a:p>
            <a:pPr algn="just">
              <a:buClr>
                <a:srgbClr val="48BE7A"/>
              </a:buClr>
            </a:pPr>
            <a:endParaRPr lang="es-CO" sz="1600" dirty="0">
              <a:solidFill>
                <a:schemeClr val="accent1"/>
              </a:solidFill>
              <a:latin typeface="Century Gothic" panose="020B0502020202020204" pitchFamily="34" charset="0"/>
              <a:cs typeface="Arial"/>
            </a:endParaRPr>
          </a:p>
          <a:p>
            <a:pPr algn="just">
              <a:buClr>
                <a:schemeClr val="accent3">
                  <a:lumMod val="75000"/>
                </a:schemeClr>
              </a:buClr>
            </a:pPr>
            <a:endParaRPr lang="es-CO" sz="1600" dirty="0">
              <a:solidFill>
                <a:schemeClr val="accent1"/>
              </a:solidFill>
              <a:latin typeface="Century Gothic" panose="020B0502020202020204" pitchFamily="34" charset="0"/>
            </a:endParaRPr>
          </a:p>
        </p:txBody>
      </p:sp>
      <p:sp>
        <p:nvSpPr>
          <p:cNvPr id="3" name="Rectángulo 2">
            <a:extLst>
              <a:ext uri="{FF2B5EF4-FFF2-40B4-BE49-F238E27FC236}">
                <a16:creationId xmlns:a16="http://schemas.microsoft.com/office/drawing/2014/main" id="{1E243C76-AC17-BF5E-5819-A4A3777D4044}"/>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8" name="Picture 2" descr="Clientes y aliados | Centro de Evaluación | Uniandes">
            <a:extLst>
              <a:ext uri="{FF2B5EF4-FFF2-40B4-BE49-F238E27FC236}">
                <a16:creationId xmlns:a16="http://schemas.microsoft.com/office/drawing/2014/main" id="{D09825A5-A1C5-87C0-232D-A71A2A59DB0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7" name="Rectángulo 6">
            <a:extLst>
              <a:ext uri="{FF2B5EF4-FFF2-40B4-BE49-F238E27FC236}">
                <a16:creationId xmlns:a16="http://schemas.microsoft.com/office/drawing/2014/main" id="{36F2EE49-4BEF-849D-D290-4973F7DBFD13}"/>
              </a:ext>
            </a:extLst>
          </p:cNvPr>
          <p:cNvSpPr/>
          <p:nvPr/>
        </p:nvSpPr>
        <p:spPr>
          <a:xfrm>
            <a:off x="8399257" y="118110"/>
            <a:ext cx="3150778" cy="261610"/>
          </a:xfrm>
          <a:prstGeom prst="rect">
            <a:avLst/>
          </a:prstGeom>
        </p:spPr>
        <p:txBody>
          <a:bodyPr wrap="square">
            <a:spAutoFit/>
          </a:bodyPr>
          <a:lstStyle/>
          <a:p>
            <a:pPr algn="r"/>
            <a:r>
              <a:rPr lang="es-CO" sz="1100" b="1" dirty="0">
                <a:solidFill>
                  <a:schemeClr val="accent2">
                    <a:lumMod val="50000"/>
                  </a:schemeClr>
                </a:solidFill>
                <a:latin typeface="Century Gothic" panose="020B0502020202020204" pitchFamily="34" charset="0"/>
                <a:sym typeface="Gill Sans Light"/>
              </a:rPr>
              <a:t>Curso</a:t>
            </a:r>
            <a:r>
              <a:rPr lang="es-CO" sz="1100" dirty="0">
                <a:solidFill>
                  <a:schemeClr val="accent2">
                    <a:lumMod val="50000"/>
                  </a:schemeClr>
                </a:solidFill>
                <a:latin typeface="Century Gothic" panose="020B0502020202020204" pitchFamily="34" charset="0"/>
                <a:sym typeface="Gill Sans Light"/>
              </a:rPr>
              <a:t> Análisis de Decisiones de Inversión</a:t>
            </a:r>
            <a:endParaRPr lang="es-CO" sz="1100" dirty="0">
              <a:solidFill>
                <a:schemeClr val="accent2">
                  <a:lumMod val="50000"/>
                </a:schemeClr>
              </a:solidFill>
              <a:latin typeface="Century Gothic" panose="020B0502020202020204" pitchFamily="34" charset="0"/>
            </a:endParaRPr>
          </a:p>
        </p:txBody>
      </p:sp>
    </p:spTree>
    <p:extLst>
      <p:ext uri="{BB962C8B-B14F-4D97-AF65-F5344CB8AC3E}">
        <p14:creationId xmlns:p14="http://schemas.microsoft.com/office/powerpoint/2010/main" val="6227367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42" presetClass="entr" presetSubtype="0" fill="hold" grpId="0" nodeType="withEffect">
                                  <p:stCondLst>
                                    <p:cond delay="0"/>
                                  </p:stCondLst>
                                  <p:childTnLst>
                                    <p:set>
                                      <p:cBhvr>
                                        <p:cTn id="8" dur="1" fill="hold">
                                          <p:stCondLst>
                                            <p:cond delay="0"/>
                                          </p:stCondLst>
                                        </p:cTn>
                                        <p:tgtEl>
                                          <p:spTgt spid="23"/>
                                        </p:tgtEl>
                                        <p:attrNameLst>
                                          <p:attrName>style.visibility</p:attrName>
                                        </p:attrNameLst>
                                      </p:cBhvr>
                                      <p:to>
                                        <p:strVal val="visible"/>
                                      </p:to>
                                    </p:set>
                                    <p:animEffect transition="in" filter="fade">
                                      <p:cBhvr>
                                        <p:cTn id="9" dur="1000"/>
                                        <p:tgtEl>
                                          <p:spTgt spid="23"/>
                                        </p:tgtEl>
                                      </p:cBhvr>
                                    </p:animEffect>
                                    <p:anim calcmode="lin" valueType="num">
                                      <p:cBhvr>
                                        <p:cTn id="10" dur="1000" fill="hold"/>
                                        <p:tgtEl>
                                          <p:spTgt spid="23"/>
                                        </p:tgtEl>
                                        <p:attrNameLst>
                                          <p:attrName>ppt_x</p:attrName>
                                        </p:attrNameLst>
                                      </p:cBhvr>
                                      <p:tavLst>
                                        <p:tav tm="0">
                                          <p:val>
                                            <p:strVal val="#ppt_x"/>
                                          </p:val>
                                        </p:tav>
                                        <p:tav tm="100000">
                                          <p:val>
                                            <p:strVal val="#ppt_x"/>
                                          </p:val>
                                        </p:tav>
                                      </p:tavLst>
                                    </p:anim>
                                    <p:anim calcmode="lin" valueType="num">
                                      <p:cBhvr>
                                        <p:cTn id="11" dur="1000" fill="hold"/>
                                        <p:tgtEl>
                                          <p:spTgt spid="2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371F42-33D8-923F-DA83-DF4D4F4D2C45}"/>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D5DFE8AC-FF1E-474C-C613-6238DF035A3B}"/>
              </a:ext>
            </a:extLst>
          </p:cNvPr>
          <p:cNvSpPr>
            <a:spLocks noGrp="1"/>
          </p:cNvSpPr>
          <p:nvPr>
            <p:ph type="title"/>
          </p:nvPr>
        </p:nvSpPr>
        <p:spPr/>
        <p:txBody>
          <a:bodyPr/>
          <a:lstStyle/>
          <a:p>
            <a:r>
              <a:rPr lang="es-ES" dirty="0">
                <a:latin typeface="Century Gothic"/>
              </a:rPr>
              <a:t>VALOR TERMINAL </a:t>
            </a:r>
          </a:p>
        </p:txBody>
      </p:sp>
      <mc:AlternateContent xmlns:mc="http://schemas.openxmlformats.org/markup-compatibility/2006" xmlns:a14="http://schemas.microsoft.com/office/drawing/2010/main">
        <mc:Choice Requires="a14">
          <p:sp>
            <p:nvSpPr>
              <p:cNvPr id="3" name="Marcador de contenido 2">
                <a:extLst>
                  <a:ext uri="{FF2B5EF4-FFF2-40B4-BE49-F238E27FC236}">
                    <a16:creationId xmlns:a16="http://schemas.microsoft.com/office/drawing/2014/main" id="{4924AC80-BC07-1762-C0A3-4748FD08C674}"/>
                  </a:ext>
                </a:extLst>
              </p:cNvPr>
              <p:cNvSpPr>
                <a:spLocks noGrp="1"/>
              </p:cNvSpPr>
              <p:nvPr>
                <p:ph idx="1"/>
              </p:nvPr>
            </p:nvSpPr>
            <p:spPr>
              <a:xfrm>
                <a:off x="897337" y="1263317"/>
                <a:ext cx="10055553" cy="3417556"/>
              </a:xfrm>
            </p:spPr>
            <p:txBody>
              <a:bodyPr>
                <a:normAutofit/>
              </a:bodyPr>
              <a:lstStyle/>
              <a:p>
                <a:pPr marL="0" indent="0" algn="ctr">
                  <a:buNone/>
                </a:pPr>
                <a:r>
                  <a:rPr lang="es-ES" sz="1600" dirty="0">
                    <a:solidFill>
                      <a:schemeClr val="accent1"/>
                    </a:solidFill>
                    <a:latin typeface="Century Gothic"/>
                  </a:rPr>
                  <a:t>Hasta ahora hemos proyectado el Flujo de Caja Libre año tras año: </a:t>
                </a:r>
                <a14:m>
                  <m:oMath xmlns:m="http://schemas.openxmlformats.org/officeDocument/2006/math">
                    <m:r>
                      <a:rPr lang="es-CO" sz="1600" b="0" i="1" smtClean="0">
                        <a:solidFill>
                          <a:schemeClr val="accent1"/>
                        </a:solidFill>
                        <a:latin typeface="Cambria Math" panose="02040503050406030204" pitchFamily="18" charset="0"/>
                      </a:rPr>
                      <m:t>𝐹𝐶</m:t>
                    </m:r>
                    <m:sSub>
                      <m:sSubPr>
                        <m:ctrlPr>
                          <a:rPr lang="es-CO" sz="1600" b="0" i="1" smtClean="0">
                            <a:solidFill>
                              <a:schemeClr val="accent1"/>
                            </a:solidFill>
                            <a:latin typeface="Cambria Math" panose="02040503050406030204" pitchFamily="18" charset="0"/>
                          </a:rPr>
                        </m:ctrlPr>
                      </m:sSubPr>
                      <m:e>
                        <m:r>
                          <a:rPr lang="es-CO" sz="1600" b="0" i="1" smtClean="0">
                            <a:solidFill>
                              <a:schemeClr val="accent1"/>
                            </a:solidFill>
                            <a:latin typeface="Cambria Math" panose="02040503050406030204" pitchFamily="18" charset="0"/>
                          </a:rPr>
                          <m:t>𝐿</m:t>
                        </m:r>
                      </m:e>
                      <m:sub>
                        <m:r>
                          <a:rPr lang="es-CO" sz="1600" b="0" i="1" smtClean="0">
                            <a:solidFill>
                              <a:schemeClr val="accent1"/>
                            </a:solidFill>
                            <a:latin typeface="Cambria Math" panose="02040503050406030204" pitchFamily="18" charset="0"/>
                          </a:rPr>
                          <m:t>1</m:t>
                        </m:r>
                      </m:sub>
                    </m:sSub>
                    <m:r>
                      <a:rPr lang="es-CO" sz="1600" b="0" i="1" smtClean="0">
                        <a:solidFill>
                          <a:schemeClr val="accent1"/>
                        </a:solidFill>
                        <a:latin typeface="Cambria Math" panose="02040503050406030204" pitchFamily="18" charset="0"/>
                      </a:rPr>
                      <m:t>, </m:t>
                    </m:r>
                    <m:r>
                      <a:rPr lang="es-CO" sz="1600" b="0" i="1" smtClean="0">
                        <a:solidFill>
                          <a:schemeClr val="accent1"/>
                        </a:solidFill>
                        <a:latin typeface="Cambria Math" panose="02040503050406030204" pitchFamily="18" charset="0"/>
                      </a:rPr>
                      <m:t>𝐹𝐶</m:t>
                    </m:r>
                    <m:sSub>
                      <m:sSubPr>
                        <m:ctrlPr>
                          <a:rPr lang="es-CO" sz="1600" b="0" i="1" smtClean="0">
                            <a:solidFill>
                              <a:schemeClr val="accent1"/>
                            </a:solidFill>
                            <a:latin typeface="Cambria Math" panose="02040503050406030204" pitchFamily="18" charset="0"/>
                          </a:rPr>
                        </m:ctrlPr>
                      </m:sSubPr>
                      <m:e>
                        <m:r>
                          <a:rPr lang="es-CO" sz="1600" b="0" i="1" smtClean="0">
                            <a:solidFill>
                              <a:schemeClr val="accent1"/>
                            </a:solidFill>
                            <a:latin typeface="Cambria Math" panose="02040503050406030204" pitchFamily="18" charset="0"/>
                          </a:rPr>
                          <m:t>𝐿</m:t>
                        </m:r>
                      </m:e>
                      <m:sub>
                        <m:r>
                          <a:rPr lang="es-CO" sz="1600" b="0" i="1" smtClean="0">
                            <a:solidFill>
                              <a:schemeClr val="accent1"/>
                            </a:solidFill>
                            <a:latin typeface="Cambria Math" panose="02040503050406030204" pitchFamily="18" charset="0"/>
                          </a:rPr>
                          <m:t>2</m:t>
                        </m:r>
                      </m:sub>
                    </m:sSub>
                    <m:r>
                      <a:rPr lang="es-CO" sz="1600" b="0" i="1" smtClean="0">
                        <a:solidFill>
                          <a:schemeClr val="accent1"/>
                        </a:solidFill>
                        <a:latin typeface="Cambria Math" panose="02040503050406030204" pitchFamily="18" charset="0"/>
                      </a:rPr>
                      <m:t>, …</m:t>
                    </m:r>
                    <m:r>
                      <a:rPr lang="es-CO" sz="1600" b="0" i="1" smtClean="0">
                        <a:solidFill>
                          <a:schemeClr val="accent1"/>
                        </a:solidFill>
                        <a:latin typeface="Cambria Math" panose="02040503050406030204" pitchFamily="18" charset="0"/>
                      </a:rPr>
                      <m:t>𝐹𝐶</m:t>
                    </m:r>
                    <m:sSub>
                      <m:sSubPr>
                        <m:ctrlPr>
                          <a:rPr lang="es-CO" sz="1600" b="0" i="1" smtClean="0">
                            <a:solidFill>
                              <a:schemeClr val="accent1"/>
                            </a:solidFill>
                            <a:latin typeface="Cambria Math" panose="02040503050406030204" pitchFamily="18" charset="0"/>
                          </a:rPr>
                        </m:ctrlPr>
                      </m:sSubPr>
                      <m:e>
                        <m:r>
                          <a:rPr lang="es-CO" sz="1600" b="0" i="1" smtClean="0">
                            <a:solidFill>
                              <a:schemeClr val="accent1"/>
                            </a:solidFill>
                            <a:latin typeface="Cambria Math" panose="02040503050406030204" pitchFamily="18" charset="0"/>
                          </a:rPr>
                          <m:t>𝐿</m:t>
                        </m:r>
                      </m:e>
                      <m:sub>
                        <m:r>
                          <a:rPr lang="es-CO" sz="1600" b="0" i="1" smtClean="0">
                            <a:solidFill>
                              <a:schemeClr val="accent1"/>
                            </a:solidFill>
                            <a:latin typeface="Cambria Math" panose="02040503050406030204" pitchFamily="18" charset="0"/>
                          </a:rPr>
                          <m:t>𝑛</m:t>
                        </m:r>
                      </m:sub>
                    </m:sSub>
                  </m:oMath>
                </a14:m>
                <a:endParaRPr lang="es-ES" sz="1600" dirty="0">
                  <a:solidFill>
                    <a:schemeClr val="accent1"/>
                  </a:solidFill>
                  <a:latin typeface="Century Gothic"/>
                </a:endParaRPr>
              </a:p>
              <a:p>
                <a:pPr marL="0" indent="0" algn="ctr">
                  <a:buNone/>
                </a:pPr>
                <a:r>
                  <a:rPr lang="es-ES" sz="1600" b="1" dirty="0">
                    <a:solidFill>
                      <a:srgbClr val="C00000"/>
                    </a:solidFill>
                    <a:latin typeface="Century Gothic"/>
                  </a:rPr>
                  <a:t>¿Qué pasa después del año n?</a:t>
                </a:r>
                <a:endParaRPr lang="es-ES" sz="1600" dirty="0">
                  <a:solidFill>
                    <a:schemeClr val="accent1"/>
                  </a:solidFill>
                  <a:latin typeface="Century Gothic"/>
                </a:endParaRPr>
              </a:p>
              <a:p>
                <a:pPr marL="0" indent="0" algn="ctr">
                  <a:buNone/>
                </a:pPr>
                <a:r>
                  <a:rPr lang="es-ES" sz="1600" dirty="0">
                    <a:solidFill>
                      <a:schemeClr val="accent1"/>
                    </a:solidFill>
                    <a:latin typeface="Century Gothic"/>
                  </a:rPr>
                  <a:t>La empresa no deja de operar cuando nosotros dejamos de proyectar. ¿Cómo representamos, en un solo número, el valor total de todo lo que la empresa seguirá generando después del año n? </a:t>
                </a:r>
              </a:p>
              <a:p>
                <a:pPr marL="0" indent="0" algn="ctr">
                  <a:buNone/>
                </a:pPr>
                <a:r>
                  <a:rPr lang="es-ES" sz="1600" dirty="0">
                    <a:solidFill>
                      <a:schemeClr val="accent1"/>
                    </a:solidFill>
                    <a:latin typeface="Century Gothic"/>
                  </a:rPr>
                  <a:t>A ese número le llamamos </a:t>
                </a:r>
                <a:r>
                  <a:rPr lang="es-ES" sz="1600" b="1" dirty="0">
                    <a:solidFill>
                      <a:srgbClr val="C00000"/>
                    </a:solidFill>
                    <a:latin typeface="Century Gothic"/>
                  </a:rPr>
                  <a:t>Valor Terminal</a:t>
                </a:r>
              </a:p>
            </p:txBody>
          </p:sp>
        </mc:Choice>
        <mc:Fallback xmlns="">
          <p:sp>
            <p:nvSpPr>
              <p:cNvPr id="3" name="Marcador de contenido 2">
                <a:extLst>
                  <a:ext uri="{FF2B5EF4-FFF2-40B4-BE49-F238E27FC236}">
                    <a16:creationId xmlns:a16="http://schemas.microsoft.com/office/drawing/2014/main" id="{4924AC80-BC07-1762-C0A3-4748FD08C674}"/>
                  </a:ext>
                </a:extLst>
              </p:cNvPr>
              <p:cNvSpPr>
                <a:spLocks noGrp="1" noRot="1" noChangeAspect="1" noMove="1" noResize="1" noEditPoints="1" noAdjustHandles="1" noChangeArrowheads="1" noChangeShapeType="1" noTextEdit="1"/>
              </p:cNvSpPr>
              <p:nvPr>
                <p:ph idx="1"/>
              </p:nvPr>
            </p:nvSpPr>
            <p:spPr>
              <a:xfrm>
                <a:off x="897337" y="1263317"/>
                <a:ext cx="10055553" cy="3417556"/>
              </a:xfrm>
              <a:blipFill>
                <a:blip r:embed="rId2"/>
                <a:stretch>
                  <a:fillRect r="-303"/>
                </a:stretch>
              </a:blipFill>
            </p:spPr>
            <p:txBody>
              <a:bodyPr/>
              <a:lstStyle/>
              <a:p>
                <a:r>
                  <a:rPr lang="es-CO">
                    <a:noFill/>
                  </a:rPr>
                  <a:t> </a:t>
                </a:r>
              </a:p>
            </p:txBody>
          </p:sp>
        </mc:Fallback>
      </mc:AlternateContent>
      <p:sp>
        <p:nvSpPr>
          <p:cNvPr id="4" name="Marcador de número de diapositiva 3">
            <a:extLst>
              <a:ext uri="{FF2B5EF4-FFF2-40B4-BE49-F238E27FC236}">
                <a16:creationId xmlns:a16="http://schemas.microsoft.com/office/drawing/2014/main" id="{513E4D92-9EC1-D629-A128-989ECCD9C30F}"/>
              </a:ext>
            </a:extLst>
          </p:cNvPr>
          <p:cNvSpPr>
            <a:spLocks noGrp="1"/>
          </p:cNvSpPr>
          <p:nvPr>
            <p:ph type="sldNum" sz="quarter" idx="12"/>
          </p:nvPr>
        </p:nvSpPr>
        <p:spPr/>
        <p:txBody>
          <a:bodyPr/>
          <a:lstStyle/>
          <a:p>
            <a:fld id="{5E3E23BA-6E79-2442-BA73-D218A5E297C3}" type="slidenum">
              <a:rPr lang="en-US" sz="1800" smtClean="0"/>
              <a:t>2</a:t>
            </a:fld>
            <a:endParaRPr lang="en-US" sz="1800" dirty="0"/>
          </a:p>
        </p:txBody>
      </p:sp>
      <p:sp>
        <p:nvSpPr>
          <p:cNvPr id="6" name="Rectángulo 5">
            <a:extLst>
              <a:ext uri="{FF2B5EF4-FFF2-40B4-BE49-F238E27FC236}">
                <a16:creationId xmlns:a16="http://schemas.microsoft.com/office/drawing/2014/main" id="{9BA5D1F8-C21C-1B25-354F-187680E18A18}"/>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8" name="Picture 2" descr="Clientes y aliados | Centro de Evaluación | Uniandes">
            <a:extLst>
              <a:ext uri="{FF2B5EF4-FFF2-40B4-BE49-F238E27FC236}">
                <a16:creationId xmlns:a16="http://schemas.microsoft.com/office/drawing/2014/main" id="{0740BA8D-92B3-9206-85AF-F0E75EA67F3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5" name="Rectángulo 4">
            <a:extLst>
              <a:ext uri="{FF2B5EF4-FFF2-40B4-BE49-F238E27FC236}">
                <a16:creationId xmlns:a16="http://schemas.microsoft.com/office/drawing/2014/main" id="{E55B88AB-E9AC-504A-F046-19EB4539A098}"/>
              </a:ext>
            </a:extLst>
          </p:cNvPr>
          <p:cNvSpPr/>
          <p:nvPr/>
        </p:nvSpPr>
        <p:spPr>
          <a:xfrm>
            <a:off x="8399257" y="118110"/>
            <a:ext cx="3150778" cy="261610"/>
          </a:xfrm>
          <a:prstGeom prst="rect">
            <a:avLst/>
          </a:prstGeom>
        </p:spPr>
        <p:txBody>
          <a:bodyPr wrap="square">
            <a:spAutoFit/>
          </a:bodyPr>
          <a:lstStyle/>
          <a:p>
            <a:pPr algn="r"/>
            <a:r>
              <a:rPr lang="es-CO" sz="1100" b="1" dirty="0">
                <a:solidFill>
                  <a:schemeClr val="accent2">
                    <a:lumMod val="50000"/>
                  </a:schemeClr>
                </a:solidFill>
                <a:latin typeface="Century Gothic" panose="020B0502020202020204" pitchFamily="34" charset="0"/>
                <a:sym typeface="Gill Sans Light"/>
              </a:rPr>
              <a:t>Curso</a:t>
            </a:r>
            <a:r>
              <a:rPr lang="es-CO" sz="1100" dirty="0">
                <a:solidFill>
                  <a:schemeClr val="accent2">
                    <a:lumMod val="50000"/>
                  </a:schemeClr>
                </a:solidFill>
                <a:latin typeface="Century Gothic" panose="020B0502020202020204" pitchFamily="34" charset="0"/>
                <a:sym typeface="Gill Sans Light"/>
              </a:rPr>
              <a:t> Análisis de Decisiones de Inversión</a:t>
            </a:r>
            <a:endParaRPr lang="es-CO" sz="1100" dirty="0">
              <a:solidFill>
                <a:schemeClr val="accent2">
                  <a:lumMod val="50000"/>
                </a:schemeClr>
              </a:solidFill>
              <a:latin typeface="Century Gothic" panose="020B0502020202020204" pitchFamily="34" charset="0"/>
            </a:endParaRPr>
          </a:p>
        </p:txBody>
      </p:sp>
      <p:cxnSp>
        <p:nvCxnSpPr>
          <p:cNvPr id="87" name="Straight Connector 6">
            <a:extLst>
              <a:ext uri="{FF2B5EF4-FFF2-40B4-BE49-F238E27FC236}">
                <a16:creationId xmlns:a16="http://schemas.microsoft.com/office/drawing/2014/main" id="{EC3D999E-A698-961B-B4B9-B5295D4A515F}"/>
              </a:ext>
            </a:extLst>
          </p:cNvPr>
          <p:cNvCxnSpPr>
            <a:cxnSpLocks/>
          </p:cNvCxnSpPr>
          <p:nvPr/>
        </p:nvCxnSpPr>
        <p:spPr>
          <a:xfrm>
            <a:off x="773165" y="6007457"/>
            <a:ext cx="4020132" cy="7791"/>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88" name="Straight Arrow Connector 9">
            <a:extLst>
              <a:ext uri="{FF2B5EF4-FFF2-40B4-BE49-F238E27FC236}">
                <a16:creationId xmlns:a16="http://schemas.microsoft.com/office/drawing/2014/main" id="{69AF033A-7ADB-B7EF-3E4C-890F6E38DE77}"/>
              </a:ext>
            </a:extLst>
          </p:cNvPr>
          <p:cNvCxnSpPr/>
          <p:nvPr/>
        </p:nvCxnSpPr>
        <p:spPr>
          <a:xfrm flipV="1">
            <a:off x="1441166" y="5596285"/>
            <a:ext cx="0" cy="424000"/>
          </a:xfrm>
          <a:prstGeom prst="straightConnector1">
            <a:avLst/>
          </a:prstGeom>
          <a:ln>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89" name="Straight Arrow Connector 11">
            <a:extLst>
              <a:ext uri="{FF2B5EF4-FFF2-40B4-BE49-F238E27FC236}">
                <a16:creationId xmlns:a16="http://schemas.microsoft.com/office/drawing/2014/main" id="{84D4AE25-85E5-0AD1-6756-7F2100A9B38B}"/>
              </a:ext>
            </a:extLst>
          </p:cNvPr>
          <p:cNvCxnSpPr/>
          <p:nvPr/>
        </p:nvCxnSpPr>
        <p:spPr>
          <a:xfrm flipV="1">
            <a:off x="2012827" y="5456484"/>
            <a:ext cx="0" cy="552276"/>
          </a:xfrm>
          <a:prstGeom prst="straightConnector1">
            <a:avLst/>
          </a:prstGeom>
          <a:ln>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90" name="Straight Arrow Connector 12">
            <a:extLst>
              <a:ext uri="{FF2B5EF4-FFF2-40B4-BE49-F238E27FC236}">
                <a16:creationId xmlns:a16="http://schemas.microsoft.com/office/drawing/2014/main" id="{966105D4-CC29-37FE-C934-48494D08B633}"/>
              </a:ext>
            </a:extLst>
          </p:cNvPr>
          <p:cNvCxnSpPr/>
          <p:nvPr/>
        </p:nvCxnSpPr>
        <p:spPr>
          <a:xfrm flipV="1">
            <a:off x="2610817" y="5315774"/>
            <a:ext cx="0" cy="667737"/>
          </a:xfrm>
          <a:prstGeom prst="straightConnector1">
            <a:avLst/>
          </a:prstGeom>
          <a:ln>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91" name="Straight Arrow Connector 13">
            <a:extLst>
              <a:ext uri="{FF2B5EF4-FFF2-40B4-BE49-F238E27FC236}">
                <a16:creationId xmlns:a16="http://schemas.microsoft.com/office/drawing/2014/main" id="{ED392137-E640-EDF1-5684-8C9DB5D71385}"/>
              </a:ext>
            </a:extLst>
          </p:cNvPr>
          <p:cNvCxnSpPr/>
          <p:nvPr/>
        </p:nvCxnSpPr>
        <p:spPr>
          <a:xfrm flipV="1">
            <a:off x="3243686" y="5152257"/>
            <a:ext cx="0" cy="834497"/>
          </a:xfrm>
          <a:prstGeom prst="straightConnector1">
            <a:avLst/>
          </a:prstGeom>
          <a:ln>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92" name="Straight Arrow Connector 14">
            <a:extLst>
              <a:ext uri="{FF2B5EF4-FFF2-40B4-BE49-F238E27FC236}">
                <a16:creationId xmlns:a16="http://schemas.microsoft.com/office/drawing/2014/main" id="{1C67DD27-845A-7C4E-B2EE-D0C18EE20049}"/>
              </a:ext>
            </a:extLst>
          </p:cNvPr>
          <p:cNvCxnSpPr/>
          <p:nvPr/>
        </p:nvCxnSpPr>
        <p:spPr>
          <a:xfrm flipV="1">
            <a:off x="3823820" y="4839441"/>
            <a:ext cx="0" cy="1180844"/>
          </a:xfrm>
          <a:prstGeom prst="straightConnector1">
            <a:avLst/>
          </a:prstGeom>
          <a:ln>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93" name="Straight Arrow Connector 15">
            <a:extLst>
              <a:ext uri="{FF2B5EF4-FFF2-40B4-BE49-F238E27FC236}">
                <a16:creationId xmlns:a16="http://schemas.microsoft.com/office/drawing/2014/main" id="{CE760DDE-0373-A24F-1A7A-5514672CF541}"/>
              </a:ext>
            </a:extLst>
          </p:cNvPr>
          <p:cNvCxnSpPr/>
          <p:nvPr/>
        </p:nvCxnSpPr>
        <p:spPr>
          <a:xfrm flipV="1">
            <a:off x="4793297" y="4473031"/>
            <a:ext cx="0" cy="1535244"/>
          </a:xfrm>
          <a:prstGeom prst="straightConnector1">
            <a:avLst/>
          </a:prstGeom>
          <a:ln>
            <a:solidFill>
              <a:schemeClr val="accent2"/>
            </a:solidFill>
            <a:tailEnd type="arrow"/>
          </a:ln>
        </p:spPr>
        <p:style>
          <a:lnRef idx="2">
            <a:schemeClr val="accent1"/>
          </a:lnRef>
          <a:fillRef idx="0">
            <a:schemeClr val="accent1"/>
          </a:fillRef>
          <a:effectRef idx="1">
            <a:schemeClr val="accent1"/>
          </a:effectRef>
          <a:fontRef idx="minor">
            <a:schemeClr val="tx1"/>
          </a:fontRef>
        </p:style>
      </p:cxnSp>
      <p:sp>
        <p:nvSpPr>
          <p:cNvPr id="94" name="Rectangle 35">
            <a:extLst>
              <a:ext uri="{FF2B5EF4-FFF2-40B4-BE49-F238E27FC236}">
                <a16:creationId xmlns:a16="http://schemas.microsoft.com/office/drawing/2014/main" id="{124EF371-369A-5548-3B74-5C386C2F6E93}"/>
              </a:ext>
            </a:extLst>
          </p:cNvPr>
          <p:cNvSpPr>
            <a:spLocks/>
          </p:cNvSpPr>
          <p:nvPr/>
        </p:nvSpPr>
        <p:spPr bwMode="auto">
          <a:xfrm>
            <a:off x="721868" y="6020286"/>
            <a:ext cx="102592" cy="24622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nchor="ctr">
            <a:spAutoFit/>
          </a:bodyPr>
          <a:lstStyle/>
          <a:p>
            <a:pPr algn="ctr"/>
            <a:r>
              <a:rPr lang="en-US" sz="1600"/>
              <a:t>0</a:t>
            </a:r>
          </a:p>
        </p:txBody>
      </p:sp>
      <p:sp>
        <p:nvSpPr>
          <p:cNvPr id="95" name="Rectangle 36">
            <a:extLst>
              <a:ext uri="{FF2B5EF4-FFF2-40B4-BE49-F238E27FC236}">
                <a16:creationId xmlns:a16="http://schemas.microsoft.com/office/drawing/2014/main" id="{6EBC1FA5-445C-5E04-A5E0-D91450319F72}"/>
              </a:ext>
            </a:extLst>
          </p:cNvPr>
          <p:cNvSpPr>
            <a:spLocks/>
          </p:cNvSpPr>
          <p:nvPr/>
        </p:nvSpPr>
        <p:spPr bwMode="auto">
          <a:xfrm>
            <a:off x="1267918" y="5992791"/>
            <a:ext cx="337057" cy="24622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1600" dirty="0"/>
              <a:t>1</a:t>
            </a:r>
          </a:p>
        </p:txBody>
      </p:sp>
      <p:sp>
        <p:nvSpPr>
          <p:cNvPr id="96" name="Rectangle 37">
            <a:extLst>
              <a:ext uri="{FF2B5EF4-FFF2-40B4-BE49-F238E27FC236}">
                <a16:creationId xmlns:a16="http://schemas.microsoft.com/office/drawing/2014/main" id="{C9607962-25A4-2337-630D-3A3BC3476B8A}"/>
              </a:ext>
            </a:extLst>
          </p:cNvPr>
          <p:cNvSpPr>
            <a:spLocks/>
          </p:cNvSpPr>
          <p:nvPr/>
        </p:nvSpPr>
        <p:spPr bwMode="auto">
          <a:xfrm>
            <a:off x="1832278" y="6007457"/>
            <a:ext cx="337060" cy="24622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1600" dirty="0"/>
              <a:t>2</a:t>
            </a:r>
          </a:p>
        </p:txBody>
      </p:sp>
      <p:sp>
        <p:nvSpPr>
          <p:cNvPr id="97" name="Rectangle 38">
            <a:extLst>
              <a:ext uri="{FF2B5EF4-FFF2-40B4-BE49-F238E27FC236}">
                <a16:creationId xmlns:a16="http://schemas.microsoft.com/office/drawing/2014/main" id="{61885414-45B2-EC54-1FB3-461C6052B60F}"/>
              </a:ext>
            </a:extLst>
          </p:cNvPr>
          <p:cNvSpPr>
            <a:spLocks/>
          </p:cNvSpPr>
          <p:nvPr/>
        </p:nvSpPr>
        <p:spPr bwMode="auto">
          <a:xfrm>
            <a:off x="2442286" y="6020286"/>
            <a:ext cx="337060" cy="24622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1600"/>
              <a:t>3</a:t>
            </a:r>
          </a:p>
        </p:txBody>
      </p:sp>
      <p:sp>
        <p:nvSpPr>
          <p:cNvPr id="98" name="Rectangle 39">
            <a:extLst>
              <a:ext uri="{FF2B5EF4-FFF2-40B4-BE49-F238E27FC236}">
                <a16:creationId xmlns:a16="http://schemas.microsoft.com/office/drawing/2014/main" id="{3DC12B12-B920-6255-A71E-A2C705572DB5}"/>
              </a:ext>
            </a:extLst>
          </p:cNvPr>
          <p:cNvSpPr>
            <a:spLocks/>
          </p:cNvSpPr>
          <p:nvPr/>
        </p:nvSpPr>
        <p:spPr bwMode="auto">
          <a:xfrm>
            <a:off x="3040274" y="6020286"/>
            <a:ext cx="337060" cy="24622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1600" dirty="0"/>
              <a:t>4</a:t>
            </a:r>
          </a:p>
        </p:txBody>
      </p:sp>
      <p:sp>
        <p:nvSpPr>
          <p:cNvPr id="99" name="Rectangle 40">
            <a:extLst>
              <a:ext uri="{FF2B5EF4-FFF2-40B4-BE49-F238E27FC236}">
                <a16:creationId xmlns:a16="http://schemas.microsoft.com/office/drawing/2014/main" id="{61031C17-3496-145C-FD52-459E4E37453E}"/>
              </a:ext>
            </a:extLst>
          </p:cNvPr>
          <p:cNvSpPr>
            <a:spLocks/>
          </p:cNvSpPr>
          <p:nvPr/>
        </p:nvSpPr>
        <p:spPr bwMode="auto">
          <a:xfrm>
            <a:off x="3653774" y="6020042"/>
            <a:ext cx="337060" cy="24622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1600" dirty="0"/>
              <a:t>5</a:t>
            </a:r>
          </a:p>
        </p:txBody>
      </p:sp>
      <p:sp>
        <p:nvSpPr>
          <p:cNvPr id="100" name="Rectangle 41">
            <a:extLst>
              <a:ext uri="{FF2B5EF4-FFF2-40B4-BE49-F238E27FC236}">
                <a16:creationId xmlns:a16="http://schemas.microsoft.com/office/drawing/2014/main" id="{B891B7A1-C1FC-1415-64AD-1AEF43EF8DFF}"/>
              </a:ext>
            </a:extLst>
          </p:cNvPr>
          <p:cNvSpPr>
            <a:spLocks/>
          </p:cNvSpPr>
          <p:nvPr/>
        </p:nvSpPr>
        <p:spPr bwMode="auto">
          <a:xfrm>
            <a:off x="4594457" y="6014289"/>
            <a:ext cx="337060" cy="24622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1600" dirty="0"/>
              <a:t>n</a:t>
            </a:r>
          </a:p>
        </p:txBody>
      </p:sp>
      <p:sp>
        <p:nvSpPr>
          <p:cNvPr id="101" name="Rectangle 35">
            <a:extLst>
              <a:ext uri="{FF2B5EF4-FFF2-40B4-BE49-F238E27FC236}">
                <a16:creationId xmlns:a16="http://schemas.microsoft.com/office/drawing/2014/main" id="{933EC431-1F0E-9D88-D138-3D44430D9A37}"/>
              </a:ext>
            </a:extLst>
          </p:cNvPr>
          <p:cNvSpPr>
            <a:spLocks/>
          </p:cNvSpPr>
          <p:nvPr/>
        </p:nvSpPr>
        <p:spPr bwMode="auto">
          <a:xfrm>
            <a:off x="1363660" y="5323073"/>
            <a:ext cx="222817" cy="24622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nchor="ctr">
            <a:spAutoFit/>
          </a:bodyPr>
          <a:lstStyle/>
          <a:p>
            <a:pPr algn="ctr"/>
            <a:r>
              <a:rPr lang="en-US" sz="1600" dirty="0"/>
              <a:t>D</a:t>
            </a:r>
            <a:r>
              <a:rPr lang="en-US" sz="1600" baseline="-25000" dirty="0"/>
              <a:t>1</a:t>
            </a:r>
            <a:endParaRPr lang="en-US" sz="1600" dirty="0"/>
          </a:p>
        </p:txBody>
      </p:sp>
      <p:sp>
        <p:nvSpPr>
          <p:cNvPr id="102" name="Rectangle 35">
            <a:extLst>
              <a:ext uri="{FF2B5EF4-FFF2-40B4-BE49-F238E27FC236}">
                <a16:creationId xmlns:a16="http://schemas.microsoft.com/office/drawing/2014/main" id="{484A773B-9C2D-00B2-CB2E-CCE8B02ED438}"/>
              </a:ext>
            </a:extLst>
          </p:cNvPr>
          <p:cNvSpPr>
            <a:spLocks/>
          </p:cNvSpPr>
          <p:nvPr/>
        </p:nvSpPr>
        <p:spPr bwMode="auto">
          <a:xfrm>
            <a:off x="1690859" y="5143376"/>
            <a:ext cx="665247" cy="24622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nchor="ctr">
            <a:spAutoFit/>
          </a:bodyPr>
          <a:lstStyle/>
          <a:p>
            <a:pPr algn="ctr"/>
            <a:r>
              <a:rPr lang="en-US" sz="1600" dirty="0"/>
              <a:t>D</a:t>
            </a:r>
            <a:r>
              <a:rPr lang="en-US" sz="1600" baseline="-25000" dirty="0"/>
              <a:t>1</a:t>
            </a:r>
            <a:r>
              <a:rPr lang="en-US" sz="1600" dirty="0"/>
              <a:t>(1+g)</a:t>
            </a:r>
          </a:p>
        </p:txBody>
      </p:sp>
      <p:sp>
        <p:nvSpPr>
          <p:cNvPr id="103" name="Rectangle 35">
            <a:extLst>
              <a:ext uri="{FF2B5EF4-FFF2-40B4-BE49-F238E27FC236}">
                <a16:creationId xmlns:a16="http://schemas.microsoft.com/office/drawing/2014/main" id="{2B2DAE86-0DFF-4AC4-DAE3-8F9CA4B4E4B9}"/>
              </a:ext>
            </a:extLst>
          </p:cNvPr>
          <p:cNvSpPr>
            <a:spLocks/>
          </p:cNvSpPr>
          <p:nvPr/>
        </p:nvSpPr>
        <p:spPr bwMode="auto">
          <a:xfrm>
            <a:off x="2243729" y="4913344"/>
            <a:ext cx="734175" cy="24622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nchor="ctr">
            <a:spAutoFit/>
          </a:bodyPr>
          <a:lstStyle/>
          <a:p>
            <a:pPr algn="ctr"/>
            <a:r>
              <a:rPr lang="en-US" sz="1600" dirty="0"/>
              <a:t>D</a:t>
            </a:r>
            <a:r>
              <a:rPr lang="en-US" sz="1600" baseline="-25000" dirty="0"/>
              <a:t>1</a:t>
            </a:r>
            <a:r>
              <a:rPr lang="en-US" sz="1600" dirty="0"/>
              <a:t>(1+g)</a:t>
            </a:r>
            <a:r>
              <a:rPr lang="en-US" sz="1600" baseline="30000" dirty="0"/>
              <a:t>2</a:t>
            </a:r>
            <a:endParaRPr lang="en-US" sz="1600" dirty="0"/>
          </a:p>
        </p:txBody>
      </p:sp>
      <p:sp>
        <p:nvSpPr>
          <p:cNvPr id="104" name="Rectangle 35">
            <a:extLst>
              <a:ext uri="{FF2B5EF4-FFF2-40B4-BE49-F238E27FC236}">
                <a16:creationId xmlns:a16="http://schemas.microsoft.com/office/drawing/2014/main" id="{D05B0116-F7C1-7110-A35F-61B9632EB0F2}"/>
              </a:ext>
            </a:extLst>
          </p:cNvPr>
          <p:cNvSpPr>
            <a:spLocks/>
          </p:cNvSpPr>
          <p:nvPr/>
        </p:nvSpPr>
        <p:spPr bwMode="auto">
          <a:xfrm>
            <a:off x="2882774" y="4673569"/>
            <a:ext cx="734175" cy="24622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nchor="ctr">
            <a:spAutoFit/>
          </a:bodyPr>
          <a:lstStyle/>
          <a:p>
            <a:pPr algn="ctr"/>
            <a:r>
              <a:rPr lang="en-US" sz="1600" dirty="0"/>
              <a:t>D</a:t>
            </a:r>
            <a:r>
              <a:rPr lang="en-US" sz="1600" baseline="-25000" dirty="0"/>
              <a:t>1</a:t>
            </a:r>
            <a:r>
              <a:rPr lang="en-US" sz="1600" dirty="0"/>
              <a:t>(1+g)</a:t>
            </a:r>
            <a:r>
              <a:rPr lang="en-US" sz="1600" baseline="30000" dirty="0"/>
              <a:t>3</a:t>
            </a:r>
            <a:endParaRPr lang="en-US" sz="1600" dirty="0"/>
          </a:p>
        </p:txBody>
      </p:sp>
      <p:sp>
        <p:nvSpPr>
          <p:cNvPr id="105" name="Rectangle 35">
            <a:extLst>
              <a:ext uri="{FF2B5EF4-FFF2-40B4-BE49-F238E27FC236}">
                <a16:creationId xmlns:a16="http://schemas.microsoft.com/office/drawing/2014/main" id="{B09FE876-9805-CA3E-838C-54B23CDFDA64}"/>
              </a:ext>
            </a:extLst>
          </p:cNvPr>
          <p:cNvSpPr>
            <a:spLocks/>
          </p:cNvSpPr>
          <p:nvPr/>
        </p:nvSpPr>
        <p:spPr bwMode="auto">
          <a:xfrm>
            <a:off x="3456732" y="4386415"/>
            <a:ext cx="734175" cy="24622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nchor="ctr">
            <a:spAutoFit/>
          </a:bodyPr>
          <a:lstStyle/>
          <a:p>
            <a:pPr algn="ctr"/>
            <a:r>
              <a:rPr lang="en-US" sz="1600" dirty="0"/>
              <a:t>D</a:t>
            </a:r>
            <a:r>
              <a:rPr lang="en-US" sz="1600" baseline="-25000" dirty="0"/>
              <a:t>1</a:t>
            </a:r>
            <a:r>
              <a:rPr lang="en-US" sz="1600" dirty="0"/>
              <a:t>(1+g)</a:t>
            </a:r>
            <a:r>
              <a:rPr lang="en-US" sz="1600" baseline="30000" dirty="0"/>
              <a:t>4</a:t>
            </a:r>
            <a:endParaRPr lang="en-US" sz="1600" dirty="0"/>
          </a:p>
        </p:txBody>
      </p:sp>
      <p:sp>
        <p:nvSpPr>
          <p:cNvPr id="106" name="Rectangle 35">
            <a:extLst>
              <a:ext uri="{FF2B5EF4-FFF2-40B4-BE49-F238E27FC236}">
                <a16:creationId xmlns:a16="http://schemas.microsoft.com/office/drawing/2014/main" id="{BF65291B-5560-D3D4-3325-931CFB4C1B01}"/>
              </a:ext>
            </a:extLst>
          </p:cNvPr>
          <p:cNvSpPr>
            <a:spLocks/>
          </p:cNvSpPr>
          <p:nvPr/>
        </p:nvSpPr>
        <p:spPr bwMode="auto">
          <a:xfrm>
            <a:off x="4336929" y="4175196"/>
            <a:ext cx="847988" cy="24622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nchor="ctr">
            <a:spAutoFit/>
          </a:bodyPr>
          <a:lstStyle/>
          <a:p>
            <a:pPr algn="ctr"/>
            <a:r>
              <a:rPr lang="en-US" sz="1600" dirty="0"/>
              <a:t>D</a:t>
            </a:r>
            <a:r>
              <a:rPr lang="en-US" sz="1600" baseline="-25000" dirty="0"/>
              <a:t>1</a:t>
            </a:r>
            <a:r>
              <a:rPr lang="en-US" sz="1600" dirty="0"/>
              <a:t>(1+g)</a:t>
            </a:r>
            <a:r>
              <a:rPr lang="en-US" sz="1600" baseline="30000" dirty="0"/>
              <a:t>n-1</a:t>
            </a:r>
            <a:endParaRPr lang="en-US" sz="1600" dirty="0"/>
          </a:p>
        </p:txBody>
      </p:sp>
      <p:sp>
        <p:nvSpPr>
          <p:cNvPr id="107" name="CuadroTexto 106">
            <a:extLst>
              <a:ext uri="{FF2B5EF4-FFF2-40B4-BE49-F238E27FC236}">
                <a16:creationId xmlns:a16="http://schemas.microsoft.com/office/drawing/2014/main" id="{610B5F58-33CE-E66F-1789-7F71E71CE3AD}"/>
              </a:ext>
            </a:extLst>
          </p:cNvPr>
          <p:cNvSpPr txBox="1"/>
          <p:nvPr/>
        </p:nvSpPr>
        <p:spPr>
          <a:xfrm>
            <a:off x="3990834" y="5298417"/>
            <a:ext cx="1295747" cy="338554"/>
          </a:xfrm>
          <a:prstGeom prst="rect">
            <a:avLst/>
          </a:prstGeom>
          <a:noFill/>
        </p:spPr>
        <p:txBody>
          <a:bodyPr wrap="square" rtlCol="0">
            <a:spAutoFit/>
          </a:bodyPr>
          <a:lstStyle/>
          <a:p>
            <a:r>
              <a:rPr lang="es-ES" sz="1600"/>
              <a:t>…</a:t>
            </a:r>
          </a:p>
        </p:txBody>
      </p:sp>
      <p:sp>
        <p:nvSpPr>
          <p:cNvPr id="116" name="Rectangle 41">
            <a:extLst>
              <a:ext uri="{FF2B5EF4-FFF2-40B4-BE49-F238E27FC236}">
                <a16:creationId xmlns:a16="http://schemas.microsoft.com/office/drawing/2014/main" id="{3C8A50A1-E170-A3D2-E11A-53A92CB9ED9E}"/>
              </a:ext>
            </a:extLst>
          </p:cNvPr>
          <p:cNvSpPr>
            <a:spLocks/>
          </p:cNvSpPr>
          <p:nvPr/>
        </p:nvSpPr>
        <p:spPr bwMode="auto">
          <a:xfrm>
            <a:off x="12909406" y="5760830"/>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n</a:t>
            </a:r>
          </a:p>
        </p:txBody>
      </p:sp>
      <p:sp>
        <p:nvSpPr>
          <p:cNvPr id="117" name="Rectangle 35">
            <a:extLst>
              <a:ext uri="{FF2B5EF4-FFF2-40B4-BE49-F238E27FC236}">
                <a16:creationId xmlns:a16="http://schemas.microsoft.com/office/drawing/2014/main" id="{354AD374-4479-5031-6F20-9F5C34AEBF96}"/>
              </a:ext>
            </a:extLst>
          </p:cNvPr>
          <p:cNvSpPr>
            <a:spLocks/>
          </p:cNvSpPr>
          <p:nvPr/>
        </p:nvSpPr>
        <p:spPr bwMode="auto">
          <a:xfrm>
            <a:off x="6838368" y="4957908"/>
            <a:ext cx="286938"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nchor="ctr">
            <a:spAutoFit/>
          </a:bodyPr>
          <a:lstStyle/>
          <a:p>
            <a:pPr algn="ctr"/>
            <a:r>
              <a:rPr lang="en-US" sz="2000" dirty="0"/>
              <a:t>VP</a:t>
            </a:r>
          </a:p>
        </p:txBody>
      </p:sp>
      <p:cxnSp>
        <p:nvCxnSpPr>
          <p:cNvPr id="121" name="Straight Connector 6">
            <a:extLst>
              <a:ext uri="{FF2B5EF4-FFF2-40B4-BE49-F238E27FC236}">
                <a16:creationId xmlns:a16="http://schemas.microsoft.com/office/drawing/2014/main" id="{95ED51A5-5273-72F6-AFD9-A8A7C88A0130}"/>
              </a:ext>
            </a:extLst>
          </p:cNvPr>
          <p:cNvCxnSpPr>
            <a:cxnSpLocks/>
          </p:cNvCxnSpPr>
          <p:nvPr/>
        </p:nvCxnSpPr>
        <p:spPr>
          <a:xfrm>
            <a:off x="6963462" y="5990816"/>
            <a:ext cx="4020132" cy="7791"/>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24" name="Straight Arrow Connector 12">
            <a:extLst>
              <a:ext uri="{FF2B5EF4-FFF2-40B4-BE49-F238E27FC236}">
                <a16:creationId xmlns:a16="http://schemas.microsoft.com/office/drawing/2014/main" id="{DCEB81F3-0CE4-0797-52AA-C9DB21D546DC}"/>
              </a:ext>
            </a:extLst>
          </p:cNvPr>
          <p:cNvCxnSpPr/>
          <p:nvPr/>
        </p:nvCxnSpPr>
        <p:spPr>
          <a:xfrm flipV="1">
            <a:off x="6963461" y="5308413"/>
            <a:ext cx="0" cy="667737"/>
          </a:xfrm>
          <a:prstGeom prst="straightConnector1">
            <a:avLst/>
          </a:prstGeom>
          <a:ln>
            <a:solidFill>
              <a:schemeClr val="accent2"/>
            </a:solidFill>
            <a:tailEnd type="arrow"/>
          </a:ln>
        </p:spPr>
        <p:style>
          <a:lnRef idx="2">
            <a:schemeClr val="accent1"/>
          </a:lnRef>
          <a:fillRef idx="0">
            <a:schemeClr val="accent1"/>
          </a:fillRef>
          <a:effectRef idx="1">
            <a:schemeClr val="accent1"/>
          </a:effectRef>
          <a:fontRef idx="minor">
            <a:schemeClr val="tx1"/>
          </a:fontRef>
        </p:style>
      </p:cxnSp>
      <p:sp>
        <p:nvSpPr>
          <p:cNvPr id="128" name="Rectangle 35">
            <a:extLst>
              <a:ext uri="{FF2B5EF4-FFF2-40B4-BE49-F238E27FC236}">
                <a16:creationId xmlns:a16="http://schemas.microsoft.com/office/drawing/2014/main" id="{A6F3F93A-F5C8-1C42-7B24-23D5B1501807}"/>
              </a:ext>
            </a:extLst>
          </p:cNvPr>
          <p:cNvSpPr>
            <a:spLocks/>
          </p:cNvSpPr>
          <p:nvPr/>
        </p:nvSpPr>
        <p:spPr bwMode="auto">
          <a:xfrm>
            <a:off x="6912165" y="6003645"/>
            <a:ext cx="102592" cy="24622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nchor="ctr">
            <a:spAutoFit/>
          </a:bodyPr>
          <a:lstStyle/>
          <a:p>
            <a:pPr algn="ctr"/>
            <a:r>
              <a:rPr lang="en-US" sz="1600"/>
              <a:t>0</a:t>
            </a:r>
          </a:p>
        </p:txBody>
      </p:sp>
      <p:sp>
        <p:nvSpPr>
          <p:cNvPr id="129" name="Rectangle 36">
            <a:extLst>
              <a:ext uri="{FF2B5EF4-FFF2-40B4-BE49-F238E27FC236}">
                <a16:creationId xmlns:a16="http://schemas.microsoft.com/office/drawing/2014/main" id="{B6BF4E5D-F95B-B664-323B-29C033294964}"/>
              </a:ext>
            </a:extLst>
          </p:cNvPr>
          <p:cNvSpPr>
            <a:spLocks/>
          </p:cNvSpPr>
          <p:nvPr/>
        </p:nvSpPr>
        <p:spPr bwMode="auto">
          <a:xfrm>
            <a:off x="7458215" y="5976150"/>
            <a:ext cx="337057" cy="24622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1600" dirty="0"/>
              <a:t>1</a:t>
            </a:r>
          </a:p>
        </p:txBody>
      </p:sp>
      <p:sp>
        <p:nvSpPr>
          <p:cNvPr id="130" name="Rectangle 37">
            <a:extLst>
              <a:ext uri="{FF2B5EF4-FFF2-40B4-BE49-F238E27FC236}">
                <a16:creationId xmlns:a16="http://schemas.microsoft.com/office/drawing/2014/main" id="{B8A83BE6-3717-A879-AEA1-1C04E7F68527}"/>
              </a:ext>
            </a:extLst>
          </p:cNvPr>
          <p:cNvSpPr>
            <a:spLocks/>
          </p:cNvSpPr>
          <p:nvPr/>
        </p:nvSpPr>
        <p:spPr bwMode="auto">
          <a:xfrm>
            <a:off x="8022575" y="5990816"/>
            <a:ext cx="337060" cy="24622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1600" dirty="0"/>
              <a:t>2</a:t>
            </a:r>
          </a:p>
        </p:txBody>
      </p:sp>
      <p:sp>
        <p:nvSpPr>
          <p:cNvPr id="131" name="Rectangle 38">
            <a:extLst>
              <a:ext uri="{FF2B5EF4-FFF2-40B4-BE49-F238E27FC236}">
                <a16:creationId xmlns:a16="http://schemas.microsoft.com/office/drawing/2014/main" id="{1D948D48-58DA-0A3B-CB97-ABE4A818EA95}"/>
              </a:ext>
            </a:extLst>
          </p:cNvPr>
          <p:cNvSpPr>
            <a:spLocks/>
          </p:cNvSpPr>
          <p:nvPr/>
        </p:nvSpPr>
        <p:spPr bwMode="auto">
          <a:xfrm>
            <a:off x="8632583" y="6003645"/>
            <a:ext cx="337060" cy="24622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1600"/>
              <a:t>3</a:t>
            </a:r>
          </a:p>
        </p:txBody>
      </p:sp>
      <p:sp>
        <p:nvSpPr>
          <p:cNvPr id="132" name="Rectangle 39">
            <a:extLst>
              <a:ext uri="{FF2B5EF4-FFF2-40B4-BE49-F238E27FC236}">
                <a16:creationId xmlns:a16="http://schemas.microsoft.com/office/drawing/2014/main" id="{E5AC8E83-06DC-3497-27C1-2C5C92713F35}"/>
              </a:ext>
            </a:extLst>
          </p:cNvPr>
          <p:cNvSpPr>
            <a:spLocks/>
          </p:cNvSpPr>
          <p:nvPr/>
        </p:nvSpPr>
        <p:spPr bwMode="auto">
          <a:xfrm>
            <a:off x="9230571" y="6003645"/>
            <a:ext cx="337060" cy="24622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1600" dirty="0"/>
              <a:t>4</a:t>
            </a:r>
          </a:p>
        </p:txBody>
      </p:sp>
      <p:sp>
        <p:nvSpPr>
          <p:cNvPr id="133" name="Rectangle 40">
            <a:extLst>
              <a:ext uri="{FF2B5EF4-FFF2-40B4-BE49-F238E27FC236}">
                <a16:creationId xmlns:a16="http://schemas.microsoft.com/office/drawing/2014/main" id="{D3D318D9-7852-1C4D-9457-46F698784951}"/>
              </a:ext>
            </a:extLst>
          </p:cNvPr>
          <p:cNvSpPr>
            <a:spLocks/>
          </p:cNvSpPr>
          <p:nvPr/>
        </p:nvSpPr>
        <p:spPr bwMode="auto">
          <a:xfrm>
            <a:off x="9844071" y="6003401"/>
            <a:ext cx="337060" cy="24622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1600" dirty="0"/>
              <a:t>5</a:t>
            </a:r>
          </a:p>
        </p:txBody>
      </p:sp>
      <p:sp>
        <p:nvSpPr>
          <p:cNvPr id="134" name="Rectangle 41">
            <a:extLst>
              <a:ext uri="{FF2B5EF4-FFF2-40B4-BE49-F238E27FC236}">
                <a16:creationId xmlns:a16="http://schemas.microsoft.com/office/drawing/2014/main" id="{A68218DE-3C6D-CD1F-D465-89B55C25E35C}"/>
              </a:ext>
            </a:extLst>
          </p:cNvPr>
          <p:cNvSpPr>
            <a:spLocks/>
          </p:cNvSpPr>
          <p:nvPr/>
        </p:nvSpPr>
        <p:spPr bwMode="auto">
          <a:xfrm>
            <a:off x="10784754" y="5997648"/>
            <a:ext cx="337060" cy="24622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1600" dirty="0"/>
              <a:t>n</a:t>
            </a:r>
          </a:p>
        </p:txBody>
      </p:sp>
      <p:sp>
        <p:nvSpPr>
          <p:cNvPr id="141" name="CuadroTexto 140">
            <a:extLst>
              <a:ext uri="{FF2B5EF4-FFF2-40B4-BE49-F238E27FC236}">
                <a16:creationId xmlns:a16="http://schemas.microsoft.com/office/drawing/2014/main" id="{B283302A-9533-2B17-E563-E1553B1FF82C}"/>
              </a:ext>
            </a:extLst>
          </p:cNvPr>
          <p:cNvSpPr txBox="1"/>
          <p:nvPr/>
        </p:nvSpPr>
        <p:spPr>
          <a:xfrm>
            <a:off x="10315061" y="5873971"/>
            <a:ext cx="1295747" cy="338554"/>
          </a:xfrm>
          <a:prstGeom prst="rect">
            <a:avLst/>
          </a:prstGeom>
          <a:noFill/>
        </p:spPr>
        <p:txBody>
          <a:bodyPr wrap="square" rtlCol="0">
            <a:spAutoFit/>
          </a:bodyPr>
          <a:lstStyle/>
          <a:p>
            <a:r>
              <a:rPr lang="es-ES" sz="1600" dirty="0"/>
              <a:t>…</a:t>
            </a:r>
          </a:p>
        </p:txBody>
      </p:sp>
      <p:sp>
        <p:nvSpPr>
          <p:cNvPr id="143" name="Flecha derecha 45">
            <a:extLst>
              <a:ext uri="{FF2B5EF4-FFF2-40B4-BE49-F238E27FC236}">
                <a16:creationId xmlns:a16="http://schemas.microsoft.com/office/drawing/2014/main" id="{B13ADB0A-6D53-F06E-9077-2E5CC278D7A1}"/>
              </a:ext>
            </a:extLst>
          </p:cNvPr>
          <p:cNvSpPr/>
          <p:nvPr/>
        </p:nvSpPr>
        <p:spPr>
          <a:xfrm>
            <a:off x="5852302" y="5226796"/>
            <a:ext cx="456813" cy="464776"/>
          </a:xfrm>
          <a:prstGeom prst="right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 sz="2000"/>
          </a:p>
        </p:txBody>
      </p:sp>
    </p:spTree>
    <p:extLst>
      <p:ext uri="{BB962C8B-B14F-4D97-AF65-F5344CB8AC3E}">
        <p14:creationId xmlns:p14="http://schemas.microsoft.com/office/powerpoint/2010/main" val="10457808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16"/>
                                        </p:tgtEl>
                                        <p:attrNameLst>
                                          <p:attrName>style.visibility</p:attrName>
                                        </p:attrNameLst>
                                      </p:cBhvr>
                                      <p:to>
                                        <p:strVal val="visible"/>
                                      </p:to>
                                    </p:set>
                                    <p:animEffect transition="in" filter="fade">
                                      <p:cBhvr>
                                        <p:cTn id="7" dur="500"/>
                                        <p:tgtEl>
                                          <p:spTgt spid="116"/>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grpId="0" nodeType="clickEffect">
                                  <p:stCondLst>
                                    <p:cond delay="0"/>
                                  </p:stCondLst>
                                  <p:childTnLst>
                                    <p:set>
                                      <p:cBhvr>
                                        <p:cTn id="15"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grpId="0" nodeType="clickEffect">
                                  <p:stCondLst>
                                    <p:cond delay="0"/>
                                  </p:stCondLst>
                                  <p:childTnLst>
                                    <p:set>
                                      <p:cBhvr>
                                        <p:cTn id="19"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grpId="0" nodeType="clickEffect">
                                  <p:stCondLst>
                                    <p:cond delay="0"/>
                                  </p:stCondLst>
                                  <p:childTnLst>
                                    <p:set>
                                      <p:cBhvr>
                                        <p:cTn id="23"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nodeType="clickEffect">
                                  <p:stCondLst>
                                    <p:cond delay="0"/>
                                  </p:stCondLst>
                                  <p:childTnLst>
                                    <p:set>
                                      <p:cBhvr>
                                        <p:cTn id="27" dur="1" fill="hold">
                                          <p:stCondLst>
                                            <p:cond delay="0"/>
                                          </p:stCondLst>
                                        </p:cTn>
                                        <p:tgtEl>
                                          <p:spTgt spid="87"/>
                                        </p:tgtEl>
                                        <p:attrNameLst>
                                          <p:attrName>style.visibility</p:attrName>
                                        </p:attrNameLst>
                                      </p:cBhvr>
                                      <p:to>
                                        <p:strVal val="visible"/>
                                      </p:to>
                                    </p:set>
                                  </p:childTnLst>
                                </p:cTn>
                              </p:par>
                              <p:par>
                                <p:cTn id="28" presetID="1" presetClass="entr" presetSubtype="0" fill="hold" nodeType="withEffect">
                                  <p:stCondLst>
                                    <p:cond delay="0"/>
                                  </p:stCondLst>
                                  <p:childTnLst>
                                    <p:set>
                                      <p:cBhvr>
                                        <p:cTn id="29" dur="1" fill="hold">
                                          <p:stCondLst>
                                            <p:cond delay="0"/>
                                          </p:stCondLst>
                                        </p:cTn>
                                        <p:tgtEl>
                                          <p:spTgt spid="88"/>
                                        </p:tgtEl>
                                        <p:attrNameLst>
                                          <p:attrName>style.visibility</p:attrName>
                                        </p:attrNameLst>
                                      </p:cBhvr>
                                      <p:to>
                                        <p:strVal val="visible"/>
                                      </p:to>
                                    </p:set>
                                  </p:childTnLst>
                                </p:cTn>
                              </p:par>
                              <p:par>
                                <p:cTn id="30" presetID="1" presetClass="entr" presetSubtype="0" fill="hold" nodeType="withEffect">
                                  <p:stCondLst>
                                    <p:cond delay="0"/>
                                  </p:stCondLst>
                                  <p:childTnLst>
                                    <p:set>
                                      <p:cBhvr>
                                        <p:cTn id="31" dur="1" fill="hold">
                                          <p:stCondLst>
                                            <p:cond delay="0"/>
                                          </p:stCondLst>
                                        </p:cTn>
                                        <p:tgtEl>
                                          <p:spTgt spid="89"/>
                                        </p:tgtEl>
                                        <p:attrNameLst>
                                          <p:attrName>style.visibility</p:attrName>
                                        </p:attrNameLst>
                                      </p:cBhvr>
                                      <p:to>
                                        <p:strVal val="visible"/>
                                      </p:to>
                                    </p:set>
                                  </p:childTnLst>
                                </p:cTn>
                              </p:par>
                              <p:par>
                                <p:cTn id="32" presetID="1" presetClass="entr" presetSubtype="0" fill="hold" nodeType="withEffect">
                                  <p:stCondLst>
                                    <p:cond delay="0"/>
                                  </p:stCondLst>
                                  <p:childTnLst>
                                    <p:set>
                                      <p:cBhvr>
                                        <p:cTn id="33" dur="1" fill="hold">
                                          <p:stCondLst>
                                            <p:cond delay="0"/>
                                          </p:stCondLst>
                                        </p:cTn>
                                        <p:tgtEl>
                                          <p:spTgt spid="90"/>
                                        </p:tgtEl>
                                        <p:attrNameLst>
                                          <p:attrName>style.visibility</p:attrName>
                                        </p:attrNameLst>
                                      </p:cBhvr>
                                      <p:to>
                                        <p:strVal val="visible"/>
                                      </p:to>
                                    </p:set>
                                  </p:childTnLst>
                                </p:cTn>
                              </p:par>
                              <p:par>
                                <p:cTn id="34" presetID="1" presetClass="entr" presetSubtype="0" fill="hold" nodeType="withEffect">
                                  <p:stCondLst>
                                    <p:cond delay="0"/>
                                  </p:stCondLst>
                                  <p:childTnLst>
                                    <p:set>
                                      <p:cBhvr>
                                        <p:cTn id="35" dur="1" fill="hold">
                                          <p:stCondLst>
                                            <p:cond delay="0"/>
                                          </p:stCondLst>
                                        </p:cTn>
                                        <p:tgtEl>
                                          <p:spTgt spid="91"/>
                                        </p:tgtEl>
                                        <p:attrNameLst>
                                          <p:attrName>style.visibility</p:attrName>
                                        </p:attrNameLst>
                                      </p:cBhvr>
                                      <p:to>
                                        <p:strVal val="visible"/>
                                      </p:to>
                                    </p:set>
                                  </p:childTnLst>
                                </p:cTn>
                              </p:par>
                              <p:par>
                                <p:cTn id="36" presetID="1" presetClass="entr" presetSubtype="0" fill="hold" nodeType="withEffect">
                                  <p:stCondLst>
                                    <p:cond delay="0"/>
                                  </p:stCondLst>
                                  <p:childTnLst>
                                    <p:set>
                                      <p:cBhvr>
                                        <p:cTn id="37" dur="1" fill="hold">
                                          <p:stCondLst>
                                            <p:cond delay="0"/>
                                          </p:stCondLst>
                                        </p:cTn>
                                        <p:tgtEl>
                                          <p:spTgt spid="92"/>
                                        </p:tgtEl>
                                        <p:attrNameLst>
                                          <p:attrName>style.visibility</p:attrName>
                                        </p:attrNameLst>
                                      </p:cBhvr>
                                      <p:to>
                                        <p:strVal val="visible"/>
                                      </p:to>
                                    </p:set>
                                  </p:childTnLst>
                                </p:cTn>
                              </p:par>
                              <p:par>
                                <p:cTn id="38" presetID="1" presetClass="entr" presetSubtype="0" fill="hold" nodeType="withEffect">
                                  <p:stCondLst>
                                    <p:cond delay="0"/>
                                  </p:stCondLst>
                                  <p:childTnLst>
                                    <p:set>
                                      <p:cBhvr>
                                        <p:cTn id="39" dur="1" fill="hold">
                                          <p:stCondLst>
                                            <p:cond delay="0"/>
                                          </p:stCondLst>
                                        </p:cTn>
                                        <p:tgtEl>
                                          <p:spTgt spid="93"/>
                                        </p:tgtEl>
                                        <p:attrNameLst>
                                          <p:attrName>style.visibility</p:attrName>
                                        </p:attrNameLst>
                                      </p:cBhvr>
                                      <p:to>
                                        <p:strVal val="visible"/>
                                      </p:to>
                                    </p:set>
                                  </p:childTnLst>
                                </p:cTn>
                              </p:par>
                              <p:par>
                                <p:cTn id="40" presetID="1" presetClass="entr" presetSubtype="0" fill="hold" grpId="0" nodeType="withEffect">
                                  <p:stCondLst>
                                    <p:cond delay="0"/>
                                  </p:stCondLst>
                                  <p:childTnLst>
                                    <p:set>
                                      <p:cBhvr>
                                        <p:cTn id="41" dur="1" fill="hold">
                                          <p:stCondLst>
                                            <p:cond delay="0"/>
                                          </p:stCondLst>
                                        </p:cTn>
                                        <p:tgtEl>
                                          <p:spTgt spid="94"/>
                                        </p:tgtEl>
                                        <p:attrNameLst>
                                          <p:attrName>style.visibility</p:attrName>
                                        </p:attrNameLst>
                                      </p:cBhvr>
                                      <p:to>
                                        <p:strVal val="visible"/>
                                      </p:to>
                                    </p:set>
                                  </p:childTnLst>
                                </p:cTn>
                              </p:par>
                              <p:par>
                                <p:cTn id="42" presetID="1" presetClass="entr" presetSubtype="0" fill="hold" grpId="0" nodeType="withEffect">
                                  <p:stCondLst>
                                    <p:cond delay="0"/>
                                  </p:stCondLst>
                                  <p:childTnLst>
                                    <p:set>
                                      <p:cBhvr>
                                        <p:cTn id="43" dur="1" fill="hold">
                                          <p:stCondLst>
                                            <p:cond delay="0"/>
                                          </p:stCondLst>
                                        </p:cTn>
                                        <p:tgtEl>
                                          <p:spTgt spid="95"/>
                                        </p:tgtEl>
                                        <p:attrNameLst>
                                          <p:attrName>style.visibility</p:attrName>
                                        </p:attrNameLst>
                                      </p:cBhvr>
                                      <p:to>
                                        <p:strVal val="visible"/>
                                      </p:to>
                                    </p:set>
                                  </p:childTnLst>
                                </p:cTn>
                              </p:par>
                              <p:par>
                                <p:cTn id="44" presetID="1" presetClass="entr" presetSubtype="0" fill="hold" grpId="0" nodeType="withEffect">
                                  <p:stCondLst>
                                    <p:cond delay="0"/>
                                  </p:stCondLst>
                                  <p:childTnLst>
                                    <p:set>
                                      <p:cBhvr>
                                        <p:cTn id="45" dur="1" fill="hold">
                                          <p:stCondLst>
                                            <p:cond delay="0"/>
                                          </p:stCondLst>
                                        </p:cTn>
                                        <p:tgtEl>
                                          <p:spTgt spid="96"/>
                                        </p:tgtEl>
                                        <p:attrNameLst>
                                          <p:attrName>style.visibility</p:attrName>
                                        </p:attrNameLst>
                                      </p:cBhvr>
                                      <p:to>
                                        <p:strVal val="visible"/>
                                      </p:to>
                                    </p:set>
                                  </p:childTnLst>
                                </p:cTn>
                              </p:par>
                              <p:par>
                                <p:cTn id="46" presetID="1" presetClass="entr" presetSubtype="0" fill="hold" grpId="0" nodeType="withEffect">
                                  <p:stCondLst>
                                    <p:cond delay="0"/>
                                  </p:stCondLst>
                                  <p:childTnLst>
                                    <p:set>
                                      <p:cBhvr>
                                        <p:cTn id="47" dur="1" fill="hold">
                                          <p:stCondLst>
                                            <p:cond delay="0"/>
                                          </p:stCondLst>
                                        </p:cTn>
                                        <p:tgtEl>
                                          <p:spTgt spid="97"/>
                                        </p:tgtEl>
                                        <p:attrNameLst>
                                          <p:attrName>style.visibility</p:attrName>
                                        </p:attrNameLst>
                                      </p:cBhvr>
                                      <p:to>
                                        <p:strVal val="visible"/>
                                      </p:to>
                                    </p:set>
                                  </p:childTnLst>
                                </p:cTn>
                              </p:par>
                              <p:par>
                                <p:cTn id="48" presetID="1" presetClass="entr" presetSubtype="0" fill="hold" grpId="0" nodeType="withEffect">
                                  <p:stCondLst>
                                    <p:cond delay="0"/>
                                  </p:stCondLst>
                                  <p:childTnLst>
                                    <p:set>
                                      <p:cBhvr>
                                        <p:cTn id="49" dur="1" fill="hold">
                                          <p:stCondLst>
                                            <p:cond delay="0"/>
                                          </p:stCondLst>
                                        </p:cTn>
                                        <p:tgtEl>
                                          <p:spTgt spid="98"/>
                                        </p:tgtEl>
                                        <p:attrNameLst>
                                          <p:attrName>style.visibility</p:attrName>
                                        </p:attrNameLst>
                                      </p:cBhvr>
                                      <p:to>
                                        <p:strVal val="visible"/>
                                      </p:to>
                                    </p:set>
                                  </p:childTnLst>
                                </p:cTn>
                              </p:par>
                              <p:par>
                                <p:cTn id="50" presetID="1" presetClass="entr" presetSubtype="0" fill="hold" grpId="0" nodeType="withEffect">
                                  <p:stCondLst>
                                    <p:cond delay="0"/>
                                  </p:stCondLst>
                                  <p:childTnLst>
                                    <p:set>
                                      <p:cBhvr>
                                        <p:cTn id="51" dur="1" fill="hold">
                                          <p:stCondLst>
                                            <p:cond delay="0"/>
                                          </p:stCondLst>
                                        </p:cTn>
                                        <p:tgtEl>
                                          <p:spTgt spid="99"/>
                                        </p:tgtEl>
                                        <p:attrNameLst>
                                          <p:attrName>style.visibility</p:attrName>
                                        </p:attrNameLst>
                                      </p:cBhvr>
                                      <p:to>
                                        <p:strVal val="visible"/>
                                      </p:to>
                                    </p:set>
                                  </p:childTnLst>
                                </p:cTn>
                              </p:par>
                              <p:par>
                                <p:cTn id="52" presetID="1" presetClass="entr" presetSubtype="0" fill="hold" grpId="0" nodeType="withEffect">
                                  <p:stCondLst>
                                    <p:cond delay="0"/>
                                  </p:stCondLst>
                                  <p:childTnLst>
                                    <p:set>
                                      <p:cBhvr>
                                        <p:cTn id="53" dur="1" fill="hold">
                                          <p:stCondLst>
                                            <p:cond delay="0"/>
                                          </p:stCondLst>
                                        </p:cTn>
                                        <p:tgtEl>
                                          <p:spTgt spid="100"/>
                                        </p:tgtEl>
                                        <p:attrNameLst>
                                          <p:attrName>style.visibility</p:attrName>
                                        </p:attrNameLst>
                                      </p:cBhvr>
                                      <p:to>
                                        <p:strVal val="visible"/>
                                      </p:to>
                                    </p:set>
                                  </p:childTnLst>
                                </p:cTn>
                              </p:par>
                              <p:par>
                                <p:cTn id="54" presetID="1" presetClass="entr" presetSubtype="0" fill="hold" grpId="0" nodeType="withEffect">
                                  <p:stCondLst>
                                    <p:cond delay="0"/>
                                  </p:stCondLst>
                                  <p:childTnLst>
                                    <p:set>
                                      <p:cBhvr>
                                        <p:cTn id="55" dur="1" fill="hold">
                                          <p:stCondLst>
                                            <p:cond delay="0"/>
                                          </p:stCondLst>
                                        </p:cTn>
                                        <p:tgtEl>
                                          <p:spTgt spid="101"/>
                                        </p:tgtEl>
                                        <p:attrNameLst>
                                          <p:attrName>style.visibility</p:attrName>
                                        </p:attrNameLst>
                                      </p:cBhvr>
                                      <p:to>
                                        <p:strVal val="visible"/>
                                      </p:to>
                                    </p:set>
                                  </p:childTnLst>
                                </p:cTn>
                              </p:par>
                              <p:par>
                                <p:cTn id="56" presetID="1" presetClass="entr" presetSubtype="0" fill="hold" grpId="0" nodeType="withEffect">
                                  <p:stCondLst>
                                    <p:cond delay="0"/>
                                  </p:stCondLst>
                                  <p:childTnLst>
                                    <p:set>
                                      <p:cBhvr>
                                        <p:cTn id="57" dur="1" fill="hold">
                                          <p:stCondLst>
                                            <p:cond delay="0"/>
                                          </p:stCondLst>
                                        </p:cTn>
                                        <p:tgtEl>
                                          <p:spTgt spid="102"/>
                                        </p:tgtEl>
                                        <p:attrNameLst>
                                          <p:attrName>style.visibility</p:attrName>
                                        </p:attrNameLst>
                                      </p:cBhvr>
                                      <p:to>
                                        <p:strVal val="visible"/>
                                      </p:to>
                                    </p:set>
                                  </p:childTnLst>
                                </p:cTn>
                              </p:par>
                              <p:par>
                                <p:cTn id="58" presetID="1" presetClass="entr" presetSubtype="0" fill="hold" grpId="0" nodeType="withEffect">
                                  <p:stCondLst>
                                    <p:cond delay="0"/>
                                  </p:stCondLst>
                                  <p:childTnLst>
                                    <p:set>
                                      <p:cBhvr>
                                        <p:cTn id="59" dur="1" fill="hold">
                                          <p:stCondLst>
                                            <p:cond delay="0"/>
                                          </p:stCondLst>
                                        </p:cTn>
                                        <p:tgtEl>
                                          <p:spTgt spid="103"/>
                                        </p:tgtEl>
                                        <p:attrNameLst>
                                          <p:attrName>style.visibility</p:attrName>
                                        </p:attrNameLst>
                                      </p:cBhvr>
                                      <p:to>
                                        <p:strVal val="visible"/>
                                      </p:to>
                                    </p:set>
                                  </p:childTnLst>
                                </p:cTn>
                              </p:par>
                              <p:par>
                                <p:cTn id="60" presetID="1" presetClass="entr" presetSubtype="0" fill="hold" grpId="0" nodeType="withEffect">
                                  <p:stCondLst>
                                    <p:cond delay="0"/>
                                  </p:stCondLst>
                                  <p:childTnLst>
                                    <p:set>
                                      <p:cBhvr>
                                        <p:cTn id="61" dur="1" fill="hold">
                                          <p:stCondLst>
                                            <p:cond delay="0"/>
                                          </p:stCondLst>
                                        </p:cTn>
                                        <p:tgtEl>
                                          <p:spTgt spid="104"/>
                                        </p:tgtEl>
                                        <p:attrNameLst>
                                          <p:attrName>style.visibility</p:attrName>
                                        </p:attrNameLst>
                                      </p:cBhvr>
                                      <p:to>
                                        <p:strVal val="visible"/>
                                      </p:to>
                                    </p:set>
                                  </p:childTnLst>
                                </p:cTn>
                              </p:par>
                              <p:par>
                                <p:cTn id="62" presetID="1" presetClass="entr" presetSubtype="0" fill="hold" grpId="0" nodeType="withEffect">
                                  <p:stCondLst>
                                    <p:cond delay="0"/>
                                  </p:stCondLst>
                                  <p:childTnLst>
                                    <p:set>
                                      <p:cBhvr>
                                        <p:cTn id="63" dur="1" fill="hold">
                                          <p:stCondLst>
                                            <p:cond delay="0"/>
                                          </p:stCondLst>
                                        </p:cTn>
                                        <p:tgtEl>
                                          <p:spTgt spid="105"/>
                                        </p:tgtEl>
                                        <p:attrNameLst>
                                          <p:attrName>style.visibility</p:attrName>
                                        </p:attrNameLst>
                                      </p:cBhvr>
                                      <p:to>
                                        <p:strVal val="visible"/>
                                      </p:to>
                                    </p:set>
                                  </p:childTnLst>
                                </p:cTn>
                              </p:par>
                              <p:par>
                                <p:cTn id="64" presetID="1" presetClass="entr" presetSubtype="0" fill="hold" grpId="0" nodeType="withEffect">
                                  <p:stCondLst>
                                    <p:cond delay="0"/>
                                  </p:stCondLst>
                                  <p:childTnLst>
                                    <p:set>
                                      <p:cBhvr>
                                        <p:cTn id="65" dur="1" fill="hold">
                                          <p:stCondLst>
                                            <p:cond delay="0"/>
                                          </p:stCondLst>
                                        </p:cTn>
                                        <p:tgtEl>
                                          <p:spTgt spid="106"/>
                                        </p:tgtEl>
                                        <p:attrNameLst>
                                          <p:attrName>style.visibility</p:attrName>
                                        </p:attrNameLst>
                                      </p:cBhvr>
                                      <p:to>
                                        <p:strVal val="visible"/>
                                      </p:to>
                                    </p:set>
                                  </p:childTnLst>
                                </p:cTn>
                              </p:par>
                              <p:par>
                                <p:cTn id="66" presetID="1" presetClass="entr" presetSubtype="0" fill="hold" grpId="0" nodeType="withEffect">
                                  <p:stCondLst>
                                    <p:cond delay="0"/>
                                  </p:stCondLst>
                                  <p:childTnLst>
                                    <p:set>
                                      <p:cBhvr>
                                        <p:cTn id="67" dur="1" fill="hold">
                                          <p:stCondLst>
                                            <p:cond delay="0"/>
                                          </p:stCondLst>
                                        </p:cTn>
                                        <p:tgtEl>
                                          <p:spTgt spid="107"/>
                                        </p:tgtEl>
                                        <p:attrNameLst>
                                          <p:attrName>style.visibility</p:attrName>
                                        </p:attrNameLst>
                                      </p:cBhvr>
                                      <p:to>
                                        <p:strVal val="visible"/>
                                      </p:to>
                                    </p:set>
                                  </p:childTnLst>
                                </p:cTn>
                              </p:par>
                            </p:childTnLst>
                          </p:cTn>
                        </p:par>
                      </p:childTnLst>
                    </p:cTn>
                  </p:par>
                  <p:par>
                    <p:cTn id="68" fill="hold">
                      <p:stCondLst>
                        <p:cond delay="indefinite"/>
                      </p:stCondLst>
                      <p:childTnLst>
                        <p:par>
                          <p:cTn id="69" fill="hold">
                            <p:stCondLst>
                              <p:cond delay="0"/>
                            </p:stCondLst>
                            <p:childTnLst>
                              <p:par>
                                <p:cTn id="70" presetID="2" presetClass="entr" presetSubtype="4" fill="hold" grpId="0" nodeType="clickEffect">
                                  <p:stCondLst>
                                    <p:cond delay="0"/>
                                  </p:stCondLst>
                                  <p:childTnLst>
                                    <p:set>
                                      <p:cBhvr>
                                        <p:cTn id="71" dur="1" fill="hold">
                                          <p:stCondLst>
                                            <p:cond delay="0"/>
                                          </p:stCondLst>
                                        </p:cTn>
                                        <p:tgtEl>
                                          <p:spTgt spid="143"/>
                                        </p:tgtEl>
                                        <p:attrNameLst>
                                          <p:attrName>style.visibility</p:attrName>
                                        </p:attrNameLst>
                                      </p:cBhvr>
                                      <p:to>
                                        <p:strVal val="visible"/>
                                      </p:to>
                                    </p:set>
                                    <p:anim calcmode="lin" valueType="num">
                                      <p:cBhvr additive="base">
                                        <p:cTn id="72" dur="500" fill="hold"/>
                                        <p:tgtEl>
                                          <p:spTgt spid="143"/>
                                        </p:tgtEl>
                                        <p:attrNameLst>
                                          <p:attrName>ppt_x</p:attrName>
                                        </p:attrNameLst>
                                      </p:cBhvr>
                                      <p:tavLst>
                                        <p:tav tm="0">
                                          <p:val>
                                            <p:strVal val="#ppt_x"/>
                                          </p:val>
                                        </p:tav>
                                        <p:tav tm="100000">
                                          <p:val>
                                            <p:strVal val="#ppt_x"/>
                                          </p:val>
                                        </p:tav>
                                      </p:tavLst>
                                    </p:anim>
                                    <p:anim calcmode="lin" valueType="num">
                                      <p:cBhvr additive="base">
                                        <p:cTn id="73" dur="500" fill="hold"/>
                                        <p:tgtEl>
                                          <p:spTgt spid="143"/>
                                        </p:tgtEl>
                                        <p:attrNameLst>
                                          <p:attrName>ppt_y</p:attrName>
                                        </p:attrNameLst>
                                      </p:cBhvr>
                                      <p:tavLst>
                                        <p:tav tm="0">
                                          <p:val>
                                            <p:strVal val="1+#ppt_h/2"/>
                                          </p:val>
                                        </p:tav>
                                        <p:tav tm="100000">
                                          <p:val>
                                            <p:strVal val="#ppt_y"/>
                                          </p:val>
                                        </p:tav>
                                      </p:tavLst>
                                    </p:anim>
                                  </p:childTnLst>
                                </p:cTn>
                              </p:par>
                            </p:childTnLst>
                          </p:cTn>
                        </p:par>
                      </p:childTnLst>
                    </p:cTn>
                  </p:par>
                  <p:par>
                    <p:cTn id="74" fill="hold">
                      <p:stCondLst>
                        <p:cond delay="indefinite"/>
                      </p:stCondLst>
                      <p:childTnLst>
                        <p:par>
                          <p:cTn id="75" fill="hold">
                            <p:stCondLst>
                              <p:cond delay="0"/>
                            </p:stCondLst>
                            <p:childTnLst>
                              <p:par>
                                <p:cTn id="76" presetID="1" presetClass="entr" presetSubtype="0" fill="hold" grpId="0" nodeType="clickEffect">
                                  <p:stCondLst>
                                    <p:cond delay="0"/>
                                  </p:stCondLst>
                                  <p:childTnLst>
                                    <p:set>
                                      <p:cBhvr>
                                        <p:cTn id="77" dur="1" fill="hold">
                                          <p:stCondLst>
                                            <p:cond delay="0"/>
                                          </p:stCondLst>
                                        </p:cTn>
                                        <p:tgtEl>
                                          <p:spTgt spid="117"/>
                                        </p:tgtEl>
                                        <p:attrNameLst>
                                          <p:attrName>style.visibility</p:attrName>
                                        </p:attrNameLst>
                                      </p:cBhvr>
                                      <p:to>
                                        <p:strVal val="visible"/>
                                      </p:to>
                                    </p:set>
                                  </p:childTnLst>
                                </p:cTn>
                              </p:par>
                              <p:par>
                                <p:cTn id="78" presetID="1" presetClass="entr" presetSubtype="0" fill="hold" nodeType="withEffect">
                                  <p:stCondLst>
                                    <p:cond delay="0"/>
                                  </p:stCondLst>
                                  <p:childTnLst>
                                    <p:set>
                                      <p:cBhvr>
                                        <p:cTn id="79" dur="1" fill="hold">
                                          <p:stCondLst>
                                            <p:cond delay="0"/>
                                          </p:stCondLst>
                                        </p:cTn>
                                        <p:tgtEl>
                                          <p:spTgt spid="121"/>
                                        </p:tgtEl>
                                        <p:attrNameLst>
                                          <p:attrName>style.visibility</p:attrName>
                                        </p:attrNameLst>
                                      </p:cBhvr>
                                      <p:to>
                                        <p:strVal val="visible"/>
                                      </p:to>
                                    </p:set>
                                  </p:childTnLst>
                                </p:cTn>
                              </p:par>
                              <p:par>
                                <p:cTn id="80" presetID="1" presetClass="entr" presetSubtype="0" fill="hold" nodeType="withEffect">
                                  <p:stCondLst>
                                    <p:cond delay="0"/>
                                  </p:stCondLst>
                                  <p:childTnLst>
                                    <p:set>
                                      <p:cBhvr>
                                        <p:cTn id="81" dur="1" fill="hold">
                                          <p:stCondLst>
                                            <p:cond delay="0"/>
                                          </p:stCondLst>
                                        </p:cTn>
                                        <p:tgtEl>
                                          <p:spTgt spid="124"/>
                                        </p:tgtEl>
                                        <p:attrNameLst>
                                          <p:attrName>style.visibility</p:attrName>
                                        </p:attrNameLst>
                                      </p:cBhvr>
                                      <p:to>
                                        <p:strVal val="visible"/>
                                      </p:to>
                                    </p:set>
                                  </p:childTnLst>
                                </p:cTn>
                              </p:par>
                              <p:par>
                                <p:cTn id="82" presetID="1" presetClass="entr" presetSubtype="0" fill="hold" grpId="0" nodeType="withEffect">
                                  <p:stCondLst>
                                    <p:cond delay="0"/>
                                  </p:stCondLst>
                                  <p:childTnLst>
                                    <p:set>
                                      <p:cBhvr>
                                        <p:cTn id="83" dur="1" fill="hold">
                                          <p:stCondLst>
                                            <p:cond delay="0"/>
                                          </p:stCondLst>
                                        </p:cTn>
                                        <p:tgtEl>
                                          <p:spTgt spid="128"/>
                                        </p:tgtEl>
                                        <p:attrNameLst>
                                          <p:attrName>style.visibility</p:attrName>
                                        </p:attrNameLst>
                                      </p:cBhvr>
                                      <p:to>
                                        <p:strVal val="visible"/>
                                      </p:to>
                                    </p:set>
                                  </p:childTnLst>
                                </p:cTn>
                              </p:par>
                              <p:par>
                                <p:cTn id="84" presetID="1" presetClass="entr" presetSubtype="0" fill="hold" grpId="0" nodeType="withEffect">
                                  <p:stCondLst>
                                    <p:cond delay="0"/>
                                  </p:stCondLst>
                                  <p:childTnLst>
                                    <p:set>
                                      <p:cBhvr>
                                        <p:cTn id="85" dur="1" fill="hold">
                                          <p:stCondLst>
                                            <p:cond delay="0"/>
                                          </p:stCondLst>
                                        </p:cTn>
                                        <p:tgtEl>
                                          <p:spTgt spid="129"/>
                                        </p:tgtEl>
                                        <p:attrNameLst>
                                          <p:attrName>style.visibility</p:attrName>
                                        </p:attrNameLst>
                                      </p:cBhvr>
                                      <p:to>
                                        <p:strVal val="visible"/>
                                      </p:to>
                                    </p:set>
                                  </p:childTnLst>
                                </p:cTn>
                              </p:par>
                              <p:par>
                                <p:cTn id="86" presetID="1" presetClass="entr" presetSubtype="0" fill="hold" grpId="0" nodeType="withEffect">
                                  <p:stCondLst>
                                    <p:cond delay="0"/>
                                  </p:stCondLst>
                                  <p:childTnLst>
                                    <p:set>
                                      <p:cBhvr>
                                        <p:cTn id="87" dur="1" fill="hold">
                                          <p:stCondLst>
                                            <p:cond delay="0"/>
                                          </p:stCondLst>
                                        </p:cTn>
                                        <p:tgtEl>
                                          <p:spTgt spid="130"/>
                                        </p:tgtEl>
                                        <p:attrNameLst>
                                          <p:attrName>style.visibility</p:attrName>
                                        </p:attrNameLst>
                                      </p:cBhvr>
                                      <p:to>
                                        <p:strVal val="visible"/>
                                      </p:to>
                                    </p:set>
                                  </p:childTnLst>
                                </p:cTn>
                              </p:par>
                              <p:par>
                                <p:cTn id="88" presetID="1" presetClass="entr" presetSubtype="0" fill="hold" grpId="0" nodeType="withEffect">
                                  <p:stCondLst>
                                    <p:cond delay="0"/>
                                  </p:stCondLst>
                                  <p:childTnLst>
                                    <p:set>
                                      <p:cBhvr>
                                        <p:cTn id="89" dur="1" fill="hold">
                                          <p:stCondLst>
                                            <p:cond delay="0"/>
                                          </p:stCondLst>
                                        </p:cTn>
                                        <p:tgtEl>
                                          <p:spTgt spid="131"/>
                                        </p:tgtEl>
                                        <p:attrNameLst>
                                          <p:attrName>style.visibility</p:attrName>
                                        </p:attrNameLst>
                                      </p:cBhvr>
                                      <p:to>
                                        <p:strVal val="visible"/>
                                      </p:to>
                                    </p:set>
                                  </p:childTnLst>
                                </p:cTn>
                              </p:par>
                              <p:par>
                                <p:cTn id="90" presetID="1" presetClass="entr" presetSubtype="0" fill="hold" grpId="0" nodeType="withEffect">
                                  <p:stCondLst>
                                    <p:cond delay="0"/>
                                  </p:stCondLst>
                                  <p:childTnLst>
                                    <p:set>
                                      <p:cBhvr>
                                        <p:cTn id="91" dur="1" fill="hold">
                                          <p:stCondLst>
                                            <p:cond delay="0"/>
                                          </p:stCondLst>
                                        </p:cTn>
                                        <p:tgtEl>
                                          <p:spTgt spid="132"/>
                                        </p:tgtEl>
                                        <p:attrNameLst>
                                          <p:attrName>style.visibility</p:attrName>
                                        </p:attrNameLst>
                                      </p:cBhvr>
                                      <p:to>
                                        <p:strVal val="visible"/>
                                      </p:to>
                                    </p:set>
                                  </p:childTnLst>
                                </p:cTn>
                              </p:par>
                              <p:par>
                                <p:cTn id="92" presetID="1" presetClass="entr" presetSubtype="0" fill="hold" grpId="0" nodeType="withEffect">
                                  <p:stCondLst>
                                    <p:cond delay="0"/>
                                  </p:stCondLst>
                                  <p:childTnLst>
                                    <p:set>
                                      <p:cBhvr>
                                        <p:cTn id="93" dur="1" fill="hold">
                                          <p:stCondLst>
                                            <p:cond delay="0"/>
                                          </p:stCondLst>
                                        </p:cTn>
                                        <p:tgtEl>
                                          <p:spTgt spid="133"/>
                                        </p:tgtEl>
                                        <p:attrNameLst>
                                          <p:attrName>style.visibility</p:attrName>
                                        </p:attrNameLst>
                                      </p:cBhvr>
                                      <p:to>
                                        <p:strVal val="visible"/>
                                      </p:to>
                                    </p:set>
                                  </p:childTnLst>
                                </p:cTn>
                              </p:par>
                              <p:par>
                                <p:cTn id="94" presetID="1" presetClass="entr" presetSubtype="0" fill="hold" grpId="0" nodeType="withEffect">
                                  <p:stCondLst>
                                    <p:cond delay="0"/>
                                  </p:stCondLst>
                                  <p:childTnLst>
                                    <p:set>
                                      <p:cBhvr>
                                        <p:cTn id="95" dur="1" fill="hold">
                                          <p:stCondLst>
                                            <p:cond delay="0"/>
                                          </p:stCondLst>
                                        </p:cTn>
                                        <p:tgtEl>
                                          <p:spTgt spid="13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94" grpId="0"/>
      <p:bldP spid="95" grpId="0"/>
      <p:bldP spid="96" grpId="0"/>
      <p:bldP spid="97" grpId="0"/>
      <p:bldP spid="98" grpId="0"/>
      <p:bldP spid="99" grpId="0"/>
      <p:bldP spid="100" grpId="0"/>
      <p:bldP spid="101" grpId="0"/>
      <p:bldP spid="102" grpId="0"/>
      <p:bldP spid="103" grpId="0"/>
      <p:bldP spid="104" grpId="0"/>
      <p:bldP spid="105" grpId="0"/>
      <p:bldP spid="106" grpId="0"/>
      <p:bldP spid="107" grpId="0"/>
      <p:bldP spid="116" grpId="0"/>
      <p:bldP spid="117" grpId="0"/>
      <p:bldP spid="128" grpId="0"/>
      <p:bldP spid="129" grpId="0"/>
      <p:bldP spid="130" grpId="0"/>
      <p:bldP spid="131" grpId="0"/>
      <p:bldP spid="132" grpId="0"/>
      <p:bldP spid="133" grpId="0"/>
      <p:bldP spid="134" grpId="0"/>
      <p:bldP spid="143"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72E048-EBA4-A93B-7F24-66C61BDF3AB6}"/>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ECBE0243-7865-1253-5916-8637452CE2D2}"/>
              </a:ext>
            </a:extLst>
          </p:cNvPr>
          <p:cNvSpPr>
            <a:spLocks noGrp="1"/>
          </p:cNvSpPr>
          <p:nvPr>
            <p:ph type="title"/>
          </p:nvPr>
        </p:nvSpPr>
        <p:spPr/>
        <p:txBody>
          <a:bodyPr/>
          <a:lstStyle/>
          <a:p>
            <a:r>
              <a:rPr lang="es-ES" dirty="0">
                <a:latin typeface="Century Gothic"/>
              </a:rPr>
              <a:t>VALOR TERMINAL </a:t>
            </a:r>
          </a:p>
        </p:txBody>
      </p:sp>
      <p:sp>
        <p:nvSpPr>
          <p:cNvPr id="4" name="Marcador de número de diapositiva 3">
            <a:extLst>
              <a:ext uri="{FF2B5EF4-FFF2-40B4-BE49-F238E27FC236}">
                <a16:creationId xmlns:a16="http://schemas.microsoft.com/office/drawing/2014/main" id="{6BC04C62-0121-9E02-F72E-05739DDCADF5}"/>
              </a:ext>
            </a:extLst>
          </p:cNvPr>
          <p:cNvSpPr>
            <a:spLocks noGrp="1"/>
          </p:cNvSpPr>
          <p:nvPr>
            <p:ph type="sldNum" sz="quarter" idx="12"/>
          </p:nvPr>
        </p:nvSpPr>
        <p:spPr/>
        <p:txBody>
          <a:bodyPr/>
          <a:lstStyle/>
          <a:p>
            <a:fld id="{5E3E23BA-6E79-2442-BA73-D218A5E297C3}" type="slidenum">
              <a:rPr lang="en-US" sz="1800" smtClean="0"/>
              <a:t>3</a:t>
            </a:fld>
            <a:endParaRPr lang="en-US" sz="1800" dirty="0"/>
          </a:p>
        </p:txBody>
      </p:sp>
      <p:sp>
        <p:nvSpPr>
          <p:cNvPr id="6" name="Rectángulo 5">
            <a:extLst>
              <a:ext uri="{FF2B5EF4-FFF2-40B4-BE49-F238E27FC236}">
                <a16:creationId xmlns:a16="http://schemas.microsoft.com/office/drawing/2014/main" id="{A56840B2-0184-0765-989C-0B1896EAB843}"/>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8" name="Picture 2" descr="Clientes y aliados | Centro de Evaluación | Uniandes">
            <a:extLst>
              <a:ext uri="{FF2B5EF4-FFF2-40B4-BE49-F238E27FC236}">
                <a16:creationId xmlns:a16="http://schemas.microsoft.com/office/drawing/2014/main" id="{30508EBC-5602-0145-A043-2C0465138B3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5" name="Rectángulo 4">
            <a:extLst>
              <a:ext uri="{FF2B5EF4-FFF2-40B4-BE49-F238E27FC236}">
                <a16:creationId xmlns:a16="http://schemas.microsoft.com/office/drawing/2014/main" id="{E1A55F9B-5A0C-BF41-84A8-2ED43F14D973}"/>
              </a:ext>
            </a:extLst>
          </p:cNvPr>
          <p:cNvSpPr/>
          <p:nvPr/>
        </p:nvSpPr>
        <p:spPr>
          <a:xfrm>
            <a:off x="8399257" y="118110"/>
            <a:ext cx="3150778" cy="261610"/>
          </a:xfrm>
          <a:prstGeom prst="rect">
            <a:avLst/>
          </a:prstGeom>
        </p:spPr>
        <p:txBody>
          <a:bodyPr wrap="square">
            <a:spAutoFit/>
          </a:bodyPr>
          <a:lstStyle/>
          <a:p>
            <a:pPr algn="r"/>
            <a:r>
              <a:rPr lang="es-CO" sz="1100" b="1" dirty="0">
                <a:solidFill>
                  <a:schemeClr val="accent2">
                    <a:lumMod val="50000"/>
                  </a:schemeClr>
                </a:solidFill>
                <a:latin typeface="Century Gothic" panose="020B0502020202020204" pitchFamily="34" charset="0"/>
                <a:sym typeface="Gill Sans Light"/>
              </a:rPr>
              <a:t>Curso</a:t>
            </a:r>
            <a:r>
              <a:rPr lang="es-CO" sz="1100" dirty="0">
                <a:solidFill>
                  <a:schemeClr val="accent2">
                    <a:lumMod val="50000"/>
                  </a:schemeClr>
                </a:solidFill>
                <a:latin typeface="Century Gothic" panose="020B0502020202020204" pitchFamily="34" charset="0"/>
                <a:sym typeface="Gill Sans Light"/>
              </a:rPr>
              <a:t> Análisis de Decisiones de Inversión</a:t>
            </a:r>
            <a:endParaRPr lang="es-CO" sz="1100" dirty="0">
              <a:solidFill>
                <a:schemeClr val="accent2">
                  <a:lumMod val="50000"/>
                </a:schemeClr>
              </a:solidFill>
              <a:latin typeface="Century Gothic" panose="020B0502020202020204" pitchFamily="34" charset="0"/>
            </a:endParaRPr>
          </a:p>
        </p:txBody>
      </p:sp>
      <p:sp>
        <p:nvSpPr>
          <p:cNvPr id="116" name="Rectangle 41">
            <a:extLst>
              <a:ext uri="{FF2B5EF4-FFF2-40B4-BE49-F238E27FC236}">
                <a16:creationId xmlns:a16="http://schemas.microsoft.com/office/drawing/2014/main" id="{94C6C4DC-DFF8-0E58-3710-CFEF8782B0A2}"/>
              </a:ext>
            </a:extLst>
          </p:cNvPr>
          <p:cNvSpPr>
            <a:spLocks/>
          </p:cNvSpPr>
          <p:nvPr/>
        </p:nvSpPr>
        <p:spPr bwMode="auto">
          <a:xfrm>
            <a:off x="12909406" y="5760830"/>
            <a:ext cx="337060" cy="30777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nchor="ctr">
            <a:spAutoFit/>
          </a:bodyPr>
          <a:lstStyle/>
          <a:p>
            <a:pPr algn="ctr"/>
            <a:r>
              <a:rPr lang="en-US" sz="2000"/>
              <a:t>n</a:t>
            </a:r>
          </a:p>
        </p:txBody>
      </p:sp>
      <p:sp>
        <p:nvSpPr>
          <p:cNvPr id="11" name="Marcador de contenido 2">
            <a:extLst>
              <a:ext uri="{FF2B5EF4-FFF2-40B4-BE49-F238E27FC236}">
                <a16:creationId xmlns:a16="http://schemas.microsoft.com/office/drawing/2014/main" id="{BDF72B5D-729B-2D66-B877-482C52FF5EF2}"/>
              </a:ext>
            </a:extLst>
          </p:cNvPr>
          <p:cNvSpPr>
            <a:spLocks noGrp="1"/>
          </p:cNvSpPr>
          <p:nvPr>
            <p:ph idx="1"/>
          </p:nvPr>
        </p:nvSpPr>
        <p:spPr>
          <a:xfrm>
            <a:off x="520420" y="1989939"/>
            <a:ext cx="11029615" cy="2825312"/>
          </a:xfrm>
        </p:spPr>
        <p:txBody>
          <a:bodyPr>
            <a:normAutofit/>
          </a:bodyPr>
          <a:lstStyle/>
          <a:p>
            <a:pPr algn="just">
              <a:buFont typeface="Wingdings" panose="05000000000000000000" pitchFamily="2" charset="2"/>
              <a:buChar char="ü"/>
            </a:pPr>
            <a:r>
              <a:rPr lang="es-ES" sz="1600" dirty="0">
                <a:solidFill>
                  <a:schemeClr val="accent1"/>
                </a:solidFill>
                <a:latin typeface="Century Gothic"/>
              </a:rPr>
              <a:t>El anterior crecimiento de los flujos (1+g) se conoce como </a:t>
            </a:r>
            <a:r>
              <a:rPr lang="es-ES" sz="1600" b="1" dirty="0">
                <a:solidFill>
                  <a:schemeClr val="accent1"/>
                </a:solidFill>
                <a:latin typeface="Century Gothic"/>
              </a:rPr>
              <a:t>crecimiento geométrico</a:t>
            </a:r>
            <a:r>
              <a:rPr lang="es-ES" sz="1600" dirty="0">
                <a:solidFill>
                  <a:schemeClr val="accent1"/>
                </a:solidFill>
                <a:latin typeface="Century Gothic"/>
              </a:rPr>
              <a:t>. </a:t>
            </a:r>
          </a:p>
          <a:p>
            <a:pPr algn="just">
              <a:buFont typeface="Wingdings" panose="05000000000000000000" pitchFamily="2" charset="2"/>
              <a:buChar char="ü"/>
            </a:pPr>
            <a:r>
              <a:rPr lang="es-ES" sz="1600" dirty="0">
                <a:solidFill>
                  <a:schemeClr val="accent1"/>
                </a:solidFill>
                <a:latin typeface="Century Gothic"/>
              </a:rPr>
              <a:t>Esta es una de las relaciones de equivalencia de mayor uso en el campo de las finanzas, pues tiene su aplicación en el campo de la valoración de activos.</a:t>
            </a:r>
          </a:p>
          <a:p>
            <a:pPr algn="just">
              <a:buFont typeface="Wingdings" panose="05000000000000000000" pitchFamily="2" charset="2"/>
              <a:buChar char="ü"/>
            </a:pPr>
            <a:r>
              <a:rPr lang="es-ES" sz="1600" dirty="0">
                <a:solidFill>
                  <a:schemeClr val="accent1"/>
                </a:solidFill>
                <a:latin typeface="Century Gothic"/>
              </a:rPr>
              <a:t>Es posible encontrar una equivalencia para series finitas e infinitas</a:t>
            </a:r>
          </a:p>
          <a:p>
            <a:pPr algn="just">
              <a:buFont typeface="Wingdings" panose="05000000000000000000" pitchFamily="2" charset="2"/>
              <a:buChar char="ü"/>
            </a:pPr>
            <a:r>
              <a:rPr lang="es-ES" sz="1600" dirty="0">
                <a:solidFill>
                  <a:schemeClr val="accent1"/>
                </a:solidFill>
                <a:latin typeface="Century Gothic"/>
              </a:rPr>
              <a:t>El caso de series infinitas, es conocido en el dominio financiero como el “</a:t>
            </a:r>
            <a:r>
              <a:rPr lang="es-ES" sz="1600" b="1" dirty="0">
                <a:solidFill>
                  <a:schemeClr val="accent1"/>
                </a:solidFill>
                <a:latin typeface="Century Gothic"/>
              </a:rPr>
              <a:t>Modelo de Gordon-Shapiro</a:t>
            </a:r>
            <a:r>
              <a:rPr lang="es-ES" sz="1600" dirty="0">
                <a:solidFill>
                  <a:schemeClr val="accent1"/>
                </a:solidFill>
                <a:latin typeface="Century Gothic"/>
              </a:rPr>
              <a:t>”.</a:t>
            </a:r>
          </a:p>
          <a:p>
            <a:pPr algn="just">
              <a:buFont typeface="Wingdings" panose="05000000000000000000" pitchFamily="2" charset="2"/>
              <a:buChar char="ü"/>
            </a:pPr>
            <a:r>
              <a:rPr lang="es-ES" sz="1600" dirty="0">
                <a:solidFill>
                  <a:schemeClr val="accent1"/>
                </a:solidFill>
                <a:latin typeface="Century Gothic"/>
              </a:rPr>
              <a:t>La serie es un gradiente geométrico, debido a la presencia de una razón de crecimiento porcentual constante “g”. </a:t>
            </a:r>
          </a:p>
          <a:p>
            <a:pPr algn="just">
              <a:buFont typeface="Wingdings" panose="05000000000000000000" pitchFamily="2" charset="2"/>
              <a:buChar char="ü"/>
            </a:pPr>
            <a:r>
              <a:rPr lang="es-ES" sz="1600" dirty="0">
                <a:solidFill>
                  <a:schemeClr val="accent1"/>
                </a:solidFill>
                <a:latin typeface="Century Gothic"/>
              </a:rPr>
              <a:t>Según esto, veamos a qué corresponde cada uno de los flujos Dj.</a:t>
            </a:r>
          </a:p>
          <a:p>
            <a:pPr algn="just">
              <a:buFont typeface="Wingdings" panose="05000000000000000000" pitchFamily="2" charset="2"/>
              <a:buChar char="ü"/>
            </a:pPr>
            <a:endParaRPr lang="es-ES" sz="1600" dirty="0">
              <a:solidFill>
                <a:schemeClr val="accent1"/>
              </a:solidFill>
              <a:latin typeface="Century Gothic"/>
            </a:endParaRPr>
          </a:p>
        </p:txBody>
      </p:sp>
      <p:sp>
        <p:nvSpPr>
          <p:cNvPr id="14" name="Rectangle 35">
            <a:extLst>
              <a:ext uri="{FF2B5EF4-FFF2-40B4-BE49-F238E27FC236}">
                <a16:creationId xmlns:a16="http://schemas.microsoft.com/office/drawing/2014/main" id="{D8ECBFDF-31DA-124E-CF34-A8B981A3451A}"/>
              </a:ext>
            </a:extLst>
          </p:cNvPr>
          <p:cNvSpPr>
            <a:spLocks/>
          </p:cNvSpPr>
          <p:nvPr/>
        </p:nvSpPr>
        <p:spPr bwMode="auto">
          <a:xfrm>
            <a:off x="4981290" y="4583556"/>
            <a:ext cx="892873" cy="30777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nchor="ctr">
            <a:spAutoFit/>
          </a:bodyPr>
          <a:lstStyle/>
          <a:p>
            <a:r>
              <a:rPr lang="en-US" sz="2000" dirty="0"/>
              <a:t>D</a:t>
            </a:r>
            <a:r>
              <a:rPr lang="en-US" sz="2000" baseline="-25000" dirty="0"/>
              <a:t>1 </a:t>
            </a:r>
            <a:r>
              <a:rPr lang="en-US" sz="2000" dirty="0"/>
              <a:t>=  D</a:t>
            </a:r>
            <a:r>
              <a:rPr lang="en-US" sz="2000" baseline="-25000" dirty="0"/>
              <a:t>1</a:t>
            </a:r>
            <a:endParaRPr lang="en-US" sz="2000" dirty="0"/>
          </a:p>
        </p:txBody>
      </p:sp>
      <p:sp>
        <p:nvSpPr>
          <p:cNvPr id="16" name="Rectangle 35">
            <a:extLst>
              <a:ext uri="{FF2B5EF4-FFF2-40B4-BE49-F238E27FC236}">
                <a16:creationId xmlns:a16="http://schemas.microsoft.com/office/drawing/2014/main" id="{3943397D-5330-25AE-881A-A3CD860B7E4B}"/>
              </a:ext>
            </a:extLst>
          </p:cNvPr>
          <p:cNvSpPr>
            <a:spLocks/>
          </p:cNvSpPr>
          <p:nvPr/>
        </p:nvSpPr>
        <p:spPr bwMode="auto">
          <a:xfrm>
            <a:off x="4981289" y="4936718"/>
            <a:ext cx="1445909" cy="30777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nchor="ctr">
            <a:spAutoFit/>
          </a:bodyPr>
          <a:lstStyle/>
          <a:p>
            <a:r>
              <a:rPr lang="en-US" sz="2000" dirty="0"/>
              <a:t>D</a:t>
            </a:r>
            <a:r>
              <a:rPr lang="en-US" sz="2000" baseline="-25000" dirty="0"/>
              <a:t>2 </a:t>
            </a:r>
            <a:r>
              <a:rPr lang="en-US" sz="2000" dirty="0"/>
              <a:t>= D</a:t>
            </a:r>
            <a:r>
              <a:rPr lang="en-US" sz="2000" baseline="-25000" dirty="0"/>
              <a:t>1</a:t>
            </a:r>
            <a:r>
              <a:rPr lang="en-US" sz="2000" dirty="0"/>
              <a:t> (1+g)</a:t>
            </a:r>
          </a:p>
        </p:txBody>
      </p:sp>
      <p:sp>
        <p:nvSpPr>
          <p:cNvPr id="18" name="Rectangle 35">
            <a:extLst>
              <a:ext uri="{FF2B5EF4-FFF2-40B4-BE49-F238E27FC236}">
                <a16:creationId xmlns:a16="http://schemas.microsoft.com/office/drawing/2014/main" id="{1FA465A3-069B-632C-A743-4E3B3C399DC6}"/>
              </a:ext>
            </a:extLst>
          </p:cNvPr>
          <p:cNvSpPr>
            <a:spLocks/>
          </p:cNvSpPr>
          <p:nvPr/>
        </p:nvSpPr>
        <p:spPr bwMode="auto">
          <a:xfrm>
            <a:off x="4981289" y="5335339"/>
            <a:ext cx="3234528" cy="30777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nchor="ctr">
            <a:spAutoFit/>
          </a:bodyPr>
          <a:lstStyle/>
          <a:p>
            <a:r>
              <a:rPr lang="en-US" sz="2000"/>
              <a:t>D</a:t>
            </a:r>
            <a:r>
              <a:rPr lang="en-US" sz="2000" baseline="-25000"/>
              <a:t>3 </a:t>
            </a:r>
            <a:r>
              <a:rPr lang="en-US" sz="2000"/>
              <a:t>=  D</a:t>
            </a:r>
            <a:r>
              <a:rPr lang="en-US" sz="2000" baseline="-25000"/>
              <a:t>2</a:t>
            </a:r>
            <a:r>
              <a:rPr lang="en-US" sz="2000"/>
              <a:t> (1+g) = D</a:t>
            </a:r>
            <a:r>
              <a:rPr lang="en-US" sz="2000" baseline="-25000"/>
              <a:t>1</a:t>
            </a:r>
            <a:r>
              <a:rPr lang="en-US" sz="2000"/>
              <a:t> (1+g)</a:t>
            </a:r>
            <a:r>
              <a:rPr lang="en-US" sz="2000" baseline="30000"/>
              <a:t>2</a:t>
            </a:r>
            <a:endParaRPr lang="en-US" sz="2000"/>
          </a:p>
        </p:txBody>
      </p:sp>
      <p:sp>
        <p:nvSpPr>
          <p:cNvPr id="20" name="Rectangle 35">
            <a:extLst>
              <a:ext uri="{FF2B5EF4-FFF2-40B4-BE49-F238E27FC236}">
                <a16:creationId xmlns:a16="http://schemas.microsoft.com/office/drawing/2014/main" id="{D1013BA8-C6E9-E1A8-341C-F236425B0FC3}"/>
              </a:ext>
            </a:extLst>
          </p:cNvPr>
          <p:cNvSpPr>
            <a:spLocks/>
          </p:cNvSpPr>
          <p:nvPr/>
        </p:nvSpPr>
        <p:spPr bwMode="auto">
          <a:xfrm>
            <a:off x="4981289" y="6266382"/>
            <a:ext cx="3234528" cy="30777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nchor="ctr">
            <a:spAutoFit/>
          </a:bodyPr>
          <a:lstStyle/>
          <a:p>
            <a:r>
              <a:rPr lang="en-US" sz="2000" dirty="0" err="1"/>
              <a:t>D</a:t>
            </a:r>
            <a:r>
              <a:rPr lang="en-US" sz="2000" baseline="-25000" dirty="0" err="1"/>
              <a:t>j</a:t>
            </a:r>
            <a:r>
              <a:rPr lang="en-US" sz="2000" baseline="-25000" dirty="0"/>
              <a:t> </a:t>
            </a:r>
            <a:r>
              <a:rPr lang="en-US" sz="2000" dirty="0"/>
              <a:t>=  D</a:t>
            </a:r>
            <a:r>
              <a:rPr lang="en-US" sz="2000" baseline="-25000" dirty="0"/>
              <a:t>1</a:t>
            </a:r>
            <a:r>
              <a:rPr lang="en-US" sz="2000" dirty="0"/>
              <a:t> (1+g)</a:t>
            </a:r>
            <a:r>
              <a:rPr lang="en-US" sz="2000" baseline="30000" dirty="0"/>
              <a:t>j-1</a:t>
            </a:r>
            <a:endParaRPr lang="en-US" sz="2000" dirty="0"/>
          </a:p>
        </p:txBody>
      </p:sp>
      <p:sp>
        <p:nvSpPr>
          <p:cNvPr id="22" name="Rectangle 35">
            <a:extLst>
              <a:ext uri="{FF2B5EF4-FFF2-40B4-BE49-F238E27FC236}">
                <a16:creationId xmlns:a16="http://schemas.microsoft.com/office/drawing/2014/main" id="{5892BE16-2E88-C874-16D2-30DB23991378}"/>
              </a:ext>
            </a:extLst>
          </p:cNvPr>
          <p:cNvSpPr>
            <a:spLocks/>
          </p:cNvSpPr>
          <p:nvPr/>
        </p:nvSpPr>
        <p:spPr bwMode="auto">
          <a:xfrm>
            <a:off x="4829448" y="5751797"/>
            <a:ext cx="1576141" cy="48436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nchor="ctr">
            <a:spAutoFit/>
          </a:bodyPr>
          <a:lstStyle/>
          <a:p>
            <a:pPr algn="ctr">
              <a:lnSpc>
                <a:spcPct val="50000"/>
              </a:lnSpc>
            </a:pPr>
            <a:r>
              <a:rPr lang="en-US" sz="2000" dirty="0"/>
              <a:t>.</a:t>
            </a:r>
          </a:p>
          <a:p>
            <a:pPr algn="ctr">
              <a:lnSpc>
                <a:spcPct val="50000"/>
              </a:lnSpc>
            </a:pPr>
            <a:r>
              <a:rPr lang="en-US" sz="2000" dirty="0"/>
              <a:t>.</a:t>
            </a:r>
          </a:p>
          <a:p>
            <a:pPr algn="ctr">
              <a:lnSpc>
                <a:spcPct val="50000"/>
              </a:lnSpc>
            </a:pPr>
            <a:r>
              <a:rPr lang="en-US" sz="2000" dirty="0"/>
              <a:t>.</a:t>
            </a:r>
          </a:p>
        </p:txBody>
      </p:sp>
    </p:spTree>
    <p:extLst>
      <p:ext uri="{BB962C8B-B14F-4D97-AF65-F5344CB8AC3E}">
        <p14:creationId xmlns:p14="http://schemas.microsoft.com/office/powerpoint/2010/main" val="433533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16"/>
                                        </p:tgtEl>
                                        <p:attrNameLst>
                                          <p:attrName>style.visibility</p:attrName>
                                        </p:attrNameLst>
                                      </p:cBhvr>
                                      <p:to>
                                        <p:strVal val="visible"/>
                                      </p:to>
                                    </p:set>
                                    <p:animEffect transition="in" filter="fade">
                                      <p:cBhvr>
                                        <p:cTn id="7" dur="500"/>
                                        <p:tgtEl>
                                          <p:spTgt spid="1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6"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2CADD6-538C-FBB3-C3CD-920D935ABB0D}"/>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84495C5C-C1E3-3AA8-4E15-3C19FA2723C7}"/>
              </a:ext>
            </a:extLst>
          </p:cNvPr>
          <p:cNvSpPr>
            <a:spLocks noGrp="1"/>
          </p:cNvSpPr>
          <p:nvPr>
            <p:ph type="title"/>
          </p:nvPr>
        </p:nvSpPr>
        <p:spPr/>
        <p:txBody>
          <a:bodyPr/>
          <a:lstStyle/>
          <a:p>
            <a:r>
              <a:rPr lang="es-ES" dirty="0">
                <a:latin typeface="Century Gothic"/>
              </a:rPr>
              <a:t>VALOR TERMINAL </a:t>
            </a:r>
          </a:p>
        </p:txBody>
      </p:sp>
      <p:sp>
        <p:nvSpPr>
          <p:cNvPr id="4" name="Marcador de número de diapositiva 3">
            <a:extLst>
              <a:ext uri="{FF2B5EF4-FFF2-40B4-BE49-F238E27FC236}">
                <a16:creationId xmlns:a16="http://schemas.microsoft.com/office/drawing/2014/main" id="{798F9264-AD6A-1125-AC5F-35C7517A6D49}"/>
              </a:ext>
            </a:extLst>
          </p:cNvPr>
          <p:cNvSpPr>
            <a:spLocks noGrp="1"/>
          </p:cNvSpPr>
          <p:nvPr>
            <p:ph type="sldNum" sz="quarter" idx="12"/>
          </p:nvPr>
        </p:nvSpPr>
        <p:spPr/>
        <p:txBody>
          <a:bodyPr/>
          <a:lstStyle/>
          <a:p>
            <a:fld id="{5E3E23BA-6E79-2442-BA73-D218A5E297C3}" type="slidenum">
              <a:rPr lang="en-US" sz="1800" smtClean="0"/>
              <a:t>4</a:t>
            </a:fld>
            <a:endParaRPr lang="en-US" sz="1800" dirty="0"/>
          </a:p>
        </p:txBody>
      </p:sp>
      <p:sp>
        <p:nvSpPr>
          <p:cNvPr id="6" name="Rectángulo 5">
            <a:extLst>
              <a:ext uri="{FF2B5EF4-FFF2-40B4-BE49-F238E27FC236}">
                <a16:creationId xmlns:a16="http://schemas.microsoft.com/office/drawing/2014/main" id="{F8B38FAE-9C79-7404-A0C3-A55853F2573A}"/>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8" name="Picture 2" descr="Clientes y aliados | Centro de Evaluación | Uniandes">
            <a:extLst>
              <a:ext uri="{FF2B5EF4-FFF2-40B4-BE49-F238E27FC236}">
                <a16:creationId xmlns:a16="http://schemas.microsoft.com/office/drawing/2014/main" id="{4B62EF81-03DE-BD54-0A42-75611470F0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5" name="Rectángulo 4">
            <a:extLst>
              <a:ext uri="{FF2B5EF4-FFF2-40B4-BE49-F238E27FC236}">
                <a16:creationId xmlns:a16="http://schemas.microsoft.com/office/drawing/2014/main" id="{7FF192C3-192E-B5F4-D8B5-87549F3903FD}"/>
              </a:ext>
            </a:extLst>
          </p:cNvPr>
          <p:cNvSpPr/>
          <p:nvPr/>
        </p:nvSpPr>
        <p:spPr>
          <a:xfrm>
            <a:off x="8399257" y="118110"/>
            <a:ext cx="3150778" cy="261610"/>
          </a:xfrm>
          <a:prstGeom prst="rect">
            <a:avLst/>
          </a:prstGeom>
        </p:spPr>
        <p:txBody>
          <a:bodyPr wrap="square">
            <a:spAutoFit/>
          </a:bodyPr>
          <a:lstStyle/>
          <a:p>
            <a:pPr algn="r"/>
            <a:r>
              <a:rPr lang="es-CO" sz="1100" b="1" dirty="0">
                <a:solidFill>
                  <a:schemeClr val="accent2">
                    <a:lumMod val="50000"/>
                  </a:schemeClr>
                </a:solidFill>
                <a:latin typeface="Century Gothic" panose="020B0502020202020204" pitchFamily="34" charset="0"/>
                <a:sym typeface="Gill Sans Light"/>
              </a:rPr>
              <a:t>Curso</a:t>
            </a:r>
            <a:r>
              <a:rPr lang="es-CO" sz="1100" dirty="0">
                <a:solidFill>
                  <a:schemeClr val="accent2">
                    <a:lumMod val="50000"/>
                  </a:schemeClr>
                </a:solidFill>
                <a:latin typeface="Century Gothic" panose="020B0502020202020204" pitchFamily="34" charset="0"/>
                <a:sym typeface="Gill Sans Light"/>
              </a:rPr>
              <a:t> Análisis de Decisiones de Inversión</a:t>
            </a:r>
            <a:endParaRPr lang="es-CO" sz="1100" dirty="0">
              <a:solidFill>
                <a:schemeClr val="accent2">
                  <a:lumMod val="50000"/>
                </a:schemeClr>
              </a:solidFill>
              <a:latin typeface="Century Gothic" panose="020B0502020202020204" pitchFamily="34" charset="0"/>
            </a:endParaRPr>
          </a:p>
        </p:txBody>
      </p:sp>
      <p:sp>
        <p:nvSpPr>
          <p:cNvPr id="116" name="Rectangle 41">
            <a:extLst>
              <a:ext uri="{FF2B5EF4-FFF2-40B4-BE49-F238E27FC236}">
                <a16:creationId xmlns:a16="http://schemas.microsoft.com/office/drawing/2014/main" id="{8B47C7B0-0F94-AE62-D458-69361D37D1A9}"/>
              </a:ext>
            </a:extLst>
          </p:cNvPr>
          <p:cNvSpPr>
            <a:spLocks/>
          </p:cNvSpPr>
          <p:nvPr/>
        </p:nvSpPr>
        <p:spPr bwMode="auto">
          <a:xfrm>
            <a:off x="12909406" y="5760830"/>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n</a:t>
            </a:r>
          </a:p>
        </p:txBody>
      </p:sp>
      <p:sp>
        <p:nvSpPr>
          <p:cNvPr id="11" name="Marcador de contenido 2">
            <a:extLst>
              <a:ext uri="{FF2B5EF4-FFF2-40B4-BE49-F238E27FC236}">
                <a16:creationId xmlns:a16="http://schemas.microsoft.com/office/drawing/2014/main" id="{8505929F-B2B6-C6D5-5D36-BC1C80F73693}"/>
              </a:ext>
            </a:extLst>
          </p:cNvPr>
          <p:cNvSpPr>
            <a:spLocks noGrp="1"/>
          </p:cNvSpPr>
          <p:nvPr>
            <p:ph idx="1"/>
          </p:nvPr>
        </p:nvSpPr>
        <p:spPr>
          <a:xfrm>
            <a:off x="710027" y="1826205"/>
            <a:ext cx="10650399" cy="1486754"/>
          </a:xfrm>
        </p:spPr>
        <p:txBody>
          <a:bodyPr>
            <a:normAutofit/>
          </a:bodyPr>
          <a:lstStyle/>
          <a:p>
            <a:pPr marL="0" indent="0" algn="ctr">
              <a:buNone/>
            </a:pPr>
            <a:r>
              <a:rPr lang="es-MX" sz="1600" dirty="0">
                <a:solidFill>
                  <a:schemeClr val="accent1"/>
                </a:solidFill>
                <a:latin typeface="Century Gothic"/>
              </a:rPr>
              <a:t>Cuando una serie de flujos crece para siempre a una tasa constante g (y WACC &gt; g), esa suma infinita de términos se puede calcular con una sola fórmula, tan simple como la de la perpetuidad. A ese resultado se le conoce como el </a:t>
            </a:r>
            <a:r>
              <a:rPr lang="es-MX" sz="1600" b="1" dirty="0">
                <a:solidFill>
                  <a:srgbClr val="C00000"/>
                </a:solidFill>
                <a:latin typeface="Century Gothic"/>
              </a:rPr>
              <a:t>Modelo de Gordon-Shapiro</a:t>
            </a:r>
            <a:r>
              <a:rPr lang="es-MX" sz="1600" dirty="0">
                <a:solidFill>
                  <a:schemeClr val="accent1"/>
                </a:solidFill>
                <a:latin typeface="Century Gothic"/>
              </a:rPr>
              <a:t>.</a:t>
            </a:r>
            <a:endParaRPr lang="es-ES" sz="1600" dirty="0">
              <a:solidFill>
                <a:schemeClr val="accent1"/>
              </a:solidFill>
              <a:latin typeface="Century Gothic"/>
            </a:endParaRPr>
          </a:p>
        </p:txBody>
      </p:sp>
      <p:sp>
        <p:nvSpPr>
          <p:cNvPr id="3" name="Flecha derecha 7">
            <a:extLst>
              <a:ext uri="{FF2B5EF4-FFF2-40B4-BE49-F238E27FC236}">
                <a16:creationId xmlns:a16="http://schemas.microsoft.com/office/drawing/2014/main" id="{3677E7D5-9528-7159-AF02-BA00CD374ADE}"/>
              </a:ext>
            </a:extLst>
          </p:cNvPr>
          <p:cNvSpPr/>
          <p:nvPr/>
        </p:nvSpPr>
        <p:spPr>
          <a:xfrm>
            <a:off x="5786210" y="3929098"/>
            <a:ext cx="449759" cy="537824"/>
          </a:xfrm>
          <a:prstGeom prst="right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
          </a:p>
        </p:txBody>
      </p:sp>
      <p:sp>
        <p:nvSpPr>
          <p:cNvPr id="7" name="Rectángulo 6">
            <a:extLst>
              <a:ext uri="{FF2B5EF4-FFF2-40B4-BE49-F238E27FC236}">
                <a16:creationId xmlns:a16="http://schemas.microsoft.com/office/drawing/2014/main" id="{32BFD22E-4503-D41C-ADE1-A9BFFA63E84D}"/>
              </a:ext>
            </a:extLst>
          </p:cNvPr>
          <p:cNvSpPr/>
          <p:nvPr/>
        </p:nvSpPr>
        <p:spPr>
          <a:xfrm>
            <a:off x="6709627" y="3885536"/>
            <a:ext cx="1689630" cy="646331"/>
          </a:xfrm>
          <a:prstGeom prst="rect">
            <a:avLst/>
          </a:prstGeom>
        </p:spPr>
        <p:txBody>
          <a:bodyPr wrap="none">
            <a:spAutoFit/>
          </a:bodyPr>
          <a:lstStyle/>
          <a:p>
            <a:pPr algn="ctr"/>
            <a:r>
              <a:rPr lang="es-ES" dirty="0"/>
              <a:t>Modelo de </a:t>
            </a:r>
          </a:p>
          <a:p>
            <a:pPr algn="ctr"/>
            <a:r>
              <a:rPr lang="es-ES" dirty="0"/>
              <a:t>Gordon Shapiro</a:t>
            </a:r>
          </a:p>
        </p:txBody>
      </p:sp>
      <p:pic>
        <p:nvPicPr>
          <p:cNvPr id="9" name="Imagen 8" descr="latex-image-1.pdf">
            <a:extLst>
              <a:ext uri="{FF2B5EF4-FFF2-40B4-BE49-F238E27FC236}">
                <a16:creationId xmlns:a16="http://schemas.microsoft.com/office/drawing/2014/main" id="{D523C6D5-6402-A930-6A79-25217CE59CE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445111" y="3732940"/>
            <a:ext cx="1922054" cy="798926"/>
          </a:xfrm>
          <a:prstGeom prst="rect">
            <a:avLst/>
          </a:prstGeom>
        </p:spPr>
      </p:pic>
      <p:sp>
        <p:nvSpPr>
          <p:cNvPr id="10" name="Rectángulo 9">
            <a:extLst>
              <a:ext uri="{FF2B5EF4-FFF2-40B4-BE49-F238E27FC236}">
                <a16:creationId xmlns:a16="http://schemas.microsoft.com/office/drawing/2014/main" id="{18AF218D-CF9E-A712-5E7E-0E32E82B27F5}"/>
              </a:ext>
            </a:extLst>
          </p:cNvPr>
          <p:cNvSpPr/>
          <p:nvPr/>
        </p:nvSpPr>
        <p:spPr>
          <a:xfrm>
            <a:off x="938821" y="5329943"/>
            <a:ext cx="10314357" cy="584775"/>
          </a:xfrm>
          <a:prstGeom prst="rect">
            <a:avLst/>
          </a:prstGeom>
        </p:spPr>
        <p:txBody>
          <a:bodyPr wrap="square">
            <a:spAutoFit/>
          </a:bodyPr>
          <a:lstStyle/>
          <a:p>
            <a:pPr algn="ctr"/>
            <a:r>
              <a:rPr lang="es-ES" sz="1600" b="1" dirty="0">
                <a:solidFill>
                  <a:srgbClr val="C00000"/>
                </a:solidFill>
                <a:latin typeface="Century Gothic"/>
              </a:rPr>
              <a:t>Recordemos que D1 es el flujo de efectivo en el año 1, k es la tasa de descuento y g es la tasa de crecimiento constante.</a:t>
            </a:r>
          </a:p>
        </p:txBody>
      </p:sp>
    </p:spTree>
    <p:extLst>
      <p:ext uri="{BB962C8B-B14F-4D97-AF65-F5344CB8AC3E}">
        <p14:creationId xmlns:p14="http://schemas.microsoft.com/office/powerpoint/2010/main" val="6177483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16"/>
                                        </p:tgtEl>
                                        <p:attrNameLst>
                                          <p:attrName>style.visibility</p:attrName>
                                        </p:attrNameLst>
                                      </p:cBhvr>
                                      <p:to>
                                        <p:strVal val="visible"/>
                                      </p:to>
                                    </p:set>
                                    <p:animEffect transition="in" filter="fade">
                                      <p:cBhvr>
                                        <p:cTn id="7" dur="500"/>
                                        <p:tgtEl>
                                          <p:spTgt spid="116"/>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9"/>
                                        </p:tgtEl>
                                        <p:attrNameLst>
                                          <p:attrName>style.visibility</p:attrName>
                                        </p:attrNameLst>
                                      </p:cBhvr>
                                      <p:to>
                                        <p:strVal val="visible"/>
                                      </p:to>
                                    </p:set>
                                  </p:childTnLst>
                                </p:cTn>
                              </p:par>
                              <p:par>
                                <p:cTn id="12" presetID="1" presetClass="entr" presetSubtype="0" fill="hold" grpId="0" nodeType="withEffect">
                                  <p:stCondLst>
                                    <p:cond delay="0"/>
                                  </p:stCondLst>
                                  <p:childTnLst>
                                    <p:set>
                                      <p:cBhvr>
                                        <p:cTn id="13" dur="1" fill="hold">
                                          <p:stCondLst>
                                            <p:cond delay="0"/>
                                          </p:stCondLst>
                                        </p:cTn>
                                        <p:tgtEl>
                                          <p:spTgt spid="3"/>
                                        </p:tgtEl>
                                        <p:attrNameLst>
                                          <p:attrName>style.visibility</p:attrName>
                                        </p:attrNameLst>
                                      </p:cBhvr>
                                      <p:to>
                                        <p:strVal val="visible"/>
                                      </p:to>
                                    </p:set>
                                  </p:childTnLst>
                                </p:cTn>
                              </p:par>
                              <p:par>
                                <p:cTn id="14" presetID="1" presetClass="entr" presetSubtype="0" fill="hold" grpId="0" nodeType="withEffect">
                                  <p:stCondLst>
                                    <p:cond delay="0"/>
                                  </p:stCondLst>
                                  <p:childTnLst>
                                    <p:set>
                                      <p:cBhvr>
                                        <p:cTn id="15" dur="1" fill="hold">
                                          <p:stCondLst>
                                            <p:cond delay="0"/>
                                          </p:stCondLst>
                                        </p:cTn>
                                        <p:tgtEl>
                                          <p:spTgt spid="7"/>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grpId="0" nodeType="clickEffect">
                                  <p:stCondLst>
                                    <p:cond delay="0"/>
                                  </p:stCondLst>
                                  <p:childTnLst>
                                    <p:set>
                                      <p:cBhvr>
                                        <p:cTn id="19"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6" grpId="0"/>
      <p:bldP spid="3" grpId="0" animBg="1"/>
      <p:bldP spid="7" grpId="0"/>
      <p:bldP spid="10"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54ED51-9FE8-701A-517E-BC0E94FCE97C}"/>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B28E1E28-DE45-7156-E547-05BBA73B522E}"/>
              </a:ext>
            </a:extLst>
          </p:cNvPr>
          <p:cNvSpPr>
            <a:spLocks noGrp="1"/>
          </p:cNvSpPr>
          <p:nvPr>
            <p:ph type="title"/>
          </p:nvPr>
        </p:nvSpPr>
        <p:spPr/>
        <p:txBody>
          <a:bodyPr/>
          <a:lstStyle/>
          <a:p>
            <a:r>
              <a:rPr lang="es-ES" dirty="0">
                <a:latin typeface="Century Gothic"/>
              </a:rPr>
              <a:t>VALOR TERMINAL </a:t>
            </a:r>
          </a:p>
        </p:txBody>
      </p:sp>
      <p:sp>
        <p:nvSpPr>
          <p:cNvPr id="4" name="Marcador de número de diapositiva 3">
            <a:extLst>
              <a:ext uri="{FF2B5EF4-FFF2-40B4-BE49-F238E27FC236}">
                <a16:creationId xmlns:a16="http://schemas.microsoft.com/office/drawing/2014/main" id="{6855B0EE-6FDB-A58F-DE76-FF712006949F}"/>
              </a:ext>
            </a:extLst>
          </p:cNvPr>
          <p:cNvSpPr>
            <a:spLocks noGrp="1"/>
          </p:cNvSpPr>
          <p:nvPr>
            <p:ph type="sldNum" sz="quarter" idx="12"/>
          </p:nvPr>
        </p:nvSpPr>
        <p:spPr/>
        <p:txBody>
          <a:bodyPr/>
          <a:lstStyle/>
          <a:p>
            <a:fld id="{5E3E23BA-6E79-2442-BA73-D218A5E297C3}" type="slidenum">
              <a:rPr lang="en-US" sz="1800" smtClean="0"/>
              <a:t>5</a:t>
            </a:fld>
            <a:endParaRPr lang="en-US" sz="1800" dirty="0"/>
          </a:p>
        </p:txBody>
      </p:sp>
      <p:sp>
        <p:nvSpPr>
          <p:cNvPr id="6" name="Rectángulo 5">
            <a:extLst>
              <a:ext uri="{FF2B5EF4-FFF2-40B4-BE49-F238E27FC236}">
                <a16:creationId xmlns:a16="http://schemas.microsoft.com/office/drawing/2014/main" id="{B9A85C6A-E7CD-5469-3CD9-ACF02184BF09}"/>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8" name="Picture 2" descr="Clientes y aliados | Centro de Evaluación | Uniandes">
            <a:extLst>
              <a:ext uri="{FF2B5EF4-FFF2-40B4-BE49-F238E27FC236}">
                <a16:creationId xmlns:a16="http://schemas.microsoft.com/office/drawing/2014/main" id="{ACF0D4CB-8AF3-0DC4-373E-D842E5636B3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5" name="Rectángulo 4">
            <a:extLst>
              <a:ext uri="{FF2B5EF4-FFF2-40B4-BE49-F238E27FC236}">
                <a16:creationId xmlns:a16="http://schemas.microsoft.com/office/drawing/2014/main" id="{8AA2F922-0946-7A41-26E2-7E1CEFD75CBA}"/>
              </a:ext>
            </a:extLst>
          </p:cNvPr>
          <p:cNvSpPr/>
          <p:nvPr/>
        </p:nvSpPr>
        <p:spPr>
          <a:xfrm>
            <a:off x="8399257" y="118110"/>
            <a:ext cx="3150778" cy="261610"/>
          </a:xfrm>
          <a:prstGeom prst="rect">
            <a:avLst/>
          </a:prstGeom>
        </p:spPr>
        <p:txBody>
          <a:bodyPr wrap="square">
            <a:spAutoFit/>
          </a:bodyPr>
          <a:lstStyle/>
          <a:p>
            <a:pPr algn="r"/>
            <a:r>
              <a:rPr lang="es-CO" sz="1100" b="1" dirty="0">
                <a:solidFill>
                  <a:schemeClr val="accent2">
                    <a:lumMod val="50000"/>
                  </a:schemeClr>
                </a:solidFill>
                <a:latin typeface="Century Gothic" panose="020B0502020202020204" pitchFamily="34" charset="0"/>
                <a:sym typeface="Gill Sans Light"/>
              </a:rPr>
              <a:t>Curso</a:t>
            </a:r>
            <a:r>
              <a:rPr lang="es-CO" sz="1100" dirty="0">
                <a:solidFill>
                  <a:schemeClr val="accent2">
                    <a:lumMod val="50000"/>
                  </a:schemeClr>
                </a:solidFill>
                <a:latin typeface="Century Gothic" panose="020B0502020202020204" pitchFamily="34" charset="0"/>
                <a:sym typeface="Gill Sans Light"/>
              </a:rPr>
              <a:t> Análisis de Decisiones de Inversión</a:t>
            </a:r>
            <a:endParaRPr lang="es-CO" sz="1100" dirty="0">
              <a:solidFill>
                <a:schemeClr val="accent2">
                  <a:lumMod val="50000"/>
                </a:schemeClr>
              </a:solidFill>
              <a:latin typeface="Century Gothic" panose="020B0502020202020204" pitchFamily="34" charset="0"/>
            </a:endParaRPr>
          </a:p>
        </p:txBody>
      </p:sp>
      <p:sp>
        <p:nvSpPr>
          <p:cNvPr id="116" name="Rectangle 41">
            <a:extLst>
              <a:ext uri="{FF2B5EF4-FFF2-40B4-BE49-F238E27FC236}">
                <a16:creationId xmlns:a16="http://schemas.microsoft.com/office/drawing/2014/main" id="{CBD05F9F-815E-E8F6-A3FC-9DBDE24E9B79}"/>
              </a:ext>
            </a:extLst>
          </p:cNvPr>
          <p:cNvSpPr>
            <a:spLocks/>
          </p:cNvSpPr>
          <p:nvPr/>
        </p:nvSpPr>
        <p:spPr bwMode="auto">
          <a:xfrm>
            <a:off x="12909406" y="5760830"/>
            <a:ext cx="337060" cy="30777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nchor="ctr">
            <a:spAutoFit/>
          </a:bodyPr>
          <a:lstStyle/>
          <a:p>
            <a:pPr algn="ctr"/>
            <a:r>
              <a:rPr lang="en-US" sz="2000"/>
              <a:t>n</a:t>
            </a:r>
          </a:p>
        </p:txBody>
      </p:sp>
      <p:sp>
        <p:nvSpPr>
          <p:cNvPr id="11" name="Marcador de contenido 2">
            <a:extLst>
              <a:ext uri="{FF2B5EF4-FFF2-40B4-BE49-F238E27FC236}">
                <a16:creationId xmlns:a16="http://schemas.microsoft.com/office/drawing/2014/main" id="{093D99B7-E34B-26B3-C445-E731D803CDE5}"/>
              </a:ext>
            </a:extLst>
          </p:cNvPr>
          <p:cNvSpPr>
            <a:spLocks noGrp="1"/>
          </p:cNvSpPr>
          <p:nvPr>
            <p:ph idx="1"/>
          </p:nvPr>
        </p:nvSpPr>
        <p:spPr>
          <a:xfrm>
            <a:off x="451408" y="1817578"/>
            <a:ext cx="10944086" cy="3720580"/>
          </a:xfrm>
        </p:spPr>
        <p:txBody>
          <a:bodyPr>
            <a:normAutofit/>
          </a:bodyPr>
          <a:lstStyle/>
          <a:p>
            <a:pPr marL="0" indent="0" algn="just">
              <a:buNone/>
            </a:pPr>
            <a:r>
              <a:rPr lang="es-ES" sz="1600" b="1" dirty="0">
                <a:solidFill>
                  <a:schemeClr val="accent1"/>
                </a:solidFill>
                <a:latin typeface="Century Gothic"/>
              </a:rPr>
              <a:t>Ejemplo 1:</a:t>
            </a:r>
          </a:p>
          <a:p>
            <a:pPr marL="0" indent="0" algn="just">
              <a:buNone/>
            </a:pPr>
            <a:endParaRPr lang="es-ES" sz="1600" b="1" dirty="0">
              <a:solidFill>
                <a:schemeClr val="accent1"/>
              </a:solidFill>
              <a:latin typeface="Century Gothic"/>
            </a:endParaRPr>
          </a:p>
          <a:p>
            <a:pPr marL="0" indent="0" algn="just">
              <a:buNone/>
            </a:pPr>
            <a:r>
              <a:rPr lang="es-ES" sz="1600" dirty="0">
                <a:solidFill>
                  <a:schemeClr val="accent1"/>
                </a:solidFill>
                <a:latin typeface="Century Gothic"/>
              </a:rPr>
              <a:t>Su nueva idea de negocio espera competir fuertemente con las arepas del SD. Usted estima generar unos ingresos de 15 millones de pesos en el primer año. A partir del segundo año las ventas incrementan anualmente en un 5%. </a:t>
            </a:r>
          </a:p>
          <a:p>
            <a:pPr marL="0" indent="0" algn="just">
              <a:buNone/>
            </a:pPr>
            <a:endParaRPr lang="es-ES" sz="1600" dirty="0">
              <a:solidFill>
                <a:schemeClr val="accent1"/>
              </a:solidFill>
              <a:latin typeface="Century Gothic"/>
            </a:endParaRPr>
          </a:p>
          <a:p>
            <a:pPr marL="0" indent="0" algn="just">
              <a:buNone/>
            </a:pPr>
            <a:r>
              <a:rPr lang="es-ES" sz="1600" dirty="0">
                <a:solidFill>
                  <a:schemeClr val="accent1"/>
                </a:solidFill>
                <a:latin typeface="Century Gothic"/>
              </a:rPr>
              <a:t>Su costo de financiarse vía Deuda y </a:t>
            </a:r>
            <a:r>
              <a:rPr lang="es-ES" sz="1600" dirty="0" err="1">
                <a:solidFill>
                  <a:schemeClr val="accent1"/>
                </a:solidFill>
                <a:latin typeface="Century Gothic"/>
              </a:rPr>
              <a:t>Equity</a:t>
            </a:r>
            <a:r>
              <a:rPr lang="es-ES" sz="1600" dirty="0">
                <a:solidFill>
                  <a:schemeClr val="accent1"/>
                </a:solidFill>
                <a:latin typeface="Century Gothic"/>
              </a:rPr>
              <a:t> es del 12% efectivo anual.</a:t>
            </a:r>
          </a:p>
          <a:p>
            <a:pPr marL="0" indent="0" algn="just">
              <a:buNone/>
            </a:pPr>
            <a:endParaRPr lang="es-ES" sz="1600" dirty="0">
              <a:solidFill>
                <a:schemeClr val="accent1"/>
              </a:solidFill>
              <a:latin typeface="Century Gothic"/>
            </a:endParaRPr>
          </a:p>
          <a:p>
            <a:pPr marL="0" indent="0" algn="just">
              <a:buNone/>
            </a:pPr>
            <a:r>
              <a:rPr lang="es-ES" sz="1600" dirty="0">
                <a:solidFill>
                  <a:schemeClr val="accent1"/>
                </a:solidFill>
                <a:latin typeface="Century Gothic"/>
              </a:rPr>
              <a:t>¿Cuál es el mínimo valor al cual usted estaría dispuesto a vender su idea de negocio? (Valor Presente)</a:t>
            </a:r>
          </a:p>
        </p:txBody>
      </p:sp>
    </p:spTree>
    <p:extLst>
      <p:ext uri="{BB962C8B-B14F-4D97-AF65-F5344CB8AC3E}">
        <p14:creationId xmlns:p14="http://schemas.microsoft.com/office/powerpoint/2010/main" val="24328190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16"/>
                                        </p:tgtEl>
                                        <p:attrNameLst>
                                          <p:attrName>style.visibility</p:attrName>
                                        </p:attrNameLst>
                                      </p:cBhvr>
                                      <p:to>
                                        <p:strVal val="visible"/>
                                      </p:to>
                                    </p:set>
                                    <p:animEffect transition="in" filter="fade">
                                      <p:cBhvr>
                                        <p:cTn id="7" dur="500"/>
                                        <p:tgtEl>
                                          <p:spTgt spid="1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6"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37ADF8-9DDE-1185-AB55-940FEB7B6896}"/>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1F0C503F-2F99-B292-1655-32EAFD76F84D}"/>
              </a:ext>
            </a:extLst>
          </p:cNvPr>
          <p:cNvSpPr>
            <a:spLocks noGrp="1"/>
          </p:cNvSpPr>
          <p:nvPr>
            <p:ph type="title"/>
          </p:nvPr>
        </p:nvSpPr>
        <p:spPr/>
        <p:txBody>
          <a:bodyPr/>
          <a:lstStyle/>
          <a:p>
            <a:r>
              <a:rPr lang="es-ES" dirty="0">
                <a:latin typeface="Century Gothic"/>
              </a:rPr>
              <a:t>VALOR TERMINAL </a:t>
            </a:r>
          </a:p>
        </p:txBody>
      </p:sp>
      <p:sp>
        <p:nvSpPr>
          <p:cNvPr id="4" name="Marcador de número de diapositiva 3">
            <a:extLst>
              <a:ext uri="{FF2B5EF4-FFF2-40B4-BE49-F238E27FC236}">
                <a16:creationId xmlns:a16="http://schemas.microsoft.com/office/drawing/2014/main" id="{DF3A4A95-10B4-C18C-133A-78CF15CA7A68}"/>
              </a:ext>
            </a:extLst>
          </p:cNvPr>
          <p:cNvSpPr>
            <a:spLocks noGrp="1"/>
          </p:cNvSpPr>
          <p:nvPr>
            <p:ph type="sldNum" sz="quarter" idx="12"/>
          </p:nvPr>
        </p:nvSpPr>
        <p:spPr/>
        <p:txBody>
          <a:bodyPr/>
          <a:lstStyle/>
          <a:p>
            <a:fld id="{5E3E23BA-6E79-2442-BA73-D218A5E297C3}" type="slidenum">
              <a:rPr lang="en-US" sz="1800" smtClean="0"/>
              <a:t>6</a:t>
            </a:fld>
            <a:endParaRPr lang="en-US" sz="1800" dirty="0"/>
          </a:p>
        </p:txBody>
      </p:sp>
      <p:sp>
        <p:nvSpPr>
          <p:cNvPr id="6" name="Rectángulo 5">
            <a:extLst>
              <a:ext uri="{FF2B5EF4-FFF2-40B4-BE49-F238E27FC236}">
                <a16:creationId xmlns:a16="http://schemas.microsoft.com/office/drawing/2014/main" id="{1143F511-2B13-FFA9-2ADD-B5D356908977}"/>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8" name="Picture 2" descr="Clientes y aliados | Centro de Evaluación | Uniandes">
            <a:extLst>
              <a:ext uri="{FF2B5EF4-FFF2-40B4-BE49-F238E27FC236}">
                <a16:creationId xmlns:a16="http://schemas.microsoft.com/office/drawing/2014/main" id="{8F5ABA4E-F9BB-D3AF-D93A-0D5E558B87F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5" name="Rectángulo 4">
            <a:extLst>
              <a:ext uri="{FF2B5EF4-FFF2-40B4-BE49-F238E27FC236}">
                <a16:creationId xmlns:a16="http://schemas.microsoft.com/office/drawing/2014/main" id="{D38AA4B5-90D2-2FBC-6404-AE6E5F06300A}"/>
              </a:ext>
            </a:extLst>
          </p:cNvPr>
          <p:cNvSpPr/>
          <p:nvPr/>
        </p:nvSpPr>
        <p:spPr>
          <a:xfrm>
            <a:off x="8399257" y="118110"/>
            <a:ext cx="3150778" cy="261610"/>
          </a:xfrm>
          <a:prstGeom prst="rect">
            <a:avLst/>
          </a:prstGeom>
        </p:spPr>
        <p:txBody>
          <a:bodyPr wrap="square">
            <a:spAutoFit/>
          </a:bodyPr>
          <a:lstStyle/>
          <a:p>
            <a:pPr algn="r"/>
            <a:r>
              <a:rPr lang="es-CO" sz="1100" b="1" dirty="0">
                <a:solidFill>
                  <a:schemeClr val="accent2">
                    <a:lumMod val="50000"/>
                  </a:schemeClr>
                </a:solidFill>
                <a:latin typeface="Century Gothic" panose="020B0502020202020204" pitchFamily="34" charset="0"/>
                <a:sym typeface="Gill Sans Light"/>
              </a:rPr>
              <a:t>Curso</a:t>
            </a:r>
            <a:r>
              <a:rPr lang="es-CO" sz="1100" dirty="0">
                <a:solidFill>
                  <a:schemeClr val="accent2">
                    <a:lumMod val="50000"/>
                  </a:schemeClr>
                </a:solidFill>
                <a:latin typeface="Century Gothic" panose="020B0502020202020204" pitchFamily="34" charset="0"/>
                <a:sym typeface="Gill Sans Light"/>
              </a:rPr>
              <a:t> Análisis de Decisiones de Inversión</a:t>
            </a:r>
            <a:endParaRPr lang="es-CO" sz="1100" dirty="0">
              <a:solidFill>
                <a:schemeClr val="accent2">
                  <a:lumMod val="50000"/>
                </a:schemeClr>
              </a:solidFill>
              <a:latin typeface="Century Gothic" panose="020B0502020202020204" pitchFamily="34" charset="0"/>
            </a:endParaRPr>
          </a:p>
        </p:txBody>
      </p:sp>
      <p:sp>
        <p:nvSpPr>
          <p:cNvPr id="9" name="Marcador de contenido 2">
            <a:extLst>
              <a:ext uri="{FF2B5EF4-FFF2-40B4-BE49-F238E27FC236}">
                <a16:creationId xmlns:a16="http://schemas.microsoft.com/office/drawing/2014/main" id="{E7A025E0-55EF-66E3-BE84-D9CEA7432F9C}"/>
              </a:ext>
            </a:extLst>
          </p:cNvPr>
          <p:cNvSpPr txBox="1">
            <a:spLocks/>
          </p:cNvSpPr>
          <p:nvPr/>
        </p:nvSpPr>
        <p:spPr>
          <a:xfrm>
            <a:off x="-296776" y="5483212"/>
            <a:ext cx="7610476" cy="472925"/>
          </a:xfrm>
          <a:prstGeom prst="rect">
            <a:avLst/>
          </a:prstGeom>
        </p:spPr>
        <p:txBody>
          <a:bodyPr vert="horz" lIns="91440" tIns="45720" rIns="91440" bIns="45720" rtlCol="0" anchor="ctr">
            <a:norm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marL="0" indent="0" algn="ctr">
              <a:buFont typeface="Wingdings 2" panose="05020102010507070707" pitchFamily="18" charset="2"/>
              <a:buNone/>
            </a:pPr>
            <a:r>
              <a:rPr lang="es-ES" sz="2400" dirty="0"/>
              <a:t>Costo de oportunidad = WACC=12% EA</a:t>
            </a:r>
          </a:p>
        </p:txBody>
      </p:sp>
      <p:cxnSp>
        <p:nvCxnSpPr>
          <p:cNvPr id="10" name="Straight Connector 6">
            <a:extLst>
              <a:ext uri="{FF2B5EF4-FFF2-40B4-BE49-F238E27FC236}">
                <a16:creationId xmlns:a16="http://schemas.microsoft.com/office/drawing/2014/main" id="{BFBEFA0E-7C4D-4144-3AE8-9A0F7AB0D8D7}"/>
              </a:ext>
            </a:extLst>
          </p:cNvPr>
          <p:cNvCxnSpPr/>
          <p:nvPr/>
        </p:nvCxnSpPr>
        <p:spPr>
          <a:xfrm>
            <a:off x="444962" y="4384912"/>
            <a:ext cx="6191592" cy="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2" name="Straight Arrow Connector 9">
            <a:extLst>
              <a:ext uri="{FF2B5EF4-FFF2-40B4-BE49-F238E27FC236}">
                <a16:creationId xmlns:a16="http://schemas.microsoft.com/office/drawing/2014/main" id="{2B375A04-7D44-572A-0673-3D3C005FA045}"/>
              </a:ext>
            </a:extLst>
          </p:cNvPr>
          <p:cNvCxnSpPr/>
          <p:nvPr/>
        </p:nvCxnSpPr>
        <p:spPr>
          <a:xfrm flipV="1">
            <a:off x="1364886" y="3973741"/>
            <a:ext cx="0" cy="424000"/>
          </a:xfrm>
          <a:prstGeom prst="straightConnector1">
            <a:avLst/>
          </a:prstGeom>
          <a:ln>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13" name="Straight Arrow Connector 11">
            <a:extLst>
              <a:ext uri="{FF2B5EF4-FFF2-40B4-BE49-F238E27FC236}">
                <a16:creationId xmlns:a16="http://schemas.microsoft.com/office/drawing/2014/main" id="{09FCEF66-9B7B-0B43-2FA8-92809A60E6FE}"/>
              </a:ext>
            </a:extLst>
          </p:cNvPr>
          <p:cNvCxnSpPr/>
          <p:nvPr/>
        </p:nvCxnSpPr>
        <p:spPr>
          <a:xfrm flipV="1">
            <a:off x="2438315" y="3845465"/>
            <a:ext cx="0" cy="552276"/>
          </a:xfrm>
          <a:prstGeom prst="straightConnector1">
            <a:avLst/>
          </a:prstGeom>
          <a:ln>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14" name="Straight Arrow Connector 12">
            <a:extLst>
              <a:ext uri="{FF2B5EF4-FFF2-40B4-BE49-F238E27FC236}">
                <a16:creationId xmlns:a16="http://schemas.microsoft.com/office/drawing/2014/main" id="{C9E91812-BAA4-1648-5820-B9972FF707DB}"/>
              </a:ext>
            </a:extLst>
          </p:cNvPr>
          <p:cNvCxnSpPr/>
          <p:nvPr/>
        </p:nvCxnSpPr>
        <p:spPr>
          <a:xfrm flipV="1">
            <a:off x="3497789" y="3730004"/>
            <a:ext cx="0" cy="667737"/>
          </a:xfrm>
          <a:prstGeom prst="straightConnector1">
            <a:avLst/>
          </a:prstGeom>
          <a:ln>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15" name="Straight Arrow Connector 13">
            <a:extLst>
              <a:ext uri="{FF2B5EF4-FFF2-40B4-BE49-F238E27FC236}">
                <a16:creationId xmlns:a16="http://schemas.microsoft.com/office/drawing/2014/main" id="{BFABDC6B-883C-7D0D-E1A1-B8B0830D78CD}"/>
              </a:ext>
            </a:extLst>
          </p:cNvPr>
          <p:cNvCxnSpPr/>
          <p:nvPr/>
        </p:nvCxnSpPr>
        <p:spPr>
          <a:xfrm flipV="1">
            <a:off x="4503651" y="3563244"/>
            <a:ext cx="0" cy="834497"/>
          </a:xfrm>
          <a:prstGeom prst="straightConnector1">
            <a:avLst/>
          </a:prstGeom>
          <a:ln>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16" name="Straight Arrow Connector 14">
            <a:extLst>
              <a:ext uri="{FF2B5EF4-FFF2-40B4-BE49-F238E27FC236}">
                <a16:creationId xmlns:a16="http://schemas.microsoft.com/office/drawing/2014/main" id="{7290F93E-0EE8-3F41-6B15-AC3E2D3DFE34}"/>
              </a:ext>
            </a:extLst>
          </p:cNvPr>
          <p:cNvCxnSpPr/>
          <p:nvPr/>
        </p:nvCxnSpPr>
        <p:spPr>
          <a:xfrm flipV="1">
            <a:off x="5577080" y="3216896"/>
            <a:ext cx="0" cy="1180844"/>
          </a:xfrm>
          <a:prstGeom prst="straightConnector1">
            <a:avLst/>
          </a:prstGeom>
          <a:ln>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17" name="Straight Arrow Connector 15">
            <a:extLst>
              <a:ext uri="{FF2B5EF4-FFF2-40B4-BE49-F238E27FC236}">
                <a16:creationId xmlns:a16="http://schemas.microsoft.com/office/drawing/2014/main" id="{10C9585A-8E14-504C-FF87-92622A7B6523}"/>
              </a:ext>
            </a:extLst>
          </p:cNvPr>
          <p:cNvCxnSpPr/>
          <p:nvPr/>
        </p:nvCxnSpPr>
        <p:spPr>
          <a:xfrm flipV="1">
            <a:off x="6636554" y="2862496"/>
            <a:ext cx="0" cy="1535244"/>
          </a:xfrm>
          <a:prstGeom prst="straightConnector1">
            <a:avLst/>
          </a:prstGeom>
          <a:ln>
            <a:solidFill>
              <a:schemeClr val="accent2"/>
            </a:solidFill>
            <a:tailEnd type="arrow"/>
          </a:ln>
        </p:spPr>
        <p:style>
          <a:lnRef idx="2">
            <a:schemeClr val="accent1"/>
          </a:lnRef>
          <a:fillRef idx="0">
            <a:schemeClr val="accent1"/>
          </a:fillRef>
          <a:effectRef idx="1">
            <a:schemeClr val="accent1"/>
          </a:effectRef>
          <a:fontRef idx="minor">
            <a:schemeClr val="tx1"/>
          </a:fontRef>
        </p:style>
      </p:cxnSp>
      <p:sp>
        <p:nvSpPr>
          <p:cNvPr id="18" name="Rectangle 35">
            <a:extLst>
              <a:ext uri="{FF2B5EF4-FFF2-40B4-BE49-F238E27FC236}">
                <a16:creationId xmlns:a16="http://schemas.microsoft.com/office/drawing/2014/main" id="{7A7229BD-047E-19D6-326D-4A70A83B8282}"/>
              </a:ext>
            </a:extLst>
          </p:cNvPr>
          <p:cNvSpPr>
            <a:spLocks/>
          </p:cNvSpPr>
          <p:nvPr/>
        </p:nvSpPr>
        <p:spPr bwMode="auto">
          <a:xfrm>
            <a:off x="380841" y="4421393"/>
            <a:ext cx="12824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nchor="ctr">
            <a:spAutoFit/>
          </a:bodyPr>
          <a:lstStyle/>
          <a:p>
            <a:pPr algn="ctr"/>
            <a:r>
              <a:rPr lang="en-US" sz="2000"/>
              <a:t>0</a:t>
            </a:r>
          </a:p>
        </p:txBody>
      </p:sp>
      <p:sp>
        <p:nvSpPr>
          <p:cNvPr id="19" name="Rectangle 36">
            <a:extLst>
              <a:ext uri="{FF2B5EF4-FFF2-40B4-BE49-F238E27FC236}">
                <a16:creationId xmlns:a16="http://schemas.microsoft.com/office/drawing/2014/main" id="{F9DDB882-A04D-0B1D-4D01-B170D1D3D41E}"/>
              </a:ext>
            </a:extLst>
          </p:cNvPr>
          <p:cNvSpPr>
            <a:spLocks/>
          </p:cNvSpPr>
          <p:nvPr/>
        </p:nvSpPr>
        <p:spPr bwMode="auto">
          <a:xfrm>
            <a:off x="1194126" y="4396564"/>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1</a:t>
            </a:r>
          </a:p>
        </p:txBody>
      </p:sp>
      <p:sp>
        <p:nvSpPr>
          <p:cNvPr id="20" name="Rectangle 37">
            <a:extLst>
              <a:ext uri="{FF2B5EF4-FFF2-40B4-BE49-F238E27FC236}">
                <a16:creationId xmlns:a16="http://schemas.microsoft.com/office/drawing/2014/main" id="{C4C56D5B-C297-0EE5-D26D-419EE65B5AA4}"/>
              </a:ext>
            </a:extLst>
          </p:cNvPr>
          <p:cNvSpPr>
            <a:spLocks/>
          </p:cNvSpPr>
          <p:nvPr/>
        </p:nvSpPr>
        <p:spPr bwMode="auto">
          <a:xfrm>
            <a:off x="2282614" y="4396564"/>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2</a:t>
            </a:r>
          </a:p>
        </p:txBody>
      </p:sp>
      <p:sp>
        <p:nvSpPr>
          <p:cNvPr id="21" name="Rectangle 38">
            <a:extLst>
              <a:ext uri="{FF2B5EF4-FFF2-40B4-BE49-F238E27FC236}">
                <a16:creationId xmlns:a16="http://schemas.microsoft.com/office/drawing/2014/main" id="{F67FF73A-835D-458E-2A54-B13449CD807C}"/>
              </a:ext>
            </a:extLst>
          </p:cNvPr>
          <p:cNvSpPr>
            <a:spLocks/>
          </p:cNvSpPr>
          <p:nvPr/>
        </p:nvSpPr>
        <p:spPr bwMode="auto">
          <a:xfrm>
            <a:off x="3342088" y="4410521"/>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3</a:t>
            </a:r>
          </a:p>
        </p:txBody>
      </p:sp>
      <p:sp>
        <p:nvSpPr>
          <p:cNvPr id="22" name="Rectangle 39">
            <a:extLst>
              <a:ext uri="{FF2B5EF4-FFF2-40B4-BE49-F238E27FC236}">
                <a16:creationId xmlns:a16="http://schemas.microsoft.com/office/drawing/2014/main" id="{6A0AC553-0A90-9A26-3A27-E0BE5FF9298D}"/>
              </a:ext>
            </a:extLst>
          </p:cNvPr>
          <p:cNvSpPr>
            <a:spLocks/>
          </p:cNvSpPr>
          <p:nvPr/>
        </p:nvSpPr>
        <p:spPr bwMode="auto">
          <a:xfrm>
            <a:off x="4347950" y="4426978"/>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4</a:t>
            </a:r>
          </a:p>
        </p:txBody>
      </p:sp>
      <p:sp>
        <p:nvSpPr>
          <p:cNvPr id="23" name="Rectangle 40">
            <a:extLst>
              <a:ext uri="{FF2B5EF4-FFF2-40B4-BE49-F238E27FC236}">
                <a16:creationId xmlns:a16="http://schemas.microsoft.com/office/drawing/2014/main" id="{A21AA331-042C-13B2-0E7B-26F47C7CAFF0}"/>
              </a:ext>
            </a:extLst>
          </p:cNvPr>
          <p:cNvSpPr>
            <a:spLocks/>
          </p:cNvSpPr>
          <p:nvPr/>
        </p:nvSpPr>
        <p:spPr bwMode="auto">
          <a:xfrm>
            <a:off x="5421379" y="4396564"/>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5</a:t>
            </a:r>
          </a:p>
        </p:txBody>
      </p:sp>
      <p:sp>
        <p:nvSpPr>
          <p:cNvPr id="24" name="Rectangle 41">
            <a:extLst>
              <a:ext uri="{FF2B5EF4-FFF2-40B4-BE49-F238E27FC236}">
                <a16:creationId xmlns:a16="http://schemas.microsoft.com/office/drawing/2014/main" id="{7DEC230A-AF20-6C71-47D1-7E930B5E8226}"/>
              </a:ext>
            </a:extLst>
          </p:cNvPr>
          <p:cNvSpPr>
            <a:spLocks/>
          </p:cNvSpPr>
          <p:nvPr/>
        </p:nvSpPr>
        <p:spPr bwMode="auto">
          <a:xfrm>
            <a:off x="6480853" y="4396564"/>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n</a:t>
            </a:r>
          </a:p>
        </p:txBody>
      </p:sp>
      <p:sp>
        <p:nvSpPr>
          <p:cNvPr id="25" name="Rectangle 35">
            <a:extLst>
              <a:ext uri="{FF2B5EF4-FFF2-40B4-BE49-F238E27FC236}">
                <a16:creationId xmlns:a16="http://schemas.microsoft.com/office/drawing/2014/main" id="{77E8A2DA-6241-CD9E-111F-CCF396E12FED}"/>
              </a:ext>
            </a:extLst>
          </p:cNvPr>
          <p:cNvSpPr>
            <a:spLocks/>
          </p:cNvSpPr>
          <p:nvPr/>
        </p:nvSpPr>
        <p:spPr bwMode="auto">
          <a:xfrm>
            <a:off x="1262304" y="3669515"/>
            <a:ext cx="256481"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nchor="ctr">
            <a:spAutoFit/>
          </a:bodyPr>
          <a:lstStyle/>
          <a:p>
            <a:pPr algn="ctr"/>
            <a:r>
              <a:rPr lang="en-US" sz="2000"/>
              <a:t>15</a:t>
            </a:r>
          </a:p>
        </p:txBody>
      </p:sp>
      <p:sp>
        <p:nvSpPr>
          <p:cNvPr id="26" name="Rectangle 35">
            <a:extLst>
              <a:ext uri="{FF2B5EF4-FFF2-40B4-BE49-F238E27FC236}">
                <a16:creationId xmlns:a16="http://schemas.microsoft.com/office/drawing/2014/main" id="{01772914-9578-2C28-CBE7-E60F3123F9C3}"/>
              </a:ext>
            </a:extLst>
          </p:cNvPr>
          <p:cNvSpPr>
            <a:spLocks/>
          </p:cNvSpPr>
          <p:nvPr/>
        </p:nvSpPr>
        <p:spPr bwMode="auto">
          <a:xfrm>
            <a:off x="1978834" y="3550045"/>
            <a:ext cx="1001877"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nchor="ctr">
            <a:spAutoFit/>
          </a:bodyPr>
          <a:lstStyle/>
          <a:p>
            <a:pPr algn="ctr"/>
            <a:r>
              <a:rPr lang="en-US" sz="2000"/>
              <a:t>15(1+5%)</a:t>
            </a:r>
          </a:p>
        </p:txBody>
      </p:sp>
      <p:sp>
        <p:nvSpPr>
          <p:cNvPr id="27" name="Rectangle 35">
            <a:extLst>
              <a:ext uri="{FF2B5EF4-FFF2-40B4-BE49-F238E27FC236}">
                <a16:creationId xmlns:a16="http://schemas.microsoft.com/office/drawing/2014/main" id="{B46D24F3-AA95-8124-BE5B-C6A43727964A}"/>
              </a:ext>
            </a:extLst>
          </p:cNvPr>
          <p:cNvSpPr>
            <a:spLocks/>
          </p:cNvSpPr>
          <p:nvPr/>
        </p:nvSpPr>
        <p:spPr bwMode="auto">
          <a:xfrm>
            <a:off x="2954372" y="3456224"/>
            <a:ext cx="1086837"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nchor="ctr">
            <a:spAutoFit/>
          </a:bodyPr>
          <a:lstStyle/>
          <a:p>
            <a:pPr algn="ctr"/>
            <a:r>
              <a:rPr lang="en-US" sz="2000"/>
              <a:t>15(1+5%)</a:t>
            </a:r>
            <a:r>
              <a:rPr lang="en-US" sz="2000" baseline="30000"/>
              <a:t>2</a:t>
            </a:r>
            <a:endParaRPr lang="en-US" sz="2000"/>
          </a:p>
        </p:txBody>
      </p:sp>
      <p:sp>
        <p:nvSpPr>
          <p:cNvPr id="28" name="Rectangle 35">
            <a:extLst>
              <a:ext uri="{FF2B5EF4-FFF2-40B4-BE49-F238E27FC236}">
                <a16:creationId xmlns:a16="http://schemas.microsoft.com/office/drawing/2014/main" id="{2B3A5A53-185F-B89C-7894-375D974A9FF2}"/>
              </a:ext>
            </a:extLst>
          </p:cNvPr>
          <p:cNvSpPr>
            <a:spLocks/>
          </p:cNvSpPr>
          <p:nvPr/>
        </p:nvSpPr>
        <p:spPr bwMode="auto">
          <a:xfrm>
            <a:off x="3985892" y="3260589"/>
            <a:ext cx="1086837"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nchor="ctr">
            <a:spAutoFit/>
          </a:bodyPr>
          <a:lstStyle/>
          <a:p>
            <a:pPr algn="ctr"/>
            <a:r>
              <a:rPr lang="en-US" sz="2000"/>
              <a:t>15(1+5%)</a:t>
            </a:r>
            <a:r>
              <a:rPr lang="en-US" sz="2000" baseline="30000"/>
              <a:t>3</a:t>
            </a:r>
            <a:endParaRPr lang="en-US" sz="2000"/>
          </a:p>
        </p:txBody>
      </p:sp>
      <p:sp>
        <p:nvSpPr>
          <p:cNvPr id="29" name="Rectangle 35">
            <a:extLst>
              <a:ext uri="{FF2B5EF4-FFF2-40B4-BE49-F238E27FC236}">
                <a16:creationId xmlns:a16="http://schemas.microsoft.com/office/drawing/2014/main" id="{0E3CDA9D-6DC2-59FE-02D2-31080432DAC3}"/>
              </a:ext>
            </a:extLst>
          </p:cNvPr>
          <p:cNvSpPr>
            <a:spLocks/>
          </p:cNvSpPr>
          <p:nvPr/>
        </p:nvSpPr>
        <p:spPr bwMode="auto">
          <a:xfrm>
            <a:off x="5033663" y="2939898"/>
            <a:ext cx="1086837"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nchor="ctr">
            <a:spAutoFit/>
          </a:bodyPr>
          <a:lstStyle/>
          <a:p>
            <a:pPr algn="ctr"/>
            <a:r>
              <a:rPr lang="en-US" sz="2000"/>
              <a:t>15(1+5%)</a:t>
            </a:r>
            <a:r>
              <a:rPr lang="en-US" sz="2000" baseline="30000"/>
              <a:t>4</a:t>
            </a:r>
            <a:endParaRPr lang="en-US" sz="2000"/>
          </a:p>
        </p:txBody>
      </p:sp>
      <p:sp>
        <p:nvSpPr>
          <p:cNvPr id="30" name="Rectangle 35">
            <a:extLst>
              <a:ext uri="{FF2B5EF4-FFF2-40B4-BE49-F238E27FC236}">
                <a16:creationId xmlns:a16="http://schemas.microsoft.com/office/drawing/2014/main" id="{F63F1796-49D7-A360-4B13-ABE6C55DD65F}"/>
              </a:ext>
            </a:extLst>
          </p:cNvPr>
          <p:cNvSpPr>
            <a:spLocks/>
          </p:cNvSpPr>
          <p:nvPr/>
        </p:nvSpPr>
        <p:spPr bwMode="auto">
          <a:xfrm>
            <a:off x="6063646" y="2393078"/>
            <a:ext cx="1226298"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nchor="ctr">
            <a:spAutoFit/>
          </a:bodyPr>
          <a:lstStyle/>
          <a:p>
            <a:pPr algn="ctr"/>
            <a:r>
              <a:rPr lang="en-US" sz="2000"/>
              <a:t>15(1+5%)</a:t>
            </a:r>
            <a:r>
              <a:rPr lang="en-US" sz="2000" baseline="30000"/>
              <a:t>n-1</a:t>
            </a:r>
            <a:endParaRPr lang="en-US" sz="2000"/>
          </a:p>
        </p:txBody>
      </p:sp>
      <p:sp>
        <p:nvSpPr>
          <p:cNvPr id="31" name="CuadroTexto 30">
            <a:extLst>
              <a:ext uri="{FF2B5EF4-FFF2-40B4-BE49-F238E27FC236}">
                <a16:creationId xmlns:a16="http://schemas.microsoft.com/office/drawing/2014/main" id="{14C72794-A761-405A-6E78-C1B2AA0A152E}"/>
              </a:ext>
            </a:extLst>
          </p:cNvPr>
          <p:cNvSpPr txBox="1"/>
          <p:nvPr/>
        </p:nvSpPr>
        <p:spPr>
          <a:xfrm>
            <a:off x="5884722" y="3827043"/>
            <a:ext cx="1295747" cy="400110"/>
          </a:xfrm>
          <a:prstGeom prst="rect">
            <a:avLst/>
          </a:prstGeom>
          <a:noFill/>
        </p:spPr>
        <p:txBody>
          <a:bodyPr wrap="square" rtlCol="0">
            <a:spAutoFit/>
          </a:bodyPr>
          <a:lstStyle/>
          <a:p>
            <a:r>
              <a:rPr lang="es-ES" sz="2000"/>
              <a:t>…</a:t>
            </a:r>
          </a:p>
        </p:txBody>
      </p:sp>
      <p:grpSp>
        <p:nvGrpSpPr>
          <p:cNvPr id="32" name="Grupo 31">
            <a:extLst>
              <a:ext uri="{FF2B5EF4-FFF2-40B4-BE49-F238E27FC236}">
                <a16:creationId xmlns:a16="http://schemas.microsoft.com/office/drawing/2014/main" id="{ABFE769C-495A-F556-16FC-6E436DD32FA2}"/>
              </a:ext>
            </a:extLst>
          </p:cNvPr>
          <p:cNvGrpSpPr/>
          <p:nvPr/>
        </p:nvGrpSpPr>
        <p:grpSpPr>
          <a:xfrm>
            <a:off x="8415102" y="2643870"/>
            <a:ext cx="2158995" cy="876300"/>
            <a:chOff x="3031062" y="3375423"/>
            <a:chExt cx="2158995" cy="876300"/>
          </a:xfrm>
        </p:grpSpPr>
        <p:pic>
          <p:nvPicPr>
            <p:cNvPr id="33" name="Imagen 7" descr="latex-image-1.pdf">
              <a:extLst>
                <a:ext uri="{FF2B5EF4-FFF2-40B4-BE49-F238E27FC236}">
                  <a16:creationId xmlns:a16="http://schemas.microsoft.com/office/drawing/2014/main" id="{002C1810-180B-74F7-0669-0743322B1E2A}"/>
                </a:ext>
              </a:extLst>
            </p:cNvPr>
            <p:cNvPicPr>
              <a:picLocks noChangeAspect="1"/>
            </p:cNvPicPr>
            <p:nvPr/>
          </p:nvPicPr>
          <p:blipFill rotWithShape="1">
            <a:blip r:embed="rId3">
              <a:extLst>
                <a:ext uri="{28A0092B-C50C-407E-A947-70E740481C1C}">
                  <a14:useLocalDpi xmlns:a14="http://schemas.microsoft.com/office/drawing/2010/main" val="0"/>
                </a:ext>
              </a:extLst>
            </a:blip>
            <a:srcRect r="73174"/>
            <a:stretch/>
          </p:blipFill>
          <p:spPr>
            <a:xfrm>
              <a:off x="3031062" y="3375423"/>
              <a:ext cx="855138" cy="876300"/>
            </a:xfrm>
            <a:prstGeom prst="rect">
              <a:avLst/>
            </a:prstGeom>
          </p:spPr>
        </p:pic>
        <p:pic>
          <p:nvPicPr>
            <p:cNvPr id="34" name="Imagen 7" descr="latex-image-1.pdf">
              <a:extLst>
                <a:ext uri="{FF2B5EF4-FFF2-40B4-BE49-F238E27FC236}">
                  <a16:creationId xmlns:a16="http://schemas.microsoft.com/office/drawing/2014/main" id="{FD3DD852-8602-87F4-95FA-5A5961789535}"/>
                </a:ext>
              </a:extLst>
            </p:cNvPr>
            <p:cNvPicPr>
              <a:picLocks noChangeAspect="1"/>
            </p:cNvPicPr>
            <p:nvPr/>
          </p:nvPicPr>
          <p:blipFill rotWithShape="1">
            <a:blip r:embed="rId3">
              <a:extLst>
                <a:ext uri="{28A0092B-C50C-407E-A947-70E740481C1C}">
                  <a14:useLocalDpi xmlns:a14="http://schemas.microsoft.com/office/drawing/2010/main" val="0"/>
                </a:ext>
              </a:extLst>
            </a:blip>
            <a:srcRect l="60608"/>
            <a:stretch/>
          </p:blipFill>
          <p:spPr>
            <a:xfrm>
              <a:off x="3934344" y="3375423"/>
              <a:ext cx="1255713" cy="876300"/>
            </a:xfrm>
            <a:prstGeom prst="rect">
              <a:avLst/>
            </a:prstGeom>
          </p:spPr>
        </p:pic>
      </p:grpSp>
      <p:grpSp>
        <p:nvGrpSpPr>
          <p:cNvPr id="35" name="Grupo 34">
            <a:extLst>
              <a:ext uri="{FF2B5EF4-FFF2-40B4-BE49-F238E27FC236}">
                <a16:creationId xmlns:a16="http://schemas.microsoft.com/office/drawing/2014/main" id="{13854398-ED6E-51EC-341E-E8FDB10CA5C5}"/>
              </a:ext>
            </a:extLst>
          </p:cNvPr>
          <p:cNvGrpSpPr/>
          <p:nvPr/>
        </p:nvGrpSpPr>
        <p:grpSpPr>
          <a:xfrm>
            <a:off x="8042762" y="3891896"/>
            <a:ext cx="2903675" cy="879844"/>
            <a:chOff x="2542901" y="4401622"/>
            <a:chExt cx="2903675" cy="879844"/>
          </a:xfrm>
        </p:grpSpPr>
        <p:pic>
          <p:nvPicPr>
            <p:cNvPr id="36" name="Imagen 6" descr="latex-image-1.pdf">
              <a:extLst>
                <a:ext uri="{FF2B5EF4-FFF2-40B4-BE49-F238E27FC236}">
                  <a16:creationId xmlns:a16="http://schemas.microsoft.com/office/drawing/2014/main" id="{A67B02A4-E1C6-944C-CC64-C64B463B46A8}"/>
                </a:ext>
              </a:extLst>
            </p:cNvPr>
            <p:cNvPicPr>
              <a:picLocks noChangeAspect="1"/>
            </p:cNvPicPr>
            <p:nvPr/>
          </p:nvPicPr>
          <p:blipFill rotWithShape="1">
            <a:blip r:embed="rId4">
              <a:extLst>
                <a:ext uri="{28A0092B-C50C-407E-A947-70E740481C1C}">
                  <a14:useLocalDpi xmlns:a14="http://schemas.microsoft.com/office/drawing/2010/main" val="0"/>
                </a:ext>
              </a:extLst>
            </a:blip>
            <a:srcRect r="79474"/>
            <a:stretch/>
          </p:blipFill>
          <p:spPr>
            <a:xfrm>
              <a:off x="2542901" y="4405166"/>
              <a:ext cx="828949" cy="876300"/>
            </a:xfrm>
            <a:prstGeom prst="rect">
              <a:avLst/>
            </a:prstGeom>
          </p:spPr>
        </p:pic>
        <p:pic>
          <p:nvPicPr>
            <p:cNvPr id="37" name="Imagen 6" descr="latex-image-1.pdf">
              <a:extLst>
                <a:ext uri="{FF2B5EF4-FFF2-40B4-BE49-F238E27FC236}">
                  <a16:creationId xmlns:a16="http://schemas.microsoft.com/office/drawing/2014/main" id="{2A184E8F-4544-956F-AC64-1E67B9ADF8B9}"/>
                </a:ext>
              </a:extLst>
            </p:cNvPr>
            <p:cNvPicPr>
              <a:picLocks noChangeAspect="1"/>
            </p:cNvPicPr>
            <p:nvPr/>
          </p:nvPicPr>
          <p:blipFill rotWithShape="1">
            <a:blip r:embed="rId4">
              <a:extLst>
                <a:ext uri="{28A0092B-C50C-407E-A947-70E740481C1C}">
                  <a14:useLocalDpi xmlns:a14="http://schemas.microsoft.com/office/drawing/2010/main" val="0"/>
                </a:ext>
              </a:extLst>
            </a:blip>
            <a:srcRect l="48628"/>
            <a:stretch/>
          </p:blipFill>
          <p:spPr>
            <a:xfrm>
              <a:off x="3371850" y="4401622"/>
              <a:ext cx="2074726" cy="876300"/>
            </a:xfrm>
            <a:prstGeom prst="rect">
              <a:avLst/>
            </a:prstGeom>
          </p:spPr>
        </p:pic>
      </p:grpSp>
      <p:grpSp>
        <p:nvGrpSpPr>
          <p:cNvPr id="38" name="Grupo 37">
            <a:extLst>
              <a:ext uri="{FF2B5EF4-FFF2-40B4-BE49-F238E27FC236}">
                <a16:creationId xmlns:a16="http://schemas.microsoft.com/office/drawing/2014/main" id="{E9CE85B8-77D0-3278-DDE7-C4BD450C3B7F}"/>
              </a:ext>
            </a:extLst>
          </p:cNvPr>
          <p:cNvGrpSpPr/>
          <p:nvPr/>
        </p:nvGrpSpPr>
        <p:grpSpPr>
          <a:xfrm>
            <a:off x="8534500" y="5366921"/>
            <a:ext cx="1920198" cy="412831"/>
            <a:chOff x="2968746" y="5559343"/>
            <a:chExt cx="1920198" cy="412831"/>
          </a:xfrm>
        </p:grpSpPr>
        <p:pic>
          <p:nvPicPr>
            <p:cNvPr id="39" name="Imagen 8" descr="latex-image-1.pdf">
              <a:extLst>
                <a:ext uri="{FF2B5EF4-FFF2-40B4-BE49-F238E27FC236}">
                  <a16:creationId xmlns:a16="http://schemas.microsoft.com/office/drawing/2014/main" id="{D3BA0E57-A972-2232-93E0-CB7F22D7402D}"/>
                </a:ext>
              </a:extLst>
            </p:cNvPr>
            <p:cNvPicPr>
              <a:picLocks noChangeAspect="1"/>
            </p:cNvPicPr>
            <p:nvPr/>
          </p:nvPicPr>
          <p:blipFill rotWithShape="1">
            <a:blip r:embed="rId5">
              <a:extLst>
                <a:ext uri="{28A0092B-C50C-407E-A947-70E740481C1C}">
                  <a14:useLocalDpi xmlns:a14="http://schemas.microsoft.com/office/drawing/2010/main" val="0"/>
                </a:ext>
              </a:extLst>
            </a:blip>
            <a:srcRect r="74293" b="-8354"/>
            <a:stretch/>
          </p:blipFill>
          <p:spPr>
            <a:xfrm>
              <a:off x="2968746" y="5559343"/>
              <a:ext cx="803154" cy="412831"/>
            </a:xfrm>
            <a:prstGeom prst="rect">
              <a:avLst/>
            </a:prstGeom>
          </p:spPr>
        </p:pic>
        <p:pic>
          <p:nvPicPr>
            <p:cNvPr id="40" name="Imagen 8" descr="latex-image-1.pdf">
              <a:extLst>
                <a:ext uri="{FF2B5EF4-FFF2-40B4-BE49-F238E27FC236}">
                  <a16:creationId xmlns:a16="http://schemas.microsoft.com/office/drawing/2014/main" id="{E7ACD735-0204-9358-30FB-1804754177EA}"/>
                </a:ext>
              </a:extLst>
            </p:cNvPr>
            <p:cNvPicPr>
              <a:picLocks noChangeAspect="1"/>
            </p:cNvPicPr>
            <p:nvPr/>
          </p:nvPicPr>
          <p:blipFill rotWithShape="1">
            <a:blip r:embed="rId5">
              <a:extLst>
                <a:ext uri="{28A0092B-C50C-407E-A947-70E740481C1C}">
                  <a14:useLocalDpi xmlns:a14="http://schemas.microsoft.com/office/drawing/2010/main" val="0"/>
                </a:ext>
              </a:extLst>
            </a:blip>
            <a:srcRect l="61944" t="-1" b="1895"/>
            <a:stretch/>
          </p:blipFill>
          <p:spPr>
            <a:xfrm>
              <a:off x="3700000" y="5585235"/>
              <a:ext cx="1188944" cy="373781"/>
            </a:xfrm>
            <a:prstGeom prst="rect">
              <a:avLst/>
            </a:prstGeom>
          </p:spPr>
        </p:pic>
      </p:grpSp>
    </p:spTree>
    <p:extLst>
      <p:ext uri="{BB962C8B-B14F-4D97-AF65-F5344CB8AC3E}">
        <p14:creationId xmlns:p14="http://schemas.microsoft.com/office/powerpoint/2010/main" val="4319849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2"/>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4"/>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5"/>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6"/>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7"/>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8"/>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9"/>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0"/>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1"/>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22"/>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23"/>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24"/>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25"/>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26"/>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27"/>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28"/>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29"/>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30"/>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31"/>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9"/>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32"/>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35"/>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3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8" grpId="0"/>
      <p:bldP spid="19" grpId="0"/>
      <p:bldP spid="20" grpId="0"/>
      <p:bldP spid="21" grpId="0"/>
      <p:bldP spid="22" grpId="0"/>
      <p:bldP spid="23" grpId="0"/>
      <p:bldP spid="24" grpId="0"/>
      <p:bldP spid="25" grpId="0"/>
      <p:bldP spid="26" grpId="0"/>
      <p:bldP spid="27" grpId="0"/>
      <p:bldP spid="28" grpId="0"/>
      <p:bldP spid="29" grpId="0"/>
      <p:bldP spid="30" grpId="0"/>
      <p:bldP spid="31"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ángulo 7">
            <a:extLst>
              <a:ext uri="{FF2B5EF4-FFF2-40B4-BE49-F238E27FC236}">
                <a16:creationId xmlns:a16="http://schemas.microsoft.com/office/drawing/2014/main" id="{47094242-8D7F-4883-8E64-A43E1E37E5FF}"/>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026" name="Picture 2" descr="Clientes y aliados | Centro de Evaluación | Uniandes">
            <a:extLst>
              <a:ext uri="{FF2B5EF4-FFF2-40B4-BE49-F238E27FC236}">
                <a16:creationId xmlns:a16="http://schemas.microsoft.com/office/drawing/2014/main" id="{D2A00364-D957-B6CC-C8C3-335B3CE9EB2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pic>
        <p:nvPicPr>
          <p:cNvPr id="12" name="Gráfico 11" descr="Open book contorno">
            <a:extLst>
              <a:ext uri="{FF2B5EF4-FFF2-40B4-BE49-F238E27FC236}">
                <a16:creationId xmlns:a16="http://schemas.microsoft.com/office/drawing/2014/main" id="{52403B49-6EB3-5618-7D88-A91409E36D0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134957" y="3342889"/>
            <a:ext cx="2695807" cy="2695807"/>
          </a:xfrm>
          <a:prstGeom prst="rect">
            <a:avLst/>
          </a:prstGeom>
        </p:spPr>
      </p:pic>
      <p:sp>
        <p:nvSpPr>
          <p:cNvPr id="5" name="Título 1">
            <a:extLst>
              <a:ext uri="{FF2B5EF4-FFF2-40B4-BE49-F238E27FC236}">
                <a16:creationId xmlns:a16="http://schemas.microsoft.com/office/drawing/2014/main" id="{E648F019-4A15-BB52-31C8-516379DFA8DD}"/>
              </a:ext>
            </a:extLst>
          </p:cNvPr>
          <p:cNvSpPr>
            <a:spLocks noGrp="1"/>
          </p:cNvSpPr>
          <p:nvPr>
            <p:ph type="ctrTitle"/>
          </p:nvPr>
        </p:nvSpPr>
        <p:spPr>
          <a:xfrm>
            <a:off x="470868" y="1814732"/>
            <a:ext cx="11266506" cy="826833"/>
          </a:xfrm>
        </p:spPr>
        <p:txBody>
          <a:bodyPr>
            <a:noAutofit/>
          </a:bodyPr>
          <a:lstStyle/>
          <a:p>
            <a:r>
              <a:rPr lang="es-CO" sz="3200" dirty="0">
                <a:latin typeface="Century Gothic"/>
                <a:ea typeface="+mj-lt"/>
                <a:cs typeface="+mj-lt"/>
              </a:rPr>
              <a:t>LA CONSTRUCCIÓN DEL FLUJO DE CAJA LIBRE DE un PROYECTO (</a:t>
            </a:r>
            <a:r>
              <a:rPr lang="es-CO" sz="3200" dirty="0" err="1">
                <a:solidFill>
                  <a:srgbClr val="D7A700"/>
                </a:solidFill>
                <a:latin typeface="Century Gothic"/>
                <a:ea typeface="+mj-lt"/>
                <a:cs typeface="+mj-lt"/>
              </a:rPr>
              <a:t>PaRTE</a:t>
            </a:r>
            <a:r>
              <a:rPr lang="es-CO" sz="3200" dirty="0">
                <a:solidFill>
                  <a:srgbClr val="D7A700"/>
                </a:solidFill>
                <a:latin typeface="Century Gothic"/>
                <a:ea typeface="+mj-lt"/>
                <a:cs typeface="+mj-lt"/>
              </a:rPr>
              <a:t> III</a:t>
            </a:r>
            <a:r>
              <a:rPr lang="es-CO" sz="3200" dirty="0">
                <a:latin typeface="Century Gothic"/>
                <a:ea typeface="+mj-lt"/>
                <a:cs typeface="+mj-lt"/>
              </a:rPr>
              <a:t>)</a:t>
            </a:r>
            <a:endParaRPr lang="es-ES" dirty="0">
              <a:latin typeface="Century Gothic"/>
            </a:endParaRPr>
          </a:p>
        </p:txBody>
      </p:sp>
      <p:sp>
        <p:nvSpPr>
          <p:cNvPr id="10" name="CuadroTexto 9">
            <a:extLst>
              <a:ext uri="{FF2B5EF4-FFF2-40B4-BE49-F238E27FC236}">
                <a16:creationId xmlns:a16="http://schemas.microsoft.com/office/drawing/2014/main" id="{C0EA3E87-E55D-1A5A-0213-898584679795}"/>
              </a:ext>
            </a:extLst>
          </p:cNvPr>
          <p:cNvSpPr txBox="1"/>
          <p:nvPr/>
        </p:nvSpPr>
        <p:spPr>
          <a:xfrm>
            <a:off x="1045027" y="3342889"/>
            <a:ext cx="6349598" cy="2492990"/>
          </a:xfrm>
          <a:prstGeom prst="rect">
            <a:avLst/>
          </a:prstGeom>
          <a:noFill/>
        </p:spPr>
        <p:txBody>
          <a:bodyPr wrap="square" lIns="91440" tIns="45720" rIns="91440" bIns="45720" rtlCol="0" anchor="t">
            <a:spAutoFit/>
          </a:bodyPr>
          <a:lstStyle/>
          <a:p>
            <a:r>
              <a:rPr lang="es-CO" sz="1600" b="1" u="sng" dirty="0">
                <a:solidFill>
                  <a:schemeClr val="bg1"/>
                </a:solidFill>
                <a:latin typeface="Century Gothic"/>
              </a:rPr>
              <a:t>													</a:t>
            </a:r>
            <a:endParaRPr lang="es-CO" sz="2000" b="1" u="sng" dirty="0">
              <a:solidFill>
                <a:schemeClr val="bg1"/>
              </a:solidFill>
              <a:latin typeface="Century Gothic"/>
            </a:endParaRPr>
          </a:p>
          <a:p>
            <a:endParaRPr lang="es-CO" sz="1000" b="1" dirty="0">
              <a:solidFill>
                <a:schemeClr val="bg1"/>
              </a:solidFill>
              <a:latin typeface="Century Gothic" panose="020B0502020202020204" pitchFamily="34" charset="0"/>
            </a:endParaRPr>
          </a:p>
          <a:p>
            <a:r>
              <a:rPr lang="es-CO" sz="2000" b="1" dirty="0">
                <a:solidFill>
                  <a:schemeClr val="bg1"/>
                </a:solidFill>
                <a:latin typeface="Century Gothic"/>
              </a:rPr>
              <a:t>DEPARTAMENTO DE INGENIERÍA INDUSTRIAL</a:t>
            </a:r>
          </a:p>
          <a:p>
            <a:r>
              <a:rPr lang="es-CO" sz="2000" b="1" dirty="0">
                <a:solidFill>
                  <a:schemeClr val="bg1"/>
                </a:solidFill>
                <a:latin typeface="Century Gothic"/>
              </a:rPr>
              <a:t>FACULTAD DE INGENIERÍA</a:t>
            </a:r>
          </a:p>
          <a:p>
            <a:r>
              <a:rPr lang="es-CO" sz="1000" b="1" u="sng" dirty="0">
                <a:solidFill>
                  <a:schemeClr val="bg1"/>
                </a:solidFill>
                <a:latin typeface="Century Gothic"/>
              </a:rPr>
              <a:t>													</a:t>
            </a:r>
          </a:p>
          <a:p>
            <a:endParaRPr lang="es-CO" sz="2000" b="1" dirty="0">
              <a:solidFill>
                <a:schemeClr val="bg1"/>
              </a:solidFill>
              <a:latin typeface="Century Gothic" panose="020B0502020202020204" pitchFamily="34" charset="0"/>
            </a:endParaRPr>
          </a:p>
          <a:p>
            <a:r>
              <a:rPr lang="es-CO" sz="2000" b="1" dirty="0">
                <a:solidFill>
                  <a:schemeClr val="bg1"/>
                </a:solidFill>
                <a:latin typeface="Century Gothic"/>
              </a:rPr>
              <a:t>Curso       </a:t>
            </a:r>
            <a:r>
              <a:rPr lang="es-CO" sz="2000" dirty="0">
                <a:solidFill>
                  <a:schemeClr val="bg1"/>
                </a:solidFill>
                <a:latin typeface="Century Gothic"/>
              </a:rPr>
              <a:t>ANÁLISIS DE DECISIONES DE INVERSIÓN</a:t>
            </a:r>
          </a:p>
          <a:p>
            <a:r>
              <a:rPr lang="es-CO" sz="2000" b="1" dirty="0">
                <a:solidFill>
                  <a:schemeClr val="bg1"/>
                </a:solidFill>
                <a:latin typeface="Century Gothic"/>
              </a:rPr>
              <a:t>Correo     </a:t>
            </a:r>
            <a:r>
              <a:rPr lang="es-CO" sz="2000" dirty="0">
                <a:solidFill>
                  <a:schemeClr val="bg1"/>
                </a:solidFill>
                <a:latin typeface="Century Gothic"/>
              </a:rPr>
              <a:t>cursoanadec@uniandes.edu.co</a:t>
            </a:r>
          </a:p>
          <a:p>
            <a:endParaRPr lang="es-CO" sz="2000" b="1" dirty="0">
              <a:solidFill>
                <a:schemeClr val="bg1"/>
              </a:solidFill>
              <a:latin typeface="Century Gothic" panose="020B0502020202020204" pitchFamily="34" charset="0"/>
            </a:endParaRPr>
          </a:p>
        </p:txBody>
      </p:sp>
      <p:sp>
        <p:nvSpPr>
          <p:cNvPr id="11" name="Rectángulo 10">
            <a:extLst>
              <a:ext uri="{FF2B5EF4-FFF2-40B4-BE49-F238E27FC236}">
                <a16:creationId xmlns:a16="http://schemas.microsoft.com/office/drawing/2014/main" id="{3FFD1143-6641-C27C-23E7-F02749BF0C7F}"/>
              </a:ext>
            </a:extLst>
          </p:cNvPr>
          <p:cNvSpPr/>
          <p:nvPr/>
        </p:nvSpPr>
        <p:spPr>
          <a:xfrm>
            <a:off x="8399257" y="118110"/>
            <a:ext cx="3150778" cy="261610"/>
          </a:xfrm>
          <a:prstGeom prst="rect">
            <a:avLst/>
          </a:prstGeom>
        </p:spPr>
        <p:txBody>
          <a:bodyPr wrap="square">
            <a:spAutoFit/>
          </a:bodyPr>
          <a:lstStyle/>
          <a:p>
            <a:pPr algn="r"/>
            <a:r>
              <a:rPr lang="es-CO" sz="1100" b="1" dirty="0">
                <a:solidFill>
                  <a:schemeClr val="accent2">
                    <a:lumMod val="50000"/>
                  </a:schemeClr>
                </a:solidFill>
                <a:latin typeface="Century Gothic" panose="020B0502020202020204" pitchFamily="34" charset="0"/>
                <a:sym typeface="Gill Sans Light"/>
              </a:rPr>
              <a:t>Curso</a:t>
            </a:r>
            <a:r>
              <a:rPr lang="es-CO" sz="1100" dirty="0">
                <a:solidFill>
                  <a:schemeClr val="accent2">
                    <a:lumMod val="50000"/>
                  </a:schemeClr>
                </a:solidFill>
                <a:latin typeface="Century Gothic" panose="020B0502020202020204" pitchFamily="34" charset="0"/>
                <a:sym typeface="Gill Sans Light"/>
              </a:rPr>
              <a:t> Análisis de Decisiones de Inversión</a:t>
            </a:r>
            <a:endParaRPr lang="es-CO" sz="1100" dirty="0">
              <a:solidFill>
                <a:schemeClr val="accent2">
                  <a:lumMod val="50000"/>
                </a:schemeClr>
              </a:solidFill>
              <a:latin typeface="Century Gothic" panose="020B0502020202020204" pitchFamily="34" charset="0"/>
            </a:endParaRPr>
          </a:p>
        </p:txBody>
      </p:sp>
    </p:spTree>
    <p:extLst>
      <p:ext uri="{BB962C8B-B14F-4D97-AF65-F5344CB8AC3E}">
        <p14:creationId xmlns:p14="http://schemas.microsoft.com/office/powerpoint/2010/main" val="104211869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ángulo 7">
            <a:extLst>
              <a:ext uri="{FF2B5EF4-FFF2-40B4-BE49-F238E27FC236}">
                <a16:creationId xmlns:a16="http://schemas.microsoft.com/office/drawing/2014/main" id="{47094242-8D7F-4883-8E64-A43E1E37E5FF}"/>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026" name="Picture 2" descr="Clientes y aliados | Centro de Evaluación | Uniandes">
            <a:extLst>
              <a:ext uri="{FF2B5EF4-FFF2-40B4-BE49-F238E27FC236}">
                <a16:creationId xmlns:a16="http://schemas.microsoft.com/office/drawing/2014/main" id="{D2A00364-D957-B6CC-C8C3-335B3CE9EB2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pic>
        <p:nvPicPr>
          <p:cNvPr id="12" name="Gráfico 11" descr="Open book contorno">
            <a:extLst>
              <a:ext uri="{FF2B5EF4-FFF2-40B4-BE49-F238E27FC236}">
                <a16:creationId xmlns:a16="http://schemas.microsoft.com/office/drawing/2014/main" id="{52403B49-6EB3-5618-7D88-A91409E36D0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134957" y="3342889"/>
            <a:ext cx="2695807" cy="2695807"/>
          </a:xfrm>
          <a:prstGeom prst="rect">
            <a:avLst/>
          </a:prstGeom>
        </p:spPr>
      </p:pic>
      <p:sp>
        <p:nvSpPr>
          <p:cNvPr id="7" name="Título 1">
            <a:extLst>
              <a:ext uri="{FF2B5EF4-FFF2-40B4-BE49-F238E27FC236}">
                <a16:creationId xmlns:a16="http://schemas.microsoft.com/office/drawing/2014/main" id="{AFAE655F-47FC-595E-9DE1-7E8449F70A26}"/>
              </a:ext>
            </a:extLst>
          </p:cNvPr>
          <p:cNvSpPr>
            <a:spLocks noGrp="1"/>
          </p:cNvSpPr>
          <p:nvPr>
            <p:ph type="ctrTitle"/>
          </p:nvPr>
        </p:nvSpPr>
        <p:spPr>
          <a:xfrm>
            <a:off x="470868" y="1814732"/>
            <a:ext cx="11266506" cy="826833"/>
          </a:xfrm>
        </p:spPr>
        <p:txBody>
          <a:bodyPr>
            <a:noAutofit/>
          </a:bodyPr>
          <a:lstStyle/>
          <a:p>
            <a:r>
              <a:rPr lang="es-CO" sz="3200">
                <a:latin typeface="Century Gothic"/>
                <a:ea typeface="+mj-lt"/>
                <a:cs typeface="+mj-lt"/>
              </a:rPr>
              <a:t>LA CONSTRUCCIÓN DEL FLUJO DE CAJA LIBRE DE un PROYECTO (</a:t>
            </a:r>
            <a:r>
              <a:rPr lang="es-CO" sz="3200">
                <a:solidFill>
                  <a:srgbClr val="D7A700"/>
                </a:solidFill>
                <a:latin typeface="Century Gothic"/>
                <a:ea typeface="+mj-lt"/>
                <a:cs typeface="+mj-lt"/>
              </a:rPr>
              <a:t>PARTE </a:t>
            </a:r>
            <a:r>
              <a:rPr lang="es-CO" sz="3200" err="1">
                <a:solidFill>
                  <a:srgbClr val="D7A700"/>
                </a:solidFill>
                <a:latin typeface="Century Gothic"/>
                <a:ea typeface="+mj-lt"/>
                <a:cs typeface="+mj-lt"/>
              </a:rPr>
              <a:t>iv</a:t>
            </a:r>
            <a:r>
              <a:rPr lang="es-CO" sz="3200">
                <a:latin typeface="Century Gothic"/>
                <a:ea typeface="+mj-lt"/>
                <a:cs typeface="+mj-lt"/>
              </a:rPr>
              <a:t>)</a:t>
            </a:r>
            <a:endParaRPr lang="es-ES" sz="3200">
              <a:latin typeface="Century Gothic"/>
            </a:endParaRPr>
          </a:p>
        </p:txBody>
      </p:sp>
      <p:sp>
        <p:nvSpPr>
          <p:cNvPr id="2" name="CuadroTexto 1">
            <a:extLst>
              <a:ext uri="{FF2B5EF4-FFF2-40B4-BE49-F238E27FC236}">
                <a16:creationId xmlns:a16="http://schemas.microsoft.com/office/drawing/2014/main" id="{3343CD18-AEE0-3212-4F7B-15B4936D1648}"/>
              </a:ext>
            </a:extLst>
          </p:cNvPr>
          <p:cNvSpPr txBox="1"/>
          <p:nvPr/>
        </p:nvSpPr>
        <p:spPr>
          <a:xfrm>
            <a:off x="1045027" y="3342889"/>
            <a:ext cx="6349598" cy="2492990"/>
          </a:xfrm>
          <a:prstGeom prst="rect">
            <a:avLst/>
          </a:prstGeom>
          <a:noFill/>
        </p:spPr>
        <p:txBody>
          <a:bodyPr wrap="square" lIns="91440" tIns="45720" rIns="91440" bIns="45720" rtlCol="0" anchor="t">
            <a:spAutoFit/>
          </a:bodyPr>
          <a:lstStyle/>
          <a:p>
            <a:r>
              <a:rPr lang="es-CO" sz="1600" b="1" u="sng">
                <a:solidFill>
                  <a:schemeClr val="bg1"/>
                </a:solidFill>
                <a:latin typeface="Century Gothic"/>
              </a:rPr>
              <a:t>													</a:t>
            </a:r>
            <a:endParaRPr lang="es-CO" sz="2000" b="1" u="sng">
              <a:solidFill>
                <a:schemeClr val="bg1"/>
              </a:solidFill>
              <a:latin typeface="Century Gothic"/>
            </a:endParaRPr>
          </a:p>
          <a:p>
            <a:endParaRPr lang="es-CO" sz="1000" b="1">
              <a:solidFill>
                <a:schemeClr val="bg1"/>
              </a:solidFill>
              <a:latin typeface="Century Gothic" panose="020B0502020202020204" pitchFamily="34" charset="0"/>
            </a:endParaRPr>
          </a:p>
          <a:p>
            <a:r>
              <a:rPr lang="es-CO" sz="2000" b="1">
                <a:solidFill>
                  <a:schemeClr val="bg1"/>
                </a:solidFill>
                <a:latin typeface="Century Gothic"/>
              </a:rPr>
              <a:t>DEPARTAMENTO DE INGENIERÍA INDUSTRIAL</a:t>
            </a:r>
          </a:p>
          <a:p>
            <a:r>
              <a:rPr lang="es-CO" sz="2000" b="1">
                <a:solidFill>
                  <a:schemeClr val="bg1"/>
                </a:solidFill>
                <a:latin typeface="Century Gothic"/>
              </a:rPr>
              <a:t>FACULTAD DE INGENIERÍA</a:t>
            </a:r>
          </a:p>
          <a:p>
            <a:r>
              <a:rPr lang="es-CO" sz="1000" b="1" u="sng">
                <a:solidFill>
                  <a:schemeClr val="bg1"/>
                </a:solidFill>
                <a:latin typeface="Century Gothic"/>
              </a:rPr>
              <a:t>													</a:t>
            </a:r>
          </a:p>
          <a:p>
            <a:endParaRPr lang="es-CO" sz="2000" b="1">
              <a:solidFill>
                <a:schemeClr val="bg1"/>
              </a:solidFill>
              <a:latin typeface="Century Gothic" panose="020B0502020202020204" pitchFamily="34" charset="0"/>
            </a:endParaRPr>
          </a:p>
          <a:p>
            <a:r>
              <a:rPr lang="es-CO" sz="2000" b="1">
                <a:solidFill>
                  <a:schemeClr val="bg1"/>
                </a:solidFill>
                <a:latin typeface="Century Gothic"/>
              </a:rPr>
              <a:t>Curso       </a:t>
            </a:r>
            <a:r>
              <a:rPr lang="es-CO" sz="2000">
                <a:solidFill>
                  <a:schemeClr val="bg1"/>
                </a:solidFill>
                <a:latin typeface="Century Gothic"/>
              </a:rPr>
              <a:t>ANÁLISIS DE DECISIONES DE INVERSIÓN</a:t>
            </a:r>
          </a:p>
          <a:p>
            <a:r>
              <a:rPr lang="es-CO" sz="2000" b="1">
                <a:solidFill>
                  <a:schemeClr val="bg1"/>
                </a:solidFill>
                <a:latin typeface="Century Gothic"/>
              </a:rPr>
              <a:t>Correo     </a:t>
            </a:r>
            <a:r>
              <a:rPr lang="es-CO" sz="2000">
                <a:solidFill>
                  <a:schemeClr val="bg1"/>
                </a:solidFill>
                <a:latin typeface="Century Gothic"/>
              </a:rPr>
              <a:t>cursoanadec@uniandes.edu.co</a:t>
            </a:r>
          </a:p>
          <a:p>
            <a:endParaRPr lang="es-CO" sz="2000" b="1">
              <a:solidFill>
                <a:schemeClr val="bg1"/>
              </a:solidFill>
              <a:latin typeface="Century Gothic" panose="020B0502020202020204" pitchFamily="34" charset="0"/>
            </a:endParaRPr>
          </a:p>
        </p:txBody>
      </p:sp>
      <p:sp>
        <p:nvSpPr>
          <p:cNvPr id="3" name="Rectángulo 2">
            <a:extLst>
              <a:ext uri="{FF2B5EF4-FFF2-40B4-BE49-F238E27FC236}">
                <a16:creationId xmlns:a16="http://schemas.microsoft.com/office/drawing/2014/main" id="{6CFDF678-9722-1077-FD51-67928079CE38}"/>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Tree>
    <p:extLst>
      <p:ext uri="{BB962C8B-B14F-4D97-AF65-F5344CB8AC3E}">
        <p14:creationId xmlns:p14="http://schemas.microsoft.com/office/powerpoint/2010/main" val="114267450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es-CO" sz="3200">
                <a:latin typeface="Century Gothic" panose="020B0502020202020204" pitchFamily="34" charset="0"/>
              </a:rPr>
              <a:t>AGENDA PROPUESTA</a:t>
            </a:r>
          </a:p>
        </p:txBody>
      </p:sp>
      <p:sp>
        <p:nvSpPr>
          <p:cNvPr id="4" name="Marcador de número de diapositiva 3"/>
          <p:cNvSpPr>
            <a:spLocks noGrp="1"/>
          </p:cNvSpPr>
          <p:nvPr>
            <p:ph type="sldNum" sz="quarter" idx="12"/>
          </p:nvPr>
        </p:nvSpPr>
        <p:spPr/>
        <p:txBody>
          <a:bodyPr/>
          <a:lstStyle/>
          <a:p>
            <a:fld id="{D57F1E4F-1CFF-5643-939E-217C01CDF565}" type="slidenum">
              <a:rPr lang="en-US" sz="2000" b="1" smtClean="0">
                <a:latin typeface="Century Gothic" panose="020B0502020202020204" pitchFamily="34" charset="0"/>
              </a:rPr>
              <a:pPr/>
              <a:t>9</a:t>
            </a:fld>
            <a:endParaRPr lang="en-US" sz="2000" b="1">
              <a:latin typeface="Century Gothic" panose="020B0502020202020204" pitchFamily="34" charset="0"/>
            </a:endParaRPr>
          </a:p>
        </p:txBody>
      </p:sp>
      <p:pic>
        <p:nvPicPr>
          <p:cNvPr id="6" name="Picture 6" descr="Resultado de imagen para RELOJ VECTOR">
            <a:extLst>
              <a:ext uri="{FF2B5EF4-FFF2-40B4-BE49-F238E27FC236}">
                <a16:creationId xmlns:a16="http://schemas.microsoft.com/office/drawing/2014/main" id="{0F651596-1125-43ED-8471-A57EDDF3518A}"/>
              </a:ext>
            </a:extLst>
          </p:cNvPr>
          <p:cNvPicPr>
            <a:picLocks noChangeAspect="1" noChangeArrowheads="1"/>
          </p:cNvPicPr>
          <p:nvPr/>
        </p:nvPicPr>
        <p:blipFill rotWithShape="1">
          <a:blip r:embed="rId3" cstate="print">
            <a:clrChange>
              <a:clrFrom>
                <a:srgbClr val="F6F6F6"/>
              </a:clrFrom>
              <a:clrTo>
                <a:srgbClr val="F6F6F6">
                  <a:alpha val="0"/>
                </a:srgbClr>
              </a:clrTo>
            </a:clrChange>
            <a:duotone>
              <a:schemeClr val="accent3">
                <a:shade val="45000"/>
                <a:satMod val="135000"/>
              </a:schemeClr>
              <a:prstClr val="white"/>
            </a:duotone>
            <a:extLst>
              <a:ext uri="{28A0092B-C50C-407E-A947-70E740481C1C}">
                <a14:useLocalDpi xmlns:a14="http://schemas.microsoft.com/office/drawing/2010/main" val="0"/>
              </a:ext>
            </a:extLst>
          </a:blip>
          <a:srcRect l="24517" t="6285" r="24815" b="6503"/>
          <a:stretch/>
        </p:blipFill>
        <p:spPr bwMode="auto">
          <a:xfrm>
            <a:off x="1256045" y="2772729"/>
            <a:ext cx="1236705" cy="1246074"/>
          </a:xfrm>
          <a:prstGeom prst="rect">
            <a:avLst/>
          </a:prstGeom>
          <a:noFill/>
          <a:extLst>
            <a:ext uri="{909E8E84-426E-40DD-AFC4-6F175D3DCCD1}">
              <a14:hiddenFill xmlns:a14="http://schemas.microsoft.com/office/drawing/2010/main">
                <a:solidFill>
                  <a:srgbClr val="FFFFFF"/>
                </a:solidFill>
              </a14:hiddenFill>
            </a:ext>
          </a:extLst>
        </p:spPr>
      </p:pic>
      <p:sp>
        <p:nvSpPr>
          <p:cNvPr id="23" name="Rectángulo 22">
            <a:extLst>
              <a:ext uri="{FF2B5EF4-FFF2-40B4-BE49-F238E27FC236}">
                <a16:creationId xmlns:a16="http://schemas.microsoft.com/office/drawing/2014/main" id="{8F837980-0A38-47A1-8A30-C7AFF3A98D5A}"/>
              </a:ext>
            </a:extLst>
          </p:cNvPr>
          <p:cNvSpPr/>
          <p:nvPr/>
        </p:nvSpPr>
        <p:spPr>
          <a:xfrm>
            <a:off x="2806200" y="2772729"/>
            <a:ext cx="8540907" cy="3785652"/>
          </a:xfrm>
          <a:prstGeom prst="rect">
            <a:avLst/>
          </a:prstGeom>
        </p:spPr>
        <p:txBody>
          <a:bodyPr wrap="square" lIns="91440" tIns="45720" rIns="91440" bIns="45720" anchor="t">
            <a:spAutoFit/>
          </a:bodyPr>
          <a:lstStyle/>
          <a:p>
            <a:pPr marL="342900" indent="-342900">
              <a:buClr>
                <a:schemeClr val="accent3">
                  <a:lumMod val="75000"/>
                </a:schemeClr>
              </a:buClr>
              <a:buFont typeface="Gill Sans MT" panose="020B0502020104020203"/>
              <a:buAutoNum type="arabicPeriod"/>
            </a:pPr>
            <a:r>
              <a:rPr lang="es-CO" sz="1600">
                <a:solidFill>
                  <a:schemeClr val="accent1"/>
                </a:solidFill>
                <a:latin typeface="Century Gothic"/>
                <a:cs typeface="Arial"/>
              </a:rPr>
              <a:t>Ingresos y Costos Pertinentes.</a:t>
            </a:r>
            <a:endParaRPr lang="es-ES" sz="1600">
              <a:solidFill>
                <a:schemeClr val="accent1"/>
              </a:solidFill>
              <a:latin typeface="Century Gothic"/>
              <a:cs typeface="Arial"/>
            </a:endParaRPr>
          </a:p>
          <a:p>
            <a:pPr marL="342900" indent="-342900">
              <a:buClr>
                <a:srgbClr val="2C7C9F"/>
              </a:buClr>
              <a:buFontTx/>
              <a:buAutoNum type="arabicPeriod"/>
            </a:pPr>
            <a:endParaRPr lang="es-CO" sz="1600">
              <a:solidFill>
                <a:schemeClr val="accent1"/>
              </a:solidFill>
              <a:latin typeface="Century Gothic"/>
              <a:cs typeface="Arial"/>
            </a:endParaRPr>
          </a:p>
          <a:p>
            <a:pPr marL="342900" indent="-342900">
              <a:buClr>
                <a:srgbClr val="48BE7A"/>
              </a:buClr>
              <a:buFontTx/>
              <a:buAutoNum type="arabicPeriod"/>
            </a:pPr>
            <a:r>
              <a:rPr lang="es-CO" sz="1600">
                <a:solidFill>
                  <a:schemeClr val="accent1"/>
                </a:solidFill>
                <a:latin typeface="Century Gothic"/>
                <a:cs typeface="Arial"/>
              </a:rPr>
              <a:t>Principio de Marginalidad.</a:t>
            </a:r>
            <a:endParaRPr lang="es-CO" sz="1600">
              <a:solidFill>
                <a:schemeClr val="accent1"/>
              </a:solidFill>
              <a:latin typeface="Century Gothic"/>
            </a:endParaRPr>
          </a:p>
          <a:p>
            <a:pPr marL="342900" indent="-342900">
              <a:buClr>
                <a:srgbClr val="48BE7A"/>
              </a:buClr>
              <a:buFontTx/>
              <a:buAutoNum type="arabicPeriod"/>
            </a:pPr>
            <a:endParaRPr lang="es-CO" sz="1600">
              <a:solidFill>
                <a:schemeClr val="accent1"/>
              </a:solidFill>
              <a:latin typeface="Century Gothic"/>
            </a:endParaRPr>
          </a:p>
          <a:p>
            <a:pPr marL="342900" indent="-342900">
              <a:buClr>
                <a:srgbClr val="48BE7A"/>
              </a:buClr>
              <a:buFontTx/>
              <a:buAutoNum type="arabicPeriod"/>
            </a:pPr>
            <a:r>
              <a:rPr lang="es-CO" sz="1600">
                <a:solidFill>
                  <a:schemeClr val="accent1"/>
                </a:solidFill>
                <a:latin typeface="Century Gothic"/>
                <a:cs typeface="Arial"/>
              </a:rPr>
              <a:t>Precios de Mercado.</a:t>
            </a:r>
            <a:endParaRPr lang="es-CO" sz="1600">
              <a:solidFill>
                <a:schemeClr val="accent1"/>
              </a:solidFill>
              <a:latin typeface="Century Gothic"/>
            </a:endParaRPr>
          </a:p>
          <a:p>
            <a:pPr marL="342900" indent="-342900">
              <a:buClr>
                <a:srgbClr val="48BE7A"/>
              </a:buClr>
              <a:buFontTx/>
              <a:buAutoNum type="arabicPeriod"/>
            </a:pPr>
            <a:endParaRPr lang="es-CO" sz="1600">
              <a:solidFill>
                <a:schemeClr val="accent1"/>
              </a:solidFill>
              <a:latin typeface="Century Gothic"/>
              <a:cs typeface="Arial"/>
            </a:endParaRPr>
          </a:p>
          <a:p>
            <a:pPr marL="342900" indent="-342900">
              <a:buClr>
                <a:srgbClr val="48BE7A"/>
              </a:buClr>
              <a:buFontTx/>
              <a:buAutoNum type="arabicPeriod"/>
            </a:pPr>
            <a:r>
              <a:rPr lang="es-CO" sz="1600">
                <a:solidFill>
                  <a:schemeClr val="accent1"/>
                </a:solidFill>
                <a:latin typeface="Century Gothic"/>
                <a:cs typeface="Arial"/>
              </a:rPr>
              <a:t>Costos Muertos.</a:t>
            </a:r>
            <a:endParaRPr lang="es-CO" sz="1600">
              <a:solidFill>
                <a:schemeClr val="accent1"/>
              </a:solidFill>
              <a:latin typeface="Century Gothic" panose="020B0502020202020204" pitchFamily="34" charset="0"/>
              <a:cs typeface="Arial"/>
            </a:endParaRPr>
          </a:p>
          <a:p>
            <a:pPr marL="342900" indent="-342900">
              <a:buClr>
                <a:srgbClr val="48BE7A"/>
              </a:buClr>
              <a:buAutoNum type="arabicPeriod"/>
            </a:pPr>
            <a:endParaRPr lang="es-CO" sz="1600">
              <a:solidFill>
                <a:schemeClr val="accent1"/>
              </a:solidFill>
              <a:latin typeface="Century Gothic" panose="020B0502020202020204" pitchFamily="34" charset="0"/>
              <a:cs typeface="Arial"/>
            </a:endParaRPr>
          </a:p>
          <a:p>
            <a:pPr marL="342900" indent="-342900">
              <a:buClr>
                <a:srgbClr val="48BE7A"/>
              </a:buClr>
              <a:buAutoNum type="arabicPeriod"/>
            </a:pPr>
            <a:r>
              <a:rPr lang="es-CO" sz="1600">
                <a:solidFill>
                  <a:schemeClr val="accent1"/>
                </a:solidFill>
                <a:latin typeface="Century Gothic"/>
                <a:cs typeface="Arial"/>
              </a:rPr>
              <a:t>Ingresos y Egresos Operacionales.</a:t>
            </a:r>
          </a:p>
          <a:p>
            <a:pPr marL="342900" indent="-342900">
              <a:buClr>
                <a:srgbClr val="48BE7A"/>
              </a:buClr>
              <a:buAutoNum type="arabicPeriod"/>
            </a:pPr>
            <a:endParaRPr lang="es-CO" sz="1600">
              <a:solidFill>
                <a:schemeClr val="accent1"/>
              </a:solidFill>
              <a:latin typeface="Century Gothic"/>
              <a:cs typeface="Arial"/>
            </a:endParaRPr>
          </a:p>
          <a:p>
            <a:pPr marL="342900" indent="-342900">
              <a:buClr>
                <a:srgbClr val="48BE7A"/>
              </a:buClr>
              <a:buAutoNum type="arabicPeriod"/>
            </a:pPr>
            <a:r>
              <a:rPr lang="es-CO" sz="1600">
                <a:solidFill>
                  <a:schemeClr val="accent1"/>
                </a:solidFill>
                <a:latin typeface="Century Gothic"/>
                <a:cs typeface="Arial"/>
              </a:rPr>
              <a:t>Ejercicio FCL.</a:t>
            </a:r>
          </a:p>
          <a:p>
            <a:pPr marL="342900" indent="-342900">
              <a:buClr>
                <a:srgbClr val="48BE7A"/>
              </a:buClr>
              <a:buAutoNum type="arabicPeriod"/>
            </a:pPr>
            <a:endParaRPr lang="es-CO" sz="1600">
              <a:solidFill>
                <a:schemeClr val="accent1"/>
              </a:solidFill>
              <a:latin typeface="Century Gothic"/>
              <a:cs typeface="Arial"/>
            </a:endParaRPr>
          </a:p>
          <a:p>
            <a:pPr marL="342900" indent="-342900">
              <a:buClr>
                <a:srgbClr val="48BE7A"/>
              </a:buClr>
              <a:buAutoNum type="arabicPeriod"/>
            </a:pPr>
            <a:endParaRPr lang="es-CO" sz="1600">
              <a:solidFill>
                <a:schemeClr val="accent1"/>
              </a:solidFill>
              <a:latin typeface="Century Gothic" panose="020B0502020202020204" pitchFamily="34" charset="0"/>
              <a:cs typeface="Arial"/>
            </a:endParaRPr>
          </a:p>
          <a:p>
            <a:pPr marL="342900" indent="-342900">
              <a:buClr>
                <a:srgbClr val="48BE7A"/>
              </a:buClr>
              <a:buAutoNum type="arabicPeriod"/>
            </a:pPr>
            <a:endParaRPr lang="es-CO" sz="1600">
              <a:solidFill>
                <a:schemeClr val="accent1"/>
              </a:solidFill>
              <a:latin typeface="Century Gothic" panose="020B0502020202020204" pitchFamily="34" charset="0"/>
              <a:cs typeface="Arial"/>
            </a:endParaRPr>
          </a:p>
          <a:p>
            <a:pPr>
              <a:buClr>
                <a:srgbClr val="88D5A9">
                  <a:lumMod val="75000"/>
                </a:srgbClr>
              </a:buClr>
            </a:pPr>
            <a:endParaRPr lang="es-CO" sz="1600">
              <a:solidFill>
                <a:schemeClr val="accent1"/>
              </a:solidFill>
              <a:latin typeface="Century Gothic" panose="020B0502020202020204" pitchFamily="34" charset="0"/>
              <a:cs typeface="Arial"/>
            </a:endParaRPr>
          </a:p>
        </p:txBody>
      </p:sp>
      <p:sp>
        <p:nvSpPr>
          <p:cNvPr id="3" name="Rectángulo 2">
            <a:extLst>
              <a:ext uri="{FF2B5EF4-FFF2-40B4-BE49-F238E27FC236}">
                <a16:creationId xmlns:a16="http://schemas.microsoft.com/office/drawing/2014/main" id="{8E86F046-042E-5492-3FBC-4E0C89F4D940}"/>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8" name="Picture 2" descr="Clientes y aliados | Centro de Evaluación | Uniandes">
            <a:extLst>
              <a:ext uri="{FF2B5EF4-FFF2-40B4-BE49-F238E27FC236}">
                <a16:creationId xmlns:a16="http://schemas.microsoft.com/office/drawing/2014/main" id="{5A2F8A99-E4A5-BAC5-C9B9-FA7BF325465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7" name="Rectángulo 6">
            <a:extLst>
              <a:ext uri="{FF2B5EF4-FFF2-40B4-BE49-F238E27FC236}">
                <a16:creationId xmlns:a16="http://schemas.microsoft.com/office/drawing/2014/main" id="{FB296500-B955-0B0A-3CA2-209FDD70A25A}"/>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Tree>
    <p:extLst>
      <p:ext uri="{BB962C8B-B14F-4D97-AF65-F5344CB8AC3E}">
        <p14:creationId xmlns:p14="http://schemas.microsoft.com/office/powerpoint/2010/main" val="32549711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42" presetClass="entr" presetSubtype="0" fill="hold" grpId="0" nodeType="withEffect">
                                  <p:stCondLst>
                                    <p:cond delay="0"/>
                                  </p:stCondLst>
                                  <p:childTnLst>
                                    <p:set>
                                      <p:cBhvr>
                                        <p:cTn id="8" dur="1" fill="hold">
                                          <p:stCondLst>
                                            <p:cond delay="0"/>
                                          </p:stCondLst>
                                        </p:cTn>
                                        <p:tgtEl>
                                          <p:spTgt spid="23"/>
                                        </p:tgtEl>
                                        <p:attrNameLst>
                                          <p:attrName>style.visibility</p:attrName>
                                        </p:attrNameLst>
                                      </p:cBhvr>
                                      <p:to>
                                        <p:strVal val="visible"/>
                                      </p:to>
                                    </p:set>
                                    <p:animEffect transition="in" filter="fade">
                                      <p:cBhvr>
                                        <p:cTn id="9" dur="1000"/>
                                        <p:tgtEl>
                                          <p:spTgt spid="23"/>
                                        </p:tgtEl>
                                      </p:cBhvr>
                                    </p:animEffect>
                                    <p:anim calcmode="lin" valueType="num">
                                      <p:cBhvr>
                                        <p:cTn id="10" dur="1000" fill="hold"/>
                                        <p:tgtEl>
                                          <p:spTgt spid="23"/>
                                        </p:tgtEl>
                                        <p:attrNameLst>
                                          <p:attrName>ppt_x</p:attrName>
                                        </p:attrNameLst>
                                      </p:cBhvr>
                                      <p:tavLst>
                                        <p:tav tm="0">
                                          <p:val>
                                            <p:strVal val="#ppt_x"/>
                                          </p:val>
                                        </p:tav>
                                        <p:tav tm="100000">
                                          <p:val>
                                            <p:strVal val="#ppt_x"/>
                                          </p:val>
                                        </p:tav>
                                      </p:tavLst>
                                    </p:anim>
                                    <p:anim calcmode="lin" valueType="num">
                                      <p:cBhvr>
                                        <p:cTn id="11" dur="1000" fill="hold"/>
                                        <p:tgtEl>
                                          <p:spTgt spid="2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es-CO" sz="3200">
                <a:latin typeface="Century Gothic" panose="020B0502020202020204" pitchFamily="34" charset="0"/>
              </a:rPr>
              <a:t>AGENDA PROPUESTA</a:t>
            </a:r>
          </a:p>
        </p:txBody>
      </p:sp>
      <p:pic>
        <p:nvPicPr>
          <p:cNvPr id="6" name="Picture 6" descr="Resultado de imagen para RELOJ VECTOR">
            <a:extLst>
              <a:ext uri="{FF2B5EF4-FFF2-40B4-BE49-F238E27FC236}">
                <a16:creationId xmlns:a16="http://schemas.microsoft.com/office/drawing/2014/main" id="{0F651596-1125-43ED-8471-A57EDDF3518A}"/>
              </a:ext>
            </a:extLst>
          </p:cNvPr>
          <p:cNvPicPr>
            <a:picLocks noChangeAspect="1" noChangeArrowheads="1"/>
          </p:cNvPicPr>
          <p:nvPr/>
        </p:nvPicPr>
        <p:blipFill rotWithShape="1">
          <a:blip r:embed="rId2" cstate="print">
            <a:clrChange>
              <a:clrFrom>
                <a:srgbClr val="F6F6F6"/>
              </a:clrFrom>
              <a:clrTo>
                <a:srgbClr val="F6F6F6">
                  <a:alpha val="0"/>
                </a:srgbClr>
              </a:clrTo>
            </a:clrChange>
            <a:duotone>
              <a:schemeClr val="accent3">
                <a:shade val="45000"/>
                <a:satMod val="135000"/>
              </a:schemeClr>
              <a:prstClr val="white"/>
            </a:duotone>
            <a:extLst>
              <a:ext uri="{28A0092B-C50C-407E-A947-70E740481C1C}">
                <a14:useLocalDpi xmlns:a14="http://schemas.microsoft.com/office/drawing/2010/main" val="0"/>
              </a:ext>
            </a:extLst>
          </a:blip>
          <a:srcRect l="24517" t="6285" r="24815" b="6503"/>
          <a:stretch/>
        </p:blipFill>
        <p:spPr bwMode="auto">
          <a:xfrm>
            <a:off x="1256045" y="2772729"/>
            <a:ext cx="1236705" cy="1246074"/>
          </a:xfrm>
          <a:prstGeom prst="rect">
            <a:avLst/>
          </a:prstGeom>
          <a:noFill/>
          <a:extLst>
            <a:ext uri="{909E8E84-426E-40DD-AFC4-6F175D3DCCD1}">
              <a14:hiddenFill xmlns:a14="http://schemas.microsoft.com/office/drawing/2010/main">
                <a:solidFill>
                  <a:srgbClr val="FFFFFF"/>
                </a:solidFill>
              </a14:hiddenFill>
            </a:ext>
          </a:extLst>
        </p:spPr>
      </p:pic>
      <p:sp>
        <p:nvSpPr>
          <p:cNvPr id="23" name="Rectángulo 22">
            <a:extLst>
              <a:ext uri="{FF2B5EF4-FFF2-40B4-BE49-F238E27FC236}">
                <a16:creationId xmlns:a16="http://schemas.microsoft.com/office/drawing/2014/main" id="{8F837980-0A38-47A1-8A30-C7AFF3A98D5A}"/>
              </a:ext>
            </a:extLst>
          </p:cNvPr>
          <p:cNvSpPr/>
          <p:nvPr/>
        </p:nvSpPr>
        <p:spPr>
          <a:xfrm>
            <a:off x="2806200" y="2772729"/>
            <a:ext cx="8540907" cy="3539430"/>
          </a:xfrm>
          <a:prstGeom prst="rect">
            <a:avLst/>
          </a:prstGeom>
        </p:spPr>
        <p:txBody>
          <a:bodyPr wrap="square" lIns="91440" tIns="45720" rIns="91440" bIns="45720" anchor="t">
            <a:spAutoFit/>
          </a:bodyPr>
          <a:lstStyle/>
          <a:p>
            <a:pPr marL="342900" indent="-342900">
              <a:buClr>
                <a:schemeClr val="accent3">
                  <a:lumMod val="75000"/>
                </a:schemeClr>
              </a:buClr>
              <a:buFont typeface="Gill Sans MT" panose="020B0502020104020203"/>
              <a:buAutoNum type="arabicPeriod"/>
            </a:pPr>
            <a:r>
              <a:rPr lang="es-CO" sz="1600">
                <a:solidFill>
                  <a:schemeClr val="accent1"/>
                </a:solidFill>
                <a:latin typeface="Century Gothic"/>
                <a:cs typeface="Arial"/>
              </a:rPr>
              <a:t>Ingresos y Costos Pertinentes.</a:t>
            </a:r>
            <a:endParaRPr lang="es-ES" sz="1600">
              <a:solidFill>
                <a:schemeClr val="accent1"/>
              </a:solidFill>
              <a:latin typeface="Century Gothic"/>
              <a:cs typeface="Arial"/>
            </a:endParaRPr>
          </a:p>
          <a:p>
            <a:pPr marL="342900" indent="-342900">
              <a:buClr>
                <a:srgbClr val="2C7C9F"/>
              </a:buClr>
              <a:buFontTx/>
              <a:buAutoNum type="arabicPeriod"/>
            </a:pPr>
            <a:endParaRPr lang="es-CO" sz="1600">
              <a:solidFill>
                <a:schemeClr val="accent1"/>
              </a:solidFill>
              <a:latin typeface="Century Gothic"/>
              <a:cs typeface="Arial"/>
            </a:endParaRPr>
          </a:p>
          <a:p>
            <a:pPr marL="342900" indent="-342900">
              <a:buClr>
                <a:srgbClr val="48BE7A"/>
              </a:buClr>
              <a:buFontTx/>
              <a:buAutoNum type="arabicPeriod"/>
            </a:pPr>
            <a:r>
              <a:rPr lang="es-CO" sz="1600">
                <a:solidFill>
                  <a:schemeClr val="bg2">
                    <a:lumMod val="90000"/>
                  </a:schemeClr>
                </a:solidFill>
                <a:latin typeface="Century Gothic"/>
                <a:cs typeface="Arial"/>
              </a:rPr>
              <a:t>Principio de Marginalidad.</a:t>
            </a:r>
            <a:endParaRPr lang="es-CO" sz="1600">
              <a:solidFill>
                <a:schemeClr val="bg2">
                  <a:lumMod val="90000"/>
                </a:schemeClr>
              </a:solidFill>
              <a:latin typeface="Century Gothic"/>
            </a:endParaRPr>
          </a:p>
          <a:p>
            <a:pPr marL="342900" indent="-342900">
              <a:buClr>
                <a:srgbClr val="48BE7A"/>
              </a:buClr>
              <a:buFontTx/>
              <a:buAutoNum type="arabicPeriod"/>
            </a:pPr>
            <a:endParaRPr lang="es-CO" sz="1600">
              <a:solidFill>
                <a:schemeClr val="bg2">
                  <a:lumMod val="90000"/>
                </a:schemeClr>
              </a:solidFill>
              <a:latin typeface="Century Gothic"/>
            </a:endParaRPr>
          </a:p>
          <a:p>
            <a:pPr marL="342900" indent="-342900">
              <a:buClr>
                <a:srgbClr val="48BE7A"/>
              </a:buClr>
              <a:buFontTx/>
              <a:buAutoNum type="arabicPeriod"/>
            </a:pPr>
            <a:r>
              <a:rPr lang="es-CO" sz="1600">
                <a:solidFill>
                  <a:schemeClr val="bg2">
                    <a:lumMod val="90000"/>
                  </a:schemeClr>
                </a:solidFill>
                <a:latin typeface="Century Gothic"/>
                <a:cs typeface="Arial"/>
              </a:rPr>
              <a:t>Precios de Mercado.</a:t>
            </a:r>
            <a:endParaRPr lang="es-CO" sz="1600">
              <a:solidFill>
                <a:schemeClr val="bg2">
                  <a:lumMod val="90000"/>
                </a:schemeClr>
              </a:solidFill>
              <a:latin typeface="Century Gothic"/>
            </a:endParaRPr>
          </a:p>
          <a:p>
            <a:pPr marL="342900" indent="-342900">
              <a:buClr>
                <a:srgbClr val="48BE7A"/>
              </a:buClr>
              <a:buFontTx/>
              <a:buAutoNum type="arabicPeriod"/>
            </a:pPr>
            <a:endParaRPr lang="es-CO" sz="1600">
              <a:solidFill>
                <a:schemeClr val="bg2">
                  <a:lumMod val="90000"/>
                </a:schemeClr>
              </a:solidFill>
              <a:latin typeface="Century Gothic"/>
              <a:cs typeface="Arial"/>
            </a:endParaRPr>
          </a:p>
          <a:p>
            <a:pPr marL="342900" indent="-342900">
              <a:buClr>
                <a:srgbClr val="48BE7A"/>
              </a:buClr>
              <a:buFontTx/>
              <a:buAutoNum type="arabicPeriod"/>
            </a:pPr>
            <a:r>
              <a:rPr lang="es-CO" sz="1600">
                <a:solidFill>
                  <a:schemeClr val="bg2">
                    <a:lumMod val="90000"/>
                  </a:schemeClr>
                </a:solidFill>
                <a:latin typeface="Century Gothic"/>
                <a:cs typeface="Arial"/>
              </a:rPr>
              <a:t>Costos Muertos.</a:t>
            </a:r>
            <a:endParaRPr lang="es-CO" sz="1600">
              <a:solidFill>
                <a:schemeClr val="bg2">
                  <a:lumMod val="90000"/>
                </a:schemeClr>
              </a:solidFill>
              <a:latin typeface="Century Gothic" panose="020B0502020202020204" pitchFamily="34" charset="0"/>
              <a:cs typeface="Arial"/>
            </a:endParaRPr>
          </a:p>
          <a:p>
            <a:pPr marL="342900" indent="-342900">
              <a:buClr>
                <a:srgbClr val="48BE7A"/>
              </a:buClr>
              <a:buAutoNum type="arabicPeriod"/>
            </a:pPr>
            <a:endParaRPr lang="es-CO" sz="1600">
              <a:solidFill>
                <a:schemeClr val="bg2">
                  <a:lumMod val="90000"/>
                </a:schemeClr>
              </a:solidFill>
              <a:latin typeface="Century Gothic" panose="020B0502020202020204" pitchFamily="34" charset="0"/>
              <a:cs typeface="Arial"/>
            </a:endParaRPr>
          </a:p>
          <a:p>
            <a:pPr marL="342900" indent="-342900">
              <a:buClr>
                <a:srgbClr val="48BE7A"/>
              </a:buClr>
              <a:buAutoNum type="arabicPeriod"/>
            </a:pPr>
            <a:r>
              <a:rPr lang="es-CO" sz="1600">
                <a:solidFill>
                  <a:schemeClr val="bg2">
                    <a:lumMod val="90000"/>
                  </a:schemeClr>
                </a:solidFill>
                <a:latin typeface="Century Gothic"/>
                <a:cs typeface="Arial"/>
              </a:rPr>
              <a:t>Ingresos y Egresos Operacionales.</a:t>
            </a:r>
          </a:p>
          <a:p>
            <a:pPr marL="342900" indent="-342900">
              <a:buClr>
                <a:srgbClr val="48BE7A"/>
              </a:buClr>
              <a:buAutoNum type="arabicPeriod"/>
            </a:pPr>
            <a:endParaRPr lang="es-CO" sz="1600">
              <a:solidFill>
                <a:schemeClr val="bg2">
                  <a:lumMod val="90000"/>
                </a:schemeClr>
              </a:solidFill>
              <a:latin typeface="Century Gothic"/>
              <a:cs typeface="Arial"/>
            </a:endParaRPr>
          </a:p>
          <a:p>
            <a:pPr marL="342900" indent="-342900">
              <a:buClr>
                <a:srgbClr val="48BE7A"/>
              </a:buClr>
              <a:buAutoNum type="arabicPeriod"/>
            </a:pPr>
            <a:r>
              <a:rPr lang="es-CO" sz="1600">
                <a:solidFill>
                  <a:schemeClr val="bg2">
                    <a:lumMod val="90000"/>
                  </a:schemeClr>
                </a:solidFill>
                <a:latin typeface="Century Gothic"/>
                <a:cs typeface="Arial"/>
              </a:rPr>
              <a:t>Ejercicio FCL.</a:t>
            </a:r>
          </a:p>
          <a:p>
            <a:pPr marL="342900" indent="-342900">
              <a:buClr>
                <a:srgbClr val="48BE7A"/>
              </a:buClr>
              <a:buAutoNum type="arabicPeriod"/>
            </a:pPr>
            <a:endParaRPr lang="es-CO" sz="1600">
              <a:solidFill>
                <a:srgbClr val="366658"/>
              </a:solidFill>
              <a:latin typeface="Century Gothic" panose="020B0502020202020204" pitchFamily="34" charset="0"/>
              <a:cs typeface="Arial"/>
            </a:endParaRPr>
          </a:p>
          <a:p>
            <a:pPr marL="342900" indent="-342900">
              <a:buClr>
                <a:srgbClr val="48BE7A"/>
              </a:buClr>
              <a:buAutoNum type="arabicPeriod"/>
            </a:pPr>
            <a:endParaRPr lang="es-CO" sz="1600">
              <a:solidFill>
                <a:srgbClr val="366658"/>
              </a:solidFill>
              <a:latin typeface="Century Gothic" panose="020B0502020202020204" pitchFamily="34" charset="0"/>
              <a:cs typeface="Arial"/>
            </a:endParaRPr>
          </a:p>
          <a:p>
            <a:pPr>
              <a:buClr>
                <a:srgbClr val="88D5A9">
                  <a:lumMod val="75000"/>
                </a:srgbClr>
              </a:buClr>
            </a:pPr>
            <a:endParaRPr lang="es-CO" sz="1600">
              <a:solidFill>
                <a:schemeClr val="accent1"/>
              </a:solidFill>
              <a:latin typeface="Century Gothic" panose="020B0502020202020204" pitchFamily="34" charset="0"/>
              <a:cs typeface="Arial"/>
            </a:endParaRPr>
          </a:p>
        </p:txBody>
      </p:sp>
      <p:sp>
        <p:nvSpPr>
          <p:cNvPr id="3" name="Rectángulo 2">
            <a:extLst>
              <a:ext uri="{FF2B5EF4-FFF2-40B4-BE49-F238E27FC236}">
                <a16:creationId xmlns:a16="http://schemas.microsoft.com/office/drawing/2014/main" id="{8E86F046-042E-5492-3FBC-4E0C89F4D940}"/>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8" name="Picture 2" descr="Clientes y aliados | Centro de Evaluación | Uniandes">
            <a:extLst>
              <a:ext uri="{FF2B5EF4-FFF2-40B4-BE49-F238E27FC236}">
                <a16:creationId xmlns:a16="http://schemas.microsoft.com/office/drawing/2014/main" id="{5A2F8A99-E4A5-BAC5-C9B9-FA7BF325465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7" name="Rectángulo 6">
            <a:extLst>
              <a:ext uri="{FF2B5EF4-FFF2-40B4-BE49-F238E27FC236}">
                <a16:creationId xmlns:a16="http://schemas.microsoft.com/office/drawing/2014/main" id="{4CE27CD1-4209-A830-D687-D033572B3EDA}"/>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5" name="Marcador de número de diapositiva 3">
            <a:extLst>
              <a:ext uri="{FF2B5EF4-FFF2-40B4-BE49-F238E27FC236}">
                <a16:creationId xmlns:a16="http://schemas.microsoft.com/office/drawing/2014/main" id="{3CA76498-34DC-FE39-7752-4E5E9544629C}"/>
              </a:ext>
            </a:extLst>
          </p:cNvPr>
          <p:cNvSpPr>
            <a:spLocks noGrp="1"/>
          </p:cNvSpPr>
          <p:nvPr>
            <p:ph type="sldNum" sz="quarter" idx="12"/>
          </p:nvPr>
        </p:nvSpPr>
        <p:spPr>
          <a:xfrm>
            <a:off x="10558300" y="5956137"/>
            <a:ext cx="1052508" cy="365125"/>
          </a:xfrm>
        </p:spPr>
        <p:txBody>
          <a:bodyPr/>
          <a:lstStyle/>
          <a:p>
            <a:fld id="{D57F1E4F-1CFF-5643-939E-217C01CDF565}" type="slidenum">
              <a:rPr lang="en-US" sz="2000" b="1" smtClean="0">
                <a:latin typeface="Century Gothic" panose="020B0502020202020204" pitchFamily="34" charset="0"/>
              </a:rPr>
              <a:pPr/>
              <a:t>10</a:t>
            </a:fld>
            <a:endParaRPr lang="en-US" sz="2000" b="1">
              <a:latin typeface="Century Gothic" panose="020B0502020202020204" pitchFamily="34" charset="0"/>
            </a:endParaRPr>
          </a:p>
        </p:txBody>
      </p:sp>
    </p:spTree>
    <p:extLst>
      <p:ext uri="{BB962C8B-B14F-4D97-AF65-F5344CB8AC3E}">
        <p14:creationId xmlns:p14="http://schemas.microsoft.com/office/powerpoint/2010/main" val="22199901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42" presetClass="entr" presetSubtype="0" fill="hold" grpId="0" nodeType="withEffect">
                                  <p:stCondLst>
                                    <p:cond delay="0"/>
                                  </p:stCondLst>
                                  <p:childTnLst>
                                    <p:set>
                                      <p:cBhvr>
                                        <p:cTn id="8" dur="1" fill="hold">
                                          <p:stCondLst>
                                            <p:cond delay="0"/>
                                          </p:stCondLst>
                                        </p:cTn>
                                        <p:tgtEl>
                                          <p:spTgt spid="23"/>
                                        </p:tgtEl>
                                        <p:attrNameLst>
                                          <p:attrName>style.visibility</p:attrName>
                                        </p:attrNameLst>
                                      </p:cBhvr>
                                      <p:to>
                                        <p:strVal val="visible"/>
                                      </p:to>
                                    </p:set>
                                    <p:animEffect transition="in" filter="fade">
                                      <p:cBhvr>
                                        <p:cTn id="9" dur="1000"/>
                                        <p:tgtEl>
                                          <p:spTgt spid="23"/>
                                        </p:tgtEl>
                                      </p:cBhvr>
                                    </p:animEffect>
                                    <p:anim calcmode="lin" valueType="num">
                                      <p:cBhvr>
                                        <p:cTn id="10" dur="1000" fill="hold"/>
                                        <p:tgtEl>
                                          <p:spTgt spid="23"/>
                                        </p:tgtEl>
                                        <p:attrNameLst>
                                          <p:attrName>ppt_x</p:attrName>
                                        </p:attrNameLst>
                                      </p:cBhvr>
                                      <p:tavLst>
                                        <p:tav tm="0">
                                          <p:val>
                                            <p:strVal val="#ppt_x"/>
                                          </p:val>
                                        </p:tav>
                                        <p:tav tm="100000">
                                          <p:val>
                                            <p:strVal val="#ppt_x"/>
                                          </p:val>
                                        </p:tav>
                                      </p:tavLst>
                                    </p:anim>
                                    <p:anim calcmode="lin" valueType="num">
                                      <p:cBhvr>
                                        <p:cTn id="11" dur="1000" fill="hold"/>
                                        <p:tgtEl>
                                          <p:spTgt spid="2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dirty="0">
                <a:latin typeface="Century Gothic" panose="020B0502020202020204" pitchFamily="34" charset="0"/>
              </a:rPr>
              <a:t>Ingresos y Costos Pertinentes</a:t>
            </a:r>
          </a:p>
        </p:txBody>
      </p:sp>
      <p:sp>
        <p:nvSpPr>
          <p:cNvPr id="3" name="Marcador de contenido 2"/>
          <p:cNvSpPr>
            <a:spLocks noGrp="1"/>
          </p:cNvSpPr>
          <p:nvPr>
            <p:ph idx="1"/>
          </p:nvPr>
        </p:nvSpPr>
        <p:spPr>
          <a:xfrm>
            <a:off x="707758" y="2232838"/>
            <a:ext cx="11029615" cy="3923006"/>
          </a:xfrm>
        </p:spPr>
        <p:txBody>
          <a:bodyPr>
            <a:normAutofit/>
          </a:bodyPr>
          <a:lstStyle/>
          <a:p>
            <a:pPr marL="0" indent="0" algn="just">
              <a:buNone/>
            </a:pPr>
            <a:r>
              <a:rPr lang="es-ES" dirty="0">
                <a:solidFill>
                  <a:schemeClr val="accent1"/>
                </a:solidFill>
                <a:latin typeface="Century Gothic" panose="020B0502020202020204" pitchFamily="34" charset="0"/>
              </a:rPr>
              <a:t>Aunque el método indirecto para construir el FCL permite poca ambigüedad, es necesario identificar cuáles son los costos pertinentes que se deben incorporar a la hora de analizar un proyecto.</a:t>
            </a:r>
          </a:p>
          <a:p>
            <a:pPr marL="0" indent="0" algn="just">
              <a:buNone/>
            </a:pPr>
            <a:endParaRPr lang="es-ES" sz="1400" dirty="0"/>
          </a:p>
          <a:p>
            <a:pPr marL="0" indent="0" algn="just">
              <a:buNone/>
            </a:pPr>
            <a:endParaRPr lang="es-ES" sz="1400" dirty="0"/>
          </a:p>
          <a:p>
            <a:pPr marL="629920" lvl="1" indent="-305435" algn="just">
              <a:buClr>
                <a:schemeClr val="accent3">
                  <a:lumMod val="75000"/>
                </a:schemeClr>
              </a:buClr>
              <a:buFont typeface="Wingdings" pitchFamily="2" charset="2"/>
              <a:buChar char="q"/>
            </a:pPr>
            <a:r>
              <a:rPr lang="es-ES" sz="1800">
                <a:solidFill>
                  <a:schemeClr val="accent1"/>
                </a:solidFill>
                <a:latin typeface="Century Gothic"/>
              </a:rPr>
              <a:t>Costos Variables</a:t>
            </a:r>
          </a:p>
          <a:p>
            <a:pPr marL="629920" lvl="1" indent="-305435" algn="just">
              <a:buClr>
                <a:schemeClr val="accent3">
                  <a:lumMod val="75000"/>
                </a:schemeClr>
              </a:buClr>
              <a:buFont typeface="Wingdings" pitchFamily="2" charset="2"/>
              <a:buChar char="q"/>
            </a:pPr>
            <a:r>
              <a:rPr lang="es-ES" sz="1800">
                <a:solidFill>
                  <a:schemeClr val="accent1"/>
                </a:solidFill>
                <a:latin typeface="Century Gothic"/>
              </a:rPr>
              <a:t>Costos Fijos</a:t>
            </a:r>
          </a:p>
          <a:p>
            <a:pPr marL="629920" lvl="1" indent="-305435" algn="just">
              <a:buClr>
                <a:schemeClr val="accent3">
                  <a:lumMod val="75000"/>
                </a:schemeClr>
              </a:buClr>
              <a:buFont typeface="Wingdings" pitchFamily="2" charset="2"/>
              <a:buChar char="q"/>
            </a:pPr>
            <a:r>
              <a:rPr lang="es-ES" sz="1800">
                <a:solidFill>
                  <a:schemeClr val="accent1"/>
                </a:solidFill>
                <a:latin typeface="Century Gothic"/>
              </a:rPr>
              <a:t>Costos Semi – Variables</a:t>
            </a:r>
          </a:p>
        </p:txBody>
      </p:sp>
      <p:sp>
        <p:nvSpPr>
          <p:cNvPr id="6" name="Rectángulo 5">
            <a:extLst>
              <a:ext uri="{FF2B5EF4-FFF2-40B4-BE49-F238E27FC236}">
                <a16:creationId xmlns:a16="http://schemas.microsoft.com/office/drawing/2014/main" id="{31F3F78D-1616-4336-9828-AFA5B71B96C2}"/>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8" name="Picture 2" descr="Clientes y aliados | Centro de Evaluación | Uniandes">
            <a:extLst>
              <a:ext uri="{FF2B5EF4-FFF2-40B4-BE49-F238E27FC236}">
                <a16:creationId xmlns:a16="http://schemas.microsoft.com/office/drawing/2014/main" id="{EE6A7BE1-E764-B9DC-5D41-E0E685A1917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pic>
        <p:nvPicPr>
          <p:cNvPr id="10" name="Imagen 9">
            <a:extLst>
              <a:ext uri="{FF2B5EF4-FFF2-40B4-BE49-F238E27FC236}">
                <a16:creationId xmlns:a16="http://schemas.microsoft.com/office/drawing/2014/main" id="{8FD09BC6-123B-691C-E99D-4091FED321F0}"/>
              </a:ext>
            </a:extLst>
          </p:cNvPr>
          <p:cNvPicPr>
            <a:picLocks noChangeAspect="1"/>
          </p:cNvPicPr>
          <p:nvPr/>
        </p:nvPicPr>
        <p:blipFill>
          <a:blip r:embed="rId3"/>
          <a:stretch>
            <a:fillRect/>
          </a:stretch>
        </p:blipFill>
        <p:spPr>
          <a:xfrm>
            <a:off x="7595267" y="3709610"/>
            <a:ext cx="3489287" cy="2246527"/>
          </a:xfrm>
          <a:prstGeom prst="rect">
            <a:avLst/>
          </a:prstGeom>
        </p:spPr>
      </p:pic>
      <p:sp>
        <p:nvSpPr>
          <p:cNvPr id="5" name="Rectángulo 4">
            <a:extLst>
              <a:ext uri="{FF2B5EF4-FFF2-40B4-BE49-F238E27FC236}">
                <a16:creationId xmlns:a16="http://schemas.microsoft.com/office/drawing/2014/main" id="{748BA639-34D2-1062-48D5-1827A21A2DC1}"/>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7" name="Marcador de número de diapositiva 3">
            <a:extLst>
              <a:ext uri="{FF2B5EF4-FFF2-40B4-BE49-F238E27FC236}">
                <a16:creationId xmlns:a16="http://schemas.microsoft.com/office/drawing/2014/main" id="{797E0012-8F9F-DF83-7051-C01C92212825}"/>
              </a:ext>
            </a:extLst>
          </p:cNvPr>
          <p:cNvSpPr>
            <a:spLocks noGrp="1"/>
          </p:cNvSpPr>
          <p:nvPr>
            <p:ph type="sldNum" sz="quarter" idx="12"/>
          </p:nvPr>
        </p:nvSpPr>
        <p:spPr>
          <a:xfrm>
            <a:off x="10558300" y="5956137"/>
            <a:ext cx="1052508" cy="365125"/>
          </a:xfrm>
        </p:spPr>
        <p:txBody>
          <a:bodyPr/>
          <a:lstStyle/>
          <a:p>
            <a:fld id="{D57F1E4F-1CFF-5643-939E-217C01CDF565}" type="slidenum">
              <a:rPr lang="en-US" sz="2000" b="1" smtClean="0">
                <a:latin typeface="Century Gothic" panose="020B0502020202020204" pitchFamily="34" charset="0"/>
              </a:rPr>
              <a:pPr/>
              <a:t>11</a:t>
            </a:fld>
            <a:endParaRPr lang="en-US" sz="2000" b="1">
              <a:latin typeface="Century Gothic" panose="020B0502020202020204" pitchFamily="34" charset="0"/>
            </a:endParaRPr>
          </a:p>
        </p:txBody>
      </p:sp>
    </p:spTree>
    <p:extLst>
      <p:ext uri="{BB962C8B-B14F-4D97-AF65-F5344CB8AC3E}">
        <p14:creationId xmlns:p14="http://schemas.microsoft.com/office/powerpoint/2010/main" val="23901115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4" end="4"/>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ítulo 1">
            <a:extLst>
              <a:ext uri="{FF2B5EF4-FFF2-40B4-BE49-F238E27FC236}">
                <a16:creationId xmlns:a16="http://schemas.microsoft.com/office/drawing/2014/main" id="{7A8FC767-8B76-48DD-857E-A8EE33361E20}"/>
              </a:ext>
            </a:extLst>
          </p:cNvPr>
          <p:cNvSpPr>
            <a:spLocks noGrp="1"/>
          </p:cNvSpPr>
          <p:nvPr>
            <p:ph type="title"/>
          </p:nvPr>
        </p:nvSpPr>
        <p:spPr/>
        <p:txBody>
          <a:bodyPr/>
          <a:lstStyle/>
          <a:p>
            <a:r>
              <a:rPr lang="es-ES" dirty="0">
                <a:latin typeface="Century Gothic" panose="020B0502020202020204" pitchFamily="34" charset="0"/>
              </a:rPr>
              <a:t>Ingresos y Costos Pertinentes</a:t>
            </a:r>
          </a:p>
        </p:txBody>
      </p:sp>
      <p:sp>
        <p:nvSpPr>
          <p:cNvPr id="3" name="Content Placeholder 2"/>
          <p:cNvSpPr>
            <a:spLocks noGrp="1"/>
          </p:cNvSpPr>
          <p:nvPr>
            <p:ph idx="1"/>
          </p:nvPr>
        </p:nvSpPr>
        <p:spPr>
          <a:xfrm>
            <a:off x="664912" y="2143544"/>
            <a:ext cx="10862176" cy="3678303"/>
          </a:xfrm>
        </p:spPr>
        <p:txBody>
          <a:bodyPr>
            <a:noAutofit/>
          </a:bodyPr>
          <a:lstStyle/>
          <a:p>
            <a:pPr marL="114300" indent="0" algn="just">
              <a:buNone/>
            </a:pPr>
            <a:r>
              <a:rPr lang="es-ES_tradnl" b="1">
                <a:solidFill>
                  <a:srgbClr val="D7A700"/>
                </a:solidFill>
                <a:latin typeface="Century Gothic" panose="020B0502020202020204" pitchFamily="34" charset="0"/>
              </a:rPr>
              <a:t>Costos Variables: </a:t>
            </a:r>
            <a:r>
              <a:rPr lang="es-ES_tradnl">
                <a:solidFill>
                  <a:schemeClr val="accent1"/>
                </a:solidFill>
                <a:latin typeface="Century Gothic" panose="020B0502020202020204" pitchFamily="34" charset="0"/>
              </a:rPr>
              <a:t>Aquellos costos que están en función de las cantidades vendidas. Es decir, un costo que varía según el número de cantidades vendidas.</a:t>
            </a:r>
          </a:p>
          <a:p>
            <a:pPr marL="114300" indent="0">
              <a:buNone/>
            </a:pPr>
            <a:endParaRPr lang="es-ES_tradnl">
              <a:latin typeface="Century Gothic" panose="020B0502020202020204" pitchFamily="34" charset="0"/>
            </a:endParaRPr>
          </a:p>
          <a:p>
            <a:pPr marL="114300" indent="0" algn="ctr">
              <a:buNone/>
            </a:pPr>
            <a:r>
              <a:rPr lang="es-ES_tradnl" b="1">
                <a:solidFill>
                  <a:srgbClr val="C00000"/>
                </a:solidFill>
                <a:latin typeface="Century Gothic" panose="020B0502020202020204" pitchFamily="34" charset="0"/>
              </a:rPr>
              <a:t>¿Algún ejemplo de costos variables?</a:t>
            </a:r>
          </a:p>
          <a:p>
            <a:endParaRPr lang="es-ES_tradnl">
              <a:latin typeface="Century Gothic" panose="020B0502020202020204" pitchFamily="34" charset="0"/>
            </a:endParaRPr>
          </a:p>
          <a:p>
            <a:pPr marL="114300" indent="0" algn="just">
              <a:buNone/>
            </a:pPr>
            <a:r>
              <a:rPr lang="es-ES_tradnl" b="1">
                <a:solidFill>
                  <a:srgbClr val="D7A700"/>
                </a:solidFill>
                <a:latin typeface="Century Gothic" panose="020B0502020202020204" pitchFamily="34" charset="0"/>
              </a:rPr>
              <a:t>Costos Fijos: </a:t>
            </a:r>
            <a:r>
              <a:rPr lang="es-ES_tradnl">
                <a:solidFill>
                  <a:schemeClr val="accent1"/>
                </a:solidFill>
                <a:latin typeface="Century Gothic" panose="020B0502020202020204" pitchFamily="34" charset="0"/>
              </a:rPr>
              <a:t>Costos que son independientes de las cantidades vendidas. Es decir, costos en los que se incurre independientemente de las unidades vendidas en el periodo.</a:t>
            </a:r>
          </a:p>
          <a:p>
            <a:pPr marL="114300" indent="0" algn="just">
              <a:buNone/>
            </a:pPr>
            <a:endParaRPr lang="es-ES_tradnl">
              <a:latin typeface="Century Gothic" panose="020B0502020202020204" pitchFamily="34" charset="0"/>
            </a:endParaRPr>
          </a:p>
          <a:p>
            <a:pPr marL="114300" indent="0" algn="ctr">
              <a:buNone/>
            </a:pPr>
            <a:r>
              <a:rPr lang="es-ES_tradnl" b="1">
                <a:solidFill>
                  <a:srgbClr val="C00000"/>
                </a:solidFill>
                <a:latin typeface="Century Gothic" panose="020B0502020202020204" pitchFamily="34" charset="0"/>
              </a:rPr>
              <a:t>¿Algún ejemplo de costos fijos?</a:t>
            </a:r>
          </a:p>
          <a:p>
            <a:pPr marL="114300" indent="0" algn="just">
              <a:buNone/>
            </a:pPr>
            <a:endParaRPr lang="es-ES_tradnl">
              <a:latin typeface="Century Gothic" panose="020B0502020202020204" pitchFamily="34" charset="0"/>
            </a:endParaRPr>
          </a:p>
        </p:txBody>
      </p:sp>
      <p:sp>
        <p:nvSpPr>
          <p:cNvPr id="2" name="Rectángulo 1">
            <a:extLst>
              <a:ext uri="{FF2B5EF4-FFF2-40B4-BE49-F238E27FC236}">
                <a16:creationId xmlns:a16="http://schemas.microsoft.com/office/drawing/2014/main" id="{44C56ADF-AD09-AAD8-D4D7-89AB9D95F5A4}"/>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6" name="Picture 2" descr="Clientes y aliados | Centro de Evaluación | Uniandes">
            <a:extLst>
              <a:ext uri="{FF2B5EF4-FFF2-40B4-BE49-F238E27FC236}">
                <a16:creationId xmlns:a16="http://schemas.microsoft.com/office/drawing/2014/main" id="{091B298A-B898-D3A0-63D9-C75016177D0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pic>
        <p:nvPicPr>
          <p:cNvPr id="11" name="Imagen 10">
            <a:extLst>
              <a:ext uri="{FF2B5EF4-FFF2-40B4-BE49-F238E27FC236}">
                <a16:creationId xmlns:a16="http://schemas.microsoft.com/office/drawing/2014/main" id="{96DD680D-FF77-7D02-10BE-5AEF19BD041A}"/>
              </a:ext>
            </a:extLst>
          </p:cNvPr>
          <p:cNvPicPr>
            <a:picLocks noChangeAspect="1"/>
          </p:cNvPicPr>
          <p:nvPr/>
        </p:nvPicPr>
        <p:blipFill rotWithShape="1">
          <a:blip r:embed="rId3"/>
          <a:srcRect t="14135"/>
          <a:stretch/>
        </p:blipFill>
        <p:spPr>
          <a:xfrm>
            <a:off x="4396946" y="5579882"/>
            <a:ext cx="3398108" cy="1151924"/>
          </a:xfrm>
          <a:prstGeom prst="rect">
            <a:avLst/>
          </a:prstGeom>
        </p:spPr>
      </p:pic>
      <p:sp>
        <p:nvSpPr>
          <p:cNvPr id="8" name="Rectángulo 7">
            <a:extLst>
              <a:ext uri="{FF2B5EF4-FFF2-40B4-BE49-F238E27FC236}">
                <a16:creationId xmlns:a16="http://schemas.microsoft.com/office/drawing/2014/main" id="{B5246409-32D8-9442-02DE-CDFAC97DBFDE}"/>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5" name="Marcador de número de diapositiva 3">
            <a:extLst>
              <a:ext uri="{FF2B5EF4-FFF2-40B4-BE49-F238E27FC236}">
                <a16:creationId xmlns:a16="http://schemas.microsoft.com/office/drawing/2014/main" id="{2AF5EB8A-F152-F369-6BA7-71AC6FC48274}"/>
              </a:ext>
            </a:extLst>
          </p:cNvPr>
          <p:cNvSpPr>
            <a:spLocks noGrp="1"/>
          </p:cNvSpPr>
          <p:nvPr>
            <p:ph type="sldNum" sz="quarter" idx="12"/>
          </p:nvPr>
        </p:nvSpPr>
        <p:spPr>
          <a:xfrm>
            <a:off x="10558300" y="5956137"/>
            <a:ext cx="1052508" cy="365125"/>
          </a:xfrm>
        </p:spPr>
        <p:txBody>
          <a:bodyPr/>
          <a:lstStyle/>
          <a:p>
            <a:fld id="{D57F1E4F-1CFF-5643-939E-217C01CDF565}" type="slidenum">
              <a:rPr lang="en-US" sz="2000" b="1" smtClean="0">
                <a:latin typeface="Century Gothic" panose="020B0502020202020204" pitchFamily="34" charset="0"/>
              </a:rPr>
              <a:pPr/>
              <a:t>12</a:t>
            </a:fld>
            <a:endParaRPr lang="en-US" sz="2000" b="1">
              <a:latin typeface="Century Gothic" panose="020B0502020202020204" pitchFamily="34" charset="0"/>
            </a:endParaRPr>
          </a:p>
        </p:txBody>
      </p:sp>
    </p:spTree>
    <p:extLst>
      <p:ext uri="{BB962C8B-B14F-4D97-AF65-F5344CB8AC3E}">
        <p14:creationId xmlns:p14="http://schemas.microsoft.com/office/powerpoint/2010/main" val="33079715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ítulo 1">
            <a:extLst>
              <a:ext uri="{FF2B5EF4-FFF2-40B4-BE49-F238E27FC236}">
                <a16:creationId xmlns:a16="http://schemas.microsoft.com/office/drawing/2014/main" id="{85F292DF-1C0F-40C6-A2C9-75C1F4F788F6}"/>
              </a:ext>
            </a:extLst>
          </p:cNvPr>
          <p:cNvSpPr>
            <a:spLocks noGrp="1"/>
          </p:cNvSpPr>
          <p:nvPr>
            <p:ph type="title"/>
          </p:nvPr>
        </p:nvSpPr>
        <p:spPr/>
        <p:txBody>
          <a:bodyPr/>
          <a:lstStyle/>
          <a:p>
            <a:r>
              <a:rPr lang="es-ES" dirty="0">
                <a:latin typeface="Century Gothic" panose="020B0502020202020204" pitchFamily="34" charset="0"/>
              </a:rPr>
              <a:t>Ingresos y Costos Pertinentes</a:t>
            </a:r>
          </a:p>
        </p:txBody>
      </p:sp>
      <p:sp>
        <p:nvSpPr>
          <p:cNvPr id="3" name="Content Placeholder 2"/>
          <p:cNvSpPr>
            <a:spLocks noGrp="1"/>
          </p:cNvSpPr>
          <p:nvPr>
            <p:ph idx="1"/>
          </p:nvPr>
        </p:nvSpPr>
        <p:spPr>
          <a:xfrm>
            <a:off x="581192" y="2302728"/>
            <a:ext cx="10774667" cy="3678303"/>
          </a:xfrm>
        </p:spPr>
        <p:txBody>
          <a:bodyPr>
            <a:noAutofit/>
          </a:bodyPr>
          <a:lstStyle/>
          <a:p>
            <a:pPr marL="114300" indent="0" algn="just">
              <a:buNone/>
            </a:pPr>
            <a:endParaRPr lang="es-ES_tradnl" b="1" dirty="0">
              <a:solidFill>
                <a:schemeClr val="accent3">
                  <a:lumMod val="75000"/>
                </a:schemeClr>
              </a:solidFill>
              <a:latin typeface="Century Gothic" panose="020B0502020202020204" pitchFamily="34" charset="0"/>
            </a:endParaRPr>
          </a:p>
          <a:p>
            <a:pPr marL="114300" indent="0" algn="just">
              <a:buNone/>
            </a:pPr>
            <a:r>
              <a:rPr lang="es-ES_tradnl" b="1" dirty="0">
                <a:solidFill>
                  <a:srgbClr val="D7A700"/>
                </a:solidFill>
                <a:latin typeface="Century Gothic" panose="020B0502020202020204" pitchFamily="34" charset="0"/>
              </a:rPr>
              <a:t>Costos Variables: </a:t>
            </a:r>
            <a:r>
              <a:rPr lang="es-ES_tradnl" dirty="0">
                <a:solidFill>
                  <a:schemeClr val="accent1"/>
                </a:solidFill>
                <a:latin typeface="Century Gothic" panose="020B0502020202020204" pitchFamily="34" charset="0"/>
              </a:rPr>
              <a:t>Aquellos costos que están en función de las cantidades vendidas. Es decir, un costo que varía según el número de cantidades vendidas.</a:t>
            </a:r>
          </a:p>
          <a:p>
            <a:pPr marL="114300" indent="0">
              <a:buNone/>
            </a:pPr>
            <a:endParaRPr lang="es-ES_tradnl" dirty="0">
              <a:latin typeface="Century Gothic" panose="020B0502020202020204" pitchFamily="34" charset="0"/>
            </a:endParaRPr>
          </a:p>
          <a:p>
            <a:pPr marL="114300" indent="0" algn="ctr">
              <a:buNone/>
            </a:pPr>
            <a:r>
              <a:rPr lang="es-ES_tradnl" b="1" dirty="0">
                <a:solidFill>
                  <a:srgbClr val="00B050"/>
                </a:solidFill>
                <a:latin typeface="Century Gothic" panose="020B0502020202020204" pitchFamily="34" charset="0"/>
              </a:rPr>
              <a:t>Costo de Materia Prima</a:t>
            </a:r>
          </a:p>
          <a:p>
            <a:endParaRPr lang="es-ES_tradnl" dirty="0">
              <a:latin typeface="Century Gothic" panose="020B0502020202020204" pitchFamily="34" charset="0"/>
            </a:endParaRPr>
          </a:p>
          <a:p>
            <a:pPr marL="114300" indent="0" algn="just">
              <a:buNone/>
            </a:pPr>
            <a:r>
              <a:rPr lang="es-ES_tradnl" b="1" dirty="0">
                <a:solidFill>
                  <a:srgbClr val="D7A700"/>
                </a:solidFill>
                <a:latin typeface="Century Gothic" panose="020B0502020202020204" pitchFamily="34" charset="0"/>
              </a:rPr>
              <a:t>Costos Fijos: </a:t>
            </a:r>
            <a:r>
              <a:rPr lang="es-ES_tradnl" dirty="0">
                <a:solidFill>
                  <a:schemeClr val="accent1"/>
                </a:solidFill>
                <a:latin typeface="Century Gothic" panose="020B0502020202020204" pitchFamily="34" charset="0"/>
              </a:rPr>
              <a:t>Costos que son independientes de las cantidades vendidas. Es decir, costos en los que se incurre independientemente de las unidades vendidas en el periodo.</a:t>
            </a:r>
          </a:p>
          <a:p>
            <a:pPr marL="114300" indent="0" algn="just">
              <a:buNone/>
            </a:pPr>
            <a:endParaRPr lang="es-ES_tradnl" dirty="0">
              <a:latin typeface="Century Gothic" panose="020B0502020202020204" pitchFamily="34" charset="0"/>
            </a:endParaRPr>
          </a:p>
          <a:p>
            <a:pPr marL="114300" indent="0" algn="ctr">
              <a:buNone/>
            </a:pPr>
            <a:r>
              <a:rPr lang="es-ES_tradnl" b="1" dirty="0">
                <a:solidFill>
                  <a:srgbClr val="00B050"/>
                </a:solidFill>
                <a:latin typeface="Century Gothic" panose="020B0502020202020204" pitchFamily="34" charset="0"/>
              </a:rPr>
              <a:t>Arrendamientos</a:t>
            </a:r>
          </a:p>
          <a:p>
            <a:pPr marL="114300" indent="0" algn="just">
              <a:buNone/>
            </a:pPr>
            <a:endParaRPr lang="es-ES_tradnl" dirty="0">
              <a:latin typeface="Century Gothic" panose="020B0502020202020204" pitchFamily="34" charset="0"/>
            </a:endParaRPr>
          </a:p>
        </p:txBody>
      </p:sp>
      <p:sp>
        <p:nvSpPr>
          <p:cNvPr id="2" name="Rectángulo 1">
            <a:extLst>
              <a:ext uri="{FF2B5EF4-FFF2-40B4-BE49-F238E27FC236}">
                <a16:creationId xmlns:a16="http://schemas.microsoft.com/office/drawing/2014/main" id="{2EFB583C-D1A5-B389-4F97-B808776C5DCE}"/>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6" name="Picture 2" descr="Clientes y aliados | Centro de Evaluación | Uniandes">
            <a:extLst>
              <a:ext uri="{FF2B5EF4-FFF2-40B4-BE49-F238E27FC236}">
                <a16:creationId xmlns:a16="http://schemas.microsoft.com/office/drawing/2014/main" id="{BE8D87EE-A5F9-8C33-2C0D-7C248F57368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pic>
        <p:nvPicPr>
          <p:cNvPr id="11" name="Imagen 10">
            <a:extLst>
              <a:ext uri="{FF2B5EF4-FFF2-40B4-BE49-F238E27FC236}">
                <a16:creationId xmlns:a16="http://schemas.microsoft.com/office/drawing/2014/main" id="{87178235-16B0-A768-E5F2-4E6475769FA0}"/>
              </a:ext>
            </a:extLst>
          </p:cNvPr>
          <p:cNvPicPr>
            <a:picLocks noChangeAspect="1"/>
          </p:cNvPicPr>
          <p:nvPr/>
        </p:nvPicPr>
        <p:blipFill>
          <a:blip r:embed="rId3"/>
          <a:stretch>
            <a:fillRect/>
          </a:stretch>
        </p:blipFill>
        <p:spPr>
          <a:xfrm>
            <a:off x="9050637" y="5092204"/>
            <a:ext cx="2124189" cy="1461872"/>
          </a:xfrm>
          <a:prstGeom prst="rect">
            <a:avLst/>
          </a:prstGeom>
        </p:spPr>
      </p:pic>
      <p:sp>
        <p:nvSpPr>
          <p:cNvPr id="8" name="Rectángulo 7">
            <a:extLst>
              <a:ext uri="{FF2B5EF4-FFF2-40B4-BE49-F238E27FC236}">
                <a16:creationId xmlns:a16="http://schemas.microsoft.com/office/drawing/2014/main" id="{7AA34D95-C3EE-68FB-A5B6-B7BD2FB2B20C}"/>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5" name="Marcador de número de diapositiva 3">
            <a:extLst>
              <a:ext uri="{FF2B5EF4-FFF2-40B4-BE49-F238E27FC236}">
                <a16:creationId xmlns:a16="http://schemas.microsoft.com/office/drawing/2014/main" id="{CBCF4A8D-026B-35CD-FEA2-0BA6D7C28287}"/>
              </a:ext>
            </a:extLst>
          </p:cNvPr>
          <p:cNvSpPr>
            <a:spLocks noGrp="1"/>
          </p:cNvSpPr>
          <p:nvPr>
            <p:ph type="sldNum" sz="quarter" idx="12"/>
          </p:nvPr>
        </p:nvSpPr>
        <p:spPr>
          <a:xfrm>
            <a:off x="10558300" y="5956137"/>
            <a:ext cx="1052508" cy="365125"/>
          </a:xfrm>
        </p:spPr>
        <p:txBody>
          <a:bodyPr/>
          <a:lstStyle/>
          <a:p>
            <a:fld id="{D57F1E4F-1CFF-5643-939E-217C01CDF565}" type="slidenum">
              <a:rPr lang="en-US" sz="2000" b="1" smtClean="0">
                <a:latin typeface="Century Gothic" panose="020B0502020202020204" pitchFamily="34" charset="0"/>
              </a:rPr>
              <a:pPr/>
              <a:t>13</a:t>
            </a:fld>
            <a:endParaRPr lang="en-US" sz="2000" b="1">
              <a:latin typeface="Century Gothic" panose="020B0502020202020204" pitchFamily="34" charset="0"/>
            </a:endParaRPr>
          </a:p>
        </p:txBody>
      </p:sp>
    </p:spTree>
    <p:extLst>
      <p:ext uri="{BB962C8B-B14F-4D97-AF65-F5344CB8AC3E}">
        <p14:creationId xmlns:p14="http://schemas.microsoft.com/office/powerpoint/2010/main" val="25953919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ítulo 1">
            <a:extLst>
              <a:ext uri="{FF2B5EF4-FFF2-40B4-BE49-F238E27FC236}">
                <a16:creationId xmlns:a16="http://schemas.microsoft.com/office/drawing/2014/main" id="{A39ADB28-418D-4EC6-98E7-873A7B35AA37}"/>
              </a:ext>
            </a:extLst>
          </p:cNvPr>
          <p:cNvSpPr>
            <a:spLocks noGrp="1"/>
          </p:cNvSpPr>
          <p:nvPr>
            <p:ph type="title"/>
          </p:nvPr>
        </p:nvSpPr>
        <p:spPr/>
        <p:txBody>
          <a:bodyPr/>
          <a:lstStyle/>
          <a:p>
            <a:r>
              <a:rPr lang="es-ES" dirty="0">
                <a:latin typeface="Century Gothic" panose="020B0502020202020204" pitchFamily="34" charset="0"/>
              </a:rPr>
              <a:t>Ingresos y Costos Pertinentes</a:t>
            </a:r>
          </a:p>
        </p:txBody>
      </p:sp>
      <p:sp>
        <p:nvSpPr>
          <p:cNvPr id="3" name="Content Placeholder 2"/>
          <p:cNvSpPr>
            <a:spLocks noGrp="1"/>
          </p:cNvSpPr>
          <p:nvPr>
            <p:ph idx="1"/>
          </p:nvPr>
        </p:nvSpPr>
        <p:spPr>
          <a:xfrm>
            <a:off x="581192" y="1989939"/>
            <a:ext cx="9118862" cy="4293700"/>
          </a:xfrm>
        </p:spPr>
        <p:txBody>
          <a:bodyPr>
            <a:noAutofit/>
          </a:bodyPr>
          <a:lstStyle/>
          <a:p>
            <a:pPr marL="114300" indent="0" algn="just">
              <a:buNone/>
            </a:pPr>
            <a:r>
              <a:rPr lang="es-ES_tradnl" b="1">
                <a:solidFill>
                  <a:srgbClr val="D7A700"/>
                </a:solidFill>
                <a:latin typeface="Century Gothic"/>
              </a:rPr>
              <a:t>Costos </a:t>
            </a:r>
            <a:r>
              <a:rPr lang="es-ES_tradnl" b="1" dirty="0" err="1">
                <a:solidFill>
                  <a:srgbClr val="D7A700"/>
                </a:solidFill>
                <a:latin typeface="Century Gothic"/>
              </a:rPr>
              <a:t>Semi</a:t>
            </a:r>
            <a:r>
              <a:rPr lang="es-ES_tradnl" b="1">
                <a:solidFill>
                  <a:srgbClr val="D7A700"/>
                </a:solidFill>
                <a:latin typeface="Century Gothic"/>
              </a:rPr>
              <a:t>-Variables: </a:t>
            </a:r>
            <a:r>
              <a:rPr lang="es-ES">
                <a:solidFill>
                  <a:schemeClr val="accent1"/>
                </a:solidFill>
                <a:latin typeface="Century Gothic"/>
              </a:rPr>
              <a:t>Son costos con un comportamiento muy particular, pues en un “rango” de actividad se comportan como costos fijos. No obstante, a partir de cierto nuevo “rango” dichos costos fijos “saltan”.</a:t>
            </a:r>
          </a:p>
          <a:p>
            <a:pPr marL="114300" indent="0" algn="just">
              <a:buNone/>
            </a:pPr>
            <a:endParaRPr lang="es-ES">
              <a:solidFill>
                <a:schemeClr val="accent1"/>
              </a:solidFill>
              <a:latin typeface="Century Gothic" panose="020B0502020202020204" pitchFamily="34" charset="0"/>
            </a:endParaRPr>
          </a:p>
          <a:p>
            <a:pPr marL="114300" indent="0" algn="just">
              <a:buNone/>
            </a:pPr>
            <a:r>
              <a:rPr lang="es-ES">
                <a:solidFill>
                  <a:schemeClr val="accent1"/>
                </a:solidFill>
                <a:latin typeface="Century Gothic"/>
              </a:rPr>
              <a:t>Luego de dicho “salto”, en cierto rango se vuelven a comportar como </a:t>
            </a:r>
            <a:r>
              <a:rPr lang="es-ES" b="1">
                <a:solidFill>
                  <a:schemeClr val="accent3">
                    <a:lumMod val="50000"/>
                  </a:schemeClr>
                </a:solidFill>
                <a:latin typeface="Century Gothic"/>
              </a:rPr>
              <a:t>costos fijos </a:t>
            </a:r>
            <a:r>
              <a:rPr lang="es-ES">
                <a:solidFill>
                  <a:schemeClr val="accent1"/>
                </a:solidFill>
                <a:latin typeface="Century Gothic"/>
              </a:rPr>
              <a:t>y así sucesivamente.</a:t>
            </a:r>
          </a:p>
          <a:p>
            <a:pPr marL="114300" indent="0" algn="just">
              <a:buNone/>
            </a:pPr>
            <a:endParaRPr lang="es-ES">
              <a:solidFill>
                <a:schemeClr val="accent1"/>
              </a:solidFill>
              <a:latin typeface="Century Gothic" panose="020B0502020202020204" pitchFamily="34" charset="0"/>
            </a:endParaRPr>
          </a:p>
          <a:p>
            <a:pPr marL="114300" indent="0" algn="just">
              <a:buNone/>
            </a:pPr>
            <a:r>
              <a:rPr lang="es-ES" dirty="0">
                <a:solidFill>
                  <a:schemeClr val="accent1"/>
                </a:solidFill>
                <a:latin typeface="Century Gothic"/>
              </a:rPr>
              <a:t>En muchos casos, los costos fijos son </a:t>
            </a:r>
            <a:r>
              <a:rPr lang="es-ES" b="1" dirty="0" err="1">
                <a:solidFill>
                  <a:schemeClr val="accent3">
                    <a:lumMod val="50000"/>
                  </a:schemeClr>
                </a:solidFill>
                <a:latin typeface="Century Gothic"/>
              </a:rPr>
              <a:t>semi-variables</a:t>
            </a:r>
            <a:r>
              <a:rPr lang="es-ES" dirty="0">
                <a:solidFill>
                  <a:schemeClr val="accent1"/>
                </a:solidFill>
                <a:latin typeface="Century Gothic"/>
              </a:rPr>
              <a:t> cuando se analiza un proyecto en el largo plazo.</a:t>
            </a:r>
          </a:p>
          <a:p>
            <a:pPr marL="114300" indent="0" algn="just">
              <a:buNone/>
            </a:pPr>
            <a:endParaRPr lang="es-ES">
              <a:latin typeface="Century Gothic" panose="020B0502020202020204" pitchFamily="34" charset="0"/>
            </a:endParaRPr>
          </a:p>
          <a:p>
            <a:pPr marL="114300" indent="0" algn="ctr">
              <a:buNone/>
            </a:pPr>
            <a:r>
              <a:rPr lang="es-ES_tradnl" b="1">
                <a:solidFill>
                  <a:srgbClr val="C00000"/>
                </a:solidFill>
                <a:latin typeface="Century Gothic"/>
              </a:rPr>
              <a:t>¿Algún ejemplo de costos semi-variables?</a:t>
            </a:r>
          </a:p>
        </p:txBody>
      </p:sp>
      <p:sp>
        <p:nvSpPr>
          <p:cNvPr id="2" name="Rectángulo 1">
            <a:extLst>
              <a:ext uri="{FF2B5EF4-FFF2-40B4-BE49-F238E27FC236}">
                <a16:creationId xmlns:a16="http://schemas.microsoft.com/office/drawing/2014/main" id="{DCFFB937-2231-E714-BF8D-99E21DE3F310}"/>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6" name="Picture 2" descr="Clientes y aliados | Centro de Evaluación | Uniandes">
            <a:extLst>
              <a:ext uri="{FF2B5EF4-FFF2-40B4-BE49-F238E27FC236}">
                <a16:creationId xmlns:a16="http://schemas.microsoft.com/office/drawing/2014/main" id="{C9A1A8C9-A8A3-792E-7125-11296F0F548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pic>
        <p:nvPicPr>
          <p:cNvPr id="11" name="Imagen 10">
            <a:extLst>
              <a:ext uri="{FF2B5EF4-FFF2-40B4-BE49-F238E27FC236}">
                <a16:creationId xmlns:a16="http://schemas.microsoft.com/office/drawing/2014/main" id="{5711E6F8-7C9B-8E49-894F-4BB0DCB600AE}"/>
              </a:ext>
            </a:extLst>
          </p:cNvPr>
          <p:cNvPicPr>
            <a:picLocks noChangeAspect="1"/>
          </p:cNvPicPr>
          <p:nvPr/>
        </p:nvPicPr>
        <p:blipFill rotWithShape="1">
          <a:blip r:embed="rId3"/>
          <a:srcRect b="6318"/>
          <a:stretch/>
        </p:blipFill>
        <p:spPr>
          <a:xfrm>
            <a:off x="9940013" y="2421926"/>
            <a:ext cx="1774830" cy="2499518"/>
          </a:xfrm>
          <a:prstGeom prst="rect">
            <a:avLst/>
          </a:prstGeom>
        </p:spPr>
      </p:pic>
      <p:sp>
        <p:nvSpPr>
          <p:cNvPr id="8" name="Rectángulo 7">
            <a:extLst>
              <a:ext uri="{FF2B5EF4-FFF2-40B4-BE49-F238E27FC236}">
                <a16:creationId xmlns:a16="http://schemas.microsoft.com/office/drawing/2014/main" id="{142200E6-BD5D-0BA4-77BA-57FFB98B6B6C}"/>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5" name="Marcador de número de diapositiva 3">
            <a:extLst>
              <a:ext uri="{FF2B5EF4-FFF2-40B4-BE49-F238E27FC236}">
                <a16:creationId xmlns:a16="http://schemas.microsoft.com/office/drawing/2014/main" id="{21A9C1D9-D45A-001D-065A-8568218E0A99}"/>
              </a:ext>
            </a:extLst>
          </p:cNvPr>
          <p:cNvSpPr>
            <a:spLocks noGrp="1"/>
          </p:cNvSpPr>
          <p:nvPr>
            <p:ph type="sldNum" sz="quarter" idx="12"/>
          </p:nvPr>
        </p:nvSpPr>
        <p:spPr>
          <a:xfrm>
            <a:off x="10558300" y="5956137"/>
            <a:ext cx="1052508" cy="365125"/>
          </a:xfrm>
        </p:spPr>
        <p:txBody>
          <a:bodyPr/>
          <a:lstStyle/>
          <a:p>
            <a:fld id="{D57F1E4F-1CFF-5643-939E-217C01CDF565}" type="slidenum">
              <a:rPr lang="en-US" sz="2000" b="1" smtClean="0">
                <a:latin typeface="Century Gothic" panose="020B0502020202020204" pitchFamily="34" charset="0"/>
              </a:rPr>
              <a:pPr/>
              <a:t>14</a:t>
            </a:fld>
            <a:endParaRPr lang="en-US" sz="2000" b="1">
              <a:latin typeface="Century Gothic" panose="020B0502020202020204" pitchFamily="34" charset="0"/>
            </a:endParaRPr>
          </a:p>
        </p:txBody>
      </p:sp>
    </p:spTree>
    <p:extLst>
      <p:ext uri="{BB962C8B-B14F-4D97-AF65-F5344CB8AC3E}">
        <p14:creationId xmlns:p14="http://schemas.microsoft.com/office/powerpoint/2010/main" val="27021062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Título 1">
            <a:extLst>
              <a:ext uri="{FF2B5EF4-FFF2-40B4-BE49-F238E27FC236}">
                <a16:creationId xmlns:a16="http://schemas.microsoft.com/office/drawing/2014/main" id="{42F5A78B-AEC6-4D6B-8225-398BF0F3C896}"/>
              </a:ext>
            </a:extLst>
          </p:cNvPr>
          <p:cNvSpPr>
            <a:spLocks noGrp="1"/>
          </p:cNvSpPr>
          <p:nvPr>
            <p:ph type="title"/>
          </p:nvPr>
        </p:nvSpPr>
        <p:spPr/>
        <p:txBody>
          <a:bodyPr/>
          <a:lstStyle/>
          <a:p>
            <a:r>
              <a:rPr lang="es-ES">
                <a:latin typeface="Century Gothic" panose="020B0502020202020204" pitchFamily="34" charset="0"/>
              </a:rPr>
              <a:t>Ingresos  y Costos Pertinentes</a:t>
            </a:r>
          </a:p>
        </p:txBody>
      </p:sp>
      <p:sp>
        <p:nvSpPr>
          <p:cNvPr id="21" name="Marcador de contenido 2"/>
          <p:cNvSpPr>
            <a:spLocks noGrp="1"/>
          </p:cNvSpPr>
          <p:nvPr>
            <p:ph idx="1"/>
          </p:nvPr>
        </p:nvSpPr>
        <p:spPr>
          <a:xfrm>
            <a:off x="1826101" y="1794716"/>
            <a:ext cx="8150329" cy="983509"/>
          </a:xfrm>
        </p:spPr>
        <p:txBody>
          <a:bodyPr>
            <a:normAutofit/>
          </a:bodyPr>
          <a:lstStyle/>
          <a:p>
            <a:pPr marL="0" indent="0" algn="ctr">
              <a:buNone/>
            </a:pPr>
            <a:r>
              <a:rPr lang="es-ES" b="1">
                <a:solidFill>
                  <a:srgbClr val="C00000"/>
                </a:solidFill>
                <a:latin typeface="Century Gothic" panose="020B0502020202020204" pitchFamily="34" charset="0"/>
              </a:rPr>
              <a:t>Una representación gráfica de los costos</a:t>
            </a:r>
          </a:p>
        </p:txBody>
      </p:sp>
      <p:cxnSp>
        <p:nvCxnSpPr>
          <p:cNvPr id="7" name="Straight Connector 6"/>
          <p:cNvCxnSpPr/>
          <p:nvPr/>
        </p:nvCxnSpPr>
        <p:spPr>
          <a:xfrm>
            <a:off x="1822949" y="5172590"/>
            <a:ext cx="2053733" cy="0"/>
          </a:xfrm>
          <a:prstGeom prst="line">
            <a:avLst/>
          </a:prstGeom>
          <a:ln w="38100">
            <a:solidFill>
              <a:schemeClr val="accent1"/>
            </a:solidFill>
          </a:ln>
        </p:spPr>
        <p:style>
          <a:lnRef idx="2">
            <a:schemeClr val="accent1"/>
          </a:lnRef>
          <a:fillRef idx="0">
            <a:schemeClr val="accent1"/>
          </a:fillRef>
          <a:effectRef idx="1">
            <a:schemeClr val="accent1"/>
          </a:effectRef>
          <a:fontRef idx="minor">
            <a:schemeClr val="tx1"/>
          </a:fontRef>
        </p:style>
      </p:cxnSp>
      <p:cxnSp>
        <p:nvCxnSpPr>
          <p:cNvPr id="8" name="Straight Connector 7"/>
          <p:cNvCxnSpPr/>
          <p:nvPr/>
        </p:nvCxnSpPr>
        <p:spPr>
          <a:xfrm flipV="1">
            <a:off x="1840492" y="3320914"/>
            <a:ext cx="0" cy="1851676"/>
          </a:xfrm>
          <a:prstGeom prst="line">
            <a:avLst/>
          </a:prstGeom>
          <a:ln w="38100">
            <a:solidFill>
              <a:schemeClr val="accent1"/>
            </a:solidFill>
          </a:ln>
        </p:spPr>
        <p:style>
          <a:lnRef idx="2">
            <a:schemeClr val="accent1"/>
          </a:lnRef>
          <a:fillRef idx="0">
            <a:schemeClr val="accent1"/>
          </a:fillRef>
          <a:effectRef idx="1">
            <a:schemeClr val="accent1"/>
          </a:effectRef>
          <a:fontRef idx="minor">
            <a:schemeClr val="tx1"/>
          </a:fontRef>
        </p:style>
      </p:cxnSp>
      <p:cxnSp>
        <p:nvCxnSpPr>
          <p:cNvPr id="9" name="Straight Arrow Connector 8"/>
          <p:cNvCxnSpPr/>
          <p:nvPr/>
        </p:nvCxnSpPr>
        <p:spPr>
          <a:xfrm flipV="1">
            <a:off x="1822949" y="3486584"/>
            <a:ext cx="1805245" cy="1686006"/>
          </a:xfrm>
          <a:prstGeom prst="straightConnector1">
            <a:avLst/>
          </a:prstGeom>
          <a:ln w="38100">
            <a:solidFill>
              <a:schemeClr val="accent3"/>
            </a:solidFill>
            <a:headEnd type="none"/>
            <a:tailEnd type="none"/>
          </a:ln>
        </p:spPr>
        <p:style>
          <a:lnRef idx="2">
            <a:schemeClr val="accent1"/>
          </a:lnRef>
          <a:fillRef idx="0">
            <a:schemeClr val="accent1"/>
          </a:fillRef>
          <a:effectRef idx="1">
            <a:schemeClr val="accent1"/>
          </a:effectRef>
          <a:fontRef idx="minor">
            <a:schemeClr val="tx1"/>
          </a:fontRef>
        </p:style>
      </p:cxnSp>
      <p:cxnSp>
        <p:nvCxnSpPr>
          <p:cNvPr id="10" name="Straight Connector 9"/>
          <p:cNvCxnSpPr/>
          <p:nvPr/>
        </p:nvCxnSpPr>
        <p:spPr>
          <a:xfrm>
            <a:off x="4819156" y="5159320"/>
            <a:ext cx="2053733" cy="0"/>
          </a:xfrm>
          <a:prstGeom prst="line">
            <a:avLst/>
          </a:prstGeom>
          <a:ln w="38100">
            <a:solidFill>
              <a:schemeClr val="accent1"/>
            </a:solidFill>
          </a:ln>
        </p:spPr>
        <p:style>
          <a:lnRef idx="2">
            <a:schemeClr val="accent1"/>
          </a:lnRef>
          <a:fillRef idx="0">
            <a:schemeClr val="accent1"/>
          </a:fillRef>
          <a:effectRef idx="1">
            <a:schemeClr val="accent1"/>
          </a:effectRef>
          <a:fontRef idx="minor">
            <a:schemeClr val="tx1"/>
          </a:fontRef>
        </p:style>
      </p:cxnSp>
      <p:cxnSp>
        <p:nvCxnSpPr>
          <p:cNvPr id="11" name="Straight Connector 10"/>
          <p:cNvCxnSpPr/>
          <p:nvPr/>
        </p:nvCxnSpPr>
        <p:spPr>
          <a:xfrm flipV="1">
            <a:off x="4836699" y="3307644"/>
            <a:ext cx="0" cy="1851676"/>
          </a:xfrm>
          <a:prstGeom prst="line">
            <a:avLst/>
          </a:prstGeom>
          <a:ln w="38100">
            <a:solidFill>
              <a:schemeClr val="accent1"/>
            </a:solidFill>
          </a:ln>
        </p:spPr>
        <p:style>
          <a:lnRef idx="2">
            <a:schemeClr val="accent1"/>
          </a:lnRef>
          <a:fillRef idx="0">
            <a:schemeClr val="accent1"/>
          </a:fillRef>
          <a:effectRef idx="1">
            <a:schemeClr val="accent1"/>
          </a:effectRef>
          <a:fontRef idx="minor">
            <a:schemeClr val="tx1"/>
          </a:fontRef>
        </p:style>
      </p:cxnSp>
      <p:cxnSp>
        <p:nvCxnSpPr>
          <p:cNvPr id="12" name="Straight Arrow Connector 11"/>
          <p:cNvCxnSpPr/>
          <p:nvPr/>
        </p:nvCxnSpPr>
        <p:spPr>
          <a:xfrm>
            <a:off x="4819156" y="4411569"/>
            <a:ext cx="2053733" cy="0"/>
          </a:xfrm>
          <a:prstGeom prst="straightConnector1">
            <a:avLst/>
          </a:prstGeom>
          <a:ln w="38100">
            <a:solidFill>
              <a:schemeClr val="accent3"/>
            </a:solidFill>
            <a:headEnd type="none"/>
            <a:tailEnd type="none"/>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3149859" y="5227814"/>
            <a:ext cx="1685077" cy="307777"/>
          </a:xfrm>
          <a:prstGeom prst="rect">
            <a:avLst/>
          </a:prstGeom>
          <a:noFill/>
        </p:spPr>
        <p:txBody>
          <a:bodyPr wrap="none" rtlCol="0">
            <a:spAutoFit/>
          </a:bodyPr>
          <a:lstStyle/>
          <a:p>
            <a:r>
              <a:rPr lang="es-ES_tradnl" sz="1400">
                <a:solidFill>
                  <a:schemeClr val="accent1"/>
                </a:solidFill>
                <a:latin typeface="Century Gothic" panose="020B0502020202020204" pitchFamily="34" charset="0"/>
              </a:rPr>
              <a:t>Cantidad Ventas</a:t>
            </a:r>
          </a:p>
        </p:txBody>
      </p:sp>
      <p:sp>
        <p:nvSpPr>
          <p:cNvPr id="14" name="TextBox 13"/>
          <p:cNvSpPr txBox="1"/>
          <p:nvPr/>
        </p:nvSpPr>
        <p:spPr>
          <a:xfrm>
            <a:off x="5869964" y="5172591"/>
            <a:ext cx="1685077" cy="307777"/>
          </a:xfrm>
          <a:prstGeom prst="rect">
            <a:avLst/>
          </a:prstGeom>
          <a:noFill/>
        </p:spPr>
        <p:txBody>
          <a:bodyPr wrap="none" rtlCol="0">
            <a:spAutoFit/>
          </a:bodyPr>
          <a:lstStyle/>
          <a:p>
            <a:r>
              <a:rPr lang="es-ES_tradnl" sz="1400">
                <a:solidFill>
                  <a:schemeClr val="accent1"/>
                </a:solidFill>
                <a:latin typeface="Century Gothic" panose="020B0502020202020204" pitchFamily="34" charset="0"/>
              </a:rPr>
              <a:t>Cantidad Ventas</a:t>
            </a:r>
          </a:p>
        </p:txBody>
      </p:sp>
      <p:cxnSp>
        <p:nvCxnSpPr>
          <p:cNvPr id="15" name="Straight Connector 14"/>
          <p:cNvCxnSpPr/>
          <p:nvPr/>
        </p:nvCxnSpPr>
        <p:spPr>
          <a:xfrm>
            <a:off x="7681212" y="5146050"/>
            <a:ext cx="2053733" cy="0"/>
          </a:xfrm>
          <a:prstGeom prst="line">
            <a:avLst/>
          </a:prstGeom>
          <a:ln w="38100">
            <a:solidFill>
              <a:schemeClr val="accent1"/>
            </a:solidFill>
          </a:ln>
        </p:spPr>
        <p:style>
          <a:lnRef idx="2">
            <a:schemeClr val="accent1"/>
          </a:lnRef>
          <a:fillRef idx="0">
            <a:schemeClr val="accent1"/>
          </a:fillRef>
          <a:effectRef idx="1">
            <a:schemeClr val="accent1"/>
          </a:effectRef>
          <a:fontRef idx="minor">
            <a:schemeClr val="tx1"/>
          </a:fontRef>
        </p:style>
      </p:cxnSp>
      <p:cxnSp>
        <p:nvCxnSpPr>
          <p:cNvPr id="16" name="Straight Connector 15"/>
          <p:cNvCxnSpPr/>
          <p:nvPr/>
        </p:nvCxnSpPr>
        <p:spPr>
          <a:xfrm flipV="1">
            <a:off x="7698755" y="3294374"/>
            <a:ext cx="0" cy="1851676"/>
          </a:xfrm>
          <a:prstGeom prst="line">
            <a:avLst/>
          </a:prstGeom>
          <a:ln w="38100">
            <a:solidFill>
              <a:schemeClr val="accent1"/>
            </a:solidFill>
          </a:ln>
        </p:spPr>
        <p:style>
          <a:lnRef idx="2">
            <a:schemeClr val="accent1"/>
          </a:lnRef>
          <a:fillRef idx="0">
            <a:schemeClr val="accent1"/>
          </a:fillRef>
          <a:effectRef idx="1">
            <a:schemeClr val="accent1"/>
          </a:effectRef>
          <a:fontRef idx="minor">
            <a:schemeClr val="tx1"/>
          </a:fontRef>
        </p:style>
      </p:cxnSp>
      <p:cxnSp>
        <p:nvCxnSpPr>
          <p:cNvPr id="17" name="Straight Arrow Connector 16"/>
          <p:cNvCxnSpPr/>
          <p:nvPr/>
        </p:nvCxnSpPr>
        <p:spPr>
          <a:xfrm>
            <a:off x="7681211" y="4743442"/>
            <a:ext cx="764882" cy="0"/>
          </a:xfrm>
          <a:prstGeom prst="straightConnector1">
            <a:avLst/>
          </a:prstGeom>
          <a:ln w="38100">
            <a:solidFill>
              <a:schemeClr val="accent3"/>
            </a:solidFill>
            <a:headEnd type="none"/>
            <a:tailEnd type="none"/>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8732020" y="5159321"/>
            <a:ext cx="1685077" cy="307777"/>
          </a:xfrm>
          <a:prstGeom prst="rect">
            <a:avLst/>
          </a:prstGeom>
          <a:noFill/>
        </p:spPr>
        <p:txBody>
          <a:bodyPr wrap="none" rtlCol="0">
            <a:spAutoFit/>
          </a:bodyPr>
          <a:lstStyle/>
          <a:p>
            <a:r>
              <a:rPr lang="es-ES_tradnl" sz="1400">
                <a:solidFill>
                  <a:schemeClr val="accent1"/>
                </a:solidFill>
                <a:latin typeface="Century Gothic" panose="020B0502020202020204" pitchFamily="34" charset="0"/>
              </a:rPr>
              <a:t>Cantidad Ventas</a:t>
            </a:r>
          </a:p>
        </p:txBody>
      </p:sp>
      <p:cxnSp>
        <p:nvCxnSpPr>
          <p:cNvPr id="19" name="Straight Arrow Connector 18"/>
          <p:cNvCxnSpPr/>
          <p:nvPr/>
        </p:nvCxnSpPr>
        <p:spPr>
          <a:xfrm>
            <a:off x="8413962" y="4385030"/>
            <a:ext cx="764882" cy="0"/>
          </a:xfrm>
          <a:prstGeom prst="straightConnector1">
            <a:avLst/>
          </a:prstGeom>
          <a:ln w="38100">
            <a:solidFill>
              <a:schemeClr val="accent3"/>
            </a:solidFill>
            <a:headEnd type="none"/>
            <a:tailEnd type="none"/>
          </a:ln>
        </p:spPr>
        <p:style>
          <a:lnRef idx="2">
            <a:schemeClr val="accent1"/>
          </a:lnRef>
          <a:fillRef idx="0">
            <a:schemeClr val="accent1"/>
          </a:fillRef>
          <a:effectRef idx="1">
            <a:schemeClr val="accent1"/>
          </a:effectRef>
          <a:fontRef idx="minor">
            <a:schemeClr val="tx1"/>
          </a:fontRef>
        </p:style>
      </p:cxnSp>
      <p:cxnSp>
        <p:nvCxnSpPr>
          <p:cNvPr id="20" name="Straight Arrow Connector 19"/>
          <p:cNvCxnSpPr/>
          <p:nvPr/>
        </p:nvCxnSpPr>
        <p:spPr>
          <a:xfrm>
            <a:off x="9178844" y="3971930"/>
            <a:ext cx="764882" cy="0"/>
          </a:xfrm>
          <a:prstGeom prst="straightConnector1">
            <a:avLst/>
          </a:prstGeom>
          <a:ln w="38100">
            <a:solidFill>
              <a:schemeClr val="accent3"/>
            </a:solidFill>
            <a:headEnd type="none"/>
            <a:tailEnd type="none"/>
          </a:ln>
        </p:spPr>
        <p:style>
          <a:lnRef idx="2">
            <a:schemeClr val="accent1"/>
          </a:lnRef>
          <a:fillRef idx="0">
            <a:schemeClr val="accent1"/>
          </a:fillRef>
          <a:effectRef idx="1">
            <a:schemeClr val="accent1"/>
          </a:effectRef>
          <a:fontRef idx="minor">
            <a:schemeClr val="tx1"/>
          </a:fontRef>
        </p:style>
      </p:cxnSp>
      <p:sp>
        <p:nvSpPr>
          <p:cNvPr id="3" name="Rectángulo 2">
            <a:extLst>
              <a:ext uri="{FF2B5EF4-FFF2-40B4-BE49-F238E27FC236}">
                <a16:creationId xmlns:a16="http://schemas.microsoft.com/office/drawing/2014/main" id="{452BCF93-B0EC-3A27-4FBC-81E08BB63569}"/>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6" name="Picture 2" descr="Clientes y aliados | Centro de Evaluación | Uniandes">
            <a:extLst>
              <a:ext uri="{FF2B5EF4-FFF2-40B4-BE49-F238E27FC236}">
                <a16:creationId xmlns:a16="http://schemas.microsoft.com/office/drawing/2014/main" id="{D43E84D7-B611-96D5-65D2-64E3ECCC2AC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23" name="TextBox 12">
            <a:extLst>
              <a:ext uri="{FF2B5EF4-FFF2-40B4-BE49-F238E27FC236}">
                <a16:creationId xmlns:a16="http://schemas.microsoft.com/office/drawing/2014/main" id="{842A065C-5733-F921-763E-7EBC2A859C72}"/>
              </a:ext>
            </a:extLst>
          </p:cNvPr>
          <p:cNvSpPr txBox="1"/>
          <p:nvPr/>
        </p:nvSpPr>
        <p:spPr>
          <a:xfrm>
            <a:off x="1204939" y="3011775"/>
            <a:ext cx="1481496" cy="307777"/>
          </a:xfrm>
          <a:prstGeom prst="rect">
            <a:avLst/>
          </a:prstGeom>
          <a:noFill/>
        </p:spPr>
        <p:txBody>
          <a:bodyPr wrap="none" rtlCol="0">
            <a:spAutoFit/>
          </a:bodyPr>
          <a:lstStyle/>
          <a:p>
            <a:r>
              <a:rPr lang="es-ES_tradnl" sz="1400">
                <a:solidFill>
                  <a:schemeClr val="accent1"/>
                </a:solidFill>
                <a:latin typeface="Century Gothic" panose="020B0502020202020204" pitchFamily="34" charset="0"/>
              </a:rPr>
              <a:t>Costo Variable</a:t>
            </a:r>
          </a:p>
        </p:txBody>
      </p:sp>
      <p:sp>
        <p:nvSpPr>
          <p:cNvPr id="25" name="TextBox 12">
            <a:extLst>
              <a:ext uri="{FF2B5EF4-FFF2-40B4-BE49-F238E27FC236}">
                <a16:creationId xmlns:a16="http://schemas.microsoft.com/office/drawing/2014/main" id="{D680CE2C-ACA8-82B4-F866-F380219FACBC}"/>
              </a:ext>
            </a:extLst>
          </p:cNvPr>
          <p:cNvSpPr txBox="1"/>
          <p:nvPr/>
        </p:nvSpPr>
        <p:spPr>
          <a:xfrm>
            <a:off x="4430177" y="2984221"/>
            <a:ext cx="1019831" cy="307777"/>
          </a:xfrm>
          <a:prstGeom prst="rect">
            <a:avLst/>
          </a:prstGeom>
          <a:noFill/>
        </p:spPr>
        <p:txBody>
          <a:bodyPr wrap="none" rtlCol="0">
            <a:spAutoFit/>
          </a:bodyPr>
          <a:lstStyle/>
          <a:p>
            <a:r>
              <a:rPr lang="es-ES_tradnl" sz="1400">
                <a:solidFill>
                  <a:schemeClr val="accent1"/>
                </a:solidFill>
                <a:latin typeface="Century Gothic" panose="020B0502020202020204" pitchFamily="34" charset="0"/>
              </a:rPr>
              <a:t>Costo Fijo</a:t>
            </a:r>
          </a:p>
        </p:txBody>
      </p:sp>
      <p:sp>
        <p:nvSpPr>
          <p:cNvPr id="26" name="TextBox 12">
            <a:extLst>
              <a:ext uri="{FF2B5EF4-FFF2-40B4-BE49-F238E27FC236}">
                <a16:creationId xmlns:a16="http://schemas.microsoft.com/office/drawing/2014/main" id="{D384E3FB-279B-649F-A881-7DAE6C9009AA}"/>
              </a:ext>
            </a:extLst>
          </p:cNvPr>
          <p:cNvSpPr txBox="1"/>
          <p:nvPr/>
        </p:nvSpPr>
        <p:spPr>
          <a:xfrm>
            <a:off x="6993861" y="3006533"/>
            <a:ext cx="2050561" cy="307777"/>
          </a:xfrm>
          <a:prstGeom prst="rect">
            <a:avLst/>
          </a:prstGeom>
          <a:noFill/>
        </p:spPr>
        <p:txBody>
          <a:bodyPr wrap="none" rtlCol="0">
            <a:spAutoFit/>
          </a:bodyPr>
          <a:lstStyle/>
          <a:p>
            <a:r>
              <a:rPr lang="es-ES_tradnl" sz="1400">
                <a:solidFill>
                  <a:schemeClr val="accent1"/>
                </a:solidFill>
                <a:latin typeface="Century Gothic" panose="020B0502020202020204" pitchFamily="34" charset="0"/>
              </a:rPr>
              <a:t>Costo Semi - Variable</a:t>
            </a:r>
          </a:p>
        </p:txBody>
      </p:sp>
      <p:sp>
        <p:nvSpPr>
          <p:cNvPr id="2" name="Rectángulo 1">
            <a:extLst>
              <a:ext uri="{FF2B5EF4-FFF2-40B4-BE49-F238E27FC236}">
                <a16:creationId xmlns:a16="http://schemas.microsoft.com/office/drawing/2014/main" id="{52F6E4F8-3E58-FA4B-9B30-9D4C0FF2ED43}"/>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5" name="Marcador de número de diapositiva 3">
            <a:extLst>
              <a:ext uri="{FF2B5EF4-FFF2-40B4-BE49-F238E27FC236}">
                <a16:creationId xmlns:a16="http://schemas.microsoft.com/office/drawing/2014/main" id="{2B92E1D2-5B58-4262-5B32-D6B1E20BBED9}"/>
              </a:ext>
            </a:extLst>
          </p:cNvPr>
          <p:cNvSpPr>
            <a:spLocks noGrp="1"/>
          </p:cNvSpPr>
          <p:nvPr>
            <p:ph type="sldNum" sz="quarter" idx="12"/>
          </p:nvPr>
        </p:nvSpPr>
        <p:spPr>
          <a:xfrm>
            <a:off x="10558300" y="5956137"/>
            <a:ext cx="1052508" cy="365125"/>
          </a:xfrm>
        </p:spPr>
        <p:txBody>
          <a:bodyPr/>
          <a:lstStyle/>
          <a:p>
            <a:fld id="{D57F1E4F-1CFF-5643-939E-217C01CDF565}" type="slidenum">
              <a:rPr lang="en-US" sz="2000" b="1" smtClean="0">
                <a:latin typeface="Century Gothic" panose="020B0502020202020204" pitchFamily="34" charset="0"/>
              </a:rPr>
              <a:pPr/>
              <a:t>15</a:t>
            </a:fld>
            <a:endParaRPr lang="en-US" sz="2000" b="1">
              <a:latin typeface="Century Gothic" panose="020B0502020202020204" pitchFamily="34" charset="0"/>
            </a:endParaRPr>
          </a:p>
        </p:txBody>
      </p:sp>
    </p:spTree>
    <p:extLst>
      <p:ext uri="{BB962C8B-B14F-4D97-AF65-F5344CB8AC3E}">
        <p14:creationId xmlns:p14="http://schemas.microsoft.com/office/powerpoint/2010/main" val="9433788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3"/>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0"/>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2"/>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4"/>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5"/>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6"/>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17"/>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8"/>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19"/>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20"/>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23"/>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25"/>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4" grpId="0"/>
      <p:bldP spid="18" grpId="0"/>
      <p:bldP spid="23" grpId="0"/>
      <p:bldP spid="25" grpId="0"/>
      <p:bldP spid="26"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latin typeface="Century Gothic" panose="020B0502020202020204" pitchFamily="34" charset="0"/>
              </a:rPr>
              <a:t>Ingresos  y Costos Pertinentes</a:t>
            </a:r>
          </a:p>
        </p:txBody>
      </p:sp>
      <p:sp>
        <p:nvSpPr>
          <p:cNvPr id="3" name="Marcador de contenido 2"/>
          <p:cNvSpPr>
            <a:spLocks noGrp="1"/>
          </p:cNvSpPr>
          <p:nvPr>
            <p:ph idx="1"/>
          </p:nvPr>
        </p:nvSpPr>
        <p:spPr>
          <a:xfrm>
            <a:off x="810247" y="2353322"/>
            <a:ext cx="8939234" cy="3923006"/>
          </a:xfrm>
        </p:spPr>
        <p:txBody>
          <a:bodyPr>
            <a:normAutofit/>
          </a:bodyPr>
          <a:lstStyle/>
          <a:p>
            <a:pPr marL="0" indent="0" algn="ctr">
              <a:buNone/>
            </a:pPr>
            <a:r>
              <a:rPr lang="es-ES" b="1">
                <a:solidFill>
                  <a:srgbClr val="C00000"/>
                </a:solidFill>
                <a:latin typeface="Century Gothic" panose="020B0502020202020204" pitchFamily="34" charset="0"/>
              </a:rPr>
              <a:t>¿Por qué es bueno identificar los distintos tipos de costos?</a:t>
            </a:r>
          </a:p>
          <a:p>
            <a:pPr marL="0" indent="0" algn="ctr">
              <a:buNone/>
            </a:pPr>
            <a:endParaRPr lang="es-ES" b="1">
              <a:solidFill>
                <a:schemeClr val="accent3">
                  <a:lumMod val="75000"/>
                </a:schemeClr>
              </a:solidFill>
              <a:latin typeface="Century Gothic" panose="020B0502020202020204" pitchFamily="34" charset="0"/>
            </a:endParaRPr>
          </a:p>
          <a:p>
            <a:pPr marL="305435" indent="-305435" algn="just">
              <a:buClr>
                <a:schemeClr val="accent3">
                  <a:lumMod val="75000"/>
                </a:schemeClr>
              </a:buClr>
              <a:buFont typeface="Wingdings" pitchFamily="2" charset="2"/>
              <a:buChar char="q"/>
            </a:pPr>
            <a:r>
              <a:rPr lang="es-ES">
                <a:solidFill>
                  <a:schemeClr val="accent1"/>
                </a:solidFill>
                <a:latin typeface="Century Gothic" panose="020B0502020202020204" pitchFamily="34" charset="0"/>
              </a:rPr>
              <a:t>Esto se debe a que, dependiendo del tipo de costo, el comportamiento será distinto y la forma de proyectarlos también.</a:t>
            </a:r>
          </a:p>
          <a:p>
            <a:pPr marL="305435" indent="-305435" algn="just">
              <a:buClr>
                <a:schemeClr val="accent3">
                  <a:lumMod val="75000"/>
                </a:schemeClr>
              </a:buClr>
              <a:buFont typeface="Wingdings" pitchFamily="2" charset="2"/>
              <a:buChar char="q"/>
            </a:pPr>
            <a:r>
              <a:rPr lang="es-ES">
                <a:solidFill>
                  <a:schemeClr val="accent1"/>
                </a:solidFill>
                <a:latin typeface="Century Gothic" panose="020B0502020202020204" pitchFamily="34" charset="0"/>
              </a:rPr>
              <a:t>Por ejemplo, los costos fijos (al no depender del nivel de ventas) cambiarán en función de un índice de precios.</a:t>
            </a:r>
          </a:p>
          <a:p>
            <a:pPr marL="305435" indent="-305435" algn="just">
              <a:buClr>
                <a:schemeClr val="accent3">
                  <a:lumMod val="75000"/>
                </a:schemeClr>
              </a:buClr>
              <a:buFont typeface="Wingdings" pitchFamily="2" charset="2"/>
              <a:buChar char="q"/>
            </a:pPr>
            <a:r>
              <a:rPr lang="es-ES">
                <a:solidFill>
                  <a:schemeClr val="accent1"/>
                </a:solidFill>
                <a:latin typeface="Century Gothic"/>
              </a:rPr>
              <a:t>Por el contrario, los costos variables (al depender del nivel de ventas) cambiarán por un efecto combinado en precio y cantidad.</a:t>
            </a:r>
          </a:p>
          <a:p>
            <a:pPr algn="just"/>
            <a:endParaRPr lang="es-ES">
              <a:latin typeface="Century Gothic" panose="020B0502020202020204" pitchFamily="34" charset="0"/>
            </a:endParaRPr>
          </a:p>
        </p:txBody>
      </p:sp>
      <p:sp>
        <p:nvSpPr>
          <p:cNvPr id="6" name="Rectángulo 5">
            <a:extLst>
              <a:ext uri="{FF2B5EF4-FFF2-40B4-BE49-F238E27FC236}">
                <a16:creationId xmlns:a16="http://schemas.microsoft.com/office/drawing/2014/main" id="{596E8835-2516-BB12-3051-69173F709458}"/>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8" name="Picture 2" descr="Clientes y aliados | Centro de Evaluación | Uniandes">
            <a:extLst>
              <a:ext uri="{FF2B5EF4-FFF2-40B4-BE49-F238E27FC236}">
                <a16:creationId xmlns:a16="http://schemas.microsoft.com/office/drawing/2014/main" id="{ECCB4531-2EB4-2626-1B64-82DB6646F81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pic>
        <p:nvPicPr>
          <p:cNvPr id="11" name="Imagen 10">
            <a:extLst>
              <a:ext uri="{FF2B5EF4-FFF2-40B4-BE49-F238E27FC236}">
                <a16:creationId xmlns:a16="http://schemas.microsoft.com/office/drawing/2014/main" id="{F0FF0BF8-EB9D-514A-6FFC-E9B6FB0A0FF3}"/>
              </a:ext>
            </a:extLst>
          </p:cNvPr>
          <p:cNvPicPr>
            <a:picLocks noChangeAspect="1"/>
          </p:cNvPicPr>
          <p:nvPr/>
        </p:nvPicPr>
        <p:blipFill>
          <a:blip r:embed="rId3"/>
          <a:stretch>
            <a:fillRect/>
          </a:stretch>
        </p:blipFill>
        <p:spPr>
          <a:xfrm>
            <a:off x="9749481" y="3669251"/>
            <a:ext cx="2152126" cy="1515146"/>
          </a:xfrm>
          <a:prstGeom prst="rect">
            <a:avLst/>
          </a:prstGeom>
        </p:spPr>
      </p:pic>
      <p:sp>
        <p:nvSpPr>
          <p:cNvPr id="5" name="Rectángulo 4">
            <a:extLst>
              <a:ext uri="{FF2B5EF4-FFF2-40B4-BE49-F238E27FC236}">
                <a16:creationId xmlns:a16="http://schemas.microsoft.com/office/drawing/2014/main" id="{E378D047-0AD2-8FFC-2768-91690B12A437}"/>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7" name="Marcador de número de diapositiva 3">
            <a:extLst>
              <a:ext uri="{FF2B5EF4-FFF2-40B4-BE49-F238E27FC236}">
                <a16:creationId xmlns:a16="http://schemas.microsoft.com/office/drawing/2014/main" id="{1690AEC7-5A95-C382-2ED7-5BB03CCDEC99}"/>
              </a:ext>
            </a:extLst>
          </p:cNvPr>
          <p:cNvSpPr>
            <a:spLocks noGrp="1"/>
          </p:cNvSpPr>
          <p:nvPr>
            <p:ph type="sldNum" sz="quarter" idx="12"/>
          </p:nvPr>
        </p:nvSpPr>
        <p:spPr>
          <a:xfrm>
            <a:off x="10558300" y="5956137"/>
            <a:ext cx="1052508" cy="365125"/>
          </a:xfrm>
        </p:spPr>
        <p:txBody>
          <a:bodyPr/>
          <a:lstStyle/>
          <a:p>
            <a:fld id="{D57F1E4F-1CFF-5643-939E-217C01CDF565}" type="slidenum">
              <a:rPr lang="en-US" sz="2000" b="1" smtClean="0">
                <a:latin typeface="Century Gothic" panose="020B0502020202020204" pitchFamily="34" charset="0"/>
              </a:rPr>
              <a:pPr/>
              <a:t>16</a:t>
            </a:fld>
            <a:endParaRPr lang="en-US" sz="2000" b="1">
              <a:latin typeface="Century Gothic" panose="020B0502020202020204" pitchFamily="34" charset="0"/>
            </a:endParaRPr>
          </a:p>
        </p:txBody>
      </p:sp>
    </p:spTree>
    <p:extLst>
      <p:ext uri="{BB962C8B-B14F-4D97-AF65-F5344CB8AC3E}">
        <p14:creationId xmlns:p14="http://schemas.microsoft.com/office/powerpoint/2010/main" val="15174933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es-ES">
                <a:latin typeface="Century Gothic" panose="020B0502020202020204" pitchFamily="34" charset="0"/>
              </a:rPr>
              <a:t>Ingresos  y Costos Pertinentes</a:t>
            </a:r>
          </a:p>
        </p:txBody>
      </p:sp>
      <p:sp>
        <p:nvSpPr>
          <p:cNvPr id="3" name="Marcador de contenido 2"/>
          <p:cNvSpPr>
            <a:spLocks noGrp="1"/>
          </p:cNvSpPr>
          <p:nvPr>
            <p:ph idx="1"/>
          </p:nvPr>
        </p:nvSpPr>
        <p:spPr>
          <a:xfrm>
            <a:off x="581191" y="2230811"/>
            <a:ext cx="11156181" cy="3907888"/>
          </a:xfrm>
        </p:spPr>
        <p:txBody>
          <a:bodyPr>
            <a:normAutofit/>
          </a:bodyPr>
          <a:lstStyle/>
          <a:p>
            <a:pPr algn="just">
              <a:buClr>
                <a:schemeClr val="accent3">
                  <a:lumMod val="75000"/>
                </a:schemeClr>
              </a:buClr>
              <a:buFont typeface="Wingdings" pitchFamily="2" charset="2"/>
              <a:buChar char="q"/>
            </a:pPr>
            <a:r>
              <a:rPr lang="es-ES" dirty="0">
                <a:latin typeface="Century Gothic" panose="020B0502020202020204" pitchFamily="34" charset="0"/>
              </a:rPr>
              <a:t>Existen algunas reglas conceptuales básicas de ingresos y costos pertinentes en la construcción del FCL.</a:t>
            </a:r>
          </a:p>
          <a:p>
            <a:pPr marL="0" indent="0" algn="just">
              <a:buClr>
                <a:schemeClr val="accent3">
                  <a:lumMod val="75000"/>
                </a:schemeClr>
              </a:buClr>
              <a:buNone/>
            </a:pPr>
            <a:endParaRPr lang="es-ES" dirty="0">
              <a:latin typeface="Century Gothic" panose="020B0502020202020204" pitchFamily="34" charset="0"/>
            </a:endParaRPr>
          </a:p>
          <a:p>
            <a:pPr algn="just">
              <a:buClr>
                <a:schemeClr val="accent3">
                  <a:lumMod val="75000"/>
                </a:schemeClr>
              </a:buClr>
              <a:buFont typeface="Wingdings" pitchFamily="2" charset="2"/>
              <a:buChar char="q"/>
            </a:pPr>
            <a:r>
              <a:rPr lang="es-ES" dirty="0">
                <a:latin typeface="Century Gothic" panose="020B0502020202020204" pitchFamily="34" charset="0"/>
              </a:rPr>
              <a:t>Luego de mostrar la estructura del flujo de caja libre, es de vital importancia dejar en claro algunos elementos acerca de los </a:t>
            </a:r>
            <a:r>
              <a:rPr lang="es-ES" b="1" dirty="0">
                <a:solidFill>
                  <a:schemeClr val="accent3">
                    <a:lumMod val="75000"/>
                  </a:schemeClr>
                </a:solidFill>
                <a:latin typeface="Century Gothic" panose="020B0502020202020204" pitchFamily="34" charset="0"/>
              </a:rPr>
              <a:t>ingresos y costos que deben y no deben incluirse en los flujos de caja</a:t>
            </a:r>
            <a:r>
              <a:rPr lang="es-ES" dirty="0">
                <a:latin typeface="Century Gothic" panose="020B0502020202020204" pitchFamily="34" charset="0"/>
              </a:rPr>
              <a:t>:</a:t>
            </a:r>
          </a:p>
          <a:p>
            <a:pPr lvl="1">
              <a:buClr>
                <a:schemeClr val="accent3">
                  <a:lumMod val="75000"/>
                </a:schemeClr>
              </a:buClr>
              <a:buFont typeface="Courier New" panose="02070309020205020404" pitchFamily="49" charset="0"/>
              <a:buChar char="o"/>
            </a:pPr>
            <a:r>
              <a:rPr lang="es-ES" sz="1800" b="1" dirty="0">
                <a:solidFill>
                  <a:srgbClr val="C00000"/>
                </a:solidFill>
                <a:latin typeface="Century Gothic" panose="020B0502020202020204" pitchFamily="34" charset="0"/>
              </a:rPr>
              <a:t>Regla #1: </a:t>
            </a:r>
            <a:r>
              <a:rPr lang="es-ES" sz="1800" dirty="0">
                <a:latin typeface="Century Gothic" panose="020B0502020202020204" pitchFamily="34" charset="0"/>
              </a:rPr>
              <a:t>Principio de marginalidad.</a:t>
            </a:r>
          </a:p>
          <a:p>
            <a:pPr lvl="1">
              <a:buClr>
                <a:schemeClr val="accent3">
                  <a:lumMod val="75000"/>
                </a:schemeClr>
              </a:buClr>
              <a:buFont typeface="Courier New" panose="02070309020205020404" pitchFamily="49" charset="0"/>
              <a:buChar char="o"/>
            </a:pPr>
            <a:r>
              <a:rPr lang="es-ES" sz="1800" b="1" dirty="0">
                <a:solidFill>
                  <a:srgbClr val="C00000"/>
                </a:solidFill>
                <a:latin typeface="Century Gothic" panose="020B0502020202020204" pitchFamily="34" charset="0"/>
              </a:rPr>
              <a:t>Regla #2: </a:t>
            </a:r>
            <a:r>
              <a:rPr lang="es-ES" sz="1800" dirty="0">
                <a:latin typeface="Century Gothic" panose="020B0502020202020204" pitchFamily="34" charset="0"/>
              </a:rPr>
              <a:t>Precios de mercado.</a:t>
            </a:r>
          </a:p>
          <a:p>
            <a:pPr lvl="1">
              <a:buClr>
                <a:schemeClr val="accent3">
                  <a:lumMod val="75000"/>
                </a:schemeClr>
              </a:buClr>
              <a:buFont typeface="Courier New" panose="02070309020205020404" pitchFamily="49" charset="0"/>
              <a:buChar char="o"/>
            </a:pPr>
            <a:r>
              <a:rPr lang="es-ES" sz="1800" b="1" dirty="0">
                <a:solidFill>
                  <a:srgbClr val="C00000"/>
                </a:solidFill>
                <a:latin typeface="Century Gothic" panose="020B0502020202020204" pitchFamily="34" charset="0"/>
              </a:rPr>
              <a:t>Regla #3: </a:t>
            </a:r>
            <a:r>
              <a:rPr lang="es-ES" sz="1800" dirty="0">
                <a:latin typeface="Century Gothic" panose="020B0502020202020204" pitchFamily="34" charset="0"/>
              </a:rPr>
              <a:t>Flujos de caja marginales, no costos muertos.</a:t>
            </a:r>
          </a:p>
          <a:p>
            <a:pPr lvl="1">
              <a:buClr>
                <a:schemeClr val="accent3">
                  <a:lumMod val="75000"/>
                </a:schemeClr>
              </a:buClr>
              <a:buFont typeface="Courier New" panose="02070309020205020404" pitchFamily="49" charset="0"/>
              <a:buChar char="o"/>
            </a:pPr>
            <a:r>
              <a:rPr lang="es-ES" sz="1800" b="1" dirty="0">
                <a:solidFill>
                  <a:srgbClr val="C00000"/>
                </a:solidFill>
                <a:latin typeface="Century Gothic" panose="020B0502020202020204" pitchFamily="34" charset="0"/>
              </a:rPr>
              <a:t>Regla #4: </a:t>
            </a:r>
            <a:r>
              <a:rPr lang="es-ES" sz="1800" dirty="0">
                <a:latin typeface="Century Gothic" panose="020B0502020202020204" pitchFamily="34" charset="0"/>
              </a:rPr>
              <a:t>Ingresos y egresos operacionales.</a:t>
            </a:r>
          </a:p>
          <a:p>
            <a:pPr algn="just"/>
            <a:endParaRPr lang="es-ES" dirty="0">
              <a:latin typeface="Century Gothic" panose="020B0502020202020204" pitchFamily="34" charset="0"/>
            </a:endParaRPr>
          </a:p>
        </p:txBody>
      </p:sp>
      <p:sp>
        <p:nvSpPr>
          <p:cNvPr id="6" name="Rectángulo 5">
            <a:extLst>
              <a:ext uri="{FF2B5EF4-FFF2-40B4-BE49-F238E27FC236}">
                <a16:creationId xmlns:a16="http://schemas.microsoft.com/office/drawing/2014/main" id="{5D89EA43-BD3B-44A2-92CD-372F5B912B60}"/>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8" name="Picture 2" descr="Clientes y aliados | Centro de Evaluación | Uniandes">
            <a:extLst>
              <a:ext uri="{FF2B5EF4-FFF2-40B4-BE49-F238E27FC236}">
                <a16:creationId xmlns:a16="http://schemas.microsoft.com/office/drawing/2014/main" id="{68C9F0CF-2CCC-1EBE-A433-007CCCBC8F9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pic>
        <p:nvPicPr>
          <p:cNvPr id="11" name="Imagen 10">
            <a:extLst>
              <a:ext uri="{FF2B5EF4-FFF2-40B4-BE49-F238E27FC236}">
                <a16:creationId xmlns:a16="http://schemas.microsoft.com/office/drawing/2014/main" id="{D700780E-ED39-F619-6EFD-EAB16C35B928}"/>
              </a:ext>
            </a:extLst>
          </p:cNvPr>
          <p:cNvPicPr>
            <a:picLocks noChangeAspect="1"/>
          </p:cNvPicPr>
          <p:nvPr/>
        </p:nvPicPr>
        <p:blipFill>
          <a:blip r:embed="rId3"/>
          <a:stretch>
            <a:fillRect/>
          </a:stretch>
        </p:blipFill>
        <p:spPr>
          <a:xfrm>
            <a:off x="8009121" y="4271719"/>
            <a:ext cx="2781532" cy="1958262"/>
          </a:xfrm>
          <a:prstGeom prst="rect">
            <a:avLst/>
          </a:prstGeom>
        </p:spPr>
      </p:pic>
      <p:sp>
        <p:nvSpPr>
          <p:cNvPr id="5" name="Rectángulo 4">
            <a:extLst>
              <a:ext uri="{FF2B5EF4-FFF2-40B4-BE49-F238E27FC236}">
                <a16:creationId xmlns:a16="http://schemas.microsoft.com/office/drawing/2014/main" id="{40F41FAF-3EBE-050B-09F0-B8B07089E56E}"/>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7" name="Marcador de número de diapositiva 3">
            <a:extLst>
              <a:ext uri="{FF2B5EF4-FFF2-40B4-BE49-F238E27FC236}">
                <a16:creationId xmlns:a16="http://schemas.microsoft.com/office/drawing/2014/main" id="{AB03B0E5-0F2C-2BFE-0E5C-2DFF2A2A71BD}"/>
              </a:ext>
            </a:extLst>
          </p:cNvPr>
          <p:cNvSpPr>
            <a:spLocks noGrp="1"/>
          </p:cNvSpPr>
          <p:nvPr>
            <p:ph type="sldNum" sz="quarter" idx="12"/>
          </p:nvPr>
        </p:nvSpPr>
        <p:spPr>
          <a:xfrm>
            <a:off x="10558300" y="5956137"/>
            <a:ext cx="1052508" cy="365125"/>
          </a:xfrm>
        </p:spPr>
        <p:txBody>
          <a:bodyPr/>
          <a:lstStyle/>
          <a:p>
            <a:fld id="{D57F1E4F-1CFF-5643-939E-217C01CDF565}" type="slidenum">
              <a:rPr lang="en-US" sz="2000" b="1" smtClean="0">
                <a:latin typeface="Century Gothic" panose="020B0502020202020204" pitchFamily="34" charset="0"/>
              </a:rPr>
              <a:pPr/>
              <a:t>17</a:t>
            </a:fld>
            <a:endParaRPr lang="en-US" sz="2000" b="1">
              <a:latin typeface="Century Gothic" panose="020B0502020202020204" pitchFamily="34" charset="0"/>
            </a:endParaRPr>
          </a:p>
        </p:txBody>
      </p:sp>
    </p:spTree>
    <p:extLst>
      <p:ext uri="{BB962C8B-B14F-4D97-AF65-F5344CB8AC3E}">
        <p14:creationId xmlns:p14="http://schemas.microsoft.com/office/powerpoint/2010/main" val="29868480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2" presetClass="entr" presetSubtype="4"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anim calcmode="lin" valueType="num">
                                      <p:cBhvr additive="base">
                                        <p:cTn id="15"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nodeType="click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anim calcmode="lin" valueType="num">
                                      <p:cBhvr additive="base">
                                        <p:cTn id="21"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anim calcmode="lin" valueType="num">
                                      <p:cBhvr additive="base">
                                        <p:cTn id="27"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es-CO" sz="3200">
                <a:latin typeface="Century Gothic" panose="020B0502020202020204" pitchFamily="34" charset="0"/>
              </a:rPr>
              <a:t>AGENDA PROPUESTA</a:t>
            </a:r>
          </a:p>
        </p:txBody>
      </p:sp>
      <p:pic>
        <p:nvPicPr>
          <p:cNvPr id="6" name="Picture 6" descr="Resultado de imagen para RELOJ VECTOR">
            <a:extLst>
              <a:ext uri="{FF2B5EF4-FFF2-40B4-BE49-F238E27FC236}">
                <a16:creationId xmlns:a16="http://schemas.microsoft.com/office/drawing/2014/main" id="{0F651596-1125-43ED-8471-A57EDDF3518A}"/>
              </a:ext>
            </a:extLst>
          </p:cNvPr>
          <p:cNvPicPr>
            <a:picLocks noChangeAspect="1" noChangeArrowheads="1"/>
          </p:cNvPicPr>
          <p:nvPr/>
        </p:nvPicPr>
        <p:blipFill rotWithShape="1">
          <a:blip r:embed="rId2" cstate="print">
            <a:clrChange>
              <a:clrFrom>
                <a:srgbClr val="F6F6F6"/>
              </a:clrFrom>
              <a:clrTo>
                <a:srgbClr val="F6F6F6">
                  <a:alpha val="0"/>
                </a:srgbClr>
              </a:clrTo>
            </a:clrChange>
            <a:duotone>
              <a:schemeClr val="accent3">
                <a:shade val="45000"/>
                <a:satMod val="135000"/>
              </a:schemeClr>
              <a:prstClr val="white"/>
            </a:duotone>
            <a:extLst>
              <a:ext uri="{28A0092B-C50C-407E-A947-70E740481C1C}">
                <a14:useLocalDpi xmlns:a14="http://schemas.microsoft.com/office/drawing/2010/main" val="0"/>
              </a:ext>
            </a:extLst>
          </a:blip>
          <a:srcRect l="24517" t="6285" r="24815" b="6503"/>
          <a:stretch/>
        </p:blipFill>
        <p:spPr bwMode="auto">
          <a:xfrm>
            <a:off x="1256045" y="2772729"/>
            <a:ext cx="1236705" cy="1246074"/>
          </a:xfrm>
          <a:prstGeom prst="rect">
            <a:avLst/>
          </a:prstGeom>
          <a:noFill/>
          <a:extLst>
            <a:ext uri="{909E8E84-426E-40DD-AFC4-6F175D3DCCD1}">
              <a14:hiddenFill xmlns:a14="http://schemas.microsoft.com/office/drawing/2010/main">
                <a:solidFill>
                  <a:srgbClr val="FFFFFF"/>
                </a:solidFill>
              </a14:hiddenFill>
            </a:ext>
          </a:extLst>
        </p:spPr>
      </p:pic>
      <p:sp>
        <p:nvSpPr>
          <p:cNvPr id="23" name="Rectángulo 22">
            <a:extLst>
              <a:ext uri="{FF2B5EF4-FFF2-40B4-BE49-F238E27FC236}">
                <a16:creationId xmlns:a16="http://schemas.microsoft.com/office/drawing/2014/main" id="{8F837980-0A38-47A1-8A30-C7AFF3A98D5A}"/>
              </a:ext>
            </a:extLst>
          </p:cNvPr>
          <p:cNvSpPr/>
          <p:nvPr/>
        </p:nvSpPr>
        <p:spPr>
          <a:xfrm>
            <a:off x="2806200" y="2772729"/>
            <a:ext cx="8540907" cy="3539430"/>
          </a:xfrm>
          <a:prstGeom prst="rect">
            <a:avLst/>
          </a:prstGeom>
        </p:spPr>
        <p:txBody>
          <a:bodyPr wrap="square" lIns="91440" tIns="45720" rIns="91440" bIns="45720" anchor="t">
            <a:spAutoFit/>
          </a:bodyPr>
          <a:lstStyle/>
          <a:p>
            <a:pPr marL="342900" indent="-342900">
              <a:buClr>
                <a:schemeClr val="accent3">
                  <a:lumMod val="75000"/>
                </a:schemeClr>
              </a:buClr>
              <a:buFont typeface="Gill Sans MT" panose="020B0502020104020203"/>
              <a:buAutoNum type="arabicPeriod"/>
            </a:pPr>
            <a:r>
              <a:rPr lang="es-CO" sz="1600">
                <a:solidFill>
                  <a:schemeClr val="bg2">
                    <a:lumMod val="90000"/>
                  </a:schemeClr>
                </a:solidFill>
                <a:latin typeface="Century Gothic"/>
                <a:cs typeface="Arial"/>
              </a:rPr>
              <a:t>Ingresos y Costos Pertinentes.</a:t>
            </a:r>
            <a:endParaRPr lang="es-ES" sz="1600">
              <a:solidFill>
                <a:schemeClr val="bg2">
                  <a:lumMod val="90000"/>
                </a:schemeClr>
              </a:solidFill>
              <a:latin typeface="Century Gothic"/>
              <a:cs typeface="Arial"/>
            </a:endParaRPr>
          </a:p>
          <a:p>
            <a:pPr marL="342900" indent="-342900">
              <a:buClr>
                <a:srgbClr val="2C7C9F"/>
              </a:buClr>
              <a:buFontTx/>
              <a:buAutoNum type="arabicPeriod"/>
            </a:pPr>
            <a:endParaRPr lang="es-CO" sz="1600">
              <a:solidFill>
                <a:schemeClr val="accent1"/>
              </a:solidFill>
              <a:latin typeface="Century Gothic"/>
              <a:cs typeface="Arial"/>
            </a:endParaRPr>
          </a:p>
          <a:p>
            <a:pPr marL="342900" indent="-342900">
              <a:buClr>
                <a:srgbClr val="48BE7A"/>
              </a:buClr>
              <a:buFontTx/>
              <a:buAutoNum type="arabicPeriod"/>
            </a:pPr>
            <a:r>
              <a:rPr lang="es-CO" sz="1600">
                <a:solidFill>
                  <a:schemeClr val="accent1"/>
                </a:solidFill>
                <a:latin typeface="Century Gothic"/>
                <a:cs typeface="Arial"/>
              </a:rPr>
              <a:t>Principio de Marginalidad.</a:t>
            </a:r>
            <a:endParaRPr lang="es-CO" sz="1600">
              <a:solidFill>
                <a:schemeClr val="accent1"/>
              </a:solidFill>
              <a:latin typeface="Century Gothic"/>
            </a:endParaRPr>
          </a:p>
          <a:p>
            <a:pPr marL="342900" indent="-342900">
              <a:buClr>
                <a:srgbClr val="48BE7A"/>
              </a:buClr>
              <a:buFontTx/>
              <a:buAutoNum type="arabicPeriod"/>
            </a:pPr>
            <a:endParaRPr lang="es-CO" sz="1600">
              <a:solidFill>
                <a:schemeClr val="accent1"/>
              </a:solidFill>
              <a:latin typeface="Century Gothic"/>
            </a:endParaRPr>
          </a:p>
          <a:p>
            <a:pPr marL="342900" indent="-342900">
              <a:buClr>
                <a:srgbClr val="48BE7A"/>
              </a:buClr>
              <a:buFontTx/>
              <a:buAutoNum type="arabicPeriod"/>
            </a:pPr>
            <a:r>
              <a:rPr lang="es-CO" sz="1600">
                <a:solidFill>
                  <a:schemeClr val="bg2">
                    <a:lumMod val="90000"/>
                  </a:schemeClr>
                </a:solidFill>
                <a:latin typeface="Century Gothic"/>
                <a:cs typeface="Arial"/>
              </a:rPr>
              <a:t>Precios de Mercado.</a:t>
            </a:r>
            <a:endParaRPr lang="es-CO" sz="1600">
              <a:solidFill>
                <a:schemeClr val="bg2">
                  <a:lumMod val="90000"/>
                </a:schemeClr>
              </a:solidFill>
              <a:latin typeface="Century Gothic"/>
            </a:endParaRPr>
          </a:p>
          <a:p>
            <a:pPr marL="342900" indent="-342900">
              <a:buClr>
                <a:srgbClr val="48BE7A"/>
              </a:buClr>
              <a:buFontTx/>
              <a:buAutoNum type="arabicPeriod"/>
            </a:pPr>
            <a:endParaRPr lang="es-CO" sz="1600">
              <a:solidFill>
                <a:schemeClr val="bg2">
                  <a:lumMod val="90000"/>
                </a:schemeClr>
              </a:solidFill>
              <a:latin typeface="Century Gothic"/>
              <a:cs typeface="Arial"/>
            </a:endParaRPr>
          </a:p>
          <a:p>
            <a:pPr marL="342900" indent="-342900">
              <a:buClr>
                <a:srgbClr val="48BE7A"/>
              </a:buClr>
              <a:buFontTx/>
              <a:buAutoNum type="arabicPeriod"/>
            </a:pPr>
            <a:r>
              <a:rPr lang="es-CO" sz="1600">
                <a:solidFill>
                  <a:schemeClr val="bg2">
                    <a:lumMod val="90000"/>
                  </a:schemeClr>
                </a:solidFill>
                <a:latin typeface="Century Gothic"/>
                <a:cs typeface="Arial"/>
              </a:rPr>
              <a:t>Costos Muertos.</a:t>
            </a:r>
            <a:endParaRPr lang="es-CO" sz="1600">
              <a:solidFill>
                <a:schemeClr val="bg2">
                  <a:lumMod val="90000"/>
                </a:schemeClr>
              </a:solidFill>
              <a:latin typeface="Century Gothic" panose="020B0502020202020204" pitchFamily="34" charset="0"/>
              <a:cs typeface="Arial"/>
            </a:endParaRPr>
          </a:p>
          <a:p>
            <a:pPr marL="342900" indent="-342900">
              <a:buClr>
                <a:srgbClr val="48BE7A"/>
              </a:buClr>
              <a:buAutoNum type="arabicPeriod"/>
            </a:pPr>
            <a:endParaRPr lang="es-CO" sz="1600">
              <a:solidFill>
                <a:schemeClr val="bg2">
                  <a:lumMod val="90000"/>
                </a:schemeClr>
              </a:solidFill>
              <a:latin typeface="Century Gothic" panose="020B0502020202020204" pitchFamily="34" charset="0"/>
              <a:cs typeface="Arial"/>
            </a:endParaRPr>
          </a:p>
          <a:p>
            <a:pPr marL="342900" indent="-342900">
              <a:buClr>
                <a:srgbClr val="48BE7A"/>
              </a:buClr>
              <a:buAutoNum type="arabicPeriod"/>
            </a:pPr>
            <a:r>
              <a:rPr lang="es-CO" sz="1600">
                <a:solidFill>
                  <a:schemeClr val="bg2">
                    <a:lumMod val="90000"/>
                  </a:schemeClr>
                </a:solidFill>
                <a:latin typeface="Century Gothic"/>
                <a:cs typeface="Arial"/>
              </a:rPr>
              <a:t>Ingresos y Egresos Operacionales.</a:t>
            </a:r>
          </a:p>
          <a:p>
            <a:pPr marL="342900" indent="-342900">
              <a:buClr>
                <a:srgbClr val="48BE7A"/>
              </a:buClr>
              <a:buAutoNum type="arabicPeriod"/>
            </a:pPr>
            <a:endParaRPr lang="es-CO" sz="1600">
              <a:solidFill>
                <a:schemeClr val="bg2">
                  <a:lumMod val="90000"/>
                </a:schemeClr>
              </a:solidFill>
              <a:latin typeface="Century Gothic"/>
              <a:cs typeface="Arial"/>
            </a:endParaRPr>
          </a:p>
          <a:p>
            <a:pPr marL="342900" indent="-342900">
              <a:buClr>
                <a:srgbClr val="48BE7A"/>
              </a:buClr>
              <a:buAutoNum type="arabicPeriod"/>
            </a:pPr>
            <a:r>
              <a:rPr lang="es-CO" sz="1600">
                <a:solidFill>
                  <a:schemeClr val="bg2">
                    <a:lumMod val="90000"/>
                  </a:schemeClr>
                </a:solidFill>
                <a:latin typeface="Century Gothic"/>
                <a:cs typeface="Arial"/>
              </a:rPr>
              <a:t>Ejercicio FCL.</a:t>
            </a:r>
          </a:p>
          <a:p>
            <a:pPr marL="342900" indent="-342900">
              <a:buClr>
                <a:srgbClr val="48BE7A"/>
              </a:buClr>
              <a:buAutoNum type="arabicPeriod"/>
            </a:pPr>
            <a:endParaRPr lang="es-CO" sz="1600">
              <a:solidFill>
                <a:srgbClr val="366658"/>
              </a:solidFill>
              <a:latin typeface="Century Gothic" panose="020B0502020202020204" pitchFamily="34" charset="0"/>
              <a:cs typeface="Arial"/>
            </a:endParaRPr>
          </a:p>
          <a:p>
            <a:pPr marL="342900" indent="-342900">
              <a:buClr>
                <a:srgbClr val="48BE7A"/>
              </a:buClr>
              <a:buAutoNum type="arabicPeriod"/>
            </a:pPr>
            <a:endParaRPr lang="es-CO" sz="1600">
              <a:solidFill>
                <a:srgbClr val="366658"/>
              </a:solidFill>
              <a:latin typeface="Century Gothic" panose="020B0502020202020204" pitchFamily="34" charset="0"/>
              <a:cs typeface="Arial"/>
            </a:endParaRPr>
          </a:p>
          <a:p>
            <a:pPr>
              <a:buClr>
                <a:srgbClr val="88D5A9">
                  <a:lumMod val="75000"/>
                </a:srgbClr>
              </a:buClr>
            </a:pPr>
            <a:endParaRPr lang="es-CO" sz="1600">
              <a:solidFill>
                <a:schemeClr val="accent1"/>
              </a:solidFill>
              <a:latin typeface="Century Gothic" panose="020B0502020202020204" pitchFamily="34" charset="0"/>
              <a:cs typeface="Arial"/>
            </a:endParaRPr>
          </a:p>
        </p:txBody>
      </p:sp>
      <p:sp>
        <p:nvSpPr>
          <p:cNvPr id="3" name="Rectángulo 2">
            <a:extLst>
              <a:ext uri="{FF2B5EF4-FFF2-40B4-BE49-F238E27FC236}">
                <a16:creationId xmlns:a16="http://schemas.microsoft.com/office/drawing/2014/main" id="{8E86F046-042E-5492-3FBC-4E0C89F4D940}"/>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8" name="Picture 2" descr="Clientes y aliados | Centro de Evaluación | Uniandes">
            <a:extLst>
              <a:ext uri="{FF2B5EF4-FFF2-40B4-BE49-F238E27FC236}">
                <a16:creationId xmlns:a16="http://schemas.microsoft.com/office/drawing/2014/main" id="{5A2F8A99-E4A5-BAC5-C9B9-FA7BF325465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7" name="Rectángulo 6">
            <a:extLst>
              <a:ext uri="{FF2B5EF4-FFF2-40B4-BE49-F238E27FC236}">
                <a16:creationId xmlns:a16="http://schemas.microsoft.com/office/drawing/2014/main" id="{5A6254BF-90C6-2598-AE3B-DD0CF9FE3CD8}"/>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5" name="Marcador de número de diapositiva 3">
            <a:extLst>
              <a:ext uri="{FF2B5EF4-FFF2-40B4-BE49-F238E27FC236}">
                <a16:creationId xmlns:a16="http://schemas.microsoft.com/office/drawing/2014/main" id="{006F22D2-55A6-281E-1156-E7314C437CAB}"/>
              </a:ext>
            </a:extLst>
          </p:cNvPr>
          <p:cNvSpPr>
            <a:spLocks noGrp="1"/>
          </p:cNvSpPr>
          <p:nvPr>
            <p:ph type="sldNum" sz="quarter" idx="12"/>
          </p:nvPr>
        </p:nvSpPr>
        <p:spPr>
          <a:xfrm>
            <a:off x="10558300" y="5956137"/>
            <a:ext cx="1052508" cy="365125"/>
          </a:xfrm>
        </p:spPr>
        <p:txBody>
          <a:bodyPr/>
          <a:lstStyle/>
          <a:p>
            <a:fld id="{D57F1E4F-1CFF-5643-939E-217C01CDF565}" type="slidenum">
              <a:rPr lang="en-US" sz="2000" b="1" smtClean="0">
                <a:latin typeface="Century Gothic" panose="020B0502020202020204" pitchFamily="34" charset="0"/>
              </a:rPr>
              <a:pPr/>
              <a:t>18</a:t>
            </a:fld>
            <a:endParaRPr lang="en-US" sz="2000" b="1">
              <a:latin typeface="Century Gothic" panose="020B0502020202020204" pitchFamily="34" charset="0"/>
            </a:endParaRPr>
          </a:p>
        </p:txBody>
      </p:sp>
    </p:spTree>
    <p:extLst>
      <p:ext uri="{BB962C8B-B14F-4D97-AF65-F5344CB8AC3E}">
        <p14:creationId xmlns:p14="http://schemas.microsoft.com/office/powerpoint/2010/main" val="20161888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42" presetClass="entr" presetSubtype="0" fill="hold" grpId="0" nodeType="withEffect">
                                  <p:stCondLst>
                                    <p:cond delay="0"/>
                                  </p:stCondLst>
                                  <p:childTnLst>
                                    <p:set>
                                      <p:cBhvr>
                                        <p:cTn id="8" dur="1" fill="hold">
                                          <p:stCondLst>
                                            <p:cond delay="0"/>
                                          </p:stCondLst>
                                        </p:cTn>
                                        <p:tgtEl>
                                          <p:spTgt spid="23"/>
                                        </p:tgtEl>
                                        <p:attrNameLst>
                                          <p:attrName>style.visibility</p:attrName>
                                        </p:attrNameLst>
                                      </p:cBhvr>
                                      <p:to>
                                        <p:strVal val="visible"/>
                                      </p:to>
                                    </p:set>
                                    <p:animEffect transition="in" filter="fade">
                                      <p:cBhvr>
                                        <p:cTn id="9" dur="1000"/>
                                        <p:tgtEl>
                                          <p:spTgt spid="23"/>
                                        </p:tgtEl>
                                      </p:cBhvr>
                                    </p:animEffect>
                                    <p:anim calcmode="lin" valueType="num">
                                      <p:cBhvr>
                                        <p:cTn id="10" dur="1000" fill="hold"/>
                                        <p:tgtEl>
                                          <p:spTgt spid="23"/>
                                        </p:tgtEl>
                                        <p:attrNameLst>
                                          <p:attrName>ppt_x</p:attrName>
                                        </p:attrNameLst>
                                      </p:cBhvr>
                                      <p:tavLst>
                                        <p:tav tm="0">
                                          <p:val>
                                            <p:strVal val="#ppt_x"/>
                                          </p:val>
                                        </p:tav>
                                        <p:tav tm="100000">
                                          <p:val>
                                            <p:strVal val="#ppt_x"/>
                                          </p:val>
                                        </p:tav>
                                      </p:tavLst>
                                    </p:anim>
                                    <p:anim calcmode="lin" valueType="num">
                                      <p:cBhvr>
                                        <p:cTn id="11" dur="1000" fill="hold"/>
                                        <p:tgtEl>
                                          <p:spTgt spid="2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es-ES">
                <a:latin typeface="Century Gothic" panose="020B0502020202020204" pitchFamily="34" charset="0"/>
              </a:rPr>
              <a:t>Regla #1: Principio de Marginalidad</a:t>
            </a:r>
          </a:p>
        </p:txBody>
      </p:sp>
      <p:sp>
        <p:nvSpPr>
          <p:cNvPr id="3" name="Marcador de contenido 2"/>
          <p:cNvSpPr>
            <a:spLocks noGrp="1"/>
          </p:cNvSpPr>
          <p:nvPr>
            <p:ph idx="1"/>
          </p:nvPr>
        </p:nvSpPr>
        <p:spPr>
          <a:xfrm>
            <a:off x="1171201" y="2535452"/>
            <a:ext cx="7374283" cy="3120173"/>
          </a:xfrm>
        </p:spPr>
        <p:txBody>
          <a:bodyPr>
            <a:normAutofit/>
          </a:bodyPr>
          <a:lstStyle/>
          <a:p>
            <a:pPr marL="0" indent="0" algn="ctr">
              <a:buNone/>
            </a:pPr>
            <a:r>
              <a:rPr lang="es-ES">
                <a:latin typeface="Century Gothic" panose="020B0502020202020204" pitchFamily="34" charset="0"/>
              </a:rPr>
              <a:t>El principio de marginalidad vinculante nos permite recordar que debemos focalizarnos en los </a:t>
            </a:r>
            <a:r>
              <a:rPr lang="es-ES" b="1">
                <a:solidFill>
                  <a:srgbClr val="D7A700"/>
                </a:solidFill>
                <a:latin typeface="Century Gothic" panose="020B0502020202020204" pitchFamily="34" charset="0"/>
              </a:rPr>
              <a:t>flujos de caja diferenciales (Ingresos y egresos), que se generan como consecuencia de la implementación de un proyecto</a:t>
            </a:r>
            <a:r>
              <a:rPr lang="es-ES" b="1">
                <a:solidFill>
                  <a:schemeClr val="tx1">
                    <a:lumMod val="75000"/>
                    <a:lumOff val="25000"/>
                  </a:schemeClr>
                </a:solidFill>
                <a:latin typeface="Century Gothic" panose="020B0502020202020204" pitchFamily="34" charset="0"/>
              </a:rPr>
              <a:t>. </a:t>
            </a:r>
            <a:r>
              <a:rPr lang="es-ES" b="1">
                <a:solidFill>
                  <a:srgbClr val="C00000"/>
                </a:solidFill>
                <a:latin typeface="Century Gothic" panose="020B0502020202020204" pitchFamily="34" charset="0"/>
              </a:rPr>
              <a:t>ÚNICAMENTE</a:t>
            </a:r>
            <a:r>
              <a:rPr lang="es-ES">
                <a:latin typeface="Century Gothic" panose="020B0502020202020204" pitchFamily="34" charset="0"/>
              </a:rPr>
              <a:t> estos flujos marginales deben considerarse en la elaboración de los flujos de caja pertinentes para la evaluación de un proyecto.</a:t>
            </a:r>
          </a:p>
        </p:txBody>
      </p:sp>
      <p:sp>
        <p:nvSpPr>
          <p:cNvPr id="6" name="Rectángulo 5">
            <a:extLst>
              <a:ext uri="{FF2B5EF4-FFF2-40B4-BE49-F238E27FC236}">
                <a16:creationId xmlns:a16="http://schemas.microsoft.com/office/drawing/2014/main" id="{3CBBD720-AE6D-735D-6CE6-01C6D327F2EB}"/>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8" name="Picture 2" descr="Clientes y aliados | Centro de Evaluación | Uniandes">
            <a:extLst>
              <a:ext uri="{FF2B5EF4-FFF2-40B4-BE49-F238E27FC236}">
                <a16:creationId xmlns:a16="http://schemas.microsoft.com/office/drawing/2014/main" id="{BC46EB14-AB17-E8AF-E88B-9EC4E83050E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pic>
        <p:nvPicPr>
          <p:cNvPr id="11" name="Imagen 10">
            <a:extLst>
              <a:ext uri="{FF2B5EF4-FFF2-40B4-BE49-F238E27FC236}">
                <a16:creationId xmlns:a16="http://schemas.microsoft.com/office/drawing/2014/main" id="{B0D10AA8-F8E7-D0D0-A4D5-7828D20DFEAB}"/>
              </a:ext>
            </a:extLst>
          </p:cNvPr>
          <p:cNvPicPr>
            <a:picLocks noChangeAspect="1"/>
          </p:cNvPicPr>
          <p:nvPr/>
        </p:nvPicPr>
        <p:blipFill>
          <a:blip r:embed="rId3"/>
          <a:stretch>
            <a:fillRect/>
          </a:stretch>
        </p:blipFill>
        <p:spPr>
          <a:xfrm>
            <a:off x="8545484" y="3097772"/>
            <a:ext cx="2819968" cy="2217952"/>
          </a:xfrm>
          <a:prstGeom prst="rect">
            <a:avLst/>
          </a:prstGeom>
        </p:spPr>
      </p:pic>
      <p:sp>
        <p:nvSpPr>
          <p:cNvPr id="5" name="Rectángulo 4">
            <a:extLst>
              <a:ext uri="{FF2B5EF4-FFF2-40B4-BE49-F238E27FC236}">
                <a16:creationId xmlns:a16="http://schemas.microsoft.com/office/drawing/2014/main" id="{DCF32F6F-7B07-956E-3616-6CB20C61C9C3}"/>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7" name="Marcador de número de diapositiva 3">
            <a:extLst>
              <a:ext uri="{FF2B5EF4-FFF2-40B4-BE49-F238E27FC236}">
                <a16:creationId xmlns:a16="http://schemas.microsoft.com/office/drawing/2014/main" id="{E421A058-F4C4-DBF1-2C7B-5CAAA7D53965}"/>
              </a:ext>
            </a:extLst>
          </p:cNvPr>
          <p:cNvSpPr>
            <a:spLocks noGrp="1"/>
          </p:cNvSpPr>
          <p:nvPr>
            <p:ph type="sldNum" sz="quarter" idx="12"/>
          </p:nvPr>
        </p:nvSpPr>
        <p:spPr>
          <a:xfrm>
            <a:off x="10558300" y="5956137"/>
            <a:ext cx="1052508" cy="365125"/>
          </a:xfrm>
        </p:spPr>
        <p:txBody>
          <a:bodyPr/>
          <a:lstStyle/>
          <a:p>
            <a:fld id="{D57F1E4F-1CFF-5643-939E-217C01CDF565}" type="slidenum">
              <a:rPr lang="en-US" sz="2000" b="1" smtClean="0">
                <a:latin typeface="Century Gothic" panose="020B0502020202020204" pitchFamily="34" charset="0"/>
              </a:rPr>
              <a:pPr/>
              <a:t>19</a:t>
            </a:fld>
            <a:endParaRPr lang="en-US" sz="2000" b="1">
              <a:latin typeface="Century Gothic" panose="020B0502020202020204" pitchFamily="34" charset="0"/>
            </a:endParaRPr>
          </a:p>
        </p:txBody>
      </p:sp>
    </p:spTree>
    <p:extLst>
      <p:ext uri="{BB962C8B-B14F-4D97-AF65-F5344CB8AC3E}">
        <p14:creationId xmlns:p14="http://schemas.microsoft.com/office/powerpoint/2010/main" val="257095121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es-ES">
                <a:latin typeface="Century Gothic" panose="020B0502020202020204" pitchFamily="34" charset="0"/>
              </a:rPr>
              <a:t>Regla #1: Principio de Marginalidad</a:t>
            </a:r>
          </a:p>
        </p:txBody>
      </p:sp>
      <p:sp>
        <p:nvSpPr>
          <p:cNvPr id="3" name="Marcador de contenido 2"/>
          <p:cNvSpPr>
            <a:spLocks noGrp="1"/>
          </p:cNvSpPr>
          <p:nvPr>
            <p:ph idx="1"/>
          </p:nvPr>
        </p:nvSpPr>
        <p:spPr>
          <a:xfrm>
            <a:off x="730921" y="2408207"/>
            <a:ext cx="10557164" cy="4244329"/>
          </a:xfrm>
        </p:spPr>
        <p:txBody>
          <a:bodyPr>
            <a:noAutofit/>
          </a:bodyPr>
          <a:lstStyle/>
          <a:p>
            <a:pPr marL="0" indent="0" algn="just">
              <a:buNone/>
            </a:pPr>
            <a:r>
              <a:rPr lang="es-ES">
                <a:solidFill>
                  <a:schemeClr val="accent1"/>
                </a:solidFill>
                <a:latin typeface="Century Gothic" panose="020B0502020202020204" pitchFamily="34" charset="0"/>
              </a:rPr>
              <a:t>Usted es dueño de una línea férrea en la costa caribe colombiana.</a:t>
            </a:r>
          </a:p>
          <a:p>
            <a:pPr marL="0" indent="0" algn="just">
              <a:buNone/>
            </a:pPr>
            <a:r>
              <a:rPr lang="es-ES">
                <a:solidFill>
                  <a:schemeClr val="accent1"/>
                </a:solidFill>
                <a:latin typeface="Century Gothic"/>
              </a:rPr>
              <a:t>Usted tiene actualmente un contrato con Cerrejón por los próximos 10 años. Este contrato le </a:t>
            </a:r>
            <a:r>
              <a:rPr lang="es-ES" dirty="0">
                <a:solidFill>
                  <a:schemeClr val="accent1"/>
                </a:solidFill>
                <a:latin typeface="Century Gothic"/>
              </a:rPr>
              <a:t>promete un ingreso de 500 USD al año por transportar 100 toneladas de carbón.</a:t>
            </a:r>
          </a:p>
          <a:p>
            <a:pPr marL="0" indent="0" algn="just">
              <a:buNone/>
            </a:pPr>
            <a:r>
              <a:rPr lang="es-ES">
                <a:solidFill>
                  <a:schemeClr val="accent1"/>
                </a:solidFill>
                <a:latin typeface="Century Gothic" panose="020B0502020202020204" pitchFamily="34" charset="0"/>
              </a:rPr>
              <a:t>Su negocio tiene costos fijos que ascienden a 125 USD al año y unos variables de operación estimados en 3 USD/Ton.</a:t>
            </a:r>
          </a:p>
          <a:p>
            <a:pPr marL="0" indent="0" algn="just">
              <a:buNone/>
            </a:pPr>
            <a:r>
              <a:rPr lang="es-ES">
                <a:solidFill>
                  <a:schemeClr val="accent1"/>
                </a:solidFill>
                <a:latin typeface="Century Gothic" panose="020B0502020202020204" pitchFamily="34" charset="0"/>
              </a:rPr>
              <a:t>Usted firmó un nuevo contrato, por el mismo plazo, con Drummond. Este contrato le otorgará unos ingresos adicionales de 250 USD por transportar 40 toneladas de carbón. Adicionalmente, usted sabe que su estructura de costos se mantiene constante.</a:t>
            </a:r>
          </a:p>
          <a:p>
            <a:pPr marL="0" indent="0" algn="just">
              <a:buNone/>
            </a:pPr>
            <a:endParaRPr lang="es-ES">
              <a:latin typeface="Century Gothic" panose="020B0502020202020204" pitchFamily="34" charset="0"/>
            </a:endParaRPr>
          </a:p>
          <a:p>
            <a:pPr marL="0" indent="0" algn="ctr">
              <a:buNone/>
            </a:pPr>
            <a:r>
              <a:rPr lang="es-ES" b="1">
                <a:solidFill>
                  <a:srgbClr val="C00000"/>
                </a:solidFill>
                <a:latin typeface="Century Gothic" panose="020B0502020202020204" pitchFamily="34" charset="0"/>
              </a:rPr>
              <a:t>Si usted quiere evaluar la generación de valor del nuevo contrato, ¿qué ingresos y egresos tomaría?</a:t>
            </a:r>
          </a:p>
        </p:txBody>
      </p:sp>
      <p:sp>
        <p:nvSpPr>
          <p:cNvPr id="6" name="Rectángulo 5">
            <a:extLst>
              <a:ext uri="{FF2B5EF4-FFF2-40B4-BE49-F238E27FC236}">
                <a16:creationId xmlns:a16="http://schemas.microsoft.com/office/drawing/2014/main" id="{EBB463E9-C251-412D-65CD-B2353BC00E9F}"/>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8" name="Picture 2" descr="Clientes y aliados | Centro de Evaluación | Uniandes">
            <a:extLst>
              <a:ext uri="{FF2B5EF4-FFF2-40B4-BE49-F238E27FC236}">
                <a16:creationId xmlns:a16="http://schemas.microsoft.com/office/drawing/2014/main" id="{3FD7D4F5-A5CD-72E4-F320-26942780BB6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pic>
        <p:nvPicPr>
          <p:cNvPr id="11" name="Imagen 10">
            <a:extLst>
              <a:ext uri="{FF2B5EF4-FFF2-40B4-BE49-F238E27FC236}">
                <a16:creationId xmlns:a16="http://schemas.microsoft.com/office/drawing/2014/main" id="{0733AD95-4ACA-A9F4-0526-D2A0080B74AD}"/>
              </a:ext>
            </a:extLst>
          </p:cNvPr>
          <p:cNvPicPr>
            <a:picLocks noChangeAspect="1"/>
          </p:cNvPicPr>
          <p:nvPr/>
        </p:nvPicPr>
        <p:blipFill rotWithShape="1">
          <a:blip r:embed="rId3"/>
          <a:srcRect t="8466" b="12753"/>
          <a:stretch/>
        </p:blipFill>
        <p:spPr>
          <a:xfrm>
            <a:off x="8795541" y="1831223"/>
            <a:ext cx="2092554" cy="1153967"/>
          </a:xfrm>
          <a:prstGeom prst="rect">
            <a:avLst/>
          </a:prstGeom>
        </p:spPr>
      </p:pic>
      <p:sp>
        <p:nvSpPr>
          <p:cNvPr id="5" name="Rectángulo 4">
            <a:extLst>
              <a:ext uri="{FF2B5EF4-FFF2-40B4-BE49-F238E27FC236}">
                <a16:creationId xmlns:a16="http://schemas.microsoft.com/office/drawing/2014/main" id="{4E704943-AA12-0B10-AD08-08379CD51E7C}"/>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7" name="Marcador de número de diapositiva 3">
            <a:extLst>
              <a:ext uri="{FF2B5EF4-FFF2-40B4-BE49-F238E27FC236}">
                <a16:creationId xmlns:a16="http://schemas.microsoft.com/office/drawing/2014/main" id="{E8B42C50-E3A8-0EB4-CE9C-07C6F0C6D4D4}"/>
              </a:ext>
            </a:extLst>
          </p:cNvPr>
          <p:cNvSpPr>
            <a:spLocks noGrp="1"/>
          </p:cNvSpPr>
          <p:nvPr>
            <p:ph type="sldNum" sz="quarter" idx="12"/>
          </p:nvPr>
        </p:nvSpPr>
        <p:spPr>
          <a:xfrm>
            <a:off x="10558300" y="5956137"/>
            <a:ext cx="1052508" cy="365125"/>
          </a:xfrm>
        </p:spPr>
        <p:txBody>
          <a:bodyPr/>
          <a:lstStyle/>
          <a:p>
            <a:fld id="{D57F1E4F-1CFF-5643-939E-217C01CDF565}" type="slidenum">
              <a:rPr lang="en-US" sz="2000" b="1" smtClean="0">
                <a:latin typeface="Century Gothic" panose="020B0502020202020204" pitchFamily="34" charset="0"/>
              </a:rPr>
              <a:pPr/>
              <a:t>20</a:t>
            </a:fld>
            <a:endParaRPr lang="en-US" sz="2000" b="1">
              <a:latin typeface="Century Gothic" panose="020B0502020202020204" pitchFamily="34" charset="0"/>
            </a:endParaRPr>
          </a:p>
        </p:txBody>
      </p:sp>
    </p:spTree>
    <p:extLst>
      <p:ext uri="{BB962C8B-B14F-4D97-AF65-F5344CB8AC3E}">
        <p14:creationId xmlns:p14="http://schemas.microsoft.com/office/powerpoint/2010/main" val="34461041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fade">
                                      <p:cBhvr>
                                        <p:cTn id="17" dur="500"/>
                                        <p:tgtEl>
                                          <p:spTgt spid="3">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5" end="5"/>
                                            </p:txEl>
                                          </p:spTgt>
                                        </p:tgtEl>
                                        <p:attrNameLst>
                                          <p:attrName>style.visibility</p:attrName>
                                        </p:attrNameLst>
                                      </p:cBhvr>
                                      <p:to>
                                        <p:strVal val="visible"/>
                                      </p:to>
                                    </p:set>
                                    <p:animEffect transition="in" filter="fade">
                                      <p:cBhvr>
                                        <p:cTn id="22"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latin typeface="Century Gothic" panose="020B0502020202020204" pitchFamily="34" charset="0"/>
              </a:rPr>
              <a:t>Regla #1: Principio de Marginalidad</a:t>
            </a:r>
            <a:endParaRPr lang="es-CO">
              <a:latin typeface="Century Gothic" panose="020B0502020202020204" pitchFamily="34" charset="0"/>
            </a:endParaRPr>
          </a:p>
        </p:txBody>
      </p:sp>
      <p:cxnSp>
        <p:nvCxnSpPr>
          <p:cNvPr id="6" name="Conector recto 5"/>
          <p:cNvCxnSpPr/>
          <p:nvPr/>
        </p:nvCxnSpPr>
        <p:spPr>
          <a:xfrm>
            <a:off x="1614926" y="3099991"/>
            <a:ext cx="2511188" cy="0"/>
          </a:xfrm>
          <a:prstGeom prst="line">
            <a:avLst/>
          </a:prstGeom>
          <a:ln>
            <a:solidFill>
              <a:schemeClr val="accent1"/>
            </a:solidFill>
          </a:ln>
        </p:spPr>
        <p:style>
          <a:lnRef idx="2">
            <a:schemeClr val="accent1"/>
          </a:lnRef>
          <a:fillRef idx="0">
            <a:schemeClr val="accent1"/>
          </a:fillRef>
          <a:effectRef idx="1">
            <a:schemeClr val="accent1"/>
          </a:effectRef>
          <a:fontRef idx="minor">
            <a:schemeClr val="tx1"/>
          </a:fontRef>
        </p:style>
      </p:cxnSp>
      <p:cxnSp>
        <p:nvCxnSpPr>
          <p:cNvPr id="8" name="Conector recto de flecha 7"/>
          <p:cNvCxnSpPr/>
          <p:nvPr/>
        </p:nvCxnSpPr>
        <p:spPr>
          <a:xfrm>
            <a:off x="1901529" y="3099992"/>
            <a:ext cx="0" cy="532263"/>
          </a:xfrm>
          <a:prstGeom prst="straightConnector1">
            <a:avLst/>
          </a:prstGeom>
          <a:ln w="38100">
            <a:solidFill>
              <a:srgbClr val="7030A0"/>
            </a:solidFill>
            <a:tailEnd type="triangle"/>
          </a:ln>
        </p:spPr>
        <p:style>
          <a:lnRef idx="2">
            <a:schemeClr val="accent1"/>
          </a:lnRef>
          <a:fillRef idx="0">
            <a:schemeClr val="accent1"/>
          </a:fillRef>
          <a:effectRef idx="1">
            <a:schemeClr val="accent1"/>
          </a:effectRef>
          <a:fontRef idx="minor">
            <a:schemeClr val="tx1"/>
          </a:fontRef>
        </p:style>
      </p:cxnSp>
      <p:cxnSp>
        <p:nvCxnSpPr>
          <p:cNvPr id="10" name="Conector recto de flecha 9"/>
          <p:cNvCxnSpPr/>
          <p:nvPr/>
        </p:nvCxnSpPr>
        <p:spPr>
          <a:xfrm>
            <a:off x="4126114" y="3099992"/>
            <a:ext cx="0" cy="532263"/>
          </a:xfrm>
          <a:prstGeom prst="straightConnector1">
            <a:avLst/>
          </a:prstGeom>
          <a:ln w="38100">
            <a:solidFill>
              <a:srgbClr val="7030A0"/>
            </a:solidFill>
            <a:tailEnd type="triangle"/>
          </a:ln>
        </p:spPr>
        <p:style>
          <a:lnRef idx="2">
            <a:schemeClr val="accent1"/>
          </a:lnRef>
          <a:fillRef idx="0">
            <a:schemeClr val="accent1"/>
          </a:fillRef>
          <a:effectRef idx="1">
            <a:schemeClr val="accent1"/>
          </a:effectRef>
          <a:fontRef idx="minor">
            <a:schemeClr val="tx1"/>
          </a:fontRef>
        </p:style>
      </p:cxnSp>
      <p:cxnSp>
        <p:nvCxnSpPr>
          <p:cNvPr id="12" name="Conector recto 11"/>
          <p:cNvCxnSpPr/>
          <p:nvPr/>
        </p:nvCxnSpPr>
        <p:spPr>
          <a:xfrm>
            <a:off x="1901530" y="3620379"/>
            <a:ext cx="2224585" cy="0"/>
          </a:xfrm>
          <a:prstGeom prst="line">
            <a:avLst/>
          </a:prstGeom>
          <a:ln w="38100">
            <a:solidFill>
              <a:srgbClr val="7030A0"/>
            </a:solidFill>
          </a:ln>
        </p:spPr>
        <p:style>
          <a:lnRef idx="2">
            <a:schemeClr val="accent1"/>
          </a:lnRef>
          <a:fillRef idx="0">
            <a:schemeClr val="accent1"/>
          </a:fillRef>
          <a:effectRef idx="1">
            <a:schemeClr val="accent1"/>
          </a:effectRef>
          <a:fontRef idx="minor">
            <a:schemeClr val="tx1"/>
          </a:fontRef>
        </p:style>
      </p:cxnSp>
      <p:cxnSp>
        <p:nvCxnSpPr>
          <p:cNvPr id="15" name="Conector recto de flecha 14"/>
          <p:cNvCxnSpPr/>
          <p:nvPr/>
        </p:nvCxnSpPr>
        <p:spPr>
          <a:xfrm flipV="1">
            <a:off x="1901529" y="2567729"/>
            <a:ext cx="0" cy="532262"/>
          </a:xfrm>
          <a:prstGeom prst="straightConnector1">
            <a:avLst/>
          </a:prstGeom>
          <a:ln w="38100">
            <a:solidFill>
              <a:srgbClr val="00B050"/>
            </a:solidFill>
            <a:tailEnd type="triangle"/>
          </a:ln>
        </p:spPr>
        <p:style>
          <a:lnRef idx="2">
            <a:schemeClr val="dk1"/>
          </a:lnRef>
          <a:fillRef idx="0">
            <a:schemeClr val="dk1"/>
          </a:fillRef>
          <a:effectRef idx="1">
            <a:schemeClr val="dk1"/>
          </a:effectRef>
          <a:fontRef idx="minor">
            <a:schemeClr val="tx1"/>
          </a:fontRef>
        </p:style>
      </p:cxnSp>
      <p:cxnSp>
        <p:nvCxnSpPr>
          <p:cNvPr id="16" name="Conector recto de flecha 15"/>
          <p:cNvCxnSpPr/>
          <p:nvPr/>
        </p:nvCxnSpPr>
        <p:spPr>
          <a:xfrm flipV="1">
            <a:off x="4142036" y="2567729"/>
            <a:ext cx="0" cy="532262"/>
          </a:xfrm>
          <a:prstGeom prst="straightConnector1">
            <a:avLst/>
          </a:prstGeom>
          <a:ln w="38100">
            <a:solidFill>
              <a:srgbClr val="00B050"/>
            </a:solidFill>
            <a:tailEnd type="triangle"/>
          </a:ln>
        </p:spPr>
        <p:style>
          <a:lnRef idx="2">
            <a:schemeClr val="dk1"/>
          </a:lnRef>
          <a:fillRef idx="0">
            <a:schemeClr val="dk1"/>
          </a:fillRef>
          <a:effectRef idx="1">
            <a:schemeClr val="dk1"/>
          </a:effectRef>
          <a:fontRef idx="minor">
            <a:schemeClr val="tx1"/>
          </a:fontRef>
        </p:style>
      </p:cxnSp>
      <p:cxnSp>
        <p:nvCxnSpPr>
          <p:cNvPr id="18" name="Conector recto 17"/>
          <p:cNvCxnSpPr/>
          <p:nvPr/>
        </p:nvCxnSpPr>
        <p:spPr>
          <a:xfrm>
            <a:off x="1901530" y="2579604"/>
            <a:ext cx="2224585" cy="0"/>
          </a:xfrm>
          <a:prstGeom prst="line">
            <a:avLst/>
          </a:prstGeom>
          <a:ln w="38100">
            <a:solidFill>
              <a:srgbClr val="00B050"/>
            </a:solidFill>
          </a:ln>
        </p:spPr>
        <p:style>
          <a:lnRef idx="2">
            <a:schemeClr val="dk1"/>
          </a:lnRef>
          <a:fillRef idx="0">
            <a:schemeClr val="dk1"/>
          </a:fillRef>
          <a:effectRef idx="1">
            <a:schemeClr val="dk1"/>
          </a:effectRef>
          <a:fontRef idx="minor">
            <a:schemeClr val="tx1"/>
          </a:fontRef>
        </p:style>
      </p:cxnSp>
      <p:cxnSp>
        <p:nvCxnSpPr>
          <p:cNvPr id="20" name="Conector recto de flecha 19"/>
          <p:cNvCxnSpPr/>
          <p:nvPr/>
        </p:nvCxnSpPr>
        <p:spPr>
          <a:xfrm>
            <a:off x="2010711" y="3099992"/>
            <a:ext cx="0" cy="409433"/>
          </a:xfrm>
          <a:prstGeom prst="straightConnector1">
            <a:avLst/>
          </a:prstGeom>
          <a:ln w="38100">
            <a:solidFill>
              <a:srgbClr val="C00000"/>
            </a:solidFill>
            <a:tailEnd type="triangle"/>
          </a:ln>
        </p:spPr>
        <p:style>
          <a:lnRef idx="2">
            <a:schemeClr val="accent4"/>
          </a:lnRef>
          <a:fillRef idx="0">
            <a:schemeClr val="accent4"/>
          </a:fillRef>
          <a:effectRef idx="1">
            <a:schemeClr val="accent4"/>
          </a:effectRef>
          <a:fontRef idx="minor">
            <a:schemeClr val="tx1"/>
          </a:fontRef>
        </p:style>
      </p:cxnSp>
      <p:cxnSp>
        <p:nvCxnSpPr>
          <p:cNvPr id="21" name="Conector recto de flecha 20"/>
          <p:cNvCxnSpPr/>
          <p:nvPr/>
        </p:nvCxnSpPr>
        <p:spPr>
          <a:xfrm>
            <a:off x="4019207" y="3099992"/>
            <a:ext cx="0" cy="409433"/>
          </a:xfrm>
          <a:prstGeom prst="straightConnector1">
            <a:avLst/>
          </a:prstGeom>
          <a:ln w="38100">
            <a:solidFill>
              <a:srgbClr val="C00000"/>
            </a:solidFill>
            <a:tailEnd type="triangle"/>
          </a:ln>
        </p:spPr>
        <p:style>
          <a:lnRef idx="2">
            <a:schemeClr val="accent4"/>
          </a:lnRef>
          <a:fillRef idx="0">
            <a:schemeClr val="accent4"/>
          </a:fillRef>
          <a:effectRef idx="1">
            <a:schemeClr val="accent4"/>
          </a:effectRef>
          <a:fontRef idx="minor">
            <a:schemeClr val="tx1"/>
          </a:fontRef>
        </p:style>
      </p:cxnSp>
      <p:cxnSp>
        <p:nvCxnSpPr>
          <p:cNvPr id="23" name="Conector recto 22"/>
          <p:cNvCxnSpPr/>
          <p:nvPr/>
        </p:nvCxnSpPr>
        <p:spPr>
          <a:xfrm>
            <a:off x="2010711" y="3485674"/>
            <a:ext cx="2008496" cy="0"/>
          </a:xfrm>
          <a:prstGeom prst="line">
            <a:avLst/>
          </a:prstGeom>
          <a:ln w="38100">
            <a:solidFill>
              <a:srgbClr val="C00000"/>
            </a:solidFill>
          </a:ln>
        </p:spPr>
        <p:style>
          <a:lnRef idx="2">
            <a:schemeClr val="accent4"/>
          </a:lnRef>
          <a:fillRef idx="0">
            <a:schemeClr val="accent4"/>
          </a:fillRef>
          <a:effectRef idx="1">
            <a:schemeClr val="accent4"/>
          </a:effectRef>
          <a:fontRef idx="minor">
            <a:schemeClr val="tx1"/>
          </a:fontRef>
        </p:style>
      </p:cxnSp>
      <p:sp>
        <p:nvSpPr>
          <p:cNvPr id="24" name="CuadroTexto 23"/>
          <p:cNvSpPr txBox="1"/>
          <p:nvPr/>
        </p:nvSpPr>
        <p:spPr>
          <a:xfrm>
            <a:off x="4220493" y="2682646"/>
            <a:ext cx="801823" cy="276999"/>
          </a:xfrm>
          <a:prstGeom prst="rect">
            <a:avLst/>
          </a:prstGeom>
          <a:noFill/>
          <a:ln>
            <a:noFill/>
          </a:ln>
        </p:spPr>
        <p:txBody>
          <a:bodyPr wrap="none" rtlCol="0">
            <a:spAutoFit/>
          </a:bodyPr>
          <a:lstStyle/>
          <a:p>
            <a:r>
              <a:rPr lang="es-CO" sz="1200" b="1">
                <a:solidFill>
                  <a:srgbClr val="00B050"/>
                </a:solidFill>
                <a:latin typeface="Century Gothic" panose="020B0502020202020204" pitchFamily="34" charset="0"/>
              </a:rPr>
              <a:t>Ingresos</a:t>
            </a:r>
          </a:p>
        </p:txBody>
      </p:sp>
      <p:sp>
        <p:nvSpPr>
          <p:cNvPr id="25" name="CuadroTexto 24"/>
          <p:cNvSpPr txBox="1"/>
          <p:nvPr/>
        </p:nvSpPr>
        <p:spPr>
          <a:xfrm>
            <a:off x="4273961" y="3099992"/>
            <a:ext cx="378630" cy="276999"/>
          </a:xfrm>
          <a:prstGeom prst="rect">
            <a:avLst/>
          </a:prstGeom>
          <a:noFill/>
          <a:ln>
            <a:noFill/>
          </a:ln>
        </p:spPr>
        <p:txBody>
          <a:bodyPr wrap="none" rtlCol="0">
            <a:spAutoFit/>
          </a:bodyPr>
          <a:lstStyle/>
          <a:p>
            <a:r>
              <a:rPr lang="es-CO" sz="1200" b="1">
                <a:solidFill>
                  <a:srgbClr val="C00000"/>
                </a:solidFill>
                <a:latin typeface="Century Gothic" panose="020B0502020202020204" pitchFamily="34" charset="0"/>
              </a:rPr>
              <a:t>CF</a:t>
            </a:r>
          </a:p>
        </p:txBody>
      </p:sp>
      <p:sp>
        <p:nvSpPr>
          <p:cNvPr id="26" name="CuadroTexto 25"/>
          <p:cNvSpPr txBox="1"/>
          <p:nvPr/>
        </p:nvSpPr>
        <p:spPr>
          <a:xfrm>
            <a:off x="4281237" y="3379866"/>
            <a:ext cx="412292" cy="276999"/>
          </a:xfrm>
          <a:prstGeom prst="rect">
            <a:avLst/>
          </a:prstGeom>
          <a:noFill/>
          <a:ln>
            <a:noFill/>
          </a:ln>
        </p:spPr>
        <p:txBody>
          <a:bodyPr wrap="none" rtlCol="0">
            <a:spAutoFit/>
          </a:bodyPr>
          <a:lstStyle/>
          <a:p>
            <a:r>
              <a:rPr lang="es-CO" sz="1200" b="1">
                <a:solidFill>
                  <a:srgbClr val="7030A0"/>
                </a:solidFill>
                <a:latin typeface="Century Gothic" panose="020B0502020202020204" pitchFamily="34" charset="0"/>
              </a:rPr>
              <a:t>CV</a:t>
            </a:r>
          </a:p>
        </p:txBody>
      </p:sp>
      <p:cxnSp>
        <p:nvCxnSpPr>
          <p:cNvPr id="41" name="Conector recto de flecha 40"/>
          <p:cNvCxnSpPr/>
          <p:nvPr/>
        </p:nvCxnSpPr>
        <p:spPr>
          <a:xfrm flipV="1">
            <a:off x="6511606" y="2318174"/>
            <a:ext cx="0" cy="302527"/>
          </a:xfrm>
          <a:prstGeom prst="straightConnector1">
            <a:avLst/>
          </a:prstGeom>
          <a:ln w="38100">
            <a:solidFill>
              <a:srgbClr val="0070C0"/>
            </a:solidFill>
            <a:tailEnd type="triangle"/>
          </a:ln>
        </p:spPr>
        <p:style>
          <a:lnRef idx="2">
            <a:schemeClr val="accent6"/>
          </a:lnRef>
          <a:fillRef idx="0">
            <a:schemeClr val="accent6"/>
          </a:fillRef>
          <a:effectRef idx="1">
            <a:schemeClr val="accent6"/>
          </a:effectRef>
          <a:fontRef idx="minor">
            <a:schemeClr val="tx1"/>
          </a:fontRef>
        </p:style>
      </p:cxnSp>
      <p:cxnSp>
        <p:nvCxnSpPr>
          <p:cNvPr id="42" name="Conector recto de flecha 41"/>
          <p:cNvCxnSpPr/>
          <p:nvPr/>
        </p:nvCxnSpPr>
        <p:spPr>
          <a:xfrm flipV="1">
            <a:off x="8752113" y="2318174"/>
            <a:ext cx="0" cy="302527"/>
          </a:xfrm>
          <a:prstGeom prst="straightConnector1">
            <a:avLst/>
          </a:prstGeom>
          <a:ln w="38100">
            <a:solidFill>
              <a:srgbClr val="0070C0"/>
            </a:solidFill>
            <a:tailEnd type="triangle"/>
          </a:ln>
        </p:spPr>
        <p:style>
          <a:lnRef idx="2">
            <a:schemeClr val="accent6"/>
          </a:lnRef>
          <a:fillRef idx="0">
            <a:schemeClr val="accent6"/>
          </a:fillRef>
          <a:effectRef idx="1">
            <a:schemeClr val="accent6"/>
          </a:effectRef>
          <a:fontRef idx="minor">
            <a:schemeClr val="tx1"/>
          </a:fontRef>
        </p:style>
      </p:cxnSp>
      <p:cxnSp>
        <p:nvCxnSpPr>
          <p:cNvPr id="44" name="Conector recto 43"/>
          <p:cNvCxnSpPr/>
          <p:nvPr/>
        </p:nvCxnSpPr>
        <p:spPr>
          <a:xfrm>
            <a:off x="6511607" y="2341923"/>
            <a:ext cx="2224585" cy="0"/>
          </a:xfrm>
          <a:prstGeom prst="line">
            <a:avLst/>
          </a:prstGeom>
          <a:ln w="38100">
            <a:solidFill>
              <a:srgbClr val="0070C0"/>
            </a:solidFill>
          </a:ln>
        </p:spPr>
        <p:style>
          <a:lnRef idx="2">
            <a:schemeClr val="accent6"/>
          </a:lnRef>
          <a:fillRef idx="0">
            <a:schemeClr val="accent6"/>
          </a:fillRef>
          <a:effectRef idx="1">
            <a:schemeClr val="accent6"/>
          </a:effectRef>
          <a:fontRef idx="minor">
            <a:schemeClr val="tx1"/>
          </a:fontRef>
        </p:style>
      </p:cxnSp>
      <p:sp>
        <p:nvSpPr>
          <p:cNvPr id="45" name="CuadroTexto 44"/>
          <p:cNvSpPr txBox="1"/>
          <p:nvPr/>
        </p:nvSpPr>
        <p:spPr>
          <a:xfrm>
            <a:off x="8830570" y="2336096"/>
            <a:ext cx="2146126" cy="276999"/>
          </a:xfrm>
          <a:prstGeom prst="rect">
            <a:avLst/>
          </a:prstGeom>
          <a:noFill/>
          <a:ln>
            <a:noFill/>
          </a:ln>
        </p:spPr>
        <p:txBody>
          <a:bodyPr wrap="square" rtlCol="0">
            <a:spAutoFit/>
          </a:bodyPr>
          <a:lstStyle/>
          <a:p>
            <a:r>
              <a:rPr lang="es-CO" sz="1200" b="1">
                <a:solidFill>
                  <a:srgbClr val="0070C0"/>
                </a:solidFill>
                <a:latin typeface="Century Gothic" panose="020B0502020202020204" pitchFamily="34" charset="0"/>
              </a:rPr>
              <a:t>Ingresos Adicionales</a:t>
            </a:r>
          </a:p>
        </p:txBody>
      </p:sp>
      <p:cxnSp>
        <p:nvCxnSpPr>
          <p:cNvPr id="47" name="Conector recto de flecha 46"/>
          <p:cNvCxnSpPr/>
          <p:nvPr/>
        </p:nvCxnSpPr>
        <p:spPr>
          <a:xfrm>
            <a:off x="6511606" y="3709836"/>
            <a:ext cx="0" cy="232421"/>
          </a:xfrm>
          <a:prstGeom prst="straightConnector1">
            <a:avLst/>
          </a:prstGeom>
          <a:ln w="38100">
            <a:solidFill>
              <a:srgbClr val="FF6600"/>
            </a:solidFill>
            <a:tailEnd type="triangle"/>
          </a:ln>
        </p:spPr>
        <p:style>
          <a:lnRef idx="2">
            <a:schemeClr val="accent5"/>
          </a:lnRef>
          <a:fillRef idx="0">
            <a:schemeClr val="accent5"/>
          </a:fillRef>
          <a:effectRef idx="1">
            <a:schemeClr val="accent5"/>
          </a:effectRef>
          <a:fontRef idx="minor">
            <a:schemeClr val="tx1"/>
          </a:fontRef>
        </p:style>
      </p:cxnSp>
      <p:cxnSp>
        <p:nvCxnSpPr>
          <p:cNvPr id="48" name="Conector recto de flecha 47"/>
          <p:cNvCxnSpPr/>
          <p:nvPr/>
        </p:nvCxnSpPr>
        <p:spPr>
          <a:xfrm>
            <a:off x="8736191" y="3685226"/>
            <a:ext cx="0" cy="232421"/>
          </a:xfrm>
          <a:prstGeom prst="straightConnector1">
            <a:avLst/>
          </a:prstGeom>
          <a:ln w="38100">
            <a:solidFill>
              <a:srgbClr val="FF6600"/>
            </a:solidFill>
            <a:tailEnd type="triangle"/>
          </a:ln>
        </p:spPr>
        <p:style>
          <a:lnRef idx="2">
            <a:schemeClr val="accent5"/>
          </a:lnRef>
          <a:fillRef idx="0">
            <a:schemeClr val="accent5"/>
          </a:fillRef>
          <a:effectRef idx="1">
            <a:schemeClr val="accent5"/>
          </a:effectRef>
          <a:fontRef idx="minor">
            <a:schemeClr val="tx1"/>
          </a:fontRef>
        </p:style>
      </p:cxnSp>
      <p:cxnSp>
        <p:nvCxnSpPr>
          <p:cNvPr id="50" name="Conector recto 49"/>
          <p:cNvCxnSpPr/>
          <p:nvPr/>
        </p:nvCxnSpPr>
        <p:spPr>
          <a:xfrm>
            <a:off x="6511607" y="3905771"/>
            <a:ext cx="2224585" cy="0"/>
          </a:xfrm>
          <a:prstGeom prst="line">
            <a:avLst/>
          </a:prstGeom>
          <a:ln w="38100">
            <a:solidFill>
              <a:srgbClr val="FF6600"/>
            </a:solidFill>
          </a:ln>
        </p:spPr>
        <p:style>
          <a:lnRef idx="2">
            <a:schemeClr val="accent5"/>
          </a:lnRef>
          <a:fillRef idx="0">
            <a:schemeClr val="accent5"/>
          </a:fillRef>
          <a:effectRef idx="1">
            <a:schemeClr val="accent5"/>
          </a:effectRef>
          <a:fontRef idx="minor">
            <a:schemeClr val="tx1"/>
          </a:fontRef>
        </p:style>
      </p:cxnSp>
      <p:sp>
        <p:nvSpPr>
          <p:cNvPr id="51" name="CuadroTexto 50"/>
          <p:cNvSpPr txBox="1"/>
          <p:nvPr/>
        </p:nvSpPr>
        <p:spPr>
          <a:xfrm>
            <a:off x="8879438" y="3686086"/>
            <a:ext cx="1445543" cy="276999"/>
          </a:xfrm>
          <a:prstGeom prst="rect">
            <a:avLst/>
          </a:prstGeom>
          <a:noFill/>
          <a:ln>
            <a:noFill/>
          </a:ln>
        </p:spPr>
        <p:txBody>
          <a:bodyPr wrap="square" rtlCol="0">
            <a:spAutoFit/>
          </a:bodyPr>
          <a:lstStyle/>
          <a:p>
            <a:r>
              <a:rPr lang="es-CO" sz="1200" b="1">
                <a:solidFill>
                  <a:srgbClr val="FF6600"/>
                </a:solidFill>
                <a:latin typeface="Century Gothic" panose="020B0502020202020204" pitchFamily="34" charset="0"/>
              </a:rPr>
              <a:t>CV Adicionales</a:t>
            </a:r>
          </a:p>
        </p:txBody>
      </p:sp>
      <p:sp>
        <p:nvSpPr>
          <p:cNvPr id="3" name="CuadroTexto 2"/>
          <p:cNvSpPr txBox="1"/>
          <p:nvPr/>
        </p:nvSpPr>
        <p:spPr>
          <a:xfrm>
            <a:off x="707157" y="4353369"/>
            <a:ext cx="5007689" cy="584775"/>
          </a:xfrm>
          <a:prstGeom prst="rect">
            <a:avLst/>
          </a:prstGeom>
          <a:noFill/>
          <a:ln>
            <a:noFill/>
          </a:ln>
        </p:spPr>
        <p:txBody>
          <a:bodyPr wrap="square" rtlCol="0">
            <a:spAutoFit/>
          </a:bodyPr>
          <a:lstStyle/>
          <a:p>
            <a:pPr algn="ctr"/>
            <a:r>
              <a:rPr lang="es-CO" sz="1600" b="1">
                <a:solidFill>
                  <a:srgbClr val="D7A700"/>
                </a:solidFill>
                <a:latin typeface="Century Gothic" panose="020B0502020202020204" pitchFamily="34" charset="0"/>
              </a:rPr>
              <a:t>¿Cuáles son los Ingresos y Egresos que contemplaría en el Flujo de Caja Libre? </a:t>
            </a:r>
          </a:p>
        </p:txBody>
      </p:sp>
      <p:cxnSp>
        <p:nvCxnSpPr>
          <p:cNvPr id="40" name="Conector recto 39"/>
          <p:cNvCxnSpPr/>
          <p:nvPr/>
        </p:nvCxnSpPr>
        <p:spPr>
          <a:xfrm>
            <a:off x="6248489" y="5211644"/>
            <a:ext cx="2511188" cy="0"/>
          </a:xfrm>
          <a:prstGeom prst="line">
            <a:avLst/>
          </a:prstGeom>
          <a:ln>
            <a:solidFill>
              <a:schemeClr val="accent1"/>
            </a:solidFill>
          </a:ln>
        </p:spPr>
        <p:style>
          <a:lnRef idx="2">
            <a:schemeClr val="accent1"/>
          </a:lnRef>
          <a:fillRef idx="0">
            <a:schemeClr val="accent1"/>
          </a:fillRef>
          <a:effectRef idx="1">
            <a:schemeClr val="accent1"/>
          </a:effectRef>
          <a:fontRef idx="minor">
            <a:schemeClr val="tx1"/>
          </a:fontRef>
        </p:style>
      </p:cxnSp>
      <p:cxnSp>
        <p:nvCxnSpPr>
          <p:cNvPr id="46" name="Conector recto de flecha 45"/>
          <p:cNvCxnSpPr/>
          <p:nvPr/>
        </p:nvCxnSpPr>
        <p:spPr>
          <a:xfrm flipV="1">
            <a:off x="6495300" y="4866913"/>
            <a:ext cx="0" cy="302527"/>
          </a:xfrm>
          <a:prstGeom prst="straightConnector1">
            <a:avLst/>
          </a:prstGeom>
          <a:ln w="38100">
            <a:solidFill>
              <a:srgbClr val="0070C0"/>
            </a:solidFill>
            <a:tailEnd type="triangle"/>
          </a:ln>
        </p:spPr>
        <p:style>
          <a:lnRef idx="2">
            <a:schemeClr val="accent6"/>
          </a:lnRef>
          <a:fillRef idx="0">
            <a:schemeClr val="accent6"/>
          </a:fillRef>
          <a:effectRef idx="1">
            <a:schemeClr val="accent6"/>
          </a:effectRef>
          <a:fontRef idx="minor">
            <a:schemeClr val="tx1"/>
          </a:fontRef>
        </p:style>
      </p:cxnSp>
      <p:cxnSp>
        <p:nvCxnSpPr>
          <p:cNvPr id="49" name="Conector recto de flecha 48"/>
          <p:cNvCxnSpPr/>
          <p:nvPr/>
        </p:nvCxnSpPr>
        <p:spPr>
          <a:xfrm flipV="1">
            <a:off x="8735807" y="4866913"/>
            <a:ext cx="0" cy="302527"/>
          </a:xfrm>
          <a:prstGeom prst="straightConnector1">
            <a:avLst/>
          </a:prstGeom>
          <a:ln w="38100">
            <a:solidFill>
              <a:srgbClr val="0070C0"/>
            </a:solidFill>
            <a:tailEnd type="triangle"/>
          </a:ln>
        </p:spPr>
        <p:style>
          <a:lnRef idx="2">
            <a:schemeClr val="accent6"/>
          </a:lnRef>
          <a:fillRef idx="0">
            <a:schemeClr val="accent6"/>
          </a:fillRef>
          <a:effectRef idx="1">
            <a:schemeClr val="accent6"/>
          </a:effectRef>
          <a:fontRef idx="minor">
            <a:schemeClr val="tx1"/>
          </a:fontRef>
        </p:style>
      </p:cxnSp>
      <p:cxnSp>
        <p:nvCxnSpPr>
          <p:cNvPr id="53" name="Conector recto 52"/>
          <p:cNvCxnSpPr/>
          <p:nvPr/>
        </p:nvCxnSpPr>
        <p:spPr>
          <a:xfrm>
            <a:off x="6495301" y="4878787"/>
            <a:ext cx="2224585" cy="0"/>
          </a:xfrm>
          <a:prstGeom prst="line">
            <a:avLst/>
          </a:prstGeom>
          <a:ln w="38100">
            <a:solidFill>
              <a:srgbClr val="0070C0"/>
            </a:solidFill>
          </a:ln>
        </p:spPr>
        <p:style>
          <a:lnRef idx="2">
            <a:schemeClr val="accent6"/>
          </a:lnRef>
          <a:fillRef idx="0">
            <a:schemeClr val="accent6"/>
          </a:fillRef>
          <a:effectRef idx="1">
            <a:schemeClr val="accent6"/>
          </a:effectRef>
          <a:fontRef idx="minor">
            <a:schemeClr val="tx1"/>
          </a:fontRef>
        </p:style>
      </p:cxnSp>
      <p:sp>
        <p:nvSpPr>
          <p:cNvPr id="54" name="CuadroTexto 53"/>
          <p:cNvSpPr txBox="1"/>
          <p:nvPr/>
        </p:nvSpPr>
        <p:spPr>
          <a:xfrm>
            <a:off x="8841117" y="4856735"/>
            <a:ext cx="2162050" cy="276999"/>
          </a:xfrm>
          <a:prstGeom prst="rect">
            <a:avLst/>
          </a:prstGeom>
          <a:noFill/>
          <a:ln>
            <a:noFill/>
          </a:ln>
        </p:spPr>
        <p:txBody>
          <a:bodyPr wrap="square" rtlCol="0">
            <a:spAutoFit/>
          </a:bodyPr>
          <a:lstStyle/>
          <a:p>
            <a:r>
              <a:rPr lang="es-CO" sz="1200" b="1">
                <a:solidFill>
                  <a:srgbClr val="0070C0"/>
                </a:solidFill>
                <a:latin typeface="Century Gothic" panose="020B0502020202020204" pitchFamily="34" charset="0"/>
              </a:rPr>
              <a:t>Ingresos Adicionales</a:t>
            </a:r>
          </a:p>
        </p:txBody>
      </p:sp>
      <p:cxnSp>
        <p:nvCxnSpPr>
          <p:cNvPr id="56" name="Conector recto de flecha 55"/>
          <p:cNvCxnSpPr/>
          <p:nvPr/>
        </p:nvCxnSpPr>
        <p:spPr>
          <a:xfrm>
            <a:off x="6511222" y="5239192"/>
            <a:ext cx="0" cy="232421"/>
          </a:xfrm>
          <a:prstGeom prst="straightConnector1">
            <a:avLst/>
          </a:prstGeom>
          <a:ln w="38100">
            <a:solidFill>
              <a:srgbClr val="FF6600"/>
            </a:solidFill>
            <a:tailEnd type="triangle"/>
          </a:ln>
        </p:spPr>
        <p:style>
          <a:lnRef idx="2">
            <a:schemeClr val="accent5"/>
          </a:lnRef>
          <a:fillRef idx="0">
            <a:schemeClr val="accent5"/>
          </a:fillRef>
          <a:effectRef idx="1">
            <a:schemeClr val="accent5"/>
          </a:effectRef>
          <a:fontRef idx="minor">
            <a:schemeClr val="tx1"/>
          </a:fontRef>
        </p:style>
      </p:cxnSp>
      <p:cxnSp>
        <p:nvCxnSpPr>
          <p:cNvPr id="57" name="Conector recto de flecha 56"/>
          <p:cNvCxnSpPr/>
          <p:nvPr/>
        </p:nvCxnSpPr>
        <p:spPr>
          <a:xfrm>
            <a:off x="8735807" y="5214582"/>
            <a:ext cx="0" cy="232421"/>
          </a:xfrm>
          <a:prstGeom prst="straightConnector1">
            <a:avLst/>
          </a:prstGeom>
          <a:ln w="38100">
            <a:solidFill>
              <a:srgbClr val="FF6600"/>
            </a:solidFill>
            <a:tailEnd type="triangle"/>
          </a:ln>
        </p:spPr>
        <p:style>
          <a:lnRef idx="2">
            <a:schemeClr val="accent5"/>
          </a:lnRef>
          <a:fillRef idx="0">
            <a:schemeClr val="accent5"/>
          </a:fillRef>
          <a:effectRef idx="1">
            <a:schemeClr val="accent5"/>
          </a:effectRef>
          <a:fontRef idx="minor">
            <a:schemeClr val="tx1"/>
          </a:fontRef>
        </p:style>
      </p:cxnSp>
      <p:cxnSp>
        <p:nvCxnSpPr>
          <p:cNvPr id="58" name="Conector recto 57"/>
          <p:cNvCxnSpPr/>
          <p:nvPr/>
        </p:nvCxnSpPr>
        <p:spPr>
          <a:xfrm>
            <a:off x="6511223" y="5447002"/>
            <a:ext cx="2224585" cy="0"/>
          </a:xfrm>
          <a:prstGeom prst="line">
            <a:avLst/>
          </a:prstGeom>
          <a:ln w="38100">
            <a:solidFill>
              <a:srgbClr val="FF6600"/>
            </a:solidFill>
          </a:ln>
        </p:spPr>
        <p:style>
          <a:lnRef idx="2">
            <a:schemeClr val="accent5"/>
          </a:lnRef>
          <a:fillRef idx="0">
            <a:schemeClr val="accent5"/>
          </a:fillRef>
          <a:effectRef idx="1">
            <a:schemeClr val="accent5"/>
          </a:effectRef>
          <a:fontRef idx="minor">
            <a:schemeClr val="tx1"/>
          </a:fontRef>
        </p:style>
      </p:cxnSp>
      <p:sp>
        <p:nvSpPr>
          <p:cNvPr id="59" name="CuadroTexto 58"/>
          <p:cNvSpPr txBox="1"/>
          <p:nvPr/>
        </p:nvSpPr>
        <p:spPr>
          <a:xfrm>
            <a:off x="8867563" y="5214582"/>
            <a:ext cx="1701851" cy="276999"/>
          </a:xfrm>
          <a:prstGeom prst="rect">
            <a:avLst/>
          </a:prstGeom>
          <a:noFill/>
          <a:ln>
            <a:noFill/>
          </a:ln>
        </p:spPr>
        <p:txBody>
          <a:bodyPr wrap="square" rtlCol="0">
            <a:spAutoFit/>
          </a:bodyPr>
          <a:lstStyle/>
          <a:p>
            <a:r>
              <a:rPr lang="es-CO" sz="1200" b="1">
                <a:solidFill>
                  <a:srgbClr val="FF6600"/>
                </a:solidFill>
                <a:latin typeface="Century Gothic" panose="020B0502020202020204" pitchFamily="34" charset="0"/>
              </a:rPr>
              <a:t>CV Adicionales</a:t>
            </a:r>
          </a:p>
        </p:txBody>
      </p:sp>
      <p:cxnSp>
        <p:nvCxnSpPr>
          <p:cNvPr id="55" name="Conector recto 54">
            <a:extLst>
              <a:ext uri="{FF2B5EF4-FFF2-40B4-BE49-F238E27FC236}">
                <a16:creationId xmlns:a16="http://schemas.microsoft.com/office/drawing/2014/main" id="{35F940ED-6DD1-4B62-826B-5E868ECF03EE}"/>
              </a:ext>
            </a:extLst>
          </p:cNvPr>
          <p:cNvCxnSpPr/>
          <p:nvPr/>
        </p:nvCxnSpPr>
        <p:spPr>
          <a:xfrm>
            <a:off x="6220567" y="3145513"/>
            <a:ext cx="2511188" cy="0"/>
          </a:xfrm>
          <a:prstGeom prst="line">
            <a:avLst/>
          </a:prstGeom>
          <a:ln>
            <a:solidFill>
              <a:schemeClr val="accent1"/>
            </a:solidFill>
          </a:ln>
        </p:spPr>
        <p:style>
          <a:lnRef idx="2">
            <a:schemeClr val="accent1"/>
          </a:lnRef>
          <a:fillRef idx="0">
            <a:schemeClr val="accent1"/>
          </a:fillRef>
          <a:effectRef idx="1">
            <a:schemeClr val="accent1"/>
          </a:effectRef>
          <a:fontRef idx="minor">
            <a:schemeClr val="tx1"/>
          </a:fontRef>
        </p:style>
      </p:cxnSp>
      <p:cxnSp>
        <p:nvCxnSpPr>
          <p:cNvPr id="60" name="Conector recto de flecha 59">
            <a:extLst>
              <a:ext uri="{FF2B5EF4-FFF2-40B4-BE49-F238E27FC236}">
                <a16:creationId xmlns:a16="http://schemas.microsoft.com/office/drawing/2014/main" id="{8F12825C-F8AB-4169-B752-137C8F37D347}"/>
              </a:ext>
            </a:extLst>
          </p:cNvPr>
          <p:cNvCxnSpPr/>
          <p:nvPr/>
        </p:nvCxnSpPr>
        <p:spPr>
          <a:xfrm>
            <a:off x="6507170" y="3145514"/>
            <a:ext cx="0" cy="532263"/>
          </a:xfrm>
          <a:prstGeom prst="straightConnector1">
            <a:avLst/>
          </a:prstGeom>
          <a:ln w="38100">
            <a:solidFill>
              <a:srgbClr val="7030A0"/>
            </a:solidFill>
            <a:tailEnd type="triangle"/>
          </a:ln>
        </p:spPr>
        <p:style>
          <a:lnRef idx="2">
            <a:schemeClr val="accent1"/>
          </a:lnRef>
          <a:fillRef idx="0">
            <a:schemeClr val="accent1"/>
          </a:fillRef>
          <a:effectRef idx="1">
            <a:schemeClr val="accent1"/>
          </a:effectRef>
          <a:fontRef idx="minor">
            <a:schemeClr val="tx1"/>
          </a:fontRef>
        </p:style>
      </p:cxnSp>
      <p:cxnSp>
        <p:nvCxnSpPr>
          <p:cNvPr id="61" name="Conector recto de flecha 60">
            <a:extLst>
              <a:ext uri="{FF2B5EF4-FFF2-40B4-BE49-F238E27FC236}">
                <a16:creationId xmlns:a16="http://schemas.microsoft.com/office/drawing/2014/main" id="{3CB01266-E4AC-40CF-BB81-0778293C6FCE}"/>
              </a:ext>
            </a:extLst>
          </p:cNvPr>
          <p:cNvCxnSpPr/>
          <p:nvPr/>
        </p:nvCxnSpPr>
        <p:spPr>
          <a:xfrm>
            <a:off x="8731755" y="3145514"/>
            <a:ext cx="0" cy="532263"/>
          </a:xfrm>
          <a:prstGeom prst="straightConnector1">
            <a:avLst/>
          </a:prstGeom>
          <a:ln w="38100">
            <a:solidFill>
              <a:srgbClr val="7030A0"/>
            </a:solidFill>
            <a:tailEnd type="triangle"/>
          </a:ln>
        </p:spPr>
        <p:style>
          <a:lnRef idx="2">
            <a:schemeClr val="accent1"/>
          </a:lnRef>
          <a:fillRef idx="0">
            <a:schemeClr val="accent1"/>
          </a:fillRef>
          <a:effectRef idx="1">
            <a:schemeClr val="accent1"/>
          </a:effectRef>
          <a:fontRef idx="minor">
            <a:schemeClr val="tx1"/>
          </a:fontRef>
        </p:style>
      </p:cxnSp>
      <p:cxnSp>
        <p:nvCxnSpPr>
          <p:cNvPr id="62" name="Conector recto 61">
            <a:extLst>
              <a:ext uri="{FF2B5EF4-FFF2-40B4-BE49-F238E27FC236}">
                <a16:creationId xmlns:a16="http://schemas.microsoft.com/office/drawing/2014/main" id="{99201718-9E42-451D-BE7A-9B611B0A89D8}"/>
              </a:ext>
            </a:extLst>
          </p:cNvPr>
          <p:cNvCxnSpPr/>
          <p:nvPr/>
        </p:nvCxnSpPr>
        <p:spPr>
          <a:xfrm>
            <a:off x="6507171" y="3665901"/>
            <a:ext cx="2224585" cy="0"/>
          </a:xfrm>
          <a:prstGeom prst="line">
            <a:avLst/>
          </a:prstGeom>
          <a:ln w="38100">
            <a:solidFill>
              <a:srgbClr val="7030A0"/>
            </a:solidFill>
          </a:ln>
        </p:spPr>
        <p:style>
          <a:lnRef idx="2">
            <a:schemeClr val="accent1"/>
          </a:lnRef>
          <a:fillRef idx="0">
            <a:schemeClr val="accent1"/>
          </a:fillRef>
          <a:effectRef idx="1">
            <a:schemeClr val="accent1"/>
          </a:effectRef>
          <a:fontRef idx="minor">
            <a:schemeClr val="tx1"/>
          </a:fontRef>
        </p:style>
      </p:cxnSp>
      <p:cxnSp>
        <p:nvCxnSpPr>
          <p:cNvPr id="63" name="Conector recto de flecha 62">
            <a:extLst>
              <a:ext uri="{FF2B5EF4-FFF2-40B4-BE49-F238E27FC236}">
                <a16:creationId xmlns:a16="http://schemas.microsoft.com/office/drawing/2014/main" id="{D805BCC8-D577-4574-8268-D44E98DDCA61}"/>
              </a:ext>
            </a:extLst>
          </p:cNvPr>
          <p:cNvCxnSpPr/>
          <p:nvPr/>
        </p:nvCxnSpPr>
        <p:spPr>
          <a:xfrm flipV="1">
            <a:off x="6507170" y="2613251"/>
            <a:ext cx="0" cy="532262"/>
          </a:xfrm>
          <a:prstGeom prst="straightConnector1">
            <a:avLst/>
          </a:prstGeom>
          <a:ln w="38100">
            <a:solidFill>
              <a:srgbClr val="00B050"/>
            </a:solidFill>
            <a:tailEnd type="triangle"/>
          </a:ln>
        </p:spPr>
        <p:style>
          <a:lnRef idx="2">
            <a:schemeClr val="dk1"/>
          </a:lnRef>
          <a:fillRef idx="0">
            <a:schemeClr val="dk1"/>
          </a:fillRef>
          <a:effectRef idx="1">
            <a:schemeClr val="dk1"/>
          </a:effectRef>
          <a:fontRef idx="minor">
            <a:schemeClr val="tx1"/>
          </a:fontRef>
        </p:style>
      </p:cxnSp>
      <p:cxnSp>
        <p:nvCxnSpPr>
          <p:cNvPr id="64" name="Conector recto de flecha 63">
            <a:extLst>
              <a:ext uri="{FF2B5EF4-FFF2-40B4-BE49-F238E27FC236}">
                <a16:creationId xmlns:a16="http://schemas.microsoft.com/office/drawing/2014/main" id="{669605CA-ECDE-4197-9946-90621491FCDE}"/>
              </a:ext>
            </a:extLst>
          </p:cNvPr>
          <p:cNvCxnSpPr/>
          <p:nvPr/>
        </p:nvCxnSpPr>
        <p:spPr>
          <a:xfrm flipV="1">
            <a:off x="8747677" y="2613251"/>
            <a:ext cx="0" cy="532262"/>
          </a:xfrm>
          <a:prstGeom prst="straightConnector1">
            <a:avLst/>
          </a:prstGeom>
          <a:ln w="38100">
            <a:solidFill>
              <a:srgbClr val="00B050"/>
            </a:solidFill>
            <a:tailEnd type="triangle"/>
          </a:ln>
        </p:spPr>
        <p:style>
          <a:lnRef idx="2">
            <a:schemeClr val="dk1"/>
          </a:lnRef>
          <a:fillRef idx="0">
            <a:schemeClr val="dk1"/>
          </a:fillRef>
          <a:effectRef idx="1">
            <a:schemeClr val="dk1"/>
          </a:effectRef>
          <a:fontRef idx="minor">
            <a:schemeClr val="tx1"/>
          </a:fontRef>
        </p:style>
      </p:cxnSp>
      <p:cxnSp>
        <p:nvCxnSpPr>
          <p:cNvPr id="65" name="Conector recto 64">
            <a:extLst>
              <a:ext uri="{FF2B5EF4-FFF2-40B4-BE49-F238E27FC236}">
                <a16:creationId xmlns:a16="http://schemas.microsoft.com/office/drawing/2014/main" id="{89D76C5E-B857-4B04-899E-E15CA68A10B7}"/>
              </a:ext>
            </a:extLst>
          </p:cNvPr>
          <p:cNvCxnSpPr/>
          <p:nvPr/>
        </p:nvCxnSpPr>
        <p:spPr>
          <a:xfrm>
            <a:off x="6507171" y="2625126"/>
            <a:ext cx="2224585" cy="0"/>
          </a:xfrm>
          <a:prstGeom prst="line">
            <a:avLst/>
          </a:prstGeom>
          <a:ln w="38100">
            <a:solidFill>
              <a:srgbClr val="00B050"/>
            </a:solidFill>
          </a:ln>
        </p:spPr>
        <p:style>
          <a:lnRef idx="2">
            <a:schemeClr val="dk1"/>
          </a:lnRef>
          <a:fillRef idx="0">
            <a:schemeClr val="dk1"/>
          </a:fillRef>
          <a:effectRef idx="1">
            <a:schemeClr val="dk1"/>
          </a:effectRef>
          <a:fontRef idx="minor">
            <a:schemeClr val="tx1"/>
          </a:fontRef>
        </p:style>
      </p:cxnSp>
      <p:cxnSp>
        <p:nvCxnSpPr>
          <p:cNvPr id="66" name="Conector recto de flecha 65">
            <a:extLst>
              <a:ext uri="{FF2B5EF4-FFF2-40B4-BE49-F238E27FC236}">
                <a16:creationId xmlns:a16="http://schemas.microsoft.com/office/drawing/2014/main" id="{E18CC35D-AA2C-4C31-85A8-EE84A7E8CDE2}"/>
              </a:ext>
            </a:extLst>
          </p:cNvPr>
          <p:cNvCxnSpPr/>
          <p:nvPr/>
        </p:nvCxnSpPr>
        <p:spPr>
          <a:xfrm>
            <a:off x="6616352" y="3145514"/>
            <a:ext cx="0" cy="409433"/>
          </a:xfrm>
          <a:prstGeom prst="straightConnector1">
            <a:avLst/>
          </a:prstGeom>
          <a:ln w="38100">
            <a:solidFill>
              <a:srgbClr val="C00000"/>
            </a:solidFill>
            <a:tailEnd type="triangle"/>
          </a:ln>
        </p:spPr>
        <p:style>
          <a:lnRef idx="2">
            <a:schemeClr val="accent4"/>
          </a:lnRef>
          <a:fillRef idx="0">
            <a:schemeClr val="accent4"/>
          </a:fillRef>
          <a:effectRef idx="1">
            <a:schemeClr val="accent4"/>
          </a:effectRef>
          <a:fontRef idx="minor">
            <a:schemeClr val="tx1"/>
          </a:fontRef>
        </p:style>
      </p:cxnSp>
      <p:cxnSp>
        <p:nvCxnSpPr>
          <p:cNvPr id="67" name="Conector recto de flecha 66">
            <a:extLst>
              <a:ext uri="{FF2B5EF4-FFF2-40B4-BE49-F238E27FC236}">
                <a16:creationId xmlns:a16="http://schemas.microsoft.com/office/drawing/2014/main" id="{2B4A6748-9A56-4786-A274-6F0FE2E0215D}"/>
              </a:ext>
            </a:extLst>
          </p:cNvPr>
          <p:cNvCxnSpPr/>
          <p:nvPr/>
        </p:nvCxnSpPr>
        <p:spPr>
          <a:xfrm>
            <a:off x="8624848" y="3145514"/>
            <a:ext cx="0" cy="409433"/>
          </a:xfrm>
          <a:prstGeom prst="straightConnector1">
            <a:avLst/>
          </a:prstGeom>
          <a:ln w="38100">
            <a:solidFill>
              <a:srgbClr val="C00000"/>
            </a:solidFill>
            <a:tailEnd type="triangle"/>
          </a:ln>
        </p:spPr>
        <p:style>
          <a:lnRef idx="2">
            <a:schemeClr val="accent4"/>
          </a:lnRef>
          <a:fillRef idx="0">
            <a:schemeClr val="accent4"/>
          </a:fillRef>
          <a:effectRef idx="1">
            <a:schemeClr val="accent4"/>
          </a:effectRef>
          <a:fontRef idx="minor">
            <a:schemeClr val="tx1"/>
          </a:fontRef>
        </p:style>
      </p:cxnSp>
      <p:cxnSp>
        <p:nvCxnSpPr>
          <p:cNvPr id="68" name="Conector recto 67">
            <a:extLst>
              <a:ext uri="{FF2B5EF4-FFF2-40B4-BE49-F238E27FC236}">
                <a16:creationId xmlns:a16="http://schemas.microsoft.com/office/drawing/2014/main" id="{CED9C766-F2EE-43B6-8F76-FD62A67FBF2A}"/>
              </a:ext>
            </a:extLst>
          </p:cNvPr>
          <p:cNvCxnSpPr/>
          <p:nvPr/>
        </p:nvCxnSpPr>
        <p:spPr>
          <a:xfrm>
            <a:off x="6616352" y="3531196"/>
            <a:ext cx="2008496" cy="0"/>
          </a:xfrm>
          <a:prstGeom prst="line">
            <a:avLst/>
          </a:prstGeom>
          <a:ln w="38100">
            <a:solidFill>
              <a:srgbClr val="C00000"/>
            </a:solidFill>
          </a:ln>
        </p:spPr>
        <p:style>
          <a:lnRef idx="2">
            <a:schemeClr val="accent4"/>
          </a:lnRef>
          <a:fillRef idx="0">
            <a:schemeClr val="accent4"/>
          </a:fillRef>
          <a:effectRef idx="1">
            <a:schemeClr val="accent4"/>
          </a:effectRef>
          <a:fontRef idx="minor">
            <a:schemeClr val="tx1"/>
          </a:fontRef>
        </p:style>
      </p:cxnSp>
      <p:sp>
        <p:nvSpPr>
          <p:cNvPr id="69" name="CuadroTexto 68">
            <a:extLst>
              <a:ext uri="{FF2B5EF4-FFF2-40B4-BE49-F238E27FC236}">
                <a16:creationId xmlns:a16="http://schemas.microsoft.com/office/drawing/2014/main" id="{80EED1BC-5F29-4012-B8BA-47892E86160F}"/>
              </a:ext>
            </a:extLst>
          </p:cNvPr>
          <p:cNvSpPr txBox="1"/>
          <p:nvPr/>
        </p:nvSpPr>
        <p:spPr>
          <a:xfrm>
            <a:off x="8826134" y="2728168"/>
            <a:ext cx="801823" cy="276999"/>
          </a:xfrm>
          <a:prstGeom prst="rect">
            <a:avLst/>
          </a:prstGeom>
          <a:noFill/>
          <a:ln>
            <a:noFill/>
          </a:ln>
        </p:spPr>
        <p:txBody>
          <a:bodyPr wrap="none" rtlCol="0">
            <a:spAutoFit/>
          </a:bodyPr>
          <a:lstStyle/>
          <a:p>
            <a:r>
              <a:rPr lang="es-CO" sz="1200" b="1">
                <a:solidFill>
                  <a:srgbClr val="00B050"/>
                </a:solidFill>
                <a:latin typeface="Century Gothic" panose="020B0502020202020204" pitchFamily="34" charset="0"/>
              </a:rPr>
              <a:t>Ingresos</a:t>
            </a:r>
          </a:p>
        </p:txBody>
      </p:sp>
      <p:sp>
        <p:nvSpPr>
          <p:cNvPr id="70" name="CuadroTexto 69">
            <a:extLst>
              <a:ext uri="{FF2B5EF4-FFF2-40B4-BE49-F238E27FC236}">
                <a16:creationId xmlns:a16="http://schemas.microsoft.com/office/drawing/2014/main" id="{B5D8F527-8F19-446C-B950-33AB83F57EB1}"/>
              </a:ext>
            </a:extLst>
          </p:cNvPr>
          <p:cNvSpPr txBox="1"/>
          <p:nvPr/>
        </p:nvSpPr>
        <p:spPr>
          <a:xfrm>
            <a:off x="8879602" y="3145514"/>
            <a:ext cx="378630" cy="276999"/>
          </a:xfrm>
          <a:prstGeom prst="rect">
            <a:avLst/>
          </a:prstGeom>
          <a:noFill/>
          <a:ln>
            <a:noFill/>
          </a:ln>
        </p:spPr>
        <p:txBody>
          <a:bodyPr wrap="none" rtlCol="0">
            <a:spAutoFit/>
          </a:bodyPr>
          <a:lstStyle/>
          <a:p>
            <a:r>
              <a:rPr lang="es-CO" sz="1200" b="1">
                <a:solidFill>
                  <a:srgbClr val="C00000"/>
                </a:solidFill>
                <a:latin typeface="Century Gothic" panose="020B0502020202020204" pitchFamily="34" charset="0"/>
              </a:rPr>
              <a:t>CF</a:t>
            </a:r>
          </a:p>
        </p:txBody>
      </p:sp>
      <p:sp>
        <p:nvSpPr>
          <p:cNvPr id="71" name="CuadroTexto 70">
            <a:extLst>
              <a:ext uri="{FF2B5EF4-FFF2-40B4-BE49-F238E27FC236}">
                <a16:creationId xmlns:a16="http://schemas.microsoft.com/office/drawing/2014/main" id="{0E0686DA-8EBD-438A-A92E-1C332CE1E149}"/>
              </a:ext>
            </a:extLst>
          </p:cNvPr>
          <p:cNvSpPr txBox="1"/>
          <p:nvPr/>
        </p:nvSpPr>
        <p:spPr>
          <a:xfrm>
            <a:off x="8886878" y="3425388"/>
            <a:ext cx="412292" cy="276999"/>
          </a:xfrm>
          <a:prstGeom prst="rect">
            <a:avLst/>
          </a:prstGeom>
          <a:noFill/>
          <a:ln>
            <a:noFill/>
          </a:ln>
        </p:spPr>
        <p:txBody>
          <a:bodyPr wrap="none" rtlCol="0">
            <a:spAutoFit/>
          </a:bodyPr>
          <a:lstStyle/>
          <a:p>
            <a:r>
              <a:rPr lang="es-CO" sz="1200" b="1">
                <a:solidFill>
                  <a:srgbClr val="7030A0"/>
                </a:solidFill>
                <a:latin typeface="Century Gothic" panose="020B0502020202020204" pitchFamily="34" charset="0"/>
              </a:rPr>
              <a:t>CV</a:t>
            </a:r>
          </a:p>
        </p:txBody>
      </p:sp>
      <p:pic>
        <p:nvPicPr>
          <p:cNvPr id="72" name="Picture 4" descr="Resultado de imagen para check gif">
            <a:extLst>
              <a:ext uri="{FF2B5EF4-FFF2-40B4-BE49-F238E27FC236}">
                <a16:creationId xmlns:a16="http://schemas.microsoft.com/office/drawing/2014/main" id="{FD065B52-6495-47B7-8CAD-6AC2DA6E4AFF}"/>
              </a:ext>
            </a:extLst>
          </p:cNvPr>
          <p:cNvPicPr>
            <a:picLocks noChangeAspect="1" noChangeArrowheads="1" noCrop="1"/>
          </p:cNvPicPr>
          <p:nvPr/>
        </p:nvPicPr>
        <p:blipFill>
          <a:blip r:embed="rId2" cstate="print">
            <a:clrChange>
              <a:clrFrom>
                <a:srgbClr val="FCFEFC"/>
              </a:clrFrom>
              <a:clrTo>
                <a:srgbClr val="FCFEFC">
                  <a:alpha val="0"/>
                </a:srgbClr>
              </a:clrTo>
            </a:clrChange>
            <a:extLst>
              <a:ext uri="{28A0092B-C50C-407E-A947-70E740481C1C}">
                <a14:useLocalDpi xmlns:a14="http://schemas.microsoft.com/office/drawing/2010/main" val="0"/>
              </a:ext>
            </a:extLst>
          </a:blip>
          <a:srcRect/>
          <a:stretch>
            <a:fillRect/>
          </a:stretch>
        </p:blipFill>
        <p:spPr bwMode="auto">
          <a:xfrm>
            <a:off x="10677300" y="4779805"/>
            <a:ext cx="850389" cy="863677"/>
          </a:xfrm>
          <a:prstGeom prst="rect">
            <a:avLst/>
          </a:prstGeom>
          <a:noFill/>
          <a:extLst>
            <a:ext uri="{909E8E84-426E-40DD-AFC4-6F175D3DCCD1}">
              <a14:hiddenFill xmlns:a14="http://schemas.microsoft.com/office/drawing/2010/main">
                <a:solidFill>
                  <a:srgbClr val="FFFFFF"/>
                </a:solidFill>
              </a14:hiddenFill>
            </a:ext>
          </a:extLst>
        </p:spPr>
      </p:pic>
      <p:pic>
        <p:nvPicPr>
          <p:cNvPr id="1026" name="Picture 2" descr="Política y corrupción, temas a evitar - dipe diseño web">
            <a:extLst>
              <a:ext uri="{FF2B5EF4-FFF2-40B4-BE49-F238E27FC236}">
                <a16:creationId xmlns:a16="http://schemas.microsoft.com/office/drawing/2014/main" id="{8745F22B-258E-4CB1-8B65-46AFAA6A9A39}"/>
              </a:ext>
            </a:extLst>
          </p:cNvPr>
          <p:cNvPicPr>
            <a:picLocks noChangeAspect="1"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6392562" y="1884769"/>
            <a:ext cx="2463126" cy="2468600"/>
          </a:xfrm>
          <a:prstGeom prst="rect">
            <a:avLst/>
          </a:prstGeom>
          <a:noFill/>
          <a:extLst>
            <a:ext uri="{909E8E84-426E-40DD-AFC4-6F175D3DCCD1}">
              <a14:hiddenFill xmlns:a14="http://schemas.microsoft.com/office/drawing/2010/main">
                <a:solidFill>
                  <a:srgbClr val="FFFFFF"/>
                </a:solidFill>
              </a14:hiddenFill>
            </a:ext>
          </a:extLst>
        </p:spPr>
      </p:pic>
      <p:sp>
        <p:nvSpPr>
          <p:cNvPr id="5" name="Rectángulo 4">
            <a:extLst>
              <a:ext uri="{FF2B5EF4-FFF2-40B4-BE49-F238E27FC236}">
                <a16:creationId xmlns:a16="http://schemas.microsoft.com/office/drawing/2014/main" id="{554BD6D7-6713-F1DC-AB80-A7BE384181DD}"/>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9" name="Picture 2" descr="Clientes y aliados | Centro de Evaluación | Uniandes">
            <a:extLst>
              <a:ext uri="{FF2B5EF4-FFF2-40B4-BE49-F238E27FC236}">
                <a16:creationId xmlns:a16="http://schemas.microsoft.com/office/drawing/2014/main" id="{6FEE2FD7-E3BC-3C8E-379B-DBA47F9CA80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13" name="Rectángulo 12">
            <a:extLst>
              <a:ext uri="{FF2B5EF4-FFF2-40B4-BE49-F238E27FC236}">
                <a16:creationId xmlns:a16="http://schemas.microsoft.com/office/drawing/2014/main" id="{1F7D9C87-97C0-0013-0C88-E8849DFF64D5}"/>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7" name="Marcador de número de diapositiva 3">
            <a:extLst>
              <a:ext uri="{FF2B5EF4-FFF2-40B4-BE49-F238E27FC236}">
                <a16:creationId xmlns:a16="http://schemas.microsoft.com/office/drawing/2014/main" id="{03F19048-FC94-B741-73B7-B1DBD5B0F008}"/>
              </a:ext>
            </a:extLst>
          </p:cNvPr>
          <p:cNvSpPr>
            <a:spLocks noGrp="1"/>
          </p:cNvSpPr>
          <p:nvPr>
            <p:ph type="sldNum" sz="quarter" idx="12"/>
          </p:nvPr>
        </p:nvSpPr>
        <p:spPr>
          <a:xfrm>
            <a:off x="10558300" y="5956137"/>
            <a:ext cx="1052508" cy="365125"/>
          </a:xfrm>
        </p:spPr>
        <p:txBody>
          <a:bodyPr/>
          <a:lstStyle/>
          <a:p>
            <a:fld id="{D57F1E4F-1CFF-5643-939E-217C01CDF565}" type="slidenum">
              <a:rPr lang="en-US" sz="2000" b="1" smtClean="0">
                <a:latin typeface="Century Gothic" panose="020B0502020202020204" pitchFamily="34" charset="0"/>
              </a:rPr>
              <a:pPr/>
              <a:t>21</a:t>
            </a:fld>
            <a:endParaRPr lang="en-US" sz="2000" b="1">
              <a:latin typeface="Century Gothic" panose="020B0502020202020204" pitchFamily="34" charset="0"/>
            </a:endParaRPr>
          </a:p>
        </p:txBody>
      </p:sp>
    </p:spTree>
    <p:extLst>
      <p:ext uri="{BB962C8B-B14F-4D97-AF65-F5344CB8AC3E}">
        <p14:creationId xmlns:p14="http://schemas.microsoft.com/office/powerpoint/2010/main" val="12586800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1"/>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42"/>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44"/>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45"/>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47"/>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48"/>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50"/>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51"/>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55"/>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60"/>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61"/>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62"/>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63"/>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64"/>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65"/>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66"/>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67"/>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68"/>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69"/>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70"/>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71"/>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53" presetClass="entr" presetSubtype="16" fill="hold" nodeType="clickEffect">
                                  <p:stCondLst>
                                    <p:cond delay="0"/>
                                  </p:stCondLst>
                                  <p:childTnLst>
                                    <p:set>
                                      <p:cBhvr>
                                        <p:cTn id="54" dur="1" fill="hold">
                                          <p:stCondLst>
                                            <p:cond delay="0"/>
                                          </p:stCondLst>
                                        </p:cTn>
                                        <p:tgtEl>
                                          <p:spTgt spid="1026"/>
                                        </p:tgtEl>
                                        <p:attrNameLst>
                                          <p:attrName>style.visibility</p:attrName>
                                        </p:attrNameLst>
                                      </p:cBhvr>
                                      <p:to>
                                        <p:strVal val="visible"/>
                                      </p:to>
                                    </p:set>
                                    <p:anim calcmode="lin" valueType="num">
                                      <p:cBhvr>
                                        <p:cTn id="55" dur="500" fill="hold"/>
                                        <p:tgtEl>
                                          <p:spTgt spid="1026"/>
                                        </p:tgtEl>
                                        <p:attrNameLst>
                                          <p:attrName>ppt_w</p:attrName>
                                        </p:attrNameLst>
                                      </p:cBhvr>
                                      <p:tavLst>
                                        <p:tav tm="0">
                                          <p:val>
                                            <p:fltVal val="0"/>
                                          </p:val>
                                        </p:tav>
                                        <p:tav tm="100000">
                                          <p:val>
                                            <p:strVal val="#ppt_w"/>
                                          </p:val>
                                        </p:tav>
                                      </p:tavLst>
                                    </p:anim>
                                    <p:anim calcmode="lin" valueType="num">
                                      <p:cBhvr>
                                        <p:cTn id="56" dur="500" fill="hold"/>
                                        <p:tgtEl>
                                          <p:spTgt spid="1026"/>
                                        </p:tgtEl>
                                        <p:attrNameLst>
                                          <p:attrName>ppt_h</p:attrName>
                                        </p:attrNameLst>
                                      </p:cBhvr>
                                      <p:tavLst>
                                        <p:tav tm="0">
                                          <p:val>
                                            <p:fltVal val="0"/>
                                          </p:val>
                                        </p:tav>
                                        <p:tav tm="100000">
                                          <p:val>
                                            <p:strVal val="#ppt_h"/>
                                          </p:val>
                                        </p:tav>
                                      </p:tavLst>
                                    </p:anim>
                                    <p:animEffect transition="in" filter="fade">
                                      <p:cBhvr>
                                        <p:cTn id="57" dur="500"/>
                                        <p:tgtEl>
                                          <p:spTgt spid="1026"/>
                                        </p:tgtEl>
                                      </p:cBhvr>
                                    </p:animEffect>
                                  </p:childTnLst>
                                </p:cTn>
                              </p:par>
                            </p:childTnLst>
                          </p:cTn>
                        </p:par>
                      </p:childTnLst>
                    </p:cTn>
                  </p:par>
                  <p:par>
                    <p:cTn id="58" fill="hold">
                      <p:stCondLst>
                        <p:cond delay="indefinite"/>
                      </p:stCondLst>
                      <p:childTnLst>
                        <p:par>
                          <p:cTn id="59" fill="hold">
                            <p:stCondLst>
                              <p:cond delay="0"/>
                            </p:stCondLst>
                            <p:childTnLst>
                              <p:par>
                                <p:cTn id="60" presetID="26" presetClass="entr" presetSubtype="0" fill="hold" nodeType="clickEffect">
                                  <p:stCondLst>
                                    <p:cond delay="0"/>
                                  </p:stCondLst>
                                  <p:childTnLst>
                                    <p:set>
                                      <p:cBhvr>
                                        <p:cTn id="61" dur="1" fill="hold">
                                          <p:stCondLst>
                                            <p:cond delay="0"/>
                                          </p:stCondLst>
                                        </p:cTn>
                                        <p:tgtEl>
                                          <p:spTgt spid="40"/>
                                        </p:tgtEl>
                                        <p:attrNameLst>
                                          <p:attrName>style.visibility</p:attrName>
                                        </p:attrNameLst>
                                      </p:cBhvr>
                                      <p:to>
                                        <p:strVal val="visible"/>
                                      </p:to>
                                    </p:set>
                                    <p:animEffect transition="in" filter="wipe(down)">
                                      <p:cBhvr>
                                        <p:cTn id="62" dur="580">
                                          <p:stCondLst>
                                            <p:cond delay="0"/>
                                          </p:stCondLst>
                                        </p:cTn>
                                        <p:tgtEl>
                                          <p:spTgt spid="40"/>
                                        </p:tgtEl>
                                      </p:cBhvr>
                                    </p:animEffect>
                                    <p:anim calcmode="lin" valueType="num">
                                      <p:cBhvr>
                                        <p:cTn id="63" dur="1822" tmFilter="0,0; 0.14,0.36; 0.43,0.73; 0.71,0.91; 1.0,1.0">
                                          <p:stCondLst>
                                            <p:cond delay="0"/>
                                          </p:stCondLst>
                                        </p:cTn>
                                        <p:tgtEl>
                                          <p:spTgt spid="40"/>
                                        </p:tgtEl>
                                        <p:attrNameLst>
                                          <p:attrName>ppt_x</p:attrName>
                                        </p:attrNameLst>
                                      </p:cBhvr>
                                      <p:tavLst>
                                        <p:tav tm="0">
                                          <p:val>
                                            <p:strVal val="#ppt_x-0.25"/>
                                          </p:val>
                                        </p:tav>
                                        <p:tav tm="100000">
                                          <p:val>
                                            <p:strVal val="#ppt_x"/>
                                          </p:val>
                                        </p:tav>
                                      </p:tavLst>
                                    </p:anim>
                                    <p:anim calcmode="lin" valueType="num">
                                      <p:cBhvr>
                                        <p:cTn id="64" dur="664" tmFilter="0.0,0.0; 0.25,0.07; 0.50,0.2; 0.75,0.467; 1.0,1.0">
                                          <p:stCondLst>
                                            <p:cond delay="0"/>
                                          </p:stCondLst>
                                        </p:cTn>
                                        <p:tgtEl>
                                          <p:spTgt spid="40"/>
                                        </p:tgtEl>
                                        <p:attrNameLst>
                                          <p:attrName>ppt_y</p:attrName>
                                        </p:attrNameLst>
                                      </p:cBhvr>
                                      <p:tavLst>
                                        <p:tav tm="0" fmla="#ppt_y-sin(pi*$)/3">
                                          <p:val>
                                            <p:fltVal val="0.5"/>
                                          </p:val>
                                        </p:tav>
                                        <p:tav tm="100000">
                                          <p:val>
                                            <p:fltVal val="1"/>
                                          </p:val>
                                        </p:tav>
                                      </p:tavLst>
                                    </p:anim>
                                    <p:anim calcmode="lin" valueType="num">
                                      <p:cBhvr>
                                        <p:cTn id="65" dur="664" tmFilter="0, 0; 0.125,0.2665; 0.25,0.4; 0.375,0.465; 0.5,0.5;  0.625,0.535; 0.75,0.6; 0.875,0.7335; 1,1">
                                          <p:stCondLst>
                                            <p:cond delay="664"/>
                                          </p:stCondLst>
                                        </p:cTn>
                                        <p:tgtEl>
                                          <p:spTgt spid="40"/>
                                        </p:tgtEl>
                                        <p:attrNameLst>
                                          <p:attrName>ppt_y</p:attrName>
                                        </p:attrNameLst>
                                      </p:cBhvr>
                                      <p:tavLst>
                                        <p:tav tm="0" fmla="#ppt_y-sin(pi*$)/9">
                                          <p:val>
                                            <p:fltVal val="0"/>
                                          </p:val>
                                        </p:tav>
                                        <p:tav tm="100000">
                                          <p:val>
                                            <p:fltVal val="1"/>
                                          </p:val>
                                        </p:tav>
                                      </p:tavLst>
                                    </p:anim>
                                    <p:anim calcmode="lin" valueType="num">
                                      <p:cBhvr>
                                        <p:cTn id="66" dur="332" tmFilter="0, 0; 0.125,0.2665; 0.25,0.4; 0.375,0.465; 0.5,0.5;  0.625,0.535; 0.75,0.6; 0.875,0.7335; 1,1">
                                          <p:stCondLst>
                                            <p:cond delay="1324"/>
                                          </p:stCondLst>
                                        </p:cTn>
                                        <p:tgtEl>
                                          <p:spTgt spid="40"/>
                                        </p:tgtEl>
                                        <p:attrNameLst>
                                          <p:attrName>ppt_y</p:attrName>
                                        </p:attrNameLst>
                                      </p:cBhvr>
                                      <p:tavLst>
                                        <p:tav tm="0" fmla="#ppt_y-sin(pi*$)/27">
                                          <p:val>
                                            <p:fltVal val="0"/>
                                          </p:val>
                                        </p:tav>
                                        <p:tav tm="100000">
                                          <p:val>
                                            <p:fltVal val="1"/>
                                          </p:val>
                                        </p:tav>
                                      </p:tavLst>
                                    </p:anim>
                                    <p:anim calcmode="lin" valueType="num">
                                      <p:cBhvr>
                                        <p:cTn id="67" dur="164" tmFilter="0, 0; 0.125,0.2665; 0.25,0.4; 0.375,0.465; 0.5,0.5;  0.625,0.535; 0.75,0.6; 0.875,0.7335; 1,1">
                                          <p:stCondLst>
                                            <p:cond delay="1656"/>
                                          </p:stCondLst>
                                        </p:cTn>
                                        <p:tgtEl>
                                          <p:spTgt spid="40"/>
                                        </p:tgtEl>
                                        <p:attrNameLst>
                                          <p:attrName>ppt_y</p:attrName>
                                        </p:attrNameLst>
                                      </p:cBhvr>
                                      <p:tavLst>
                                        <p:tav tm="0" fmla="#ppt_y-sin(pi*$)/81">
                                          <p:val>
                                            <p:fltVal val="0"/>
                                          </p:val>
                                        </p:tav>
                                        <p:tav tm="100000">
                                          <p:val>
                                            <p:fltVal val="1"/>
                                          </p:val>
                                        </p:tav>
                                      </p:tavLst>
                                    </p:anim>
                                    <p:animScale>
                                      <p:cBhvr>
                                        <p:cTn id="68" dur="26">
                                          <p:stCondLst>
                                            <p:cond delay="650"/>
                                          </p:stCondLst>
                                        </p:cTn>
                                        <p:tgtEl>
                                          <p:spTgt spid="40"/>
                                        </p:tgtEl>
                                      </p:cBhvr>
                                      <p:to x="100000" y="60000"/>
                                    </p:animScale>
                                    <p:animScale>
                                      <p:cBhvr>
                                        <p:cTn id="69" dur="166" decel="50000">
                                          <p:stCondLst>
                                            <p:cond delay="676"/>
                                          </p:stCondLst>
                                        </p:cTn>
                                        <p:tgtEl>
                                          <p:spTgt spid="40"/>
                                        </p:tgtEl>
                                      </p:cBhvr>
                                      <p:to x="100000" y="100000"/>
                                    </p:animScale>
                                    <p:animScale>
                                      <p:cBhvr>
                                        <p:cTn id="70" dur="26">
                                          <p:stCondLst>
                                            <p:cond delay="1312"/>
                                          </p:stCondLst>
                                        </p:cTn>
                                        <p:tgtEl>
                                          <p:spTgt spid="40"/>
                                        </p:tgtEl>
                                      </p:cBhvr>
                                      <p:to x="100000" y="80000"/>
                                    </p:animScale>
                                    <p:animScale>
                                      <p:cBhvr>
                                        <p:cTn id="71" dur="166" decel="50000">
                                          <p:stCondLst>
                                            <p:cond delay="1338"/>
                                          </p:stCondLst>
                                        </p:cTn>
                                        <p:tgtEl>
                                          <p:spTgt spid="40"/>
                                        </p:tgtEl>
                                      </p:cBhvr>
                                      <p:to x="100000" y="100000"/>
                                    </p:animScale>
                                    <p:animScale>
                                      <p:cBhvr>
                                        <p:cTn id="72" dur="26">
                                          <p:stCondLst>
                                            <p:cond delay="1642"/>
                                          </p:stCondLst>
                                        </p:cTn>
                                        <p:tgtEl>
                                          <p:spTgt spid="40"/>
                                        </p:tgtEl>
                                      </p:cBhvr>
                                      <p:to x="100000" y="90000"/>
                                    </p:animScale>
                                    <p:animScale>
                                      <p:cBhvr>
                                        <p:cTn id="73" dur="166" decel="50000">
                                          <p:stCondLst>
                                            <p:cond delay="1668"/>
                                          </p:stCondLst>
                                        </p:cTn>
                                        <p:tgtEl>
                                          <p:spTgt spid="40"/>
                                        </p:tgtEl>
                                      </p:cBhvr>
                                      <p:to x="100000" y="100000"/>
                                    </p:animScale>
                                    <p:animScale>
                                      <p:cBhvr>
                                        <p:cTn id="74" dur="26">
                                          <p:stCondLst>
                                            <p:cond delay="1808"/>
                                          </p:stCondLst>
                                        </p:cTn>
                                        <p:tgtEl>
                                          <p:spTgt spid="40"/>
                                        </p:tgtEl>
                                      </p:cBhvr>
                                      <p:to x="100000" y="95000"/>
                                    </p:animScale>
                                    <p:animScale>
                                      <p:cBhvr>
                                        <p:cTn id="75" dur="166" decel="50000">
                                          <p:stCondLst>
                                            <p:cond delay="1834"/>
                                          </p:stCondLst>
                                        </p:cTn>
                                        <p:tgtEl>
                                          <p:spTgt spid="40"/>
                                        </p:tgtEl>
                                      </p:cBhvr>
                                      <p:to x="100000" y="100000"/>
                                    </p:animScale>
                                  </p:childTnLst>
                                </p:cTn>
                              </p:par>
                              <p:par>
                                <p:cTn id="76" presetID="26" presetClass="entr" presetSubtype="0" fill="hold" nodeType="withEffect">
                                  <p:stCondLst>
                                    <p:cond delay="0"/>
                                  </p:stCondLst>
                                  <p:childTnLst>
                                    <p:set>
                                      <p:cBhvr>
                                        <p:cTn id="77" dur="1" fill="hold">
                                          <p:stCondLst>
                                            <p:cond delay="0"/>
                                          </p:stCondLst>
                                        </p:cTn>
                                        <p:tgtEl>
                                          <p:spTgt spid="46"/>
                                        </p:tgtEl>
                                        <p:attrNameLst>
                                          <p:attrName>style.visibility</p:attrName>
                                        </p:attrNameLst>
                                      </p:cBhvr>
                                      <p:to>
                                        <p:strVal val="visible"/>
                                      </p:to>
                                    </p:set>
                                    <p:animEffect transition="in" filter="wipe(down)">
                                      <p:cBhvr>
                                        <p:cTn id="78" dur="580">
                                          <p:stCondLst>
                                            <p:cond delay="0"/>
                                          </p:stCondLst>
                                        </p:cTn>
                                        <p:tgtEl>
                                          <p:spTgt spid="46"/>
                                        </p:tgtEl>
                                      </p:cBhvr>
                                    </p:animEffect>
                                    <p:anim calcmode="lin" valueType="num">
                                      <p:cBhvr>
                                        <p:cTn id="79" dur="1822" tmFilter="0,0; 0.14,0.36; 0.43,0.73; 0.71,0.91; 1.0,1.0">
                                          <p:stCondLst>
                                            <p:cond delay="0"/>
                                          </p:stCondLst>
                                        </p:cTn>
                                        <p:tgtEl>
                                          <p:spTgt spid="46"/>
                                        </p:tgtEl>
                                        <p:attrNameLst>
                                          <p:attrName>ppt_x</p:attrName>
                                        </p:attrNameLst>
                                      </p:cBhvr>
                                      <p:tavLst>
                                        <p:tav tm="0">
                                          <p:val>
                                            <p:strVal val="#ppt_x-0.25"/>
                                          </p:val>
                                        </p:tav>
                                        <p:tav tm="100000">
                                          <p:val>
                                            <p:strVal val="#ppt_x"/>
                                          </p:val>
                                        </p:tav>
                                      </p:tavLst>
                                    </p:anim>
                                    <p:anim calcmode="lin" valueType="num">
                                      <p:cBhvr>
                                        <p:cTn id="80" dur="664" tmFilter="0.0,0.0; 0.25,0.07; 0.50,0.2; 0.75,0.467; 1.0,1.0">
                                          <p:stCondLst>
                                            <p:cond delay="0"/>
                                          </p:stCondLst>
                                        </p:cTn>
                                        <p:tgtEl>
                                          <p:spTgt spid="46"/>
                                        </p:tgtEl>
                                        <p:attrNameLst>
                                          <p:attrName>ppt_y</p:attrName>
                                        </p:attrNameLst>
                                      </p:cBhvr>
                                      <p:tavLst>
                                        <p:tav tm="0" fmla="#ppt_y-sin(pi*$)/3">
                                          <p:val>
                                            <p:fltVal val="0.5"/>
                                          </p:val>
                                        </p:tav>
                                        <p:tav tm="100000">
                                          <p:val>
                                            <p:fltVal val="1"/>
                                          </p:val>
                                        </p:tav>
                                      </p:tavLst>
                                    </p:anim>
                                    <p:anim calcmode="lin" valueType="num">
                                      <p:cBhvr>
                                        <p:cTn id="81" dur="664" tmFilter="0, 0; 0.125,0.2665; 0.25,0.4; 0.375,0.465; 0.5,0.5;  0.625,0.535; 0.75,0.6; 0.875,0.7335; 1,1">
                                          <p:stCondLst>
                                            <p:cond delay="664"/>
                                          </p:stCondLst>
                                        </p:cTn>
                                        <p:tgtEl>
                                          <p:spTgt spid="46"/>
                                        </p:tgtEl>
                                        <p:attrNameLst>
                                          <p:attrName>ppt_y</p:attrName>
                                        </p:attrNameLst>
                                      </p:cBhvr>
                                      <p:tavLst>
                                        <p:tav tm="0" fmla="#ppt_y-sin(pi*$)/9">
                                          <p:val>
                                            <p:fltVal val="0"/>
                                          </p:val>
                                        </p:tav>
                                        <p:tav tm="100000">
                                          <p:val>
                                            <p:fltVal val="1"/>
                                          </p:val>
                                        </p:tav>
                                      </p:tavLst>
                                    </p:anim>
                                    <p:anim calcmode="lin" valueType="num">
                                      <p:cBhvr>
                                        <p:cTn id="82" dur="332" tmFilter="0, 0; 0.125,0.2665; 0.25,0.4; 0.375,0.465; 0.5,0.5;  0.625,0.535; 0.75,0.6; 0.875,0.7335; 1,1">
                                          <p:stCondLst>
                                            <p:cond delay="1324"/>
                                          </p:stCondLst>
                                        </p:cTn>
                                        <p:tgtEl>
                                          <p:spTgt spid="46"/>
                                        </p:tgtEl>
                                        <p:attrNameLst>
                                          <p:attrName>ppt_y</p:attrName>
                                        </p:attrNameLst>
                                      </p:cBhvr>
                                      <p:tavLst>
                                        <p:tav tm="0" fmla="#ppt_y-sin(pi*$)/27">
                                          <p:val>
                                            <p:fltVal val="0"/>
                                          </p:val>
                                        </p:tav>
                                        <p:tav tm="100000">
                                          <p:val>
                                            <p:fltVal val="1"/>
                                          </p:val>
                                        </p:tav>
                                      </p:tavLst>
                                    </p:anim>
                                    <p:anim calcmode="lin" valueType="num">
                                      <p:cBhvr>
                                        <p:cTn id="83" dur="164" tmFilter="0, 0; 0.125,0.2665; 0.25,0.4; 0.375,0.465; 0.5,0.5;  0.625,0.535; 0.75,0.6; 0.875,0.7335; 1,1">
                                          <p:stCondLst>
                                            <p:cond delay="1656"/>
                                          </p:stCondLst>
                                        </p:cTn>
                                        <p:tgtEl>
                                          <p:spTgt spid="46"/>
                                        </p:tgtEl>
                                        <p:attrNameLst>
                                          <p:attrName>ppt_y</p:attrName>
                                        </p:attrNameLst>
                                      </p:cBhvr>
                                      <p:tavLst>
                                        <p:tav tm="0" fmla="#ppt_y-sin(pi*$)/81">
                                          <p:val>
                                            <p:fltVal val="0"/>
                                          </p:val>
                                        </p:tav>
                                        <p:tav tm="100000">
                                          <p:val>
                                            <p:fltVal val="1"/>
                                          </p:val>
                                        </p:tav>
                                      </p:tavLst>
                                    </p:anim>
                                    <p:animScale>
                                      <p:cBhvr>
                                        <p:cTn id="84" dur="26">
                                          <p:stCondLst>
                                            <p:cond delay="650"/>
                                          </p:stCondLst>
                                        </p:cTn>
                                        <p:tgtEl>
                                          <p:spTgt spid="46"/>
                                        </p:tgtEl>
                                      </p:cBhvr>
                                      <p:to x="100000" y="60000"/>
                                    </p:animScale>
                                    <p:animScale>
                                      <p:cBhvr>
                                        <p:cTn id="85" dur="166" decel="50000">
                                          <p:stCondLst>
                                            <p:cond delay="676"/>
                                          </p:stCondLst>
                                        </p:cTn>
                                        <p:tgtEl>
                                          <p:spTgt spid="46"/>
                                        </p:tgtEl>
                                      </p:cBhvr>
                                      <p:to x="100000" y="100000"/>
                                    </p:animScale>
                                    <p:animScale>
                                      <p:cBhvr>
                                        <p:cTn id="86" dur="26">
                                          <p:stCondLst>
                                            <p:cond delay="1312"/>
                                          </p:stCondLst>
                                        </p:cTn>
                                        <p:tgtEl>
                                          <p:spTgt spid="46"/>
                                        </p:tgtEl>
                                      </p:cBhvr>
                                      <p:to x="100000" y="80000"/>
                                    </p:animScale>
                                    <p:animScale>
                                      <p:cBhvr>
                                        <p:cTn id="87" dur="166" decel="50000">
                                          <p:stCondLst>
                                            <p:cond delay="1338"/>
                                          </p:stCondLst>
                                        </p:cTn>
                                        <p:tgtEl>
                                          <p:spTgt spid="46"/>
                                        </p:tgtEl>
                                      </p:cBhvr>
                                      <p:to x="100000" y="100000"/>
                                    </p:animScale>
                                    <p:animScale>
                                      <p:cBhvr>
                                        <p:cTn id="88" dur="26">
                                          <p:stCondLst>
                                            <p:cond delay="1642"/>
                                          </p:stCondLst>
                                        </p:cTn>
                                        <p:tgtEl>
                                          <p:spTgt spid="46"/>
                                        </p:tgtEl>
                                      </p:cBhvr>
                                      <p:to x="100000" y="90000"/>
                                    </p:animScale>
                                    <p:animScale>
                                      <p:cBhvr>
                                        <p:cTn id="89" dur="166" decel="50000">
                                          <p:stCondLst>
                                            <p:cond delay="1668"/>
                                          </p:stCondLst>
                                        </p:cTn>
                                        <p:tgtEl>
                                          <p:spTgt spid="46"/>
                                        </p:tgtEl>
                                      </p:cBhvr>
                                      <p:to x="100000" y="100000"/>
                                    </p:animScale>
                                    <p:animScale>
                                      <p:cBhvr>
                                        <p:cTn id="90" dur="26">
                                          <p:stCondLst>
                                            <p:cond delay="1808"/>
                                          </p:stCondLst>
                                        </p:cTn>
                                        <p:tgtEl>
                                          <p:spTgt spid="46"/>
                                        </p:tgtEl>
                                      </p:cBhvr>
                                      <p:to x="100000" y="95000"/>
                                    </p:animScale>
                                    <p:animScale>
                                      <p:cBhvr>
                                        <p:cTn id="91" dur="166" decel="50000">
                                          <p:stCondLst>
                                            <p:cond delay="1834"/>
                                          </p:stCondLst>
                                        </p:cTn>
                                        <p:tgtEl>
                                          <p:spTgt spid="46"/>
                                        </p:tgtEl>
                                      </p:cBhvr>
                                      <p:to x="100000" y="100000"/>
                                    </p:animScale>
                                  </p:childTnLst>
                                </p:cTn>
                              </p:par>
                              <p:par>
                                <p:cTn id="92" presetID="26" presetClass="entr" presetSubtype="0" fill="hold" nodeType="withEffect">
                                  <p:stCondLst>
                                    <p:cond delay="0"/>
                                  </p:stCondLst>
                                  <p:childTnLst>
                                    <p:set>
                                      <p:cBhvr>
                                        <p:cTn id="93" dur="1" fill="hold">
                                          <p:stCondLst>
                                            <p:cond delay="0"/>
                                          </p:stCondLst>
                                        </p:cTn>
                                        <p:tgtEl>
                                          <p:spTgt spid="49"/>
                                        </p:tgtEl>
                                        <p:attrNameLst>
                                          <p:attrName>style.visibility</p:attrName>
                                        </p:attrNameLst>
                                      </p:cBhvr>
                                      <p:to>
                                        <p:strVal val="visible"/>
                                      </p:to>
                                    </p:set>
                                    <p:animEffect transition="in" filter="wipe(down)">
                                      <p:cBhvr>
                                        <p:cTn id="94" dur="580">
                                          <p:stCondLst>
                                            <p:cond delay="0"/>
                                          </p:stCondLst>
                                        </p:cTn>
                                        <p:tgtEl>
                                          <p:spTgt spid="49"/>
                                        </p:tgtEl>
                                      </p:cBhvr>
                                    </p:animEffect>
                                    <p:anim calcmode="lin" valueType="num">
                                      <p:cBhvr>
                                        <p:cTn id="95" dur="1822" tmFilter="0,0; 0.14,0.36; 0.43,0.73; 0.71,0.91; 1.0,1.0">
                                          <p:stCondLst>
                                            <p:cond delay="0"/>
                                          </p:stCondLst>
                                        </p:cTn>
                                        <p:tgtEl>
                                          <p:spTgt spid="49"/>
                                        </p:tgtEl>
                                        <p:attrNameLst>
                                          <p:attrName>ppt_x</p:attrName>
                                        </p:attrNameLst>
                                      </p:cBhvr>
                                      <p:tavLst>
                                        <p:tav tm="0">
                                          <p:val>
                                            <p:strVal val="#ppt_x-0.25"/>
                                          </p:val>
                                        </p:tav>
                                        <p:tav tm="100000">
                                          <p:val>
                                            <p:strVal val="#ppt_x"/>
                                          </p:val>
                                        </p:tav>
                                      </p:tavLst>
                                    </p:anim>
                                    <p:anim calcmode="lin" valueType="num">
                                      <p:cBhvr>
                                        <p:cTn id="96" dur="664" tmFilter="0.0,0.0; 0.25,0.07; 0.50,0.2; 0.75,0.467; 1.0,1.0">
                                          <p:stCondLst>
                                            <p:cond delay="0"/>
                                          </p:stCondLst>
                                        </p:cTn>
                                        <p:tgtEl>
                                          <p:spTgt spid="49"/>
                                        </p:tgtEl>
                                        <p:attrNameLst>
                                          <p:attrName>ppt_y</p:attrName>
                                        </p:attrNameLst>
                                      </p:cBhvr>
                                      <p:tavLst>
                                        <p:tav tm="0" fmla="#ppt_y-sin(pi*$)/3">
                                          <p:val>
                                            <p:fltVal val="0.5"/>
                                          </p:val>
                                        </p:tav>
                                        <p:tav tm="100000">
                                          <p:val>
                                            <p:fltVal val="1"/>
                                          </p:val>
                                        </p:tav>
                                      </p:tavLst>
                                    </p:anim>
                                    <p:anim calcmode="lin" valueType="num">
                                      <p:cBhvr>
                                        <p:cTn id="97" dur="664" tmFilter="0, 0; 0.125,0.2665; 0.25,0.4; 0.375,0.465; 0.5,0.5;  0.625,0.535; 0.75,0.6; 0.875,0.7335; 1,1">
                                          <p:stCondLst>
                                            <p:cond delay="664"/>
                                          </p:stCondLst>
                                        </p:cTn>
                                        <p:tgtEl>
                                          <p:spTgt spid="49"/>
                                        </p:tgtEl>
                                        <p:attrNameLst>
                                          <p:attrName>ppt_y</p:attrName>
                                        </p:attrNameLst>
                                      </p:cBhvr>
                                      <p:tavLst>
                                        <p:tav tm="0" fmla="#ppt_y-sin(pi*$)/9">
                                          <p:val>
                                            <p:fltVal val="0"/>
                                          </p:val>
                                        </p:tav>
                                        <p:tav tm="100000">
                                          <p:val>
                                            <p:fltVal val="1"/>
                                          </p:val>
                                        </p:tav>
                                      </p:tavLst>
                                    </p:anim>
                                    <p:anim calcmode="lin" valueType="num">
                                      <p:cBhvr>
                                        <p:cTn id="98" dur="332" tmFilter="0, 0; 0.125,0.2665; 0.25,0.4; 0.375,0.465; 0.5,0.5;  0.625,0.535; 0.75,0.6; 0.875,0.7335; 1,1">
                                          <p:stCondLst>
                                            <p:cond delay="1324"/>
                                          </p:stCondLst>
                                        </p:cTn>
                                        <p:tgtEl>
                                          <p:spTgt spid="49"/>
                                        </p:tgtEl>
                                        <p:attrNameLst>
                                          <p:attrName>ppt_y</p:attrName>
                                        </p:attrNameLst>
                                      </p:cBhvr>
                                      <p:tavLst>
                                        <p:tav tm="0" fmla="#ppt_y-sin(pi*$)/27">
                                          <p:val>
                                            <p:fltVal val="0"/>
                                          </p:val>
                                        </p:tav>
                                        <p:tav tm="100000">
                                          <p:val>
                                            <p:fltVal val="1"/>
                                          </p:val>
                                        </p:tav>
                                      </p:tavLst>
                                    </p:anim>
                                    <p:anim calcmode="lin" valueType="num">
                                      <p:cBhvr>
                                        <p:cTn id="99" dur="164" tmFilter="0, 0; 0.125,0.2665; 0.25,0.4; 0.375,0.465; 0.5,0.5;  0.625,0.535; 0.75,0.6; 0.875,0.7335; 1,1">
                                          <p:stCondLst>
                                            <p:cond delay="1656"/>
                                          </p:stCondLst>
                                        </p:cTn>
                                        <p:tgtEl>
                                          <p:spTgt spid="49"/>
                                        </p:tgtEl>
                                        <p:attrNameLst>
                                          <p:attrName>ppt_y</p:attrName>
                                        </p:attrNameLst>
                                      </p:cBhvr>
                                      <p:tavLst>
                                        <p:tav tm="0" fmla="#ppt_y-sin(pi*$)/81">
                                          <p:val>
                                            <p:fltVal val="0"/>
                                          </p:val>
                                        </p:tav>
                                        <p:tav tm="100000">
                                          <p:val>
                                            <p:fltVal val="1"/>
                                          </p:val>
                                        </p:tav>
                                      </p:tavLst>
                                    </p:anim>
                                    <p:animScale>
                                      <p:cBhvr>
                                        <p:cTn id="100" dur="26">
                                          <p:stCondLst>
                                            <p:cond delay="650"/>
                                          </p:stCondLst>
                                        </p:cTn>
                                        <p:tgtEl>
                                          <p:spTgt spid="49"/>
                                        </p:tgtEl>
                                      </p:cBhvr>
                                      <p:to x="100000" y="60000"/>
                                    </p:animScale>
                                    <p:animScale>
                                      <p:cBhvr>
                                        <p:cTn id="101" dur="166" decel="50000">
                                          <p:stCondLst>
                                            <p:cond delay="676"/>
                                          </p:stCondLst>
                                        </p:cTn>
                                        <p:tgtEl>
                                          <p:spTgt spid="49"/>
                                        </p:tgtEl>
                                      </p:cBhvr>
                                      <p:to x="100000" y="100000"/>
                                    </p:animScale>
                                    <p:animScale>
                                      <p:cBhvr>
                                        <p:cTn id="102" dur="26">
                                          <p:stCondLst>
                                            <p:cond delay="1312"/>
                                          </p:stCondLst>
                                        </p:cTn>
                                        <p:tgtEl>
                                          <p:spTgt spid="49"/>
                                        </p:tgtEl>
                                      </p:cBhvr>
                                      <p:to x="100000" y="80000"/>
                                    </p:animScale>
                                    <p:animScale>
                                      <p:cBhvr>
                                        <p:cTn id="103" dur="166" decel="50000">
                                          <p:stCondLst>
                                            <p:cond delay="1338"/>
                                          </p:stCondLst>
                                        </p:cTn>
                                        <p:tgtEl>
                                          <p:spTgt spid="49"/>
                                        </p:tgtEl>
                                      </p:cBhvr>
                                      <p:to x="100000" y="100000"/>
                                    </p:animScale>
                                    <p:animScale>
                                      <p:cBhvr>
                                        <p:cTn id="104" dur="26">
                                          <p:stCondLst>
                                            <p:cond delay="1642"/>
                                          </p:stCondLst>
                                        </p:cTn>
                                        <p:tgtEl>
                                          <p:spTgt spid="49"/>
                                        </p:tgtEl>
                                      </p:cBhvr>
                                      <p:to x="100000" y="90000"/>
                                    </p:animScale>
                                    <p:animScale>
                                      <p:cBhvr>
                                        <p:cTn id="105" dur="166" decel="50000">
                                          <p:stCondLst>
                                            <p:cond delay="1668"/>
                                          </p:stCondLst>
                                        </p:cTn>
                                        <p:tgtEl>
                                          <p:spTgt spid="49"/>
                                        </p:tgtEl>
                                      </p:cBhvr>
                                      <p:to x="100000" y="100000"/>
                                    </p:animScale>
                                    <p:animScale>
                                      <p:cBhvr>
                                        <p:cTn id="106" dur="26">
                                          <p:stCondLst>
                                            <p:cond delay="1808"/>
                                          </p:stCondLst>
                                        </p:cTn>
                                        <p:tgtEl>
                                          <p:spTgt spid="49"/>
                                        </p:tgtEl>
                                      </p:cBhvr>
                                      <p:to x="100000" y="95000"/>
                                    </p:animScale>
                                    <p:animScale>
                                      <p:cBhvr>
                                        <p:cTn id="107" dur="166" decel="50000">
                                          <p:stCondLst>
                                            <p:cond delay="1834"/>
                                          </p:stCondLst>
                                        </p:cTn>
                                        <p:tgtEl>
                                          <p:spTgt spid="49"/>
                                        </p:tgtEl>
                                      </p:cBhvr>
                                      <p:to x="100000" y="100000"/>
                                    </p:animScale>
                                  </p:childTnLst>
                                </p:cTn>
                              </p:par>
                              <p:par>
                                <p:cTn id="108" presetID="26" presetClass="entr" presetSubtype="0" fill="hold" nodeType="withEffect">
                                  <p:stCondLst>
                                    <p:cond delay="0"/>
                                  </p:stCondLst>
                                  <p:childTnLst>
                                    <p:set>
                                      <p:cBhvr>
                                        <p:cTn id="109" dur="1" fill="hold">
                                          <p:stCondLst>
                                            <p:cond delay="0"/>
                                          </p:stCondLst>
                                        </p:cTn>
                                        <p:tgtEl>
                                          <p:spTgt spid="53"/>
                                        </p:tgtEl>
                                        <p:attrNameLst>
                                          <p:attrName>style.visibility</p:attrName>
                                        </p:attrNameLst>
                                      </p:cBhvr>
                                      <p:to>
                                        <p:strVal val="visible"/>
                                      </p:to>
                                    </p:set>
                                    <p:animEffect transition="in" filter="wipe(down)">
                                      <p:cBhvr>
                                        <p:cTn id="110" dur="580">
                                          <p:stCondLst>
                                            <p:cond delay="0"/>
                                          </p:stCondLst>
                                        </p:cTn>
                                        <p:tgtEl>
                                          <p:spTgt spid="53"/>
                                        </p:tgtEl>
                                      </p:cBhvr>
                                    </p:animEffect>
                                    <p:anim calcmode="lin" valueType="num">
                                      <p:cBhvr>
                                        <p:cTn id="111" dur="1822" tmFilter="0,0; 0.14,0.36; 0.43,0.73; 0.71,0.91; 1.0,1.0">
                                          <p:stCondLst>
                                            <p:cond delay="0"/>
                                          </p:stCondLst>
                                        </p:cTn>
                                        <p:tgtEl>
                                          <p:spTgt spid="53"/>
                                        </p:tgtEl>
                                        <p:attrNameLst>
                                          <p:attrName>ppt_x</p:attrName>
                                        </p:attrNameLst>
                                      </p:cBhvr>
                                      <p:tavLst>
                                        <p:tav tm="0">
                                          <p:val>
                                            <p:strVal val="#ppt_x-0.25"/>
                                          </p:val>
                                        </p:tav>
                                        <p:tav tm="100000">
                                          <p:val>
                                            <p:strVal val="#ppt_x"/>
                                          </p:val>
                                        </p:tav>
                                      </p:tavLst>
                                    </p:anim>
                                    <p:anim calcmode="lin" valueType="num">
                                      <p:cBhvr>
                                        <p:cTn id="112" dur="664" tmFilter="0.0,0.0; 0.25,0.07; 0.50,0.2; 0.75,0.467; 1.0,1.0">
                                          <p:stCondLst>
                                            <p:cond delay="0"/>
                                          </p:stCondLst>
                                        </p:cTn>
                                        <p:tgtEl>
                                          <p:spTgt spid="53"/>
                                        </p:tgtEl>
                                        <p:attrNameLst>
                                          <p:attrName>ppt_y</p:attrName>
                                        </p:attrNameLst>
                                      </p:cBhvr>
                                      <p:tavLst>
                                        <p:tav tm="0" fmla="#ppt_y-sin(pi*$)/3">
                                          <p:val>
                                            <p:fltVal val="0.5"/>
                                          </p:val>
                                        </p:tav>
                                        <p:tav tm="100000">
                                          <p:val>
                                            <p:fltVal val="1"/>
                                          </p:val>
                                        </p:tav>
                                      </p:tavLst>
                                    </p:anim>
                                    <p:anim calcmode="lin" valueType="num">
                                      <p:cBhvr>
                                        <p:cTn id="113" dur="664" tmFilter="0, 0; 0.125,0.2665; 0.25,0.4; 0.375,0.465; 0.5,0.5;  0.625,0.535; 0.75,0.6; 0.875,0.7335; 1,1">
                                          <p:stCondLst>
                                            <p:cond delay="664"/>
                                          </p:stCondLst>
                                        </p:cTn>
                                        <p:tgtEl>
                                          <p:spTgt spid="53"/>
                                        </p:tgtEl>
                                        <p:attrNameLst>
                                          <p:attrName>ppt_y</p:attrName>
                                        </p:attrNameLst>
                                      </p:cBhvr>
                                      <p:tavLst>
                                        <p:tav tm="0" fmla="#ppt_y-sin(pi*$)/9">
                                          <p:val>
                                            <p:fltVal val="0"/>
                                          </p:val>
                                        </p:tav>
                                        <p:tav tm="100000">
                                          <p:val>
                                            <p:fltVal val="1"/>
                                          </p:val>
                                        </p:tav>
                                      </p:tavLst>
                                    </p:anim>
                                    <p:anim calcmode="lin" valueType="num">
                                      <p:cBhvr>
                                        <p:cTn id="114" dur="332" tmFilter="0, 0; 0.125,0.2665; 0.25,0.4; 0.375,0.465; 0.5,0.5;  0.625,0.535; 0.75,0.6; 0.875,0.7335; 1,1">
                                          <p:stCondLst>
                                            <p:cond delay="1324"/>
                                          </p:stCondLst>
                                        </p:cTn>
                                        <p:tgtEl>
                                          <p:spTgt spid="53"/>
                                        </p:tgtEl>
                                        <p:attrNameLst>
                                          <p:attrName>ppt_y</p:attrName>
                                        </p:attrNameLst>
                                      </p:cBhvr>
                                      <p:tavLst>
                                        <p:tav tm="0" fmla="#ppt_y-sin(pi*$)/27">
                                          <p:val>
                                            <p:fltVal val="0"/>
                                          </p:val>
                                        </p:tav>
                                        <p:tav tm="100000">
                                          <p:val>
                                            <p:fltVal val="1"/>
                                          </p:val>
                                        </p:tav>
                                      </p:tavLst>
                                    </p:anim>
                                    <p:anim calcmode="lin" valueType="num">
                                      <p:cBhvr>
                                        <p:cTn id="115" dur="164" tmFilter="0, 0; 0.125,0.2665; 0.25,0.4; 0.375,0.465; 0.5,0.5;  0.625,0.535; 0.75,0.6; 0.875,0.7335; 1,1">
                                          <p:stCondLst>
                                            <p:cond delay="1656"/>
                                          </p:stCondLst>
                                        </p:cTn>
                                        <p:tgtEl>
                                          <p:spTgt spid="53"/>
                                        </p:tgtEl>
                                        <p:attrNameLst>
                                          <p:attrName>ppt_y</p:attrName>
                                        </p:attrNameLst>
                                      </p:cBhvr>
                                      <p:tavLst>
                                        <p:tav tm="0" fmla="#ppt_y-sin(pi*$)/81">
                                          <p:val>
                                            <p:fltVal val="0"/>
                                          </p:val>
                                        </p:tav>
                                        <p:tav tm="100000">
                                          <p:val>
                                            <p:fltVal val="1"/>
                                          </p:val>
                                        </p:tav>
                                      </p:tavLst>
                                    </p:anim>
                                    <p:animScale>
                                      <p:cBhvr>
                                        <p:cTn id="116" dur="26">
                                          <p:stCondLst>
                                            <p:cond delay="650"/>
                                          </p:stCondLst>
                                        </p:cTn>
                                        <p:tgtEl>
                                          <p:spTgt spid="53"/>
                                        </p:tgtEl>
                                      </p:cBhvr>
                                      <p:to x="100000" y="60000"/>
                                    </p:animScale>
                                    <p:animScale>
                                      <p:cBhvr>
                                        <p:cTn id="117" dur="166" decel="50000">
                                          <p:stCondLst>
                                            <p:cond delay="676"/>
                                          </p:stCondLst>
                                        </p:cTn>
                                        <p:tgtEl>
                                          <p:spTgt spid="53"/>
                                        </p:tgtEl>
                                      </p:cBhvr>
                                      <p:to x="100000" y="100000"/>
                                    </p:animScale>
                                    <p:animScale>
                                      <p:cBhvr>
                                        <p:cTn id="118" dur="26">
                                          <p:stCondLst>
                                            <p:cond delay="1312"/>
                                          </p:stCondLst>
                                        </p:cTn>
                                        <p:tgtEl>
                                          <p:spTgt spid="53"/>
                                        </p:tgtEl>
                                      </p:cBhvr>
                                      <p:to x="100000" y="80000"/>
                                    </p:animScale>
                                    <p:animScale>
                                      <p:cBhvr>
                                        <p:cTn id="119" dur="166" decel="50000">
                                          <p:stCondLst>
                                            <p:cond delay="1338"/>
                                          </p:stCondLst>
                                        </p:cTn>
                                        <p:tgtEl>
                                          <p:spTgt spid="53"/>
                                        </p:tgtEl>
                                      </p:cBhvr>
                                      <p:to x="100000" y="100000"/>
                                    </p:animScale>
                                    <p:animScale>
                                      <p:cBhvr>
                                        <p:cTn id="120" dur="26">
                                          <p:stCondLst>
                                            <p:cond delay="1642"/>
                                          </p:stCondLst>
                                        </p:cTn>
                                        <p:tgtEl>
                                          <p:spTgt spid="53"/>
                                        </p:tgtEl>
                                      </p:cBhvr>
                                      <p:to x="100000" y="90000"/>
                                    </p:animScale>
                                    <p:animScale>
                                      <p:cBhvr>
                                        <p:cTn id="121" dur="166" decel="50000">
                                          <p:stCondLst>
                                            <p:cond delay="1668"/>
                                          </p:stCondLst>
                                        </p:cTn>
                                        <p:tgtEl>
                                          <p:spTgt spid="53"/>
                                        </p:tgtEl>
                                      </p:cBhvr>
                                      <p:to x="100000" y="100000"/>
                                    </p:animScale>
                                    <p:animScale>
                                      <p:cBhvr>
                                        <p:cTn id="122" dur="26">
                                          <p:stCondLst>
                                            <p:cond delay="1808"/>
                                          </p:stCondLst>
                                        </p:cTn>
                                        <p:tgtEl>
                                          <p:spTgt spid="53"/>
                                        </p:tgtEl>
                                      </p:cBhvr>
                                      <p:to x="100000" y="95000"/>
                                    </p:animScale>
                                    <p:animScale>
                                      <p:cBhvr>
                                        <p:cTn id="123" dur="166" decel="50000">
                                          <p:stCondLst>
                                            <p:cond delay="1834"/>
                                          </p:stCondLst>
                                        </p:cTn>
                                        <p:tgtEl>
                                          <p:spTgt spid="53"/>
                                        </p:tgtEl>
                                      </p:cBhvr>
                                      <p:to x="100000" y="100000"/>
                                    </p:animScale>
                                  </p:childTnLst>
                                </p:cTn>
                              </p:par>
                              <p:par>
                                <p:cTn id="124" presetID="26" presetClass="entr" presetSubtype="0" fill="hold" grpId="0" nodeType="withEffect">
                                  <p:stCondLst>
                                    <p:cond delay="0"/>
                                  </p:stCondLst>
                                  <p:childTnLst>
                                    <p:set>
                                      <p:cBhvr>
                                        <p:cTn id="125" dur="1" fill="hold">
                                          <p:stCondLst>
                                            <p:cond delay="0"/>
                                          </p:stCondLst>
                                        </p:cTn>
                                        <p:tgtEl>
                                          <p:spTgt spid="54"/>
                                        </p:tgtEl>
                                        <p:attrNameLst>
                                          <p:attrName>style.visibility</p:attrName>
                                        </p:attrNameLst>
                                      </p:cBhvr>
                                      <p:to>
                                        <p:strVal val="visible"/>
                                      </p:to>
                                    </p:set>
                                    <p:animEffect transition="in" filter="wipe(down)">
                                      <p:cBhvr>
                                        <p:cTn id="126" dur="580">
                                          <p:stCondLst>
                                            <p:cond delay="0"/>
                                          </p:stCondLst>
                                        </p:cTn>
                                        <p:tgtEl>
                                          <p:spTgt spid="54"/>
                                        </p:tgtEl>
                                      </p:cBhvr>
                                    </p:animEffect>
                                    <p:anim calcmode="lin" valueType="num">
                                      <p:cBhvr>
                                        <p:cTn id="127" dur="1822" tmFilter="0,0; 0.14,0.36; 0.43,0.73; 0.71,0.91; 1.0,1.0">
                                          <p:stCondLst>
                                            <p:cond delay="0"/>
                                          </p:stCondLst>
                                        </p:cTn>
                                        <p:tgtEl>
                                          <p:spTgt spid="54"/>
                                        </p:tgtEl>
                                        <p:attrNameLst>
                                          <p:attrName>ppt_x</p:attrName>
                                        </p:attrNameLst>
                                      </p:cBhvr>
                                      <p:tavLst>
                                        <p:tav tm="0">
                                          <p:val>
                                            <p:strVal val="#ppt_x-0.25"/>
                                          </p:val>
                                        </p:tav>
                                        <p:tav tm="100000">
                                          <p:val>
                                            <p:strVal val="#ppt_x"/>
                                          </p:val>
                                        </p:tav>
                                      </p:tavLst>
                                    </p:anim>
                                    <p:anim calcmode="lin" valueType="num">
                                      <p:cBhvr>
                                        <p:cTn id="128" dur="664" tmFilter="0.0,0.0; 0.25,0.07; 0.50,0.2; 0.75,0.467; 1.0,1.0">
                                          <p:stCondLst>
                                            <p:cond delay="0"/>
                                          </p:stCondLst>
                                        </p:cTn>
                                        <p:tgtEl>
                                          <p:spTgt spid="54"/>
                                        </p:tgtEl>
                                        <p:attrNameLst>
                                          <p:attrName>ppt_y</p:attrName>
                                        </p:attrNameLst>
                                      </p:cBhvr>
                                      <p:tavLst>
                                        <p:tav tm="0" fmla="#ppt_y-sin(pi*$)/3">
                                          <p:val>
                                            <p:fltVal val="0.5"/>
                                          </p:val>
                                        </p:tav>
                                        <p:tav tm="100000">
                                          <p:val>
                                            <p:fltVal val="1"/>
                                          </p:val>
                                        </p:tav>
                                      </p:tavLst>
                                    </p:anim>
                                    <p:anim calcmode="lin" valueType="num">
                                      <p:cBhvr>
                                        <p:cTn id="129" dur="664" tmFilter="0, 0; 0.125,0.2665; 0.25,0.4; 0.375,0.465; 0.5,0.5;  0.625,0.535; 0.75,0.6; 0.875,0.7335; 1,1">
                                          <p:stCondLst>
                                            <p:cond delay="664"/>
                                          </p:stCondLst>
                                        </p:cTn>
                                        <p:tgtEl>
                                          <p:spTgt spid="54"/>
                                        </p:tgtEl>
                                        <p:attrNameLst>
                                          <p:attrName>ppt_y</p:attrName>
                                        </p:attrNameLst>
                                      </p:cBhvr>
                                      <p:tavLst>
                                        <p:tav tm="0" fmla="#ppt_y-sin(pi*$)/9">
                                          <p:val>
                                            <p:fltVal val="0"/>
                                          </p:val>
                                        </p:tav>
                                        <p:tav tm="100000">
                                          <p:val>
                                            <p:fltVal val="1"/>
                                          </p:val>
                                        </p:tav>
                                      </p:tavLst>
                                    </p:anim>
                                    <p:anim calcmode="lin" valueType="num">
                                      <p:cBhvr>
                                        <p:cTn id="130" dur="332" tmFilter="0, 0; 0.125,0.2665; 0.25,0.4; 0.375,0.465; 0.5,0.5;  0.625,0.535; 0.75,0.6; 0.875,0.7335; 1,1">
                                          <p:stCondLst>
                                            <p:cond delay="1324"/>
                                          </p:stCondLst>
                                        </p:cTn>
                                        <p:tgtEl>
                                          <p:spTgt spid="54"/>
                                        </p:tgtEl>
                                        <p:attrNameLst>
                                          <p:attrName>ppt_y</p:attrName>
                                        </p:attrNameLst>
                                      </p:cBhvr>
                                      <p:tavLst>
                                        <p:tav tm="0" fmla="#ppt_y-sin(pi*$)/27">
                                          <p:val>
                                            <p:fltVal val="0"/>
                                          </p:val>
                                        </p:tav>
                                        <p:tav tm="100000">
                                          <p:val>
                                            <p:fltVal val="1"/>
                                          </p:val>
                                        </p:tav>
                                      </p:tavLst>
                                    </p:anim>
                                    <p:anim calcmode="lin" valueType="num">
                                      <p:cBhvr>
                                        <p:cTn id="131" dur="164" tmFilter="0, 0; 0.125,0.2665; 0.25,0.4; 0.375,0.465; 0.5,0.5;  0.625,0.535; 0.75,0.6; 0.875,0.7335; 1,1">
                                          <p:stCondLst>
                                            <p:cond delay="1656"/>
                                          </p:stCondLst>
                                        </p:cTn>
                                        <p:tgtEl>
                                          <p:spTgt spid="54"/>
                                        </p:tgtEl>
                                        <p:attrNameLst>
                                          <p:attrName>ppt_y</p:attrName>
                                        </p:attrNameLst>
                                      </p:cBhvr>
                                      <p:tavLst>
                                        <p:tav tm="0" fmla="#ppt_y-sin(pi*$)/81">
                                          <p:val>
                                            <p:fltVal val="0"/>
                                          </p:val>
                                        </p:tav>
                                        <p:tav tm="100000">
                                          <p:val>
                                            <p:fltVal val="1"/>
                                          </p:val>
                                        </p:tav>
                                      </p:tavLst>
                                    </p:anim>
                                    <p:animScale>
                                      <p:cBhvr>
                                        <p:cTn id="132" dur="26">
                                          <p:stCondLst>
                                            <p:cond delay="650"/>
                                          </p:stCondLst>
                                        </p:cTn>
                                        <p:tgtEl>
                                          <p:spTgt spid="54"/>
                                        </p:tgtEl>
                                      </p:cBhvr>
                                      <p:to x="100000" y="60000"/>
                                    </p:animScale>
                                    <p:animScale>
                                      <p:cBhvr>
                                        <p:cTn id="133" dur="166" decel="50000">
                                          <p:stCondLst>
                                            <p:cond delay="676"/>
                                          </p:stCondLst>
                                        </p:cTn>
                                        <p:tgtEl>
                                          <p:spTgt spid="54"/>
                                        </p:tgtEl>
                                      </p:cBhvr>
                                      <p:to x="100000" y="100000"/>
                                    </p:animScale>
                                    <p:animScale>
                                      <p:cBhvr>
                                        <p:cTn id="134" dur="26">
                                          <p:stCondLst>
                                            <p:cond delay="1312"/>
                                          </p:stCondLst>
                                        </p:cTn>
                                        <p:tgtEl>
                                          <p:spTgt spid="54"/>
                                        </p:tgtEl>
                                      </p:cBhvr>
                                      <p:to x="100000" y="80000"/>
                                    </p:animScale>
                                    <p:animScale>
                                      <p:cBhvr>
                                        <p:cTn id="135" dur="166" decel="50000">
                                          <p:stCondLst>
                                            <p:cond delay="1338"/>
                                          </p:stCondLst>
                                        </p:cTn>
                                        <p:tgtEl>
                                          <p:spTgt spid="54"/>
                                        </p:tgtEl>
                                      </p:cBhvr>
                                      <p:to x="100000" y="100000"/>
                                    </p:animScale>
                                    <p:animScale>
                                      <p:cBhvr>
                                        <p:cTn id="136" dur="26">
                                          <p:stCondLst>
                                            <p:cond delay="1642"/>
                                          </p:stCondLst>
                                        </p:cTn>
                                        <p:tgtEl>
                                          <p:spTgt spid="54"/>
                                        </p:tgtEl>
                                      </p:cBhvr>
                                      <p:to x="100000" y="90000"/>
                                    </p:animScale>
                                    <p:animScale>
                                      <p:cBhvr>
                                        <p:cTn id="137" dur="166" decel="50000">
                                          <p:stCondLst>
                                            <p:cond delay="1668"/>
                                          </p:stCondLst>
                                        </p:cTn>
                                        <p:tgtEl>
                                          <p:spTgt spid="54"/>
                                        </p:tgtEl>
                                      </p:cBhvr>
                                      <p:to x="100000" y="100000"/>
                                    </p:animScale>
                                    <p:animScale>
                                      <p:cBhvr>
                                        <p:cTn id="138" dur="26">
                                          <p:stCondLst>
                                            <p:cond delay="1808"/>
                                          </p:stCondLst>
                                        </p:cTn>
                                        <p:tgtEl>
                                          <p:spTgt spid="54"/>
                                        </p:tgtEl>
                                      </p:cBhvr>
                                      <p:to x="100000" y="95000"/>
                                    </p:animScale>
                                    <p:animScale>
                                      <p:cBhvr>
                                        <p:cTn id="139" dur="166" decel="50000">
                                          <p:stCondLst>
                                            <p:cond delay="1834"/>
                                          </p:stCondLst>
                                        </p:cTn>
                                        <p:tgtEl>
                                          <p:spTgt spid="54"/>
                                        </p:tgtEl>
                                      </p:cBhvr>
                                      <p:to x="100000" y="100000"/>
                                    </p:animScale>
                                  </p:childTnLst>
                                </p:cTn>
                              </p:par>
                              <p:par>
                                <p:cTn id="140" presetID="26" presetClass="entr" presetSubtype="0" fill="hold" nodeType="withEffect">
                                  <p:stCondLst>
                                    <p:cond delay="0"/>
                                  </p:stCondLst>
                                  <p:childTnLst>
                                    <p:set>
                                      <p:cBhvr>
                                        <p:cTn id="141" dur="1" fill="hold">
                                          <p:stCondLst>
                                            <p:cond delay="0"/>
                                          </p:stCondLst>
                                        </p:cTn>
                                        <p:tgtEl>
                                          <p:spTgt spid="56"/>
                                        </p:tgtEl>
                                        <p:attrNameLst>
                                          <p:attrName>style.visibility</p:attrName>
                                        </p:attrNameLst>
                                      </p:cBhvr>
                                      <p:to>
                                        <p:strVal val="visible"/>
                                      </p:to>
                                    </p:set>
                                    <p:animEffect transition="in" filter="wipe(down)">
                                      <p:cBhvr>
                                        <p:cTn id="142" dur="580">
                                          <p:stCondLst>
                                            <p:cond delay="0"/>
                                          </p:stCondLst>
                                        </p:cTn>
                                        <p:tgtEl>
                                          <p:spTgt spid="56"/>
                                        </p:tgtEl>
                                      </p:cBhvr>
                                    </p:animEffect>
                                    <p:anim calcmode="lin" valueType="num">
                                      <p:cBhvr>
                                        <p:cTn id="143" dur="1822" tmFilter="0,0; 0.14,0.36; 0.43,0.73; 0.71,0.91; 1.0,1.0">
                                          <p:stCondLst>
                                            <p:cond delay="0"/>
                                          </p:stCondLst>
                                        </p:cTn>
                                        <p:tgtEl>
                                          <p:spTgt spid="56"/>
                                        </p:tgtEl>
                                        <p:attrNameLst>
                                          <p:attrName>ppt_x</p:attrName>
                                        </p:attrNameLst>
                                      </p:cBhvr>
                                      <p:tavLst>
                                        <p:tav tm="0">
                                          <p:val>
                                            <p:strVal val="#ppt_x-0.25"/>
                                          </p:val>
                                        </p:tav>
                                        <p:tav tm="100000">
                                          <p:val>
                                            <p:strVal val="#ppt_x"/>
                                          </p:val>
                                        </p:tav>
                                      </p:tavLst>
                                    </p:anim>
                                    <p:anim calcmode="lin" valueType="num">
                                      <p:cBhvr>
                                        <p:cTn id="144" dur="664" tmFilter="0.0,0.0; 0.25,0.07; 0.50,0.2; 0.75,0.467; 1.0,1.0">
                                          <p:stCondLst>
                                            <p:cond delay="0"/>
                                          </p:stCondLst>
                                        </p:cTn>
                                        <p:tgtEl>
                                          <p:spTgt spid="56"/>
                                        </p:tgtEl>
                                        <p:attrNameLst>
                                          <p:attrName>ppt_y</p:attrName>
                                        </p:attrNameLst>
                                      </p:cBhvr>
                                      <p:tavLst>
                                        <p:tav tm="0" fmla="#ppt_y-sin(pi*$)/3">
                                          <p:val>
                                            <p:fltVal val="0.5"/>
                                          </p:val>
                                        </p:tav>
                                        <p:tav tm="100000">
                                          <p:val>
                                            <p:fltVal val="1"/>
                                          </p:val>
                                        </p:tav>
                                      </p:tavLst>
                                    </p:anim>
                                    <p:anim calcmode="lin" valueType="num">
                                      <p:cBhvr>
                                        <p:cTn id="145" dur="664" tmFilter="0, 0; 0.125,0.2665; 0.25,0.4; 0.375,0.465; 0.5,0.5;  0.625,0.535; 0.75,0.6; 0.875,0.7335; 1,1">
                                          <p:stCondLst>
                                            <p:cond delay="664"/>
                                          </p:stCondLst>
                                        </p:cTn>
                                        <p:tgtEl>
                                          <p:spTgt spid="56"/>
                                        </p:tgtEl>
                                        <p:attrNameLst>
                                          <p:attrName>ppt_y</p:attrName>
                                        </p:attrNameLst>
                                      </p:cBhvr>
                                      <p:tavLst>
                                        <p:tav tm="0" fmla="#ppt_y-sin(pi*$)/9">
                                          <p:val>
                                            <p:fltVal val="0"/>
                                          </p:val>
                                        </p:tav>
                                        <p:tav tm="100000">
                                          <p:val>
                                            <p:fltVal val="1"/>
                                          </p:val>
                                        </p:tav>
                                      </p:tavLst>
                                    </p:anim>
                                    <p:anim calcmode="lin" valueType="num">
                                      <p:cBhvr>
                                        <p:cTn id="146" dur="332" tmFilter="0, 0; 0.125,0.2665; 0.25,0.4; 0.375,0.465; 0.5,0.5;  0.625,0.535; 0.75,0.6; 0.875,0.7335; 1,1">
                                          <p:stCondLst>
                                            <p:cond delay="1324"/>
                                          </p:stCondLst>
                                        </p:cTn>
                                        <p:tgtEl>
                                          <p:spTgt spid="56"/>
                                        </p:tgtEl>
                                        <p:attrNameLst>
                                          <p:attrName>ppt_y</p:attrName>
                                        </p:attrNameLst>
                                      </p:cBhvr>
                                      <p:tavLst>
                                        <p:tav tm="0" fmla="#ppt_y-sin(pi*$)/27">
                                          <p:val>
                                            <p:fltVal val="0"/>
                                          </p:val>
                                        </p:tav>
                                        <p:tav tm="100000">
                                          <p:val>
                                            <p:fltVal val="1"/>
                                          </p:val>
                                        </p:tav>
                                      </p:tavLst>
                                    </p:anim>
                                    <p:anim calcmode="lin" valueType="num">
                                      <p:cBhvr>
                                        <p:cTn id="147" dur="164" tmFilter="0, 0; 0.125,0.2665; 0.25,0.4; 0.375,0.465; 0.5,0.5;  0.625,0.535; 0.75,0.6; 0.875,0.7335; 1,1">
                                          <p:stCondLst>
                                            <p:cond delay="1656"/>
                                          </p:stCondLst>
                                        </p:cTn>
                                        <p:tgtEl>
                                          <p:spTgt spid="56"/>
                                        </p:tgtEl>
                                        <p:attrNameLst>
                                          <p:attrName>ppt_y</p:attrName>
                                        </p:attrNameLst>
                                      </p:cBhvr>
                                      <p:tavLst>
                                        <p:tav tm="0" fmla="#ppt_y-sin(pi*$)/81">
                                          <p:val>
                                            <p:fltVal val="0"/>
                                          </p:val>
                                        </p:tav>
                                        <p:tav tm="100000">
                                          <p:val>
                                            <p:fltVal val="1"/>
                                          </p:val>
                                        </p:tav>
                                      </p:tavLst>
                                    </p:anim>
                                    <p:animScale>
                                      <p:cBhvr>
                                        <p:cTn id="148" dur="26">
                                          <p:stCondLst>
                                            <p:cond delay="650"/>
                                          </p:stCondLst>
                                        </p:cTn>
                                        <p:tgtEl>
                                          <p:spTgt spid="56"/>
                                        </p:tgtEl>
                                      </p:cBhvr>
                                      <p:to x="100000" y="60000"/>
                                    </p:animScale>
                                    <p:animScale>
                                      <p:cBhvr>
                                        <p:cTn id="149" dur="166" decel="50000">
                                          <p:stCondLst>
                                            <p:cond delay="676"/>
                                          </p:stCondLst>
                                        </p:cTn>
                                        <p:tgtEl>
                                          <p:spTgt spid="56"/>
                                        </p:tgtEl>
                                      </p:cBhvr>
                                      <p:to x="100000" y="100000"/>
                                    </p:animScale>
                                    <p:animScale>
                                      <p:cBhvr>
                                        <p:cTn id="150" dur="26">
                                          <p:stCondLst>
                                            <p:cond delay="1312"/>
                                          </p:stCondLst>
                                        </p:cTn>
                                        <p:tgtEl>
                                          <p:spTgt spid="56"/>
                                        </p:tgtEl>
                                      </p:cBhvr>
                                      <p:to x="100000" y="80000"/>
                                    </p:animScale>
                                    <p:animScale>
                                      <p:cBhvr>
                                        <p:cTn id="151" dur="166" decel="50000">
                                          <p:stCondLst>
                                            <p:cond delay="1338"/>
                                          </p:stCondLst>
                                        </p:cTn>
                                        <p:tgtEl>
                                          <p:spTgt spid="56"/>
                                        </p:tgtEl>
                                      </p:cBhvr>
                                      <p:to x="100000" y="100000"/>
                                    </p:animScale>
                                    <p:animScale>
                                      <p:cBhvr>
                                        <p:cTn id="152" dur="26">
                                          <p:stCondLst>
                                            <p:cond delay="1642"/>
                                          </p:stCondLst>
                                        </p:cTn>
                                        <p:tgtEl>
                                          <p:spTgt spid="56"/>
                                        </p:tgtEl>
                                      </p:cBhvr>
                                      <p:to x="100000" y="90000"/>
                                    </p:animScale>
                                    <p:animScale>
                                      <p:cBhvr>
                                        <p:cTn id="153" dur="166" decel="50000">
                                          <p:stCondLst>
                                            <p:cond delay="1668"/>
                                          </p:stCondLst>
                                        </p:cTn>
                                        <p:tgtEl>
                                          <p:spTgt spid="56"/>
                                        </p:tgtEl>
                                      </p:cBhvr>
                                      <p:to x="100000" y="100000"/>
                                    </p:animScale>
                                    <p:animScale>
                                      <p:cBhvr>
                                        <p:cTn id="154" dur="26">
                                          <p:stCondLst>
                                            <p:cond delay="1808"/>
                                          </p:stCondLst>
                                        </p:cTn>
                                        <p:tgtEl>
                                          <p:spTgt spid="56"/>
                                        </p:tgtEl>
                                      </p:cBhvr>
                                      <p:to x="100000" y="95000"/>
                                    </p:animScale>
                                    <p:animScale>
                                      <p:cBhvr>
                                        <p:cTn id="155" dur="166" decel="50000">
                                          <p:stCondLst>
                                            <p:cond delay="1834"/>
                                          </p:stCondLst>
                                        </p:cTn>
                                        <p:tgtEl>
                                          <p:spTgt spid="56"/>
                                        </p:tgtEl>
                                      </p:cBhvr>
                                      <p:to x="100000" y="100000"/>
                                    </p:animScale>
                                  </p:childTnLst>
                                </p:cTn>
                              </p:par>
                              <p:par>
                                <p:cTn id="156" presetID="26" presetClass="entr" presetSubtype="0" fill="hold" nodeType="withEffect">
                                  <p:stCondLst>
                                    <p:cond delay="0"/>
                                  </p:stCondLst>
                                  <p:childTnLst>
                                    <p:set>
                                      <p:cBhvr>
                                        <p:cTn id="157" dur="1" fill="hold">
                                          <p:stCondLst>
                                            <p:cond delay="0"/>
                                          </p:stCondLst>
                                        </p:cTn>
                                        <p:tgtEl>
                                          <p:spTgt spid="57"/>
                                        </p:tgtEl>
                                        <p:attrNameLst>
                                          <p:attrName>style.visibility</p:attrName>
                                        </p:attrNameLst>
                                      </p:cBhvr>
                                      <p:to>
                                        <p:strVal val="visible"/>
                                      </p:to>
                                    </p:set>
                                    <p:animEffect transition="in" filter="wipe(down)">
                                      <p:cBhvr>
                                        <p:cTn id="158" dur="580">
                                          <p:stCondLst>
                                            <p:cond delay="0"/>
                                          </p:stCondLst>
                                        </p:cTn>
                                        <p:tgtEl>
                                          <p:spTgt spid="57"/>
                                        </p:tgtEl>
                                      </p:cBhvr>
                                    </p:animEffect>
                                    <p:anim calcmode="lin" valueType="num">
                                      <p:cBhvr>
                                        <p:cTn id="159" dur="1822" tmFilter="0,0; 0.14,0.36; 0.43,0.73; 0.71,0.91; 1.0,1.0">
                                          <p:stCondLst>
                                            <p:cond delay="0"/>
                                          </p:stCondLst>
                                        </p:cTn>
                                        <p:tgtEl>
                                          <p:spTgt spid="57"/>
                                        </p:tgtEl>
                                        <p:attrNameLst>
                                          <p:attrName>ppt_x</p:attrName>
                                        </p:attrNameLst>
                                      </p:cBhvr>
                                      <p:tavLst>
                                        <p:tav tm="0">
                                          <p:val>
                                            <p:strVal val="#ppt_x-0.25"/>
                                          </p:val>
                                        </p:tav>
                                        <p:tav tm="100000">
                                          <p:val>
                                            <p:strVal val="#ppt_x"/>
                                          </p:val>
                                        </p:tav>
                                      </p:tavLst>
                                    </p:anim>
                                    <p:anim calcmode="lin" valueType="num">
                                      <p:cBhvr>
                                        <p:cTn id="160" dur="664" tmFilter="0.0,0.0; 0.25,0.07; 0.50,0.2; 0.75,0.467; 1.0,1.0">
                                          <p:stCondLst>
                                            <p:cond delay="0"/>
                                          </p:stCondLst>
                                        </p:cTn>
                                        <p:tgtEl>
                                          <p:spTgt spid="57"/>
                                        </p:tgtEl>
                                        <p:attrNameLst>
                                          <p:attrName>ppt_y</p:attrName>
                                        </p:attrNameLst>
                                      </p:cBhvr>
                                      <p:tavLst>
                                        <p:tav tm="0" fmla="#ppt_y-sin(pi*$)/3">
                                          <p:val>
                                            <p:fltVal val="0.5"/>
                                          </p:val>
                                        </p:tav>
                                        <p:tav tm="100000">
                                          <p:val>
                                            <p:fltVal val="1"/>
                                          </p:val>
                                        </p:tav>
                                      </p:tavLst>
                                    </p:anim>
                                    <p:anim calcmode="lin" valueType="num">
                                      <p:cBhvr>
                                        <p:cTn id="161" dur="664" tmFilter="0, 0; 0.125,0.2665; 0.25,0.4; 0.375,0.465; 0.5,0.5;  0.625,0.535; 0.75,0.6; 0.875,0.7335; 1,1">
                                          <p:stCondLst>
                                            <p:cond delay="664"/>
                                          </p:stCondLst>
                                        </p:cTn>
                                        <p:tgtEl>
                                          <p:spTgt spid="57"/>
                                        </p:tgtEl>
                                        <p:attrNameLst>
                                          <p:attrName>ppt_y</p:attrName>
                                        </p:attrNameLst>
                                      </p:cBhvr>
                                      <p:tavLst>
                                        <p:tav tm="0" fmla="#ppt_y-sin(pi*$)/9">
                                          <p:val>
                                            <p:fltVal val="0"/>
                                          </p:val>
                                        </p:tav>
                                        <p:tav tm="100000">
                                          <p:val>
                                            <p:fltVal val="1"/>
                                          </p:val>
                                        </p:tav>
                                      </p:tavLst>
                                    </p:anim>
                                    <p:anim calcmode="lin" valueType="num">
                                      <p:cBhvr>
                                        <p:cTn id="162" dur="332" tmFilter="0, 0; 0.125,0.2665; 0.25,0.4; 0.375,0.465; 0.5,0.5;  0.625,0.535; 0.75,0.6; 0.875,0.7335; 1,1">
                                          <p:stCondLst>
                                            <p:cond delay="1324"/>
                                          </p:stCondLst>
                                        </p:cTn>
                                        <p:tgtEl>
                                          <p:spTgt spid="57"/>
                                        </p:tgtEl>
                                        <p:attrNameLst>
                                          <p:attrName>ppt_y</p:attrName>
                                        </p:attrNameLst>
                                      </p:cBhvr>
                                      <p:tavLst>
                                        <p:tav tm="0" fmla="#ppt_y-sin(pi*$)/27">
                                          <p:val>
                                            <p:fltVal val="0"/>
                                          </p:val>
                                        </p:tav>
                                        <p:tav tm="100000">
                                          <p:val>
                                            <p:fltVal val="1"/>
                                          </p:val>
                                        </p:tav>
                                      </p:tavLst>
                                    </p:anim>
                                    <p:anim calcmode="lin" valueType="num">
                                      <p:cBhvr>
                                        <p:cTn id="163" dur="164" tmFilter="0, 0; 0.125,0.2665; 0.25,0.4; 0.375,0.465; 0.5,0.5;  0.625,0.535; 0.75,0.6; 0.875,0.7335; 1,1">
                                          <p:stCondLst>
                                            <p:cond delay="1656"/>
                                          </p:stCondLst>
                                        </p:cTn>
                                        <p:tgtEl>
                                          <p:spTgt spid="57"/>
                                        </p:tgtEl>
                                        <p:attrNameLst>
                                          <p:attrName>ppt_y</p:attrName>
                                        </p:attrNameLst>
                                      </p:cBhvr>
                                      <p:tavLst>
                                        <p:tav tm="0" fmla="#ppt_y-sin(pi*$)/81">
                                          <p:val>
                                            <p:fltVal val="0"/>
                                          </p:val>
                                        </p:tav>
                                        <p:tav tm="100000">
                                          <p:val>
                                            <p:fltVal val="1"/>
                                          </p:val>
                                        </p:tav>
                                      </p:tavLst>
                                    </p:anim>
                                    <p:animScale>
                                      <p:cBhvr>
                                        <p:cTn id="164" dur="26">
                                          <p:stCondLst>
                                            <p:cond delay="650"/>
                                          </p:stCondLst>
                                        </p:cTn>
                                        <p:tgtEl>
                                          <p:spTgt spid="57"/>
                                        </p:tgtEl>
                                      </p:cBhvr>
                                      <p:to x="100000" y="60000"/>
                                    </p:animScale>
                                    <p:animScale>
                                      <p:cBhvr>
                                        <p:cTn id="165" dur="166" decel="50000">
                                          <p:stCondLst>
                                            <p:cond delay="676"/>
                                          </p:stCondLst>
                                        </p:cTn>
                                        <p:tgtEl>
                                          <p:spTgt spid="57"/>
                                        </p:tgtEl>
                                      </p:cBhvr>
                                      <p:to x="100000" y="100000"/>
                                    </p:animScale>
                                    <p:animScale>
                                      <p:cBhvr>
                                        <p:cTn id="166" dur="26">
                                          <p:stCondLst>
                                            <p:cond delay="1312"/>
                                          </p:stCondLst>
                                        </p:cTn>
                                        <p:tgtEl>
                                          <p:spTgt spid="57"/>
                                        </p:tgtEl>
                                      </p:cBhvr>
                                      <p:to x="100000" y="80000"/>
                                    </p:animScale>
                                    <p:animScale>
                                      <p:cBhvr>
                                        <p:cTn id="167" dur="166" decel="50000">
                                          <p:stCondLst>
                                            <p:cond delay="1338"/>
                                          </p:stCondLst>
                                        </p:cTn>
                                        <p:tgtEl>
                                          <p:spTgt spid="57"/>
                                        </p:tgtEl>
                                      </p:cBhvr>
                                      <p:to x="100000" y="100000"/>
                                    </p:animScale>
                                    <p:animScale>
                                      <p:cBhvr>
                                        <p:cTn id="168" dur="26">
                                          <p:stCondLst>
                                            <p:cond delay="1642"/>
                                          </p:stCondLst>
                                        </p:cTn>
                                        <p:tgtEl>
                                          <p:spTgt spid="57"/>
                                        </p:tgtEl>
                                      </p:cBhvr>
                                      <p:to x="100000" y="90000"/>
                                    </p:animScale>
                                    <p:animScale>
                                      <p:cBhvr>
                                        <p:cTn id="169" dur="166" decel="50000">
                                          <p:stCondLst>
                                            <p:cond delay="1668"/>
                                          </p:stCondLst>
                                        </p:cTn>
                                        <p:tgtEl>
                                          <p:spTgt spid="57"/>
                                        </p:tgtEl>
                                      </p:cBhvr>
                                      <p:to x="100000" y="100000"/>
                                    </p:animScale>
                                    <p:animScale>
                                      <p:cBhvr>
                                        <p:cTn id="170" dur="26">
                                          <p:stCondLst>
                                            <p:cond delay="1808"/>
                                          </p:stCondLst>
                                        </p:cTn>
                                        <p:tgtEl>
                                          <p:spTgt spid="57"/>
                                        </p:tgtEl>
                                      </p:cBhvr>
                                      <p:to x="100000" y="95000"/>
                                    </p:animScale>
                                    <p:animScale>
                                      <p:cBhvr>
                                        <p:cTn id="171" dur="166" decel="50000">
                                          <p:stCondLst>
                                            <p:cond delay="1834"/>
                                          </p:stCondLst>
                                        </p:cTn>
                                        <p:tgtEl>
                                          <p:spTgt spid="57"/>
                                        </p:tgtEl>
                                      </p:cBhvr>
                                      <p:to x="100000" y="100000"/>
                                    </p:animScale>
                                  </p:childTnLst>
                                </p:cTn>
                              </p:par>
                              <p:par>
                                <p:cTn id="172" presetID="26" presetClass="entr" presetSubtype="0" fill="hold" nodeType="withEffect">
                                  <p:stCondLst>
                                    <p:cond delay="0"/>
                                  </p:stCondLst>
                                  <p:childTnLst>
                                    <p:set>
                                      <p:cBhvr>
                                        <p:cTn id="173" dur="1" fill="hold">
                                          <p:stCondLst>
                                            <p:cond delay="0"/>
                                          </p:stCondLst>
                                        </p:cTn>
                                        <p:tgtEl>
                                          <p:spTgt spid="58"/>
                                        </p:tgtEl>
                                        <p:attrNameLst>
                                          <p:attrName>style.visibility</p:attrName>
                                        </p:attrNameLst>
                                      </p:cBhvr>
                                      <p:to>
                                        <p:strVal val="visible"/>
                                      </p:to>
                                    </p:set>
                                    <p:animEffect transition="in" filter="wipe(down)">
                                      <p:cBhvr>
                                        <p:cTn id="174" dur="580">
                                          <p:stCondLst>
                                            <p:cond delay="0"/>
                                          </p:stCondLst>
                                        </p:cTn>
                                        <p:tgtEl>
                                          <p:spTgt spid="58"/>
                                        </p:tgtEl>
                                      </p:cBhvr>
                                    </p:animEffect>
                                    <p:anim calcmode="lin" valueType="num">
                                      <p:cBhvr>
                                        <p:cTn id="175" dur="1822" tmFilter="0,0; 0.14,0.36; 0.43,0.73; 0.71,0.91; 1.0,1.0">
                                          <p:stCondLst>
                                            <p:cond delay="0"/>
                                          </p:stCondLst>
                                        </p:cTn>
                                        <p:tgtEl>
                                          <p:spTgt spid="58"/>
                                        </p:tgtEl>
                                        <p:attrNameLst>
                                          <p:attrName>ppt_x</p:attrName>
                                        </p:attrNameLst>
                                      </p:cBhvr>
                                      <p:tavLst>
                                        <p:tav tm="0">
                                          <p:val>
                                            <p:strVal val="#ppt_x-0.25"/>
                                          </p:val>
                                        </p:tav>
                                        <p:tav tm="100000">
                                          <p:val>
                                            <p:strVal val="#ppt_x"/>
                                          </p:val>
                                        </p:tav>
                                      </p:tavLst>
                                    </p:anim>
                                    <p:anim calcmode="lin" valueType="num">
                                      <p:cBhvr>
                                        <p:cTn id="176" dur="664" tmFilter="0.0,0.0; 0.25,0.07; 0.50,0.2; 0.75,0.467; 1.0,1.0">
                                          <p:stCondLst>
                                            <p:cond delay="0"/>
                                          </p:stCondLst>
                                        </p:cTn>
                                        <p:tgtEl>
                                          <p:spTgt spid="58"/>
                                        </p:tgtEl>
                                        <p:attrNameLst>
                                          <p:attrName>ppt_y</p:attrName>
                                        </p:attrNameLst>
                                      </p:cBhvr>
                                      <p:tavLst>
                                        <p:tav tm="0" fmla="#ppt_y-sin(pi*$)/3">
                                          <p:val>
                                            <p:fltVal val="0.5"/>
                                          </p:val>
                                        </p:tav>
                                        <p:tav tm="100000">
                                          <p:val>
                                            <p:fltVal val="1"/>
                                          </p:val>
                                        </p:tav>
                                      </p:tavLst>
                                    </p:anim>
                                    <p:anim calcmode="lin" valueType="num">
                                      <p:cBhvr>
                                        <p:cTn id="177" dur="664" tmFilter="0, 0; 0.125,0.2665; 0.25,0.4; 0.375,0.465; 0.5,0.5;  0.625,0.535; 0.75,0.6; 0.875,0.7335; 1,1">
                                          <p:stCondLst>
                                            <p:cond delay="664"/>
                                          </p:stCondLst>
                                        </p:cTn>
                                        <p:tgtEl>
                                          <p:spTgt spid="58"/>
                                        </p:tgtEl>
                                        <p:attrNameLst>
                                          <p:attrName>ppt_y</p:attrName>
                                        </p:attrNameLst>
                                      </p:cBhvr>
                                      <p:tavLst>
                                        <p:tav tm="0" fmla="#ppt_y-sin(pi*$)/9">
                                          <p:val>
                                            <p:fltVal val="0"/>
                                          </p:val>
                                        </p:tav>
                                        <p:tav tm="100000">
                                          <p:val>
                                            <p:fltVal val="1"/>
                                          </p:val>
                                        </p:tav>
                                      </p:tavLst>
                                    </p:anim>
                                    <p:anim calcmode="lin" valueType="num">
                                      <p:cBhvr>
                                        <p:cTn id="178" dur="332" tmFilter="0, 0; 0.125,0.2665; 0.25,0.4; 0.375,0.465; 0.5,0.5;  0.625,0.535; 0.75,0.6; 0.875,0.7335; 1,1">
                                          <p:stCondLst>
                                            <p:cond delay="1324"/>
                                          </p:stCondLst>
                                        </p:cTn>
                                        <p:tgtEl>
                                          <p:spTgt spid="58"/>
                                        </p:tgtEl>
                                        <p:attrNameLst>
                                          <p:attrName>ppt_y</p:attrName>
                                        </p:attrNameLst>
                                      </p:cBhvr>
                                      <p:tavLst>
                                        <p:tav tm="0" fmla="#ppt_y-sin(pi*$)/27">
                                          <p:val>
                                            <p:fltVal val="0"/>
                                          </p:val>
                                        </p:tav>
                                        <p:tav tm="100000">
                                          <p:val>
                                            <p:fltVal val="1"/>
                                          </p:val>
                                        </p:tav>
                                      </p:tavLst>
                                    </p:anim>
                                    <p:anim calcmode="lin" valueType="num">
                                      <p:cBhvr>
                                        <p:cTn id="179" dur="164" tmFilter="0, 0; 0.125,0.2665; 0.25,0.4; 0.375,0.465; 0.5,0.5;  0.625,0.535; 0.75,0.6; 0.875,0.7335; 1,1">
                                          <p:stCondLst>
                                            <p:cond delay="1656"/>
                                          </p:stCondLst>
                                        </p:cTn>
                                        <p:tgtEl>
                                          <p:spTgt spid="58"/>
                                        </p:tgtEl>
                                        <p:attrNameLst>
                                          <p:attrName>ppt_y</p:attrName>
                                        </p:attrNameLst>
                                      </p:cBhvr>
                                      <p:tavLst>
                                        <p:tav tm="0" fmla="#ppt_y-sin(pi*$)/81">
                                          <p:val>
                                            <p:fltVal val="0"/>
                                          </p:val>
                                        </p:tav>
                                        <p:tav tm="100000">
                                          <p:val>
                                            <p:fltVal val="1"/>
                                          </p:val>
                                        </p:tav>
                                      </p:tavLst>
                                    </p:anim>
                                    <p:animScale>
                                      <p:cBhvr>
                                        <p:cTn id="180" dur="26">
                                          <p:stCondLst>
                                            <p:cond delay="650"/>
                                          </p:stCondLst>
                                        </p:cTn>
                                        <p:tgtEl>
                                          <p:spTgt spid="58"/>
                                        </p:tgtEl>
                                      </p:cBhvr>
                                      <p:to x="100000" y="60000"/>
                                    </p:animScale>
                                    <p:animScale>
                                      <p:cBhvr>
                                        <p:cTn id="181" dur="166" decel="50000">
                                          <p:stCondLst>
                                            <p:cond delay="676"/>
                                          </p:stCondLst>
                                        </p:cTn>
                                        <p:tgtEl>
                                          <p:spTgt spid="58"/>
                                        </p:tgtEl>
                                      </p:cBhvr>
                                      <p:to x="100000" y="100000"/>
                                    </p:animScale>
                                    <p:animScale>
                                      <p:cBhvr>
                                        <p:cTn id="182" dur="26">
                                          <p:stCondLst>
                                            <p:cond delay="1312"/>
                                          </p:stCondLst>
                                        </p:cTn>
                                        <p:tgtEl>
                                          <p:spTgt spid="58"/>
                                        </p:tgtEl>
                                      </p:cBhvr>
                                      <p:to x="100000" y="80000"/>
                                    </p:animScale>
                                    <p:animScale>
                                      <p:cBhvr>
                                        <p:cTn id="183" dur="166" decel="50000">
                                          <p:stCondLst>
                                            <p:cond delay="1338"/>
                                          </p:stCondLst>
                                        </p:cTn>
                                        <p:tgtEl>
                                          <p:spTgt spid="58"/>
                                        </p:tgtEl>
                                      </p:cBhvr>
                                      <p:to x="100000" y="100000"/>
                                    </p:animScale>
                                    <p:animScale>
                                      <p:cBhvr>
                                        <p:cTn id="184" dur="26">
                                          <p:stCondLst>
                                            <p:cond delay="1642"/>
                                          </p:stCondLst>
                                        </p:cTn>
                                        <p:tgtEl>
                                          <p:spTgt spid="58"/>
                                        </p:tgtEl>
                                      </p:cBhvr>
                                      <p:to x="100000" y="90000"/>
                                    </p:animScale>
                                    <p:animScale>
                                      <p:cBhvr>
                                        <p:cTn id="185" dur="166" decel="50000">
                                          <p:stCondLst>
                                            <p:cond delay="1668"/>
                                          </p:stCondLst>
                                        </p:cTn>
                                        <p:tgtEl>
                                          <p:spTgt spid="58"/>
                                        </p:tgtEl>
                                      </p:cBhvr>
                                      <p:to x="100000" y="100000"/>
                                    </p:animScale>
                                    <p:animScale>
                                      <p:cBhvr>
                                        <p:cTn id="186" dur="26">
                                          <p:stCondLst>
                                            <p:cond delay="1808"/>
                                          </p:stCondLst>
                                        </p:cTn>
                                        <p:tgtEl>
                                          <p:spTgt spid="58"/>
                                        </p:tgtEl>
                                      </p:cBhvr>
                                      <p:to x="100000" y="95000"/>
                                    </p:animScale>
                                    <p:animScale>
                                      <p:cBhvr>
                                        <p:cTn id="187" dur="166" decel="50000">
                                          <p:stCondLst>
                                            <p:cond delay="1834"/>
                                          </p:stCondLst>
                                        </p:cTn>
                                        <p:tgtEl>
                                          <p:spTgt spid="58"/>
                                        </p:tgtEl>
                                      </p:cBhvr>
                                      <p:to x="100000" y="100000"/>
                                    </p:animScale>
                                  </p:childTnLst>
                                </p:cTn>
                              </p:par>
                              <p:par>
                                <p:cTn id="188" presetID="26" presetClass="entr" presetSubtype="0" fill="hold" grpId="0" nodeType="withEffect">
                                  <p:stCondLst>
                                    <p:cond delay="0"/>
                                  </p:stCondLst>
                                  <p:childTnLst>
                                    <p:set>
                                      <p:cBhvr>
                                        <p:cTn id="189" dur="1" fill="hold">
                                          <p:stCondLst>
                                            <p:cond delay="0"/>
                                          </p:stCondLst>
                                        </p:cTn>
                                        <p:tgtEl>
                                          <p:spTgt spid="59"/>
                                        </p:tgtEl>
                                        <p:attrNameLst>
                                          <p:attrName>style.visibility</p:attrName>
                                        </p:attrNameLst>
                                      </p:cBhvr>
                                      <p:to>
                                        <p:strVal val="visible"/>
                                      </p:to>
                                    </p:set>
                                    <p:animEffect transition="in" filter="wipe(down)">
                                      <p:cBhvr>
                                        <p:cTn id="190" dur="580">
                                          <p:stCondLst>
                                            <p:cond delay="0"/>
                                          </p:stCondLst>
                                        </p:cTn>
                                        <p:tgtEl>
                                          <p:spTgt spid="59"/>
                                        </p:tgtEl>
                                      </p:cBhvr>
                                    </p:animEffect>
                                    <p:anim calcmode="lin" valueType="num">
                                      <p:cBhvr>
                                        <p:cTn id="191" dur="1822" tmFilter="0,0; 0.14,0.36; 0.43,0.73; 0.71,0.91; 1.0,1.0">
                                          <p:stCondLst>
                                            <p:cond delay="0"/>
                                          </p:stCondLst>
                                        </p:cTn>
                                        <p:tgtEl>
                                          <p:spTgt spid="59"/>
                                        </p:tgtEl>
                                        <p:attrNameLst>
                                          <p:attrName>ppt_x</p:attrName>
                                        </p:attrNameLst>
                                      </p:cBhvr>
                                      <p:tavLst>
                                        <p:tav tm="0">
                                          <p:val>
                                            <p:strVal val="#ppt_x-0.25"/>
                                          </p:val>
                                        </p:tav>
                                        <p:tav tm="100000">
                                          <p:val>
                                            <p:strVal val="#ppt_x"/>
                                          </p:val>
                                        </p:tav>
                                      </p:tavLst>
                                    </p:anim>
                                    <p:anim calcmode="lin" valueType="num">
                                      <p:cBhvr>
                                        <p:cTn id="192" dur="664" tmFilter="0.0,0.0; 0.25,0.07; 0.50,0.2; 0.75,0.467; 1.0,1.0">
                                          <p:stCondLst>
                                            <p:cond delay="0"/>
                                          </p:stCondLst>
                                        </p:cTn>
                                        <p:tgtEl>
                                          <p:spTgt spid="59"/>
                                        </p:tgtEl>
                                        <p:attrNameLst>
                                          <p:attrName>ppt_y</p:attrName>
                                        </p:attrNameLst>
                                      </p:cBhvr>
                                      <p:tavLst>
                                        <p:tav tm="0" fmla="#ppt_y-sin(pi*$)/3">
                                          <p:val>
                                            <p:fltVal val="0.5"/>
                                          </p:val>
                                        </p:tav>
                                        <p:tav tm="100000">
                                          <p:val>
                                            <p:fltVal val="1"/>
                                          </p:val>
                                        </p:tav>
                                      </p:tavLst>
                                    </p:anim>
                                    <p:anim calcmode="lin" valueType="num">
                                      <p:cBhvr>
                                        <p:cTn id="193" dur="664" tmFilter="0, 0; 0.125,0.2665; 0.25,0.4; 0.375,0.465; 0.5,0.5;  0.625,0.535; 0.75,0.6; 0.875,0.7335; 1,1">
                                          <p:stCondLst>
                                            <p:cond delay="664"/>
                                          </p:stCondLst>
                                        </p:cTn>
                                        <p:tgtEl>
                                          <p:spTgt spid="59"/>
                                        </p:tgtEl>
                                        <p:attrNameLst>
                                          <p:attrName>ppt_y</p:attrName>
                                        </p:attrNameLst>
                                      </p:cBhvr>
                                      <p:tavLst>
                                        <p:tav tm="0" fmla="#ppt_y-sin(pi*$)/9">
                                          <p:val>
                                            <p:fltVal val="0"/>
                                          </p:val>
                                        </p:tav>
                                        <p:tav tm="100000">
                                          <p:val>
                                            <p:fltVal val="1"/>
                                          </p:val>
                                        </p:tav>
                                      </p:tavLst>
                                    </p:anim>
                                    <p:anim calcmode="lin" valueType="num">
                                      <p:cBhvr>
                                        <p:cTn id="194" dur="332" tmFilter="0, 0; 0.125,0.2665; 0.25,0.4; 0.375,0.465; 0.5,0.5;  0.625,0.535; 0.75,0.6; 0.875,0.7335; 1,1">
                                          <p:stCondLst>
                                            <p:cond delay="1324"/>
                                          </p:stCondLst>
                                        </p:cTn>
                                        <p:tgtEl>
                                          <p:spTgt spid="59"/>
                                        </p:tgtEl>
                                        <p:attrNameLst>
                                          <p:attrName>ppt_y</p:attrName>
                                        </p:attrNameLst>
                                      </p:cBhvr>
                                      <p:tavLst>
                                        <p:tav tm="0" fmla="#ppt_y-sin(pi*$)/27">
                                          <p:val>
                                            <p:fltVal val="0"/>
                                          </p:val>
                                        </p:tav>
                                        <p:tav tm="100000">
                                          <p:val>
                                            <p:fltVal val="1"/>
                                          </p:val>
                                        </p:tav>
                                      </p:tavLst>
                                    </p:anim>
                                    <p:anim calcmode="lin" valueType="num">
                                      <p:cBhvr>
                                        <p:cTn id="195" dur="164" tmFilter="0, 0; 0.125,0.2665; 0.25,0.4; 0.375,0.465; 0.5,0.5;  0.625,0.535; 0.75,0.6; 0.875,0.7335; 1,1">
                                          <p:stCondLst>
                                            <p:cond delay="1656"/>
                                          </p:stCondLst>
                                        </p:cTn>
                                        <p:tgtEl>
                                          <p:spTgt spid="59"/>
                                        </p:tgtEl>
                                        <p:attrNameLst>
                                          <p:attrName>ppt_y</p:attrName>
                                        </p:attrNameLst>
                                      </p:cBhvr>
                                      <p:tavLst>
                                        <p:tav tm="0" fmla="#ppt_y-sin(pi*$)/81">
                                          <p:val>
                                            <p:fltVal val="0"/>
                                          </p:val>
                                        </p:tav>
                                        <p:tav tm="100000">
                                          <p:val>
                                            <p:fltVal val="1"/>
                                          </p:val>
                                        </p:tav>
                                      </p:tavLst>
                                    </p:anim>
                                    <p:animScale>
                                      <p:cBhvr>
                                        <p:cTn id="196" dur="26">
                                          <p:stCondLst>
                                            <p:cond delay="650"/>
                                          </p:stCondLst>
                                        </p:cTn>
                                        <p:tgtEl>
                                          <p:spTgt spid="59"/>
                                        </p:tgtEl>
                                      </p:cBhvr>
                                      <p:to x="100000" y="60000"/>
                                    </p:animScale>
                                    <p:animScale>
                                      <p:cBhvr>
                                        <p:cTn id="197" dur="166" decel="50000">
                                          <p:stCondLst>
                                            <p:cond delay="676"/>
                                          </p:stCondLst>
                                        </p:cTn>
                                        <p:tgtEl>
                                          <p:spTgt spid="59"/>
                                        </p:tgtEl>
                                      </p:cBhvr>
                                      <p:to x="100000" y="100000"/>
                                    </p:animScale>
                                    <p:animScale>
                                      <p:cBhvr>
                                        <p:cTn id="198" dur="26">
                                          <p:stCondLst>
                                            <p:cond delay="1312"/>
                                          </p:stCondLst>
                                        </p:cTn>
                                        <p:tgtEl>
                                          <p:spTgt spid="59"/>
                                        </p:tgtEl>
                                      </p:cBhvr>
                                      <p:to x="100000" y="80000"/>
                                    </p:animScale>
                                    <p:animScale>
                                      <p:cBhvr>
                                        <p:cTn id="199" dur="166" decel="50000">
                                          <p:stCondLst>
                                            <p:cond delay="1338"/>
                                          </p:stCondLst>
                                        </p:cTn>
                                        <p:tgtEl>
                                          <p:spTgt spid="59"/>
                                        </p:tgtEl>
                                      </p:cBhvr>
                                      <p:to x="100000" y="100000"/>
                                    </p:animScale>
                                    <p:animScale>
                                      <p:cBhvr>
                                        <p:cTn id="200" dur="26">
                                          <p:stCondLst>
                                            <p:cond delay="1642"/>
                                          </p:stCondLst>
                                        </p:cTn>
                                        <p:tgtEl>
                                          <p:spTgt spid="59"/>
                                        </p:tgtEl>
                                      </p:cBhvr>
                                      <p:to x="100000" y="90000"/>
                                    </p:animScale>
                                    <p:animScale>
                                      <p:cBhvr>
                                        <p:cTn id="201" dur="166" decel="50000">
                                          <p:stCondLst>
                                            <p:cond delay="1668"/>
                                          </p:stCondLst>
                                        </p:cTn>
                                        <p:tgtEl>
                                          <p:spTgt spid="59"/>
                                        </p:tgtEl>
                                      </p:cBhvr>
                                      <p:to x="100000" y="100000"/>
                                    </p:animScale>
                                    <p:animScale>
                                      <p:cBhvr>
                                        <p:cTn id="202" dur="26">
                                          <p:stCondLst>
                                            <p:cond delay="1808"/>
                                          </p:stCondLst>
                                        </p:cTn>
                                        <p:tgtEl>
                                          <p:spTgt spid="59"/>
                                        </p:tgtEl>
                                      </p:cBhvr>
                                      <p:to x="100000" y="95000"/>
                                    </p:animScale>
                                    <p:animScale>
                                      <p:cBhvr>
                                        <p:cTn id="203" dur="166" decel="50000">
                                          <p:stCondLst>
                                            <p:cond delay="1834"/>
                                          </p:stCondLst>
                                        </p:cTn>
                                        <p:tgtEl>
                                          <p:spTgt spid="59"/>
                                        </p:tgtEl>
                                      </p:cBhvr>
                                      <p:to x="100000" y="100000"/>
                                    </p:animScale>
                                  </p:childTnLst>
                                </p:cTn>
                              </p:par>
                            </p:childTnLst>
                          </p:cTn>
                        </p:par>
                      </p:childTnLst>
                    </p:cTn>
                  </p:par>
                  <p:par>
                    <p:cTn id="204" fill="hold">
                      <p:stCondLst>
                        <p:cond delay="indefinite"/>
                      </p:stCondLst>
                      <p:childTnLst>
                        <p:par>
                          <p:cTn id="205" fill="hold">
                            <p:stCondLst>
                              <p:cond delay="0"/>
                            </p:stCondLst>
                            <p:childTnLst>
                              <p:par>
                                <p:cTn id="206" presetID="2" presetClass="entr" presetSubtype="4" fill="hold" nodeType="clickEffect">
                                  <p:stCondLst>
                                    <p:cond delay="0"/>
                                  </p:stCondLst>
                                  <p:childTnLst>
                                    <p:set>
                                      <p:cBhvr>
                                        <p:cTn id="207" dur="1" fill="hold">
                                          <p:stCondLst>
                                            <p:cond delay="0"/>
                                          </p:stCondLst>
                                        </p:cTn>
                                        <p:tgtEl>
                                          <p:spTgt spid="72"/>
                                        </p:tgtEl>
                                        <p:attrNameLst>
                                          <p:attrName>style.visibility</p:attrName>
                                        </p:attrNameLst>
                                      </p:cBhvr>
                                      <p:to>
                                        <p:strVal val="visible"/>
                                      </p:to>
                                    </p:set>
                                    <p:anim calcmode="lin" valueType="num">
                                      <p:cBhvr additive="base">
                                        <p:cTn id="208" dur="500" fill="hold"/>
                                        <p:tgtEl>
                                          <p:spTgt spid="72"/>
                                        </p:tgtEl>
                                        <p:attrNameLst>
                                          <p:attrName>ppt_x</p:attrName>
                                        </p:attrNameLst>
                                      </p:cBhvr>
                                      <p:tavLst>
                                        <p:tav tm="0">
                                          <p:val>
                                            <p:strVal val="#ppt_x"/>
                                          </p:val>
                                        </p:tav>
                                        <p:tav tm="100000">
                                          <p:val>
                                            <p:strVal val="#ppt_x"/>
                                          </p:val>
                                        </p:tav>
                                      </p:tavLst>
                                    </p:anim>
                                    <p:anim calcmode="lin" valueType="num">
                                      <p:cBhvr additive="base">
                                        <p:cTn id="209" dur="500" fill="hold"/>
                                        <p:tgtEl>
                                          <p:spTgt spid="7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 grpId="0"/>
      <p:bldP spid="51" grpId="0"/>
      <p:bldP spid="3" grpId="0"/>
      <p:bldP spid="54" grpId="0"/>
      <p:bldP spid="59" grpId="0"/>
      <p:bldP spid="69" grpId="0"/>
      <p:bldP spid="70" grpId="0"/>
      <p:bldP spid="71"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es-CO" sz="3200">
                <a:latin typeface="Century Gothic" panose="020B0502020202020204" pitchFamily="34" charset="0"/>
              </a:rPr>
              <a:t>AGENDA PROPUESTA</a:t>
            </a:r>
          </a:p>
        </p:txBody>
      </p:sp>
      <p:pic>
        <p:nvPicPr>
          <p:cNvPr id="6" name="Picture 6" descr="Resultado de imagen para RELOJ VECTOR">
            <a:extLst>
              <a:ext uri="{FF2B5EF4-FFF2-40B4-BE49-F238E27FC236}">
                <a16:creationId xmlns:a16="http://schemas.microsoft.com/office/drawing/2014/main" id="{0F651596-1125-43ED-8471-A57EDDF3518A}"/>
              </a:ext>
            </a:extLst>
          </p:cNvPr>
          <p:cNvPicPr>
            <a:picLocks noChangeAspect="1" noChangeArrowheads="1"/>
          </p:cNvPicPr>
          <p:nvPr/>
        </p:nvPicPr>
        <p:blipFill rotWithShape="1">
          <a:blip r:embed="rId2" cstate="print">
            <a:clrChange>
              <a:clrFrom>
                <a:srgbClr val="F6F6F6"/>
              </a:clrFrom>
              <a:clrTo>
                <a:srgbClr val="F6F6F6">
                  <a:alpha val="0"/>
                </a:srgbClr>
              </a:clrTo>
            </a:clrChange>
            <a:duotone>
              <a:schemeClr val="accent3">
                <a:shade val="45000"/>
                <a:satMod val="135000"/>
              </a:schemeClr>
              <a:prstClr val="white"/>
            </a:duotone>
            <a:extLst>
              <a:ext uri="{28A0092B-C50C-407E-A947-70E740481C1C}">
                <a14:useLocalDpi xmlns:a14="http://schemas.microsoft.com/office/drawing/2010/main" val="0"/>
              </a:ext>
            </a:extLst>
          </a:blip>
          <a:srcRect l="24517" t="6285" r="24815" b="6503"/>
          <a:stretch/>
        </p:blipFill>
        <p:spPr bwMode="auto">
          <a:xfrm>
            <a:off x="1256045" y="2772729"/>
            <a:ext cx="1236705" cy="1246074"/>
          </a:xfrm>
          <a:prstGeom prst="rect">
            <a:avLst/>
          </a:prstGeom>
          <a:noFill/>
          <a:extLst>
            <a:ext uri="{909E8E84-426E-40DD-AFC4-6F175D3DCCD1}">
              <a14:hiddenFill xmlns:a14="http://schemas.microsoft.com/office/drawing/2010/main">
                <a:solidFill>
                  <a:srgbClr val="FFFFFF"/>
                </a:solidFill>
              </a14:hiddenFill>
            </a:ext>
          </a:extLst>
        </p:spPr>
      </p:pic>
      <p:sp>
        <p:nvSpPr>
          <p:cNvPr id="23" name="Rectángulo 22">
            <a:extLst>
              <a:ext uri="{FF2B5EF4-FFF2-40B4-BE49-F238E27FC236}">
                <a16:creationId xmlns:a16="http://schemas.microsoft.com/office/drawing/2014/main" id="{8F837980-0A38-47A1-8A30-C7AFF3A98D5A}"/>
              </a:ext>
            </a:extLst>
          </p:cNvPr>
          <p:cNvSpPr/>
          <p:nvPr/>
        </p:nvSpPr>
        <p:spPr>
          <a:xfrm>
            <a:off x="2806200" y="2772729"/>
            <a:ext cx="8540907" cy="3539430"/>
          </a:xfrm>
          <a:prstGeom prst="rect">
            <a:avLst/>
          </a:prstGeom>
        </p:spPr>
        <p:txBody>
          <a:bodyPr wrap="square" lIns="91440" tIns="45720" rIns="91440" bIns="45720" anchor="t">
            <a:spAutoFit/>
          </a:bodyPr>
          <a:lstStyle/>
          <a:p>
            <a:pPr marL="342900" indent="-342900">
              <a:buClr>
                <a:schemeClr val="accent3">
                  <a:lumMod val="75000"/>
                </a:schemeClr>
              </a:buClr>
              <a:buFont typeface="Gill Sans MT" panose="020B0502020104020203"/>
              <a:buAutoNum type="arabicPeriod"/>
            </a:pPr>
            <a:r>
              <a:rPr lang="es-CO" sz="1600">
                <a:solidFill>
                  <a:schemeClr val="bg2">
                    <a:lumMod val="90000"/>
                  </a:schemeClr>
                </a:solidFill>
                <a:latin typeface="Century Gothic"/>
                <a:cs typeface="Arial"/>
              </a:rPr>
              <a:t>Ingresos y Costos Pertinentes.</a:t>
            </a:r>
            <a:endParaRPr lang="es-ES" sz="1600">
              <a:solidFill>
                <a:schemeClr val="bg2">
                  <a:lumMod val="90000"/>
                </a:schemeClr>
              </a:solidFill>
              <a:latin typeface="Century Gothic"/>
              <a:cs typeface="Arial"/>
            </a:endParaRPr>
          </a:p>
          <a:p>
            <a:pPr marL="342900" indent="-342900">
              <a:buClr>
                <a:srgbClr val="2C7C9F"/>
              </a:buClr>
              <a:buFontTx/>
              <a:buAutoNum type="arabicPeriod"/>
            </a:pPr>
            <a:endParaRPr lang="es-CO" sz="1600">
              <a:solidFill>
                <a:schemeClr val="bg2">
                  <a:lumMod val="90000"/>
                </a:schemeClr>
              </a:solidFill>
              <a:latin typeface="Century Gothic"/>
              <a:cs typeface="Arial"/>
            </a:endParaRPr>
          </a:p>
          <a:p>
            <a:pPr marL="342900" indent="-342900">
              <a:buClr>
                <a:srgbClr val="48BE7A"/>
              </a:buClr>
              <a:buFontTx/>
              <a:buAutoNum type="arabicPeriod"/>
            </a:pPr>
            <a:r>
              <a:rPr lang="es-CO" sz="1600">
                <a:solidFill>
                  <a:schemeClr val="bg2">
                    <a:lumMod val="90000"/>
                  </a:schemeClr>
                </a:solidFill>
                <a:latin typeface="Century Gothic"/>
                <a:cs typeface="Arial"/>
              </a:rPr>
              <a:t>Principio de Marginalidad.</a:t>
            </a:r>
            <a:endParaRPr lang="es-CO" sz="1600">
              <a:solidFill>
                <a:schemeClr val="bg2">
                  <a:lumMod val="90000"/>
                </a:schemeClr>
              </a:solidFill>
              <a:latin typeface="Century Gothic"/>
            </a:endParaRPr>
          </a:p>
          <a:p>
            <a:pPr marL="342900" indent="-342900">
              <a:buClr>
                <a:srgbClr val="48BE7A"/>
              </a:buClr>
              <a:buFontTx/>
              <a:buAutoNum type="arabicPeriod"/>
            </a:pPr>
            <a:endParaRPr lang="es-CO" sz="1600">
              <a:solidFill>
                <a:schemeClr val="accent1"/>
              </a:solidFill>
              <a:latin typeface="Century Gothic"/>
            </a:endParaRPr>
          </a:p>
          <a:p>
            <a:pPr marL="342900" indent="-342900">
              <a:buClr>
                <a:srgbClr val="48BE7A"/>
              </a:buClr>
              <a:buFontTx/>
              <a:buAutoNum type="arabicPeriod"/>
            </a:pPr>
            <a:r>
              <a:rPr lang="es-CO" sz="1600">
                <a:solidFill>
                  <a:schemeClr val="accent1"/>
                </a:solidFill>
                <a:latin typeface="Century Gothic"/>
                <a:cs typeface="Arial"/>
              </a:rPr>
              <a:t>Precios de Mercado.</a:t>
            </a:r>
            <a:endParaRPr lang="es-CO" sz="1600">
              <a:solidFill>
                <a:schemeClr val="accent1"/>
              </a:solidFill>
              <a:latin typeface="Century Gothic"/>
            </a:endParaRPr>
          </a:p>
          <a:p>
            <a:pPr marL="342900" indent="-342900">
              <a:buClr>
                <a:srgbClr val="48BE7A"/>
              </a:buClr>
              <a:buFontTx/>
              <a:buAutoNum type="arabicPeriod"/>
            </a:pPr>
            <a:endParaRPr lang="es-CO" sz="1600">
              <a:solidFill>
                <a:schemeClr val="accent1"/>
              </a:solidFill>
              <a:latin typeface="Century Gothic"/>
              <a:cs typeface="Arial"/>
            </a:endParaRPr>
          </a:p>
          <a:p>
            <a:pPr marL="342900" indent="-342900">
              <a:buClr>
                <a:srgbClr val="48BE7A"/>
              </a:buClr>
              <a:buFontTx/>
              <a:buAutoNum type="arabicPeriod"/>
            </a:pPr>
            <a:r>
              <a:rPr lang="es-CO" sz="1600">
                <a:solidFill>
                  <a:schemeClr val="bg2">
                    <a:lumMod val="90000"/>
                  </a:schemeClr>
                </a:solidFill>
                <a:latin typeface="Century Gothic"/>
                <a:cs typeface="Arial"/>
              </a:rPr>
              <a:t>Costos Muertos.</a:t>
            </a:r>
            <a:endParaRPr lang="es-CO" sz="1600">
              <a:solidFill>
                <a:schemeClr val="bg2">
                  <a:lumMod val="90000"/>
                </a:schemeClr>
              </a:solidFill>
              <a:latin typeface="Century Gothic" panose="020B0502020202020204" pitchFamily="34" charset="0"/>
              <a:cs typeface="Arial"/>
            </a:endParaRPr>
          </a:p>
          <a:p>
            <a:pPr marL="342900" indent="-342900">
              <a:buClr>
                <a:srgbClr val="48BE7A"/>
              </a:buClr>
              <a:buAutoNum type="arabicPeriod"/>
            </a:pPr>
            <a:endParaRPr lang="es-CO" sz="1600">
              <a:solidFill>
                <a:schemeClr val="bg2">
                  <a:lumMod val="90000"/>
                </a:schemeClr>
              </a:solidFill>
              <a:latin typeface="Century Gothic" panose="020B0502020202020204" pitchFamily="34" charset="0"/>
              <a:cs typeface="Arial"/>
            </a:endParaRPr>
          </a:p>
          <a:p>
            <a:pPr marL="342900" indent="-342900">
              <a:buClr>
                <a:srgbClr val="48BE7A"/>
              </a:buClr>
              <a:buAutoNum type="arabicPeriod"/>
            </a:pPr>
            <a:r>
              <a:rPr lang="es-CO" sz="1600">
                <a:solidFill>
                  <a:schemeClr val="bg2">
                    <a:lumMod val="90000"/>
                  </a:schemeClr>
                </a:solidFill>
                <a:latin typeface="Century Gothic"/>
                <a:cs typeface="Arial"/>
              </a:rPr>
              <a:t>Ingresos y Egresos Operacionales.</a:t>
            </a:r>
          </a:p>
          <a:p>
            <a:pPr marL="342900" indent="-342900">
              <a:buClr>
                <a:srgbClr val="48BE7A"/>
              </a:buClr>
              <a:buAutoNum type="arabicPeriod"/>
            </a:pPr>
            <a:endParaRPr lang="es-CO" sz="1600">
              <a:solidFill>
                <a:schemeClr val="bg2">
                  <a:lumMod val="90000"/>
                </a:schemeClr>
              </a:solidFill>
              <a:latin typeface="Century Gothic"/>
              <a:cs typeface="Arial"/>
            </a:endParaRPr>
          </a:p>
          <a:p>
            <a:pPr marL="342900" indent="-342900">
              <a:buClr>
                <a:srgbClr val="48BE7A"/>
              </a:buClr>
              <a:buAutoNum type="arabicPeriod"/>
            </a:pPr>
            <a:r>
              <a:rPr lang="es-CO" sz="1600">
                <a:solidFill>
                  <a:schemeClr val="bg2">
                    <a:lumMod val="90000"/>
                  </a:schemeClr>
                </a:solidFill>
                <a:latin typeface="Century Gothic"/>
                <a:cs typeface="Arial"/>
              </a:rPr>
              <a:t>Ejercicio FCL.</a:t>
            </a:r>
          </a:p>
          <a:p>
            <a:pPr marL="342900" indent="-342900">
              <a:buClr>
                <a:srgbClr val="48BE7A"/>
              </a:buClr>
              <a:buAutoNum type="arabicPeriod"/>
            </a:pPr>
            <a:endParaRPr lang="es-CO" sz="1600">
              <a:solidFill>
                <a:srgbClr val="366658"/>
              </a:solidFill>
              <a:latin typeface="Century Gothic" panose="020B0502020202020204" pitchFamily="34" charset="0"/>
              <a:cs typeface="Arial"/>
            </a:endParaRPr>
          </a:p>
          <a:p>
            <a:pPr marL="342900" indent="-342900">
              <a:buClr>
                <a:srgbClr val="48BE7A"/>
              </a:buClr>
              <a:buAutoNum type="arabicPeriod"/>
            </a:pPr>
            <a:endParaRPr lang="es-CO" sz="1600">
              <a:solidFill>
                <a:schemeClr val="accent1"/>
              </a:solidFill>
              <a:latin typeface="Century Gothic" panose="020B0502020202020204" pitchFamily="34" charset="0"/>
              <a:cs typeface="Arial"/>
            </a:endParaRPr>
          </a:p>
          <a:p>
            <a:pPr>
              <a:buClr>
                <a:srgbClr val="88D5A9">
                  <a:lumMod val="75000"/>
                </a:srgbClr>
              </a:buClr>
            </a:pPr>
            <a:endParaRPr lang="es-CO" sz="1600">
              <a:solidFill>
                <a:schemeClr val="accent1"/>
              </a:solidFill>
              <a:latin typeface="Century Gothic" panose="020B0502020202020204" pitchFamily="34" charset="0"/>
              <a:cs typeface="Arial"/>
            </a:endParaRPr>
          </a:p>
        </p:txBody>
      </p:sp>
      <p:sp>
        <p:nvSpPr>
          <p:cNvPr id="3" name="Rectángulo 2">
            <a:extLst>
              <a:ext uri="{FF2B5EF4-FFF2-40B4-BE49-F238E27FC236}">
                <a16:creationId xmlns:a16="http://schemas.microsoft.com/office/drawing/2014/main" id="{8E86F046-042E-5492-3FBC-4E0C89F4D940}"/>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8" name="Picture 2" descr="Clientes y aliados | Centro de Evaluación | Uniandes">
            <a:extLst>
              <a:ext uri="{FF2B5EF4-FFF2-40B4-BE49-F238E27FC236}">
                <a16:creationId xmlns:a16="http://schemas.microsoft.com/office/drawing/2014/main" id="{5A2F8A99-E4A5-BAC5-C9B9-FA7BF325465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7" name="Rectángulo 6">
            <a:extLst>
              <a:ext uri="{FF2B5EF4-FFF2-40B4-BE49-F238E27FC236}">
                <a16:creationId xmlns:a16="http://schemas.microsoft.com/office/drawing/2014/main" id="{992A0B06-68FD-4689-F7EA-E3B8B645C673}"/>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5" name="Marcador de número de diapositiva 3">
            <a:extLst>
              <a:ext uri="{FF2B5EF4-FFF2-40B4-BE49-F238E27FC236}">
                <a16:creationId xmlns:a16="http://schemas.microsoft.com/office/drawing/2014/main" id="{13BF75ED-6E5F-5FC3-AE87-3B2552EB95C5}"/>
              </a:ext>
            </a:extLst>
          </p:cNvPr>
          <p:cNvSpPr>
            <a:spLocks noGrp="1"/>
          </p:cNvSpPr>
          <p:nvPr>
            <p:ph type="sldNum" sz="quarter" idx="12"/>
          </p:nvPr>
        </p:nvSpPr>
        <p:spPr>
          <a:xfrm>
            <a:off x="10558300" y="5956137"/>
            <a:ext cx="1052508" cy="365125"/>
          </a:xfrm>
        </p:spPr>
        <p:txBody>
          <a:bodyPr/>
          <a:lstStyle/>
          <a:p>
            <a:fld id="{D57F1E4F-1CFF-5643-939E-217C01CDF565}" type="slidenum">
              <a:rPr lang="en-US" sz="2000" b="1" smtClean="0">
                <a:latin typeface="Century Gothic" panose="020B0502020202020204" pitchFamily="34" charset="0"/>
              </a:rPr>
              <a:pPr/>
              <a:t>22</a:t>
            </a:fld>
            <a:endParaRPr lang="en-US" sz="2000" b="1">
              <a:latin typeface="Century Gothic" panose="020B0502020202020204" pitchFamily="34" charset="0"/>
            </a:endParaRPr>
          </a:p>
        </p:txBody>
      </p:sp>
    </p:spTree>
    <p:extLst>
      <p:ext uri="{BB962C8B-B14F-4D97-AF65-F5344CB8AC3E}">
        <p14:creationId xmlns:p14="http://schemas.microsoft.com/office/powerpoint/2010/main" val="25806511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42" presetClass="entr" presetSubtype="0" fill="hold" grpId="0" nodeType="withEffect">
                                  <p:stCondLst>
                                    <p:cond delay="0"/>
                                  </p:stCondLst>
                                  <p:childTnLst>
                                    <p:set>
                                      <p:cBhvr>
                                        <p:cTn id="8" dur="1" fill="hold">
                                          <p:stCondLst>
                                            <p:cond delay="0"/>
                                          </p:stCondLst>
                                        </p:cTn>
                                        <p:tgtEl>
                                          <p:spTgt spid="23"/>
                                        </p:tgtEl>
                                        <p:attrNameLst>
                                          <p:attrName>style.visibility</p:attrName>
                                        </p:attrNameLst>
                                      </p:cBhvr>
                                      <p:to>
                                        <p:strVal val="visible"/>
                                      </p:to>
                                    </p:set>
                                    <p:animEffect transition="in" filter="fade">
                                      <p:cBhvr>
                                        <p:cTn id="9" dur="1000"/>
                                        <p:tgtEl>
                                          <p:spTgt spid="23"/>
                                        </p:tgtEl>
                                      </p:cBhvr>
                                    </p:animEffect>
                                    <p:anim calcmode="lin" valueType="num">
                                      <p:cBhvr>
                                        <p:cTn id="10" dur="1000" fill="hold"/>
                                        <p:tgtEl>
                                          <p:spTgt spid="23"/>
                                        </p:tgtEl>
                                        <p:attrNameLst>
                                          <p:attrName>ppt_x</p:attrName>
                                        </p:attrNameLst>
                                      </p:cBhvr>
                                      <p:tavLst>
                                        <p:tav tm="0">
                                          <p:val>
                                            <p:strVal val="#ppt_x"/>
                                          </p:val>
                                        </p:tav>
                                        <p:tav tm="100000">
                                          <p:val>
                                            <p:strVal val="#ppt_x"/>
                                          </p:val>
                                        </p:tav>
                                      </p:tavLst>
                                    </p:anim>
                                    <p:anim calcmode="lin" valueType="num">
                                      <p:cBhvr>
                                        <p:cTn id="11" dur="1000" fill="hold"/>
                                        <p:tgtEl>
                                          <p:spTgt spid="2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492369" y="702156"/>
            <a:ext cx="11245003" cy="1013800"/>
          </a:xfrm>
        </p:spPr>
        <p:txBody>
          <a:bodyPr>
            <a:noAutofit/>
          </a:bodyPr>
          <a:lstStyle/>
          <a:p>
            <a:r>
              <a:rPr lang="es-ES" sz="2400">
                <a:latin typeface="Century Gothic" panose="020B0502020202020204" pitchFamily="34" charset="0"/>
              </a:rPr>
              <a:t>Regla #2: Precios de mercado, no precios históricos ni contables</a:t>
            </a:r>
          </a:p>
        </p:txBody>
      </p:sp>
      <p:sp>
        <p:nvSpPr>
          <p:cNvPr id="3" name="Marcador de contenido 2"/>
          <p:cNvSpPr>
            <a:spLocks noGrp="1"/>
          </p:cNvSpPr>
          <p:nvPr>
            <p:ph idx="1"/>
          </p:nvPr>
        </p:nvSpPr>
        <p:spPr>
          <a:xfrm>
            <a:off x="900859" y="2592012"/>
            <a:ext cx="7390525" cy="2903197"/>
          </a:xfrm>
        </p:spPr>
        <p:txBody>
          <a:bodyPr>
            <a:normAutofit/>
          </a:bodyPr>
          <a:lstStyle/>
          <a:p>
            <a:pPr marL="0" indent="0" algn="ctr">
              <a:buNone/>
            </a:pPr>
            <a:r>
              <a:rPr lang="es-ES" dirty="0">
                <a:latin typeface="Century Gothic" panose="020B0502020202020204" pitchFamily="34" charset="0"/>
              </a:rPr>
              <a:t>Este principio nos recuerda que cuando se considera un activo (propiedad de una empresa) en la realización de un proyecto </a:t>
            </a:r>
            <a:r>
              <a:rPr lang="es-ES" b="1" dirty="0">
                <a:solidFill>
                  <a:schemeClr val="accent3">
                    <a:lumMod val="75000"/>
                  </a:schemeClr>
                </a:solidFill>
                <a:latin typeface="Century Gothic" panose="020B0502020202020204" pitchFamily="34" charset="0"/>
              </a:rPr>
              <a:t>es relevante su información más reciente y disponible</a:t>
            </a:r>
            <a:r>
              <a:rPr lang="es-ES" dirty="0">
                <a:latin typeface="Century Gothic" panose="020B0502020202020204" pitchFamily="34" charset="0"/>
              </a:rPr>
              <a:t>, más </a:t>
            </a:r>
            <a:r>
              <a:rPr lang="es-ES" b="1" dirty="0">
                <a:solidFill>
                  <a:srgbClr val="C00000"/>
                </a:solidFill>
                <a:latin typeface="Century Gothic" panose="020B0502020202020204" pitchFamily="34" charset="0"/>
              </a:rPr>
              <a:t>no su costo histórico o contable </a:t>
            </a:r>
            <a:r>
              <a:rPr lang="es-ES" dirty="0">
                <a:latin typeface="Century Gothic" panose="020B0502020202020204" pitchFamily="34" charset="0"/>
              </a:rPr>
              <a:t>al que se encuentra registrado.</a:t>
            </a:r>
          </a:p>
        </p:txBody>
      </p:sp>
      <p:sp>
        <p:nvSpPr>
          <p:cNvPr id="6" name="Rectángulo 5">
            <a:extLst>
              <a:ext uri="{FF2B5EF4-FFF2-40B4-BE49-F238E27FC236}">
                <a16:creationId xmlns:a16="http://schemas.microsoft.com/office/drawing/2014/main" id="{0833F772-BFF2-BCE4-5878-BAAFFBE5E5BA}"/>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8" name="Picture 2" descr="Clientes y aliados | Centro de Evaluación | Uniandes">
            <a:extLst>
              <a:ext uri="{FF2B5EF4-FFF2-40B4-BE49-F238E27FC236}">
                <a16:creationId xmlns:a16="http://schemas.microsoft.com/office/drawing/2014/main" id="{4673375C-ACCA-627A-5E9C-7CAAC545A78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pic>
        <p:nvPicPr>
          <p:cNvPr id="11" name="Imagen 10">
            <a:extLst>
              <a:ext uri="{FF2B5EF4-FFF2-40B4-BE49-F238E27FC236}">
                <a16:creationId xmlns:a16="http://schemas.microsoft.com/office/drawing/2014/main" id="{74783CEA-39FB-17AC-357F-4F5EC59590DA}"/>
              </a:ext>
            </a:extLst>
          </p:cNvPr>
          <p:cNvPicPr>
            <a:picLocks noChangeAspect="1"/>
          </p:cNvPicPr>
          <p:nvPr/>
        </p:nvPicPr>
        <p:blipFill rotWithShape="1">
          <a:blip r:embed="rId3"/>
          <a:srcRect l="3776" t="7625" r="4205" b="8432"/>
          <a:stretch/>
        </p:blipFill>
        <p:spPr>
          <a:xfrm>
            <a:off x="8291384" y="3023141"/>
            <a:ext cx="3214894" cy="2118904"/>
          </a:xfrm>
          <a:prstGeom prst="rect">
            <a:avLst/>
          </a:prstGeom>
        </p:spPr>
      </p:pic>
      <p:sp>
        <p:nvSpPr>
          <p:cNvPr id="5" name="Rectángulo 4">
            <a:extLst>
              <a:ext uri="{FF2B5EF4-FFF2-40B4-BE49-F238E27FC236}">
                <a16:creationId xmlns:a16="http://schemas.microsoft.com/office/drawing/2014/main" id="{D9B10E5F-8781-8C33-E194-F9FBC2C1ADED}"/>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7" name="Marcador de número de diapositiva 3">
            <a:extLst>
              <a:ext uri="{FF2B5EF4-FFF2-40B4-BE49-F238E27FC236}">
                <a16:creationId xmlns:a16="http://schemas.microsoft.com/office/drawing/2014/main" id="{0AB1ED46-6EE6-BF79-5BE8-D8085D9E64FB}"/>
              </a:ext>
            </a:extLst>
          </p:cNvPr>
          <p:cNvSpPr>
            <a:spLocks noGrp="1"/>
          </p:cNvSpPr>
          <p:nvPr>
            <p:ph type="sldNum" sz="quarter" idx="12"/>
          </p:nvPr>
        </p:nvSpPr>
        <p:spPr>
          <a:xfrm>
            <a:off x="10558300" y="5956137"/>
            <a:ext cx="1052508" cy="365125"/>
          </a:xfrm>
        </p:spPr>
        <p:txBody>
          <a:bodyPr/>
          <a:lstStyle/>
          <a:p>
            <a:fld id="{D57F1E4F-1CFF-5643-939E-217C01CDF565}" type="slidenum">
              <a:rPr lang="en-US" sz="2000" b="1" smtClean="0">
                <a:latin typeface="Century Gothic" panose="020B0502020202020204" pitchFamily="34" charset="0"/>
              </a:rPr>
              <a:pPr/>
              <a:t>23</a:t>
            </a:fld>
            <a:endParaRPr lang="en-US" sz="2000" b="1">
              <a:latin typeface="Century Gothic" panose="020B0502020202020204" pitchFamily="34" charset="0"/>
            </a:endParaRPr>
          </a:p>
        </p:txBody>
      </p:sp>
    </p:spTree>
    <p:extLst>
      <p:ext uri="{BB962C8B-B14F-4D97-AF65-F5344CB8AC3E}">
        <p14:creationId xmlns:p14="http://schemas.microsoft.com/office/powerpoint/2010/main" val="21451817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454811" y="812645"/>
            <a:ext cx="11282562" cy="1013800"/>
          </a:xfrm>
        </p:spPr>
        <p:txBody>
          <a:bodyPr>
            <a:noAutofit/>
          </a:bodyPr>
          <a:lstStyle/>
          <a:p>
            <a:r>
              <a:rPr lang="es-ES" sz="2400">
                <a:latin typeface="Century Gothic" panose="020B0502020202020204" pitchFamily="34" charset="0"/>
              </a:rPr>
              <a:t>Regla #2: Precios de mercado, no precios históricos ni contables</a:t>
            </a:r>
          </a:p>
        </p:txBody>
      </p:sp>
      <p:sp>
        <p:nvSpPr>
          <p:cNvPr id="3" name="Marcador de contenido 2"/>
          <p:cNvSpPr>
            <a:spLocks noGrp="1"/>
          </p:cNvSpPr>
          <p:nvPr>
            <p:ph idx="1"/>
          </p:nvPr>
        </p:nvSpPr>
        <p:spPr>
          <a:xfrm>
            <a:off x="641965" y="2185421"/>
            <a:ext cx="8743401" cy="4135841"/>
          </a:xfrm>
        </p:spPr>
        <p:txBody>
          <a:bodyPr>
            <a:normAutofit/>
          </a:bodyPr>
          <a:lstStyle/>
          <a:p>
            <a:pPr marL="0" indent="0" algn="just">
              <a:buNone/>
            </a:pPr>
            <a:r>
              <a:rPr lang="es-ES" sz="1600">
                <a:solidFill>
                  <a:schemeClr val="accent1"/>
                </a:solidFill>
                <a:latin typeface="Century Gothic"/>
              </a:rPr>
              <a:t>Usted es alcalde de una ciudad lejana. </a:t>
            </a:r>
          </a:p>
          <a:p>
            <a:pPr marL="0" indent="0" algn="just">
              <a:buNone/>
            </a:pPr>
            <a:r>
              <a:rPr lang="es-ES" sz="1600">
                <a:solidFill>
                  <a:schemeClr val="accent1"/>
                </a:solidFill>
                <a:latin typeface="Century Gothic" panose="020B0502020202020204" pitchFamily="34" charset="0"/>
              </a:rPr>
              <a:t>En busca de “mejorar” el esquema para tapar huecos en la ciudad, decidió comprar unas máquinas usadas “Súper tapa todo”. Las máquinas cuestan 100 MM USD y se deprecian en línea recta a 10 años sin valor de salvamento.</a:t>
            </a:r>
          </a:p>
          <a:p>
            <a:pPr marL="0" indent="0" algn="just">
              <a:buNone/>
            </a:pPr>
            <a:r>
              <a:rPr lang="es-ES" sz="1600">
                <a:solidFill>
                  <a:schemeClr val="accent1"/>
                </a:solidFill>
                <a:latin typeface="Century Gothic" panose="020B0502020202020204" pitchFamily="34" charset="0"/>
              </a:rPr>
              <a:t>Después de un año de operación, el regulador se da cuenta que dichas máquinas no tapan nada y como son antiguas, emiten muchos contaminantes al medio ambiente. Producto de lo anterior, prohíben su uso en Colombia.</a:t>
            </a:r>
          </a:p>
          <a:p>
            <a:pPr marL="0" indent="0" algn="just">
              <a:buNone/>
            </a:pPr>
            <a:endParaRPr lang="es-ES" sz="1600">
              <a:latin typeface="Century Gothic" panose="020B0502020202020204" pitchFamily="34" charset="0"/>
            </a:endParaRPr>
          </a:p>
          <a:p>
            <a:pPr marL="0" indent="0" algn="ctr">
              <a:buNone/>
            </a:pPr>
            <a:r>
              <a:rPr lang="es-ES" sz="1600" b="1">
                <a:solidFill>
                  <a:srgbClr val="C00000"/>
                </a:solidFill>
                <a:latin typeface="Century Gothic" panose="020B0502020202020204" pitchFamily="34" charset="0"/>
              </a:rPr>
              <a:t>¿Cuál es el valor contable de las máquinas en ese momento?</a:t>
            </a:r>
          </a:p>
          <a:p>
            <a:pPr marL="0" indent="0" algn="ctr">
              <a:buNone/>
            </a:pPr>
            <a:r>
              <a:rPr lang="es-ES" sz="1600" b="1">
                <a:solidFill>
                  <a:srgbClr val="D7A700"/>
                </a:solidFill>
                <a:latin typeface="Century Gothic" panose="020B0502020202020204" pitchFamily="34" charset="0"/>
              </a:rPr>
              <a:t>¿Cuál es el valor de mercado, en Colombia, de las súper máquinas tapa huecos?</a:t>
            </a:r>
          </a:p>
        </p:txBody>
      </p:sp>
      <p:sp>
        <p:nvSpPr>
          <p:cNvPr id="6" name="Rectángulo 5">
            <a:extLst>
              <a:ext uri="{FF2B5EF4-FFF2-40B4-BE49-F238E27FC236}">
                <a16:creationId xmlns:a16="http://schemas.microsoft.com/office/drawing/2014/main" id="{3C7B93C9-88FC-D8F9-D522-06BA3C0FA5E2}"/>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8" name="Picture 2" descr="Clientes y aliados | Centro de Evaluación | Uniandes">
            <a:extLst>
              <a:ext uri="{FF2B5EF4-FFF2-40B4-BE49-F238E27FC236}">
                <a16:creationId xmlns:a16="http://schemas.microsoft.com/office/drawing/2014/main" id="{45A14ABF-A642-79F3-2C0F-D01E04B34CF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pic>
        <p:nvPicPr>
          <p:cNvPr id="11" name="Imagen 10">
            <a:extLst>
              <a:ext uri="{FF2B5EF4-FFF2-40B4-BE49-F238E27FC236}">
                <a16:creationId xmlns:a16="http://schemas.microsoft.com/office/drawing/2014/main" id="{7DB1FF80-9F6E-7E9F-C27F-C9E018D9666D}"/>
              </a:ext>
            </a:extLst>
          </p:cNvPr>
          <p:cNvPicPr>
            <a:picLocks noChangeAspect="1"/>
          </p:cNvPicPr>
          <p:nvPr/>
        </p:nvPicPr>
        <p:blipFill rotWithShape="1">
          <a:blip r:embed="rId3"/>
          <a:srcRect t="16576" b="10270"/>
          <a:stretch/>
        </p:blipFill>
        <p:spPr>
          <a:xfrm>
            <a:off x="9352285" y="3167829"/>
            <a:ext cx="2412029" cy="1863727"/>
          </a:xfrm>
          <a:prstGeom prst="rect">
            <a:avLst/>
          </a:prstGeom>
        </p:spPr>
      </p:pic>
      <p:sp>
        <p:nvSpPr>
          <p:cNvPr id="5" name="Rectángulo 4">
            <a:extLst>
              <a:ext uri="{FF2B5EF4-FFF2-40B4-BE49-F238E27FC236}">
                <a16:creationId xmlns:a16="http://schemas.microsoft.com/office/drawing/2014/main" id="{BCF9B462-DDB2-F53D-FB55-ADBF21D22C3B}"/>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7" name="Marcador de número de diapositiva 3">
            <a:extLst>
              <a:ext uri="{FF2B5EF4-FFF2-40B4-BE49-F238E27FC236}">
                <a16:creationId xmlns:a16="http://schemas.microsoft.com/office/drawing/2014/main" id="{8FE217E4-0D28-47B9-33A9-53C825250D1B}"/>
              </a:ext>
            </a:extLst>
          </p:cNvPr>
          <p:cNvSpPr>
            <a:spLocks noGrp="1"/>
          </p:cNvSpPr>
          <p:nvPr>
            <p:ph type="sldNum" sz="quarter" idx="12"/>
          </p:nvPr>
        </p:nvSpPr>
        <p:spPr>
          <a:xfrm>
            <a:off x="10558300" y="5956137"/>
            <a:ext cx="1052508" cy="365125"/>
          </a:xfrm>
        </p:spPr>
        <p:txBody>
          <a:bodyPr/>
          <a:lstStyle/>
          <a:p>
            <a:fld id="{D57F1E4F-1CFF-5643-939E-217C01CDF565}" type="slidenum">
              <a:rPr lang="en-US" sz="2000" b="1" smtClean="0">
                <a:latin typeface="Century Gothic" panose="020B0502020202020204" pitchFamily="34" charset="0"/>
              </a:rPr>
              <a:pPr/>
              <a:t>24</a:t>
            </a:fld>
            <a:endParaRPr lang="en-US" sz="2000" b="1">
              <a:latin typeface="Century Gothic" panose="020B0502020202020204" pitchFamily="34" charset="0"/>
            </a:endParaRPr>
          </a:p>
        </p:txBody>
      </p:sp>
    </p:spTree>
    <p:extLst>
      <p:ext uri="{BB962C8B-B14F-4D97-AF65-F5344CB8AC3E}">
        <p14:creationId xmlns:p14="http://schemas.microsoft.com/office/powerpoint/2010/main" val="25571212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es-CO" sz="3200">
                <a:latin typeface="Century Gothic" panose="020B0502020202020204" pitchFamily="34" charset="0"/>
              </a:rPr>
              <a:t>AGENDA PROPUESTA</a:t>
            </a:r>
          </a:p>
        </p:txBody>
      </p:sp>
      <p:pic>
        <p:nvPicPr>
          <p:cNvPr id="6" name="Picture 6" descr="Resultado de imagen para RELOJ VECTOR">
            <a:extLst>
              <a:ext uri="{FF2B5EF4-FFF2-40B4-BE49-F238E27FC236}">
                <a16:creationId xmlns:a16="http://schemas.microsoft.com/office/drawing/2014/main" id="{0F651596-1125-43ED-8471-A57EDDF3518A}"/>
              </a:ext>
            </a:extLst>
          </p:cNvPr>
          <p:cNvPicPr>
            <a:picLocks noChangeAspect="1" noChangeArrowheads="1"/>
          </p:cNvPicPr>
          <p:nvPr/>
        </p:nvPicPr>
        <p:blipFill rotWithShape="1">
          <a:blip r:embed="rId2" cstate="print">
            <a:clrChange>
              <a:clrFrom>
                <a:srgbClr val="F6F6F6"/>
              </a:clrFrom>
              <a:clrTo>
                <a:srgbClr val="F6F6F6">
                  <a:alpha val="0"/>
                </a:srgbClr>
              </a:clrTo>
            </a:clrChange>
            <a:duotone>
              <a:schemeClr val="accent3">
                <a:shade val="45000"/>
                <a:satMod val="135000"/>
              </a:schemeClr>
              <a:prstClr val="white"/>
            </a:duotone>
            <a:extLst>
              <a:ext uri="{28A0092B-C50C-407E-A947-70E740481C1C}">
                <a14:useLocalDpi xmlns:a14="http://schemas.microsoft.com/office/drawing/2010/main" val="0"/>
              </a:ext>
            </a:extLst>
          </a:blip>
          <a:srcRect l="24517" t="6285" r="24815" b="6503"/>
          <a:stretch/>
        </p:blipFill>
        <p:spPr bwMode="auto">
          <a:xfrm>
            <a:off x="1256045" y="2772729"/>
            <a:ext cx="1236705" cy="1246074"/>
          </a:xfrm>
          <a:prstGeom prst="rect">
            <a:avLst/>
          </a:prstGeom>
          <a:noFill/>
          <a:extLst>
            <a:ext uri="{909E8E84-426E-40DD-AFC4-6F175D3DCCD1}">
              <a14:hiddenFill xmlns:a14="http://schemas.microsoft.com/office/drawing/2010/main">
                <a:solidFill>
                  <a:srgbClr val="FFFFFF"/>
                </a:solidFill>
              </a14:hiddenFill>
            </a:ext>
          </a:extLst>
        </p:spPr>
      </p:pic>
      <p:sp>
        <p:nvSpPr>
          <p:cNvPr id="23" name="Rectángulo 22">
            <a:extLst>
              <a:ext uri="{FF2B5EF4-FFF2-40B4-BE49-F238E27FC236}">
                <a16:creationId xmlns:a16="http://schemas.microsoft.com/office/drawing/2014/main" id="{8F837980-0A38-47A1-8A30-C7AFF3A98D5A}"/>
              </a:ext>
            </a:extLst>
          </p:cNvPr>
          <p:cNvSpPr/>
          <p:nvPr/>
        </p:nvSpPr>
        <p:spPr>
          <a:xfrm>
            <a:off x="2806200" y="2772729"/>
            <a:ext cx="8540907" cy="3539430"/>
          </a:xfrm>
          <a:prstGeom prst="rect">
            <a:avLst/>
          </a:prstGeom>
        </p:spPr>
        <p:txBody>
          <a:bodyPr wrap="square" lIns="91440" tIns="45720" rIns="91440" bIns="45720" anchor="t">
            <a:spAutoFit/>
          </a:bodyPr>
          <a:lstStyle/>
          <a:p>
            <a:pPr marL="342900" indent="-342900">
              <a:buClr>
                <a:schemeClr val="accent3">
                  <a:lumMod val="75000"/>
                </a:schemeClr>
              </a:buClr>
              <a:buFont typeface="Gill Sans MT" panose="020B0502020104020203"/>
              <a:buAutoNum type="arabicPeriod"/>
            </a:pPr>
            <a:r>
              <a:rPr lang="es-CO" sz="1600">
                <a:solidFill>
                  <a:schemeClr val="bg2">
                    <a:lumMod val="90000"/>
                  </a:schemeClr>
                </a:solidFill>
                <a:latin typeface="Century Gothic"/>
                <a:cs typeface="Arial"/>
              </a:rPr>
              <a:t>Ingresos y Costos Pertinentes.</a:t>
            </a:r>
            <a:endParaRPr lang="es-ES" sz="1600">
              <a:solidFill>
                <a:schemeClr val="bg2">
                  <a:lumMod val="90000"/>
                </a:schemeClr>
              </a:solidFill>
              <a:latin typeface="Century Gothic"/>
              <a:cs typeface="Arial"/>
            </a:endParaRPr>
          </a:p>
          <a:p>
            <a:pPr marL="342900" indent="-342900">
              <a:buClr>
                <a:srgbClr val="2C7C9F"/>
              </a:buClr>
              <a:buFontTx/>
              <a:buAutoNum type="arabicPeriod"/>
            </a:pPr>
            <a:endParaRPr lang="es-CO" sz="1600">
              <a:solidFill>
                <a:schemeClr val="bg2">
                  <a:lumMod val="90000"/>
                </a:schemeClr>
              </a:solidFill>
              <a:latin typeface="Century Gothic"/>
              <a:cs typeface="Arial"/>
            </a:endParaRPr>
          </a:p>
          <a:p>
            <a:pPr marL="342900" indent="-342900">
              <a:buClr>
                <a:srgbClr val="48BE7A"/>
              </a:buClr>
              <a:buFontTx/>
              <a:buAutoNum type="arabicPeriod"/>
            </a:pPr>
            <a:r>
              <a:rPr lang="es-CO" sz="1600">
                <a:solidFill>
                  <a:schemeClr val="bg2">
                    <a:lumMod val="90000"/>
                  </a:schemeClr>
                </a:solidFill>
                <a:latin typeface="Century Gothic"/>
                <a:cs typeface="Arial"/>
              </a:rPr>
              <a:t>Principio de Marginalidad.</a:t>
            </a:r>
            <a:endParaRPr lang="es-CO" sz="1600">
              <a:solidFill>
                <a:schemeClr val="bg2">
                  <a:lumMod val="90000"/>
                </a:schemeClr>
              </a:solidFill>
              <a:latin typeface="Century Gothic"/>
            </a:endParaRPr>
          </a:p>
          <a:p>
            <a:pPr marL="342900" indent="-342900">
              <a:buClr>
                <a:srgbClr val="48BE7A"/>
              </a:buClr>
              <a:buFontTx/>
              <a:buAutoNum type="arabicPeriod"/>
            </a:pPr>
            <a:endParaRPr lang="es-CO" sz="1600">
              <a:solidFill>
                <a:schemeClr val="bg2">
                  <a:lumMod val="90000"/>
                </a:schemeClr>
              </a:solidFill>
              <a:latin typeface="Century Gothic"/>
            </a:endParaRPr>
          </a:p>
          <a:p>
            <a:pPr marL="342900" indent="-342900">
              <a:buClr>
                <a:srgbClr val="48BE7A"/>
              </a:buClr>
              <a:buFontTx/>
              <a:buAutoNum type="arabicPeriod"/>
            </a:pPr>
            <a:r>
              <a:rPr lang="es-CO" sz="1600">
                <a:solidFill>
                  <a:schemeClr val="bg2">
                    <a:lumMod val="90000"/>
                  </a:schemeClr>
                </a:solidFill>
                <a:latin typeface="Century Gothic"/>
                <a:cs typeface="Arial"/>
              </a:rPr>
              <a:t>Precios de Mercado.</a:t>
            </a:r>
            <a:endParaRPr lang="es-CO" sz="1600">
              <a:solidFill>
                <a:schemeClr val="bg2">
                  <a:lumMod val="90000"/>
                </a:schemeClr>
              </a:solidFill>
              <a:latin typeface="Century Gothic"/>
            </a:endParaRPr>
          </a:p>
          <a:p>
            <a:pPr marL="342900" indent="-342900">
              <a:buClr>
                <a:srgbClr val="48BE7A"/>
              </a:buClr>
              <a:buFontTx/>
              <a:buAutoNum type="arabicPeriod"/>
            </a:pPr>
            <a:endParaRPr lang="es-CO" sz="1600">
              <a:solidFill>
                <a:schemeClr val="accent1"/>
              </a:solidFill>
              <a:latin typeface="Century Gothic"/>
              <a:cs typeface="Arial"/>
            </a:endParaRPr>
          </a:p>
          <a:p>
            <a:pPr marL="342900" indent="-342900">
              <a:buClr>
                <a:srgbClr val="48BE7A"/>
              </a:buClr>
              <a:buFontTx/>
              <a:buAutoNum type="arabicPeriod"/>
            </a:pPr>
            <a:r>
              <a:rPr lang="es-CO" sz="1600">
                <a:solidFill>
                  <a:schemeClr val="accent1"/>
                </a:solidFill>
                <a:latin typeface="Century Gothic"/>
                <a:cs typeface="Arial"/>
              </a:rPr>
              <a:t>Costos Muertos.</a:t>
            </a:r>
            <a:endParaRPr lang="es-CO" sz="1600">
              <a:solidFill>
                <a:schemeClr val="accent1"/>
              </a:solidFill>
              <a:latin typeface="Century Gothic" panose="020B0502020202020204" pitchFamily="34" charset="0"/>
              <a:cs typeface="Arial"/>
            </a:endParaRPr>
          </a:p>
          <a:p>
            <a:pPr marL="342900" indent="-342900">
              <a:buClr>
                <a:srgbClr val="48BE7A"/>
              </a:buClr>
              <a:buAutoNum type="arabicPeriod"/>
            </a:pPr>
            <a:endParaRPr lang="es-CO" sz="1600">
              <a:solidFill>
                <a:schemeClr val="accent1"/>
              </a:solidFill>
              <a:latin typeface="Century Gothic" panose="020B0502020202020204" pitchFamily="34" charset="0"/>
              <a:cs typeface="Arial"/>
            </a:endParaRPr>
          </a:p>
          <a:p>
            <a:pPr marL="342900" indent="-342900">
              <a:buClr>
                <a:srgbClr val="48BE7A"/>
              </a:buClr>
              <a:buAutoNum type="arabicPeriod"/>
            </a:pPr>
            <a:r>
              <a:rPr lang="es-CO" sz="1600">
                <a:solidFill>
                  <a:schemeClr val="bg2">
                    <a:lumMod val="90000"/>
                  </a:schemeClr>
                </a:solidFill>
                <a:latin typeface="Century Gothic"/>
                <a:cs typeface="Arial"/>
              </a:rPr>
              <a:t>Ingresos y Egresos Operacionales.</a:t>
            </a:r>
          </a:p>
          <a:p>
            <a:pPr marL="342900" indent="-342900">
              <a:buClr>
                <a:srgbClr val="48BE7A"/>
              </a:buClr>
              <a:buAutoNum type="arabicPeriod"/>
            </a:pPr>
            <a:endParaRPr lang="es-CO" sz="1600">
              <a:solidFill>
                <a:schemeClr val="bg2">
                  <a:lumMod val="90000"/>
                </a:schemeClr>
              </a:solidFill>
              <a:latin typeface="Century Gothic"/>
              <a:cs typeface="Arial"/>
            </a:endParaRPr>
          </a:p>
          <a:p>
            <a:pPr marL="342900" indent="-342900">
              <a:buClr>
                <a:srgbClr val="48BE7A"/>
              </a:buClr>
              <a:buAutoNum type="arabicPeriod"/>
            </a:pPr>
            <a:r>
              <a:rPr lang="es-CO" sz="1600">
                <a:solidFill>
                  <a:schemeClr val="bg2">
                    <a:lumMod val="90000"/>
                  </a:schemeClr>
                </a:solidFill>
                <a:latin typeface="Century Gothic"/>
                <a:cs typeface="Arial"/>
              </a:rPr>
              <a:t>Ejercicio FCL.</a:t>
            </a:r>
          </a:p>
          <a:p>
            <a:pPr marL="342900" indent="-342900">
              <a:buClr>
                <a:srgbClr val="48BE7A"/>
              </a:buClr>
              <a:buAutoNum type="arabicPeriod"/>
            </a:pPr>
            <a:endParaRPr lang="es-CO" sz="1600">
              <a:solidFill>
                <a:srgbClr val="366658"/>
              </a:solidFill>
              <a:latin typeface="Century Gothic" panose="020B0502020202020204" pitchFamily="34" charset="0"/>
              <a:cs typeface="Arial"/>
            </a:endParaRPr>
          </a:p>
          <a:p>
            <a:pPr marL="342900" indent="-342900">
              <a:buClr>
                <a:srgbClr val="48BE7A"/>
              </a:buClr>
              <a:buAutoNum type="arabicPeriod"/>
            </a:pPr>
            <a:endParaRPr lang="es-CO" sz="1600">
              <a:solidFill>
                <a:schemeClr val="accent1"/>
              </a:solidFill>
              <a:latin typeface="Century Gothic" panose="020B0502020202020204" pitchFamily="34" charset="0"/>
              <a:cs typeface="Arial"/>
            </a:endParaRPr>
          </a:p>
          <a:p>
            <a:pPr>
              <a:buClr>
                <a:srgbClr val="88D5A9">
                  <a:lumMod val="75000"/>
                </a:srgbClr>
              </a:buClr>
            </a:pPr>
            <a:endParaRPr lang="es-CO" sz="1600">
              <a:solidFill>
                <a:schemeClr val="accent1"/>
              </a:solidFill>
              <a:latin typeface="Century Gothic" panose="020B0502020202020204" pitchFamily="34" charset="0"/>
              <a:cs typeface="Arial"/>
            </a:endParaRPr>
          </a:p>
        </p:txBody>
      </p:sp>
      <p:sp>
        <p:nvSpPr>
          <p:cNvPr id="3" name="Rectángulo 2">
            <a:extLst>
              <a:ext uri="{FF2B5EF4-FFF2-40B4-BE49-F238E27FC236}">
                <a16:creationId xmlns:a16="http://schemas.microsoft.com/office/drawing/2014/main" id="{8E86F046-042E-5492-3FBC-4E0C89F4D940}"/>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8" name="Picture 2" descr="Clientes y aliados | Centro de Evaluación | Uniandes">
            <a:extLst>
              <a:ext uri="{FF2B5EF4-FFF2-40B4-BE49-F238E27FC236}">
                <a16:creationId xmlns:a16="http://schemas.microsoft.com/office/drawing/2014/main" id="{5A2F8A99-E4A5-BAC5-C9B9-FA7BF325465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7" name="Rectángulo 6">
            <a:extLst>
              <a:ext uri="{FF2B5EF4-FFF2-40B4-BE49-F238E27FC236}">
                <a16:creationId xmlns:a16="http://schemas.microsoft.com/office/drawing/2014/main" id="{BE276256-0156-68C7-93ED-30477F8C5A48}"/>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5" name="Marcador de número de diapositiva 3">
            <a:extLst>
              <a:ext uri="{FF2B5EF4-FFF2-40B4-BE49-F238E27FC236}">
                <a16:creationId xmlns:a16="http://schemas.microsoft.com/office/drawing/2014/main" id="{FE01204C-82E9-5332-6560-BEA219A67894}"/>
              </a:ext>
            </a:extLst>
          </p:cNvPr>
          <p:cNvSpPr>
            <a:spLocks noGrp="1"/>
          </p:cNvSpPr>
          <p:nvPr>
            <p:ph type="sldNum" sz="quarter" idx="12"/>
          </p:nvPr>
        </p:nvSpPr>
        <p:spPr>
          <a:xfrm>
            <a:off x="10558300" y="5956137"/>
            <a:ext cx="1052508" cy="365125"/>
          </a:xfrm>
        </p:spPr>
        <p:txBody>
          <a:bodyPr/>
          <a:lstStyle/>
          <a:p>
            <a:fld id="{D57F1E4F-1CFF-5643-939E-217C01CDF565}" type="slidenum">
              <a:rPr lang="en-US" sz="2000" b="1" smtClean="0">
                <a:latin typeface="Century Gothic" panose="020B0502020202020204" pitchFamily="34" charset="0"/>
              </a:rPr>
              <a:pPr/>
              <a:t>25</a:t>
            </a:fld>
            <a:endParaRPr lang="en-US" sz="2000" b="1">
              <a:latin typeface="Century Gothic" panose="020B0502020202020204" pitchFamily="34" charset="0"/>
            </a:endParaRPr>
          </a:p>
        </p:txBody>
      </p:sp>
    </p:spTree>
    <p:extLst>
      <p:ext uri="{BB962C8B-B14F-4D97-AF65-F5344CB8AC3E}">
        <p14:creationId xmlns:p14="http://schemas.microsoft.com/office/powerpoint/2010/main" val="8756244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42" presetClass="entr" presetSubtype="0" fill="hold" grpId="0" nodeType="withEffect">
                                  <p:stCondLst>
                                    <p:cond delay="0"/>
                                  </p:stCondLst>
                                  <p:childTnLst>
                                    <p:set>
                                      <p:cBhvr>
                                        <p:cTn id="8" dur="1" fill="hold">
                                          <p:stCondLst>
                                            <p:cond delay="0"/>
                                          </p:stCondLst>
                                        </p:cTn>
                                        <p:tgtEl>
                                          <p:spTgt spid="23"/>
                                        </p:tgtEl>
                                        <p:attrNameLst>
                                          <p:attrName>style.visibility</p:attrName>
                                        </p:attrNameLst>
                                      </p:cBhvr>
                                      <p:to>
                                        <p:strVal val="visible"/>
                                      </p:to>
                                    </p:set>
                                    <p:animEffect transition="in" filter="fade">
                                      <p:cBhvr>
                                        <p:cTn id="9" dur="1000"/>
                                        <p:tgtEl>
                                          <p:spTgt spid="23"/>
                                        </p:tgtEl>
                                      </p:cBhvr>
                                    </p:animEffect>
                                    <p:anim calcmode="lin" valueType="num">
                                      <p:cBhvr>
                                        <p:cTn id="10" dur="1000" fill="hold"/>
                                        <p:tgtEl>
                                          <p:spTgt spid="23"/>
                                        </p:tgtEl>
                                        <p:attrNameLst>
                                          <p:attrName>ppt_x</p:attrName>
                                        </p:attrNameLst>
                                      </p:cBhvr>
                                      <p:tavLst>
                                        <p:tav tm="0">
                                          <p:val>
                                            <p:strVal val="#ppt_x"/>
                                          </p:val>
                                        </p:tav>
                                        <p:tav tm="100000">
                                          <p:val>
                                            <p:strVal val="#ppt_x"/>
                                          </p:val>
                                        </p:tav>
                                      </p:tavLst>
                                    </p:anim>
                                    <p:anim calcmode="lin" valueType="num">
                                      <p:cBhvr>
                                        <p:cTn id="11" dur="1000" fill="hold"/>
                                        <p:tgtEl>
                                          <p:spTgt spid="2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Autofit/>
          </a:bodyPr>
          <a:lstStyle/>
          <a:p>
            <a:r>
              <a:rPr lang="es-ES">
                <a:latin typeface="Century Gothic" panose="020B0502020202020204" pitchFamily="34" charset="0"/>
              </a:rPr>
              <a:t>Regla #3: No costos muertos</a:t>
            </a:r>
          </a:p>
        </p:txBody>
      </p:sp>
      <p:sp>
        <p:nvSpPr>
          <p:cNvPr id="3" name="Marcador de contenido 2"/>
          <p:cNvSpPr>
            <a:spLocks noGrp="1"/>
          </p:cNvSpPr>
          <p:nvPr>
            <p:ph idx="1"/>
          </p:nvPr>
        </p:nvSpPr>
        <p:spPr>
          <a:xfrm>
            <a:off x="983085" y="2198549"/>
            <a:ext cx="7750515" cy="3915617"/>
          </a:xfrm>
        </p:spPr>
        <p:txBody>
          <a:bodyPr>
            <a:normAutofit/>
          </a:bodyPr>
          <a:lstStyle/>
          <a:p>
            <a:pPr marL="0" indent="0" algn="ctr">
              <a:buNone/>
            </a:pPr>
            <a:r>
              <a:rPr lang="es-ES" b="1" dirty="0">
                <a:solidFill>
                  <a:srgbClr val="C00000"/>
                </a:solidFill>
                <a:latin typeface="Century Gothic" panose="020B0502020202020204" pitchFamily="34" charset="0"/>
              </a:rPr>
              <a:t>Los costos muertos (</a:t>
            </a:r>
            <a:r>
              <a:rPr lang="es-ES" b="1" i="1" dirty="0" err="1">
                <a:solidFill>
                  <a:srgbClr val="C00000"/>
                </a:solidFill>
                <a:latin typeface="Century Gothic" panose="020B0502020202020204" pitchFamily="34" charset="0"/>
              </a:rPr>
              <a:t>sunk</a:t>
            </a:r>
            <a:r>
              <a:rPr lang="es-ES" b="1" i="1" dirty="0">
                <a:solidFill>
                  <a:srgbClr val="C00000"/>
                </a:solidFill>
                <a:latin typeface="Century Gothic" panose="020B0502020202020204" pitchFamily="34" charset="0"/>
              </a:rPr>
              <a:t> </a:t>
            </a:r>
            <a:r>
              <a:rPr lang="es-ES" b="1" i="1" dirty="0" err="1">
                <a:solidFill>
                  <a:srgbClr val="C00000"/>
                </a:solidFill>
                <a:latin typeface="Century Gothic" panose="020B0502020202020204" pitchFamily="34" charset="0"/>
              </a:rPr>
              <a:t>costs</a:t>
            </a:r>
            <a:r>
              <a:rPr lang="es-ES" b="1" dirty="0">
                <a:solidFill>
                  <a:srgbClr val="C00000"/>
                </a:solidFill>
                <a:latin typeface="Century Gothic" panose="020B0502020202020204" pitchFamily="34" charset="0"/>
              </a:rPr>
              <a:t>) </a:t>
            </a:r>
            <a:r>
              <a:rPr lang="es-ES" dirty="0">
                <a:solidFill>
                  <a:schemeClr val="accent1"/>
                </a:solidFill>
                <a:latin typeface="Century Gothic" panose="020B0502020202020204" pitchFamily="34" charset="0"/>
              </a:rPr>
              <a:t>se definen como aquellos costos directamente vinculados a un proyecto, en los que se ha incurrido (típicamente en el pasado), pero que la decisión de realizar o no el proyecto (que dependerá de su evaluación), ya no tiene efecto alguno sobre dichos costos en que ya se incurrió. </a:t>
            </a:r>
          </a:p>
          <a:p>
            <a:pPr marL="0" indent="0" algn="ctr">
              <a:buNone/>
            </a:pPr>
            <a:r>
              <a:rPr lang="es-ES" dirty="0">
                <a:solidFill>
                  <a:schemeClr val="accent1"/>
                </a:solidFill>
                <a:latin typeface="Century Gothic"/>
              </a:rPr>
              <a:t>Dicho de otra forma, un costo muerto </a:t>
            </a:r>
            <a:r>
              <a:rPr lang="es-ES" b="1" dirty="0">
                <a:solidFill>
                  <a:srgbClr val="C00000"/>
                </a:solidFill>
                <a:latin typeface="Century Gothic"/>
              </a:rPr>
              <a:t>es un costo en que ya se </a:t>
            </a:r>
            <a:r>
              <a:rPr lang="es-ES" b="1">
                <a:solidFill>
                  <a:srgbClr val="C00000"/>
                </a:solidFill>
                <a:latin typeface="Century Gothic"/>
              </a:rPr>
              <a:t>incurrió, independientemente de si realiza o no el proyecto</a:t>
            </a:r>
            <a:r>
              <a:rPr lang="es-ES">
                <a:solidFill>
                  <a:schemeClr val="accent1"/>
                </a:solidFill>
                <a:latin typeface="Century Gothic"/>
              </a:rPr>
              <a:t>, y que </a:t>
            </a:r>
            <a:r>
              <a:rPr lang="es-ES" dirty="0">
                <a:solidFill>
                  <a:schemeClr val="accent1"/>
                </a:solidFill>
                <a:latin typeface="Century Gothic"/>
              </a:rPr>
              <a:t>la decisión de realizarlo o no, no tiene efecto alguno sobre el costo ya incurrido. </a:t>
            </a:r>
          </a:p>
        </p:txBody>
      </p:sp>
      <p:sp>
        <p:nvSpPr>
          <p:cNvPr id="5" name="Rectángulo 4">
            <a:extLst>
              <a:ext uri="{FF2B5EF4-FFF2-40B4-BE49-F238E27FC236}">
                <a16:creationId xmlns:a16="http://schemas.microsoft.com/office/drawing/2014/main" id="{9259769D-EB01-28A7-5E84-0A770259671D}"/>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8" name="Picture 2" descr="Clientes y aliados | Centro de Evaluación | Uniandes">
            <a:extLst>
              <a:ext uri="{FF2B5EF4-FFF2-40B4-BE49-F238E27FC236}">
                <a16:creationId xmlns:a16="http://schemas.microsoft.com/office/drawing/2014/main" id="{E28C76E3-F687-8965-E6EB-E0B42AA0780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pic>
        <p:nvPicPr>
          <p:cNvPr id="11" name="Imagen 10">
            <a:extLst>
              <a:ext uri="{FF2B5EF4-FFF2-40B4-BE49-F238E27FC236}">
                <a16:creationId xmlns:a16="http://schemas.microsoft.com/office/drawing/2014/main" id="{D65882DB-6860-14B4-05B6-7A8C4B16E4B3}"/>
              </a:ext>
            </a:extLst>
          </p:cNvPr>
          <p:cNvPicPr>
            <a:picLocks noChangeAspect="1"/>
          </p:cNvPicPr>
          <p:nvPr/>
        </p:nvPicPr>
        <p:blipFill>
          <a:blip r:embed="rId3"/>
          <a:stretch>
            <a:fillRect/>
          </a:stretch>
        </p:blipFill>
        <p:spPr>
          <a:xfrm>
            <a:off x="8996457" y="2995140"/>
            <a:ext cx="2540000" cy="1879600"/>
          </a:xfrm>
          <a:prstGeom prst="rect">
            <a:avLst/>
          </a:prstGeom>
        </p:spPr>
      </p:pic>
      <p:sp>
        <p:nvSpPr>
          <p:cNvPr id="6" name="Rectángulo 5">
            <a:extLst>
              <a:ext uri="{FF2B5EF4-FFF2-40B4-BE49-F238E27FC236}">
                <a16:creationId xmlns:a16="http://schemas.microsoft.com/office/drawing/2014/main" id="{406634DD-D82D-E033-3627-D71DEC9CF927}"/>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7" name="Marcador de número de diapositiva 3">
            <a:extLst>
              <a:ext uri="{FF2B5EF4-FFF2-40B4-BE49-F238E27FC236}">
                <a16:creationId xmlns:a16="http://schemas.microsoft.com/office/drawing/2014/main" id="{C1CE2F8D-BCE1-82D1-F97E-63CBD0D9B291}"/>
              </a:ext>
            </a:extLst>
          </p:cNvPr>
          <p:cNvSpPr>
            <a:spLocks noGrp="1"/>
          </p:cNvSpPr>
          <p:nvPr>
            <p:ph type="sldNum" sz="quarter" idx="12"/>
          </p:nvPr>
        </p:nvSpPr>
        <p:spPr>
          <a:xfrm>
            <a:off x="10558300" y="5956137"/>
            <a:ext cx="1052508" cy="365125"/>
          </a:xfrm>
        </p:spPr>
        <p:txBody>
          <a:bodyPr/>
          <a:lstStyle/>
          <a:p>
            <a:fld id="{D57F1E4F-1CFF-5643-939E-217C01CDF565}" type="slidenum">
              <a:rPr lang="en-US" sz="2000" b="1" smtClean="0">
                <a:latin typeface="Century Gothic" panose="020B0502020202020204" pitchFamily="34" charset="0"/>
              </a:rPr>
              <a:pPr/>
              <a:t>26</a:t>
            </a:fld>
            <a:endParaRPr lang="en-US" sz="2000" b="1">
              <a:latin typeface="Century Gothic" panose="020B0502020202020204" pitchFamily="34" charset="0"/>
            </a:endParaRPr>
          </a:p>
        </p:txBody>
      </p:sp>
    </p:spTree>
    <p:extLst>
      <p:ext uri="{BB962C8B-B14F-4D97-AF65-F5344CB8AC3E}">
        <p14:creationId xmlns:p14="http://schemas.microsoft.com/office/powerpoint/2010/main" val="144130983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ítulo 1">
            <a:extLst>
              <a:ext uri="{FF2B5EF4-FFF2-40B4-BE49-F238E27FC236}">
                <a16:creationId xmlns:a16="http://schemas.microsoft.com/office/drawing/2014/main" id="{0DBD7223-4EFC-455E-BAA5-BEEA6F0AEF84}"/>
              </a:ext>
            </a:extLst>
          </p:cNvPr>
          <p:cNvSpPr>
            <a:spLocks noGrp="1"/>
          </p:cNvSpPr>
          <p:nvPr>
            <p:ph type="title"/>
          </p:nvPr>
        </p:nvSpPr>
        <p:spPr/>
        <p:txBody>
          <a:bodyPr>
            <a:noAutofit/>
          </a:bodyPr>
          <a:lstStyle/>
          <a:p>
            <a:r>
              <a:rPr lang="es-ES">
                <a:latin typeface="Century Gothic" panose="020B0502020202020204" pitchFamily="34" charset="0"/>
              </a:rPr>
              <a:t>Regla #3: No costos muertos</a:t>
            </a:r>
          </a:p>
        </p:txBody>
      </p:sp>
      <p:sp>
        <p:nvSpPr>
          <p:cNvPr id="3" name="Marcador de contenido 2"/>
          <p:cNvSpPr>
            <a:spLocks noGrp="1"/>
          </p:cNvSpPr>
          <p:nvPr>
            <p:ph idx="1"/>
          </p:nvPr>
        </p:nvSpPr>
        <p:spPr>
          <a:xfrm>
            <a:off x="641965" y="2043730"/>
            <a:ext cx="8620303" cy="4277532"/>
          </a:xfrm>
        </p:spPr>
        <p:txBody>
          <a:bodyPr>
            <a:noAutofit/>
          </a:bodyPr>
          <a:lstStyle/>
          <a:p>
            <a:pPr marL="0" indent="0" algn="ctr">
              <a:buNone/>
            </a:pPr>
            <a:r>
              <a:rPr lang="es-ES" dirty="0">
                <a:solidFill>
                  <a:schemeClr val="accent1"/>
                </a:solidFill>
                <a:latin typeface="Century Gothic" panose="020B0502020202020204" pitchFamily="34" charset="0"/>
              </a:rPr>
              <a:t>Supóngase que usted es dueño de una empresa constructora especializada en construcción y mantenimiento de carreteras rurales.</a:t>
            </a:r>
          </a:p>
          <a:p>
            <a:pPr marL="0" indent="0" algn="ctr">
              <a:buNone/>
            </a:pPr>
            <a:r>
              <a:rPr lang="es-ES" dirty="0">
                <a:solidFill>
                  <a:schemeClr val="accent1"/>
                </a:solidFill>
                <a:latin typeface="Century Gothic" panose="020B0502020202020204" pitchFamily="34" charset="0"/>
              </a:rPr>
              <a:t>El estado Colombiano sacó una licitación para entregar en concesión la construcción y el mantenimiento de la ruta del sol.</a:t>
            </a:r>
          </a:p>
          <a:p>
            <a:pPr marL="0" indent="0" algn="ctr">
              <a:buNone/>
            </a:pPr>
            <a:r>
              <a:rPr lang="es-ES" dirty="0">
                <a:solidFill>
                  <a:schemeClr val="accent1"/>
                </a:solidFill>
                <a:latin typeface="Century Gothic" panose="020B0502020202020204" pitchFamily="34" charset="0"/>
              </a:rPr>
              <a:t>Su empresa, en aras de saber si dicha concesión le generaría valor, contrata a su profesor de ANADEC para que le haga un análisis de viabilidad económica del proyecto y poder decidir si aplicar a la licitación.</a:t>
            </a:r>
          </a:p>
          <a:p>
            <a:pPr marL="0" indent="0" algn="ctr">
              <a:buNone/>
            </a:pPr>
            <a:r>
              <a:rPr lang="es-ES" dirty="0">
                <a:solidFill>
                  <a:schemeClr val="accent1"/>
                </a:solidFill>
                <a:latin typeface="Century Gothic" panose="020B0502020202020204" pitchFamily="34" charset="0"/>
              </a:rPr>
              <a:t>Su profesor concluye que el proyecto tiene VPN positivo, y por el estudio le cobra 20.000.000 COP.</a:t>
            </a:r>
          </a:p>
          <a:p>
            <a:pPr marL="0" indent="0" algn="ctr">
              <a:buNone/>
            </a:pPr>
            <a:endParaRPr lang="es-ES" dirty="0">
              <a:latin typeface="Century Gothic" panose="020B0502020202020204" pitchFamily="34" charset="0"/>
            </a:endParaRPr>
          </a:p>
          <a:p>
            <a:pPr marL="0" indent="0" algn="ctr">
              <a:buNone/>
            </a:pPr>
            <a:r>
              <a:rPr lang="es-ES" b="1" dirty="0">
                <a:solidFill>
                  <a:srgbClr val="C00000"/>
                </a:solidFill>
                <a:latin typeface="Century Gothic" panose="020B0502020202020204" pitchFamily="34" charset="0"/>
              </a:rPr>
              <a:t>¿Dentro de los costos pertinentes del proyecto, debería incluirse dicho estudio?</a:t>
            </a:r>
          </a:p>
        </p:txBody>
      </p:sp>
      <p:sp>
        <p:nvSpPr>
          <p:cNvPr id="2" name="Rectángulo 1">
            <a:extLst>
              <a:ext uri="{FF2B5EF4-FFF2-40B4-BE49-F238E27FC236}">
                <a16:creationId xmlns:a16="http://schemas.microsoft.com/office/drawing/2014/main" id="{C9C5A9E4-758B-F42D-F5E9-749F5905DD0C}"/>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6" name="Picture 2" descr="Clientes y aliados | Centro de Evaluación | Uniandes">
            <a:extLst>
              <a:ext uri="{FF2B5EF4-FFF2-40B4-BE49-F238E27FC236}">
                <a16:creationId xmlns:a16="http://schemas.microsoft.com/office/drawing/2014/main" id="{885B6692-415E-C17F-1B03-C68E3683180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pic>
        <p:nvPicPr>
          <p:cNvPr id="12" name="Imagen 11">
            <a:extLst>
              <a:ext uri="{FF2B5EF4-FFF2-40B4-BE49-F238E27FC236}">
                <a16:creationId xmlns:a16="http://schemas.microsoft.com/office/drawing/2014/main" id="{20AE0120-7C47-4B03-C254-A6CEE3053AE2}"/>
              </a:ext>
            </a:extLst>
          </p:cNvPr>
          <p:cNvPicPr>
            <a:picLocks noChangeAspect="1"/>
          </p:cNvPicPr>
          <p:nvPr/>
        </p:nvPicPr>
        <p:blipFill>
          <a:blip r:embed="rId3"/>
          <a:stretch>
            <a:fillRect/>
          </a:stretch>
        </p:blipFill>
        <p:spPr>
          <a:xfrm>
            <a:off x="9262268" y="3135299"/>
            <a:ext cx="2380454" cy="2094393"/>
          </a:xfrm>
          <a:prstGeom prst="rect">
            <a:avLst/>
          </a:prstGeom>
        </p:spPr>
      </p:pic>
      <p:sp>
        <p:nvSpPr>
          <p:cNvPr id="9" name="Rectángulo 8">
            <a:extLst>
              <a:ext uri="{FF2B5EF4-FFF2-40B4-BE49-F238E27FC236}">
                <a16:creationId xmlns:a16="http://schemas.microsoft.com/office/drawing/2014/main" id="{1DA3F3F3-DF1D-8AFE-F3E8-5BE7A7C122B6}"/>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5" name="Marcador de número de diapositiva 3">
            <a:extLst>
              <a:ext uri="{FF2B5EF4-FFF2-40B4-BE49-F238E27FC236}">
                <a16:creationId xmlns:a16="http://schemas.microsoft.com/office/drawing/2014/main" id="{C52E08DC-E642-4E20-933D-F6AC5319EA61}"/>
              </a:ext>
            </a:extLst>
          </p:cNvPr>
          <p:cNvSpPr>
            <a:spLocks noGrp="1"/>
          </p:cNvSpPr>
          <p:nvPr>
            <p:ph type="sldNum" sz="quarter" idx="12"/>
          </p:nvPr>
        </p:nvSpPr>
        <p:spPr>
          <a:xfrm>
            <a:off x="10558300" y="5956137"/>
            <a:ext cx="1052508" cy="365125"/>
          </a:xfrm>
        </p:spPr>
        <p:txBody>
          <a:bodyPr/>
          <a:lstStyle/>
          <a:p>
            <a:fld id="{D57F1E4F-1CFF-5643-939E-217C01CDF565}" type="slidenum">
              <a:rPr lang="en-US" sz="2000" b="1" smtClean="0">
                <a:latin typeface="Century Gothic" panose="020B0502020202020204" pitchFamily="34" charset="0"/>
              </a:rPr>
              <a:pPr/>
              <a:t>27</a:t>
            </a:fld>
            <a:endParaRPr lang="en-US" sz="2000" b="1">
              <a:latin typeface="Century Gothic" panose="020B0502020202020204" pitchFamily="34" charset="0"/>
            </a:endParaRPr>
          </a:p>
        </p:txBody>
      </p:sp>
    </p:spTree>
    <p:extLst>
      <p:ext uri="{BB962C8B-B14F-4D97-AF65-F5344CB8AC3E}">
        <p14:creationId xmlns:p14="http://schemas.microsoft.com/office/powerpoint/2010/main" val="29596292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es-CO" sz="3200">
                <a:latin typeface="Century Gothic" panose="020B0502020202020204" pitchFamily="34" charset="0"/>
              </a:rPr>
              <a:t>AGENDA PROPUESTA</a:t>
            </a:r>
          </a:p>
        </p:txBody>
      </p:sp>
      <p:pic>
        <p:nvPicPr>
          <p:cNvPr id="6" name="Picture 6" descr="Resultado de imagen para RELOJ VECTOR">
            <a:extLst>
              <a:ext uri="{FF2B5EF4-FFF2-40B4-BE49-F238E27FC236}">
                <a16:creationId xmlns:a16="http://schemas.microsoft.com/office/drawing/2014/main" id="{0F651596-1125-43ED-8471-A57EDDF3518A}"/>
              </a:ext>
            </a:extLst>
          </p:cNvPr>
          <p:cNvPicPr>
            <a:picLocks noChangeAspect="1" noChangeArrowheads="1"/>
          </p:cNvPicPr>
          <p:nvPr/>
        </p:nvPicPr>
        <p:blipFill rotWithShape="1">
          <a:blip r:embed="rId2" cstate="print">
            <a:clrChange>
              <a:clrFrom>
                <a:srgbClr val="F6F6F6"/>
              </a:clrFrom>
              <a:clrTo>
                <a:srgbClr val="F6F6F6">
                  <a:alpha val="0"/>
                </a:srgbClr>
              </a:clrTo>
            </a:clrChange>
            <a:duotone>
              <a:schemeClr val="accent3">
                <a:shade val="45000"/>
                <a:satMod val="135000"/>
              </a:schemeClr>
              <a:prstClr val="white"/>
            </a:duotone>
            <a:extLst>
              <a:ext uri="{28A0092B-C50C-407E-A947-70E740481C1C}">
                <a14:useLocalDpi xmlns:a14="http://schemas.microsoft.com/office/drawing/2010/main" val="0"/>
              </a:ext>
            </a:extLst>
          </a:blip>
          <a:srcRect l="24517" t="6285" r="24815" b="6503"/>
          <a:stretch/>
        </p:blipFill>
        <p:spPr bwMode="auto">
          <a:xfrm>
            <a:off x="1256045" y="2772729"/>
            <a:ext cx="1236705" cy="1246074"/>
          </a:xfrm>
          <a:prstGeom prst="rect">
            <a:avLst/>
          </a:prstGeom>
          <a:noFill/>
          <a:extLst>
            <a:ext uri="{909E8E84-426E-40DD-AFC4-6F175D3DCCD1}">
              <a14:hiddenFill xmlns:a14="http://schemas.microsoft.com/office/drawing/2010/main">
                <a:solidFill>
                  <a:srgbClr val="FFFFFF"/>
                </a:solidFill>
              </a14:hiddenFill>
            </a:ext>
          </a:extLst>
        </p:spPr>
      </p:pic>
      <p:sp>
        <p:nvSpPr>
          <p:cNvPr id="23" name="Rectángulo 22">
            <a:extLst>
              <a:ext uri="{FF2B5EF4-FFF2-40B4-BE49-F238E27FC236}">
                <a16:creationId xmlns:a16="http://schemas.microsoft.com/office/drawing/2014/main" id="{8F837980-0A38-47A1-8A30-C7AFF3A98D5A}"/>
              </a:ext>
            </a:extLst>
          </p:cNvPr>
          <p:cNvSpPr/>
          <p:nvPr/>
        </p:nvSpPr>
        <p:spPr>
          <a:xfrm>
            <a:off x="2806200" y="2772729"/>
            <a:ext cx="8540907" cy="3293209"/>
          </a:xfrm>
          <a:prstGeom prst="rect">
            <a:avLst/>
          </a:prstGeom>
        </p:spPr>
        <p:txBody>
          <a:bodyPr wrap="square" lIns="91440" tIns="45720" rIns="91440" bIns="45720" anchor="t">
            <a:spAutoFit/>
          </a:bodyPr>
          <a:lstStyle/>
          <a:p>
            <a:pPr marL="342900" indent="-342900">
              <a:buClr>
                <a:schemeClr val="accent3">
                  <a:lumMod val="75000"/>
                </a:schemeClr>
              </a:buClr>
              <a:buFont typeface="Gill Sans MT" panose="020B0502020104020203"/>
              <a:buAutoNum type="arabicPeriod"/>
            </a:pPr>
            <a:r>
              <a:rPr lang="es-CO" sz="1600">
                <a:solidFill>
                  <a:schemeClr val="bg2">
                    <a:lumMod val="90000"/>
                  </a:schemeClr>
                </a:solidFill>
                <a:latin typeface="Century Gothic"/>
                <a:cs typeface="Arial"/>
              </a:rPr>
              <a:t>Ingresos y Costos Pertinentes.</a:t>
            </a:r>
            <a:endParaRPr lang="es-ES" sz="1600">
              <a:solidFill>
                <a:schemeClr val="bg2">
                  <a:lumMod val="90000"/>
                </a:schemeClr>
              </a:solidFill>
              <a:latin typeface="Century Gothic"/>
              <a:cs typeface="Arial"/>
            </a:endParaRPr>
          </a:p>
          <a:p>
            <a:pPr marL="342900" indent="-342900">
              <a:buClr>
                <a:srgbClr val="2C7C9F"/>
              </a:buClr>
              <a:buFontTx/>
              <a:buAutoNum type="arabicPeriod"/>
            </a:pPr>
            <a:endParaRPr lang="es-CO" sz="1600">
              <a:solidFill>
                <a:schemeClr val="bg2">
                  <a:lumMod val="90000"/>
                </a:schemeClr>
              </a:solidFill>
              <a:latin typeface="Century Gothic"/>
              <a:cs typeface="Arial"/>
            </a:endParaRPr>
          </a:p>
          <a:p>
            <a:pPr marL="342900" indent="-342900">
              <a:buClr>
                <a:srgbClr val="48BE7A"/>
              </a:buClr>
              <a:buFontTx/>
              <a:buAutoNum type="arabicPeriod"/>
            </a:pPr>
            <a:r>
              <a:rPr lang="es-CO" sz="1600">
                <a:solidFill>
                  <a:schemeClr val="bg2">
                    <a:lumMod val="90000"/>
                  </a:schemeClr>
                </a:solidFill>
                <a:latin typeface="Century Gothic"/>
                <a:cs typeface="Arial"/>
              </a:rPr>
              <a:t>Principio de Marginalidad.</a:t>
            </a:r>
            <a:endParaRPr lang="es-CO" sz="1600">
              <a:solidFill>
                <a:schemeClr val="bg2">
                  <a:lumMod val="90000"/>
                </a:schemeClr>
              </a:solidFill>
              <a:latin typeface="Century Gothic"/>
            </a:endParaRPr>
          </a:p>
          <a:p>
            <a:pPr marL="342900" indent="-342900">
              <a:buClr>
                <a:srgbClr val="48BE7A"/>
              </a:buClr>
              <a:buFontTx/>
              <a:buAutoNum type="arabicPeriod"/>
            </a:pPr>
            <a:endParaRPr lang="es-CO" sz="1600">
              <a:solidFill>
                <a:schemeClr val="bg2">
                  <a:lumMod val="90000"/>
                </a:schemeClr>
              </a:solidFill>
              <a:latin typeface="Century Gothic"/>
            </a:endParaRPr>
          </a:p>
          <a:p>
            <a:pPr marL="342900" indent="-342900">
              <a:buClr>
                <a:srgbClr val="48BE7A"/>
              </a:buClr>
              <a:buFontTx/>
              <a:buAutoNum type="arabicPeriod"/>
            </a:pPr>
            <a:r>
              <a:rPr lang="es-CO" sz="1600">
                <a:solidFill>
                  <a:schemeClr val="bg2">
                    <a:lumMod val="90000"/>
                  </a:schemeClr>
                </a:solidFill>
                <a:latin typeface="Century Gothic"/>
                <a:cs typeface="Arial"/>
              </a:rPr>
              <a:t>Precios de Mercado.</a:t>
            </a:r>
            <a:endParaRPr lang="es-CO" sz="1600">
              <a:solidFill>
                <a:schemeClr val="bg2">
                  <a:lumMod val="90000"/>
                </a:schemeClr>
              </a:solidFill>
              <a:latin typeface="Century Gothic"/>
            </a:endParaRPr>
          </a:p>
          <a:p>
            <a:pPr marL="342900" indent="-342900">
              <a:buClr>
                <a:srgbClr val="48BE7A"/>
              </a:buClr>
              <a:buFontTx/>
              <a:buAutoNum type="arabicPeriod"/>
            </a:pPr>
            <a:endParaRPr lang="es-CO" sz="1600">
              <a:solidFill>
                <a:schemeClr val="bg2">
                  <a:lumMod val="90000"/>
                </a:schemeClr>
              </a:solidFill>
              <a:latin typeface="Century Gothic"/>
              <a:cs typeface="Arial"/>
            </a:endParaRPr>
          </a:p>
          <a:p>
            <a:pPr marL="342900" indent="-342900">
              <a:buClr>
                <a:srgbClr val="48BE7A"/>
              </a:buClr>
              <a:buFontTx/>
              <a:buAutoNum type="arabicPeriod"/>
            </a:pPr>
            <a:r>
              <a:rPr lang="es-CO" sz="1600">
                <a:solidFill>
                  <a:schemeClr val="bg2">
                    <a:lumMod val="90000"/>
                  </a:schemeClr>
                </a:solidFill>
                <a:latin typeface="Century Gothic"/>
                <a:cs typeface="Arial"/>
              </a:rPr>
              <a:t>Costos Muertos.</a:t>
            </a:r>
            <a:endParaRPr lang="es-CO" sz="1600">
              <a:solidFill>
                <a:schemeClr val="bg2">
                  <a:lumMod val="90000"/>
                </a:schemeClr>
              </a:solidFill>
              <a:latin typeface="Century Gothic" panose="020B0502020202020204" pitchFamily="34" charset="0"/>
              <a:cs typeface="Arial"/>
            </a:endParaRPr>
          </a:p>
          <a:p>
            <a:pPr marL="342900" indent="-342900">
              <a:buClr>
                <a:srgbClr val="48BE7A"/>
              </a:buClr>
              <a:buAutoNum type="arabicPeriod"/>
            </a:pPr>
            <a:endParaRPr lang="es-CO" sz="1600">
              <a:solidFill>
                <a:schemeClr val="accent1"/>
              </a:solidFill>
              <a:latin typeface="Century Gothic" panose="020B0502020202020204" pitchFamily="34" charset="0"/>
              <a:cs typeface="Arial"/>
            </a:endParaRPr>
          </a:p>
          <a:p>
            <a:pPr marL="342900" indent="-342900">
              <a:buClr>
                <a:srgbClr val="48BE7A"/>
              </a:buClr>
              <a:buAutoNum type="arabicPeriod"/>
            </a:pPr>
            <a:r>
              <a:rPr lang="es-CO" sz="1600">
                <a:solidFill>
                  <a:schemeClr val="accent1"/>
                </a:solidFill>
                <a:latin typeface="Century Gothic"/>
                <a:cs typeface="Arial"/>
              </a:rPr>
              <a:t>Ingresos y Egresos Operacionales.</a:t>
            </a:r>
          </a:p>
          <a:p>
            <a:pPr marL="342900" indent="-342900">
              <a:buClr>
                <a:srgbClr val="48BE7A"/>
              </a:buClr>
              <a:buAutoNum type="arabicPeriod"/>
            </a:pPr>
            <a:endParaRPr lang="es-CO" sz="1600">
              <a:solidFill>
                <a:schemeClr val="accent1"/>
              </a:solidFill>
              <a:latin typeface="Century Gothic"/>
              <a:cs typeface="Arial"/>
            </a:endParaRPr>
          </a:p>
          <a:p>
            <a:pPr marL="342900" indent="-342900">
              <a:buClr>
                <a:srgbClr val="48BE7A"/>
              </a:buClr>
              <a:buAutoNum type="arabicPeriod"/>
            </a:pPr>
            <a:r>
              <a:rPr lang="es-CO" sz="1600">
                <a:solidFill>
                  <a:schemeClr val="bg2">
                    <a:lumMod val="90000"/>
                  </a:schemeClr>
                </a:solidFill>
                <a:latin typeface="Century Gothic"/>
                <a:cs typeface="Arial"/>
              </a:rPr>
              <a:t>Ejercicio FCL.</a:t>
            </a:r>
            <a:endParaRPr lang="es-CO" sz="1600">
              <a:solidFill>
                <a:schemeClr val="accent1"/>
              </a:solidFill>
              <a:latin typeface="Century Gothic"/>
              <a:cs typeface="Arial"/>
            </a:endParaRPr>
          </a:p>
          <a:p>
            <a:pPr marL="342900" indent="-342900">
              <a:buClr>
                <a:srgbClr val="48BE7A"/>
              </a:buClr>
              <a:buAutoNum type="arabicPeriod"/>
            </a:pPr>
            <a:endParaRPr lang="es-CO" sz="1600">
              <a:solidFill>
                <a:schemeClr val="accent1"/>
              </a:solidFill>
              <a:latin typeface="Century Gothic" panose="020B0502020202020204" pitchFamily="34" charset="0"/>
              <a:cs typeface="Arial"/>
            </a:endParaRPr>
          </a:p>
          <a:p>
            <a:pPr>
              <a:buClr>
                <a:srgbClr val="88D5A9">
                  <a:lumMod val="75000"/>
                </a:srgbClr>
              </a:buClr>
            </a:pPr>
            <a:endParaRPr lang="es-CO" sz="1600">
              <a:solidFill>
                <a:srgbClr val="366658"/>
              </a:solidFill>
              <a:latin typeface="Century Gothic" panose="020B0502020202020204" pitchFamily="34" charset="0"/>
              <a:cs typeface="Arial"/>
            </a:endParaRPr>
          </a:p>
        </p:txBody>
      </p:sp>
      <p:sp>
        <p:nvSpPr>
          <p:cNvPr id="3" name="Rectángulo 2">
            <a:extLst>
              <a:ext uri="{FF2B5EF4-FFF2-40B4-BE49-F238E27FC236}">
                <a16:creationId xmlns:a16="http://schemas.microsoft.com/office/drawing/2014/main" id="{8E86F046-042E-5492-3FBC-4E0C89F4D940}"/>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8" name="Picture 2" descr="Clientes y aliados | Centro de Evaluación | Uniandes">
            <a:extLst>
              <a:ext uri="{FF2B5EF4-FFF2-40B4-BE49-F238E27FC236}">
                <a16:creationId xmlns:a16="http://schemas.microsoft.com/office/drawing/2014/main" id="{5A2F8A99-E4A5-BAC5-C9B9-FA7BF325465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7" name="Rectángulo 6">
            <a:extLst>
              <a:ext uri="{FF2B5EF4-FFF2-40B4-BE49-F238E27FC236}">
                <a16:creationId xmlns:a16="http://schemas.microsoft.com/office/drawing/2014/main" id="{76053608-2EE6-DD8D-ADB0-3864EC447A78}"/>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5" name="Marcador de número de diapositiva 3">
            <a:extLst>
              <a:ext uri="{FF2B5EF4-FFF2-40B4-BE49-F238E27FC236}">
                <a16:creationId xmlns:a16="http://schemas.microsoft.com/office/drawing/2014/main" id="{E1E2BE17-9DF8-BD1E-74A9-DF66EEFECD5D}"/>
              </a:ext>
            </a:extLst>
          </p:cNvPr>
          <p:cNvSpPr>
            <a:spLocks noGrp="1"/>
          </p:cNvSpPr>
          <p:nvPr>
            <p:ph type="sldNum" sz="quarter" idx="12"/>
          </p:nvPr>
        </p:nvSpPr>
        <p:spPr>
          <a:xfrm>
            <a:off x="10558300" y="5956137"/>
            <a:ext cx="1052508" cy="365125"/>
          </a:xfrm>
        </p:spPr>
        <p:txBody>
          <a:bodyPr/>
          <a:lstStyle/>
          <a:p>
            <a:fld id="{D57F1E4F-1CFF-5643-939E-217C01CDF565}" type="slidenum">
              <a:rPr lang="en-US" sz="2000" b="1" smtClean="0">
                <a:latin typeface="Century Gothic" panose="020B0502020202020204" pitchFamily="34" charset="0"/>
              </a:rPr>
              <a:pPr/>
              <a:t>28</a:t>
            </a:fld>
            <a:endParaRPr lang="en-US" sz="2000" b="1">
              <a:latin typeface="Century Gothic" panose="020B0502020202020204" pitchFamily="34" charset="0"/>
            </a:endParaRPr>
          </a:p>
        </p:txBody>
      </p:sp>
    </p:spTree>
    <p:extLst>
      <p:ext uri="{BB962C8B-B14F-4D97-AF65-F5344CB8AC3E}">
        <p14:creationId xmlns:p14="http://schemas.microsoft.com/office/powerpoint/2010/main" val="35390932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42" presetClass="entr" presetSubtype="0" fill="hold" grpId="0" nodeType="withEffect">
                                  <p:stCondLst>
                                    <p:cond delay="0"/>
                                  </p:stCondLst>
                                  <p:childTnLst>
                                    <p:set>
                                      <p:cBhvr>
                                        <p:cTn id="8" dur="1" fill="hold">
                                          <p:stCondLst>
                                            <p:cond delay="0"/>
                                          </p:stCondLst>
                                        </p:cTn>
                                        <p:tgtEl>
                                          <p:spTgt spid="23"/>
                                        </p:tgtEl>
                                        <p:attrNameLst>
                                          <p:attrName>style.visibility</p:attrName>
                                        </p:attrNameLst>
                                      </p:cBhvr>
                                      <p:to>
                                        <p:strVal val="visible"/>
                                      </p:to>
                                    </p:set>
                                    <p:animEffect transition="in" filter="fade">
                                      <p:cBhvr>
                                        <p:cTn id="9" dur="1000"/>
                                        <p:tgtEl>
                                          <p:spTgt spid="23"/>
                                        </p:tgtEl>
                                      </p:cBhvr>
                                    </p:animEffect>
                                    <p:anim calcmode="lin" valueType="num">
                                      <p:cBhvr>
                                        <p:cTn id="10" dur="1000" fill="hold"/>
                                        <p:tgtEl>
                                          <p:spTgt spid="23"/>
                                        </p:tgtEl>
                                        <p:attrNameLst>
                                          <p:attrName>ppt_x</p:attrName>
                                        </p:attrNameLst>
                                      </p:cBhvr>
                                      <p:tavLst>
                                        <p:tav tm="0">
                                          <p:val>
                                            <p:strVal val="#ppt_x"/>
                                          </p:val>
                                        </p:tav>
                                        <p:tav tm="100000">
                                          <p:val>
                                            <p:strVal val="#ppt_x"/>
                                          </p:val>
                                        </p:tav>
                                      </p:tavLst>
                                    </p:anim>
                                    <p:anim calcmode="lin" valueType="num">
                                      <p:cBhvr>
                                        <p:cTn id="11" dur="1000" fill="hold"/>
                                        <p:tgtEl>
                                          <p:spTgt spid="2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Autofit/>
          </a:bodyPr>
          <a:lstStyle/>
          <a:p>
            <a:r>
              <a:rPr lang="es-ES">
                <a:latin typeface="Century Gothic" panose="020B0502020202020204" pitchFamily="34" charset="0"/>
              </a:rPr>
              <a:t>Regla #4: Ingresos y </a:t>
            </a:r>
            <a:r>
              <a:rPr lang="es-ES" err="1">
                <a:latin typeface="Century Gothic" panose="020B0502020202020204" pitchFamily="34" charset="0"/>
              </a:rPr>
              <a:t>EGRESos</a:t>
            </a:r>
            <a:r>
              <a:rPr lang="es-ES">
                <a:latin typeface="Century Gothic" panose="020B0502020202020204" pitchFamily="34" charset="0"/>
              </a:rPr>
              <a:t> operacionales</a:t>
            </a:r>
          </a:p>
        </p:txBody>
      </p:sp>
      <p:sp>
        <p:nvSpPr>
          <p:cNvPr id="5" name="Marcador de contenido 2"/>
          <p:cNvSpPr txBox="1">
            <a:spLocks/>
          </p:cNvSpPr>
          <p:nvPr/>
        </p:nvSpPr>
        <p:spPr>
          <a:xfrm>
            <a:off x="933520" y="3665861"/>
            <a:ext cx="7610476" cy="1169880"/>
          </a:xfrm>
          <a:prstGeom prst="rect">
            <a:avLst/>
          </a:prstGeom>
        </p:spPr>
        <p:txBody>
          <a:bodyPr vert="horz" lIns="91440" tIns="45720" rIns="91440" bIns="45720" rtlCol="0">
            <a:normAutofit lnSpcReduction="10000"/>
          </a:bodyPr>
          <a:lstStyle>
            <a:lvl1pPr marL="342900" indent="-342900" algn="l" defTabSz="914400" rtl="0" eaLnBrk="1" latinLnBrk="0" hangingPunct="1">
              <a:spcBef>
                <a:spcPts val="2000"/>
              </a:spcBef>
              <a:buClr>
                <a:schemeClr val="accent1"/>
              </a:buClr>
              <a:buFont typeface="Wingdings 2" pitchFamily="18" charset="2"/>
              <a:buChar char=""/>
              <a:defRPr sz="2000" kern="1200">
                <a:solidFill>
                  <a:schemeClr val="tx1">
                    <a:lumMod val="65000"/>
                    <a:lumOff val="35000"/>
                  </a:schemeClr>
                </a:solidFill>
                <a:latin typeface="+mn-lt"/>
                <a:ea typeface="+mn-ea"/>
                <a:cs typeface="+mn-cs"/>
              </a:defRPr>
            </a:lvl1pPr>
            <a:lvl2pPr marL="685800" indent="-336550" algn="l" defTabSz="914400" rtl="0" eaLnBrk="1" latinLnBrk="0" hangingPunct="1">
              <a:spcBef>
                <a:spcPts val="600"/>
              </a:spcBef>
              <a:buClr>
                <a:schemeClr val="accent1">
                  <a:lumMod val="50000"/>
                </a:schemeClr>
              </a:buClr>
              <a:buFont typeface="Wingdings 2" pitchFamily="18" charset="2"/>
              <a:buChar char=""/>
              <a:defRPr sz="1800" kern="1200">
                <a:solidFill>
                  <a:schemeClr val="tx1">
                    <a:lumMod val="65000"/>
                    <a:lumOff val="35000"/>
                  </a:schemeClr>
                </a:solidFill>
                <a:latin typeface="+mn-lt"/>
                <a:ea typeface="+mn-ea"/>
                <a:cs typeface="+mn-cs"/>
              </a:defRPr>
            </a:lvl2pPr>
            <a:lvl3pPr marL="1035050" indent="-349250" algn="l" defTabSz="914400" rtl="0" eaLnBrk="1" latinLnBrk="0" hangingPunct="1">
              <a:spcBef>
                <a:spcPts val="600"/>
              </a:spcBef>
              <a:buClr>
                <a:schemeClr val="accent1"/>
              </a:buClr>
              <a:buFont typeface="Wingdings 2" pitchFamily="18" charset="2"/>
              <a:buChar char=""/>
              <a:defRPr sz="1800" kern="1200">
                <a:solidFill>
                  <a:schemeClr val="tx1">
                    <a:lumMod val="65000"/>
                    <a:lumOff val="35000"/>
                  </a:schemeClr>
                </a:solidFill>
                <a:latin typeface="+mn-lt"/>
                <a:ea typeface="+mn-ea"/>
                <a:cs typeface="+mn-cs"/>
              </a:defRPr>
            </a:lvl3pPr>
            <a:lvl4pPr marL="1371600" indent="-336550" algn="l" defTabSz="914400" rtl="0" eaLnBrk="1" latinLnBrk="0" hangingPunct="1">
              <a:spcBef>
                <a:spcPts val="600"/>
              </a:spcBef>
              <a:buClr>
                <a:schemeClr val="accent1">
                  <a:lumMod val="50000"/>
                </a:schemeClr>
              </a:buClr>
              <a:buFont typeface="Wingdings 2" pitchFamily="18" charset="2"/>
              <a:buChar char=""/>
              <a:defRPr sz="1800" kern="1200">
                <a:solidFill>
                  <a:schemeClr val="tx1">
                    <a:lumMod val="65000"/>
                    <a:lumOff val="35000"/>
                  </a:schemeClr>
                </a:solidFill>
                <a:latin typeface="+mn-lt"/>
                <a:ea typeface="+mn-ea"/>
                <a:cs typeface="+mn-cs"/>
              </a:defRPr>
            </a:lvl4pPr>
            <a:lvl5pPr marL="1720850" indent="-349250" algn="l" defTabSz="914400" rtl="0" eaLnBrk="1" latinLnBrk="0" hangingPunct="1">
              <a:spcBef>
                <a:spcPts val="600"/>
              </a:spcBef>
              <a:buClr>
                <a:schemeClr val="accent1"/>
              </a:buClr>
              <a:buFont typeface="Wingdings 2" pitchFamily="18" charset="2"/>
              <a:buChar char=""/>
              <a:defRPr sz="1800" kern="1200">
                <a:solidFill>
                  <a:schemeClr val="tx1">
                    <a:lumMod val="65000"/>
                    <a:lumOff val="35000"/>
                  </a:schemeClr>
                </a:solidFill>
                <a:latin typeface="+mn-lt"/>
                <a:ea typeface="+mn-ea"/>
                <a:cs typeface="+mn-cs"/>
              </a:defRPr>
            </a:lvl5pPr>
            <a:lvl6pPr marL="2055813" indent="-344488" algn="l" defTabSz="914400" rtl="0" eaLnBrk="1" latinLnBrk="0" hangingPunct="1">
              <a:spcBef>
                <a:spcPct val="20000"/>
              </a:spcBef>
              <a:buClr>
                <a:schemeClr val="accent1">
                  <a:lumMod val="50000"/>
                </a:schemeClr>
              </a:buClr>
              <a:buFont typeface="Wingdings 2" pitchFamily="18" charset="2"/>
              <a:buChar char=""/>
              <a:defRPr lang="en-US" sz="1800" kern="1200" dirty="0" smtClean="0">
                <a:solidFill>
                  <a:schemeClr val="tx1">
                    <a:lumMod val="65000"/>
                    <a:lumOff val="35000"/>
                  </a:schemeClr>
                </a:solidFill>
                <a:latin typeface="+mn-lt"/>
                <a:ea typeface="+mn-ea"/>
                <a:cs typeface="+mn-cs"/>
              </a:defRPr>
            </a:lvl6pPr>
            <a:lvl7pPr marL="2398713" indent="-344488" algn="l" defTabSz="914400" rtl="0" eaLnBrk="1" latinLnBrk="0" hangingPunct="1">
              <a:spcBef>
                <a:spcPct val="20000"/>
              </a:spcBef>
              <a:buClr>
                <a:schemeClr val="accent1"/>
              </a:buClr>
              <a:buFont typeface="Wingdings 2" pitchFamily="18" charset="2"/>
              <a:buChar char=""/>
              <a:defRPr lang="en-US" sz="1800" kern="1200" dirty="0" smtClean="0">
                <a:solidFill>
                  <a:schemeClr val="tx1">
                    <a:lumMod val="65000"/>
                    <a:lumOff val="35000"/>
                  </a:schemeClr>
                </a:solidFill>
                <a:latin typeface="+mn-lt"/>
                <a:ea typeface="+mn-ea"/>
                <a:cs typeface="+mn-cs"/>
              </a:defRPr>
            </a:lvl7pPr>
            <a:lvl8pPr marL="2743200" indent="-344488" algn="l" defTabSz="914400" rtl="0" eaLnBrk="1" latinLnBrk="0" hangingPunct="1">
              <a:spcBef>
                <a:spcPct val="20000"/>
              </a:spcBef>
              <a:buClr>
                <a:schemeClr val="accent1">
                  <a:lumMod val="50000"/>
                </a:schemeClr>
              </a:buClr>
              <a:buFont typeface="Wingdings 2" pitchFamily="18" charset="2"/>
              <a:buChar char=""/>
              <a:defRPr lang="en-US" sz="1800" kern="1200" dirty="0" smtClean="0">
                <a:solidFill>
                  <a:schemeClr val="tx1">
                    <a:lumMod val="65000"/>
                    <a:lumOff val="35000"/>
                  </a:schemeClr>
                </a:solidFill>
                <a:latin typeface="+mn-lt"/>
                <a:ea typeface="+mn-ea"/>
                <a:cs typeface="+mn-cs"/>
              </a:defRPr>
            </a:lvl8pPr>
            <a:lvl9pPr marL="3087688" indent="-344488" algn="l" defTabSz="914400" rtl="0" eaLnBrk="1" latinLnBrk="0" hangingPunct="1">
              <a:spcBef>
                <a:spcPct val="20000"/>
              </a:spcBef>
              <a:buClr>
                <a:schemeClr val="accent1"/>
              </a:buClr>
              <a:buFont typeface="Wingdings 2" pitchFamily="18" charset="2"/>
              <a:buChar char=""/>
              <a:defRPr lang="en-US" sz="1800" kern="1200" dirty="0">
                <a:solidFill>
                  <a:schemeClr val="tx1">
                    <a:lumMod val="65000"/>
                    <a:lumOff val="35000"/>
                  </a:schemeClr>
                </a:solidFill>
                <a:latin typeface="+mn-lt"/>
                <a:ea typeface="+mn-ea"/>
                <a:cs typeface="+mn-cs"/>
              </a:defRPr>
            </a:lvl9pPr>
          </a:lstStyle>
          <a:p>
            <a:pPr marL="0" indent="0" algn="ctr">
              <a:buNone/>
            </a:pPr>
            <a:r>
              <a:rPr lang="es-ES" sz="1800">
                <a:solidFill>
                  <a:schemeClr val="accent1"/>
                </a:solidFill>
                <a:latin typeface="Century Gothic" panose="020B0502020202020204" pitchFamily="34" charset="0"/>
              </a:rPr>
              <a:t>Este principio nos recuerda que el flujo de caja libre busca estimar el dinero que un proyecto deja </a:t>
            </a:r>
            <a:r>
              <a:rPr lang="es-ES" sz="1800" b="1">
                <a:solidFill>
                  <a:srgbClr val="C00000"/>
                </a:solidFill>
                <a:latin typeface="Century Gothic" panose="020B0502020202020204" pitchFamily="34" charset="0"/>
              </a:rPr>
              <a:t>libre</a:t>
            </a:r>
            <a:r>
              <a:rPr lang="es-ES" sz="1800">
                <a:solidFill>
                  <a:schemeClr val="accent1"/>
                </a:solidFill>
                <a:latin typeface="Century Gothic" panose="020B0502020202020204" pitchFamily="34" charset="0"/>
              </a:rPr>
              <a:t> para pagar deuda y accionistas. De esta forma se debe contemplar únicamente los </a:t>
            </a:r>
            <a:r>
              <a:rPr lang="es-ES" sz="1800" b="1">
                <a:solidFill>
                  <a:srgbClr val="D7A700"/>
                </a:solidFill>
                <a:latin typeface="Century Gothic" panose="020B0502020202020204" pitchFamily="34" charset="0"/>
              </a:rPr>
              <a:t>ingresos</a:t>
            </a:r>
            <a:r>
              <a:rPr lang="es-ES" sz="1800">
                <a:solidFill>
                  <a:schemeClr val="accent1"/>
                </a:solidFill>
                <a:latin typeface="Century Gothic" panose="020B0502020202020204" pitchFamily="34" charset="0"/>
              </a:rPr>
              <a:t> y los </a:t>
            </a:r>
            <a:r>
              <a:rPr lang="es-ES" sz="1800" b="1">
                <a:solidFill>
                  <a:schemeClr val="accent3">
                    <a:lumMod val="50000"/>
                  </a:schemeClr>
                </a:solidFill>
                <a:latin typeface="Century Gothic" panose="020B0502020202020204" pitchFamily="34" charset="0"/>
              </a:rPr>
              <a:t>costos</a:t>
            </a:r>
            <a:r>
              <a:rPr lang="es-ES" sz="1800">
                <a:solidFill>
                  <a:schemeClr val="accent1"/>
                </a:solidFill>
                <a:latin typeface="Century Gothic" panose="020B0502020202020204" pitchFamily="34" charset="0"/>
              </a:rPr>
              <a:t> que conlleva realizar el proyecto.</a:t>
            </a:r>
          </a:p>
        </p:txBody>
      </p:sp>
      <p:sp>
        <p:nvSpPr>
          <p:cNvPr id="3" name="Rectángulo 2">
            <a:extLst>
              <a:ext uri="{FF2B5EF4-FFF2-40B4-BE49-F238E27FC236}">
                <a16:creationId xmlns:a16="http://schemas.microsoft.com/office/drawing/2014/main" id="{DFAB6E14-A30C-F5A0-3B30-81779647BC30}"/>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8" name="Picture 2" descr="Clientes y aliados | Centro de Evaluación | Uniandes">
            <a:extLst>
              <a:ext uri="{FF2B5EF4-FFF2-40B4-BE49-F238E27FC236}">
                <a16:creationId xmlns:a16="http://schemas.microsoft.com/office/drawing/2014/main" id="{96705F10-6D12-3204-A758-9728D15B011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pic>
        <p:nvPicPr>
          <p:cNvPr id="12" name="Imagen 11">
            <a:extLst>
              <a:ext uri="{FF2B5EF4-FFF2-40B4-BE49-F238E27FC236}">
                <a16:creationId xmlns:a16="http://schemas.microsoft.com/office/drawing/2014/main" id="{B08C2266-CDC1-1812-D223-D52D00E62DAE}"/>
              </a:ext>
            </a:extLst>
          </p:cNvPr>
          <p:cNvPicPr>
            <a:picLocks noChangeAspect="1"/>
          </p:cNvPicPr>
          <p:nvPr/>
        </p:nvPicPr>
        <p:blipFill>
          <a:blip r:embed="rId3"/>
          <a:stretch>
            <a:fillRect/>
          </a:stretch>
        </p:blipFill>
        <p:spPr>
          <a:xfrm>
            <a:off x="8543996" y="3004169"/>
            <a:ext cx="3199761" cy="2252705"/>
          </a:xfrm>
          <a:prstGeom prst="rect">
            <a:avLst/>
          </a:prstGeom>
        </p:spPr>
      </p:pic>
      <p:sp>
        <p:nvSpPr>
          <p:cNvPr id="6" name="Rectángulo 5">
            <a:extLst>
              <a:ext uri="{FF2B5EF4-FFF2-40B4-BE49-F238E27FC236}">
                <a16:creationId xmlns:a16="http://schemas.microsoft.com/office/drawing/2014/main" id="{92BD48E9-26AD-1B92-C6BE-5A9B514EA15F}"/>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7" name="Marcador de número de diapositiva 3">
            <a:extLst>
              <a:ext uri="{FF2B5EF4-FFF2-40B4-BE49-F238E27FC236}">
                <a16:creationId xmlns:a16="http://schemas.microsoft.com/office/drawing/2014/main" id="{01496BE9-6F06-D301-E21B-21E86E83BE30}"/>
              </a:ext>
            </a:extLst>
          </p:cNvPr>
          <p:cNvSpPr>
            <a:spLocks noGrp="1"/>
          </p:cNvSpPr>
          <p:nvPr>
            <p:ph type="sldNum" sz="quarter" idx="12"/>
          </p:nvPr>
        </p:nvSpPr>
        <p:spPr>
          <a:xfrm>
            <a:off x="10558300" y="5956137"/>
            <a:ext cx="1052508" cy="365125"/>
          </a:xfrm>
        </p:spPr>
        <p:txBody>
          <a:bodyPr/>
          <a:lstStyle/>
          <a:p>
            <a:fld id="{D57F1E4F-1CFF-5643-939E-217C01CDF565}" type="slidenum">
              <a:rPr lang="en-US" sz="2000" b="1" smtClean="0">
                <a:latin typeface="Century Gothic" panose="020B0502020202020204" pitchFamily="34" charset="0"/>
              </a:rPr>
              <a:pPr/>
              <a:t>29</a:t>
            </a:fld>
            <a:endParaRPr lang="en-US" sz="2000" b="1">
              <a:latin typeface="Century Gothic" panose="020B0502020202020204" pitchFamily="34" charset="0"/>
            </a:endParaRPr>
          </a:p>
        </p:txBody>
      </p:sp>
    </p:spTree>
    <p:extLst>
      <p:ext uri="{BB962C8B-B14F-4D97-AF65-F5344CB8AC3E}">
        <p14:creationId xmlns:p14="http://schemas.microsoft.com/office/powerpoint/2010/main" val="120631959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Autofit/>
          </a:bodyPr>
          <a:lstStyle/>
          <a:p>
            <a:r>
              <a:rPr lang="es-ES">
                <a:latin typeface="Century Gothic" panose="020B0502020202020204" pitchFamily="34" charset="0"/>
              </a:rPr>
              <a:t>Regla#4: Ingresos y egresos operacionales</a:t>
            </a:r>
          </a:p>
        </p:txBody>
      </p:sp>
      <p:sp>
        <p:nvSpPr>
          <p:cNvPr id="6" name="Marcador de contenido 2"/>
          <p:cNvSpPr>
            <a:spLocks noGrp="1"/>
          </p:cNvSpPr>
          <p:nvPr>
            <p:ph idx="1"/>
          </p:nvPr>
        </p:nvSpPr>
        <p:spPr>
          <a:xfrm>
            <a:off x="1401046" y="2124393"/>
            <a:ext cx="9389905" cy="2371241"/>
          </a:xfrm>
        </p:spPr>
        <p:txBody>
          <a:bodyPr>
            <a:noAutofit/>
          </a:bodyPr>
          <a:lstStyle/>
          <a:p>
            <a:pPr marL="0" indent="0" algn="just">
              <a:buNone/>
            </a:pPr>
            <a:r>
              <a:rPr lang="es-ES">
                <a:latin typeface="Century Gothic"/>
              </a:rPr>
              <a:t>Usted está evaluando la posibilidad de abrir un negocio de empanadas </a:t>
            </a:r>
            <a:r>
              <a:rPr lang="es-ES" dirty="0">
                <a:latin typeface="Century Gothic"/>
              </a:rPr>
              <a:t>en la ciudad de Bogotá. Usted espera que los ingresos por la venta de empanadas sea de 100 MM COP anuales por los primeros 5 años. Así mismo, espera que los costos de la materia prima para producir las empanadas sea de 70 MM COP anuales.  Por último, usted debe pagar 5 MM COP anualmente por concepto de intereses del crédito que va a adquirir para comprar los activos necesarios para el negocio.</a:t>
            </a:r>
            <a:endParaRPr lang="es-ES" b="1" dirty="0">
              <a:latin typeface="Century Gothic"/>
            </a:endParaRPr>
          </a:p>
        </p:txBody>
      </p:sp>
      <p:sp>
        <p:nvSpPr>
          <p:cNvPr id="3" name="Rectángulo 2"/>
          <p:cNvSpPr/>
          <p:nvPr/>
        </p:nvSpPr>
        <p:spPr>
          <a:xfrm>
            <a:off x="3945923" y="5769367"/>
            <a:ext cx="4572000" cy="369332"/>
          </a:xfrm>
          <a:prstGeom prst="rect">
            <a:avLst/>
          </a:prstGeom>
        </p:spPr>
        <p:txBody>
          <a:bodyPr>
            <a:spAutoFit/>
          </a:bodyPr>
          <a:lstStyle/>
          <a:p>
            <a:pPr algn="ctr"/>
            <a:r>
              <a:rPr lang="es-ES" b="1">
                <a:solidFill>
                  <a:srgbClr val="D7A700"/>
                </a:solidFill>
                <a:latin typeface="Century Gothic" panose="020B0502020202020204" pitchFamily="34" charset="0"/>
              </a:rPr>
              <a:t>¿Cuáles son los costos del proyecto?</a:t>
            </a:r>
          </a:p>
        </p:txBody>
      </p:sp>
      <p:sp>
        <p:nvSpPr>
          <p:cNvPr id="5" name="Rectángulo 4">
            <a:extLst>
              <a:ext uri="{FF2B5EF4-FFF2-40B4-BE49-F238E27FC236}">
                <a16:creationId xmlns:a16="http://schemas.microsoft.com/office/drawing/2014/main" id="{350D4C32-F7B7-3B91-2CD1-1A13FC1FAB03}"/>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9" name="Picture 2" descr="Clientes y aliados | Centro de Evaluación | Uniandes">
            <a:extLst>
              <a:ext uri="{FF2B5EF4-FFF2-40B4-BE49-F238E27FC236}">
                <a16:creationId xmlns:a16="http://schemas.microsoft.com/office/drawing/2014/main" id="{9BC07F7E-0C26-7086-FFA8-66A4100DB64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pic>
        <p:nvPicPr>
          <p:cNvPr id="13" name="Imagen 12">
            <a:extLst>
              <a:ext uri="{FF2B5EF4-FFF2-40B4-BE49-F238E27FC236}">
                <a16:creationId xmlns:a16="http://schemas.microsoft.com/office/drawing/2014/main" id="{041738EA-BF86-D638-5368-AFDDFE78B547}"/>
              </a:ext>
            </a:extLst>
          </p:cNvPr>
          <p:cNvPicPr>
            <a:picLocks noChangeAspect="1"/>
          </p:cNvPicPr>
          <p:nvPr/>
        </p:nvPicPr>
        <p:blipFill>
          <a:blip r:embed="rId3"/>
          <a:stretch>
            <a:fillRect/>
          </a:stretch>
        </p:blipFill>
        <p:spPr>
          <a:xfrm>
            <a:off x="8795541" y="4385146"/>
            <a:ext cx="1854200" cy="1854200"/>
          </a:xfrm>
          <a:prstGeom prst="rect">
            <a:avLst/>
          </a:prstGeom>
        </p:spPr>
      </p:pic>
      <p:sp>
        <p:nvSpPr>
          <p:cNvPr id="7" name="Rectángulo 6">
            <a:extLst>
              <a:ext uri="{FF2B5EF4-FFF2-40B4-BE49-F238E27FC236}">
                <a16:creationId xmlns:a16="http://schemas.microsoft.com/office/drawing/2014/main" id="{E99FDA04-2D14-1C0E-5156-F0B8C3DC099F}"/>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8" name="Marcador de número de diapositiva 3">
            <a:extLst>
              <a:ext uri="{FF2B5EF4-FFF2-40B4-BE49-F238E27FC236}">
                <a16:creationId xmlns:a16="http://schemas.microsoft.com/office/drawing/2014/main" id="{D24A23D0-02E6-58AC-45C1-4489A2B7CFC7}"/>
              </a:ext>
            </a:extLst>
          </p:cNvPr>
          <p:cNvSpPr>
            <a:spLocks noGrp="1"/>
          </p:cNvSpPr>
          <p:nvPr>
            <p:ph type="sldNum" sz="quarter" idx="12"/>
          </p:nvPr>
        </p:nvSpPr>
        <p:spPr>
          <a:xfrm>
            <a:off x="10558300" y="5956137"/>
            <a:ext cx="1052508" cy="365125"/>
          </a:xfrm>
        </p:spPr>
        <p:txBody>
          <a:bodyPr/>
          <a:lstStyle/>
          <a:p>
            <a:fld id="{D57F1E4F-1CFF-5643-939E-217C01CDF565}" type="slidenum">
              <a:rPr lang="en-US" sz="2000" b="1" smtClean="0">
                <a:latin typeface="Century Gothic" panose="020B0502020202020204" pitchFamily="34" charset="0"/>
              </a:rPr>
              <a:pPr/>
              <a:t>30</a:t>
            </a:fld>
            <a:endParaRPr lang="en-US" sz="2000" b="1">
              <a:latin typeface="Century Gothic" panose="020B0502020202020204" pitchFamily="34" charset="0"/>
            </a:endParaRPr>
          </a:p>
        </p:txBody>
      </p:sp>
    </p:spTree>
    <p:extLst>
      <p:ext uri="{BB962C8B-B14F-4D97-AF65-F5344CB8AC3E}">
        <p14:creationId xmlns:p14="http://schemas.microsoft.com/office/powerpoint/2010/main" val="15219038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DFD9AF-CD4E-19C8-228C-7AC0C1E1055D}"/>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4F138492-D222-17E8-7486-C25DC178E5FF}"/>
              </a:ext>
            </a:extLst>
          </p:cNvPr>
          <p:cNvSpPr>
            <a:spLocks noGrp="1"/>
          </p:cNvSpPr>
          <p:nvPr>
            <p:ph type="title"/>
          </p:nvPr>
        </p:nvSpPr>
        <p:spPr/>
        <p:txBody>
          <a:bodyPr>
            <a:normAutofit/>
          </a:bodyPr>
          <a:lstStyle/>
          <a:p>
            <a:r>
              <a:rPr lang="es-CO" sz="3200">
                <a:latin typeface="Century Gothic" panose="020B0502020202020204" pitchFamily="34" charset="0"/>
              </a:rPr>
              <a:t>AGENDA PROPUESTA</a:t>
            </a:r>
          </a:p>
        </p:txBody>
      </p:sp>
      <p:pic>
        <p:nvPicPr>
          <p:cNvPr id="6" name="Picture 6" descr="Resultado de imagen para RELOJ VECTOR">
            <a:extLst>
              <a:ext uri="{FF2B5EF4-FFF2-40B4-BE49-F238E27FC236}">
                <a16:creationId xmlns:a16="http://schemas.microsoft.com/office/drawing/2014/main" id="{F4DC82E6-40D2-6033-7CD3-CBCE379584FD}"/>
              </a:ext>
            </a:extLst>
          </p:cNvPr>
          <p:cNvPicPr>
            <a:picLocks noChangeAspect="1" noChangeArrowheads="1"/>
          </p:cNvPicPr>
          <p:nvPr/>
        </p:nvPicPr>
        <p:blipFill rotWithShape="1">
          <a:blip r:embed="rId2" cstate="print">
            <a:clrChange>
              <a:clrFrom>
                <a:srgbClr val="F6F6F6"/>
              </a:clrFrom>
              <a:clrTo>
                <a:srgbClr val="F6F6F6">
                  <a:alpha val="0"/>
                </a:srgbClr>
              </a:clrTo>
            </a:clrChange>
            <a:duotone>
              <a:schemeClr val="accent3">
                <a:shade val="45000"/>
                <a:satMod val="135000"/>
              </a:schemeClr>
              <a:prstClr val="white"/>
            </a:duotone>
            <a:extLst>
              <a:ext uri="{28A0092B-C50C-407E-A947-70E740481C1C}">
                <a14:useLocalDpi xmlns:a14="http://schemas.microsoft.com/office/drawing/2010/main" val="0"/>
              </a:ext>
            </a:extLst>
          </a:blip>
          <a:srcRect l="24517" t="6285" r="24815" b="6503"/>
          <a:stretch/>
        </p:blipFill>
        <p:spPr bwMode="auto">
          <a:xfrm>
            <a:off x="1256045" y="2772729"/>
            <a:ext cx="1236705" cy="1246074"/>
          </a:xfrm>
          <a:prstGeom prst="rect">
            <a:avLst/>
          </a:prstGeom>
          <a:noFill/>
          <a:extLst>
            <a:ext uri="{909E8E84-426E-40DD-AFC4-6F175D3DCCD1}">
              <a14:hiddenFill xmlns:a14="http://schemas.microsoft.com/office/drawing/2010/main">
                <a:solidFill>
                  <a:srgbClr val="FFFFFF"/>
                </a:solidFill>
              </a14:hiddenFill>
            </a:ext>
          </a:extLst>
        </p:spPr>
      </p:pic>
      <p:sp>
        <p:nvSpPr>
          <p:cNvPr id="23" name="Rectángulo 22">
            <a:extLst>
              <a:ext uri="{FF2B5EF4-FFF2-40B4-BE49-F238E27FC236}">
                <a16:creationId xmlns:a16="http://schemas.microsoft.com/office/drawing/2014/main" id="{126DD197-73D3-168C-2AD6-868F42CF5F71}"/>
              </a:ext>
            </a:extLst>
          </p:cNvPr>
          <p:cNvSpPr/>
          <p:nvPr/>
        </p:nvSpPr>
        <p:spPr>
          <a:xfrm>
            <a:off x="2806200" y="2772729"/>
            <a:ext cx="8540907" cy="3293209"/>
          </a:xfrm>
          <a:prstGeom prst="rect">
            <a:avLst/>
          </a:prstGeom>
        </p:spPr>
        <p:txBody>
          <a:bodyPr wrap="square" lIns="91440" tIns="45720" rIns="91440" bIns="45720" anchor="t">
            <a:spAutoFit/>
          </a:bodyPr>
          <a:lstStyle/>
          <a:p>
            <a:pPr marL="342900" indent="-342900">
              <a:buClr>
                <a:schemeClr val="accent3">
                  <a:lumMod val="75000"/>
                </a:schemeClr>
              </a:buClr>
              <a:buFont typeface="Gill Sans MT" panose="020B0502020104020203"/>
              <a:buAutoNum type="arabicPeriod"/>
            </a:pPr>
            <a:r>
              <a:rPr lang="es-CO" sz="1600">
                <a:solidFill>
                  <a:schemeClr val="bg2">
                    <a:lumMod val="90000"/>
                  </a:schemeClr>
                </a:solidFill>
                <a:latin typeface="Century Gothic"/>
                <a:cs typeface="Arial"/>
              </a:rPr>
              <a:t>Ingresos y Costos Pertinentes.</a:t>
            </a:r>
            <a:endParaRPr lang="es-ES" sz="1600">
              <a:solidFill>
                <a:schemeClr val="bg2">
                  <a:lumMod val="90000"/>
                </a:schemeClr>
              </a:solidFill>
              <a:latin typeface="Century Gothic"/>
              <a:cs typeface="Arial"/>
            </a:endParaRPr>
          </a:p>
          <a:p>
            <a:pPr marL="342900" indent="-342900">
              <a:buClr>
                <a:srgbClr val="2C7C9F"/>
              </a:buClr>
              <a:buFontTx/>
              <a:buAutoNum type="arabicPeriod"/>
            </a:pPr>
            <a:endParaRPr lang="es-CO" sz="1600">
              <a:solidFill>
                <a:schemeClr val="bg2">
                  <a:lumMod val="90000"/>
                </a:schemeClr>
              </a:solidFill>
              <a:latin typeface="Century Gothic"/>
              <a:cs typeface="Arial"/>
            </a:endParaRPr>
          </a:p>
          <a:p>
            <a:pPr marL="342900" indent="-342900">
              <a:buClr>
                <a:srgbClr val="48BE7A"/>
              </a:buClr>
              <a:buFontTx/>
              <a:buAutoNum type="arabicPeriod"/>
            </a:pPr>
            <a:r>
              <a:rPr lang="es-CO" sz="1600">
                <a:solidFill>
                  <a:schemeClr val="bg2">
                    <a:lumMod val="90000"/>
                  </a:schemeClr>
                </a:solidFill>
                <a:latin typeface="Century Gothic"/>
                <a:cs typeface="Arial"/>
              </a:rPr>
              <a:t>Principio de Marginalidad.</a:t>
            </a:r>
            <a:endParaRPr lang="es-CO" sz="1600">
              <a:solidFill>
                <a:schemeClr val="bg2">
                  <a:lumMod val="90000"/>
                </a:schemeClr>
              </a:solidFill>
              <a:latin typeface="Century Gothic"/>
            </a:endParaRPr>
          </a:p>
          <a:p>
            <a:pPr marL="342900" indent="-342900">
              <a:buClr>
                <a:srgbClr val="48BE7A"/>
              </a:buClr>
              <a:buFontTx/>
              <a:buAutoNum type="arabicPeriod"/>
            </a:pPr>
            <a:endParaRPr lang="es-CO" sz="1600">
              <a:solidFill>
                <a:schemeClr val="bg2">
                  <a:lumMod val="90000"/>
                </a:schemeClr>
              </a:solidFill>
              <a:latin typeface="Century Gothic"/>
            </a:endParaRPr>
          </a:p>
          <a:p>
            <a:pPr marL="342900" indent="-342900">
              <a:buClr>
                <a:srgbClr val="48BE7A"/>
              </a:buClr>
              <a:buFontTx/>
              <a:buAutoNum type="arabicPeriod"/>
            </a:pPr>
            <a:r>
              <a:rPr lang="es-CO" sz="1600">
                <a:solidFill>
                  <a:schemeClr val="bg2">
                    <a:lumMod val="90000"/>
                  </a:schemeClr>
                </a:solidFill>
                <a:latin typeface="Century Gothic"/>
                <a:cs typeface="Arial"/>
              </a:rPr>
              <a:t>Precios de Mercado.</a:t>
            </a:r>
            <a:endParaRPr lang="es-CO" sz="1600">
              <a:solidFill>
                <a:schemeClr val="bg2">
                  <a:lumMod val="90000"/>
                </a:schemeClr>
              </a:solidFill>
              <a:latin typeface="Century Gothic"/>
            </a:endParaRPr>
          </a:p>
          <a:p>
            <a:pPr marL="342900" indent="-342900">
              <a:buClr>
                <a:srgbClr val="48BE7A"/>
              </a:buClr>
              <a:buFontTx/>
              <a:buAutoNum type="arabicPeriod"/>
            </a:pPr>
            <a:endParaRPr lang="es-CO" sz="1600">
              <a:solidFill>
                <a:schemeClr val="bg2">
                  <a:lumMod val="90000"/>
                </a:schemeClr>
              </a:solidFill>
              <a:latin typeface="Century Gothic"/>
              <a:cs typeface="Arial"/>
            </a:endParaRPr>
          </a:p>
          <a:p>
            <a:pPr marL="342900" indent="-342900">
              <a:buClr>
                <a:srgbClr val="48BE7A"/>
              </a:buClr>
              <a:buFontTx/>
              <a:buAutoNum type="arabicPeriod"/>
            </a:pPr>
            <a:r>
              <a:rPr lang="es-CO" sz="1600">
                <a:solidFill>
                  <a:schemeClr val="bg2">
                    <a:lumMod val="90000"/>
                  </a:schemeClr>
                </a:solidFill>
                <a:latin typeface="Century Gothic"/>
                <a:cs typeface="Arial"/>
              </a:rPr>
              <a:t>Costos Muertos.</a:t>
            </a:r>
            <a:endParaRPr lang="es-CO" sz="1600">
              <a:solidFill>
                <a:schemeClr val="bg2">
                  <a:lumMod val="90000"/>
                </a:schemeClr>
              </a:solidFill>
              <a:latin typeface="Century Gothic" panose="020B0502020202020204" pitchFamily="34" charset="0"/>
              <a:cs typeface="Arial"/>
            </a:endParaRPr>
          </a:p>
          <a:p>
            <a:pPr marL="342900" indent="-342900">
              <a:buClr>
                <a:srgbClr val="48BE7A"/>
              </a:buClr>
              <a:buAutoNum type="arabicPeriod"/>
            </a:pPr>
            <a:endParaRPr lang="es-CO" sz="1600">
              <a:solidFill>
                <a:schemeClr val="accent1"/>
              </a:solidFill>
              <a:latin typeface="Century Gothic" panose="020B0502020202020204" pitchFamily="34" charset="0"/>
              <a:cs typeface="Arial"/>
            </a:endParaRPr>
          </a:p>
          <a:p>
            <a:pPr marL="342900" indent="-342900">
              <a:buClr>
                <a:srgbClr val="48BE7A"/>
              </a:buClr>
              <a:buAutoNum type="arabicPeriod"/>
            </a:pPr>
            <a:r>
              <a:rPr lang="es-CO" sz="1600">
                <a:solidFill>
                  <a:schemeClr val="bg2">
                    <a:lumMod val="90000"/>
                  </a:schemeClr>
                </a:solidFill>
                <a:latin typeface="Century Gothic"/>
                <a:cs typeface="Arial"/>
              </a:rPr>
              <a:t>Ingresos y Egresos Operacionales.</a:t>
            </a:r>
          </a:p>
          <a:p>
            <a:pPr marL="342900" indent="-342900">
              <a:buClr>
                <a:srgbClr val="48BE7A"/>
              </a:buClr>
              <a:buAutoNum type="arabicPeriod"/>
            </a:pPr>
            <a:endParaRPr lang="es-CO" sz="1600">
              <a:solidFill>
                <a:schemeClr val="accent1"/>
              </a:solidFill>
              <a:latin typeface="Century Gothic"/>
              <a:cs typeface="Arial"/>
            </a:endParaRPr>
          </a:p>
          <a:p>
            <a:pPr marL="342900" indent="-342900">
              <a:buClr>
                <a:srgbClr val="48BE7A"/>
              </a:buClr>
              <a:buAutoNum type="arabicPeriod"/>
            </a:pPr>
            <a:r>
              <a:rPr lang="es-CO" sz="1600">
                <a:solidFill>
                  <a:schemeClr val="accent1"/>
                </a:solidFill>
                <a:latin typeface="Century Gothic"/>
                <a:cs typeface="Arial"/>
              </a:rPr>
              <a:t>Ejercicio FCL.</a:t>
            </a:r>
          </a:p>
          <a:p>
            <a:pPr marL="342900" indent="-342900">
              <a:buClr>
                <a:srgbClr val="48BE7A"/>
              </a:buClr>
              <a:buAutoNum type="arabicPeriod"/>
            </a:pPr>
            <a:endParaRPr lang="es-CO" sz="1600">
              <a:solidFill>
                <a:schemeClr val="accent1"/>
              </a:solidFill>
              <a:latin typeface="Century Gothic" panose="020B0502020202020204" pitchFamily="34" charset="0"/>
              <a:cs typeface="Arial"/>
            </a:endParaRPr>
          </a:p>
          <a:p>
            <a:pPr>
              <a:buClr>
                <a:srgbClr val="88D5A9">
                  <a:lumMod val="75000"/>
                </a:srgbClr>
              </a:buClr>
            </a:pPr>
            <a:endParaRPr lang="es-CO" sz="1600">
              <a:solidFill>
                <a:srgbClr val="366658"/>
              </a:solidFill>
              <a:latin typeface="Century Gothic" panose="020B0502020202020204" pitchFamily="34" charset="0"/>
              <a:cs typeface="Arial"/>
            </a:endParaRPr>
          </a:p>
        </p:txBody>
      </p:sp>
      <p:sp>
        <p:nvSpPr>
          <p:cNvPr id="3" name="Rectángulo 2">
            <a:extLst>
              <a:ext uri="{FF2B5EF4-FFF2-40B4-BE49-F238E27FC236}">
                <a16:creationId xmlns:a16="http://schemas.microsoft.com/office/drawing/2014/main" id="{BAE0DC2D-0284-F61E-5375-5AF0B7A1FD3A}"/>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8" name="Picture 2" descr="Clientes y aliados | Centro de Evaluación | Uniandes">
            <a:extLst>
              <a:ext uri="{FF2B5EF4-FFF2-40B4-BE49-F238E27FC236}">
                <a16:creationId xmlns:a16="http://schemas.microsoft.com/office/drawing/2014/main" id="{E1421A09-56EF-F509-DED1-D0DD7E008DA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7" name="Rectángulo 6">
            <a:extLst>
              <a:ext uri="{FF2B5EF4-FFF2-40B4-BE49-F238E27FC236}">
                <a16:creationId xmlns:a16="http://schemas.microsoft.com/office/drawing/2014/main" id="{5B7327C4-F5FA-094E-B316-80336567DEC4}"/>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5" name="Marcador de número de diapositiva 3">
            <a:extLst>
              <a:ext uri="{FF2B5EF4-FFF2-40B4-BE49-F238E27FC236}">
                <a16:creationId xmlns:a16="http://schemas.microsoft.com/office/drawing/2014/main" id="{CA90868A-51AE-1D33-0783-FECB5DCBC6AD}"/>
              </a:ext>
            </a:extLst>
          </p:cNvPr>
          <p:cNvSpPr>
            <a:spLocks noGrp="1"/>
          </p:cNvSpPr>
          <p:nvPr>
            <p:ph type="sldNum" sz="quarter" idx="12"/>
          </p:nvPr>
        </p:nvSpPr>
        <p:spPr>
          <a:xfrm>
            <a:off x="10558300" y="5956137"/>
            <a:ext cx="1052508" cy="365125"/>
          </a:xfrm>
        </p:spPr>
        <p:txBody>
          <a:bodyPr/>
          <a:lstStyle/>
          <a:p>
            <a:fld id="{D57F1E4F-1CFF-5643-939E-217C01CDF565}" type="slidenum">
              <a:rPr lang="en-US" sz="2000" b="1" smtClean="0">
                <a:latin typeface="Century Gothic" panose="020B0502020202020204" pitchFamily="34" charset="0"/>
              </a:rPr>
              <a:pPr/>
              <a:t>31</a:t>
            </a:fld>
            <a:endParaRPr lang="en-US" sz="2000" b="1">
              <a:latin typeface="Century Gothic" panose="020B0502020202020204" pitchFamily="34" charset="0"/>
            </a:endParaRPr>
          </a:p>
        </p:txBody>
      </p:sp>
    </p:spTree>
    <p:extLst>
      <p:ext uri="{BB962C8B-B14F-4D97-AF65-F5344CB8AC3E}">
        <p14:creationId xmlns:p14="http://schemas.microsoft.com/office/powerpoint/2010/main" val="21310428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42" presetClass="entr" presetSubtype="0" fill="hold" grpId="0" nodeType="withEffect">
                                  <p:stCondLst>
                                    <p:cond delay="0"/>
                                  </p:stCondLst>
                                  <p:childTnLst>
                                    <p:set>
                                      <p:cBhvr>
                                        <p:cTn id="8" dur="1" fill="hold">
                                          <p:stCondLst>
                                            <p:cond delay="0"/>
                                          </p:stCondLst>
                                        </p:cTn>
                                        <p:tgtEl>
                                          <p:spTgt spid="23"/>
                                        </p:tgtEl>
                                        <p:attrNameLst>
                                          <p:attrName>style.visibility</p:attrName>
                                        </p:attrNameLst>
                                      </p:cBhvr>
                                      <p:to>
                                        <p:strVal val="visible"/>
                                      </p:to>
                                    </p:set>
                                    <p:animEffect transition="in" filter="fade">
                                      <p:cBhvr>
                                        <p:cTn id="9" dur="1000"/>
                                        <p:tgtEl>
                                          <p:spTgt spid="23"/>
                                        </p:tgtEl>
                                      </p:cBhvr>
                                    </p:animEffect>
                                    <p:anim calcmode="lin" valueType="num">
                                      <p:cBhvr>
                                        <p:cTn id="10" dur="1000" fill="hold"/>
                                        <p:tgtEl>
                                          <p:spTgt spid="23"/>
                                        </p:tgtEl>
                                        <p:attrNameLst>
                                          <p:attrName>ppt_x</p:attrName>
                                        </p:attrNameLst>
                                      </p:cBhvr>
                                      <p:tavLst>
                                        <p:tav tm="0">
                                          <p:val>
                                            <p:strVal val="#ppt_x"/>
                                          </p:val>
                                        </p:tav>
                                        <p:tav tm="100000">
                                          <p:val>
                                            <p:strVal val="#ppt_x"/>
                                          </p:val>
                                        </p:tav>
                                      </p:tavLst>
                                    </p:anim>
                                    <p:anim calcmode="lin" valueType="num">
                                      <p:cBhvr>
                                        <p:cTn id="11" dur="1000" fill="hold"/>
                                        <p:tgtEl>
                                          <p:spTgt spid="2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ángulo 7">
            <a:extLst>
              <a:ext uri="{FF2B5EF4-FFF2-40B4-BE49-F238E27FC236}">
                <a16:creationId xmlns:a16="http://schemas.microsoft.com/office/drawing/2014/main" id="{47094242-8D7F-4883-8E64-A43E1E37E5FF}"/>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026" name="Picture 2" descr="Clientes y aliados | Centro de Evaluación | Uniandes">
            <a:extLst>
              <a:ext uri="{FF2B5EF4-FFF2-40B4-BE49-F238E27FC236}">
                <a16:creationId xmlns:a16="http://schemas.microsoft.com/office/drawing/2014/main" id="{D2A00364-D957-B6CC-C8C3-335B3CE9EB2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pic>
        <p:nvPicPr>
          <p:cNvPr id="12" name="Gráfico 11" descr="Open book contorno">
            <a:extLst>
              <a:ext uri="{FF2B5EF4-FFF2-40B4-BE49-F238E27FC236}">
                <a16:creationId xmlns:a16="http://schemas.microsoft.com/office/drawing/2014/main" id="{52403B49-6EB3-5618-7D88-A91409E36D0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134957" y="3342889"/>
            <a:ext cx="2695807" cy="2695807"/>
          </a:xfrm>
          <a:prstGeom prst="rect">
            <a:avLst/>
          </a:prstGeom>
        </p:spPr>
      </p:pic>
      <p:sp>
        <p:nvSpPr>
          <p:cNvPr id="7" name="Título 1">
            <a:extLst>
              <a:ext uri="{FF2B5EF4-FFF2-40B4-BE49-F238E27FC236}">
                <a16:creationId xmlns:a16="http://schemas.microsoft.com/office/drawing/2014/main" id="{7CD57273-E2E4-E1A1-995C-36FC2EC7D689}"/>
              </a:ext>
            </a:extLst>
          </p:cNvPr>
          <p:cNvSpPr txBox="1">
            <a:spLocks/>
          </p:cNvSpPr>
          <p:nvPr/>
        </p:nvSpPr>
        <p:spPr>
          <a:xfrm>
            <a:off x="470868" y="1814732"/>
            <a:ext cx="11266506" cy="826833"/>
          </a:xfrm>
          <a:prstGeom prst="rect">
            <a:avLst/>
          </a:prstGeom>
          <a:effectLst/>
        </p:spPr>
        <p:txBody>
          <a:bodyPr vert="horz" lIns="91440" tIns="45720" rIns="91440" bIns="45720" rtlCol="0" anchor="b">
            <a:noAutofit/>
          </a:bodyPr>
          <a:lstStyle>
            <a:lvl1pPr algn="l" defTabSz="457200" rtl="0" eaLnBrk="1" latinLnBrk="0" hangingPunct="1">
              <a:spcBef>
                <a:spcPct val="0"/>
              </a:spcBef>
              <a:buNone/>
              <a:defRPr sz="3600" b="0" kern="1200" cap="all">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s-CO" sz="3200">
                <a:latin typeface="Century Gothic"/>
                <a:ea typeface="+mj-lt"/>
                <a:cs typeface="+mj-lt"/>
              </a:rPr>
              <a:t>LA CONSTRUCCIÓN DEL FLUJO DE CAJA LIBRE DE un PROYECTO (</a:t>
            </a:r>
            <a:r>
              <a:rPr lang="es-CO" sz="3200">
                <a:solidFill>
                  <a:srgbClr val="D7A700"/>
                </a:solidFill>
                <a:latin typeface="Century Gothic"/>
                <a:ea typeface="+mj-lt"/>
                <a:cs typeface="+mj-lt"/>
              </a:rPr>
              <a:t>PARTE </a:t>
            </a:r>
            <a:r>
              <a:rPr lang="es-CO" sz="3200" err="1">
                <a:solidFill>
                  <a:srgbClr val="D7A700"/>
                </a:solidFill>
                <a:latin typeface="Century Gothic"/>
                <a:ea typeface="+mj-lt"/>
                <a:cs typeface="+mj-lt"/>
              </a:rPr>
              <a:t>iv</a:t>
            </a:r>
            <a:r>
              <a:rPr lang="es-CO" sz="3200">
                <a:latin typeface="Century Gothic"/>
                <a:ea typeface="+mj-lt"/>
                <a:cs typeface="+mj-lt"/>
              </a:rPr>
              <a:t>)</a:t>
            </a:r>
            <a:endParaRPr lang="es-ES">
              <a:latin typeface="Century Gothic"/>
            </a:endParaRPr>
          </a:p>
        </p:txBody>
      </p:sp>
      <p:sp>
        <p:nvSpPr>
          <p:cNvPr id="2" name="CuadroTexto 1">
            <a:extLst>
              <a:ext uri="{FF2B5EF4-FFF2-40B4-BE49-F238E27FC236}">
                <a16:creationId xmlns:a16="http://schemas.microsoft.com/office/drawing/2014/main" id="{3728C38C-E821-0B10-2B4E-0FCBB85FD607}"/>
              </a:ext>
            </a:extLst>
          </p:cNvPr>
          <p:cNvSpPr txBox="1"/>
          <p:nvPr/>
        </p:nvSpPr>
        <p:spPr>
          <a:xfrm>
            <a:off x="1045027" y="3342889"/>
            <a:ext cx="6349598" cy="2492990"/>
          </a:xfrm>
          <a:prstGeom prst="rect">
            <a:avLst/>
          </a:prstGeom>
          <a:noFill/>
        </p:spPr>
        <p:txBody>
          <a:bodyPr wrap="square" lIns="91440" tIns="45720" rIns="91440" bIns="45720" rtlCol="0" anchor="t">
            <a:spAutoFit/>
          </a:bodyPr>
          <a:lstStyle/>
          <a:p>
            <a:r>
              <a:rPr lang="es-CO" sz="1600" b="1" u="sng">
                <a:solidFill>
                  <a:schemeClr val="bg1"/>
                </a:solidFill>
                <a:latin typeface="Century Gothic"/>
              </a:rPr>
              <a:t>													</a:t>
            </a:r>
            <a:endParaRPr lang="es-CO" sz="2000" b="1" u="sng">
              <a:solidFill>
                <a:schemeClr val="bg1"/>
              </a:solidFill>
              <a:latin typeface="Century Gothic"/>
            </a:endParaRPr>
          </a:p>
          <a:p>
            <a:endParaRPr lang="es-CO" sz="1000" b="1">
              <a:solidFill>
                <a:schemeClr val="bg1"/>
              </a:solidFill>
              <a:latin typeface="Century Gothic" panose="020B0502020202020204" pitchFamily="34" charset="0"/>
            </a:endParaRPr>
          </a:p>
          <a:p>
            <a:r>
              <a:rPr lang="es-CO" sz="2000" b="1">
                <a:solidFill>
                  <a:schemeClr val="bg1"/>
                </a:solidFill>
                <a:latin typeface="Century Gothic"/>
              </a:rPr>
              <a:t>DEPARTAMENTO DE INGENIERÍA INDUSTRIAL</a:t>
            </a:r>
          </a:p>
          <a:p>
            <a:r>
              <a:rPr lang="es-CO" sz="2000" b="1">
                <a:solidFill>
                  <a:schemeClr val="bg1"/>
                </a:solidFill>
                <a:latin typeface="Century Gothic"/>
              </a:rPr>
              <a:t>FACULTAD DE INGENIERÍA</a:t>
            </a:r>
          </a:p>
          <a:p>
            <a:r>
              <a:rPr lang="es-CO" sz="1000" b="1" u="sng">
                <a:solidFill>
                  <a:schemeClr val="bg1"/>
                </a:solidFill>
                <a:latin typeface="Century Gothic"/>
              </a:rPr>
              <a:t>													</a:t>
            </a:r>
          </a:p>
          <a:p>
            <a:endParaRPr lang="es-CO" sz="2000" b="1">
              <a:solidFill>
                <a:schemeClr val="bg1"/>
              </a:solidFill>
              <a:latin typeface="Century Gothic" panose="020B0502020202020204" pitchFamily="34" charset="0"/>
            </a:endParaRPr>
          </a:p>
          <a:p>
            <a:r>
              <a:rPr lang="es-CO" sz="2000" b="1">
                <a:solidFill>
                  <a:schemeClr val="bg1"/>
                </a:solidFill>
                <a:latin typeface="Century Gothic"/>
              </a:rPr>
              <a:t>Curso       </a:t>
            </a:r>
            <a:r>
              <a:rPr lang="es-CO" sz="2000">
                <a:solidFill>
                  <a:schemeClr val="bg1"/>
                </a:solidFill>
                <a:latin typeface="Century Gothic"/>
              </a:rPr>
              <a:t>ANÁLISIS DE DECISIONES DE INVERSIÓN</a:t>
            </a:r>
          </a:p>
          <a:p>
            <a:r>
              <a:rPr lang="es-CO" sz="2000" b="1">
                <a:solidFill>
                  <a:schemeClr val="bg1"/>
                </a:solidFill>
                <a:latin typeface="Century Gothic"/>
              </a:rPr>
              <a:t>Correo     </a:t>
            </a:r>
            <a:r>
              <a:rPr lang="es-CO" sz="2000">
                <a:solidFill>
                  <a:schemeClr val="bg1"/>
                </a:solidFill>
                <a:latin typeface="Century Gothic"/>
              </a:rPr>
              <a:t>cursoanadec@uniandes.edu.co</a:t>
            </a:r>
          </a:p>
          <a:p>
            <a:endParaRPr lang="es-CO" sz="2000" b="1">
              <a:solidFill>
                <a:schemeClr val="bg1"/>
              </a:solidFill>
              <a:latin typeface="Century Gothic" panose="020B0502020202020204" pitchFamily="34" charset="0"/>
            </a:endParaRPr>
          </a:p>
        </p:txBody>
      </p:sp>
      <p:sp>
        <p:nvSpPr>
          <p:cNvPr id="4" name="Rectángulo 3">
            <a:extLst>
              <a:ext uri="{FF2B5EF4-FFF2-40B4-BE49-F238E27FC236}">
                <a16:creationId xmlns:a16="http://schemas.microsoft.com/office/drawing/2014/main" id="{60FF98A8-EEFA-5A50-FBB8-AE6EE172AC3F}"/>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Tree>
    <p:extLst>
      <p:ext uri="{BB962C8B-B14F-4D97-AF65-F5344CB8AC3E}">
        <p14:creationId xmlns:p14="http://schemas.microsoft.com/office/powerpoint/2010/main" val="813002317"/>
      </p:ext>
    </p:extLst>
  </p:cSld>
  <p:clrMapOvr>
    <a:masterClrMapping/>
  </p:clrMapOvr>
</p:sld>
</file>

<file path=ppt/theme/theme1.xml><?xml version="1.0" encoding="utf-8"?>
<a:theme xmlns:a="http://schemas.openxmlformats.org/drawingml/2006/main" name="Dividendo">
  <a:themeElements>
    <a:clrScheme name="Dividendo">
      <a:dk1>
        <a:sysClr val="windowText" lastClr="000000"/>
      </a:dk1>
      <a:lt1>
        <a:sysClr val="window" lastClr="FFFFFF"/>
      </a:lt1>
      <a:dk2>
        <a:srgbClr val="3D3D3D"/>
      </a:dk2>
      <a:lt2>
        <a:srgbClr val="EBEBEB"/>
      </a:lt2>
      <a:accent1>
        <a:srgbClr val="366658"/>
      </a:accent1>
      <a:accent2>
        <a:srgbClr val="8CB64A"/>
      </a:accent2>
      <a:accent3>
        <a:srgbClr val="88D5A9"/>
      </a:accent3>
      <a:accent4>
        <a:srgbClr val="969FA7"/>
      </a:accent4>
      <a:accent5>
        <a:srgbClr val="E8A844"/>
      </a:accent5>
      <a:accent6>
        <a:srgbClr val="A1561F"/>
      </a:accent6>
      <a:hlink>
        <a:srgbClr val="828282"/>
      </a:hlink>
      <a:folHlink>
        <a:srgbClr val="A5A5A5"/>
      </a:folHlink>
    </a:clrScheme>
    <a:fontScheme name="Dividendo">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o">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 id="{9697A71B-4AB7-4A1A-BD5B-BB2D22835B57}" vid="{4BEC0EAF-CF86-4D49-B83B-56CC62D3CFF1}"/>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Dividend</Template>
  <TotalTime>12</TotalTime>
  <Words>2553</Words>
  <Application>Microsoft Macintosh PowerPoint</Application>
  <PresentationFormat>Widescreen</PresentationFormat>
  <Paragraphs>394</Paragraphs>
  <Slides>32</Slides>
  <Notes>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32</vt:i4>
      </vt:variant>
    </vt:vector>
  </HeadingPairs>
  <TitlesOfParts>
    <vt:vector size="40" baseType="lpstr">
      <vt:lpstr>Calibri</vt:lpstr>
      <vt:lpstr>Cambria Math</vt:lpstr>
      <vt:lpstr>Century Gothic</vt:lpstr>
      <vt:lpstr>Courier New</vt:lpstr>
      <vt:lpstr>Gill Sans MT</vt:lpstr>
      <vt:lpstr>Wingdings</vt:lpstr>
      <vt:lpstr>Wingdings 2</vt:lpstr>
      <vt:lpstr>Dividendo</vt:lpstr>
      <vt:lpstr>AGENDA PROPUESTA</vt:lpstr>
      <vt:lpstr>VALOR TERMINAL </vt:lpstr>
      <vt:lpstr>VALOR TERMINAL </vt:lpstr>
      <vt:lpstr>VALOR TERMINAL </vt:lpstr>
      <vt:lpstr>VALOR TERMINAL </vt:lpstr>
      <vt:lpstr>VALOR TERMINAL </vt:lpstr>
      <vt:lpstr>LA CONSTRUCCIÓN DEL FLUJO DE CAJA LIBRE DE un PROYECTO (PaRTE III)</vt:lpstr>
      <vt:lpstr>LA CONSTRUCCIÓN DEL FLUJO DE CAJA LIBRE DE un PROYECTO (PARTE iv)</vt:lpstr>
      <vt:lpstr>AGENDA PROPUESTA</vt:lpstr>
      <vt:lpstr>AGENDA PROPUESTA</vt:lpstr>
      <vt:lpstr>Ingresos y Costos Pertinentes</vt:lpstr>
      <vt:lpstr>Ingresos y Costos Pertinentes</vt:lpstr>
      <vt:lpstr>Ingresos y Costos Pertinentes</vt:lpstr>
      <vt:lpstr>Ingresos y Costos Pertinentes</vt:lpstr>
      <vt:lpstr>Ingresos  y Costos Pertinentes</vt:lpstr>
      <vt:lpstr>Ingresos  y Costos Pertinentes</vt:lpstr>
      <vt:lpstr>Ingresos  y Costos Pertinentes</vt:lpstr>
      <vt:lpstr>AGENDA PROPUESTA</vt:lpstr>
      <vt:lpstr>Regla #1: Principio de Marginalidad</vt:lpstr>
      <vt:lpstr>Regla #1: Principio de Marginalidad</vt:lpstr>
      <vt:lpstr>Regla #1: Principio de Marginalidad</vt:lpstr>
      <vt:lpstr>AGENDA PROPUESTA</vt:lpstr>
      <vt:lpstr>Regla #2: Precios de mercado, no precios históricos ni contables</vt:lpstr>
      <vt:lpstr>Regla #2: Precios de mercado, no precios históricos ni contables</vt:lpstr>
      <vt:lpstr>AGENDA PROPUESTA</vt:lpstr>
      <vt:lpstr>Regla #3: No costos muertos</vt:lpstr>
      <vt:lpstr>Regla #3: No costos muertos</vt:lpstr>
      <vt:lpstr>AGENDA PROPUESTA</vt:lpstr>
      <vt:lpstr>Regla #4: Ingresos y EGRESos operacionales</vt:lpstr>
      <vt:lpstr>Regla#4: Ingresos y egresos operacionales</vt:lpstr>
      <vt:lpstr>AGENDA PROPUESTA</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ANÁLISIS DESDE UNA ÓPTICA ECONOMÉTRICA DE LA PREVISIBILIDAD DE LAS VARIACIONES DEL TRÁFICO DEL CORREDOR BOGOTÁ – PUERTO GAITÁN TENIENDO EN CUENTA EL COMPORTAMIENTO HISTÓRICO DEL TRÁFICO Y DEL PRECIO DEL PETRÓLEO WTI</dc:title>
  <dc:creator>Sebastian Joseph Sanchez Oyola</dc:creator>
  <cp:lastModifiedBy>Brigitte Castañeda</cp:lastModifiedBy>
  <cp:revision>22</cp:revision>
  <dcterms:created xsi:type="dcterms:W3CDTF">2019-06-20T04:25:04Z</dcterms:created>
  <dcterms:modified xsi:type="dcterms:W3CDTF">2026-09-17T18:34:40Z</dcterms:modified>
</cp:coreProperties>
</file>