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732" r:id="rId1"/>
  </p:sldMasterIdLst>
  <p:notesMasterIdLst>
    <p:notesMasterId r:id="rId39"/>
  </p:notesMasterIdLst>
  <p:handoutMasterIdLst>
    <p:handoutMasterId r:id="rId40"/>
  </p:handoutMasterIdLst>
  <p:sldIdLst>
    <p:sldId id="398" r:id="rId2"/>
    <p:sldId id="354" r:id="rId3"/>
    <p:sldId id="638" r:id="rId4"/>
    <p:sldId id="321" r:id="rId5"/>
    <p:sldId id="322" r:id="rId6"/>
    <p:sldId id="323" r:id="rId7"/>
    <p:sldId id="639" r:id="rId8"/>
    <p:sldId id="640" r:id="rId9"/>
    <p:sldId id="641" r:id="rId10"/>
    <p:sldId id="642" r:id="rId11"/>
    <p:sldId id="643" r:id="rId12"/>
    <p:sldId id="644" r:id="rId13"/>
    <p:sldId id="645" r:id="rId14"/>
    <p:sldId id="646" r:id="rId15"/>
    <p:sldId id="647" r:id="rId16"/>
    <p:sldId id="648" r:id="rId17"/>
    <p:sldId id="649" r:id="rId18"/>
    <p:sldId id="650" r:id="rId19"/>
    <p:sldId id="651" r:id="rId20"/>
    <p:sldId id="652" r:id="rId21"/>
    <p:sldId id="653" r:id="rId22"/>
    <p:sldId id="654" r:id="rId23"/>
    <p:sldId id="655" r:id="rId24"/>
    <p:sldId id="657" r:id="rId25"/>
    <p:sldId id="658" r:id="rId26"/>
    <p:sldId id="659" r:id="rId27"/>
    <p:sldId id="660" r:id="rId28"/>
    <p:sldId id="661" r:id="rId29"/>
    <p:sldId id="662" r:id="rId30"/>
    <p:sldId id="663" r:id="rId31"/>
    <p:sldId id="664" r:id="rId32"/>
    <p:sldId id="665" r:id="rId33"/>
    <p:sldId id="667" r:id="rId34"/>
    <p:sldId id="668" r:id="rId35"/>
    <p:sldId id="669" r:id="rId36"/>
    <p:sldId id="670" r:id="rId37"/>
    <p:sldId id="671" r:id="rId3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ebastian Joseph Sanchez Oyola" initials="SJSO" lastIdx="1" clrIdx="0">
    <p:extLst>
      <p:ext uri="{19B8F6BF-5375-455C-9EA6-DF929625EA0E}">
        <p15:presenceInfo xmlns:p15="http://schemas.microsoft.com/office/powerpoint/2012/main" userId="Sebastian Joseph Sanchez Oyola"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7A700"/>
    <a:srgbClr val="155E26"/>
    <a:srgbClr val="FAEEDA"/>
    <a:srgbClr val="F5DCCA"/>
    <a:srgbClr val="DFFFFF"/>
    <a:srgbClr val="FF6600"/>
    <a:srgbClr val="FFF4E6"/>
    <a:srgbClr val="002F90"/>
    <a:srgbClr val="E8F8FA"/>
    <a:srgbClr val="33CC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F3151AA-379F-FABB-284D-D6A5A6B0E231}" v="2" dt="2026-10-07T15:42:29.268"/>
    <p1510:client id="{C860E0FC-6477-5968-FE38-C625CB8CEA4F}" v="2" dt="2026-10-07T15:40:59.775"/>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Estilo medio 1 - Énfasis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72833802-FEF1-4C79-8D5D-14CF1EAF98D9}" styleName="Estilo claro 2 - Acento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0660B408-B3CF-4A94-85FC-2B1E0A45F4A2}" styleName="Estilo oscuro 2 - Énfasis 1/Énfasis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5DA37D80-6434-44D0-A028-1B22A696006F}" styleName="Estilo claro 3 - Acento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21E4AEA4-8DFA-4A89-87EB-49C32662AFE0}" styleName="Estilo medio 2 - Énfasis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47"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handoutMaster" Target="handoutMasters/handoutMaster1.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commentAuthors" Target="commen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uan Camilo Ceron Castañeda" userId="S::j.ceronc@uniandes.edu.co::1abef504-7ace-4897-bd76-7d5bc4257bfe" providerId="AD" clId="Web-{1F3151AA-379F-FABB-284D-D6A5A6B0E231}"/>
    <pc:docChg chg="modSld">
      <pc:chgData name="Juan Camilo Ceron Castañeda" userId="S::j.ceronc@uniandes.edu.co::1abef504-7ace-4897-bd76-7d5bc4257bfe" providerId="AD" clId="Web-{1F3151AA-379F-FABB-284D-D6A5A6B0E231}" dt="2026-10-07T15:42:29.268" v="0" actId="20577"/>
      <pc:docMkLst>
        <pc:docMk/>
      </pc:docMkLst>
      <pc:sldChg chg="modSp">
        <pc:chgData name="Juan Camilo Ceron Castañeda" userId="S::j.ceronc@uniandes.edu.co::1abef504-7ace-4897-bd76-7d5bc4257bfe" providerId="AD" clId="Web-{1F3151AA-379F-FABB-284D-D6A5A6B0E231}" dt="2026-10-07T15:42:29.268" v="0" actId="20577"/>
        <pc:sldMkLst>
          <pc:docMk/>
          <pc:sldMk cId="3254971150" sldId="354"/>
        </pc:sldMkLst>
        <pc:spChg chg="mod">
          <ac:chgData name="Juan Camilo Ceron Castañeda" userId="S::j.ceronc@uniandes.edu.co::1abef504-7ace-4897-bd76-7d5bc4257bfe" providerId="AD" clId="Web-{1F3151AA-379F-FABB-284D-D6A5A6B0E231}" dt="2026-10-07T15:42:29.268" v="0" actId="20577"/>
          <ac:spMkLst>
            <pc:docMk/>
            <pc:sldMk cId="3254971150" sldId="354"/>
            <ac:spMk id="23" creationId="{8F837980-0A38-47A1-8A30-C7AFF3A98D5A}"/>
          </ac:spMkLst>
        </pc:spChg>
      </pc:sldChg>
    </pc:docChg>
  </pc:docChgLst>
  <pc:docChgLst>
    <pc:chgData name="Juan Camilo Ceron Castañeda" userId="S::j.ceronc@uniandes.edu.co::1abef504-7ace-4897-bd76-7d5bc4257bfe" providerId="AD" clId="Web-{C860E0FC-6477-5968-FE38-C625CB8CEA4F}"/>
    <pc:docChg chg="modSld">
      <pc:chgData name="Juan Camilo Ceron Castañeda" userId="S::j.ceronc@uniandes.edu.co::1abef504-7ace-4897-bd76-7d5bc4257bfe" providerId="AD" clId="Web-{C860E0FC-6477-5968-FE38-C625CB8CEA4F}" dt="2026-10-07T15:40:59.775" v="0" actId="20577"/>
      <pc:docMkLst>
        <pc:docMk/>
      </pc:docMkLst>
      <pc:sldChg chg="modSp">
        <pc:chgData name="Juan Camilo Ceron Castañeda" userId="S::j.ceronc@uniandes.edu.co::1abef504-7ace-4897-bd76-7d5bc4257bfe" providerId="AD" clId="Web-{C860E0FC-6477-5968-FE38-C625CB8CEA4F}" dt="2026-10-07T15:40:59.775" v="0" actId="20577"/>
        <pc:sldMkLst>
          <pc:docMk/>
          <pc:sldMk cId="3254971150" sldId="354"/>
        </pc:sldMkLst>
        <pc:spChg chg="mod">
          <ac:chgData name="Juan Camilo Ceron Castañeda" userId="S::j.ceronc@uniandes.edu.co::1abef504-7ace-4897-bd76-7d5bc4257bfe" providerId="AD" clId="Web-{C860E0FC-6477-5968-FE38-C625CB8CEA4F}" dt="2026-10-07T15:40:59.775" v="0" actId="20577"/>
          <ac:spMkLst>
            <pc:docMk/>
            <pc:sldMk cId="3254971150" sldId="354"/>
            <ac:spMk id="23" creationId="{8F837980-0A38-47A1-8A30-C7AFF3A98D5A}"/>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97909239-6EB4-4F64-9166-01BA8CB152A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s-CO"/>
              <a:t>Profesor Sebastián Joseph Sánchez Oyola</a:t>
            </a:r>
          </a:p>
        </p:txBody>
      </p:sp>
      <p:sp>
        <p:nvSpPr>
          <p:cNvPr id="3" name="Marcador de fecha 2">
            <a:extLst>
              <a:ext uri="{FF2B5EF4-FFF2-40B4-BE49-F238E27FC236}">
                <a16:creationId xmlns:a16="http://schemas.microsoft.com/office/drawing/2014/main" id="{C0D4A5E1-CC2B-4E68-93DE-1741C2D8FCC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1EBC9B1-33DC-462F-829C-1E37E99682B9}" type="datetimeFigureOut">
              <a:rPr lang="es-CO" smtClean="0"/>
              <a:t>7/10/2026</a:t>
            </a:fld>
            <a:endParaRPr lang="es-CO"/>
          </a:p>
        </p:txBody>
      </p:sp>
      <p:sp>
        <p:nvSpPr>
          <p:cNvPr id="4" name="Marcador de pie de página 3">
            <a:extLst>
              <a:ext uri="{FF2B5EF4-FFF2-40B4-BE49-F238E27FC236}">
                <a16:creationId xmlns:a16="http://schemas.microsoft.com/office/drawing/2014/main" id="{36E42B93-8418-4C73-AFC5-AD8733D5618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5" name="Marcador de número de diapositiva 4">
            <a:extLst>
              <a:ext uri="{FF2B5EF4-FFF2-40B4-BE49-F238E27FC236}">
                <a16:creationId xmlns:a16="http://schemas.microsoft.com/office/drawing/2014/main" id="{2BF5AB0F-F981-4352-8DA3-CAD02A4EF5C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C9216A6-D02D-421D-81B5-58C62FCB13EF}" type="slidenum">
              <a:rPr lang="es-CO" smtClean="0"/>
              <a:t>‹#›</a:t>
            </a:fld>
            <a:endParaRPr lang="es-CO"/>
          </a:p>
        </p:txBody>
      </p:sp>
    </p:spTree>
    <p:extLst>
      <p:ext uri="{BB962C8B-B14F-4D97-AF65-F5344CB8AC3E}">
        <p14:creationId xmlns:p14="http://schemas.microsoft.com/office/powerpoint/2010/main" val="3094247631"/>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s-CO"/>
              <a:t>Profesor Sebastián Joseph Sánchez Oyola</a:t>
            </a:r>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BED2E0-4743-4E03-93B8-12386FF60236}" type="datetimeFigureOut">
              <a:rPr lang="es-CO" smtClean="0"/>
              <a:t>7/10/2026</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AB8670-524E-4520-AA44-FE672760293D}" type="slidenum">
              <a:rPr lang="es-CO" smtClean="0"/>
              <a:t>‹#›</a:t>
            </a:fld>
            <a:endParaRPr lang="es-CO"/>
          </a:p>
        </p:txBody>
      </p:sp>
    </p:spTree>
    <p:extLst>
      <p:ext uri="{BB962C8B-B14F-4D97-AF65-F5344CB8AC3E}">
        <p14:creationId xmlns:p14="http://schemas.microsoft.com/office/powerpoint/2010/main" val="3044258673"/>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1428541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s-MX"/>
              <a:t>Haz clic para modificar el estilo de título del patrón</a:t>
            </a:r>
            <a:endParaRPr lang="en-US"/>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MX"/>
              <a:t>Haz clic para editar el estilo de subtítulo del patrón</a:t>
            </a:r>
            <a:endParaRPr lang="en-US"/>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9AFD365D-553E-437E-906F-693C2E6CE28D}" type="datetime1">
              <a:rPr lang="en-US" smtClean="0"/>
              <a:t>10/7/2026</a:t>
            </a:fld>
            <a:endParaRPr lang="en-US"/>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37467212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581192" y="702156"/>
            <a:ext cx="11029616" cy="1013800"/>
          </a:xfrm>
        </p:spPr>
        <p:txBody>
          <a:bodyPr/>
          <a:lstStyle/>
          <a:p>
            <a:r>
              <a:rPr lang="es-MX"/>
              <a:t>Haz clic para modificar el estilo de título del patrón</a:t>
            </a:r>
            <a:endParaRPr lang="en-US"/>
          </a:p>
        </p:txBody>
      </p:sp>
      <p:sp>
        <p:nvSpPr>
          <p:cNvPr id="3" name="Content Placeholder 2"/>
          <p:cNvSpPr>
            <a:spLocks noGrp="1"/>
          </p:cNvSpPr>
          <p:nvPr>
            <p:ph idx="1"/>
          </p:nvPr>
        </p:nvSpPr>
        <p:spPr>
          <a:xfrm>
            <a:off x="581192" y="2180496"/>
            <a:ext cx="11029615" cy="3678303"/>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Date Placeholder 3"/>
          <p:cNvSpPr>
            <a:spLocks noGrp="1"/>
          </p:cNvSpPr>
          <p:nvPr>
            <p:ph type="dt" sz="half" idx="10"/>
          </p:nvPr>
        </p:nvSpPr>
        <p:spPr/>
        <p:txBody>
          <a:bodyPr/>
          <a:lstStyle/>
          <a:p>
            <a:fld id="{A523018D-1CC0-468E-BE3B-579A148A0691}" type="datetime1">
              <a:rPr lang="en-US" smtClean="0"/>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8086404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s-MX"/>
              <a:t>Haz clic para modificar el estilo de título del patrón</a:t>
            </a:r>
            <a:endParaRPr lang="en-US"/>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MX"/>
              <a:t>Haga clic para modificar los estilos de texto del patrón</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CE7F702F-46BE-40AA-9A05-7C69E0403EE7}" type="datetime1">
              <a:rPr lang="en-US" smtClean="0"/>
              <a:t>10/7/2026</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38397166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581193" y="729658"/>
            <a:ext cx="11029616" cy="988332"/>
          </a:xfrm>
        </p:spPr>
        <p:txBody>
          <a:bodyPr/>
          <a:lstStyle/>
          <a:p>
            <a:r>
              <a:rPr lang="es-MX"/>
              <a:t>Haz clic para modificar el estilo de título del patrón</a:t>
            </a:r>
            <a:endParaRPr lang="en-US"/>
          </a:p>
        </p:txBody>
      </p:sp>
      <p:sp>
        <p:nvSpPr>
          <p:cNvPr id="3" name="Content Placeholder 2"/>
          <p:cNvSpPr>
            <a:spLocks noGrp="1"/>
          </p:cNvSpPr>
          <p:nvPr>
            <p:ph sz="half" idx="1"/>
          </p:nvPr>
        </p:nvSpPr>
        <p:spPr>
          <a:xfrm>
            <a:off x="581193" y="2228003"/>
            <a:ext cx="5422390" cy="3633047"/>
          </a:xfrm>
        </p:spPr>
        <p:txBody>
          <a:bodyPr>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5" name="Date Placeholder 4"/>
          <p:cNvSpPr>
            <a:spLocks noGrp="1"/>
          </p:cNvSpPr>
          <p:nvPr>
            <p:ph type="dt" sz="half" idx="10"/>
          </p:nvPr>
        </p:nvSpPr>
        <p:spPr/>
        <p:txBody>
          <a:bodyPr/>
          <a:lstStyle/>
          <a:p>
            <a:fld id="{C51F0D08-E4F7-43DB-810A-34BADF6468F7}" type="datetime1">
              <a:rPr lang="en-US" smtClean="0"/>
              <a:t>10/7/2026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27960373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2" name="Title 1"/>
          <p:cNvSpPr>
            <a:spLocks noGrp="1"/>
          </p:cNvSpPr>
          <p:nvPr>
            <p:ph type="title"/>
          </p:nvPr>
        </p:nvSpPr>
        <p:spPr>
          <a:xfrm>
            <a:off x="581193" y="729658"/>
            <a:ext cx="11029616" cy="988332"/>
          </a:xfrm>
        </p:spPr>
        <p:txBody>
          <a:bodyPr/>
          <a:lstStyle/>
          <a:p>
            <a:r>
              <a:rPr lang="es-MX"/>
              <a:t>Haz clic para modificar el estilo de título del patrón</a:t>
            </a:r>
            <a:endParaRPr lang="en-US"/>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7" name="Date Placeholder 6"/>
          <p:cNvSpPr>
            <a:spLocks noGrp="1"/>
          </p:cNvSpPr>
          <p:nvPr>
            <p:ph type="dt" sz="half" idx="10"/>
          </p:nvPr>
        </p:nvSpPr>
        <p:spPr/>
        <p:txBody>
          <a:bodyPr/>
          <a:lstStyle/>
          <a:p>
            <a:fld id="{ADFE1DAC-EC09-4DEA-BBB4-788DDBA09515}" type="datetime1">
              <a:rPr lang="en-US" smtClean="0"/>
              <a:t>10/7/2026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8186047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8" name="Title 1"/>
          <p:cNvSpPr>
            <a:spLocks noGrp="1"/>
          </p:cNvSpPr>
          <p:nvPr>
            <p:ph type="title"/>
          </p:nvPr>
        </p:nvSpPr>
        <p:spPr>
          <a:xfrm>
            <a:off x="575894" y="729658"/>
            <a:ext cx="11029616" cy="988332"/>
          </a:xfrm>
        </p:spPr>
        <p:txBody>
          <a:bodyPr/>
          <a:lstStyle/>
          <a:p>
            <a:r>
              <a:rPr lang="es-MX"/>
              <a:t>Haz clic para modificar el estilo de título del patrón</a:t>
            </a:r>
            <a:endParaRPr lang="en-US"/>
          </a:p>
        </p:txBody>
      </p:sp>
      <p:sp>
        <p:nvSpPr>
          <p:cNvPr id="3" name="Date Placeholder 2"/>
          <p:cNvSpPr>
            <a:spLocks noGrp="1"/>
          </p:cNvSpPr>
          <p:nvPr>
            <p:ph type="dt" sz="half" idx="10"/>
          </p:nvPr>
        </p:nvSpPr>
        <p:spPr/>
        <p:txBody>
          <a:bodyPr/>
          <a:lstStyle/>
          <a:p>
            <a:fld id="{A9BFF582-E74C-4A8A-87B2-214B0CF47F99}" type="datetime1">
              <a:rPr lang="en-US" smtClean="0"/>
              <a:t>10/7/2026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9111116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FC8AEA-E303-4B9D-B167-0A45CB59E0C2}" type="datetime1">
              <a:rPr lang="en-US" smtClean="0"/>
              <a:t>10/7/2026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352954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s-MX"/>
              <a:t>Haz clic para modificar el estilo de título del patrón</a:t>
            </a:r>
            <a:endParaRPr lang="en-US"/>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MX"/>
              <a:t>Haga clic para modificar los estilos de texto del patrón</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7EBE2AAB-C9FD-4A72-8C62-A7C81FA189B4}" type="datetime1">
              <a:rPr lang="en-US" smtClean="0"/>
              <a:t>10/7/2026</a:t>
            </a:fld>
            <a:endParaRPr lang="en-US"/>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17207751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s-MX"/>
              <a:t>Haz clic para modificar el estilo de título del patrón</a:t>
            </a:r>
            <a:endParaRPr lang="en-US"/>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MX"/>
              <a:t>Haz clic en el icono para agregar una imagen</a:t>
            </a:r>
            <a:endParaRPr lang="en-US"/>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MX"/>
              <a:t>Haga clic para modificar los estilos de texto del patrón</a:t>
            </a:r>
          </a:p>
        </p:txBody>
      </p:sp>
      <p:sp>
        <p:nvSpPr>
          <p:cNvPr id="5" name="Date Placeholder 4"/>
          <p:cNvSpPr>
            <a:spLocks noGrp="1"/>
          </p:cNvSpPr>
          <p:nvPr>
            <p:ph type="dt" sz="half" idx="10"/>
          </p:nvPr>
        </p:nvSpPr>
        <p:spPr/>
        <p:txBody>
          <a:bodyPr/>
          <a:lstStyle/>
          <a:p>
            <a:fld id="{F4D9D4CC-5FC5-4711-9ACC-A7971700D612}" type="datetime1">
              <a:rPr lang="en-US" smtClean="0"/>
              <a:t>10/7/2026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1733869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9" name="Title 1"/>
          <p:cNvSpPr>
            <a:spLocks noGrp="1"/>
          </p:cNvSpPr>
          <p:nvPr>
            <p:ph type="title"/>
          </p:nvPr>
        </p:nvSpPr>
        <p:spPr>
          <a:xfrm>
            <a:off x="581192" y="702156"/>
            <a:ext cx="11029616" cy="1013800"/>
          </a:xfrm>
        </p:spPr>
        <p:txBody>
          <a:bodyPr/>
          <a:lstStyle/>
          <a:p>
            <a:r>
              <a:rPr lang="es-MX"/>
              <a:t>Haz clic para modificar el estilo de título del patrón</a:t>
            </a:r>
            <a:endParaRPr lang="en-US"/>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Date Placeholder 3"/>
          <p:cNvSpPr>
            <a:spLocks noGrp="1"/>
          </p:cNvSpPr>
          <p:nvPr>
            <p:ph type="dt" sz="half" idx="10"/>
          </p:nvPr>
        </p:nvSpPr>
        <p:spPr/>
        <p:txBody>
          <a:bodyPr/>
          <a:lstStyle/>
          <a:p>
            <a:fld id="{5326DF8C-FC0D-41BB-BB53-20BBB44E4230}" type="datetime1">
              <a:rPr lang="en-US" smtClean="0"/>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33979136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Vertical Title 1"/>
          <p:cNvSpPr>
            <a:spLocks noGrp="1"/>
          </p:cNvSpPr>
          <p:nvPr>
            <p:ph type="title" orient="vert"/>
          </p:nvPr>
        </p:nvSpPr>
        <p:spPr>
          <a:xfrm>
            <a:off x="8839201" y="675726"/>
            <a:ext cx="2004164" cy="5183073"/>
          </a:xfrm>
        </p:spPr>
        <p:txBody>
          <a:bodyPr vert="eaVert"/>
          <a:lstStyle/>
          <a:p>
            <a:r>
              <a:rPr lang="es-MX"/>
              <a:t>Haz clic para modificar el estilo de título del patrón</a:t>
            </a:r>
            <a:endParaRPr lang="en-US"/>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D119C4A7-5D51-4E42-9C0C-1785329211C5}" type="datetime1">
              <a:rPr lang="en-US" smtClean="0"/>
              <a:t>10/7/2026</a:t>
            </a:fld>
            <a:endParaRPr lang="en-US"/>
          </a:p>
        </p:txBody>
      </p:sp>
      <p:sp>
        <p:nvSpPr>
          <p:cNvPr id="5" name="Footer Placeholder 4"/>
          <p:cNvSpPr>
            <a:spLocks noGrp="1"/>
          </p:cNvSpPr>
          <p:nvPr>
            <p:ph type="ftr" sz="quarter" idx="11"/>
          </p:nvPr>
        </p:nvSpPr>
        <p:spPr>
          <a:xfrm>
            <a:off x="774923" y="5951811"/>
            <a:ext cx="7896279" cy="365125"/>
          </a:xfrm>
        </p:spPr>
        <p:txBody>
          <a:bodyPr/>
          <a:lstStyle/>
          <a:p>
            <a:endParaRPr lang="en-US"/>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5048015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s-MX"/>
              <a:t>Haz clic para modificar el estilo de título del patrón</a:t>
            </a:r>
            <a:endParaRPr lang="en-US"/>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D8027E5A-4482-46C4-A2DC-45BEF00C1E0A}" type="datetime1">
              <a:rPr lang="en-US" smtClean="0"/>
              <a:t>10/7/2026</a:t>
            </a:fld>
            <a:endParaRPr lang="en-US"/>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smtClean="0"/>
              <a:pPr/>
              <a:t>‹#›</a:t>
            </a:fld>
            <a:endParaRPr lang="en-US"/>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989323100"/>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hf hdr="0" ft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emf"/></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7.emf"/></Relationships>
</file>

<file path=ppt/slides/_rels/slide25.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emf"/></Relationships>
</file>

<file path=ppt/slides/_rels/slide27.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4.emf"/></Relationships>
</file>

<file path=ppt/slides/_rels/slide28.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5.emf"/><Relationship Id="rId7" Type="http://schemas.openxmlformats.org/officeDocument/2006/relationships/image" Target="../media/image10.emf"/><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18.emf"/><Relationship Id="rId5" Type="http://schemas.openxmlformats.org/officeDocument/2006/relationships/image" Target="../media/image17.emf"/><Relationship Id="rId4" Type="http://schemas.openxmlformats.org/officeDocument/2006/relationships/image" Target="../media/image16.emf"/></Relationships>
</file>

<file path=ppt/slides/_rels/slide30.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21.emf"/></Relationships>
</file>

<file path=ppt/slides/_rels/slide31.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23.emf"/></Relationships>
</file>

<file path=ppt/slides/_rels/slide32.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26.emf"/><Relationship Id="rId4" Type="http://schemas.openxmlformats.org/officeDocument/2006/relationships/image" Target="../media/image25.emf"/></Relationships>
</file>

<file path=ppt/slides/_rels/slide3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4.emf"/><Relationship Id="rId5" Type="http://schemas.openxmlformats.org/officeDocument/2006/relationships/image" Target="../media/image29.emf"/><Relationship Id="rId4" Type="http://schemas.openxmlformats.org/officeDocument/2006/relationships/image" Target="../media/image28.emf"/></Relationships>
</file>

<file path=ppt/slides/_rels/slide3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31.emf"/><Relationship Id="rId5" Type="http://schemas.openxmlformats.org/officeDocument/2006/relationships/image" Target="../media/image4.emf"/><Relationship Id="rId4" Type="http://schemas.openxmlformats.org/officeDocument/2006/relationships/image" Target="../media/image29.emf"/></Relationships>
</file>

<file path=ppt/slides/_rels/slide3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486108" y="1822352"/>
            <a:ext cx="10550396" cy="826833"/>
          </a:xfrm>
        </p:spPr>
        <p:txBody>
          <a:bodyPr>
            <a:noAutofit/>
          </a:bodyPr>
          <a:lstStyle/>
          <a:p>
            <a:r>
              <a:rPr lang="es-ES" sz="3200">
                <a:latin typeface="Century Gothic"/>
              </a:rPr>
              <a:t>Introducción al costo de capitaL</a:t>
            </a:r>
            <a:endParaRPr lang="es-CO" sz="3200">
              <a:latin typeface="Century Gothic" panose="020B0502020202020204" pitchFamily="34" charset="0"/>
            </a:endParaRPr>
          </a:p>
        </p:txBody>
      </p:sp>
      <p:sp>
        <p:nvSpPr>
          <p:cNvPr id="8" name="Rectángulo 7">
            <a:extLst>
              <a:ext uri="{FF2B5EF4-FFF2-40B4-BE49-F238E27FC236}">
                <a16:creationId xmlns:a16="http://schemas.microsoft.com/office/drawing/2014/main" id="{47094242-8D7F-4883-8E64-A43E1E37E5FF}"/>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26" name="Picture 2" descr="Clientes y aliados | Centro de Evaluación | Uniandes">
            <a:extLst>
              <a:ext uri="{FF2B5EF4-FFF2-40B4-BE49-F238E27FC236}">
                <a16:creationId xmlns:a16="http://schemas.microsoft.com/office/drawing/2014/main" id="{D2A00364-D957-B6CC-C8C3-335B3CE9EB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3" name="Rectángulo 2">
            <a:extLst>
              <a:ext uri="{FF2B5EF4-FFF2-40B4-BE49-F238E27FC236}">
                <a16:creationId xmlns:a16="http://schemas.microsoft.com/office/drawing/2014/main" id="{89A2F7FD-DB75-B2F6-96F6-C7A714073C99}"/>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pic>
        <p:nvPicPr>
          <p:cNvPr id="5" name="Gráfico 4" descr="Open book contorno">
            <a:extLst>
              <a:ext uri="{FF2B5EF4-FFF2-40B4-BE49-F238E27FC236}">
                <a16:creationId xmlns:a16="http://schemas.microsoft.com/office/drawing/2014/main" id="{3D62EEA9-E977-2B15-6DB5-97AE2839922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134957" y="3342889"/>
            <a:ext cx="2695807" cy="2695807"/>
          </a:xfrm>
          <a:prstGeom prst="rect">
            <a:avLst/>
          </a:prstGeom>
        </p:spPr>
      </p:pic>
      <p:sp>
        <p:nvSpPr>
          <p:cNvPr id="7" name="CuadroTexto 6">
            <a:extLst>
              <a:ext uri="{FF2B5EF4-FFF2-40B4-BE49-F238E27FC236}">
                <a16:creationId xmlns:a16="http://schemas.microsoft.com/office/drawing/2014/main" id="{CDACCAD9-71B4-2FA0-1592-3F9D80605EB2}"/>
              </a:ext>
            </a:extLst>
          </p:cNvPr>
          <p:cNvSpPr txBox="1"/>
          <p:nvPr/>
        </p:nvSpPr>
        <p:spPr>
          <a:xfrm>
            <a:off x="1045027" y="3342889"/>
            <a:ext cx="6349598" cy="2492990"/>
          </a:xfrm>
          <a:prstGeom prst="rect">
            <a:avLst/>
          </a:prstGeom>
          <a:noFill/>
        </p:spPr>
        <p:txBody>
          <a:bodyPr wrap="square" lIns="91440" tIns="45720" rIns="91440" bIns="45720" rtlCol="0" anchor="t">
            <a:spAutoFit/>
          </a:bodyPr>
          <a:lstStyle/>
          <a:p>
            <a:r>
              <a:rPr lang="es-CO" sz="1600" b="1" u="sng">
                <a:solidFill>
                  <a:schemeClr val="bg1"/>
                </a:solidFill>
                <a:latin typeface="Century Gothic"/>
              </a:rPr>
              <a:t>													</a:t>
            </a:r>
            <a:endParaRPr lang="es-CO" sz="2000" b="1" u="sng">
              <a:solidFill>
                <a:schemeClr val="bg1"/>
              </a:solidFill>
              <a:latin typeface="Century Gothic"/>
            </a:endParaRPr>
          </a:p>
          <a:p>
            <a:endParaRPr lang="es-CO" sz="1000" b="1">
              <a:solidFill>
                <a:schemeClr val="bg1"/>
              </a:solidFill>
              <a:latin typeface="Century Gothic" panose="020B0502020202020204" pitchFamily="34" charset="0"/>
            </a:endParaRPr>
          </a:p>
          <a:p>
            <a:r>
              <a:rPr lang="es-CO" sz="2000" b="1">
                <a:solidFill>
                  <a:schemeClr val="bg1"/>
                </a:solidFill>
                <a:latin typeface="Century Gothic"/>
              </a:rPr>
              <a:t>DEPARTAMENTO DE INGENIERÍA INDUSTRIAL</a:t>
            </a:r>
          </a:p>
          <a:p>
            <a:r>
              <a:rPr lang="es-CO" sz="2000" b="1">
                <a:solidFill>
                  <a:schemeClr val="bg1"/>
                </a:solidFill>
                <a:latin typeface="Century Gothic"/>
              </a:rPr>
              <a:t>FACULTAD DE INGENIERÍA</a:t>
            </a:r>
          </a:p>
          <a:p>
            <a:r>
              <a:rPr lang="es-CO" sz="1000" b="1" u="sng">
                <a:solidFill>
                  <a:schemeClr val="bg1"/>
                </a:solidFill>
                <a:latin typeface="Century Gothic"/>
              </a:rPr>
              <a:t>													</a:t>
            </a:r>
          </a:p>
          <a:p>
            <a:endParaRPr lang="es-CO" sz="2000" b="1">
              <a:solidFill>
                <a:schemeClr val="bg1"/>
              </a:solidFill>
              <a:latin typeface="Century Gothic" panose="020B0502020202020204" pitchFamily="34" charset="0"/>
            </a:endParaRPr>
          </a:p>
          <a:p>
            <a:r>
              <a:rPr lang="es-CO" sz="2000" b="1">
                <a:solidFill>
                  <a:schemeClr val="bg1"/>
                </a:solidFill>
                <a:latin typeface="Century Gothic"/>
              </a:rPr>
              <a:t>Curso       </a:t>
            </a:r>
            <a:r>
              <a:rPr lang="es-CO" sz="2000">
                <a:solidFill>
                  <a:schemeClr val="bg1"/>
                </a:solidFill>
                <a:latin typeface="Century Gothic"/>
              </a:rPr>
              <a:t>ANÁLISIS DE DECISIONES DE INVERSIÓN</a:t>
            </a:r>
          </a:p>
          <a:p>
            <a:r>
              <a:rPr lang="es-CO" sz="2000" b="1">
                <a:solidFill>
                  <a:schemeClr val="bg1"/>
                </a:solidFill>
                <a:latin typeface="Century Gothic"/>
              </a:rPr>
              <a:t>Correo     </a:t>
            </a:r>
            <a:r>
              <a:rPr lang="es-CO" sz="2000">
                <a:solidFill>
                  <a:schemeClr val="bg1"/>
                </a:solidFill>
                <a:latin typeface="Century Gothic"/>
              </a:rPr>
              <a:t>cursoanadec@uniandes.edu.co</a:t>
            </a:r>
          </a:p>
          <a:p>
            <a:endParaRPr lang="es-CO" sz="2000" b="1">
              <a:solidFill>
                <a:schemeClr val="bg1"/>
              </a:solidFill>
              <a:latin typeface="Century Gothic" panose="020B0502020202020204" pitchFamily="34" charset="0"/>
            </a:endParaRPr>
          </a:p>
        </p:txBody>
      </p:sp>
    </p:spTree>
    <p:extLst>
      <p:ext uri="{BB962C8B-B14F-4D97-AF65-F5344CB8AC3E}">
        <p14:creationId xmlns:p14="http://schemas.microsoft.com/office/powerpoint/2010/main" val="11426745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CO" sz="3200">
                <a:latin typeface="Century Gothic" panose="020B0502020202020204" pitchFamily="34" charset="0"/>
              </a:rPr>
              <a:t>AGENDA PROPUESTA</a:t>
            </a:r>
          </a:p>
        </p:txBody>
      </p:sp>
      <p:sp>
        <p:nvSpPr>
          <p:cNvPr id="4" name="Marcador de número de diapositiva 3"/>
          <p:cNvSpPr>
            <a:spLocks noGrp="1"/>
          </p:cNvSpPr>
          <p:nvPr>
            <p:ph type="sldNum" sz="quarter" idx="12"/>
          </p:nvPr>
        </p:nvSpPr>
        <p:spPr/>
        <p:txBody>
          <a:bodyPr/>
          <a:lstStyle/>
          <a:p>
            <a:fld id="{D57F1E4F-1CFF-5643-939E-217C01CDF565}" type="slidenum">
              <a:rPr lang="en-US" sz="2000" b="1" smtClean="0">
                <a:latin typeface="Century Gothic" panose="020B0502020202020204" pitchFamily="34" charset="0"/>
              </a:rPr>
              <a:pPr/>
              <a:t>2</a:t>
            </a:fld>
            <a:endParaRPr lang="en-US" sz="2000" b="1">
              <a:latin typeface="Century Gothic" panose="020B0502020202020204" pitchFamily="34" charset="0"/>
            </a:endParaRPr>
          </a:p>
        </p:txBody>
      </p:sp>
      <p:pic>
        <p:nvPicPr>
          <p:cNvPr id="6" name="Picture 6" descr="Resultado de imagen para RELOJ VECTOR">
            <a:extLst>
              <a:ext uri="{FF2B5EF4-FFF2-40B4-BE49-F238E27FC236}">
                <a16:creationId xmlns:a16="http://schemas.microsoft.com/office/drawing/2014/main" id="{0F651596-1125-43ED-8471-A57EDDF3518A}"/>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256045" y="27727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8F837980-0A38-47A1-8A30-C7AFF3A98D5A}"/>
              </a:ext>
            </a:extLst>
          </p:cNvPr>
          <p:cNvSpPr/>
          <p:nvPr/>
        </p:nvSpPr>
        <p:spPr>
          <a:xfrm>
            <a:off x="2806200" y="2734046"/>
            <a:ext cx="8540907" cy="1323439"/>
          </a:xfrm>
          <a:prstGeom prst="rect">
            <a:avLst/>
          </a:prstGeom>
        </p:spPr>
        <p:txBody>
          <a:bodyPr wrap="square" lIns="91440" tIns="45720" rIns="91440" bIns="45720" anchor="t">
            <a:spAutoFit/>
          </a:bodyPr>
          <a:lstStyle/>
          <a:p>
            <a:pPr marL="342900" indent="-342900">
              <a:buClr>
                <a:schemeClr val="accent3">
                  <a:lumMod val="75000"/>
                </a:schemeClr>
              </a:buClr>
              <a:buFont typeface="Gill Sans MT" panose="020B0502020104020203"/>
              <a:buAutoNum type="arabicPeriod"/>
            </a:pPr>
            <a:r>
              <a:rPr lang="es-CO" sz="1600">
                <a:solidFill>
                  <a:schemeClr val="accent1"/>
                </a:solidFill>
                <a:latin typeface="Century Gothic"/>
                <a:cs typeface="Arial"/>
              </a:rPr>
              <a:t>Introducción al Costo de Capital.</a:t>
            </a:r>
            <a:endParaRPr lang="es-ES" sz="1600">
              <a:solidFill>
                <a:schemeClr val="accent1"/>
              </a:solidFill>
              <a:latin typeface="Century Gothic"/>
              <a:cs typeface="Arial"/>
            </a:endParaRPr>
          </a:p>
          <a:p>
            <a:pPr marL="342900" indent="-342900">
              <a:buClr>
                <a:srgbClr val="2C7C9F"/>
              </a:buClr>
              <a:buFontTx/>
              <a:buAutoNum type="arabicPeriod"/>
            </a:pPr>
            <a:endParaRPr lang="es-CO" sz="1600">
              <a:solidFill>
                <a:schemeClr val="accent1"/>
              </a:solidFill>
              <a:latin typeface="Century Gothic"/>
              <a:cs typeface="Arial"/>
            </a:endParaRPr>
          </a:p>
          <a:p>
            <a:pPr marL="342900" indent="-342900">
              <a:buClr>
                <a:srgbClr val="48BE7A"/>
              </a:buClr>
              <a:buFontTx/>
              <a:buAutoNum type="arabicPeriod"/>
            </a:pPr>
            <a:r>
              <a:rPr lang="es-CO" sz="1600">
                <a:solidFill>
                  <a:schemeClr val="accent1"/>
                </a:solidFill>
                <a:latin typeface="Century Gothic"/>
                <a:cs typeface="Arial"/>
              </a:rPr>
              <a:t>Relación Riesgo – Rentabilidad.</a:t>
            </a:r>
          </a:p>
          <a:p>
            <a:pPr marL="342900" indent="-342900">
              <a:buClr>
                <a:srgbClr val="48BE7A"/>
              </a:buClr>
              <a:buFontTx/>
              <a:buAutoNum type="arabicPeriod"/>
            </a:pPr>
            <a:endParaRPr lang="es-CO" sz="1600">
              <a:solidFill>
                <a:schemeClr val="accent1"/>
              </a:solidFill>
              <a:latin typeface="Century Gothic"/>
              <a:cs typeface="Arial"/>
            </a:endParaRPr>
          </a:p>
          <a:p>
            <a:pPr marL="342900" indent="-342900">
              <a:buClr>
                <a:srgbClr val="48BE7A"/>
              </a:buClr>
              <a:buFontTx/>
              <a:buAutoNum type="arabicPeriod"/>
            </a:pPr>
            <a:r>
              <a:rPr lang="es-CO" sz="1600">
                <a:solidFill>
                  <a:schemeClr val="accent1"/>
                </a:solidFill>
                <a:latin typeface="Century Gothic"/>
                <a:cs typeface="Arial"/>
              </a:rPr>
              <a:t>El Costo del Equity.</a:t>
            </a:r>
          </a:p>
        </p:txBody>
      </p:sp>
      <p:sp>
        <p:nvSpPr>
          <p:cNvPr id="3" name="Rectángulo 2">
            <a:extLst>
              <a:ext uri="{FF2B5EF4-FFF2-40B4-BE49-F238E27FC236}">
                <a16:creationId xmlns:a16="http://schemas.microsoft.com/office/drawing/2014/main" id="{8E86F046-042E-5492-3FBC-4E0C89F4D94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5A2F8A99-E4A5-BAC5-C9B9-FA7BF32546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9" name="Rectángulo 8">
            <a:extLst>
              <a:ext uri="{FF2B5EF4-FFF2-40B4-BE49-F238E27FC236}">
                <a16:creationId xmlns:a16="http://schemas.microsoft.com/office/drawing/2014/main" id="{0A804F0A-3A31-D532-1D1D-5395A053AC00}"/>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3254971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CO" sz="3200">
                <a:latin typeface="Century Gothic" panose="020B0502020202020204" pitchFamily="34" charset="0"/>
              </a:rPr>
              <a:t>AGENDA PROPUESTA</a:t>
            </a:r>
          </a:p>
        </p:txBody>
      </p:sp>
      <p:pic>
        <p:nvPicPr>
          <p:cNvPr id="6" name="Picture 6" descr="Resultado de imagen para RELOJ VECTOR">
            <a:extLst>
              <a:ext uri="{FF2B5EF4-FFF2-40B4-BE49-F238E27FC236}">
                <a16:creationId xmlns:a16="http://schemas.microsoft.com/office/drawing/2014/main" id="{0F651596-1125-43ED-8471-A57EDDF3518A}"/>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256045" y="27727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8F837980-0A38-47A1-8A30-C7AFF3A98D5A}"/>
              </a:ext>
            </a:extLst>
          </p:cNvPr>
          <p:cNvSpPr/>
          <p:nvPr/>
        </p:nvSpPr>
        <p:spPr>
          <a:xfrm>
            <a:off x="2806200" y="2772729"/>
            <a:ext cx="8540907" cy="1323439"/>
          </a:xfrm>
          <a:prstGeom prst="rect">
            <a:avLst/>
          </a:prstGeom>
        </p:spPr>
        <p:txBody>
          <a:bodyPr wrap="square" lIns="91440" tIns="45720" rIns="91440" bIns="45720" anchor="t">
            <a:spAutoFit/>
          </a:bodyPr>
          <a:lstStyle/>
          <a:p>
            <a:pPr marL="342900" indent="-342900">
              <a:buClr>
                <a:schemeClr val="accent3">
                  <a:lumMod val="75000"/>
                </a:schemeClr>
              </a:buClr>
              <a:buFont typeface="Gill Sans MT" panose="020B0502020104020203"/>
              <a:buAutoNum type="arabicPeriod"/>
            </a:pPr>
            <a:r>
              <a:rPr lang="es-ES" sz="1600">
                <a:solidFill>
                  <a:schemeClr val="accent1"/>
                </a:solidFill>
                <a:latin typeface="Century Gothic"/>
                <a:cs typeface="Arial"/>
              </a:rPr>
              <a:t>Introducción al Costo de Capital.</a:t>
            </a:r>
          </a:p>
          <a:p>
            <a:pPr marL="342900" indent="-342900">
              <a:buClr>
                <a:srgbClr val="2C7C9F"/>
              </a:buClr>
              <a:buFontTx/>
              <a:buAutoNum type="arabicPeriod"/>
            </a:pPr>
            <a:endParaRPr lang="es-CO" sz="1600">
              <a:solidFill>
                <a:schemeClr val="accent1"/>
              </a:solidFill>
              <a:latin typeface="Century Gothic"/>
              <a:cs typeface="Arial"/>
            </a:endParaRPr>
          </a:p>
          <a:p>
            <a:pPr marL="342900" indent="-342900">
              <a:buClr>
                <a:srgbClr val="48BE7A"/>
              </a:buClr>
              <a:buFontTx/>
              <a:buAutoNum type="arabicPeriod"/>
            </a:pPr>
            <a:r>
              <a:rPr lang="es-CO" sz="1600">
                <a:solidFill>
                  <a:schemeClr val="tx2">
                    <a:lumMod val="20000"/>
                    <a:lumOff val="80000"/>
                  </a:schemeClr>
                </a:solidFill>
                <a:latin typeface="Century Gothic"/>
                <a:cs typeface="Arial"/>
              </a:rPr>
              <a:t>Relación Riesgo – Rentabilidad.</a:t>
            </a:r>
          </a:p>
          <a:p>
            <a:pPr marL="342900" indent="-342900">
              <a:buClr>
                <a:srgbClr val="48BE7A"/>
              </a:buClr>
              <a:buFontTx/>
              <a:buAutoNum type="arabicPeriod"/>
            </a:pPr>
            <a:endParaRPr lang="es-CO" sz="1600">
              <a:solidFill>
                <a:schemeClr val="accent1"/>
              </a:solidFill>
              <a:latin typeface="Century Gothic"/>
              <a:cs typeface="Arial"/>
            </a:endParaRPr>
          </a:p>
          <a:p>
            <a:pPr marL="342900" indent="-342900">
              <a:buClr>
                <a:srgbClr val="48BE7A"/>
              </a:buClr>
              <a:buFontTx/>
              <a:buAutoNum type="arabicPeriod"/>
            </a:pPr>
            <a:r>
              <a:rPr lang="es-CO" sz="1600">
                <a:solidFill>
                  <a:schemeClr val="tx2">
                    <a:lumMod val="20000"/>
                    <a:lumOff val="80000"/>
                  </a:schemeClr>
                </a:solidFill>
                <a:latin typeface="Century Gothic"/>
                <a:cs typeface="Arial"/>
              </a:rPr>
              <a:t>El Costo del </a:t>
            </a:r>
            <a:r>
              <a:rPr lang="es-CO" sz="1600" err="1">
                <a:solidFill>
                  <a:schemeClr val="tx2">
                    <a:lumMod val="20000"/>
                    <a:lumOff val="80000"/>
                  </a:schemeClr>
                </a:solidFill>
                <a:latin typeface="Century Gothic"/>
                <a:cs typeface="Arial"/>
              </a:rPr>
              <a:t>Equity</a:t>
            </a:r>
            <a:r>
              <a:rPr lang="es-CO" sz="1600">
                <a:solidFill>
                  <a:schemeClr val="tx2">
                    <a:lumMod val="20000"/>
                    <a:lumOff val="80000"/>
                  </a:schemeClr>
                </a:solidFill>
                <a:latin typeface="Century Gothic"/>
                <a:cs typeface="Arial"/>
              </a:rPr>
              <a:t>.</a:t>
            </a:r>
          </a:p>
        </p:txBody>
      </p:sp>
      <p:sp>
        <p:nvSpPr>
          <p:cNvPr id="3" name="Rectángulo 2">
            <a:extLst>
              <a:ext uri="{FF2B5EF4-FFF2-40B4-BE49-F238E27FC236}">
                <a16:creationId xmlns:a16="http://schemas.microsoft.com/office/drawing/2014/main" id="{8E86F046-042E-5492-3FBC-4E0C89F4D94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5A2F8A99-E4A5-BAC5-C9B9-FA7BF32546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38947FF6-FDB9-EE78-466B-05090F4BD4E4}"/>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5" name="Marcador de número de diapositiva 3">
            <a:extLst>
              <a:ext uri="{FF2B5EF4-FFF2-40B4-BE49-F238E27FC236}">
                <a16:creationId xmlns:a16="http://schemas.microsoft.com/office/drawing/2014/main" id="{1339EBD3-AD0C-F724-4154-34BD6006B940}"/>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3</a:t>
            </a:fld>
            <a:endParaRPr lang="en-US" sz="2000" b="1">
              <a:latin typeface="Century Gothic" panose="020B0502020202020204" pitchFamily="34" charset="0"/>
            </a:endParaRPr>
          </a:p>
        </p:txBody>
      </p:sp>
    </p:spTree>
    <p:extLst>
      <p:ext uri="{BB962C8B-B14F-4D97-AF65-F5344CB8AC3E}">
        <p14:creationId xmlns:p14="http://schemas.microsoft.com/office/powerpoint/2010/main" val="9185601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614173" y="1935803"/>
            <a:ext cx="10963655" cy="1822381"/>
          </a:xfrm>
        </p:spPr>
        <p:txBody>
          <a:bodyPr>
            <a:normAutofit/>
          </a:bodyPr>
          <a:lstStyle/>
          <a:p>
            <a:pPr marL="0" indent="0" algn="just">
              <a:buNone/>
            </a:pPr>
            <a:r>
              <a:rPr lang="es-ES">
                <a:solidFill>
                  <a:schemeClr val="accent1"/>
                </a:solidFill>
                <a:latin typeface="Century Gothic" panose="020B0502020202020204" pitchFamily="34" charset="0"/>
              </a:rPr>
              <a:t>Hasta este punto usted debe estar en capacidad de </a:t>
            </a:r>
            <a:r>
              <a:rPr lang="es-ES" b="1">
                <a:solidFill>
                  <a:srgbClr val="D7A700"/>
                </a:solidFill>
                <a:latin typeface="Century Gothic" panose="020B0502020202020204" pitchFamily="34" charset="0"/>
              </a:rPr>
              <a:t>evaluar la bondad financiera de un proyecto </a:t>
            </a:r>
            <a:r>
              <a:rPr lang="es-ES">
                <a:solidFill>
                  <a:schemeClr val="accent1"/>
                </a:solidFill>
                <a:latin typeface="Century Gothic" panose="020B0502020202020204" pitchFamily="34" charset="0"/>
              </a:rPr>
              <a:t>de inversión, siempre y cuando le suministren la información relacionada con:</a:t>
            </a:r>
          </a:p>
          <a:p>
            <a:pPr algn="just"/>
            <a:r>
              <a:rPr lang="es-ES">
                <a:solidFill>
                  <a:schemeClr val="accent1"/>
                </a:solidFill>
                <a:latin typeface="Century Gothic" panose="020B0502020202020204" pitchFamily="34" charset="0"/>
              </a:rPr>
              <a:t>Flujos de caja que genera el proyecto </a:t>
            </a:r>
          </a:p>
          <a:p>
            <a:pPr algn="just"/>
            <a:r>
              <a:rPr lang="es-ES">
                <a:solidFill>
                  <a:schemeClr val="accent1"/>
                </a:solidFill>
                <a:latin typeface="Century Gothic" panose="020B0502020202020204" pitchFamily="34" charset="0"/>
              </a:rPr>
              <a:t>Tasa de descuento o costo de oportunidad del inversionista</a:t>
            </a:r>
          </a:p>
        </p:txBody>
      </p:sp>
      <p:sp>
        <p:nvSpPr>
          <p:cNvPr id="2" name="Rectángulo 1">
            <a:extLst>
              <a:ext uri="{FF2B5EF4-FFF2-40B4-BE49-F238E27FC236}">
                <a16:creationId xmlns:a16="http://schemas.microsoft.com/office/drawing/2014/main" id="{E19F1C21-00CC-1C32-B3D9-02AB43BE435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 name="Picture 2" descr="Clientes y aliados | Centro de Evaluación | Uniandes">
            <a:extLst>
              <a:ext uri="{FF2B5EF4-FFF2-40B4-BE49-F238E27FC236}">
                <a16:creationId xmlns:a16="http://schemas.microsoft.com/office/drawing/2014/main" id="{18939CEC-D7B4-033D-8912-BF98BC45883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A1B9CE03-D06E-CC8C-7596-8573383904EC}"/>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6" name="Título 1">
            <a:extLst>
              <a:ext uri="{FF2B5EF4-FFF2-40B4-BE49-F238E27FC236}">
                <a16:creationId xmlns:a16="http://schemas.microsoft.com/office/drawing/2014/main" id="{F3A6B6E1-CB4B-01F7-D31C-ECACE18E4A36}"/>
              </a:ext>
            </a:extLst>
          </p:cNvPr>
          <p:cNvSpPr>
            <a:spLocks noGrp="1"/>
          </p:cNvSpPr>
          <p:nvPr>
            <p:ph type="title"/>
          </p:nvPr>
        </p:nvSpPr>
        <p:spPr>
          <a:xfrm>
            <a:off x="581192" y="702156"/>
            <a:ext cx="11029616" cy="1013800"/>
          </a:xfrm>
        </p:spPr>
        <p:txBody>
          <a:bodyPr>
            <a:normAutofit/>
          </a:bodyPr>
          <a:lstStyle/>
          <a:p>
            <a:r>
              <a:rPr lang="es-ES">
                <a:latin typeface="Century Gothic" panose="020B0502020202020204" pitchFamily="34" charset="0"/>
              </a:rPr>
              <a:t>Evaluación de proyectos</a:t>
            </a:r>
          </a:p>
        </p:txBody>
      </p:sp>
      <p:cxnSp>
        <p:nvCxnSpPr>
          <p:cNvPr id="7" name="Straight Connector 5">
            <a:extLst>
              <a:ext uri="{FF2B5EF4-FFF2-40B4-BE49-F238E27FC236}">
                <a16:creationId xmlns:a16="http://schemas.microsoft.com/office/drawing/2014/main" id="{80D83CA5-0F42-BF37-07D2-E0FB63F794DD}"/>
              </a:ext>
            </a:extLst>
          </p:cNvPr>
          <p:cNvCxnSpPr/>
          <p:nvPr/>
        </p:nvCxnSpPr>
        <p:spPr>
          <a:xfrm>
            <a:off x="3637769" y="5068344"/>
            <a:ext cx="3011871"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 name="Straight Arrow Connector 6">
            <a:extLst>
              <a:ext uri="{FF2B5EF4-FFF2-40B4-BE49-F238E27FC236}">
                <a16:creationId xmlns:a16="http://schemas.microsoft.com/office/drawing/2014/main" id="{F4E1902D-17BB-600F-0C71-19AEF626F1FB}"/>
              </a:ext>
            </a:extLst>
          </p:cNvPr>
          <p:cNvCxnSpPr/>
          <p:nvPr/>
        </p:nvCxnSpPr>
        <p:spPr>
          <a:xfrm>
            <a:off x="3637768" y="5068346"/>
            <a:ext cx="0" cy="1043463"/>
          </a:xfrm>
          <a:prstGeom prst="straightConnector1">
            <a:avLst/>
          </a:prstGeom>
          <a:ln w="38100">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9" name="Rectangle 12">
            <a:extLst>
              <a:ext uri="{FF2B5EF4-FFF2-40B4-BE49-F238E27FC236}">
                <a16:creationId xmlns:a16="http://schemas.microsoft.com/office/drawing/2014/main" id="{9EE2CAD4-B780-34A0-5F47-20C3467828F6}"/>
              </a:ext>
            </a:extLst>
          </p:cNvPr>
          <p:cNvSpPr>
            <a:spLocks/>
          </p:cNvSpPr>
          <p:nvPr/>
        </p:nvSpPr>
        <p:spPr bwMode="auto">
          <a:xfrm flipH="1">
            <a:off x="3590654" y="4789265"/>
            <a:ext cx="131729"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1600"/>
              <a:t>0</a:t>
            </a:r>
          </a:p>
        </p:txBody>
      </p:sp>
      <p:sp>
        <p:nvSpPr>
          <p:cNvPr id="11" name="Rectangle 13">
            <a:extLst>
              <a:ext uri="{FF2B5EF4-FFF2-40B4-BE49-F238E27FC236}">
                <a16:creationId xmlns:a16="http://schemas.microsoft.com/office/drawing/2014/main" id="{174CD510-760D-75EC-9354-5A567E2E042A}"/>
              </a:ext>
            </a:extLst>
          </p:cNvPr>
          <p:cNvSpPr>
            <a:spLocks/>
          </p:cNvSpPr>
          <p:nvPr/>
        </p:nvSpPr>
        <p:spPr bwMode="auto">
          <a:xfrm>
            <a:off x="4005791" y="5081173"/>
            <a:ext cx="337060"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1600"/>
              <a:t>1</a:t>
            </a:r>
          </a:p>
        </p:txBody>
      </p:sp>
      <p:cxnSp>
        <p:nvCxnSpPr>
          <p:cNvPr id="12" name="Straight Arrow Connector 7">
            <a:extLst>
              <a:ext uri="{FF2B5EF4-FFF2-40B4-BE49-F238E27FC236}">
                <a16:creationId xmlns:a16="http://schemas.microsoft.com/office/drawing/2014/main" id="{FCD69DE3-FC84-EE9F-BA0F-61B0DA9024DE}"/>
              </a:ext>
            </a:extLst>
          </p:cNvPr>
          <p:cNvCxnSpPr/>
          <p:nvPr/>
        </p:nvCxnSpPr>
        <p:spPr>
          <a:xfrm flipV="1">
            <a:off x="4171251" y="4497539"/>
            <a:ext cx="0" cy="583524"/>
          </a:xfrm>
          <a:prstGeom prst="straightConnector1">
            <a:avLst/>
          </a:prstGeom>
          <a:ln w="38100">
            <a:solidFill>
              <a:srgbClr val="00B050"/>
            </a:solidFill>
            <a:tailEnd type="arrow"/>
          </a:ln>
        </p:spPr>
        <p:style>
          <a:lnRef idx="2">
            <a:schemeClr val="accent1"/>
          </a:lnRef>
          <a:fillRef idx="0">
            <a:schemeClr val="accent1"/>
          </a:fillRef>
          <a:effectRef idx="1">
            <a:schemeClr val="accent1"/>
          </a:effectRef>
          <a:fontRef idx="minor">
            <a:schemeClr val="tx1"/>
          </a:fontRef>
        </p:style>
      </p:cxnSp>
      <p:cxnSp>
        <p:nvCxnSpPr>
          <p:cNvPr id="13" name="Straight Arrow Connector 7">
            <a:extLst>
              <a:ext uri="{FF2B5EF4-FFF2-40B4-BE49-F238E27FC236}">
                <a16:creationId xmlns:a16="http://schemas.microsoft.com/office/drawing/2014/main" id="{914CADA0-6BC5-375B-FB27-F4A918E949FF}"/>
              </a:ext>
            </a:extLst>
          </p:cNvPr>
          <p:cNvCxnSpPr/>
          <p:nvPr/>
        </p:nvCxnSpPr>
        <p:spPr>
          <a:xfrm flipV="1">
            <a:off x="4785501" y="4491203"/>
            <a:ext cx="0" cy="589860"/>
          </a:xfrm>
          <a:prstGeom prst="straightConnector1">
            <a:avLst/>
          </a:prstGeom>
          <a:ln w="38100">
            <a:solidFill>
              <a:srgbClr val="00B050"/>
            </a:solidFill>
            <a:tailEnd type="arrow"/>
          </a:ln>
        </p:spPr>
        <p:style>
          <a:lnRef idx="2">
            <a:schemeClr val="accent1"/>
          </a:lnRef>
          <a:fillRef idx="0">
            <a:schemeClr val="accent1"/>
          </a:fillRef>
          <a:effectRef idx="1">
            <a:schemeClr val="accent1"/>
          </a:effectRef>
          <a:fontRef idx="minor">
            <a:schemeClr val="tx1"/>
          </a:fontRef>
        </p:style>
      </p:cxnSp>
      <p:cxnSp>
        <p:nvCxnSpPr>
          <p:cNvPr id="14" name="Straight Arrow Connector 7">
            <a:extLst>
              <a:ext uri="{FF2B5EF4-FFF2-40B4-BE49-F238E27FC236}">
                <a16:creationId xmlns:a16="http://schemas.microsoft.com/office/drawing/2014/main" id="{7C18D505-AB13-865D-2B8D-87C1D045B731}"/>
              </a:ext>
            </a:extLst>
          </p:cNvPr>
          <p:cNvCxnSpPr/>
          <p:nvPr/>
        </p:nvCxnSpPr>
        <p:spPr>
          <a:xfrm flipV="1">
            <a:off x="5426081" y="4491203"/>
            <a:ext cx="0" cy="589860"/>
          </a:xfrm>
          <a:prstGeom prst="straightConnector1">
            <a:avLst/>
          </a:prstGeom>
          <a:ln w="38100">
            <a:solidFill>
              <a:srgbClr val="00B050"/>
            </a:solidFill>
            <a:tailEnd type="arrow"/>
          </a:ln>
        </p:spPr>
        <p:style>
          <a:lnRef idx="2">
            <a:schemeClr val="accent1"/>
          </a:lnRef>
          <a:fillRef idx="0">
            <a:schemeClr val="accent1"/>
          </a:fillRef>
          <a:effectRef idx="1">
            <a:schemeClr val="accent1"/>
          </a:effectRef>
          <a:fontRef idx="minor">
            <a:schemeClr val="tx1"/>
          </a:fontRef>
        </p:style>
      </p:cxnSp>
      <p:cxnSp>
        <p:nvCxnSpPr>
          <p:cNvPr id="15" name="Straight Arrow Connector 7">
            <a:extLst>
              <a:ext uri="{FF2B5EF4-FFF2-40B4-BE49-F238E27FC236}">
                <a16:creationId xmlns:a16="http://schemas.microsoft.com/office/drawing/2014/main" id="{7C6B48D4-8035-DBB7-01EE-F58EE98E6D80}"/>
              </a:ext>
            </a:extLst>
          </p:cNvPr>
          <p:cNvCxnSpPr/>
          <p:nvPr/>
        </p:nvCxnSpPr>
        <p:spPr>
          <a:xfrm flipV="1">
            <a:off x="6649639" y="4486464"/>
            <a:ext cx="0" cy="581880"/>
          </a:xfrm>
          <a:prstGeom prst="straightConnector1">
            <a:avLst/>
          </a:prstGeom>
          <a:ln w="38100">
            <a:solidFill>
              <a:srgbClr val="00B050"/>
            </a:solidFill>
            <a:tailEnd type="arrow"/>
          </a:ln>
        </p:spPr>
        <p:style>
          <a:lnRef idx="2">
            <a:schemeClr val="accent1"/>
          </a:lnRef>
          <a:fillRef idx="0">
            <a:schemeClr val="accent1"/>
          </a:fillRef>
          <a:effectRef idx="1">
            <a:schemeClr val="accent1"/>
          </a:effectRef>
          <a:fontRef idx="minor">
            <a:schemeClr val="tx1"/>
          </a:fontRef>
        </p:style>
      </p:cxnSp>
      <p:sp>
        <p:nvSpPr>
          <p:cNvPr id="16" name="Rectangle 13">
            <a:extLst>
              <a:ext uri="{FF2B5EF4-FFF2-40B4-BE49-F238E27FC236}">
                <a16:creationId xmlns:a16="http://schemas.microsoft.com/office/drawing/2014/main" id="{C37F0073-75C3-0D43-15B9-7258AE6023CF}"/>
              </a:ext>
            </a:extLst>
          </p:cNvPr>
          <p:cNvSpPr>
            <a:spLocks/>
          </p:cNvSpPr>
          <p:nvPr/>
        </p:nvSpPr>
        <p:spPr bwMode="auto">
          <a:xfrm>
            <a:off x="4616971" y="5068345"/>
            <a:ext cx="337060"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1600"/>
              <a:t>2</a:t>
            </a:r>
          </a:p>
        </p:txBody>
      </p:sp>
      <p:sp>
        <p:nvSpPr>
          <p:cNvPr id="17" name="Rectangle 13">
            <a:extLst>
              <a:ext uri="{FF2B5EF4-FFF2-40B4-BE49-F238E27FC236}">
                <a16:creationId xmlns:a16="http://schemas.microsoft.com/office/drawing/2014/main" id="{5AEFA77C-988C-09F3-0ADD-9548EDCF1BE7}"/>
              </a:ext>
            </a:extLst>
          </p:cNvPr>
          <p:cNvSpPr>
            <a:spLocks/>
          </p:cNvSpPr>
          <p:nvPr/>
        </p:nvSpPr>
        <p:spPr bwMode="auto">
          <a:xfrm>
            <a:off x="5244722" y="5081064"/>
            <a:ext cx="337060"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1600"/>
              <a:t>3</a:t>
            </a:r>
          </a:p>
        </p:txBody>
      </p:sp>
      <p:sp>
        <p:nvSpPr>
          <p:cNvPr id="18" name="Rectangle 13">
            <a:extLst>
              <a:ext uri="{FF2B5EF4-FFF2-40B4-BE49-F238E27FC236}">
                <a16:creationId xmlns:a16="http://schemas.microsoft.com/office/drawing/2014/main" id="{155BA9AA-FF2B-0A91-8722-79C7AE116C80}"/>
              </a:ext>
            </a:extLst>
          </p:cNvPr>
          <p:cNvSpPr>
            <a:spLocks/>
          </p:cNvSpPr>
          <p:nvPr/>
        </p:nvSpPr>
        <p:spPr bwMode="auto">
          <a:xfrm>
            <a:off x="5879687" y="5068345"/>
            <a:ext cx="337060"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1600"/>
              <a:t>…</a:t>
            </a:r>
          </a:p>
        </p:txBody>
      </p:sp>
      <p:sp>
        <p:nvSpPr>
          <p:cNvPr id="19" name="Rectangle 13">
            <a:extLst>
              <a:ext uri="{FF2B5EF4-FFF2-40B4-BE49-F238E27FC236}">
                <a16:creationId xmlns:a16="http://schemas.microsoft.com/office/drawing/2014/main" id="{E131969B-FD4B-FF0B-6E14-3B70F4195D3D}"/>
              </a:ext>
            </a:extLst>
          </p:cNvPr>
          <p:cNvSpPr>
            <a:spLocks/>
          </p:cNvSpPr>
          <p:nvPr/>
        </p:nvSpPr>
        <p:spPr bwMode="auto">
          <a:xfrm>
            <a:off x="6481109" y="5070617"/>
            <a:ext cx="337060"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1600"/>
              <a:t>n</a:t>
            </a:r>
          </a:p>
        </p:txBody>
      </p:sp>
      <p:sp>
        <p:nvSpPr>
          <p:cNvPr id="20" name="CuadroTexto 19">
            <a:extLst>
              <a:ext uri="{FF2B5EF4-FFF2-40B4-BE49-F238E27FC236}">
                <a16:creationId xmlns:a16="http://schemas.microsoft.com/office/drawing/2014/main" id="{9A5D85BF-EA8B-637A-F397-90AA96758E06}"/>
              </a:ext>
            </a:extLst>
          </p:cNvPr>
          <p:cNvSpPr txBox="1"/>
          <p:nvPr/>
        </p:nvSpPr>
        <p:spPr>
          <a:xfrm>
            <a:off x="7227827" y="4935240"/>
            <a:ext cx="1093504" cy="369332"/>
          </a:xfrm>
          <a:prstGeom prst="rect">
            <a:avLst/>
          </a:prstGeom>
          <a:noFill/>
        </p:spPr>
        <p:txBody>
          <a:bodyPr wrap="none" rtlCol="0">
            <a:spAutoFit/>
          </a:bodyPr>
          <a:lstStyle/>
          <a:p>
            <a:r>
              <a:rPr lang="es-ES" b="1"/>
              <a:t>C.O.= x%</a:t>
            </a:r>
          </a:p>
        </p:txBody>
      </p:sp>
      <p:sp>
        <p:nvSpPr>
          <p:cNvPr id="21" name="CuadroTexto 20">
            <a:extLst>
              <a:ext uri="{FF2B5EF4-FFF2-40B4-BE49-F238E27FC236}">
                <a16:creationId xmlns:a16="http://schemas.microsoft.com/office/drawing/2014/main" id="{D02037A8-A536-950F-BE22-682D41C0503F}"/>
              </a:ext>
            </a:extLst>
          </p:cNvPr>
          <p:cNvSpPr txBox="1"/>
          <p:nvPr/>
        </p:nvSpPr>
        <p:spPr>
          <a:xfrm rot="2152249">
            <a:off x="7675719" y="4683624"/>
            <a:ext cx="873062" cy="1015663"/>
          </a:xfrm>
          <a:prstGeom prst="rect">
            <a:avLst/>
          </a:prstGeom>
          <a:noFill/>
        </p:spPr>
        <p:txBody>
          <a:bodyPr wrap="square" rtlCol="0">
            <a:spAutoFit/>
          </a:bodyPr>
          <a:lstStyle/>
          <a:p>
            <a:r>
              <a:rPr lang="es-ES" sz="6000" b="1">
                <a:solidFill>
                  <a:srgbClr val="800000"/>
                </a:solidFill>
                <a:latin typeface="Arial"/>
                <a:cs typeface="Arial"/>
              </a:rPr>
              <a:t>?</a:t>
            </a:r>
          </a:p>
        </p:txBody>
      </p:sp>
      <p:sp>
        <p:nvSpPr>
          <p:cNvPr id="22" name="Marcador de número de diapositiva 3">
            <a:extLst>
              <a:ext uri="{FF2B5EF4-FFF2-40B4-BE49-F238E27FC236}">
                <a16:creationId xmlns:a16="http://schemas.microsoft.com/office/drawing/2014/main" id="{5564D164-9D04-D487-00E1-997AFB20C3FF}"/>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4</a:t>
            </a:fld>
            <a:endParaRPr lang="en-US" sz="2000" b="1">
              <a:latin typeface="Century Gothic" panose="020B0502020202020204" pitchFamily="34" charset="0"/>
            </a:endParaRPr>
          </a:p>
        </p:txBody>
      </p:sp>
    </p:spTree>
    <p:extLst>
      <p:ext uri="{BB962C8B-B14F-4D97-AF65-F5344CB8AC3E}">
        <p14:creationId xmlns:p14="http://schemas.microsoft.com/office/powerpoint/2010/main" val="40434719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6" grpId="0"/>
      <p:bldP spid="17" grpId="0"/>
      <p:bldP spid="18" grpId="0"/>
      <p:bldP spid="19" grpId="0"/>
      <p:bldP spid="20" grpId="0"/>
      <p:bldP spid="2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a:latin typeface="Century Gothic" panose="020B0502020202020204" pitchFamily="34" charset="0"/>
              </a:rPr>
              <a:t>El costo de capital y la financiación de proyectos </a:t>
            </a:r>
          </a:p>
        </p:txBody>
      </p:sp>
      <p:sp>
        <p:nvSpPr>
          <p:cNvPr id="3" name="Marcador de contenido 2"/>
          <p:cNvSpPr>
            <a:spLocks noGrp="1"/>
          </p:cNvSpPr>
          <p:nvPr>
            <p:ph idx="1"/>
          </p:nvPr>
        </p:nvSpPr>
        <p:spPr>
          <a:xfrm>
            <a:off x="581192" y="1989939"/>
            <a:ext cx="11029615" cy="1363663"/>
          </a:xfrm>
        </p:spPr>
        <p:txBody>
          <a:bodyPr>
            <a:normAutofit/>
          </a:bodyPr>
          <a:lstStyle/>
          <a:p>
            <a:pPr algn="just"/>
            <a:r>
              <a:rPr lang="es-ES">
                <a:solidFill>
                  <a:schemeClr val="accent1"/>
                </a:solidFill>
                <a:latin typeface="Century Gothic" panose="020B0502020202020204" pitchFamily="34" charset="0"/>
              </a:rPr>
              <a:t>En esta parte del curso se darán las herramientas necesarias para construir la </a:t>
            </a:r>
            <a:r>
              <a:rPr lang="es-ES" b="1">
                <a:solidFill>
                  <a:srgbClr val="D7A700"/>
                </a:solidFill>
                <a:latin typeface="Century Gothic" panose="020B0502020202020204" pitchFamily="34" charset="0"/>
              </a:rPr>
              <a:t>tasa de descuento o costo de oportunidad</a:t>
            </a:r>
            <a:r>
              <a:rPr lang="es-ES">
                <a:solidFill>
                  <a:schemeClr val="accent1"/>
                </a:solidFill>
                <a:latin typeface="Century Gothic" panose="020B0502020202020204" pitchFamily="34" charset="0"/>
              </a:rPr>
              <a:t> propia de un inversionista que en el lenguaje financiero se conoce como Costo Promedio Ponderado de Capital (CPPC) o WACC (</a:t>
            </a:r>
            <a:r>
              <a:rPr lang="es-ES" err="1">
                <a:solidFill>
                  <a:schemeClr val="accent1"/>
                </a:solidFill>
                <a:latin typeface="Century Gothic" panose="020B0502020202020204" pitchFamily="34" charset="0"/>
              </a:rPr>
              <a:t>Weighted</a:t>
            </a:r>
            <a:r>
              <a:rPr lang="es-ES">
                <a:solidFill>
                  <a:schemeClr val="accent1"/>
                </a:solidFill>
                <a:latin typeface="Century Gothic" panose="020B0502020202020204" pitchFamily="34" charset="0"/>
              </a:rPr>
              <a:t> </a:t>
            </a:r>
            <a:r>
              <a:rPr lang="es-ES" err="1">
                <a:solidFill>
                  <a:schemeClr val="accent1"/>
                </a:solidFill>
                <a:latin typeface="Century Gothic" panose="020B0502020202020204" pitchFamily="34" charset="0"/>
              </a:rPr>
              <a:t>Average</a:t>
            </a:r>
            <a:r>
              <a:rPr lang="es-ES">
                <a:solidFill>
                  <a:schemeClr val="accent1"/>
                </a:solidFill>
                <a:latin typeface="Century Gothic" panose="020B0502020202020204" pitchFamily="34" charset="0"/>
              </a:rPr>
              <a:t> </a:t>
            </a:r>
            <a:r>
              <a:rPr lang="es-ES" err="1">
                <a:solidFill>
                  <a:schemeClr val="accent1"/>
                </a:solidFill>
                <a:latin typeface="Century Gothic" panose="020B0502020202020204" pitchFamily="34" charset="0"/>
              </a:rPr>
              <a:t>Cost</a:t>
            </a:r>
            <a:r>
              <a:rPr lang="es-ES">
                <a:solidFill>
                  <a:schemeClr val="accent1"/>
                </a:solidFill>
                <a:latin typeface="Century Gothic" panose="020B0502020202020204" pitchFamily="34" charset="0"/>
              </a:rPr>
              <a:t> </a:t>
            </a:r>
            <a:r>
              <a:rPr lang="es-ES" err="1">
                <a:solidFill>
                  <a:schemeClr val="accent1"/>
                </a:solidFill>
                <a:latin typeface="Century Gothic" panose="020B0502020202020204" pitchFamily="34" charset="0"/>
              </a:rPr>
              <a:t>of</a:t>
            </a:r>
            <a:r>
              <a:rPr lang="es-ES">
                <a:solidFill>
                  <a:schemeClr val="accent1"/>
                </a:solidFill>
                <a:latin typeface="Century Gothic" panose="020B0502020202020204" pitchFamily="34" charset="0"/>
              </a:rPr>
              <a:t> Capital).</a:t>
            </a:r>
          </a:p>
        </p:txBody>
      </p:sp>
      <p:sp>
        <p:nvSpPr>
          <p:cNvPr id="7" name="Rectángulo 6">
            <a:extLst>
              <a:ext uri="{FF2B5EF4-FFF2-40B4-BE49-F238E27FC236}">
                <a16:creationId xmlns:a16="http://schemas.microsoft.com/office/drawing/2014/main" id="{39A7B292-D3CC-311A-888F-AD1597C94623}"/>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25" name="Picture 2" descr="Clientes y aliados | Centro de Evaluación | Uniandes">
            <a:extLst>
              <a:ext uri="{FF2B5EF4-FFF2-40B4-BE49-F238E27FC236}">
                <a16:creationId xmlns:a16="http://schemas.microsoft.com/office/drawing/2014/main" id="{AB59226C-53F2-1487-0BC4-E51CF31B83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9" name="Rectángulo 18">
            <a:extLst>
              <a:ext uri="{FF2B5EF4-FFF2-40B4-BE49-F238E27FC236}">
                <a16:creationId xmlns:a16="http://schemas.microsoft.com/office/drawing/2014/main" id="{227535E7-F6CB-5948-8523-5470B4F9833F}"/>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24" name="TextBox 23">
            <a:extLst>
              <a:ext uri="{FF2B5EF4-FFF2-40B4-BE49-F238E27FC236}">
                <a16:creationId xmlns:a16="http://schemas.microsoft.com/office/drawing/2014/main" id="{64766716-7601-045D-D860-F4993B9CA145}"/>
              </a:ext>
            </a:extLst>
          </p:cNvPr>
          <p:cNvSpPr txBox="1"/>
          <p:nvPr/>
        </p:nvSpPr>
        <p:spPr>
          <a:xfrm>
            <a:off x="581191" y="3627585"/>
            <a:ext cx="11029615" cy="1200329"/>
          </a:xfrm>
          <a:prstGeom prst="rect">
            <a:avLst/>
          </a:prstGeom>
          <a:noFill/>
        </p:spPr>
        <p:txBody>
          <a:bodyPr wrap="square">
            <a:spAutoFit/>
          </a:bodyPr>
          <a:lstStyle/>
          <a:p>
            <a:pPr marL="306000" indent="-306000" algn="just">
              <a:spcBef>
                <a:spcPct val="20000"/>
              </a:spcBef>
              <a:spcAft>
                <a:spcPts val="600"/>
              </a:spcAft>
              <a:buClr>
                <a:schemeClr val="accent2"/>
              </a:buClr>
              <a:buSzPct val="92000"/>
              <a:buFont typeface="Wingdings 2" panose="05020102010507070707" pitchFamily="18" charset="2"/>
              <a:buChar char=""/>
            </a:pPr>
            <a:r>
              <a:rPr lang="es-ES">
                <a:solidFill>
                  <a:schemeClr val="accent1"/>
                </a:solidFill>
                <a:latin typeface="Century Gothic" panose="020B0502020202020204" pitchFamily="34" charset="0"/>
              </a:rPr>
              <a:t>Conceptualmente la tasa de descuento, C.O. o tasa de interés de oportunidad (T.I.O.), corresponde a la </a:t>
            </a:r>
            <a:r>
              <a:rPr lang="es-ES" b="1">
                <a:solidFill>
                  <a:srgbClr val="D7A700"/>
                </a:solidFill>
                <a:latin typeface="Century Gothic" panose="020B0502020202020204" pitchFamily="34" charset="0"/>
              </a:rPr>
              <a:t>rentabilidad mínima requerida por un inversionista para considerar atractivo un proyecto/inversión</a:t>
            </a:r>
            <a:r>
              <a:rPr lang="es-ES">
                <a:solidFill>
                  <a:schemeClr val="accent1"/>
                </a:solidFill>
                <a:latin typeface="Century Gothic" panose="020B0502020202020204" pitchFamily="34" charset="0"/>
              </a:rPr>
              <a:t>. Esta es la razón por la cual es también conocida como la TREMA (Tasa de Rentabilidad Mínima Aceptable).</a:t>
            </a:r>
          </a:p>
        </p:txBody>
      </p:sp>
      <p:sp>
        <p:nvSpPr>
          <p:cNvPr id="5" name="Marcador de número de diapositiva 3">
            <a:extLst>
              <a:ext uri="{FF2B5EF4-FFF2-40B4-BE49-F238E27FC236}">
                <a16:creationId xmlns:a16="http://schemas.microsoft.com/office/drawing/2014/main" id="{5ADD838D-4710-6B0D-7CFD-D30710D601BF}"/>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5</a:t>
            </a:fld>
            <a:endParaRPr lang="en-US" sz="2000" b="1">
              <a:latin typeface="Century Gothic" panose="020B0502020202020204" pitchFamily="34" charset="0"/>
            </a:endParaRPr>
          </a:p>
        </p:txBody>
      </p:sp>
    </p:spTree>
    <p:extLst>
      <p:ext uri="{BB962C8B-B14F-4D97-AF65-F5344CB8AC3E}">
        <p14:creationId xmlns:p14="http://schemas.microsoft.com/office/powerpoint/2010/main" val="16590820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a:latin typeface="Century Gothic" panose="020B0502020202020204" pitchFamily="34" charset="0"/>
              </a:rPr>
              <a:t>El costo de capital y la financiación de proyectos </a:t>
            </a:r>
          </a:p>
        </p:txBody>
      </p:sp>
      <p:sp>
        <p:nvSpPr>
          <p:cNvPr id="3" name="Marcador de contenido 2"/>
          <p:cNvSpPr>
            <a:spLocks noGrp="1"/>
          </p:cNvSpPr>
          <p:nvPr>
            <p:ph idx="1"/>
          </p:nvPr>
        </p:nvSpPr>
        <p:spPr>
          <a:xfrm>
            <a:off x="6236209" y="1815371"/>
            <a:ext cx="5501164" cy="4140766"/>
          </a:xfrm>
        </p:spPr>
        <p:txBody>
          <a:bodyPr>
            <a:normAutofit/>
          </a:bodyPr>
          <a:lstStyle/>
          <a:p>
            <a:pPr marL="0" indent="0" algn="just">
              <a:buNone/>
            </a:pPr>
            <a:r>
              <a:rPr lang="es-ES" b="1">
                <a:solidFill>
                  <a:schemeClr val="accent1"/>
                </a:solidFill>
                <a:latin typeface="Century Gothic" panose="020B0502020202020204" pitchFamily="34" charset="0"/>
              </a:rPr>
              <a:t>Recordemos …</a:t>
            </a:r>
            <a:r>
              <a:rPr lang="es-ES">
                <a:solidFill>
                  <a:schemeClr val="accent1"/>
                </a:solidFill>
                <a:latin typeface="Century Gothic" panose="020B0502020202020204" pitchFamily="34" charset="0"/>
              </a:rPr>
              <a:t> </a:t>
            </a:r>
          </a:p>
          <a:p>
            <a:pPr algn="just"/>
            <a:r>
              <a:rPr lang="es-ES">
                <a:solidFill>
                  <a:schemeClr val="accent1"/>
                </a:solidFill>
                <a:latin typeface="Century Gothic" panose="020B0502020202020204" pitchFamily="34" charset="0"/>
              </a:rPr>
              <a:t>El objetivo que abordaremos ahora será el de construir el costo de oportunidad para un determinado proyecto. Recordemos los costos de oportunidad para cada agente económico.</a:t>
            </a:r>
          </a:p>
        </p:txBody>
      </p:sp>
      <p:sp>
        <p:nvSpPr>
          <p:cNvPr id="9" name="Rectángulo 8">
            <a:extLst>
              <a:ext uri="{FF2B5EF4-FFF2-40B4-BE49-F238E27FC236}">
                <a16:creationId xmlns:a16="http://schemas.microsoft.com/office/drawing/2014/main" id="{43C9F453-E6D4-12B5-16E7-73043FD3F10A}"/>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B350F97A-C8D3-5489-58C5-0FE88EF8C3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0709D5D4-D6EA-D984-54F1-3CE96F4E5880}"/>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6" name="AutoShape 4">
            <a:extLst>
              <a:ext uri="{FF2B5EF4-FFF2-40B4-BE49-F238E27FC236}">
                <a16:creationId xmlns:a16="http://schemas.microsoft.com/office/drawing/2014/main" id="{BE625488-C968-0F77-FCDA-A44C416E2060}"/>
              </a:ext>
            </a:extLst>
          </p:cNvPr>
          <p:cNvSpPr>
            <a:spLocks/>
          </p:cNvSpPr>
          <p:nvPr/>
        </p:nvSpPr>
        <p:spPr bwMode="auto">
          <a:xfrm>
            <a:off x="875261" y="2575075"/>
            <a:ext cx="4434470" cy="2830513"/>
          </a:xfrm>
          <a:prstGeom prst="triangle">
            <a:avLst>
              <a:gd name="adj" fmla="val 50000"/>
            </a:avLst>
          </a:prstGeom>
          <a:solidFill>
            <a:schemeClr val="bg1">
              <a:lumMod val="75000"/>
            </a:schemeClr>
          </a:solidFill>
          <a:ln w="25400">
            <a:solidFill>
              <a:srgbClr val="362B28">
                <a:alpha val="52940"/>
              </a:srgbClr>
            </a:solidFill>
            <a:miter lim="800000"/>
            <a:headEnd/>
            <a:tailEnd/>
          </a:ln>
        </p:spPr>
        <p:txBody>
          <a:bodyPr/>
          <a:lstStyle/>
          <a:p>
            <a:pPr algn="ctr"/>
            <a:endParaRPr lang="es-CO" noProof="0">
              <a:solidFill>
                <a:schemeClr val="bg1"/>
              </a:solidFill>
              <a:latin typeface="Century Gothic" panose="020B0502020202020204" pitchFamily="34" charset="0"/>
            </a:endParaRPr>
          </a:p>
        </p:txBody>
      </p:sp>
      <p:sp>
        <p:nvSpPr>
          <p:cNvPr id="8" name="AutoShape 5">
            <a:extLst>
              <a:ext uri="{FF2B5EF4-FFF2-40B4-BE49-F238E27FC236}">
                <a16:creationId xmlns:a16="http://schemas.microsoft.com/office/drawing/2014/main" id="{E47E3DB6-F1E2-CBCD-663A-79C80E6C28B7}"/>
              </a:ext>
            </a:extLst>
          </p:cNvPr>
          <p:cNvSpPr>
            <a:spLocks/>
          </p:cNvSpPr>
          <p:nvPr/>
        </p:nvSpPr>
        <p:spPr bwMode="auto">
          <a:xfrm>
            <a:off x="2037953" y="2543080"/>
            <a:ext cx="2091156" cy="1368081"/>
          </a:xfrm>
          <a:prstGeom prst="triangle">
            <a:avLst>
              <a:gd name="adj" fmla="val 50000"/>
            </a:avLst>
          </a:prstGeom>
          <a:solidFill>
            <a:schemeClr val="bg1">
              <a:lumMod val="75000"/>
            </a:schemeClr>
          </a:solidFill>
          <a:ln w="25400">
            <a:solidFill>
              <a:srgbClr val="362B28">
                <a:alpha val="52156"/>
              </a:srgbClr>
            </a:solidFill>
            <a:miter lim="800000"/>
            <a:headEnd/>
            <a:tailEnd/>
          </a:ln>
        </p:spPr>
        <p:txBody>
          <a:bodyPr/>
          <a:lstStyle/>
          <a:p>
            <a:pPr algn="ctr"/>
            <a:endParaRPr lang="es-CO" noProof="0">
              <a:solidFill>
                <a:schemeClr val="bg1"/>
              </a:solidFill>
              <a:latin typeface="Century Gothic" panose="020B0502020202020204" pitchFamily="34" charset="0"/>
            </a:endParaRPr>
          </a:p>
        </p:txBody>
      </p:sp>
      <p:grpSp>
        <p:nvGrpSpPr>
          <p:cNvPr id="10" name="Group 9">
            <a:extLst>
              <a:ext uri="{FF2B5EF4-FFF2-40B4-BE49-F238E27FC236}">
                <a16:creationId xmlns:a16="http://schemas.microsoft.com/office/drawing/2014/main" id="{8828F096-B56A-2DC9-F50D-123C756BB3F9}"/>
              </a:ext>
            </a:extLst>
          </p:cNvPr>
          <p:cNvGrpSpPr>
            <a:grpSpLocks/>
          </p:cNvGrpSpPr>
          <p:nvPr/>
        </p:nvGrpSpPr>
        <p:grpSpPr bwMode="auto">
          <a:xfrm>
            <a:off x="1450786" y="3458209"/>
            <a:ext cx="3292829" cy="1751381"/>
            <a:chOff x="-13" y="532"/>
            <a:chExt cx="2792" cy="1485"/>
          </a:xfrm>
        </p:grpSpPr>
        <p:grpSp>
          <p:nvGrpSpPr>
            <p:cNvPr id="12" name="Group 8">
              <a:extLst>
                <a:ext uri="{FF2B5EF4-FFF2-40B4-BE49-F238E27FC236}">
                  <a16:creationId xmlns:a16="http://schemas.microsoft.com/office/drawing/2014/main" id="{248D8F84-DF4B-15BD-1BC1-9F48ADDE0D50}"/>
                </a:ext>
              </a:extLst>
            </p:cNvPr>
            <p:cNvGrpSpPr>
              <a:grpSpLocks/>
            </p:cNvGrpSpPr>
            <p:nvPr/>
          </p:nvGrpSpPr>
          <p:grpSpPr bwMode="auto">
            <a:xfrm>
              <a:off x="-13" y="1104"/>
              <a:ext cx="2792" cy="913"/>
              <a:chOff x="-146" y="-88"/>
              <a:chExt cx="2792" cy="913"/>
            </a:xfrm>
          </p:grpSpPr>
          <p:sp>
            <p:nvSpPr>
              <p:cNvPr id="14" name="Line 9">
                <a:extLst>
                  <a:ext uri="{FF2B5EF4-FFF2-40B4-BE49-F238E27FC236}">
                    <a16:creationId xmlns:a16="http://schemas.microsoft.com/office/drawing/2014/main" id="{E9EF1FAB-C2CE-DD6C-35F3-40B2960383C4}"/>
                  </a:ext>
                </a:extLst>
              </p:cNvPr>
              <p:cNvSpPr>
                <a:spLocks noChangeShapeType="1"/>
              </p:cNvSpPr>
              <p:nvPr/>
            </p:nvSpPr>
            <p:spPr bwMode="auto">
              <a:xfrm>
                <a:off x="-146" y="363"/>
                <a:ext cx="2792" cy="7"/>
              </a:xfrm>
              <a:prstGeom prst="line">
                <a:avLst/>
              </a:prstGeom>
              <a:noFill/>
              <a:ln w="25400">
                <a:solidFill>
                  <a:srgbClr val="362B28"/>
                </a:solidFill>
                <a:round/>
                <a:headEnd/>
                <a:tailEnd/>
              </a:ln>
              <a:extLst>
                <a:ext uri="{909E8E84-426E-40dd-AFC4-6F175D3DCCD1}">
                  <a14:hiddenFill xmlns:a14="http://schemas.microsoft.com/office/drawing/2010/main" xmlns="">
                    <a:noFill/>
                  </a14:hiddenFill>
                </a:ext>
              </a:extLst>
            </p:spPr>
            <p:txBody>
              <a:bodyPr/>
              <a:lstStyle/>
              <a:p>
                <a:pPr algn="ctr"/>
                <a:endParaRPr lang="es-CO" noProof="0">
                  <a:latin typeface="Century Gothic" panose="020B0502020202020204" pitchFamily="34" charset="0"/>
                </a:endParaRPr>
              </a:p>
            </p:txBody>
          </p:sp>
          <p:sp>
            <p:nvSpPr>
              <p:cNvPr id="15" name="Rectangle 14">
                <a:extLst>
                  <a:ext uri="{FF2B5EF4-FFF2-40B4-BE49-F238E27FC236}">
                    <a16:creationId xmlns:a16="http://schemas.microsoft.com/office/drawing/2014/main" id="{4FDEF4E3-E7CE-0717-780C-3004ADE21ECA}"/>
                  </a:ext>
                </a:extLst>
              </p:cNvPr>
              <p:cNvSpPr>
                <a:spLocks/>
              </p:cNvSpPr>
              <p:nvPr/>
            </p:nvSpPr>
            <p:spPr bwMode="auto">
              <a:xfrm>
                <a:off x="724" y="590"/>
                <a:ext cx="1144" cy="23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nchor="ctr">
                <a:spAutoFit/>
              </a:bodyPr>
              <a:lstStyle/>
              <a:p>
                <a:pPr algn="ctr"/>
                <a:r>
                  <a:rPr lang="es-CO" b="1" noProof="0">
                    <a:solidFill>
                      <a:schemeClr val="bg1"/>
                    </a:solidFill>
                    <a:latin typeface="Century Gothic" panose="020B0502020202020204" pitchFamily="34" charset="0"/>
                  </a:rPr>
                  <a:t>Consumidor</a:t>
                </a:r>
              </a:p>
            </p:txBody>
          </p:sp>
          <p:sp>
            <p:nvSpPr>
              <p:cNvPr id="16" name="Rectangle 15">
                <a:extLst>
                  <a:ext uri="{FF2B5EF4-FFF2-40B4-BE49-F238E27FC236}">
                    <a16:creationId xmlns:a16="http://schemas.microsoft.com/office/drawing/2014/main" id="{5B9CFB99-6C43-7C06-BB3E-A3E0628CCDFC}"/>
                  </a:ext>
                </a:extLst>
              </p:cNvPr>
              <p:cNvSpPr>
                <a:spLocks/>
              </p:cNvSpPr>
              <p:nvPr/>
            </p:nvSpPr>
            <p:spPr bwMode="auto">
              <a:xfrm>
                <a:off x="790" y="-88"/>
                <a:ext cx="958" cy="23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nchor="ctr">
                <a:spAutoFit/>
              </a:bodyPr>
              <a:lstStyle/>
              <a:p>
                <a:pPr algn="ctr"/>
                <a:r>
                  <a:rPr lang="es-CO" b="1" noProof="0">
                    <a:solidFill>
                      <a:schemeClr val="bg1"/>
                    </a:solidFill>
                    <a:latin typeface="Century Gothic" panose="020B0502020202020204" pitchFamily="34" charset="0"/>
                  </a:rPr>
                  <a:t>Ahorrador</a:t>
                </a:r>
              </a:p>
            </p:txBody>
          </p:sp>
        </p:grpSp>
        <p:sp>
          <p:nvSpPr>
            <p:cNvPr id="13" name="Rectangle 12">
              <a:extLst>
                <a:ext uri="{FF2B5EF4-FFF2-40B4-BE49-F238E27FC236}">
                  <a16:creationId xmlns:a16="http://schemas.microsoft.com/office/drawing/2014/main" id="{58D7BCED-D109-473E-8A04-35B980A3EC75}"/>
                </a:ext>
              </a:extLst>
            </p:cNvPr>
            <p:cNvSpPr>
              <a:spLocks/>
            </p:cNvSpPr>
            <p:nvPr/>
          </p:nvSpPr>
          <p:spPr bwMode="auto">
            <a:xfrm>
              <a:off x="797" y="532"/>
              <a:ext cx="1165" cy="23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nchor="ctr">
              <a:spAutoFit/>
            </a:bodyPr>
            <a:lstStyle/>
            <a:p>
              <a:pPr algn="ctr"/>
              <a:r>
                <a:rPr lang="es-CO" b="1" noProof="0">
                  <a:solidFill>
                    <a:schemeClr val="bg1"/>
                  </a:solidFill>
                  <a:latin typeface="Century Gothic" panose="020B0502020202020204" pitchFamily="34" charset="0"/>
                </a:rPr>
                <a:t>Inversionista</a:t>
              </a:r>
            </a:p>
          </p:txBody>
        </p:sp>
      </p:grpSp>
      <p:sp>
        <p:nvSpPr>
          <p:cNvPr id="7" name="Marcador de número de diapositiva 3">
            <a:extLst>
              <a:ext uri="{FF2B5EF4-FFF2-40B4-BE49-F238E27FC236}">
                <a16:creationId xmlns:a16="http://schemas.microsoft.com/office/drawing/2014/main" id="{1B5692F1-7D3D-E047-3E26-3B14073ADEE7}"/>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6</a:t>
            </a:fld>
            <a:endParaRPr lang="en-US" sz="2000" b="1">
              <a:latin typeface="Century Gothic" panose="020B0502020202020204" pitchFamily="34" charset="0"/>
            </a:endParaRPr>
          </a:p>
        </p:txBody>
      </p:sp>
    </p:spTree>
    <p:extLst>
      <p:ext uri="{BB962C8B-B14F-4D97-AF65-F5344CB8AC3E}">
        <p14:creationId xmlns:p14="http://schemas.microsoft.com/office/powerpoint/2010/main" val="18001361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5626BB-CF96-B6F4-5EB0-5962FB00B5F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D4BFCDD-C9A1-1F95-4367-353BC4D662CF}"/>
              </a:ext>
            </a:extLst>
          </p:cNvPr>
          <p:cNvSpPr>
            <a:spLocks noGrp="1"/>
          </p:cNvSpPr>
          <p:nvPr>
            <p:ph type="title"/>
          </p:nvPr>
        </p:nvSpPr>
        <p:spPr/>
        <p:txBody>
          <a:bodyPr>
            <a:normAutofit/>
          </a:bodyPr>
          <a:lstStyle/>
          <a:p>
            <a:r>
              <a:rPr lang="es-ES">
                <a:latin typeface="Century Gothic" panose="020B0502020202020204" pitchFamily="34" charset="0"/>
              </a:rPr>
              <a:t>El costo de capital y la financiación de proyectos </a:t>
            </a:r>
          </a:p>
        </p:txBody>
      </p:sp>
      <p:sp>
        <p:nvSpPr>
          <p:cNvPr id="9" name="Rectángulo 8">
            <a:extLst>
              <a:ext uri="{FF2B5EF4-FFF2-40B4-BE49-F238E27FC236}">
                <a16:creationId xmlns:a16="http://schemas.microsoft.com/office/drawing/2014/main" id="{01755AD6-A8F6-467B-3464-EDA4673DF2F5}"/>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D128B003-F835-042C-56E6-A303049DA38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A1E825BD-68FB-35B0-81B2-330CD9AA6647}"/>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18" name="Marcador de contenido 2">
            <a:extLst>
              <a:ext uri="{FF2B5EF4-FFF2-40B4-BE49-F238E27FC236}">
                <a16:creationId xmlns:a16="http://schemas.microsoft.com/office/drawing/2014/main" id="{31DD1404-4B8C-06AE-9202-F5C4FE57BA19}"/>
              </a:ext>
            </a:extLst>
          </p:cNvPr>
          <p:cNvSpPr txBox="1">
            <a:spLocks/>
          </p:cNvSpPr>
          <p:nvPr/>
        </p:nvSpPr>
        <p:spPr>
          <a:xfrm>
            <a:off x="5458800" y="2301411"/>
            <a:ext cx="5783709" cy="3724251"/>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lgn="just"/>
            <a:r>
              <a:rPr lang="es-ES">
                <a:solidFill>
                  <a:schemeClr val="accent1"/>
                </a:solidFill>
                <a:latin typeface="Century Gothic" panose="020B0502020202020204" pitchFamily="34" charset="0"/>
              </a:rPr>
              <a:t>Un consumidor está dispuesto a sacrificar consumo actual por consumo futuro sí y sólo sí su consumo futuro es por lo menos igual al consumo actual.</a:t>
            </a:r>
          </a:p>
          <a:p>
            <a:pPr algn="just"/>
            <a:r>
              <a:rPr lang="es-ES">
                <a:solidFill>
                  <a:schemeClr val="accent1"/>
                </a:solidFill>
                <a:latin typeface="Century Gothic" panose="020B0502020202020204" pitchFamily="34" charset="0"/>
              </a:rPr>
              <a:t>Como el dinero pierde valor en el tiempo, el consumidor exige una compensación por sacrificar dicho consumo al menos igual a una tasa determinada…</a:t>
            </a:r>
          </a:p>
          <a:p>
            <a:pPr algn="just"/>
            <a:endParaRPr lang="es-ES">
              <a:latin typeface="Century Gothic" panose="020B0502020202020204" pitchFamily="34" charset="0"/>
            </a:endParaRPr>
          </a:p>
        </p:txBody>
      </p:sp>
      <p:sp>
        <p:nvSpPr>
          <p:cNvPr id="19" name="AutoShape 4">
            <a:extLst>
              <a:ext uri="{FF2B5EF4-FFF2-40B4-BE49-F238E27FC236}">
                <a16:creationId xmlns:a16="http://schemas.microsoft.com/office/drawing/2014/main" id="{C21AF2ED-CBBA-8C8E-F4B5-F8B15452C56A}"/>
              </a:ext>
            </a:extLst>
          </p:cNvPr>
          <p:cNvSpPr>
            <a:spLocks/>
          </p:cNvSpPr>
          <p:nvPr/>
        </p:nvSpPr>
        <p:spPr bwMode="auto">
          <a:xfrm>
            <a:off x="863952" y="2574483"/>
            <a:ext cx="4434470" cy="2830513"/>
          </a:xfrm>
          <a:prstGeom prst="triangle">
            <a:avLst>
              <a:gd name="adj" fmla="val 50000"/>
            </a:avLst>
          </a:prstGeom>
          <a:solidFill>
            <a:schemeClr val="bg1">
              <a:lumMod val="75000"/>
            </a:schemeClr>
          </a:solidFill>
          <a:ln w="25400">
            <a:solidFill>
              <a:srgbClr val="362B28">
                <a:alpha val="52940"/>
              </a:srgbClr>
            </a:solidFill>
            <a:miter lim="800000"/>
            <a:headEnd/>
            <a:tailEnd/>
          </a:ln>
        </p:spPr>
        <p:txBody>
          <a:bodyPr/>
          <a:lstStyle/>
          <a:p>
            <a:pPr algn="ctr"/>
            <a:endParaRPr lang="es-CO" noProof="0">
              <a:latin typeface="Century Gothic" panose="020B0502020202020204" pitchFamily="34" charset="0"/>
            </a:endParaRPr>
          </a:p>
        </p:txBody>
      </p:sp>
      <p:sp>
        <p:nvSpPr>
          <p:cNvPr id="20" name="AutoShape 5">
            <a:extLst>
              <a:ext uri="{FF2B5EF4-FFF2-40B4-BE49-F238E27FC236}">
                <a16:creationId xmlns:a16="http://schemas.microsoft.com/office/drawing/2014/main" id="{3A06E7D7-6C62-608A-13AA-68162D38C506}"/>
              </a:ext>
            </a:extLst>
          </p:cNvPr>
          <p:cNvSpPr>
            <a:spLocks/>
          </p:cNvSpPr>
          <p:nvPr/>
        </p:nvSpPr>
        <p:spPr bwMode="auto">
          <a:xfrm>
            <a:off x="2026644" y="2542488"/>
            <a:ext cx="2091156" cy="1368081"/>
          </a:xfrm>
          <a:prstGeom prst="triangle">
            <a:avLst>
              <a:gd name="adj" fmla="val 50000"/>
            </a:avLst>
          </a:prstGeom>
          <a:solidFill>
            <a:schemeClr val="bg1">
              <a:lumMod val="75000"/>
            </a:schemeClr>
          </a:solidFill>
          <a:ln w="25400">
            <a:solidFill>
              <a:srgbClr val="362B28">
                <a:alpha val="52156"/>
              </a:srgbClr>
            </a:solidFill>
            <a:miter lim="800000"/>
            <a:headEnd/>
            <a:tailEnd/>
          </a:ln>
        </p:spPr>
        <p:txBody>
          <a:bodyPr/>
          <a:lstStyle/>
          <a:p>
            <a:pPr algn="ctr"/>
            <a:endParaRPr lang="es-CO" noProof="0">
              <a:latin typeface="Century Gothic" panose="020B0502020202020204" pitchFamily="34" charset="0"/>
            </a:endParaRPr>
          </a:p>
        </p:txBody>
      </p:sp>
      <p:sp>
        <p:nvSpPr>
          <p:cNvPr id="21" name="Forma libre 20">
            <a:extLst>
              <a:ext uri="{FF2B5EF4-FFF2-40B4-BE49-F238E27FC236}">
                <a16:creationId xmlns:a16="http://schemas.microsoft.com/office/drawing/2014/main" id="{677A8829-FE3A-8E16-0978-F1EFEB0BAC80}"/>
              </a:ext>
            </a:extLst>
          </p:cNvPr>
          <p:cNvSpPr/>
          <p:nvPr/>
        </p:nvSpPr>
        <p:spPr>
          <a:xfrm>
            <a:off x="857645" y="4674884"/>
            <a:ext cx="4413239" cy="731178"/>
          </a:xfrm>
          <a:custGeom>
            <a:avLst/>
            <a:gdLst>
              <a:gd name="connsiteX0" fmla="*/ 0 w 4413239"/>
              <a:gd name="connsiteY0" fmla="*/ 731178 h 731178"/>
              <a:gd name="connsiteX1" fmla="*/ 602972 w 4413239"/>
              <a:gd name="connsiteY1" fmla="*/ 0 h 731178"/>
              <a:gd name="connsiteX2" fmla="*/ 3874413 w 4413239"/>
              <a:gd name="connsiteY2" fmla="*/ 0 h 731178"/>
              <a:gd name="connsiteX3" fmla="*/ 4413239 w 4413239"/>
              <a:gd name="connsiteY3" fmla="*/ 731178 h 731178"/>
              <a:gd name="connsiteX4" fmla="*/ 0 w 4413239"/>
              <a:gd name="connsiteY4" fmla="*/ 731178 h 7311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3239" h="731178">
                <a:moveTo>
                  <a:pt x="0" y="731178"/>
                </a:moveTo>
                <a:lnTo>
                  <a:pt x="602972" y="0"/>
                </a:lnTo>
                <a:lnTo>
                  <a:pt x="3874413" y="0"/>
                </a:lnTo>
                <a:lnTo>
                  <a:pt x="4413239" y="731178"/>
                </a:lnTo>
                <a:lnTo>
                  <a:pt x="0" y="731178"/>
                </a:lnTo>
                <a:close/>
              </a:path>
            </a:pathLst>
          </a:custGeom>
          <a:solidFill>
            <a:schemeClr val="accent1">
              <a:lumMod val="7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O" noProof="0">
              <a:latin typeface="Century Gothic" panose="020B0502020202020204" pitchFamily="34" charset="0"/>
            </a:endParaRPr>
          </a:p>
        </p:txBody>
      </p:sp>
      <p:grpSp>
        <p:nvGrpSpPr>
          <p:cNvPr id="22" name="Group 6">
            <a:extLst>
              <a:ext uri="{FF2B5EF4-FFF2-40B4-BE49-F238E27FC236}">
                <a16:creationId xmlns:a16="http://schemas.microsoft.com/office/drawing/2014/main" id="{E661D0ED-1CBF-538C-B8DC-0B2E225C41CA}"/>
              </a:ext>
            </a:extLst>
          </p:cNvPr>
          <p:cNvGrpSpPr>
            <a:grpSpLocks/>
          </p:cNvGrpSpPr>
          <p:nvPr/>
        </p:nvGrpSpPr>
        <p:grpSpPr bwMode="auto">
          <a:xfrm>
            <a:off x="1439477" y="3457617"/>
            <a:ext cx="3292829" cy="1751381"/>
            <a:chOff x="-13" y="532"/>
            <a:chExt cx="2792" cy="1485"/>
          </a:xfrm>
        </p:grpSpPr>
        <p:grpSp>
          <p:nvGrpSpPr>
            <p:cNvPr id="23" name="Group 8">
              <a:extLst>
                <a:ext uri="{FF2B5EF4-FFF2-40B4-BE49-F238E27FC236}">
                  <a16:creationId xmlns:a16="http://schemas.microsoft.com/office/drawing/2014/main" id="{3C20651D-CC10-1750-D804-5139C720C966}"/>
                </a:ext>
              </a:extLst>
            </p:cNvPr>
            <p:cNvGrpSpPr>
              <a:grpSpLocks/>
            </p:cNvGrpSpPr>
            <p:nvPr/>
          </p:nvGrpSpPr>
          <p:grpSpPr bwMode="auto">
            <a:xfrm>
              <a:off x="-13" y="1104"/>
              <a:ext cx="2792" cy="913"/>
              <a:chOff x="-146" y="-88"/>
              <a:chExt cx="2792" cy="913"/>
            </a:xfrm>
          </p:grpSpPr>
          <p:sp>
            <p:nvSpPr>
              <p:cNvPr id="25" name="Line 9">
                <a:extLst>
                  <a:ext uri="{FF2B5EF4-FFF2-40B4-BE49-F238E27FC236}">
                    <a16:creationId xmlns:a16="http://schemas.microsoft.com/office/drawing/2014/main" id="{F0C170CB-536E-9A00-3C44-0975A67461D1}"/>
                  </a:ext>
                </a:extLst>
              </p:cNvPr>
              <p:cNvSpPr>
                <a:spLocks noChangeShapeType="1"/>
              </p:cNvSpPr>
              <p:nvPr/>
            </p:nvSpPr>
            <p:spPr bwMode="auto">
              <a:xfrm>
                <a:off x="-146" y="363"/>
                <a:ext cx="2792" cy="7"/>
              </a:xfrm>
              <a:prstGeom prst="line">
                <a:avLst/>
              </a:prstGeom>
              <a:noFill/>
              <a:ln w="25400">
                <a:solidFill>
                  <a:srgbClr val="362B28"/>
                </a:solidFill>
                <a:round/>
                <a:headEnd/>
                <a:tailEnd/>
              </a:ln>
              <a:extLst>
                <a:ext uri="{909E8E84-426E-40dd-AFC4-6F175D3DCCD1}">
                  <a14:hiddenFill xmlns:a14="http://schemas.microsoft.com/office/drawing/2010/main" xmlns="">
                    <a:noFill/>
                  </a14:hiddenFill>
                </a:ext>
              </a:extLst>
            </p:spPr>
            <p:txBody>
              <a:bodyPr/>
              <a:lstStyle/>
              <a:p>
                <a:pPr algn="ctr"/>
                <a:endParaRPr lang="es-CO" noProof="0">
                  <a:solidFill>
                    <a:schemeClr val="accent1"/>
                  </a:solidFill>
                  <a:latin typeface="Century Gothic" panose="020B0502020202020204" pitchFamily="34" charset="0"/>
                </a:endParaRPr>
              </a:p>
            </p:txBody>
          </p:sp>
          <p:sp>
            <p:nvSpPr>
              <p:cNvPr id="26" name="Rectangle 10">
                <a:extLst>
                  <a:ext uri="{FF2B5EF4-FFF2-40B4-BE49-F238E27FC236}">
                    <a16:creationId xmlns:a16="http://schemas.microsoft.com/office/drawing/2014/main" id="{D4994A10-57FA-C9DD-D060-4393688019E4}"/>
                  </a:ext>
                </a:extLst>
              </p:cNvPr>
              <p:cNvSpPr>
                <a:spLocks/>
              </p:cNvSpPr>
              <p:nvPr/>
            </p:nvSpPr>
            <p:spPr bwMode="auto">
              <a:xfrm>
                <a:off x="724" y="590"/>
                <a:ext cx="1144" cy="23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nchor="ctr">
                <a:spAutoFit/>
              </a:bodyPr>
              <a:lstStyle/>
              <a:p>
                <a:pPr algn="ctr"/>
                <a:r>
                  <a:rPr lang="es-CO" b="1" noProof="0">
                    <a:solidFill>
                      <a:schemeClr val="bg1"/>
                    </a:solidFill>
                    <a:latin typeface="Century Gothic" panose="020B0502020202020204" pitchFamily="34" charset="0"/>
                  </a:rPr>
                  <a:t>Consumidor</a:t>
                </a:r>
              </a:p>
            </p:txBody>
          </p:sp>
          <p:sp>
            <p:nvSpPr>
              <p:cNvPr id="27" name="Rectangle 11">
                <a:extLst>
                  <a:ext uri="{FF2B5EF4-FFF2-40B4-BE49-F238E27FC236}">
                    <a16:creationId xmlns:a16="http://schemas.microsoft.com/office/drawing/2014/main" id="{BC9C9911-F52E-9EC4-E702-D32385E48696}"/>
                  </a:ext>
                </a:extLst>
              </p:cNvPr>
              <p:cNvSpPr>
                <a:spLocks/>
              </p:cNvSpPr>
              <p:nvPr/>
            </p:nvSpPr>
            <p:spPr bwMode="auto">
              <a:xfrm>
                <a:off x="790" y="-88"/>
                <a:ext cx="958" cy="23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nchor="ctr">
                <a:spAutoFit/>
              </a:bodyPr>
              <a:lstStyle/>
              <a:p>
                <a:pPr algn="ctr"/>
                <a:r>
                  <a:rPr lang="es-CO" b="1" noProof="0">
                    <a:solidFill>
                      <a:schemeClr val="bg1"/>
                    </a:solidFill>
                    <a:latin typeface="Century Gothic" panose="020B0502020202020204" pitchFamily="34" charset="0"/>
                  </a:rPr>
                  <a:t>Ahorrador</a:t>
                </a:r>
              </a:p>
            </p:txBody>
          </p:sp>
        </p:grpSp>
        <p:sp>
          <p:nvSpPr>
            <p:cNvPr id="24" name="Rectangle 12">
              <a:extLst>
                <a:ext uri="{FF2B5EF4-FFF2-40B4-BE49-F238E27FC236}">
                  <a16:creationId xmlns:a16="http://schemas.microsoft.com/office/drawing/2014/main" id="{AE6BA6A9-4193-3F04-4EFF-0F1812E8C952}"/>
                </a:ext>
              </a:extLst>
            </p:cNvPr>
            <p:cNvSpPr>
              <a:spLocks/>
            </p:cNvSpPr>
            <p:nvPr/>
          </p:nvSpPr>
          <p:spPr bwMode="auto">
            <a:xfrm>
              <a:off x="797" y="532"/>
              <a:ext cx="1165" cy="23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nchor="ctr">
              <a:spAutoFit/>
            </a:bodyPr>
            <a:lstStyle/>
            <a:p>
              <a:pPr algn="ctr"/>
              <a:r>
                <a:rPr lang="es-CO" b="1" noProof="0">
                  <a:solidFill>
                    <a:schemeClr val="bg1"/>
                  </a:solidFill>
                  <a:latin typeface="Century Gothic" panose="020B0502020202020204" pitchFamily="34" charset="0"/>
                </a:rPr>
                <a:t>Inversionista</a:t>
              </a:r>
            </a:p>
          </p:txBody>
        </p:sp>
      </p:grpSp>
      <p:sp>
        <p:nvSpPr>
          <p:cNvPr id="28" name="Rounded Rectangle 24">
            <a:extLst>
              <a:ext uri="{FF2B5EF4-FFF2-40B4-BE49-F238E27FC236}">
                <a16:creationId xmlns:a16="http://schemas.microsoft.com/office/drawing/2014/main" id="{784F623F-D1BB-68D9-72CA-A3EBFF856F79}"/>
              </a:ext>
            </a:extLst>
          </p:cNvPr>
          <p:cNvSpPr/>
          <p:nvPr/>
        </p:nvSpPr>
        <p:spPr>
          <a:xfrm>
            <a:off x="5754336" y="5640286"/>
            <a:ext cx="1365261" cy="533744"/>
          </a:xfrm>
          <a:prstGeom prst="roundRect">
            <a:avLst/>
          </a:prstGeom>
          <a:solidFill>
            <a:schemeClr val="accent1">
              <a:lumMod val="75000"/>
            </a:schemeClr>
          </a:solidFill>
          <a:scene3d>
            <a:camera prst="obliqueTopRight"/>
            <a:lightRig rig="threePt" dir="tl"/>
          </a:scene3d>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a:latin typeface="Century Gothic" panose="020B0502020202020204" pitchFamily="34" charset="0"/>
              </a:rPr>
              <a:t>Inflación</a:t>
            </a:r>
          </a:p>
        </p:txBody>
      </p:sp>
      <p:sp>
        <p:nvSpPr>
          <p:cNvPr id="29" name="Rectangle 22">
            <a:extLst>
              <a:ext uri="{FF2B5EF4-FFF2-40B4-BE49-F238E27FC236}">
                <a16:creationId xmlns:a16="http://schemas.microsoft.com/office/drawing/2014/main" id="{9B8D74D4-AB2D-8C23-CA2F-2722F7F963EB}"/>
              </a:ext>
            </a:extLst>
          </p:cNvPr>
          <p:cNvSpPr>
            <a:spLocks/>
          </p:cNvSpPr>
          <p:nvPr/>
        </p:nvSpPr>
        <p:spPr bwMode="auto">
          <a:xfrm>
            <a:off x="5659661" y="6357353"/>
            <a:ext cx="1519648"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nchor="ctr">
            <a:spAutoFit/>
          </a:bodyPr>
          <a:lstStyle/>
          <a:p>
            <a:pPr algn="ctr"/>
            <a:r>
              <a:rPr lang="es-ES_tradnl">
                <a:latin typeface="Century Gothic" panose="020B0502020202020204" pitchFamily="34" charset="0"/>
              </a:rPr>
              <a:t>Variación IPC</a:t>
            </a:r>
          </a:p>
        </p:txBody>
      </p:sp>
      <p:sp>
        <p:nvSpPr>
          <p:cNvPr id="3" name="Marcador de número de diapositiva 3">
            <a:extLst>
              <a:ext uri="{FF2B5EF4-FFF2-40B4-BE49-F238E27FC236}">
                <a16:creationId xmlns:a16="http://schemas.microsoft.com/office/drawing/2014/main" id="{6D94BDE0-EC68-D9F9-4177-DBE7DC30138D}"/>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7</a:t>
            </a:fld>
            <a:endParaRPr lang="en-US" sz="2000" b="1">
              <a:latin typeface="Century Gothic" panose="020B0502020202020204" pitchFamily="34" charset="0"/>
            </a:endParaRPr>
          </a:p>
        </p:txBody>
      </p:sp>
    </p:spTree>
    <p:extLst>
      <p:ext uri="{BB962C8B-B14F-4D97-AF65-F5344CB8AC3E}">
        <p14:creationId xmlns:p14="http://schemas.microsoft.com/office/powerpoint/2010/main" val="1900320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fade">
                                      <p:cBhvr>
                                        <p:cTn id="7" dur="500"/>
                                        <p:tgtEl>
                                          <p:spTgt spid="1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8">
                                            <p:txEl>
                                              <p:pRg st="1" end="1"/>
                                            </p:txEl>
                                          </p:spTgt>
                                        </p:tgtEl>
                                        <p:attrNameLst>
                                          <p:attrName>style.visibility</p:attrName>
                                        </p:attrNameLst>
                                      </p:cBhvr>
                                      <p:to>
                                        <p:strVal val="visible"/>
                                      </p:to>
                                    </p:set>
                                    <p:animEffect transition="in" filter="fade">
                                      <p:cBhvr>
                                        <p:cTn id="12" dur="500"/>
                                        <p:tgtEl>
                                          <p:spTgt spid="1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uiExpand="1" build="p"/>
      <p:bldP spid="28" grpId="0" animBg="1"/>
      <p:bldP spid="2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F4565A-E3DC-6B86-BF36-E0083093B79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2A18AE5-17D8-9A47-91C9-52CE516393FF}"/>
              </a:ext>
            </a:extLst>
          </p:cNvPr>
          <p:cNvSpPr>
            <a:spLocks noGrp="1"/>
          </p:cNvSpPr>
          <p:nvPr>
            <p:ph type="title"/>
          </p:nvPr>
        </p:nvSpPr>
        <p:spPr/>
        <p:txBody>
          <a:bodyPr>
            <a:normAutofit/>
          </a:bodyPr>
          <a:lstStyle/>
          <a:p>
            <a:r>
              <a:rPr lang="es-ES">
                <a:latin typeface="Century Gothic" panose="020B0502020202020204" pitchFamily="34" charset="0"/>
              </a:rPr>
              <a:t>El costo de capital y la financiación de proyectos </a:t>
            </a:r>
          </a:p>
        </p:txBody>
      </p:sp>
      <p:sp>
        <p:nvSpPr>
          <p:cNvPr id="9" name="Rectángulo 8">
            <a:extLst>
              <a:ext uri="{FF2B5EF4-FFF2-40B4-BE49-F238E27FC236}">
                <a16:creationId xmlns:a16="http://schemas.microsoft.com/office/drawing/2014/main" id="{8ADFA329-9150-F75A-F0B6-48F10D4BB46B}"/>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F5CED333-77AF-72A2-63DC-AC7665ED1C3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C9405160-3A69-0D4D-4594-906E87232105}"/>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 name="Marcador de contenido 2">
            <a:extLst>
              <a:ext uri="{FF2B5EF4-FFF2-40B4-BE49-F238E27FC236}">
                <a16:creationId xmlns:a16="http://schemas.microsoft.com/office/drawing/2014/main" id="{7307F855-13C2-DD1A-D79F-1F076D96ADA0}"/>
              </a:ext>
            </a:extLst>
          </p:cNvPr>
          <p:cNvSpPr>
            <a:spLocks noGrp="1"/>
          </p:cNvSpPr>
          <p:nvPr>
            <p:ph idx="1"/>
          </p:nvPr>
        </p:nvSpPr>
        <p:spPr>
          <a:xfrm>
            <a:off x="6027292" y="2363056"/>
            <a:ext cx="5707509" cy="3721273"/>
          </a:xfrm>
        </p:spPr>
        <p:txBody>
          <a:bodyPr>
            <a:normAutofit/>
          </a:bodyPr>
          <a:lstStyle/>
          <a:p>
            <a:pPr algn="just"/>
            <a:r>
              <a:rPr lang="es-ES">
                <a:solidFill>
                  <a:schemeClr val="accent1"/>
                </a:solidFill>
                <a:latin typeface="Century Gothic" panose="020B0502020202020204" pitchFamily="34" charset="0"/>
              </a:rPr>
              <a:t>Un ahorrador exigirá una tasa que le permita incrementar su consumo en el futuro. Esa tasa se suele aproximar al valor de la tasa de captación del sistema financiero.</a:t>
            </a:r>
          </a:p>
          <a:p>
            <a:pPr marL="0" indent="0" algn="just">
              <a:buNone/>
            </a:pPr>
            <a:endParaRPr lang="es-ES">
              <a:solidFill>
                <a:schemeClr val="accent1"/>
              </a:solidFill>
              <a:latin typeface="Century Gothic" panose="020B0502020202020204" pitchFamily="34" charset="0"/>
            </a:endParaRPr>
          </a:p>
          <a:p>
            <a:pPr algn="just"/>
            <a:endParaRPr lang="es-ES">
              <a:latin typeface="Century Gothic" panose="020B0502020202020204" pitchFamily="34" charset="0"/>
            </a:endParaRPr>
          </a:p>
        </p:txBody>
      </p:sp>
      <p:sp>
        <p:nvSpPr>
          <p:cNvPr id="6" name="AutoShape 4">
            <a:extLst>
              <a:ext uri="{FF2B5EF4-FFF2-40B4-BE49-F238E27FC236}">
                <a16:creationId xmlns:a16="http://schemas.microsoft.com/office/drawing/2014/main" id="{4F6A0C4B-7F40-48AA-7329-E6FD813CE871}"/>
              </a:ext>
            </a:extLst>
          </p:cNvPr>
          <p:cNvSpPr>
            <a:spLocks/>
          </p:cNvSpPr>
          <p:nvPr/>
        </p:nvSpPr>
        <p:spPr bwMode="auto">
          <a:xfrm>
            <a:off x="858826" y="2575500"/>
            <a:ext cx="4434470" cy="2830513"/>
          </a:xfrm>
          <a:prstGeom prst="triangle">
            <a:avLst>
              <a:gd name="adj" fmla="val 50000"/>
            </a:avLst>
          </a:prstGeom>
          <a:solidFill>
            <a:schemeClr val="bg1">
              <a:lumMod val="75000"/>
            </a:schemeClr>
          </a:solidFill>
          <a:ln w="25400">
            <a:solidFill>
              <a:srgbClr val="362B28">
                <a:alpha val="52940"/>
              </a:srgbClr>
            </a:solidFill>
            <a:miter lim="800000"/>
            <a:headEnd/>
            <a:tailEnd/>
          </a:ln>
        </p:spPr>
        <p:txBody>
          <a:bodyPr/>
          <a:lstStyle/>
          <a:p>
            <a:pPr algn="ctr"/>
            <a:endParaRPr lang="es-ES_tradnl">
              <a:latin typeface="Century Gothic" panose="020B0502020202020204" pitchFamily="34" charset="0"/>
            </a:endParaRPr>
          </a:p>
        </p:txBody>
      </p:sp>
      <p:sp>
        <p:nvSpPr>
          <p:cNvPr id="7" name="AutoShape 5">
            <a:extLst>
              <a:ext uri="{FF2B5EF4-FFF2-40B4-BE49-F238E27FC236}">
                <a16:creationId xmlns:a16="http://schemas.microsoft.com/office/drawing/2014/main" id="{0F69D691-FCF2-559B-EDD7-C479E3849E76}"/>
              </a:ext>
            </a:extLst>
          </p:cNvPr>
          <p:cNvSpPr>
            <a:spLocks/>
          </p:cNvSpPr>
          <p:nvPr/>
        </p:nvSpPr>
        <p:spPr bwMode="auto">
          <a:xfrm>
            <a:off x="2021518" y="2543505"/>
            <a:ext cx="2091156" cy="1368081"/>
          </a:xfrm>
          <a:prstGeom prst="triangle">
            <a:avLst>
              <a:gd name="adj" fmla="val 50000"/>
            </a:avLst>
          </a:prstGeom>
          <a:solidFill>
            <a:schemeClr val="bg1">
              <a:lumMod val="75000"/>
            </a:schemeClr>
          </a:solidFill>
          <a:ln w="25400">
            <a:solidFill>
              <a:srgbClr val="362B28">
                <a:alpha val="52156"/>
              </a:srgbClr>
            </a:solidFill>
            <a:miter lim="800000"/>
            <a:headEnd/>
            <a:tailEnd/>
          </a:ln>
        </p:spPr>
        <p:txBody>
          <a:bodyPr/>
          <a:lstStyle/>
          <a:p>
            <a:pPr algn="ctr"/>
            <a:endParaRPr lang="es-ES_tradnl">
              <a:solidFill>
                <a:schemeClr val="accent1"/>
              </a:solidFill>
              <a:latin typeface="Century Gothic" panose="020B0502020202020204" pitchFamily="34" charset="0"/>
            </a:endParaRPr>
          </a:p>
        </p:txBody>
      </p:sp>
      <p:sp>
        <p:nvSpPr>
          <p:cNvPr id="8" name="Forma libre 20">
            <a:extLst>
              <a:ext uri="{FF2B5EF4-FFF2-40B4-BE49-F238E27FC236}">
                <a16:creationId xmlns:a16="http://schemas.microsoft.com/office/drawing/2014/main" id="{7F4EB1AA-8C51-DB19-E856-BF031D72CB90}"/>
              </a:ext>
            </a:extLst>
          </p:cNvPr>
          <p:cNvSpPr/>
          <p:nvPr/>
        </p:nvSpPr>
        <p:spPr>
          <a:xfrm>
            <a:off x="1393418" y="3919068"/>
            <a:ext cx="3317391" cy="756833"/>
          </a:xfrm>
          <a:custGeom>
            <a:avLst/>
            <a:gdLst>
              <a:gd name="connsiteX0" fmla="*/ 0 w 4413239"/>
              <a:gd name="connsiteY0" fmla="*/ 731178 h 731178"/>
              <a:gd name="connsiteX1" fmla="*/ 602972 w 4413239"/>
              <a:gd name="connsiteY1" fmla="*/ 0 h 731178"/>
              <a:gd name="connsiteX2" fmla="*/ 3874413 w 4413239"/>
              <a:gd name="connsiteY2" fmla="*/ 0 h 731178"/>
              <a:gd name="connsiteX3" fmla="*/ 4413239 w 4413239"/>
              <a:gd name="connsiteY3" fmla="*/ 731178 h 731178"/>
              <a:gd name="connsiteX4" fmla="*/ 0 w 4413239"/>
              <a:gd name="connsiteY4" fmla="*/ 731178 h 731178"/>
              <a:gd name="connsiteX0" fmla="*/ 0 w 4413239"/>
              <a:gd name="connsiteY0" fmla="*/ 744005 h 744005"/>
              <a:gd name="connsiteX1" fmla="*/ 881606 w 4413239"/>
              <a:gd name="connsiteY1" fmla="*/ 0 h 744005"/>
              <a:gd name="connsiteX2" fmla="*/ 3874413 w 4413239"/>
              <a:gd name="connsiteY2" fmla="*/ 12827 h 744005"/>
              <a:gd name="connsiteX3" fmla="*/ 4413239 w 4413239"/>
              <a:gd name="connsiteY3" fmla="*/ 744005 h 744005"/>
              <a:gd name="connsiteX4" fmla="*/ 0 w 4413239"/>
              <a:gd name="connsiteY4" fmla="*/ 744005 h 744005"/>
              <a:gd name="connsiteX0" fmla="*/ 0 w 4803328"/>
              <a:gd name="connsiteY0" fmla="*/ 744005 h 744005"/>
              <a:gd name="connsiteX1" fmla="*/ 881606 w 4803328"/>
              <a:gd name="connsiteY1" fmla="*/ 0 h 744005"/>
              <a:gd name="connsiteX2" fmla="*/ 3874413 w 4803328"/>
              <a:gd name="connsiteY2" fmla="*/ 12827 h 744005"/>
              <a:gd name="connsiteX3" fmla="*/ 4803328 w 4803328"/>
              <a:gd name="connsiteY3" fmla="*/ 744005 h 744005"/>
              <a:gd name="connsiteX4" fmla="*/ 0 w 4803328"/>
              <a:gd name="connsiteY4" fmla="*/ 744005 h 744005"/>
              <a:gd name="connsiteX0" fmla="*/ 0 w 4803328"/>
              <a:gd name="connsiteY0" fmla="*/ 744005 h 744005"/>
              <a:gd name="connsiteX1" fmla="*/ 881606 w 4803328"/>
              <a:gd name="connsiteY1" fmla="*/ 0 h 744005"/>
              <a:gd name="connsiteX2" fmla="*/ 3948716 w 4803328"/>
              <a:gd name="connsiteY2" fmla="*/ 12827 h 744005"/>
              <a:gd name="connsiteX3" fmla="*/ 4803328 w 4803328"/>
              <a:gd name="connsiteY3" fmla="*/ 744005 h 744005"/>
              <a:gd name="connsiteX4" fmla="*/ 0 w 4803328"/>
              <a:gd name="connsiteY4" fmla="*/ 744005 h 744005"/>
              <a:gd name="connsiteX0" fmla="*/ 0 w 4803328"/>
              <a:gd name="connsiteY0" fmla="*/ 756833 h 756833"/>
              <a:gd name="connsiteX1" fmla="*/ 881606 w 4803328"/>
              <a:gd name="connsiteY1" fmla="*/ 12828 h 756833"/>
              <a:gd name="connsiteX2" fmla="*/ 3948716 w 4803328"/>
              <a:gd name="connsiteY2" fmla="*/ 0 h 756833"/>
              <a:gd name="connsiteX3" fmla="*/ 4803328 w 4803328"/>
              <a:gd name="connsiteY3" fmla="*/ 756833 h 756833"/>
              <a:gd name="connsiteX4" fmla="*/ 0 w 4803328"/>
              <a:gd name="connsiteY4" fmla="*/ 756833 h 7568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03328" h="756833">
                <a:moveTo>
                  <a:pt x="0" y="756833"/>
                </a:moveTo>
                <a:lnTo>
                  <a:pt x="881606" y="12828"/>
                </a:lnTo>
                <a:lnTo>
                  <a:pt x="3948716" y="0"/>
                </a:lnTo>
                <a:lnTo>
                  <a:pt x="4803328" y="756833"/>
                </a:lnTo>
                <a:lnTo>
                  <a:pt x="0" y="756833"/>
                </a:lnTo>
                <a:close/>
              </a:path>
            </a:pathLst>
          </a:custGeom>
          <a:solidFill>
            <a:schemeClr val="accent1">
              <a:lumMod val="7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latin typeface="Century Gothic" panose="020B0502020202020204" pitchFamily="34" charset="0"/>
            </a:endParaRPr>
          </a:p>
        </p:txBody>
      </p:sp>
      <p:grpSp>
        <p:nvGrpSpPr>
          <p:cNvPr id="10" name="Group 6">
            <a:extLst>
              <a:ext uri="{FF2B5EF4-FFF2-40B4-BE49-F238E27FC236}">
                <a16:creationId xmlns:a16="http://schemas.microsoft.com/office/drawing/2014/main" id="{4B9ABBE4-1808-A290-8AE5-3808B5783922}"/>
              </a:ext>
            </a:extLst>
          </p:cNvPr>
          <p:cNvGrpSpPr>
            <a:grpSpLocks/>
          </p:cNvGrpSpPr>
          <p:nvPr/>
        </p:nvGrpSpPr>
        <p:grpSpPr bwMode="auto">
          <a:xfrm>
            <a:off x="1434351" y="3458634"/>
            <a:ext cx="3292829" cy="1751381"/>
            <a:chOff x="-13" y="532"/>
            <a:chExt cx="2792" cy="1485"/>
          </a:xfrm>
        </p:grpSpPr>
        <p:grpSp>
          <p:nvGrpSpPr>
            <p:cNvPr id="12" name="Group 8">
              <a:extLst>
                <a:ext uri="{FF2B5EF4-FFF2-40B4-BE49-F238E27FC236}">
                  <a16:creationId xmlns:a16="http://schemas.microsoft.com/office/drawing/2014/main" id="{8BE04F85-1C6B-E4C0-1A6B-9E776ED3D814}"/>
                </a:ext>
              </a:extLst>
            </p:cNvPr>
            <p:cNvGrpSpPr>
              <a:grpSpLocks/>
            </p:cNvGrpSpPr>
            <p:nvPr/>
          </p:nvGrpSpPr>
          <p:grpSpPr bwMode="auto">
            <a:xfrm>
              <a:off x="-13" y="1104"/>
              <a:ext cx="2792" cy="913"/>
              <a:chOff x="-146" y="-88"/>
              <a:chExt cx="2792" cy="913"/>
            </a:xfrm>
          </p:grpSpPr>
          <p:sp>
            <p:nvSpPr>
              <p:cNvPr id="14" name="Line 9">
                <a:extLst>
                  <a:ext uri="{FF2B5EF4-FFF2-40B4-BE49-F238E27FC236}">
                    <a16:creationId xmlns:a16="http://schemas.microsoft.com/office/drawing/2014/main" id="{8EFEECBD-8850-A87D-30EB-C294844F7441}"/>
                  </a:ext>
                </a:extLst>
              </p:cNvPr>
              <p:cNvSpPr>
                <a:spLocks noChangeShapeType="1"/>
              </p:cNvSpPr>
              <p:nvPr/>
            </p:nvSpPr>
            <p:spPr bwMode="auto">
              <a:xfrm>
                <a:off x="-146" y="363"/>
                <a:ext cx="2792" cy="7"/>
              </a:xfrm>
              <a:prstGeom prst="line">
                <a:avLst/>
              </a:prstGeom>
              <a:noFill/>
              <a:ln w="25400">
                <a:solidFill>
                  <a:srgbClr val="362B28"/>
                </a:solidFill>
                <a:round/>
                <a:headEnd/>
                <a:tailEnd/>
              </a:ln>
              <a:extLst>
                <a:ext uri="{909E8E84-426E-40dd-AFC4-6F175D3DCCD1}">
                  <a14:hiddenFill xmlns:a14="http://schemas.microsoft.com/office/drawing/2010/main" xmlns="">
                    <a:noFill/>
                  </a14:hiddenFill>
                </a:ext>
              </a:extLst>
            </p:spPr>
            <p:txBody>
              <a:bodyPr/>
              <a:lstStyle/>
              <a:p>
                <a:pPr algn="ctr"/>
                <a:endParaRPr lang="en-US">
                  <a:solidFill>
                    <a:schemeClr val="accent1"/>
                  </a:solidFill>
                  <a:latin typeface="Century Gothic" panose="020B0502020202020204" pitchFamily="34" charset="0"/>
                </a:endParaRPr>
              </a:p>
            </p:txBody>
          </p:sp>
          <p:sp>
            <p:nvSpPr>
              <p:cNvPr id="15" name="Rectangle 10">
                <a:extLst>
                  <a:ext uri="{FF2B5EF4-FFF2-40B4-BE49-F238E27FC236}">
                    <a16:creationId xmlns:a16="http://schemas.microsoft.com/office/drawing/2014/main" id="{A2BECBFE-FE0C-5677-2309-6545C19935F0}"/>
                  </a:ext>
                </a:extLst>
              </p:cNvPr>
              <p:cNvSpPr>
                <a:spLocks/>
              </p:cNvSpPr>
              <p:nvPr/>
            </p:nvSpPr>
            <p:spPr bwMode="auto">
              <a:xfrm>
                <a:off x="724" y="590"/>
                <a:ext cx="1144" cy="23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nchor="ctr">
                <a:spAutoFit/>
              </a:bodyPr>
              <a:lstStyle/>
              <a:p>
                <a:pPr algn="ctr"/>
                <a:r>
                  <a:rPr lang="en-US" b="1" err="1">
                    <a:solidFill>
                      <a:schemeClr val="bg1"/>
                    </a:solidFill>
                    <a:latin typeface="Century Gothic" panose="020B0502020202020204" pitchFamily="34" charset="0"/>
                  </a:rPr>
                  <a:t>Consumidor</a:t>
                </a:r>
                <a:endParaRPr lang="en-US" b="1">
                  <a:solidFill>
                    <a:schemeClr val="bg1"/>
                  </a:solidFill>
                  <a:latin typeface="Century Gothic" panose="020B0502020202020204" pitchFamily="34" charset="0"/>
                </a:endParaRPr>
              </a:p>
            </p:txBody>
          </p:sp>
          <p:sp>
            <p:nvSpPr>
              <p:cNvPr id="16" name="Rectangle 11">
                <a:extLst>
                  <a:ext uri="{FF2B5EF4-FFF2-40B4-BE49-F238E27FC236}">
                    <a16:creationId xmlns:a16="http://schemas.microsoft.com/office/drawing/2014/main" id="{0C3EE580-9798-1644-E2D5-CDE245262E84}"/>
                  </a:ext>
                </a:extLst>
              </p:cNvPr>
              <p:cNvSpPr>
                <a:spLocks/>
              </p:cNvSpPr>
              <p:nvPr/>
            </p:nvSpPr>
            <p:spPr bwMode="auto">
              <a:xfrm>
                <a:off x="790" y="-88"/>
                <a:ext cx="958" cy="23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nchor="ctr">
                <a:spAutoFit/>
              </a:bodyPr>
              <a:lstStyle/>
              <a:p>
                <a:pPr algn="ctr"/>
                <a:r>
                  <a:rPr lang="en-US" b="1" err="1">
                    <a:solidFill>
                      <a:schemeClr val="bg1"/>
                    </a:solidFill>
                    <a:latin typeface="Century Gothic" panose="020B0502020202020204" pitchFamily="34" charset="0"/>
                  </a:rPr>
                  <a:t>Ahorrador</a:t>
                </a:r>
                <a:endParaRPr lang="en-US" b="1">
                  <a:solidFill>
                    <a:schemeClr val="bg1"/>
                  </a:solidFill>
                  <a:latin typeface="Century Gothic" panose="020B0502020202020204" pitchFamily="34" charset="0"/>
                </a:endParaRPr>
              </a:p>
            </p:txBody>
          </p:sp>
        </p:grpSp>
        <p:sp>
          <p:nvSpPr>
            <p:cNvPr id="13" name="Rectangle 12">
              <a:extLst>
                <a:ext uri="{FF2B5EF4-FFF2-40B4-BE49-F238E27FC236}">
                  <a16:creationId xmlns:a16="http://schemas.microsoft.com/office/drawing/2014/main" id="{ECFC1B52-97EC-9682-0CB0-EF97A7FA6258}"/>
                </a:ext>
              </a:extLst>
            </p:cNvPr>
            <p:cNvSpPr>
              <a:spLocks/>
            </p:cNvSpPr>
            <p:nvPr/>
          </p:nvSpPr>
          <p:spPr bwMode="auto">
            <a:xfrm>
              <a:off x="797" y="532"/>
              <a:ext cx="1165" cy="23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nchor="ctr">
              <a:spAutoFit/>
            </a:bodyPr>
            <a:lstStyle/>
            <a:p>
              <a:pPr algn="ctr"/>
              <a:r>
                <a:rPr lang="en-US" b="1" err="1">
                  <a:solidFill>
                    <a:schemeClr val="bg1"/>
                  </a:solidFill>
                  <a:latin typeface="Century Gothic" panose="020B0502020202020204" pitchFamily="34" charset="0"/>
                </a:rPr>
                <a:t>Inversionista</a:t>
              </a:r>
              <a:endParaRPr lang="en-US" b="1">
                <a:solidFill>
                  <a:schemeClr val="bg1"/>
                </a:solidFill>
                <a:latin typeface="Century Gothic" panose="020B0502020202020204" pitchFamily="34" charset="0"/>
              </a:endParaRPr>
            </a:p>
          </p:txBody>
        </p:sp>
      </p:grpSp>
      <p:sp>
        <p:nvSpPr>
          <p:cNvPr id="17" name="Rectangle 21">
            <a:extLst>
              <a:ext uri="{FF2B5EF4-FFF2-40B4-BE49-F238E27FC236}">
                <a16:creationId xmlns:a16="http://schemas.microsoft.com/office/drawing/2014/main" id="{7C20C169-BF44-88D7-2CA2-3CEF5810A542}"/>
              </a:ext>
            </a:extLst>
          </p:cNvPr>
          <p:cNvSpPr>
            <a:spLocks/>
          </p:cNvSpPr>
          <p:nvPr/>
        </p:nvSpPr>
        <p:spPr bwMode="auto">
          <a:xfrm>
            <a:off x="3896078" y="6244044"/>
            <a:ext cx="1271406" cy="55399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s-ES_tradnl">
                <a:latin typeface="Century Gothic" panose="020B0502020202020204" pitchFamily="34" charset="0"/>
              </a:rPr>
              <a:t>Tasa captación</a:t>
            </a:r>
          </a:p>
        </p:txBody>
      </p:sp>
      <p:sp>
        <p:nvSpPr>
          <p:cNvPr id="30" name="Rounded Rectangle 23">
            <a:extLst>
              <a:ext uri="{FF2B5EF4-FFF2-40B4-BE49-F238E27FC236}">
                <a16:creationId xmlns:a16="http://schemas.microsoft.com/office/drawing/2014/main" id="{8A1E25E4-F299-F88A-E5BB-F12D32B4AAA0}"/>
              </a:ext>
            </a:extLst>
          </p:cNvPr>
          <p:cNvSpPr/>
          <p:nvPr/>
        </p:nvSpPr>
        <p:spPr>
          <a:xfrm>
            <a:off x="3834650" y="5596769"/>
            <a:ext cx="1365261" cy="533744"/>
          </a:xfrm>
          <a:prstGeom prst="roundRect">
            <a:avLst/>
          </a:prstGeom>
          <a:solidFill>
            <a:schemeClr val="accent1">
              <a:lumMod val="75000"/>
            </a:schemeClr>
          </a:solidFill>
          <a:scene3d>
            <a:camera prst="obliqueTopRight"/>
            <a:lightRig rig="threePt" dir="tl"/>
          </a:scene3d>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a:latin typeface="Century Gothic" panose="020B0502020202020204" pitchFamily="34" charset="0"/>
              </a:rPr>
              <a:t>DTF</a:t>
            </a:r>
          </a:p>
        </p:txBody>
      </p:sp>
      <p:sp>
        <p:nvSpPr>
          <p:cNvPr id="31" name="Rounded Rectangle 24">
            <a:extLst>
              <a:ext uri="{FF2B5EF4-FFF2-40B4-BE49-F238E27FC236}">
                <a16:creationId xmlns:a16="http://schemas.microsoft.com/office/drawing/2014/main" id="{0796BE6C-8BF8-C6C8-A5D1-089B233A33D4}"/>
              </a:ext>
            </a:extLst>
          </p:cNvPr>
          <p:cNvSpPr/>
          <p:nvPr/>
        </p:nvSpPr>
        <p:spPr>
          <a:xfrm>
            <a:off x="5754336" y="5640286"/>
            <a:ext cx="1365261" cy="533744"/>
          </a:xfrm>
          <a:prstGeom prst="roundRect">
            <a:avLst/>
          </a:prstGeom>
          <a:solidFill>
            <a:schemeClr val="accent1">
              <a:lumMod val="75000"/>
            </a:schemeClr>
          </a:solidFill>
          <a:scene3d>
            <a:camera prst="obliqueTopRight"/>
            <a:lightRig rig="threePt" dir="tl"/>
          </a:scene3d>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a:latin typeface="Century Gothic" panose="020B0502020202020204" pitchFamily="34" charset="0"/>
              </a:rPr>
              <a:t>Inflación</a:t>
            </a:r>
          </a:p>
        </p:txBody>
      </p:sp>
      <p:sp>
        <p:nvSpPr>
          <p:cNvPr id="32" name="Rectangle 26">
            <a:extLst>
              <a:ext uri="{FF2B5EF4-FFF2-40B4-BE49-F238E27FC236}">
                <a16:creationId xmlns:a16="http://schemas.microsoft.com/office/drawing/2014/main" id="{BD513CF2-EEC1-6A5A-DFD9-3FA28226F4E8}"/>
              </a:ext>
            </a:extLst>
          </p:cNvPr>
          <p:cNvSpPr>
            <a:spLocks/>
          </p:cNvSpPr>
          <p:nvPr/>
        </p:nvSpPr>
        <p:spPr bwMode="auto">
          <a:xfrm>
            <a:off x="5474465" y="5701599"/>
            <a:ext cx="110354"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s-ES_tradnl">
                <a:latin typeface="Century Gothic" panose="020B0502020202020204" pitchFamily="34" charset="0"/>
              </a:rPr>
              <a:t>&gt;</a:t>
            </a:r>
          </a:p>
        </p:txBody>
      </p:sp>
      <p:sp>
        <p:nvSpPr>
          <p:cNvPr id="33" name="Rectangle 22">
            <a:extLst>
              <a:ext uri="{FF2B5EF4-FFF2-40B4-BE49-F238E27FC236}">
                <a16:creationId xmlns:a16="http://schemas.microsoft.com/office/drawing/2014/main" id="{D192F7BF-2F07-55EA-D3B7-A5BA1BB64EF9}"/>
              </a:ext>
            </a:extLst>
          </p:cNvPr>
          <p:cNvSpPr>
            <a:spLocks/>
          </p:cNvSpPr>
          <p:nvPr/>
        </p:nvSpPr>
        <p:spPr bwMode="auto">
          <a:xfrm>
            <a:off x="5659661" y="6357353"/>
            <a:ext cx="1519648"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nchor="ctr">
            <a:spAutoFit/>
          </a:bodyPr>
          <a:lstStyle/>
          <a:p>
            <a:pPr algn="ctr"/>
            <a:r>
              <a:rPr lang="es-ES_tradnl">
                <a:latin typeface="Century Gothic" panose="020B0502020202020204" pitchFamily="34" charset="0"/>
              </a:rPr>
              <a:t>Variación IPC</a:t>
            </a:r>
          </a:p>
        </p:txBody>
      </p:sp>
      <p:sp>
        <p:nvSpPr>
          <p:cNvPr id="18" name="Marcador de número de diapositiva 3">
            <a:extLst>
              <a:ext uri="{FF2B5EF4-FFF2-40B4-BE49-F238E27FC236}">
                <a16:creationId xmlns:a16="http://schemas.microsoft.com/office/drawing/2014/main" id="{51578331-4B18-A583-926F-DD195E34089A}"/>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8</a:t>
            </a:fld>
            <a:endParaRPr lang="en-US" sz="2000" b="1">
              <a:latin typeface="Century Gothic" panose="020B0502020202020204" pitchFamily="34" charset="0"/>
            </a:endParaRPr>
          </a:p>
        </p:txBody>
      </p:sp>
    </p:spTree>
    <p:extLst>
      <p:ext uri="{BB962C8B-B14F-4D97-AF65-F5344CB8AC3E}">
        <p14:creationId xmlns:p14="http://schemas.microsoft.com/office/powerpoint/2010/main" val="8922635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30"/>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7" grpId="0"/>
      <p:bldP spid="30" grpId="0" animBg="1"/>
      <p:bldP spid="3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8B44B6-AF6C-619D-AEBB-B3CD567696A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EA9ADB9-C1FD-5FB9-1F6E-9938A3DA7C28}"/>
              </a:ext>
            </a:extLst>
          </p:cNvPr>
          <p:cNvSpPr>
            <a:spLocks noGrp="1"/>
          </p:cNvSpPr>
          <p:nvPr>
            <p:ph type="title"/>
          </p:nvPr>
        </p:nvSpPr>
        <p:spPr/>
        <p:txBody>
          <a:bodyPr>
            <a:normAutofit/>
          </a:bodyPr>
          <a:lstStyle/>
          <a:p>
            <a:r>
              <a:rPr lang="es-ES">
                <a:latin typeface="Century Gothic" panose="020B0502020202020204" pitchFamily="34" charset="0"/>
              </a:rPr>
              <a:t>El costo de capital y la financiación de proyectos </a:t>
            </a:r>
          </a:p>
        </p:txBody>
      </p:sp>
      <p:sp>
        <p:nvSpPr>
          <p:cNvPr id="9" name="Rectángulo 8">
            <a:extLst>
              <a:ext uri="{FF2B5EF4-FFF2-40B4-BE49-F238E27FC236}">
                <a16:creationId xmlns:a16="http://schemas.microsoft.com/office/drawing/2014/main" id="{ED8DC191-1974-8BE4-F0B1-34EEA0FE1155}"/>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AEC33A8F-31B5-C788-66CC-C7780B2A45F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A8928C91-F834-6A0E-693D-ACCF07F6F2F4}"/>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20" name="Marcador de contenido 2">
            <a:extLst>
              <a:ext uri="{FF2B5EF4-FFF2-40B4-BE49-F238E27FC236}">
                <a16:creationId xmlns:a16="http://schemas.microsoft.com/office/drawing/2014/main" id="{9F14FD91-3E05-A850-2FD0-AE2569DB3A28}"/>
              </a:ext>
            </a:extLst>
          </p:cNvPr>
          <p:cNvSpPr>
            <a:spLocks noGrp="1"/>
          </p:cNvSpPr>
          <p:nvPr>
            <p:ph idx="1"/>
          </p:nvPr>
        </p:nvSpPr>
        <p:spPr>
          <a:xfrm>
            <a:off x="5529642" y="2191072"/>
            <a:ext cx="6128230" cy="3716086"/>
          </a:xfrm>
        </p:spPr>
        <p:txBody>
          <a:bodyPr>
            <a:normAutofit/>
          </a:bodyPr>
          <a:lstStyle/>
          <a:p>
            <a:pPr algn="just"/>
            <a:r>
              <a:rPr lang="es-CO">
                <a:solidFill>
                  <a:schemeClr val="accent1"/>
                </a:solidFill>
                <a:latin typeface="Century Gothic" panose="020B0502020202020204" pitchFamily="34" charset="0"/>
              </a:rPr>
              <a:t>Para un inversionista, el costo de oportunidad es el WACC, que está directamente relacionado con las </a:t>
            </a:r>
            <a:r>
              <a:rPr lang="es-CO" b="1">
                <a:solidFill>
                  <a:srgbClr val="D7A700"/>
                </a:solidFill>
                <a:latin typeface="Century Gothic" panose="020B0502020202020204" pitchFamily="34" charset="0"/>
              </a:rPr>
              <a:t>fuentes</a:t>
            </a:r>
            <a:r>
              <a:rPr lang="es-CO">
                <a:solidFill>
                  <a:schemeClr val="accent1"/>
                </a:solidFill>
                <a:latin typeface="Century Gothic" panose="020B0502020202020204" pitchFamily="34" charset="0"/>
              </a:rPr>
              <a:t> </a:t>
            </a:r>
            <a:r>
              <a:rPr lang="es-CO" b="1">
                <a:solidFill>
                  <a:srgbClr val="D7A700"/>
                </a:solidFill>
                <a:latin typeface="Century Gothic" panose="020B0502020202020204" pitchFamily="34" charset="0"/>
              </a:rPr>
              <a:t>de financiación de largo plazo de la firma</a:t>
            </a:r>
            <a:r>
              <a:rPr lang="es-CO">
                <a:solidFill>
                  <a:schemeClr val="accent1"/>
                </a:solidFill>
                <a:latin typeface="Century Gothic" panose="020B0502020202020204" pitchFamily="34" charset="0"/>
              </a:rPr>
              <a:t> </a:t>
            </a:r>
            <a:r>
              <a:rPr lang="es-CO">
                <a:solidFill>
                  <a:srgbClr val="C00000"/>
                </a:solidFill>
                <a:latin typeface="Century Gothic" panose="020B0502020202020204" pitchFamily="34" charset="0"/>
              </a:rPr>
              <a:t>(estructura de capital)</a:t>
            </a:r>
            <a:r>
              <a:rPr lang="es-CO">
                <a:solidFill>
                  <a:schemeClr val="accent1"/>
                </a:solidFill>
                <a:latin typeface="Century Gothic" panose="020B0502020202020204" pitchFamily="34" charset="0"/>
              </a:rPr>
              <a:t>.</a:t>
            </a:r>
          </a:p>
          <a:p>
            <a:pPr algn="just"/>
            <a:r>
              <a:rPr lang="es-CO">
                <a:solidFill>
                  <a:schemeClr val="accent1"/>
                </a:solidFill>
                <a:latin typeface="Century Gothic" panose="020B0502020202020204" pitchFamily="34" charset="0"/>
              </a:rPr>
              <a:t>Visto de otra forma, el WACC no resulta ser otra cosa diferente a la </a:t>
            </a:r>
            <a:r>
              <a:rPr lang="es-CO" b="1">
                <a:solidFill>
                  <a:srgbClr val="D7A700"/>
                </a:solidFill>
                <a:latin typeface="Century Gothic" panose="020B0502020202020204" pitchFamily="34" charset="0"/>
              </a:rPr>
              <a:t>rentabilidad exigida por los proveedores de capital</a:t>
            </a:r>
            <a:r>
              <a:rPr lang="es-CO">
                <a:solidFill>
                  <a:schemeClr val="accent1"/>
                </a:solidFill>
                <a:latin typeface="Century Gothic" panose="020B0502020202020204" pitchFamily="34" charset="0"/>
              </a:rPr>
              <a:t> y que a su vez es proporcional al nivel de riesgo que asumen para fondear un proyecto.</a:t>
            </a:r>
          </a:p>
          <a:p>
            <a:pPr algn="just"/>
            <a:endParaRPr lang="es-CO" noProof="0">
              <a:latin typeface="Century Gothic" panose="020B0502020202020204" pitchFamily="34" charset="0"/>
            </a:endParaRPr>
          </a:p>
        </p:txBody>
      </p:sp>
      <p:sp>
        <p:nvSpPr>
          <p:cNvPr id="21" name="Rectangle 20">
            <a:extLst>
              <a:ext uri="{FF2B5EF4-FFF2-40B4-BE49-F238E27FC236}">
                <a16:creationId xmlns:a16="http://schemas.microsoft.com/office/drawing/2014/main" id="{9898FA6D-0C12-677A-57F3-A7826415AC1C}"/>
              </a:ext>
            </a:extLst>
          </p:cNvPr>
          <p:cNvSpPr>
            <a:spLocks/>
          </p:cNvSpPr>
          <p:nvPr/>
        </p:nvSpPr>
        <p:spPr bwMode="auto">
          <a:xfrm>
            <a:off x="1549658" y="6244165"/>
            <a:ext cx="1998702" cy="55399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s-CO" noProof="0">
                <a:latin typeface="Century Gothic" panose="020B0502020202020204" pitchFamily="34" charset="0"/>
              </a:rPr>
              <a:t>Costo de obtener recursos</a:t>
            </a:r>
          </a:p>
        </p:txBody>
      </p:sp>
      <p:sp>
        <p:nvSpPr>
          <p:cNvPr id="22" name="Rectangle 21">
            <a:extLst>
              <a:ext uri="{FF2B5EF4-FFF2-40B4-BE49-F238E27FC236}">
                <a16:creationId xmlns:a16="http://schemas.microsoft.com/office/drawing/2014/main" id="{5F567D1E-5B6B-8046-9213-9E4CB849CCF5}"/>
              </a:ext>
            </a:extLst>
          </p:cNvPr>
          <p:cNvSpPr>
            <a:spLocks/>
          </p:cNvSpPr>
          <p:nvPr/>
        </p:nvSpPr>
        <p:spPr bwMode="auto">
          <a:xfrm>
            <a:off x="3896078" y="6244044"/>
            <a:ext cx="1271406" cy="55399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s-CO" noProof="0">
                <a:latin typeface="Century Gothic" panose="020B0502020202020204" pitchFamily="34" charset="0"/>
              </a:rPr>
              <a:t>Tasa captación</a:t>
            </a:r>
          </a:p>
        </p:txBody>
      </p:sp>
      <p:sp>
        <p:nvSpPr>
          <p:cNvPr id="23" name="Rounded Rectangle 18">
            <a:extLst>
              <a:ext uri="{FF2B5EF4-FFF2-40B4-BE49-F238E27FC236}">
                <a16:creationId xmlns:a16="http://schemas.microsoft.com/office/drawing/2014/main" id="{3345DB52-661A-E676-C1DC-0C013C1FEFE1}"/>
              </a:ext>
            </a:extLst>
          </p:cNvPr>
          <p:cNvSpPr/>
          <p:nvPr/>
        </p:nvSpPr>
        <p:spPr>
          <a:xfrm>
            <a:off x="1902031" y="5596769"/>
            <a:ext cx="1365261" cy="533744"/>
          </a:xfrm>
          <a:prstGeom prst="roundRect">
            <a:avLst/>
          </a:prstGeom>
          <a:solidFill>
            <a:schemeClr val="accent1">
              <a:lumMod val="75000"/>
            </a:schemeClr>
          </a:solidFill>
          <a:scene3d>
            <a:camera prst="obliqueTopRight"/>
            <a:lightRig rig="threePt" dir="tl"/>
          </a:scene3d>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s-CO" noProof="0">
                <a:latin typeface="Century Gothic" panose="020B0502020202020204" pitchFamily="34" charset="0"/>
              </a:rPr>
              <a:t>WACC</a:t>
            </a:r>
          </a:p>
        </p:txBody>
      </p:sp>
      <p:sp>
        <p:nvSpPr>
          <p:cNvPr id="24" name="Rounded Rectangle 23">
            <a:extLst>
              <a:ext uri="{FF2B5EF4-FFF2-40B4-BE49-F238E27FC236}">
                <a16:creationId xmlns:a16="http://schemas.microsoft.com/office/drawing/2014/main" id="{F19C0BDB-093C-AD28-2E36-F856F12D67A1}"/>
              </a:ext>
            </a:extLst>
          </p:cNvPr>
          <p:cNvSpPr/>
          <p:nvPr/>
        </p:nvSpPr>
        <p:spPr>
          <a:xfrm>
            <a:off x="3834650" y="5596769"/>
            <a:ext cx="1365261" cy="533744"/>
          </a:xfrm>
          <a:prstGeom prst="roundRect">
            <a:avLst/>
          </a:prstGeom>
          <a:solidFill>
            <a:schemeClr val="accent1">
              <a:lumMod val="75000"/>
            </a:schemeClr>
          </a:solidFill>
          <a:scene3d>
            <a:camera prst="obliqueTopRight"/>
            <a:lightRig rig="threePt" dir="tl"/>
          </a:scene3d>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s-CO" noProof="0">
                <a:latin typeface="Century Gothic" panose="020B0502020202020204" pitchFamily="34" charset="0"/>
              </a:rPr>
              <a:t>DTF</a:t>
            </a:r>
          </a:p>
        </p:txBody>
      </p:sp>
      <p:sp>
        <p:nvSpPr>
          <p:cNvPr id="25" name="Rounded Rectangle 24">
            <a:extLst>
              <a:ext uri="{FF2B5EF4-FFF2-40B4-BE49-F238E27FC236}">
                <a16:creationId xmlns:a16="http://schemas.microsoft.com/office/drawing/2014/main" id="{30193EB9-9F26-C80D-530B-1183B27CC372}"/>
              </a:ext>
            </a:extLst>
          </p:cNvPr>
          <p:cNvSpPr/>
          <p:nvPr/>
        </p:nvSpPr>
        <p:spPr>
          <a:xfrm>
            <a:off x="5754336" y="5640286"/>
            <a:ext cx="1365261" cy="533744"/>
          </a:xfrm>
          <a:prstGeom prst="roundRect">
            <a:avLst/>
          </a:prstGeom>
          <a:solidFill>
            <a:schemeClr val="accent1">
              <a:lumMod val="75000"/>
            </a:schemeClr>
          </a:solidFill>
          <a:scene3d>
            <a:camera prst="obliqueTopRight"/>
            <a:lightRig rig="threePt" dir="tl"/>
          </a:scene3d>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s-CO" noProof="0">
                <a:latin typeface="Century Gothic" panose="020B0502020202020204" pitchFamily="34" charset="0"/>
              </a:rPr>
              <a:t>Inflación</a:t>
            </a:r>
          </a:p>
        </p:txBody>
      </p:sp>
      <p:sp>
        <p:nvSpPr>
          <p:cNvPr id="26" name="Rectangle 25">
            <a:extLst>
              <a:ext uri="{FF2B5EF4-FFF2-40B4-BE49-F238E27FC236}">
                <a16:creationId xmlns:a16="http://schemas.microsoft.com/office/drawing/2014/main" id="{5C584F72-7163-330B-4ABC-994FECA143E3}"/>
              </a:ext>
            </a:extLst>
          </p:cNvPr>
          <p:cNvSpPr>
            <a:spLocks/>
          </p:cNvSpPr>
          <p:nvPr/>
        </p:nvSpPr>
        <p:spPr bwMode="auto">
          <a:xfrm>
            <a:off x="3445728" y="5687699"/>
            <a:ext cx="110354"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s-CO" noProof="0">
                <a:latin typeface="Century Gothic" panose="020B0502020202020204" pitchFamily="34" charset="0"/>
              </a:rPr>
              <a:t>&gt;</a:t>
            </a:r>
          </a:p>
        </p:txBody>
      </p:sp>
      <p:sp>
        <p:nvSpPr>
          <p:cNvPr id="27" name="Rectangle 26">
            <a:extLst>
              <a:ext uri="{FF2B5EF4-FFF2-40B4-BE49-F238E27FC236}">
                <a16:creationId xmlns:a16="http://schemas.microsoft.com/office/drawing/2014/main" id="{BAA39BE8-AF40-7203-2B02-19474D1D8569}"/>
              </a:ext>
            </a:extLst>
          </p:cNvPr>
          <p:cNvSpPr>
            <a:spLocks/>
          </p:cNvSpPr>
          <p:nvPr/>
        </p:nvSpPr>
        <p:spPr bwMode="auto">
          <a:xfrm>
            <a:off x="5474465" y="5701599"/>
            <a:ext cx="110354"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s-CO" noProof="0">
                <a:latin typeface="Century Gothic" panose="020B0502020202020204" pitchFamily="34" charset="0"/>
              </a:rPr>
              <a:t>&gt;</a:t>
            </a:r>
          </a:p>
        </p:txBody>
      </p:sp>
      <p:sp>
        <p:nvSpPr>
          <p:cNvPr id="28" name="Rectangle 22">
            <a:extLst>
              <a:ext uri="{FF2B5EF4-FFF2-40B4-BE49-F238E27FC236}">
                <a16:creationId xmlns:a16="http://schemas.microsoft.com/office/drawing/2014/main" id="{BC95A4BC-11E2-97C6-8A8F-99EC91D0120C}"/>
              </a:ext>
            </a:extLst>
          </p:cNvPr>
          <p:cNvSpPr>
            <a:spLocks/>
          </p:cNvSpPr>
          <p:nvPr/>
        </p:nvSpPr>
        <p:spPr bwMode="auto">
          <a:xfrm>
            <a:off x="5659661" y="6357353"/>
            <a:ext cx="1519648"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nchor="ctr">
            <a:spAutoFit/>
          </a:bodyPr>
          <a:lstStyle/>
          <a:p>
            <a:pPr algn="ctr"/>
            <a:r>
              <a:rPr lang="es-CO" noProof="0">
                <a:latin typeface="Century Gothic" panose="020B0502020202020204" pitchFamily="34" charset="0"/>
              </a:rPr>
              <a:t>Variación IPC</a:t>
            </a:r>
          </a:p>
        </p:txBody>
      </p:sp>
      <p:sp>
        <p:nvSpPr>
          <p:cNvPr id="29" name="Rectángulo 21">
            <a:extLst>
              <a:ext uri="{FF2B5EF4-FFF2-40B4-BE49-F238E27FC236}">
                <a16:creationId xmlns:a16="http://schemas.microsoft.com/office/drawing/2014/main" id="{70C50589-84D7-0B0C-6114-990F2A4D69BD}"/>
              </a:ext>
            </a:extLst>
          </p:cNvPr>
          <p:cNvSpPr/>
          <p:nvPr/>
        </p:nvSpPr>
        <p:spPr>
          <a:xfrm>
            <a:off x="5754336" y="3080030"/>
            <a:ext cx="5856472" cy="579128"/>
          </a:xfrm>
          <a:prstGeom prst="rect">
            <a:avLst/>
          </a:prstGeom>
          <a:noFill/>
          <a:ln w="28575">
            <a:solidFill>
              <a:srgbClr val="C00000"/>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s-CO" noProof="0">
              <a:latin typeface="Century Gothic" panose="020B0502020202020204" pitchFamily="34" charset="0"/>
            </a:endParaRPr>
          </a:p>
        </p:txBody>
      </p:sp>
      <p:sp>
        <p:nvSpPr>
          <p:cNvPr id="34" name="Rectángulo 22">
            <a:extLst>
              <a:ext uri="{FF2B5EF4-FFF2-40B4-BE49-F238E27FC236}">
                <a16:creationId xmlns:a16="http://schemas.microsoft.com/office/drawing/2014/main" id="{70015F77-B015-5DD6-7F03-7DBD9105A883}"/>
              </a:ext>
            </a:extLst>
          </p:cNvPr>
          <p:cNvSpPr/>
          <p:nvPr/>
        </p:nvSpPr>
        <p:spPr>
          <a:xfrm>
            <a:off x="5801400" y="4049115"/>
            <a:ext cx="5856472" cy="579128"/>
          </a:xfrm>
          <a:prstGeom prst="rect">
            <a:avLst/>
          </a:prstGeom>
          <a:noFill/>
          <a:ln w="28575">
            <a:solidFill>
              <a:srgbClr val="C00000"/>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s-CO" noProof="0">
              <a:latin typeface="Century Gothic" panose="020B0502020202020204" pitchFamily="34" charset="0"/>
            </a:endParaRPr>
          </a:p>
        </p:txBody>
      </p:sp>
      <p:sp>
        <p:nvSpPr>
          <p:cNvPr id="35" name="AutoShape 4">
            <a:extLst>
              <a:ext uri="{FF2B5EF4-FFF2-40B4-BE49-F238E27FC236}">
                <a16:creationId xmlns:a16="http://schemas.microsoft.com/office/drawing/2014/main" id="{2D08A876-434A-6F72-9CFB-819628BBCB25}"/>
              </a:ext>
            </a:extLst>
          </p:cNvPr>
          <p:cNvSpPr>
            <a:spLocks/>
          </p:cNvSpPr>
          <p:nvPr/>
        </p:nvSpPr>
        <p:spPr bwMode="auto">
          <a:xfrm>
            <a:off x="855006" y="2566097"/>
            <a:ext cx="4434470" cy="2830513"/>
          </a:xfrm>
          <a:prstGeom prst="triangle">
            <a:avLst>
              <a:gd name="adj" fmla="val 50000"/>
            </a:avLst>
          </a:prstGeom>
          <a:solidFill>
            <a:schemeClr val="bg1">
              <a:lumMod val="75000"/>
            </a:schemeClr>
          </a:solidFill>
          <a:ln w="25400">
            <a:solidFill>
              <a:srgbClr val="362B28">
                <a:alpha val="52940"/>
              </a:srgbClr>
            </a:solidFill>
            <a:miter lim="800000"/>
            <a:headEnd/>
            <a:tailEnd/>
          </a:ln>
        </p:spPr>
        <p:txBody>
          <a:bodyPr/>
          <a:lstStyle/>
          <a:p>
            <a:pPr algn="ctr"/>
            <a:endParaRPr lang="es-CO" noProof="0">
              <a:latin typeface="Century Gothic" panose="020B0502020202020204" pitchFamily="34" charset="0"/>
            </a:endParaRPr>
          </a:p>
        </p:txBody>
      </p:sp>
      <p:sp>
        <p:nvSpPr>
          <p:cNvPr id="36" name="AutoShape 5">
            <a:extLst>
              <a:ext uri="{FF2B5EF4-FFF2-40B4-BE49-F238E27FC236}">
                <a16:creationId xmlns:a16="http://schemas.microsoft.com/office/drawing/2014/main" id="{444B338E-C2C7-1538-8023-3A3772A5433A}"/>
              </a:ext>
            </a:extLst>
          </p:cNvPr>
          <p:cNvSpPr>
            <a:spLocks/>
          </p:cNvSpPr>
          <p:nvPr/>
        </p:nvSpPr>
        <p:spPr bwMode="auto">
          <a:xfrm>
            <a:off x="2017698" y="2534102"/>
            <a:ext cx="2091156" cy="1368081"/>
          </a:xfrm>
          <a:prstGeom prst="triangle">
            <a:avLst>
              <a:gd name="adj" fmla="val 50000"/>
            </a:avLst>
          </a:prstGeom>
          <a:solidFill>
            <a:schemeClr val="bg1">
              <a:lumMod val="75000"/>
            </a:schemeClr>
          </a:solidFill>
          <a:ln w="25400">
            <a:solidFill>
              <a:srgbClr val="362B28">
                <a:alpha val="52156"/>
              </a:srgbClr>
            </a:solidFill>
            <a:miter lim="800000"/>
            <a:headEnd/>
            <a:tailEnd/>
          </a:ln>
        </p:spPr>
        <p:txBody>
          <a:bodyPr/>
          <a:lstStyle/>
          <a:p>
            <a:pPr algn="ctr"/>
            <a:endParaRPr lang="es-CO" noProof="0">
              <a:latin typeface="Century Gothic" panose="020B0502020202020204" pitchFamily="34" charset="0"/>
            </a:endParaRPr>
          </a:p>
        </p:txBody>
      </p:sp>
      <p:sp>
        <p:nvSpPr>
          <p:cNvPr id="37" name="Forma libre 20">
            <a:extLst>
              <a:ext uri="{FF2B5EF4-FFF2-40B4-BE49-F238E27FC236}">
                <a16:creationId xmlns:a16="http://schemas.microsoft.com/office/drawing/2014/main" id="{846E52A8-30D4-C36F-BBBD-4AA03FD4EEB7}"/>
              </a:ext>
            </a:extLst>
          </p:cNvPr>
          <p:cNvSpPr/>
          <p:nvPr/>
        </p:nvSpPr>
        <p:spPr>
          <a:xfrm>
            <a:off x="2017698" y="2537102"/>
            <a:ext cx="2091156" cy="1372562"/>
          </a:xfrm>
          <a:custGeom>
            <a:avLst/>
            <a:gdLst>
              <a:gd name="connsiteX0" fmla="*/ 0 w 4413239"/>
              <a:gd name="connsiteY0" fmla="*/ 731178 h 731178"/>
              <a:gd name="connsiteX1" fmla="*/ 602972 w 4413239"/>
              <a:gd name="connsiteY1" fmla="*/ 0 h 731178"/>
              <a:gd name="connsiteX2" fmla="*/ 3874413 w 4413239"/>
              <a:gd name="connsiteY2" fmla="*/ 0 h 731178"/>
              <a:gd name="connsiteX3" fmla="*/ 4413239 w 4413239"/>
              <a:gd name="connsiteY3" fmla="*/ 731178 h 731178"/>
              <a:gd name="connsiteX4" fmla="*/ 0 w 4413239"/>
              <a:gd name="connsiteY4" fmla="*/ 731178 h 731178"/>
              <a:gd name="connsiteX0" fmla="*/ 0 w 4413239"/>
              <a:gd name="connsiteY0" fmla="*/ 744005 h 744005"/>
              <a:gd name="connsiteX1" fmla="*/ 881606 w 4413239"/>
              <a:gd name="connsiteY1" fmla="*/ 0 h 744005"/>
              <a:gd name="connsiteX2" fmla="*/ 3874413 w 4413239"/>
              <a:gd name="connsiteY2" fmla="*/ 12827 h 744005"/>
              <a:gd name="connsiteX3" fmla="*/ 4413239 w 4413239"/>
              <a:gd name="connsiteY3" fmla="*/ 744005 h 744005"/>
              <a:gd name="connsiteX4" fmla="*/ 0 w 4413239"/>
              <a:gd name="connsiteY4" fmla="*/ 744005 h 744005"/>
              <a:gd name="connsiteX0" fmla="*/ 0 w 4803328"/>
              <a:gd name="connsiteY0" fmla="*/ 744005 h 744005"/>
              <a:gd name="connsiteX1" fmla="*/ 881606 w 4803328"/>
              <a:gd name="connsiteY1" fmla="*/ 0 h 744005"/>
              <a:gd name="connsiteX2" fmla="*/ 3874413 w 4803328"/>
              <a:gd name="connsiteY2" fmla="*/ 12827 h 744005"/>
              <a:gd name="connsiteX3" fmla="*/ 4803328 w 4803328"/>
              <a:gd name="connsiteY3" fmla="*/ 744005 h 744005"/>
              <a:gd name="connsiteX4" fmla="*/ 0 w 4803328"/>
              <a:gd name="connsiteY4" fmla="*/ 744005 h 744005"/>
              <a:gd name="connsiteX0" fmla="*/ 0 w 4803328"/>
              <a:gd name="connsiteY0" fmla="*/ 744005 h 744005"/>
              <a:gd name="connsiteX1" fmla="*/ 881606 w 4803328"/>
              <a:gd name="connsiteY1" fmla="*/ 0 h 744005"/>
              <a:gd name="connsiteX2" fmla="*/ 3948716 w 4803328"/>
              <a:gd name="connsiteY2" fmla="*/ 12827 h 744005"/>
              <a:gd name="connsiteX3" fmla="*/ 4803328 w 4803328"/>
              <a:gd name="connsiteY3" fmla="*/ 744005 h 744005"/>
              <a:gd name="connsiteX4" fmla="*/ 0 w 4803328"/>
              <a:gd name="connsiteY4" fmla="*/ 744005 h 744005"/>
              <a:gd name="connsiteX0" fmla="*/ 0 w 4803328"/>
              <a:gd name="connsiteY0" fmla="*/ 756833 h 756833"/>
              <a:gd name="connsiteX1" fmla="*/ 881606 w 4803328"/>
              <a:gd name="connsiteY1" fmla="*/ 12828 h 756833"/>
              <a:gd name="connsiteX2" fmla="*/ 3948716 w 4803328"/>
              <a:gd name="connsiteY2" fmla="*/ 0 h 756833"/>
              <a:gd name="connsiteX3" fmla="*/ 4803328 w 4803328"/>
              <a:gd name="connsiteY3" fmla="*/ 756833 h 756833"/>
              <a:gd name="connsiteX4" fmla="*/ 0 w 4803328"/>
              <a:gd name="connsiteY4" fmla="*/ 756833 h 756833"/>
              <a:gd name="connsiteX0" fmla="*/ 0 w 4803328"/>
              <a:gd name="connsiteY0" fmla="*/ 1372562 h 1372562"/>
              <a:gd name="connsiteX1" fmla="*/ 2384490 w 4803328"/>
              <a:gd name="connsiteY1" fmla="*/ 0 h 1372562"/>
              <a:gd name="connsiteX2" fmla="*/ 3948716 w 4803328"/>
              <a:gd name="connsiteY2" fmla="*/ 615729 h 1372562"/>
              <a:gd name="connsiteX3" fmla="*/ 4803328 w 4803328"/>
              <a:gd name="connsiteY3" fmla="*/ 1372562 h 1372562"/>
              <a:gd name="connsiteX4" fmla="*/ 0 w 4803328"/>
              <a:gd name="connsiteY4" fmla="*/ 1372562 h 1372562"/>
              <a:gd name="connsiteX0" fmla="*/ 0 w 4803328"/>
              <a:gd name="connsiteY0" fmla="*/ 1372562 h 1372562"/>
              <a:gd name="connsiteX1" fmla="*/ 2384490 w 4803328"/>
              <a:gd name="connsiteY1" fmla="*/ 0 h 1372562"/>
              <a:gd name="connsiteX2" fmla="*/ 3830845 w 4803328"/>
              <a:gd name="connsiteY2" fmla="*/ 795316 h 1372562"/>
              <a:gd name="connsiteX3" fmla="*/ 4803328 w 4803328"/>
              <a:gd name="connsiteY3" fmla="*/ 1372562 h 1372562"/>
              <a:gd name="connsiteX4" fmla="*/ 0 w 4803328"/>
              <a:gd name="connsiteY4" fmla="*/ 1372562 h 13725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03328" h="1372562">
                <a:moveTo>
                  <a:pt x="0" y="1372562"/>
                </a:moveTo>
                <a:lnTo>
                  <a:pt x="2384490" y="0"/>
                </a:lnTo>
                <a:lnTo>
                  <a:pt x="3830845" y="795316"/>
                </a:lnTo>
                <a:lnTo>
                  <a:pt x="4803328" y="1372562"/>
                </a:lnTo>
                <a:lnTo>
                  <a:pt x="0" y="1372562"/>
                </a:lnTo>
                <a:close/>
              </a:path>
            </a:pathLst>
          </a:custGeom>
          <a:solidFill>
            <a:schemeClr val="accent1">
              <a:lumMod val="7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O" noProof="0">
              <a:latin typeface="Century Gothic" panose="020B0502020202020204" pitchFamily="34" charset="0"/>
            </a:endParaRPr>
          </a:p>
        </p:txBody>
      </p:sp>
      <p:grpSp>
        <p:nvGrpSpPr>
          <p:cNvPr id="38" name="Group 6">
            <a:extLst>
              <a:ext uri="{FF2B5EF4-FFF2-40B4-BE49-F238E27FC236}">
                <a16:creationId xmlns:a16="http://schemas.microsoft.com/office/drawing/2014/main" id="{0442F4CE-CB91-304C-F57B-B335FC2631CD}"/>
              </a:ext>
            </a:extLst>
          </p:cNvPr>
          <p:cNvGrpSpPr>
            <a:grpSpLocks/>
          </p:cNvGrpSpPr>
          <p:nvPr/>
        </p:nvGrpSpPr>
        <p:grpSpPr bwMode="auto">
          <a:xfrm>
            <a:off x="1430531" y="3449231"/>
            <a:ext cx="3292829" cy="1751381"/>
            <a:chOff x="-13" y="532"/>
            <a:chExt cx="2792" cy="1485"/>
          </a:xfrm>
        </p:grpSpPr>
        <p:grpSp>
          <p:nvGrpSpPr>
            <p:cNvPr id="39" name="Group 8">
              <a:extLst>
                <a:ext uri="{FF2B5EF4-FFF2-40B4-BE49-F238E27FC236}">
                  <a16:creationId xmlns:a16="http://schemas.microsoft.com/office/drawing/2014/main" id="{495C1965-3874-20C7-884A-6D50D2BAE537}"/>
                </a:ext>
              </a:extLst>
            </p:cNvPr>
            <p:cNvGrpSpPr>
              <a:grpSpLocks/>
            </p:cNvGrpSpPr>
            <p:nvPr/>
          </p:nvGrpSpPr>
          <p:grpSpPr bwMode="auto">
            <a:xfrm>
              <a:off x="-13" y="1104"/>
              <a:ext cx="2792" cy="913"/>
              <a:chOff x="-146" y="-88"/>
              <a:chExt cx="2792" cy="913"/>
            </a:xfrm>
          </p:grpSpPr>
          <p:sp>
            <p:nvSpPr>
              <p:cNvPr id="41" name="Line 9">
                <a:extLst>
                  <a:ext uri="{FF2B5EF4-FFF2-40B4-BE49-F238E27FC236}">
                    <a16:creationId xmlns:a16="http://schemas.microsoft.com/office/drawing/2014/main" id="{78809992-9D54-963C-965A-EEBA31F8EB5D}"/>
                  </a:ext>
                </a:extLst>
              </p:cNvPr>
              <p:cNvSpPr>
                <a:spLocks noChangeShapeType="1"/>
              </p:cNvSpPr>
              <p:nvPr/>
            </p:nvSpPr>
            <p:spPr bwMode="auto">
              <a:xfrm>
                <a:off x="-146" y="363"/>
                <a:ext cx="2792" cy="7"/>
              </a:xfrm>
              <a:prstGeom prst="line">
                <a:avLst/>
              </a:prstGeom>
              <a:noFill/>
              <a:ln w="25400">
                <a:solidFill>
                  <a:srgbClr val="362B28"/>
                </a:solidFill>
                <a:round/>
                <a:headEnd/>
                <a:tailEnd/>
              </a:ln>
              <a:extLst>
                <a:ext uri="{909E8E84-426E-40dd-AFC4-6F175D3DCCD1}">
                  <a14:hiddenFill xmlns:a14="http://schemas.microsoft.com/office/drawing/2010/main" xmlns="">
                    <a:noFill/>
                  </a14:hiddenFill>
                </a:ext>
              </a:extLst>
            </p:spPr>
            <p:txBody>
              <a:bodyPr/>
              <a:lstStyle/>
              <a:p>
                <a:pPr algn="ctr"/>
                <a:endParaRPr lang="es-CO" noProof="0">
                  <a:solidFill>
                    <a:schemeClr val="accent1"/>
                  </a:solidFill>
                  <a:latin typeface="Century Gothic" panose="020B0502020202020204" pitchFamily="34" charset="0"/>
                </a:endParaRPr>
              </a:p>
            </p:txBody>
          </p:sp>
          <p:sp>
            <p:nvSpPr>
              <p:cNvPr id="42" name="Rectangle 10">
                <a:extLst>
                  <a:ext uri="{FF2B5EF4-FFF2-40B4-BE49-F238E27FC236}">
                    <a16:creationId xmlns:a16="http://schemas.microsoft.com/office/drawing/2014/main" id="{35B64778-CFFD-430E-1A0C-AFF6F33E7B97}"/>
                  </a:ext>
                </a:extLst>
              </p:cNvPr>
              <p:cNvSpPr>
                <a:spLocks/>
              </p:cNvSpPr>
              <p:nvPr/>
            </p:nvSpPr>
            <p:spPr bwMode="auto">
              <a:xfrm>
                <a:off x="724" y="590"/>
                <a:ext cx="1146" cy="23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nchor="ctr">
                <a:spAutoFit/>
              </a:bodyPr>
              <a:lstStyle/>
              <a:p>
                <a:pPr algn="ctr"/>
                <a:r>
                  <a:rPr lang="es-CO" noProof="0">
                    <a:solidFill>
                      <a:schemeClr val="bg1"/>
                    </a:solidFill>
                    <a:latin typeface="Century Gothic" panose="020B0502020202020204" pitchFamily="34" charset="0"/>
                  </a:rPr>
                  <a:t>Consumidor</a:t>
                </a:r>
              </a:p>
            </p:txBody>
          </p:sp>
          <p:sp>
            <p:nvSpPr>
              <p:cNvPr id="43" name="Rectangle 11">
                <a:extLst>
                  <a:ext uri="{FF2B5EF4-FFF2-40B4-BE49-F238E27FC236}">
                    <a16:creationId xmlns:a16="http://schemas.microsoft.com/office/drawing/2014/main" id="{177F2E88-CA1D-C1FD-D963-DD06A0B3F3A0}"/>
                  </a:ext>
                </a:extLst>
              </p:cNvPr>
              <p:cNvSpPr>
                <a:spLocks/>
              </p:cNvSpPr>
              <p:nvPr/>
            </p:nvSpPr>
            <p:spPr bwMode="auto">
              <a:xfrm>
                <a:off x="787" y="-88"/>
                <a:ext cx="964" cy="23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nchor="ctr">
                <a:spAutoFit/>
              </a:bodyPr>
              <a:lstStyle/>
              <a:p>
                <a:pPr algn="ctr"/>
                <a:r>
                  <a:rPr lang="es-CO" noProof="0">
                    <a:solidFill>
                      <a:schemeClr val="bg1"/>
                    </a:solidFill>
                    <a:latin typeface="Century Gothic" panose="020B0502020202020204" pitchFamily="34" charset="0"/>
                  </a:rPr>
                  <a:t>Ahorrador</a:t>
                </a:r>
              </a:p>
            </p:txBody>
          </p:sp>
        </p:grpSp>
        <p:sp>
          <p:nvSpPr>
            <p:cNvPr id="40" name="Rectangle 12">
              <a:extLst>
                <a:ext uri="{FF2B5EF4-FFF2-40B4-BE49-F238E27FC236}">
                  <a16:creationId xmlns:a16="http://schemas.microsoft.com/office/drawing/2014/main" id="{B0F006A0-3232-778E-19EC-AFD9D6B43E63}"/>
                </a:ext>
              </a:extLst>
            </p:cNvPr>
            <p:cNvSpPr>
              <a:spLocks/>
            </p:cNvSpPr>
            <p:nvPr/>
          </p:nvSpPr>
          <p:spPr bwMode="auto">
            <a:xfrm>
              <a:off x="810" y="532"/>
              <a:ext cx="1138" cy="23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nchor="ctr">
              <a:spAutoFit/>
            </a:bodyPr>
            <a:lstStyle/>
            <a:p>
              <a:pPr algn="ctr"/>
              <a:r>
                <a:rPr lang="es-CO" noProof="0">
                  <a:solidFill>
                    <a:schemeClr val="bg1"/>
                  </a:solidFill>
                  <a:latin typeface="Century Gothic" panose="020B0502020202020204" pitchFamily="34" charset="0"/>
                </a:rPr>
                <a:t>Inversionista</a:t>
              </a:r>
            </a:p>
          </p:txBody>
        </p:sp>
      </p:grpSp>
      <p:sp>
        <p:nvSpPr>
          <p:cNvPr id="3" name="Marcador de número de diapositiva 3">
            <a:extLst>
              <a:ext uri="{FF2B5EF4-FFF2-40B4-BE49-F238E27FC236}">
                <a16:creationId xmlns:a16="http://schemas.microsoft.com/office/drawing/2014/main" id="{C2B83181-A809-48B2-F2C7-DCB1C73754E3}"/>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9</a:t>
            </a:fld>
            <a:endParaRPr lang="en-US" sz="2000" b="1">
              <a:latin typeface="Century Gothic" panose="020B0502020202020204" pitchFamily="34" charset="0"/>
            </a:endParaRPr>
          </a:p>
        </p:txBody>
      </p:sp>
    </p:spTree>
    <p:extLst>
      <p:ext uri="{BB962C8B-B14F-4D97-AF65-F5344CB8AC3E}">
        <p14:creationId xmlns:p14="http://schemas.microsoft.com/office/powerpoint/2010/main" val="8800285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animEffect transition="in" filter="fade">
                                      <p:cBhvr>
                                        <p:cTn id="7" dur="500"/>
                                        <p:tgtEl>
                                          <p:spTgt spid="2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0">
                                            <p:txEl>
                                              <p:pRg st="1" end="1"/>
                                            </p:txEl>
                                          </p:spTgt>
                                        </p:tgtEl>
                                        <p:attrNameLst>
                                          <p:attrName>style.visibility</p:attrName>
                                        </p:attrNameLst>
                                      </p:cBhvr>
                                      <p:to>
                                        <p:strVal val="visible"/>
                                      </p:to>
                                    </p:set>
                                    <p:animEffect transition="in" filter="fade">
                                      <p:cBhvr>
                                        <p:cTn id="12" dur="500"/>
                                        <p:tgtEl>
                                          <p:spTgt spid="2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fade">
                                      <p:cBhvr>
                                        <p:cTn id="17" dur="500"/>
                                        <p:tgtEl>
                                          <p:spTgt spid="21"/>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3"/>
                                        </p:tgtEl>
                                        <p:attrNameLst>
                                          <p:attrName>style.visibility</p:attrName>
                                        </p:attrNameLst>
                                      </p:cBhvr>
                                      <p:to>
                                        <p:strVal val="visible"/>
                                      </p:to>
                                    </p:set>
                                    <p:animEffect transition="in" filter="fade">
                                      <p:cBhvr>
                                        <p:cTn id="20" dur="500"/>
                                        <p:tgtEl>
                                          <p:spTgt spid="23"/>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fade">
                                      <p:cBhvr>
                                        <p:cTn id="23" dur="500"/>
                                        <p:tgtEl>
                                          <p:spTgt spid="26"/>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29"/>
                                        </p:tgtEl>
                                        <p:attrNameLst>
                                          <p:attrName>style.visibility</p:attrName>
                                        </p:attrNameLst>
                                      </p:cBhvr>
                                      <p:to>
                                        <p:strVal val="visible"/>
                                      </p:to>
                                    </p:set>
                                    <p:animEffect transition="in" filter="fade">
                                      <p:cBhvr>
                                        <p:cTn id="28" dur="500"/>
                                        <p:tgtEl>
                                          <p:spTgt spid="29"/>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4"/>
                                        </p:tgtEl>
                                        <p:attrNameLst>
                                          <p:attrName>style.visibility</p:attrName>
                                        </p:attrNameLst>
                                      </p:cBhvr>
                                      <p:to>
                                        <p:strVal val="visible"/>
                                      </p:to>
                                    </p:set>
                                    <p:animEffect transition="in" filter="fade">
                                      <p:cBhvr>
                                        <p:cTn id="31"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build="p"/>
      <p:bldP spid="21" grpId="0"/>
      <p:bldP spid="23" grpId="0" animBg="1"/>
      <p:bldP spid="26" grpId="0"/>
      <p:bldP spid="29" grpId="0" animBg="1"/>
      <p:bldP spid="3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16849D-3A37-6C36-EBBB-D29503701A0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34C71B4-F10E-FE7C-122B-827230713ACB}"/>
              </a:ext>
            </a:extLst>
          </p:cNvPr>
          <p:cNvSpPr>
            <a:spLocks noGrp="1"/>
          </p:cNvSpPr>
          <p:nvPr>
            <p:ph type="title"/>
          </p:nvPr>
        </p:nvSpPr>
        <p:spPr/>
        <p:txBody>
          <a:bodyPr>
            <a:normAutofit/>
          </a:bodyPr>
          <a:lstStyle/>
          <a:p>
            <a:r>
              <a:rPr lang="es-ES">
                <a:latin typeface="Century Gothic" panose="020B0502020202020204" pitchFamily="34" charset="0"/>
              </a:rPr>
              <a:t>Estructura de Capital</a:t>
            </a:r>
          </a:p>
        </p:txBody>
      </p:sp>
      <p:sp>
        <p:nvSpPr>
          <p:cNvPr id="9" name="Rectángulo 8">
            <a:extLst>
              <a:ext uri="{FF2B5EF4-FFF2-40B4-BE49-F238E27FC236}">
                <a16:creationId xmlns:a16="http://schemas.microsoft.com/office/drawing/2014/main" id="{C26CC199-7AEC-4D6C-1E53-1DE2E400B146}"/>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E247F5F4-CF8B-B0BD-21C1-63799844E3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FA1F4852-07DE-963F-7017-3B7A8BDE06CC}"/>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7" name="Rectangle 2">
            <a:extLst>
              <a:ext uri="{FF2B5EF4-FFF2-40B4-BE49-F238E27FC236}">
                <a16:creationId xmlns:a16="http://schemas.microsoft.com/office/drawing/2014/main" id="{367F5DF3-FA26-A4EC-685C-4716DD128FB7}"/>
              </a:ext>
            </a:extLst>
          </p:cNvPr>
          <p:cNvSpPr/>
          <p:nvPr/>
        </p:nvSpPr>
        <p:spPr>
          <a:xfrm>
            <a:off x="3669555" y="3087259"/>
            <a:ext cx="2512594" cy="3100819"/>
          </a:xfrm>
          <a:prstGeom prst="rect">
            <a:avLst/>
          </a:prstGeom>
          <a:solidFill>
            <a:schemeClr val="bg1">
              <a:lumMod val="85000"/>
            </a:schemeClr>
          </a:solidFill>
          <a:ln>
            <a:noFill/>
          </a:ln>
          <a:effectLst/>
          <a:scene3d>
            <a:camera prst="orthographicFront"/>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a:solidFill>
                  <a:schemeClr val="bg1">
                    <a:lumMod val="50000"/>
                  </a:schemeClr>
                </a:solidFill>
                <a:latin typeface="Century Gothic" panose="020B0502020202020204" pitchFamily="34" charset="0"/>
              </a:rPr>
              <a:t>Lado Izquierdo</a:t>
            </a:r>
          </a:p>
        </p:txBody>
      </p:sp>
      <p:sp>
        <p:nvSpPr>
          <p:cNvPr id="8" name="Rectangle 2">
            <a:extLst>
              <a:ext uri="{FF2B5EF4-FFF2-40B4-BE49-F238E27FC236}">
                <a16:creationId xmlns:a16="http://schemas.microsoft.com/office/drawing/2014/main" id="{F481AB08-3C5C-E0E7-3C18-61EBCF3F33A9}"/>
              </a:ext>
            </a:extLst>
          </p:cNvPr>
          <p:cNvSpPr/>
          <p:nvPr/>
        </p:nvSpPr>
        <p:spPr>
          <a:xfrm>
            <a:off x="6180502" y="3086450"/>
            <a:ext cx="2512594" cy="3100819"/>
          </a:xfrm>
          <a:prstGeom prst="rect">
            <a:avLst/>
          </a:prstGeom>
          <a:solidFill>
            <a:schemeClr val="accent1">
              <a:lumMod val="20000"/>
              <a:lumOff val="80000"/>
            </a:schemeClr>
          </a:solidFill>
          <a:ln>
            <a:noFill/>
          </a:ln>
          <a:effectLst/>
          <a:scene3d>
            <a:camera prst="orthographicFront"/>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a:solidFill>
                  <a:schemeClr val="bg1">
                    <a:lumMod val="50000"/>
                  </a:schemeClr>
                </a:solidFill>
                <a:latin typeface="Century Gothic" panose="020B0502020202020204" pitchFamily="34" charset="0"/>
              </a:rPr>
              <a:t>Lado Derecho</a:t>
            </a:r>
          </a:p>
        </p:txBody>
      </p:sp>
      <p:sp>
        <p:nvSpPr>
          <p:cNvPr id="10" name="Content Placeholder 1">
            <a:extLst>
              <a:ext uri="{FF2B5EF4-FFF2-40B4-BE49-F238E27FC236}">
                <a16:creationId xmlns:a16="http://schemas.microsoft.com/office/drawing/2014/main" id="{22E7702D-8AE7-4292-284A-4FE1DE929932}"/>
              </a:ext>
            </a:extLst>
          </p:cNvPr>
          <p:cNvSpPr>
            <a:spLocks noGrp="1"/>
          </p:cNvSpPr>
          <p:nvPr>
            <p:ph idx="1"/>
          </p:nvPr>
        </p:nvSpPr>
        <p:spPr>
          <a:xfrm>
            <a:off x="2638424" y="2200453"/>
            <a:ext cx="7610476" cy="3670767"/>
          </a:xfrm>
        </p:spPr>
        <p:txBody>
          <a:bodyPr/>
          <a:lstStyle/>
          <a:p>
            <a:pPr algn="just"/>
            <a:endParaRPr lang="es-ES_tradnl">
              <a:latin typeface="Century Gothic" panose="020B0502020202020204" pitchFamily="34" charset="0"/>
            </a:endParaRPr>
          </a:p>
          <a:p>
            <a:pPr lvl="1" algn="just">
              <a:buFont typeface="Wingdings" charset="2"/>
              <a:buChar char="§"/>
            </a:pPr>
            <a:endParaRPr lang="es-ES_tradnl" sz="1800">
              <a:latin typeface="Century Gothic" panose="020B0502020202020204" pitchFamily="34" charset="0"/>
            </a:endParaRPr>
          </a:p>
        </p:txBody>
      </p:sp>
      <p:sp>
        <p:nvSpPr>
          <p:cNvPr id="12" name="Left Brace 11">
            <a:extLst>
              <a:ext uri="{FF2B5EF4-FFF2-40B4-BE49-F238E27FC236}">
                <a16:creationId xmlns:a16="http://schemas.microsoft.com/office/drawing/2014/main" id="{3520644C-8052-7A64-D9DE-7AAD912A60FA}"/>
              </a:ext>
            </a:extLst>
          </p:cNvPr>
          <p:cNvSpPr/>
          <p:nvPr/>
        </p:nvSpPr>
        <p:spPr>
          <a:xfrm>
            <a:off x="3092233" y="2950714"/>
            <a:ext cx="575676" cy="3386330"/>
          </a:xfrm>
          <a:prstGeom prst="leftBrace">
            <a:avLst/>
          </a:prstGeom>
          <a:ln>
            <a:solidFill>
              <a:schemeClr val="accent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Century Gothic" panose="020B0502020202020204" pitchFamily="34" charset="0"/>
            </a:endParaRPr>
          </a:p>
        </p:txBody>
      </p:sp>
      <p:sp>
        <p:nvSpPr>
          <p:cNvPr id="13" name="Left Brace 12">
            <a:extLst>
              <a:ext uri="{FF2B5EF4-FFF2-40B4-BE49-F238E27FC236}">
                <a16:creationId xmlns:a16="http://schemas.microsoft.com/office/drawing/2014/main" id="{5727CF07-D1B0-59DE-EBDC-4D9C0C1B5ADC}"/>
              </a:ext>
            </a:extLst>
          </p:cNvPr>
          <p:cNvSpPr/>
          <p:nvPr/>
        </p:nvSpPr>
        <p:spPr>
          <a:xfrm rot="10800000">
            <a:off x="8693097" y="2950714"/>
            <a:ext cx="575676" cy="3386330"/>
          </a:xfrm>
          <a:prstGeom prst="leftBrace">
            <a:avLst/>
          </a:prstGeom>
          <a:ln>
            <a:solidFill>
              <a:schemeClr val="accent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Century Gothic" panose="020B0502020202020204" pitchFamily="34" charset="0"/>
            </a:endParaRPr>
          </a:p>
        </p:txBody>
      </p:sp>
      <p:sp>
        <p:nvSpPr>
          <p:cNvPr id="14" name="Content Placeholder 6">
            <a:extLst>
              <a:ext uri="{FF2B5EF4-FFF2-40B4-BE49-F238E27FC236}">
                <a16:creationId xmlns:a16="http://schemas.microsoft.com/office/drawing/2014/main" id="{77FFE5C6-A5C6-64A9-DFBF-E61F2C23661E}"/>
              </a:ext>
            </a:extLst>
          </p:cNvPr>
          <p:cNvSpPr txBox="1">
            <a:spLocks/>
          </p:cNvSpPr>
          <p:nvPr/>
        </p:nvSpPr>
        <p:spPr>
          <a:xfrm>
            <a:off x="1612256" y="4268379"/>
            <a:ext cx="1290945" cy="614454"/>
          </a:xfrm>
          <a:prstGeom prst="rect">
            <a:avLst/>
          </a:prstGeom>
        </p:spPr>
        <p:txBody>
          <a:bodyPr vert="horz" lIns="91440" tIns="45720" rIns="91440" bIns="45720" rtlCol="0">
            <a:noAutofit/>
          </a:bodyPr>
          <a:lstStyle>
            <a:lvl1pPr marL="342900" indent="-342900" algn="l" defTabSz="914400" rtl="0" eaLnBrk="1" latinLnBrk="0" hangingPunct="1">
              <a:spcBef>
                <a:spcPts val="20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2pPr>
            <a:lvl3pPr marL="10350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3pPr>
            <a:lvl4pPr marL="13716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4pPr>
            <a:lvl5pPr marL="17208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5pPr>
            <a:lvl6pPr marL="2055813"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6pPr>
            <a:lvl7pPr marL="2398713" indent="-344488" algn="l" defTabSz="914400" rtl="0" eaLnBrk="1" latinLnBrk="0" hangingPunct="1">
              <a:spcBef>
                <a:spcPct val="20000"/>
              </a:spcBef>
              <a:buClr>
                <a:schemeClr val="accent1"/>
              </a:buClr>
              <a:buFont typeface="Wingdings 2" pitchFamily="18" charset="2"/>
              <a:buChar char=""/>
              <a:defRPr lang="en-US" sz="1800" kern="1200" dirty="0" smtClean="0">
                <a:solidFill>
                  <a:schemeClr val="tx1">
                    <a:lumMod val="65000"/>
                    <a:lumOff val="35000"/>
                  </a:schemeClr>
                </a:solidFill>
                <a:latin typeface="+mn-lt"/>
                <a:ea typeface="+mn-ea"/>
                <a:cs typeface="+mn-cs"/>
              </a:defRPr>
            </a:lvl7pPr>
            <a:lvl8pPr marL="2743200"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8pPr>
            <a:lvl9pPr marL="3087688" indent="-344488" algn="l" defTabSz="914400" rtl="0" eaLnBrk="1" latinLnBrk="0" hangingPunct="1">
              <a:spcBef>
                <a:spcPct val="20000"/>
              </a:spcBef>
              <a:buClr>
                <a:schemeClr val="accent1"/>
              </a:buClr>
              <a:buFont typeface="Wingdings 2" pitchFamily="18" charset="2"/>
              <a:buChar char=""/>
              <a:defRPr lang="en-US" sz="1800" kern="1200" dirty="0">
                <a:solidFill>
                  <a:schemeClr val="tx1">
                    <a:lumMod val="65000"/>
                    <a:lumOff val="35000"/>
                  </a:schemeClr>
                </a:solidFill>
                <a:latin typeface="+mn-lt"/>
                <a:ea typeface="+mn-ea"/>
                <a:cs typeface="+mn-cs"/>
              </a:defRPr>
            </a:lvl9pPr>
          </a:lstStyle>
          <a:p>
            <a:pPr marL="0" indent="0" algn="ctr">
              <a:buNone/>
            </a:pPr>
            <a:r>
              <a:rPr lang="es-ES_tradnl" sz="1800" b="1">
                <a:solidFill>
                  <a:schemeClr val="accent1"/>
                </a:solidFill>
                <a:latin typeface="Century Gothic" panose="020B0502020202020204" pitchFamily="34" charset="0"/>
              </a:rPr>
              <a:t>Política de Inversión</a:t>
            </a:r>
          </a:p>
        </p:txBody>
      </p:sp>
      <p:sp>
        <p:nvSpPr>
          <p:cNvPr id="15" name="Content Placeholder 6">
            <a:extLst>
              <a:ext uri="{FF2B5EF4-FFF2-40B4-BE49-F238E27FC236}">
                <a16:creationId xmlns:a16="http://schemas.microsoft.com/office/drawing/2014/main" id="{706D6F79-A840-D60C-D732-9A0872324BD5}"/>
              </a:ext>
            </a:extLst>
          </p:cNvPr>
          <p:cNvSpPr txBox="1">
            <a:spLocks/>
          </p:cNvSpPr>
          <p:nvPr/>
        </p:nvSpPr>
        <p:spPr>
          <a:xfrm>
            <a:off x="9268773" y="4268379"/>
            <a:ext cx="1676518" cy="614454"/>
          </a:xfrm>
          <a:prstGeom prst="rect">
            <a:avLst/>
          </a:prstGeom>
        </p:spPr>
        <p:txBody>
          <a:bodyPr vert="horz" lIns="91440" tIns="45720" rIns="91440" bIns="45720" rtlCol="0">
            <a:noAutofit/>
          </a:bodyPr>
          <a:lstStyle>
            <a:lvl1pPr marL="342900" indent="-342900" algn="l" defTabSz="914400" rtl="0" eaLnBrk="1" latinLnBrk="0" hangingPunct="1">
              <a:spcBef>
                <a:spcPts val="20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2pPr>
            <a:lvl3pPr marL="10350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3pPr>
            <a:lvl4pPr marL="13716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4pPr>
            <a:lvl5pPr marL="17208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5pPr>
            <a:lvl6pPr marL="2055813"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6pPr>
            <a:lvl7pPr marL="2398713" indent="-344488" algn="l" defTabSz="914400" rtl="0" eaLnBrk="1" latinLnBrk="0" hangingPunct="1">
              <a:spcBef>
                <a:spcPct val="20000"/>
              </a:spcBef>
              <a:buClr>
                <a:schemeClr val="accent1"/>
              </a:buClr>
              <a:buFont typeface="Wingdings 2" pitchFamily="18" charset="2"/>
              <a:buChar char=""/>
              <a:defRPr lang="en-US" sz="1800" kern="1200" dirty="0" smtClean="0">
                <a:solidFill>
                  <a:schemeClr val="tx1">
                    <a:lumMod val="65000"/>
                    <a:lumOff val="35000"/>
                  </a:schemeClr>
                </a:solidFill>
                <a:latin typeface="+mn-lt"/>
                <a:ea typeface="+mn-ea"/>
                <a:cs typeface="+mn-cs"/>
              </a:defRPr>
            </a:lvl7pPr>
            <a:lvl8pPr marL="2743200"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8pPr>
            <a:lvl9pPr marL="3087688" indent="-344488" algn="l" defTabSz="914400" rtl="0" eaLnBrk="1" latinLnBrk="0" hangingPunct="1">
              <a:spcBef>
                <a:spcPct val="20000"/>
              </a:spcBef>
              <a:buClr>
                <a:schemeClr val="accent1"/>
              </a:buClr>
              <a:buFont typeface="Wingdings 2" pitchFamily="18" charset="2"/>
              <a:buChar char=""/>
              <a:defRPr lang="en-US" sz="1800" kern="1200" dirty="0">
                <a:solidFill>
                  <a:schemeClr val="tx1">
                    <a:lumMod val="65000"/>
                    <a:lumOff val="35000"/>
                  </a:schemeClr>
                </a:solidFill>
                <a:latin typeface="+mn-lt"/>
                <a:ea typeface="+mn-ea"/>
                <a:cs typeface="+mn-cs"/>
              </a:defRPr>
            </a:lvl9pPr>
          </a:lstStyle>
          <a:p>
            <a:pPr marL="0" indent="0" algn="ctr">
              <a:buNone/>
            </a:pPr>
            <a:r>
              <a:rPr lang="es-ES_tradnl" sz="1800" b="1">
                <a:solidFill>
                  <a:schemeClr val="accent1"/>
                </a:solidFill>
                <a:latin typeface="Century Gothic" panose="020B0502020202020204" pitchFamily="34" charset="0"/>
              </a:rPr>
              <a:t>Política de Financiación</a:t>
            </a:r>
          </a:p>
        </p:txBody>
      </p:sp>
      <p:sp>
        <p:nvSpPr>
          <p:cNvPr id="16" name="Rectángulo 10">
            <a:extLst>
              <a:ext uri="{FF2B5EF4-FFF2-40B4-BE49-F238E27FC236}">
                <a16:creationId xmlns:a16="http://schemas.microsoft.com/office/drawing/2014/main" id="{6C9531A4-D553-23A1-3A31-07E17325CC04}"/>
              </a:ext>
            </a:extLst>
          </p:cNvPr>
          <p:cNvSpPr/>
          <p:nvPr/>
        </p:nvSpPr>
        <p:spPr>
          <a:xfrm>
            <a:off x="4048805" y="2230220"/>
            <a:ext cx="4094391" cy="369332"/>
          </a:xfrm>
          <a:prstGeom prst="rect">
            <a:avLst/>
          </a:prstGeom>
        </p:spPr>
        <p:txBody>
          <a:bodyPr wrap="none">
            <a:spAutoFit/>
          </a:bodyPr>
          <a:lstStyle/>
          <a:p>
            <a:pPr defTabSz="914400">
              <a:spcBef>
                <a:spcPts val="2000"/>
              </a:spcBef>
              <a:buClr>
                <a:schemeClr val="accent1"/>
              </a:buClr>
            </a:pPr>
            <a:r>
              <a:rPr lang="en-US" b="1">
                <a:solidFill>
                  <a:srgbClr val="C00000"/>
                </a:solidFill>
                <a:latin typeface="Century Gothic" panose="020B0502020202020204" pitchFamily="34" charset="0"/>
              </a:rPr>
              <a:t>ACTIVOS = PASIVOS + PATRIMONIO</a:t>
            </a:r>
          </a:p>
        </p:txBody>
      </p:sp>
      <p:sp>
        <p:nvSpPr>
          <p:cNvPr id="17" name="Rectangle 2">
            <a:extLst>
              <a:ext uri="{FF2B5EF4-FFF2-40B4-BE49-F238E27FC236}">
                <a16:creationId xmlns:a16="http://schemas.microsoft.com/office/drawing/2014/main" id="{CF5B260E-B780-1866-BDEE-FADEBF4EDE65}"/>
              </a:ext>
            </a:extLst>
          </p:cNvPr>
          <p:cNvSpPr/>
          <p:nvPr/>
        </p:nvSpPr>
        <p:spPr>
          <a:xfrm>
            <a:off x="3665439" y="3924510"/>
            <a:ext cx="2512594" cy="2266655"/>
          </a:xfrm>
          <a:prstGeom prst="rect">
            <a:avLst/>
          </a:prstGeom>
          <a:solidFill>
            <a:schemeClr val="accent3">
              <a:lumMod val="75000"/>
            </a:schemeClr>
          </a:solidFill>
          <a:ln>
            <a:noFill/>
          </a:ln>
          <a:effectLst/>
          <a:scene3d>
            <a:camera prst="orthographicFront"/>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a:latin typeface="Century Gothic" panose="020B0502020202020204" pitchFamily="34" charset="0"/>
              </a:rPr>
              <a:t>Activo No Corriente</a:t>
            </a:r>
          </a:p>
        </p:txBody>
      </p:sp>
      <p:sp>
        <p:nvSpPr>
          <p:cNvPr id="18" name="Rectangle 7">
            <a:extLst>
              <a:ext uri="{FF2B5EF4-FFF2-40B4-BE49-F238E27FC236}">
                <a16:creationId xmlns:a16="http://schemas.microsoft.com/office/drawing/2014/main" id="{691FED18-A6F0-D65C-D095-F99CDA73832B}"/>
              </a:ext>
            </a:extLst>
          </p:cNvPr>
          <p:cNvSpPr/>
          <p:nvPr/>
        </p:nvSpPr>
        <p:spPr>
          <a:xfrm>
            <a:off x="6180502" y="3933844"/>
            <a:ext cx="2512594" cy="1051401"/>
          </a:xfrm>
          <a:prstGeom prst="rect">
            <a:avLst/>
          </a:prstGeom>
          <a:solidFill>
            <a:srgbClr val="0070C0"/>
          </a:solidFill>
          <a:ln>
            <a:noFill/>
          </a:ln>
          <a:effectLst/>
          <a:scene3d>
            <a:camera prst="obliqueTopRight"/>
            <a:lightRig rig="threePt" dir="tl"/>
          </a:scene3d>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a:latin typeface="Century Gothic" panose="020B0502020202020204" pitchFamily="34" charset="0"/>
              </a:rPr>
              <a:t>Deudas o Pasivos de </a:t>
            </a:r>
          </a:p>
          <a:p>
            <a:pPr algn="ctr"/>
            <a:r>
              <a:rPr lang="es-ES_tradnl">
                <a:latin typeface="Century Gothic" panose="020B0502020202020204" pitchFamily="34" charset="0"/>
              </a:rPr>
              <a:t>Largo Plazo/Pasivo No Corriente</a:t>
            </a:r>
          </a:p>
        </p:txBody>
      </p:sp>
      <p:sp>
        <p:nvSpPr>
          <p:cNvPr id="19" name="Rectangle 6">
            <a:extLst>
              <a:ext uri="{FF2B5EF4-FFF2-40B4-BE49-F238E27FC236}">
                <a16:creationId xmlns:a16="http://schemas.microsoft.com/office/drawing/2014/main" id="{254933FE-6E10-4D83-CC69-F6871B4A2129}"/>
              </a:ext>
            </a:extLst>
          </p:cNvPr>
          <p:cNvSpPr/>
          <p:nvPr/>
        </p:nvSpPr>
        <p:spPr>
          <a:xfrm>
            <a:off x="3666262" y="3087259"/>
            <a:ext cx="2512594" cy="846584"/>
          </a:xfrm>
          <a:prstGeom prst="rect">
            <a:avLst/>
          </a:prstGeom>
          <a:solidFill>
            <a:schemeClr val="accent1">
              <a:lumMod val="75000"/>
            </a:schemeClr>
          </a:solidFill>
          <a:ln>
            <a:noFill/>
          </a:ln>
          <a:effectLst/>
          <a:scene3d>
            <a:camera prst="orthographicFront"/>
            <a:lightRig rig="threePt" dir="t"/>
          </a:scene3d>
          <a:sp3d/>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s-ES_tradnl">
                <a:latin typeface="Century Gothic" panose="020B0502020202020204" pitchFamily="34" charset="0"/>
              </a:rPr>
              <a:t>Activos Corrientes</a:t>
            </a:r>
          </a:p>
        </p:txBody>
      </p:sp>
      <p:sp>
        <p:nvSpPr>
          <p:cNvPr id="30" name="Rectangle 5">
            <a:extLst>
              <a:ext uri="{FF2B5EF4-FFF2-40B4-BE49-F238E27FC236}">
                <a16:creationId xmlns:a16="http://schemas.microsoft.com/office/drawing/2014/main" id="{C506A951-1BB7-449F-F537-03A92FF7E726}"/>
              </a:ext>
            </a:extLst>
          </p:cNvPr>
          <p:cNvSpPr/>
          <p:nvPr/>
        </p:nvSpPr>
        <p:spPr>
          <a:xfrm>
            <a:off x="6180502" y="3087259"/>
            <a:ext cx="2510948" cy="846584"/>
          </a:xfrm>
          <a:prstGeom prst="rect">
            <a:avLst/>
          </a:prstGeom>
          <a:solidFill>
            <a:srgbClr val="072F63"/>
          </a:solidFill>
          <a:ln>
            <a:noFill/>
          </a:ln>
          <a:effectLst/>
          <a:scene3d>
            <a:camera prst="orthographicFront"/>
            <a:lightRig rig="threePt" dir="t"/>
          </a:scene3d>
          <a:sp3d/>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s-ES_tradnl">
                <a:latin typeface="Century Gothic" panose="020B0502020202020204" pitchFamily="34" charset="0"/>
              </a:rPr>
              <a:t>Pasivos Corrientes</a:t>
            </a:r>
          </a:p>
        </p:txBody>
      </p:sp>
      <p:sp>
        <p:nvSpPr>
          <p:cNvPr id="31" name="Rectangle 8">
            <a:extLst>
              <a:ext uri="{FF2B5EF4-FFF2-40B4-BE49-F238E27FC236}">
                <a16:creationId xmlns:a16="http://schemas.microsoft.com/office/drawing/2014/main" id="{EB8B0FCC-094E-8EB2-796D-9EA53AADAAA0}"/>
              </a:ext>
            </a:extLst>
          </p:cNvPr>
          <p:cNvSpPr/>
          <p:nvPr/>
        </p:nvSpPr>
        <p:spPr>
          <a:xfrm>
            <a:off x="6178856" y="4985244"/>
            <a:ext cx="2512594" cy="1205350"/>
          </a:xfrm>
          <a:prstGeom prst="rect">
            <a:avLst/>
          </a:prstGeom>
          <a:solidFill>
            <a:srgbClr val="141620"/>
          </a:solidFill>
          <a:ln>
            <a:noFill/>
          </a:ln>
          <a:effectLst/>
          <a:scene3d>
            <a:camera prst="orthographicFront"/>
            <a:lightRig rig="threePt" dir="t"/>
          </a:scene3d>
          <a:sp3d/>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s-ES_tradnl">
                <a:latin typeface="Century Gothic" panose="020B0502020202020204" pitchFamily="34" charset="0"/>
              </a:rPr>
              <a:t>Patrimonio</a:t>
            </a:r>
          </a:p>
        </p:txBody>
      </p:sp>
      <p:sp>
        <p:nvSpPr>
          <p:cNvPr id="3" name="Marcador de número de diapositiva 3">
            <a:extLst>
              <a:ext uri="{FF2B5EF4-FFF2-40B4-BE49-F238E27FC236}">
                <a16:creationId xmlns:a16="http://schemas.microsoft.com/office/drawing/2014/main" id="{457E4EA8-EF57-E792-4DF6-8742F1A0ACC2}"/>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10</a:t>
            </a:fld>
            <a:endParaRPr lang="en-US" sz="2000" b="1">
              <a:latin typeface="Century Gothic" panose="020B0502020202020204" pitchFamily="34" charset="0"/>
            </a:endParaRPr>
          </a:p>
        </p:txBody>
      </p:sp>
    </p:spTree>
    <p:extLst>
      <p:ext uri="{BB962C8B-B14F-4D97-AF65-F5344CB8AC3E}">
        <p14:creationId xmlns:p14="http://schemas.microsoft.com/office/powerpoint/2010/main" val="20697428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5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5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0"/>
                                        </p:tgtEl>
                                        <p:attrNameLst>
                                          <p:attrName>style.visibility</p:attrName>
                                        </p:attrNameLst>
                                      </p:cBhvr>
                                      <p:to>
                                        <p:strVal val="visible"/>
                                      </p:to>
                                    </p:set>
                                    <p:animEffect transition="in" filter="fade">
                                      <p:cBhvr>
                                        <p:cTn id="22" dur="500"/>
                                        <p:tgtEl>
                                          <p:spTgt spid="3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500"/>
                                        <p:tgtEl>
                                          <p:spTgt spid="18"/>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31"/>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500"/>
                                        <p:tgtEl>
                                          <p:spTgt spid="12"/>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5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fade">
                                      <p:cBhvr>
                                        <p:cTn id="44" dur="500"/>
                                        <p:tgtEl>
                                          <p:spTgt spid="13"/>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fade">
                                      <p:cBhvr>
                                        <p:cTn id="4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p:bldP spid="15" grpId="0"/>
      <p:bldP spid="16" grpId="0"/>
      <p:bldP spid="17" grpId="0" animBg="1"/>
      <p:bldP spid="18" grpId="0" animBg="1"/>
      <p:bldP spid="19" grpId="0" animBg="1"/>
      <p:bldP spid="30" grpId="0" animBg="1"/>
      <p:bldP spid="31"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DAF21F-AE78-EEE8-DD09-4833F866588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B453F4F-D52E-7642-C888-7C1C0BBBB0F5}"/>
              </a:ext>
            </a:extLst>
          </p:cNvPr>
          <p:cNvSpPr>
            <a:spLocks noGrp="1"/>
          </p:cNvSpPr>
          <p:nvPr>
            <p:ph type="title"/>
          </p:nvPr>
        </p:nvSpPr>
        <p:spPr/>
        <p:txBody>
          <a:bodyPr>
            <a:normAutofit/>
          </a:bodyPr>
          <a:lstStyle/>
          <a:p>
            <a:r>
              <a:rPr lang="es-ES">
                <a:latin typeface="Century Gothic" panose="020B0502020202020204" pitchFamily="34" charset="0"/>
              </a:rPr>
              <a:t>Estructura de Capital</a:t>
            </a:r>
          </a:p>
        </p:txBody>
      </p:sp>
      <p:sp>
        <p:nvSpPr>
          <p:cNvPr id="9" name="Rectángulo 8">
            <a:extLst>
              <a:ext uri="{FF2B5EF4-FFF2-40B4-BE49-F238E27FC236}">
                <a16:creationId xmlns:a16="http://schemas.microsoft.com/office/drawing/2014/main" id="{0124B46A-5223-7F21-3B97-3D0854519245}"/>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1FD7A557-E8ED-989F-81DB-65D1BBC82D9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8A758C02-0323-D223-0210-AB39DD2CA751}"/>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4" name="Rectangle 2">
            <a:extLst>
              <a:ext uri="{FF2B5EF4-FFF2-40B4-BE49-F238E27FC236}">
                <a16:creationId xmlns:a16="http://schemas.microsoft.com/office/drawing/2014/main" id="{1BCD91DF-2097-4BAB-8913-8073820F3E26}"/>
              </a:ext>
            </a:extLst>
          </p:cNvPr>
          <p:cNvSpPr/>
          <p:nvPr/>
        </p:nvSpPr>
        <p:spPr>
          <a:xfrm>
            <a:off x="6797192" y="3261383"/>
            <a:ext cx="2512594" cy="3100819"/>
          </a:xfrm>
          <a:prstGeom prst="rect">
            <a:avLst/>
          </a:prstGeom>
          <a:solidFill>
            <a:schemeClr val="accent1">
              <a:lumMod val="20000"/>
              <a:lumOff val="80000"/>
            </a:schemeClr>
          </a:solidFill>
          <a:ln>
            <a:noFill/>
          </a:ln>
          <a:effectLst/>
          <a:scene3d>
            <a:camera prst="orthographicFront"/>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a:solidFill>
                  <a:schemeClr val="bg1">
                    <a:lumMod val="50000"/>
                  </a:schemeClr>
                </a:solidFill>
                <a:latin typeface="Century Gothic" panose="020B0502020202020204" pitchFamily="34" charset="0"/>
              </a:rPr>
              <a:t>Lado Derecho</a:t>
            </a:r>
          </a:p>
        </p:txBody>
      </p:sp>
      <p:sp>
        <p:nvSpPr>
          <p:cNvPr id="35" name="Rectangle 5">
            <a:extLst>
              <a:ext uri="{FF2B5EF4-FFF2-40B4-BE49-F238E27FC236}">
                <a16:creationId xmlns:a16="http://schemas.microsoft.com/office/drawing/2014/main" id="{3F84D975-8326-15A1-625A-391BDA69E26C}"/>
              </a:ext>
            </a:extLst>
          </p:cNvPr>
          <p:cNvSpPr/>
          <p:nvPr/>
        </p:nvSpPr>
        <p:spPr>
          <a:xfrm>
            <a:off x="6807833" y="3250406"/>
            <a:ext cx="2510948" cy="846584"/>
          </a:xfrm>
          <a:prstGeom prst="rect">
            <a:avLst/>
          </a:prstGeom>
          <a:solidFill>
            <a:srgbClr val="072F63"/>
          </a:solidFill>
          <a:ln>
            <a:noFill/>
          </a:ln>
          <a:effectLst/>
          <a:scene3d>
            <a:camera prst="orthographicFront"/>
            <a:lightRig rig="threePt" dir="t"/>
          </a:scene3d>
          <a:sp3d/>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s-ES_tradnl">
                <a:latin typeface="Century Gothic" panose="020B0502020202020204" pitchFamily="34" charset="0"/>
              </a:rPr>
              <a:t>Pasivos Corrientes</a:t>
            </a:r>
          </a:p>
        </p:txBody>
      </p:sp>
      <p:sp>
        <p:nvSpPr>
          <p:cNvPr id="36" name="Marcador de contenido 2">
            <a:extLst>
              <a:ext uri="{FF2B5EF4-FFF2-40B4-BE49-F238E27FC236}">
                <a16:creationId xmlns:a16="http://schemas.microsoft.com/office/drawing/2014/main" id="{85DCA8B9-93D3-76E9-3EFE-84112A887315}"/>
              </a:ext>
            </a:extLst>
          </p:cNvPr>
          <p:cNvSpPr>
            <a:spLocks noGrp="1"/>
          </p:cNvSpPr>
          <p:nvPr>
            <p:ph idx="1"/>
          </p:nvPr>
        </p:nvSpPr>
        <p:spPr>
          <a:xfrm>
            <a:off x="833832" y="2061095"/>
            <a:ext cx="10524337" cy="1071047"/>
          </a:xfrm>
        </p:spPr>
        <p:txBody>
          <a:bodyPr>
            <a:normAutofit/>
          </a:bodyPr>
          <a:lstStyle/>
          <a:p>
            <a:pPr algn="just"/>
            <a:r>
              <a:rPr lang="es-ES">
                <a:solidFill>
                  <a:schemeClr val="accent1"/>
                </a:solidFill>
                <a:latin typeface="Century Gothic" panose="020B0502020202020204" pitchFamily="34" charset="0"/>
              </a:rPr>
              <a:t>Ahora bien, al hablar de </a:t>
            </a:r>
            <a:r>
              <a:rPr lang="es-ES">
                <a:solidFill>
                  <a:srgbClr val="C00000"/>
                </a:solidFill>
                <a:latin typeface="Century Gothic" panose="020B0502020202020204" pitchFamily="34" charset="0"/>
              </a:rPr>
              <a:t>estructura de capital</a:t>
            </a:r>
            <a:r>
              <a:rPr lang="es-ES">
                <a:solidFill>
                  <a:schemeClr val="accent1"/>
                </a:solidFill>
                <a:latin typeface="Century Gothic" panose="020B0502020202020204" pitchFamily="34" charset="0"/>
              </a:rPr>
              <a:t>, se hace referencia a las </a:t>
            </a:r>
            <a:r>
              <a:rPr lang="es-ES" b="1">
                <a:solidFill>
                  <a:srgbClr val="D7A700"/>
                </a:solidFill>
                <a:latin typeface="Century Gothic" panose="020B0502020202020204" pitchFamily="34" charset="0"/>
              </a:rPr>
              <a:t>fuentes de financiación de largo plazo</a:t>
            </a:r>
            <a:r>
              <a:rPr lang="es-ES">
                <a:solidFill>
                  <a:schemeClr val="accent1"/>
                </a:solidFill>
                <a:latin typeface="Century Gothic" panose="020B0502020202020204" pitchFamily="34" charset="0"/>
              </a:rPr>
              <a:t> que la firma utiliza para financiar sus inversiones. </a:t>
            </a:r>
          </a:p>
        </p:txBody>
      </p:sp>
      <p:sp>
        <p:nvSpPr>
          <p:cNvPr id="37" name="Left Brace 9">
            <a:extLst>
              <a:ext uri="{FF2B5EF4-FFF2-40B4-BE49-F238E27FC236}">
                <a16:creationId xmlns:a16="http://schemas.microsoft.com/office/drawing/2014/main" id="{AD109D81-B66D-1D16-3349-D01B8D67D821}"/>
              </a:ext>
            </a:extLst>
          </p:cNvPr>
          <p:cNvSpPr/>
          <p:nvPr/>
        </p:nvSpPr>
        <p:spPr>
          <a:xfrm rot="10800000">
            <a:off x="9326045" y="4083988"/>
            <a:ext cx="359084" cy="2284556"/>
          </a:xfrm>
          <a:prstGeom prst="leftBrace">
            <a:avLst/>
          </a:prstGeom>
          <a:ln>
            <a:solidFill>
              <a:schemeClr val="accent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Century Gothic" panose="020B0502020202020204" pitchFamily="34" charset="0"/>
            </a:endParaRPr>
          </a:p>
        </p:txBody>
      </p:sp>
      <p:sp>
        <p:nvSpPr>
          <p:cNvPr id="38" name="Content Placeholder 6">
            <a:extLst>
              <a:ext uri="{FF2B5EF4-FFF2-40B4-BE49-F238E27FC236}">
                <a16:creationId xmlns:a16="http://schemas.microsoft.com/office/drawing/2014/main" id="{3FA6147E-FC01-7AE6-B554-2FF6EDF9D593}"/>
              </a:ext>
            </a:extLst>
          </p:cNvPr>
          <p:cNvSpPr txBox="1">
            <a:spLocks/>
          </p:cNvSpPr>
          <p:nvPr/>
        </p:nvSpPr>
        <p:spPr>
          <a:xfrm>
            <a:off x="9701388" y="4910102"/>
            <a:ext cx="1746900" cy="614454"/>
          </a:xfrm>
          <a:prstGeom prst="rect">
            <a:avLst/>
          </a:prstGeom>
        </p:spPr>
        <p:txBody>
          <a:bodyPr vert="horz" lIns="91440" tIns="45720" rIns="91440" bIns="45720" rtlCol="0">
            <a:noAutofit/>
          </a:bodyPr>
          <a:lstStyle>
            <a:defPPr>
              <a:defRPr lang="en-US"/>
            </a:defPPr>
            <a:lvl1pPr indent="0" algn="ctr" defTabSz="914400">
              <a:spcBef>
                <a:spcPts val="2000"/>
              </a:spcBef>
              <a:buClr>
                <a:schemeClr val="accent1"/>
              </a:buClr>
              <a:buFont typeface="Wingdings 2" pitchFamily="18" charset="2"/>
              <a:buNone/>
              <a:defRPr b="1">
                <a:solidFill>
                  <a:schemeClr val="accent1"/>
                </a:solidFill>
              </a:defRPr>
            </a:lvl1pPr>
            <a:lvl2pPr marL="685800" indent="-336550" defTabSz="914400">
              <a:spcBef>
                <a:spcPts val="600"/>
              </a:spcBef>
              <a:buClr>
                <a:schemeClr val="accent1">
                  <a:lumMod val="50000"/>
                </a:schemeClr>
              </a:buClr>
              <a:buFont typeface="Wingdings 2" pitchFamily="18" charset="2"/>
              <a:buChar char=""/>
              <a:defRPr>
                <a:solidFill>
                  <a:schemeClr val="tx1">
                    <a:lumMod val="65000"/>
                    <a:lumOff val="35000"/>
                  </a:schemeClr>
                </a:solidFill>
              </a:defRPr>
            </a:lvl2pPr>
            <a:lvl3pPr marL="1035050" indent="-349250" defTabSz="914400">
              <a:spcBef>
                <a:spcPts val="600"/>
              </a:spcBef>
              <a:buClr>
                <a:schemeClr val="accent1"/>
              </a:buClr>
              <a:buFont typeface="Wingdings 2" pitchFamily="18" charset="2"/>
              <a:buChar char=""/>
              <a:defRPr>
                <a:solidFill>
                  <a:schemeClr val="tx1">
                    <a:lumMod val="65000"/>
                    <a:lumOff val="35000"/>
                  </a:schemeClr>
                </a:solidFill>
              </a:defRPr>
            </a:lvl3pPr>
            <a:lvl4pPr indent="-336550" defTabSz="914400">
              <a:spcBef>
                <a:spcPts val="600"/>
              </a:spcBef>
              <a:buClr>
                <a:schemeClr val="accent1">
                  <a:lumMod val="50000"/>
                </a:schemeClr>
              </a:buClr>
              <a:buFont typeface="Wingdings 2" pitchFamily="18" charset="2"/>
              <a:buChar char=""/>
              <a:defRPr>
                <a:solidFill>
                  <a:schemeClr val="tx1">
                    <a:lumMod val="65000"/>
                    <a:lumOff val="35000"/>
                  </a:schemeClr>
                </a:solidFill>
              </a:defRPr>
            </a:lvl4pPr>
            <a:lvl5pPr marL="1720850" indent="-349250" defTabSz="914400">
              <a:spcBef>
                <a:spcPts val="600"/>
              </a:spcBef>
              <a:buClr>
                <a:schemeClr val="accent1"/>
              </a:buClr>
              <a:buFont typeface="Wingdings 2" pitchFamily="18" charset="2"/>
              <a:buChar char=""/>
              <a:defRPr>
                <a:solidFill>
                  <a:schemeClr val="tx1">
                    <a:lumMod val="65000"/>
                    <a:lumOff val="35000"/>
                  </a:schemeClr>
                </a:solidFill>
              </a:defRPr>
            </a:lvl5pPr>
            <a:lvl6pPr marL="2055813" indent="-344488" defTabSz="914400">
              <a:spcBef>
                <a:spcPct val="20000"/>
              </a:spcBef>
              <a:buClr>
                <a:schemeClr val="accent1">
                  <a:lumMod val="50000"/>
                </a:schemeClr>
              </a:buClr>
              <a:buFont typeface="Wingdings 2" pitchFamily="18" charset="2"/>
              <a:buChar char=""/>
              <a:defRPr>
                <a:solidFill>
                  <a:schemeClr val="tx1">
                    <a:lumMod val="65000"/>
                    <a:lumOff val="35000"/>
                  </a:schemeClr>
                </a:solidFill>
              </a:defRPr>
            </a:lvl6pPr>
            <a:lvl7pPr marL="2398713" indent="-344488" defTabSz="914400">
              <a:spcBef>
                <a:spcPct val="20000"/>
              </a:spcBef>
              <a:buClr>
                <a:schemeClr val="accent1"/>
              </a:buClr>
              <a:buFont typeface="Wingdings 2" pitchFamily="18" charset="2"/>
              <a:buChar char=""/>
              <a:defRPr>
                <a:solidFill>
                  <a:schemeClr val="tx1">
                    <a:lumMod val="65000"/>
                    <a:lumOff val="35000"/>
                  </a:schemeClr>
                </a:solidFill>
              </a:defRPr>
            </a:lvl7pPr>
            <a:lvl8pPr marL="2743200" indent="-344488" defTabSz="914400">
              <a:spcBef>
                <a:spcPct val="20000"/>
              </a:spcBef>
              <a:buClr>
                <a:schemeClr val="accent1">
                  <a:lumMod val="50000"/>
                </a:schemeClr>
              </a:buClr>
              <a:buFont typeface="Wingdings 2" pitchFamily="18" charset="2"/>
              <a:buChar char=""/>
              <a:defRPr>
                <a:solidFill>
                  <a:schemeClr val="tx1">
                    <a:lumMod val="65000"/>
                    <a:lumOff val="35000"/>
                  </a:schemeClr>
                </a:solidFill>
              </a:defRPr>
            </a:lvl8pPr>
            <a:lvl9pPr marL="3087688" indent="-344488" defTabSz="914400">
              <a:spcBef>
                <a:spcPct val="20000"/>
              </a:spcBef>
              <a:buClr>
                <a:schemeClr val="accent1"/>
              </a:buClr>
              <a:buFont typeface="Wingdings 2" pitchFamily="18" charset="2"/>
              <a:buChar char=""/>
              <a:defRPr>
                <a:solidFill>
                  <a:schemeClr val="tx1">
                    <a:lumMod val="65000"/>
                    <a:lumOff val="35000"/>
                  </a:schemeClr>
                </a:solidFill>
              </a:defRPr>
            </a:lvl9pPr>
          </a:lstStyle>
          <a:p>
            <a:r>
              <a:rPr lang="es-ES_tradnl">
                <a:latin typeface="Century Gothic" panose="020B0502020202020204" pitchFamily="34" charset="0"/>
              </a:rPr>
              <a:t>Estructura de Capital</a:t>
            </a:r>
          </a:p>
        </p:txBody>
      </p:sp>
      <p:sp>
        <p:nvSpPr>
          <p:cNvPr id="39" name="CuadroTexto 17">
            <a:extLst>
              <a:ext uri="{FF2B5EF4-FFF2-40B4-BE49-F238E27FC236}">
                <a16:creationId xmlns:a16="http://schemas.microsoft.com/office/drawing/2014/main" id="{719EF98E-3EF3-0DC0-E5E3-0C0BC4623577}"/>
              </a:ext>
            </a:extLst>
          </p:cNvPr>
          <p:cNvSpPr txBox="1"/>
          <p:nvPr/>
        </p:nvSpPr>
        <p:spPr>
          <a:xfrm>
            <a:off x="890954" y="3216205"/>
            <a:ext cx="3080267" cy="2585323"/>
          </a:xfrm>
          <a:prstGeom prst="rect">
            <a:avLst/>
          </a:prstGeom>
          <a:noFill/>
        </p:spPr>
        <p:txBody>
          <a:bodyPr wrap="square" rtlCol="0">
            <a:spAutoFit/>
          </a:bodyPr>
          <a:lstStyle/>
          <a:p>
            <a:pPr algn="just"/>
            <a:r>
              <a:rPr lang="es-ES">
                <a:solidFill>
                  <a:schemeClr val="accent1"/>
                </a:solidFill>
                <a:latin typeface="Century Gothic" panose="020B0502020202020204" pitchFamily="34" charset="0"/>
              </a:rPr>
              <a:t>Cabe anotar que el </a:t>
            </a:r>
            <a:r>
              <a:rPr lang="es-ES" b="1">
                <a:solidFill>
                  <a:srgbClr val="D7A700"/>
                </a:solidFill>
                <a:latin typeface="Century Gothic" panose="020B0502020202020204" pitchFamily="34" charset="0"/>
              </a:rPr>
              <a:t>pasivo corriente</a:t>
            </a:r>
            <a:r>
              <a:rPr lang="es-ES">
                <a:solidFill>
                  <a:schemeClr val="accent1"/>
                </a:solidFill>
                <a:latin typeface="Century Gothic" panose="020B0502020202020204" pitchFamily="34" charset="0"/>
              </a:rPr>
              <a:t>, o de corto plazo de la firma, hace parte de la estructura de financiación de la firma, más no de la estructura de capital.</a:t>
            </a:r>
          </a:p>
          <a:p>
            <a:pPr algn="just"/>
            <a:endParaRPr lang="es-ES">
              <a:solidFill>
                <a:sysClr val="windowText" lastClr="000000"/>
              </a:solidFill>
              <a:latin typeface="Century Gothic" panose="020B0502020202020204" pitchFamily="34" charset="0"/>
            </a:endParaRPr>
          </a:p>
        </p:txBody>
      </p:sp>
      <p:sp>
        <p:nvSpPr>
          <p:cNvPr id="40" name="Rectangle 2">
            <a:extLst>
              <a:ext uri="{FF2B5EF4-FFF2-40B4-BE49-F238E27FC236}">
                <a16:creationId xmlns:a16="http://schemas.microsoft.com/office/drawing/2014/main" id="{C65DC2D2-8935-23BB-2639-50D687399096}"/>
              </a:ext>
            </a:extLst>
          </p:cNvPr>
          <p:cNvSpPr/>
          <p:nvPr/>
        </p:nvSpPr>
        <p:spPr>
          <a:xfrm>
            <a:off x="4286245" y="3262192"/>
            <a:ext cx="2512594" cy="3100819"/>
          </a:xfrm>
          <a:prstGeom prst="rect">
            <a:avLst/>
          </a:prstGeom>
          <a:solidFill>
            <a:schemeClr val="bg1">
              <a:lumMod val="85000"/>
            </a:schemeClr>
          </a:solidFill>
          <a:ln>
            <a:noFill/>
          </a:ln>
          <a:effectLst/>
          <a:scene3d>
            <a:camera prst="orthographicFront"/>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a:solidFill>
                  <a:schemeClr val="bg1">
                    <a:lumMod val="50000"/>
                  </a:schemeClr>
                </a:solidFill>
                <a:latin typeface="Century Gothic" panose="020B0502020202020204" pitchFamily="34" charset="0"/>
              </a:rPr>
              <a:t>Lado Izquierdo</a:t>
            </a:r>
          </a:p>
        </p:txBody>
      </p:sp>
      <p:sp>
        <p:nvSpPr>
          <p:cNvPr id="41" name="Rectangle 2">
            <a:extLst>
              <a:ext uri="{FF2B5EF4-FFF2-40B4-BE49-F238E27FC236}">
                <a16:creationId xmlns:a16="http://schemas.microsoft.com/office/drawing/2014/main" id="{A0A81D1A-A5DB-6718-33F3-BC7955F390D0}"/>
              </a:ext>
            </a:extLst>
          </p:cNvPr>
          <p:cNvSpPr/>
          <p:nvPr/>
        </p:nvSpPr>
        <p:spPr>
          <a:xfrm>
            <a:off x="4315686" y="4077386"/>
            <a:ext cx="2512594" cy="2298740"/>
          </a:xfrm>
          <a:prstGeom prst="rect">
            <a:avLst/>
          </a:prstGeom>
          <a:solidFill>
            <a:schemeClr val="accent3">
              <a:lumMod val="75000"/>
            </a:schemeClr>
          </a:solidFill>
          <a:ln>
            <a:noFill/>
          </a:ln>
          <a:effectLst/>
          <a:scene3d>
            <a:camera prst="orthographicFront"/>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a:latin typeface="Century Gothic" panose="020B0502020202020204" pitchFamily="34" charset="0"/>
              </a:rPr>
              <a:t>Activo No Corriente</a:t>
            </a:r>
          </a:p>
        </p:txBody>
      </p:sp>
      <p:sp>
        <p:nvSpPr>
          <p:cNvPr id="42" name="Rectangle 7">
            <a:extLst>
              <a:ext uri="{FF2B5EF4-FFF2-40B4-BE49-F238E27FC236}">
                <a16:creationId xmlns:a16="http://schemas.microsoft.com/office/drawing/2014/main" id="{C3B0BB7E-2669-1F43-9653-705552E724CA}"/>
              </a:ext>
            </a:extLst>
          </p:cNvPr>
          <p:cNvSpPr/>
          <p:nvPr/>
        </p:nvSpPr>
        <p:spPr>
          <a:xfrm>
            <a:off x="6818466" y="4101274"/>
            <a:ext cx="2512594" cy="1051401"/>
          </a:xfrm>
          <a:prstGeom prst="rect">
            <a:avLst/>
          </a:prstGeom>
          <a:solidFill>
            <a:srgbClr val="0070C0"/>
          </a:solidFill>
          <a:ln>
            <a:noFill/>
          </a:ln>
          <a:effectLst/>
          <a:scene3d>
            <a:camera prst="obliqueTopRight"/>
            <a:lightRig rig="threePt" dir="tl"/>
          </a:scene3d>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a:latin typeface="Century Gothic" panose="020B0502020202020204" pitchFamily="34" charset="0"/>
              </a:rPr>
              <a:t>Deudas o Pasivos de </a:t>
            </a:r>
          </a:p>
          <a:p>
            <a:pPr algn="ctr"/>
            <a:r>
              <a:rPr lang="es-ES_tradnl">
                <a:latin typeface="Century Gothic" panose="020B0502020202020204" pitchFamily="34" charset="0"/>
              </a:rPr>
              <a:t>Largo Plazo/Pasivo No Corriente</a:t>
            </a:r>
          </a:p>
        </p:txBody>
      </p:sp>
      <p:sp>
        <p:nvSpPr>
          <p:cNvPr id="43" name="Rectangle 6">
            <a:extLst>
              <a:ext uri="{FF2B5EF4-FFF2-40B4-BE49-F238E27FC236}">
                <a16:creationId xmlns:a16="http://schemas.microsoft.com/office/drawing/2014/main" id="{BCA89B87-9D8C-BBFD-454E-3EA23D8E7F52}"/>
              </a:ext>
            </a:extLst>
          </p:cNvPr>
          <p:cNvSpPr/>
          <p:nvPr/>
        </p:nvSpPr>
        <p:spPr>
          <a:xfrm>
            <a:off x="4304226" y="3246751"/>
            <a:ext cx="2512594" cy="846584"/>
          </a:xfrm>
          <a:prstGeom prst="rect">
            <a:avLst/>
          </a:prstGeom>
          <a:solidFill>
            <a:schemeClr val="accent1">
              <a:lumMod val="75000"/>
            </a:schemeClr>
          </a:solidFill>
          <a:ln>
            <a:noFill/>
          </a:ln>
          <a:effectLst/>
          <a:scene3d>
            <a:camera prst="orthographicFront"/>
            <a:lightRig rig="threePt" dir="t"/>
          </a:scene3d>
          <a:sp3d/>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s-ES_tradnl">
                <a:latin typeface="Century Gothic" panose="020B0502020202020204" pitchFamily="34" charset="0"/>
              </a:rPr>
              <a:t>Activos Corrientes</a:t>
            </a:r>
          </a:p>
        </p:txBody>
      </p:sp>
      <p:sp>
        <p:nvSpPr>
          <p:cNvPr id="44" name="Rectangle 8">
            <a:extLst>
              <a:ext uri="{FF2B5EF4-FFF2-40B4-BE49-F238E27FC236}">
                <a16:creationId xmlns:a16="http://schemas.microsoft.com/office/drawing/2014/main" id="{FC0D86B0-96D5-B4B6-9C9F-50A428DB9984}"/>
              </a:ext>
            </a:extLst>
          </p:cNvPr>
          <p:cNvSpPr/>
          <p:nvPr/>
        </p:nvSpPr>
        <p:spPr>
          <a:xfrm>
            <a:off x="6816820" y="5159024"/>
            <a:ext cx="2512594" cy="1205350"/>
          </a:xfrm>
          <a:prstGeom prst="rect">
            <a:avLst/>
          </a:prstGeom>
          <a:solidFill>
            <a:srgbClr val="141620"/>
          </a:solidFill>
          <a:ln>
            <a:noFill/>
          </a:ln>
          <a:effectLst/>
          <a:scene3d>
            <a:camera prst="orthographicFront"/>
            <a:lightRig rig="threePt" dir="t"/>
          </a:scene3d>
          <a:sp3d/>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s-ES_tradnl">
                <a:latin typeface="Century Gothic" panose="020B0502020202020204" pitchFamily="34" charset="0"/>
              </a:rPr>
              <a:t>Patrimonio</a:t>
            </a:r>
          </a:p>
        </p:txBody>
      </p:sp>
      <p:sp>
        <p:nvSpPr>
          <p:cNvPr id="45" name="Rectángulo 18">
            <a:extLst>
              <a:ext uri="{FF2B5EF4-FFF2-40B4-BE49-F238E27FC236}">
                <a16:creationId xmlns:a16="http://schemas.microsoft.com/office/drawing/2014/main" id="{7FC85A4B-98E0-8E11-9960-435733792992}"/>
              </a:ext>
            </a:extLst>
          </p:cNvPr>
          <p:cNvSpPr/>
          <p:nvPr/>
        </p:nvSpPr>
        <p:spPr>
          <a:xfrm>
            <a:off x="6816811" y="3233288"/>
            <a:ext cx="2510948" cy="833739"/>
          </a:xfrm>
          <a:prstGeom prst="rect">
            <a:avLst/>
          </a:prstGeom>
          <a:noFill/>
          <a:ln w="38100">
            <a:solidFill>
              <a:srgbClr val="FF0000"/>
            </a:solidFill>
            <a:prstDash val="dash"/>
          </a:ln>
        </p:spPr>
        <p:style>
          <a:lnRef idx="2">
            <a:schemeClr val="accent3"/>
          </a:lnRef>
          <a:fillRef idx="1">
            <a:schemeClr val="lt1"/>
          </a:fillRef>
          <a:effectRef idx="0">
            <a:schemeClr val="accent3"/>
          </a:effectRef>
          <a:fontRef idx="minor">
            <a:schemeClr val="dk1"/>
          </a:fontRef>
        </p:style>
        <p:txBody>
          <a:bodyPr rtlCol="0" anchor="ctr"/>
          <a:lstStyle/>
          <a:p>
            <a:pPr algn="ctr"/>
            <a:endParaRPr lang="es-ES">
              <a:ln w="57150">
                <a:solidFill>
                  <a:schemeClr val="tx1"/>
                </a:solidFill>
              </a:ln>
              <a:solidFill>
                <a:schemeClr val="accent6">
                  <a:lumMod val="60000"/>
                  <a:lumOff val="40000"/>
                </a:schemeClr>
              </a:solidFill>
              <a:latin typeface="Century Gothic" panose="020B0502020202020204" pitchFamily="34" charset="0"/>
            </a:endParaRPr>
          </a:p>
        </p:txBody>
      </p:sp>
      <p:sp>
        <p:nvSpPr>
          <p:cNvPr id="3" name="Marcador de número de diapositiva 3">
            <a:extLst>
              <a:ext uri="{FF2B5EF4-FFF2-40B4-BE49-F238E27FC236}">
                <a16:creationId xmlns:a16="http://schemas.microsoft.com/office/drawing/2014/main" id="{2E164507-8943-9EEA-3226-CBD63971AD27}"/>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11</a:t>
            </a:fld>
            <a:endParaRPr lang="en-US" sz="2000" b="1">
              <a:latin typeface="Century Gothic" panose="020B0502020202020204" pitchFamily="34" charset="0"/>
            </a:endParaRPr>
          </a:p>
        </p:txBody>
      </p:sp>
    </p:spTree>
    <p:extLst>
      <p:ext uri="{BB962C8B-B14F-4D97-AF65-F5344CB8AC3E}">
        <p14:creationId xmlns:p14="http://schemas.microsoft.com/office/powerpoint/2010/main" val="12334118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500"/>
                                        <p:tgtEl>
                                          <p:spTgt spid="3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8"/>
                                        </p:tgtEl>
                                        <p:attrNameLst>
                                          <p:attrName>style.visibility</p:attrName>
                                        </p:attrNameLst>
                                      </p:cBhvr>
                                      <p:to>
                                        <p:strVal val="visible"/>
                                      </p:to>
                                    </p:set>
                                    <p:animEffect transition="in" filter="fade">
                                      <p:cBhvr>
                                        <p:cTn id="10" dur="500"/>
                                        <p:tgtEl>
                                          <p:spTgt spid="3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9"/>
                                        </p:tgtEl>
                                        <p:attrNameLst>
                                          <p:attrName>style.visibility</p:attrName>
                                        </p:attrNameLst>
                                      </p:cBhvr>
                                      <p:to>
                                        <p:strVal val="visible"/>
                                      </p:to>
                                    </p:set>
                                    <p:animEffect transition="in" filter="fade">
                                      <p:cBhvr>
                                        <p:cTn id="15" dur="500"/>
                                        <p:tgtEl>
                                          <p:spTgt spid="3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45"/>
                                        </p:tgtEl>
                                        <p:attrNameLst>
                                          <p:attrName>style.visibility</p:attrName>
                                        </p:attrNameLst>
                                      </p:cBhvr>
                                      <p:to>
                                        <p:strVal val="visible"/>
                                      </p:to>
                                    </p:set>
                                    <p:animEffect transition="in" filter="fade">
                                      <p:cBhvr>
                                        <p:cTn id="18"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38" grpId="0"/>
      <p:bldP spid="39" grpId="0"/>
      <p:bldP spid="45"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63E667-0B4E-DF0A-5DBB-DD35F7CB7BE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9667890-5095-8682-E2D2-0EDAC8723083}"/>
              </a:ext>
            </a:extLst>
          </p:cNvPr>
          <p:cNvSpPr>
            <a:spLocks noGrp="1"/>
          </p:cNvSpPr>
          <p:nvPr>
            <p:ph type="title"/>
          </p:nvPr>
        </p:nvSpPr>
        <p:spPr/>
        <p:txBody>
          <a:bodyPr>
            <a:normAutofit/>
          </a:bodyPr>
          <a:lstStyle/>
          <a:p>
            <a:r>
              <a:rPr lang="es-ES">
                <a:latin typeface="Century Gothic" panose="020B0502020202020204" pitchFamily="34" charset="0"/>
              </a:rPr>
              <a:t>El costo de capital y la financiación de proyectos </a:t>
            </a:r>
          </a:p>
        </p:txBody>
      </p:sp>
      <p:sp>
        <p:nvSpPr>
          <p:cNvPr id="9" name="Rectángulo 8">
            <a:extLst>
              <a:ext uri="{FF2B5EF4-FFF2-40B4-BE49-F238E27FC236}">
                <a16:creationId xmlns:a16="http://schemas.microsoft.com/office/drawing/2014/main" id="{8924C586-9972-7EDF-B9AE-CFF6A576DAB7}"/>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666CF81E-7E55-89E2-4935-84551C1A813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3502D0EC-B2F1-DEF4-9F82-F69A5E156121}"/>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7" name="Marcador de contenido 2">
            <a:extLst>
              <a:ext uri="{FF2B5EF4-FFF2-40B4-BE49-F238E27FC236}">
                <a16:creationId xmlns:a16="http://schemas.microsoft.com/office/drawing/2014/main" id="{469D789E-FD97-C710-F53E-51F4764346E6}"/>
              </a:ext>
            </a:extLst>
          </p:cNvPr>
          <p:cNvSpPr>
            <a:spLocks noGrp="1"/>
          </p:cNvSpPr>
          <p:nvPr>
            <p:ph idx="1"/>
          </p:nvPr>
        </p:nvSpPr>
        <p:spPr>
          <a:xfrm>
            <a:off x="1161453" y="2136953"/>
            <a:ext cx="9869094" cy="3678303"/>
          </a:xfrm>
        </p:spPr>
        <p:txBody>
          <a:bodyPr>
            <a:normAutofit/>
          </a:bodyPr>
          <a:lstStyle/>
          <a:p>
            <a:pPr algn="just"/>
            <a:r>
              <a:rPr lang="es-ES">
                <a:solidFill>
                  <a:schemeClr val="accent1"/>
                </a:solidFill>
                <a:latin typeface="Century Gothic" panose="020B0502020202020204" pitchFamily="34" charset="0"/>
              </a:rPr>
              <a:t>Dado lo anterior, y entendiendo que un proyecto o una firma financian sus inversiones con fuentes de financiación de largo plazo (Deuda y Equity) el </a:t>
            </a:r>
            <a:r>
              <a:rPr lang="es-ES" b="1">
                <a:solidFill>
                  <a:srgbClr val="D7A700"/>
                </a:solidFill>
                <a:latin typeface="Century Gothic" panose="020B0502020202020204" pitchFamily="34" charset="0"/>
              </a:rPr>
              <a:t>costo de oportunidad de un Inversionista es en realidad el resultado del costo de oportunidad de los proveedores</a:t>
            </a:r>
            <a:r>
              <a:rPr lang="es-ES">
                <a:solidFill>
                  <a:schemeClr val="accent1"/>
                </a:solidFill>
                <a:latin typeface="Century Gothic" panose="020B0502020202020204" pitchFamily="34" charset="0"/>
              </a:rPr>
              <a:t> </a:t>
            </a:r>
            <a:r>
              <a:rPr lang="es-ES" b="1">
                <a:solidFill>
                  <a:srgbClr val="D7A700"/>
                </a:solidFill>
                <a:latin typeface="Century Gothic" panose="020B0502020202020204" pitchFamily="34" charset="0"/>
              </a:rPr>
              <a:t>de recursos de largo plazo</a:t>
            </a:r>
            <a:r>
              <a:rPr lang="es-ES">
                <a:solidFill>
                  <a:schemeClr val="accent1"/>
                </a:solidFill>
                <a:latin typeface="Century Gothic" panose="020B0502020202020204" pitchFamily="34" charset="0"/>
              </a:rPr>
              <a:t>. Estos son la Deuda y el </a:t>
            </a:r>
            <a:r>
              <a:rPr lang="es-ES" err="1">
                <a:solidFill>
                  <a:schemeClr val="accent1"/>
                </a:solidFill>
                <a:latin typeface="Century Gothic" panose="020B0502020202020204" pitchFamily="34" charset="0"/>
              </a:rPr>
              <a:t>Equity</a:t>
            </a:r>
            <a:r>
              <a:rPr lang="es-ES">
                <a:solidFill>
                  <a:schemeClr val="accent1"/>
                </a:solidFill>
                <a:latin typeface="Century Gothic" panose="020B0502020202020204" pitchFamily="34" charset="0"/>
              </a:rPr>
              <a:t> de la firma. </a:t>
            </a:r>
          </a:p>
          <a:p>
            <a:pPr algn="just"/>
            <a:endParaRPr lang="es-ES">
              <a:solidFill>
                <a:schemeClr val="accent1"/>
              </a:solidFill>
              <a:latin typeface="Century Gothic" panose="020B0502020202020204" pitchFamily="34" charset="0"/>
            </a:endParaRPr>
          </a:p>
          <a:p>
            <a:pPr algn="just"/>
            <a:r>
              <a:rPr lang="es-ES">
                <a:solidFill>
                  <a:schemeClr val="accent1"/>
                </a:solidFill>
                <a:latin typeface="Century Gothic" panose="020B0502020202020204" pitchFamily="34" charset="0"/>
              </a:rPr>
              <a:t>El costo de oportunidad de la Deuda y del </a:t>
            </a:r>
            <a:r>
              <a:rPr lang="es-ES" err="1">
                <a:solidFill>
                  <a:schemeClr val="accent1"/>
                </a:solidFill>
                <a:latin typeface="Century Gothic" panose="020B0502020202020204" pitchFamily="34" charset="0"/>
              </a:rPr>
              <a:t>Equity</a:t>
            </a:r>
            <a:r>
              <a:rPr lang="es-ES">
                <a:solidFill>
                  <a:schemeClr val="accent1"/>
                </a:solidFill>
                <a:latin typeface="Century Gothic" panose="020B0502020202020204" pitchFamily="34" charset="0"/>
              </a:rPr>
              <a:t> serán los elementos fundamentales para calcular el WACC.</a:t>
            </a:r>
          </a:p>
        </p:txBody>
      </p:sp>
      <p:sp>
        <p:nvSpPr>
          <p:cNvPr id="3" name="Marcador de número de diapositiva 3">
            <a:extLst>
              <a:ext uri="{FF2B5EF4-FFF2-40B4-BE49-F238E27FC236}">
                <a16:creationId xmlns:a16="http://schemas.microsoft.com/office/drawing/2014/main" id="{F49EAF70-D403-5D13-8CCE-463121819B6D}"/>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12</a:t>
            </a:fld>
            <a:endParaRPr lang="en-US" sz="2000" b="1">
              <a:latin typeface="Century Gothic" panose="020B0502020202020204" pitchFamily="34" charset="0"/>
            </a:endParaRPr>
          </a:p>
        </p:txBody>
      </p:sp>
    </p:spTree>
    <p:extLst>
      <p:ext uri="{BB962C8B-B14F-4D97-AF65-F5344CB8AC3E}">
        <p14:creationId xmlns:p14="http://schemas.microsoft.com/office/powerpoint/2010/main" val="35949775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animEffect transition="in" filter="fade">
                                      <p:cBhvr>
                                        <p:cTn id="7" dur="500"/>
                                        <p:tgtEl>
                                          <p:spTgt spid="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C35255-E696-055C-63F9-EA8037DD655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6B18FBB-B6AE-4A8C-8957-4888A43A68B6}"/>
              </a:ext>
            </a:extLst>
          </p:cNvPr>
          <p:cNvSpPr>
            <a:spLocks noGrp="1"/>
          </p:cNvSpPr>
          <p:nvPr>
            <p:ph type="title"/>
          </p:nvPr>
        </p:nvSpPr>
        <p:spPr/>
        <p:txBody>
          <a:bodyPr>
            <a:normAutofit/>
          </a:bodyPr>
          <a:lstStyle/>
          <a:p>
            <a:r>
              <a:rPr lang="es-ES">
                <a:latin typeface="Century Gothic" panose="020B0502020202020204" pitchFamily="34" charset="0"/>
              </a:rPr>
              <a:t>El costo de capital y la financiación de proyectos </a:t>
            </a:r>
          </a:p>
        </p:txBody>
      </p:sp>
      <p:sp>
        <p:nvSpPr>
          <p:cNvPr id="9" name="Rectángulo 8">
            <a:extLst>
              <a:ext uri="{FF2B5EF4-FFF2-40B4-BE49-F238E27FC236}">
                <a16:creationId xmlns:a16="http://schemas.microsoft.com/office/drawing/2014/main" id="{198B50AF-7BC6-69C2-9028-681AE07AD128}"/>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92C881A1-CD60-5BBD-81E1-237B49FD62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D864CC9E-C5D5-3E5F-4E7A-CBE9548FBD51}"/>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pic>
        <p:nvPicPr>
          <p:cNvPr id="8" name="Picture 7">
            <a:extLst>
              <a:ext uri="{FF2B5EF4-FFF2-40B4-BE49-F238E27FC236}">
                <a16:creationId xmlns:a16="http://schemas.microsoft.com/office/drawing/2014/main" id="{441A7D2C-7CFC-BECB-2291-211F2CB8F824}"/>
              </a:ext>
            </a:extLst>
          </p:cNvPr>
          <p:cNvPicPr>
            <a:picLocks noChangeAspect="1"/>
          </p:cNvPicPr>
          <p:nvPr/>
        </p:nvPicPr>
        <p:blipFill>
          <a:blip r:embed="rId4"/>
          <a:stretch>
            <a:fillRect/>
          </a:stretch>
        </p:blipFill>
        <p:spPr>
          <a:xfrm>
            <a:off x="1947739" y="2504864"/>
            <a:ext cx="7637477" cy="833128"/>
          </a:xfrm>
          <a:prstGeom prst="rect">
            <a:avLst/>
          </a:prstGeom>
        </p:spPr>
      </p:pic>
      <p:sp>
        <p:nvSpPr>
          <p:cNvPr id="10" name="CuadroTexto 6">
            <a:extLst>
              <a:ext uri="{FF2B5EF4-FFF2-40B4-BE49-F238E27FC236}">
                <a16:creationId xmlns:a16="http://schemas.microsoft.com/office/drawing/2014/main" id="{2199DB42-129D-4BEC-AE61-BDFD5C89F803}"/>
              </a:ext>
            </a:extLst>
          </p:cNvPr>
          <p:cNvSpPr txBox="1"/>
          <p:nvPr/>
        </p:nvSpPr>
        <p:spPr>
          <a:xfrm>
            <a:off x="4766915" y="4087922"/>
            <a:ext cx="2658319" cy="646331"/>
          </a:xfrm>
          <a:prstGeom prst="rect">
            <a:avLst/>
          </a:prstGeom>
          <a:noFill/>
        </p:spPr>
        <p:txBody>
          <a:bodyPr wrap="square" rtlCol="0">
            <a:spAutoFit/>
          </a:bodyPr>
          <a:lstStyle/>
          <a:p>
            <a:pPr algn="ctr"/>
            <a:r>
              <a:rPr lang="es-CO" b="1">
                <a:latin typeface="Century Gothic" panose="020B0502020202020204" pitchFamily="34" charset="0"/>
              </a:rPr>
              <a:t>Costo de la Deuda percibido por la firma</a:t>
            </a:r>
          </a:p>
        </p:txBody>
      </p:sp>
      <p:sp>
        <p:nvSpPr>
          <p:cNvPr id="12" name="CuadroTexto 7">
            <a:extLst>
              <a:ext uri="{FF2B5EF4-FFF2-40B4-BE49-F238E27FC236}">
                <a16:creationId xmlns:a16="http://schemas.microsoft.com/office/drawing/2014/main" id="{3BAEA001-609C-4BB1-87BB-D6DCB30C9816}"/>
              </a:ext>
            </a:extLst>
          </p:cNvPr>
          <p:cNvSpPr txBox="1"/>
          <p:nvPr/>
        </p:nvSpPr>
        <p:spPr>
          <a:xfrm>
            <a:off x="8082822" y="4087922"/>
            <a:ext cx="2593776" cy="369332"/>
          </a:xfrm>
          <a:prstGeom prst="rect">
            <a:avLst/>
          </a:prstGeom>
          <a:noFill/>
        </p:spPr>
        <p:txBody>
          <a:bodyPr wrap="square" rtlCol="0">
            <a:spAutoFit/>
          </a:bodyPr>
          <a:lstStyle/>
          <a:p>
            <a:pPr algn="ctr"/>
            <a:r>
              <a:rPr lang="es-CO" b="1">
                <a:latin typeface="Century Gothic" panose="020B0502020202020204" pitchFamily="34" charset="0"/>
              </a:rPr>
              <a:t>Costo del </a:t>
            </a:r>
            <a:r>
              <a:rPr lang="es-CO" b="1" err="1">
                <a:latin typeface="Century Gothic" panose="020B0502020202020204" pitchFamily="34" charset="0"/>
              </a:rPr>
              <a:t>Equity</a:t>
            </a:r>
            <a:endParaRPr lang="es-CO" b="1">
              <a:latin typeface="Century Gothic" panose="020B0502020202020204" pitchFamily="34" charset="0"/>
            </a:endParaRPr>
          </a:p>
        </p:txBody>
      </p:sp>
      <p:sp>
        <p:nvSpPr>
          <p:cNvPr id="13" name="Elipse 8">
            <a:extLst>
              <a:ext uri="{FF2B5EF4-FFF2-40B4-BE49-F238E27FC236}">
                <a16:creationId xmlns:a16="http://schemas.microsoft.com/office/drawing/2014/main" id="{CE2A74D3-6457-119B-D722-8B2DEB3E3026}"/>
              </a:ext>
            </a:extLst>
          </p:cNvPr>
          <p:cNvSpPr/>
          <p:nvPr/>
        </p:nvSpPr>
        <p:spPr>
          <a:xfrm>
            <a:off x="4960564" y="2504864"/>
            <a:ext cx="2433229" cy="833128"/>
          </a:xfrm>
          <a:prstGeom prst="ellipse">
            <a:avLst/>
          </a:prstGeom>
          <a:noFill/>
          <a:ln w="19050">
            <a:solidFill>
              <a:schemeClr val="accent3">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O"/>
          </a:p>
        </p:txBody>
      </p:sp>
      <p:sp>
        <p:nvSpPr>
          <p:cNvPr id="14" name="Elipse 9">
            <a:extLst>
              <a:ext uri="{FF2B5EF4-FFF2-40B4-BE49-F238E27FC236}">
                <a16:creationId xmlns:a16="http://schemas.microsoft.com/office/drawing/2014/main" id="{54E0D366-6054-6486-F90B-6FBDD24B4291}"/>
              </a:ext>
            </a:extLst>
          </p:cNvPr>
          <p:cNvSpPr/>
          <p:nvPr/>
        </p:nvSpPr>
        <p:spPr>
          <a:xfrm>
            <a:off x="9056373" y="2504865"/>
            <a:ext cx="646674" cy="925741"/>
          </a:xfrm>
          <a:prstGeom prst="ellipse">
            <a:avLst/>
          </a:prstGeom>
          <a:noFill/>
          <a:ln w="19050">
            <a:solidFill>
              <a:schemeClr val="accent3">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O"/>
          </a:p>
        </p:txBody>
      </p:sp>
      <p:cxnSp>
        <p:nvCxnSpPr>
          <p:cNvPr id="15" name="Conector recto de flecha 11">
            <a:extLst>
              <a:ext uri="{FF2B5EF4-FFF2-40B4-BE49-F238E27FC236}">
                <a16:creationId xmlns:a16="http://schemas.microsoft.com/office/drawing/2014/main" id="{DAC770B7-85B1-625B-F390-C33AD34984E2}"/>
              </a:ext>
            </a:extLst>
          </p:cNvPr>
          <p:cNvCxnSpPr/>
          <p:nvPr/>
        </p:nvCxnSpPr>
        <p:spPr>
          <a:xfrm>
            <a:off x="6096000" y="3337992"/>
            <a:ext cx="0" cy="725395"/>
          </a:xfrm>
          <a:prstGeom prst="straightConnector1">
            <a:avLst/>
          </a:prstGeom>
          <a:ln w="19050">
            <a:solidFill>
              <a:schemeClr val="accent3">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6" name="Conector recto de flecha 13">
            <a:extLst>
              <a:ext uri="{FF2B5EF4-FFF2-40B4-BE49-F238E27FC236}">
                <a16:creationId xmlns:a16="http://schemas.microsoft.com/office/drawing/2014/main" id="{DA3981E1-84EE-FC72-8E67-680DF74CE65A}"/>
              </a:ext>
            </a:extLst>
          </p:cNvPr>
          <p:cNvCxnSpPr>
            <a:cxnSpLocks/>
          </p:cNvCxnSpPr>
          <p:nvPr/>
        </p:nvCxnSpPr>
        <p:spPr>
          <a:xfrm>
            <a:off x="9379710" y="3433083"/>
            <a:ext cx="0" cy="725349"/>
          </a:xfrm>
          <a:prstGeom prst="straightConnector1">
            <a:avLst/>
          </a:prstGeom>
          <a:ln w="19050">
            <a:solidFill>
              <a:schemeClr val="accent3">
                <a:lumMod val="7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17" name="CuadroTexto 6">
            <a:extLst>
              <a:ext uri="{FF2B5EF4-FFF2-40B4-BE49-F238E27FC236}">
                <a16:creationId xmlns:a16="http://schemas.microsoft.com/office/drawing/2014/main" id="{3E4BD981-8C86-5496-7589-15AD6B574702}"/>
              </a:ext>
            </a:extLst>
          </p:cNvPr>
          <p:cNvSpPr txBox="1"/>
          <p:nvPr/>
        </p:nvSpPr>
        <p:spPr>
          <a:xfrm>
            <a:off x="6064633" y="2510462"/>
            <a:ext cx="2658319" cy="369332"/>
          </a:xfrm>
          <a:prstGeom prst="rect">
            <a:avLst/>
          </a:prstGeom>
          <a:noFill/>
        </p:spPr>
        <p:txBody>
          <a:bodyPr wrap="square" rtlCol="0">
            <a:spAutoFit/>
          </a:bodyPr>
          <a:lstStyle/>
          <a:p>
            <a:pPr algn="ctr"/>
            <a:r>
              <a:rPr lang="es-CO">
                <a:latin typeface="Century Gothic" panose="020B0502020202020204" pitchFamily="34" charset="0"/>
              </a:rPr>
              <a:t>*</a:t>
            </a:r>
          </a:p>
        </p:txBody>
      </p:sp>
      <p:sp>
        <p:nvSpPr>
          <p:cNvPr id="22" name="Marcador de contenido 2">
            <a:extLst>
              <a:ext uri="{FF2B5EF4-FFF2-40B4-BE49-F238E27FC236}">
                <a16:creationId xmlns:a16="http://schemas.microsoft.com/office/drawing/2014/main" id="{0B83CDB4-C1D6-618E-447F-6BC0E07775FC}"/>
              </a:ext>
            </a:extLst>
          </p:cNvPr>
          <p:cNvSpPr>
            <a:spLocks noGrp="1"/>
          </p:cNvSpPr>
          <p:nvPr>
            <p:ph idx="1"/>
          </p:nvPr>
        </p:nvSpPr>
        <p:spPr>
          <a:xfrm>
            <a:off x="1045026" y="4965001"/>
            <a:ext cx="9869094" cy="1037386"/>
          </a:xfrm>
        </p:spPr>
        <p:txBody>
          <a:bodyPr>
            <a:normAutofit/>
          </a:bodyPr>
          <a:lstStyle/>
          <a:p>
            <a:pPr marL="305435" indent="-305435" algn="just"/>
            <a:r>
              <a:rPr lang="es-ES">
                <a:solidFill>
                  <a:schemeClr val="accent1"/>
                </a:solidFill>
                <a:latin typeface="Century Gothic"/>
              </a:rPr>
              <a:t>Más adelante se verá que el </a:t>
            </a:r>
            <a:r>
              <a:rPr lang="es-ES" b="1">
                <a:solidFill>
                  <a:srgbClr val="D7A700"/>
                </a:solidFill>
                <a:latin typeface="Century Gothic"/>
              </a:rPr>
              <a:t>Costo de la Deuda </a:t>
            </a:r>
            <a:r>
              <a:rPr lang="es-ES">
                <a:solidFill>
                  <a:schemeClr val="accent1"/>
                </a:solidFill>
                <a:latin typeface="Century Gothic"/>
              </a:rPr>
              <a:t>se podrá hallar ajustando el </a:t>
            </a:r>
            <a:r>
              <a:rPr lang="es-ES" err="1">
                <a:solidFill>
                  <a:schemeClr val="accent1"/>
                </a:solidFill>
                <a:latin typeface="Century Gothic"/>
              </a:rPr>
              <a:t>Kd</a:t>
            </a:r>
            <a:r>
              <a:rPr lang="es-ES">
                <a:solidFill>
                  <a:schemeClr val="accent1"/>
                </a:solidFill>
                <a:latin typeface="Century Gothic"/>
              </a:rPr>
              <a:t> por el factor de (1-</a:t>
            </a:r>
            <a:r>
              <a:rPr lang="el-GR">
                <a:solidFill>
                  <a:srgbClr val="155E26"/>
                </a:solidFill>
                <a:latin typeface="Corbel"/>
              </a:rPr>
              <a:t>τ</a:t>
            </a:r>
            <a:r>
              <a:rPr lang="es-CO">
                <a:solidFill>
                  <a:schemeClr val="accent1"/>
                </a:solidFill>
                <a:latin typeface="Century Gothic"/>
              </a:rPr>
              <a:t>) o a partir de la TIR del Flujo de Caja de la Deuda después de Impuestos (en caso de que haya solo un cambio de signo).</a:t>
            </a:r>
            <a:endParaRPr lang="es-ES">
              <a:solidFill>
                <a:schemeClr val="accent1"/>
              </a:solidFill>
              <a:latin typeface="Century Gothic"/>
            </a:endParaRPr>
          </a:p>
        </p:txBody>
      </p:sp>
      <p:sp>
        <p:nvSpPr>
          <p:cNvPr id="3" name="Marcador de número de diapositiva 3">
            <a:extLst>
              <a:ext uri="{FF2B5EF4-FFF2-40B4-BE49-F238E27FC236}">
                <a16:creationId xmlns:a16="http://schemas.microsoft.com/office/drawing/2014/main" id="{0B2E59DF-3C96-4E15-92FA-A25718612B6B}"/>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13</a:t>
            </a:fld>
            <a:endParaRPr lang="en-US" sz="2000" b="1">
              <a:latin typeface="Century Gothic" panose="020B0502020202020204" pitchFamily="34" charset="0"/>
            </a:endParaRPr>
          </a:p>
        </p:txBody>
      </p:sp>
    </p:spTree>
    <p:extLst>
      <p:ext uri="{BB962C8B-B14F-4D97-AF65-F5344CB8AC3E}">
        <p14:creationId xmlns:p14="http://schemas.microsoft.com/office/powerpoint/2010/main" val="2273320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22">
                                            <p:txEl>
                                              <p:pRg st="0" end="0"/>
                                            </p:txEl>
                                          </p:spTgt>
                                        </p:tgtEl>
                                        <p:attrNameLst>
                                          <p:attrName>style.visibility</p:attrName>
                                        </p:attrNameLst>
                                      </p:cBhvr>
                                      <p:to>
                                        <p:strVal val="visible"/>
                                      </p:to>
                                    </p:set>
                                    <p:animEffect transition="in" filter="fade">
                                      <p:cBhvr>
                                        <p:cTn id="25" dur="500"/>
                                        <p:tgtEl>
                                          <p:spTgt spid="2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p:bldP spid="13" grpId="0" animBg="1"/>
      <p:bldP spid="14" grpId="0" animBg="1"/>
      <p:bldP spid="1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637EE8-DEF1-064B-C65B-2F1F70A9D8E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CE5D79F-6A5F-C9B6-CB54-32655BFCD930}"/>
              </a:ext>
            </a:extLst>
          </p:cNvPr>
          <p:cNvSpPr>
            <a:spLocks noGrp="1"/>
          </p:cNvSpPr>
          <p:nvPr>
            <p:ph type="title"/>
          </p:nvPr>
        </p:nvSpPr>
        <p:spPr/>
        <p:txBody>
          <a:bodyPr>
            <a:normAutofit/>
          </a:bodyPr>
          <a:lstStyle/>
          <a:p>
            <a:r>
              <a:rPr lang="es-CO" sz="3200">
                <a:latin typeface="Century Gothic" panose="020B0502020202020204" pitchFamily="34" charset="0"/>
              </a:rPr>
              <a:t>AGENDA PROPUESTA</a:t>
            </a:r>
          </a:p>
        </p:txBody>
      </p:sp>
      <p:pic>
        <p:nvPicPr>
          <p:cNvPr id="6" name="Picture 6" descr="Resultado de imagen para RELOJ VECTOR">
            <a:extLst>
              <a:ext uri="{FF2B5EF4-FFF2-40B4-BE49-F238E27FC236}">
                <a16:creationId xmlns:a16="http://schemas.microsoft.com/office/drawing/2014/main" id="{B69F3D27-76D1-FB17-9EA3-95E7B6E2F675}"/>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256045" y="27727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6142A2CF-6F92-1646-CA86-F0504A1CB411}"/>
              </a:ext>
            </a:extLst>
          </p:cNvPr>
          <p:cNvSpPr/>
          <p:nvPr/>
        </p:nvSpPr>
        <p:spPr>
          <a:xfrm>
            <a:off x="2806200" y="2734046"/>
            <a:ext cx="8540907" cy="1323439"/>
          </a:xfrm>
          <a:prstGeom prst="rect">
            <a:avLst/>
          </a:prstGeom>
        </p:spPr>
        <p:txBody>
          <a:bodyPr wrap="square" lIns="91440" tIns="45720" rIns="91440" bIns="45720" anchor="t">
            <a:spAutoFit/>
          </a:bodyPr>
          <a:lstStyle/>
          <a:p>
            <a:pPr marL="342900" indent="-342900">
              <a:buClr>
                <a:schemeClr val="accent3">
                  <a:lumMod val="75000"/>
                </a:schemeClr>
              </a:buClr>
              <a:buFont typeface="Gill Sans MT" panose="020B0502020104020203"/>
              <a:buAutoNum type="arabicPeriod"/>
            </a:pPr>
            <a:r>
              <a:rPr lang="es-ES" sz="1600">
                <a:solidFill>
                  <a:schemeClr val="tx2">
                    <a:lumMod val="20000"/>
                    <a:lumOff val="80000"/>
                  </a:schemeClr>
                </a:solidFill>
                <a:latin typeface="Century Gothic"/>
                <a:cs typeface="Arial"/>
              </a:rPr>
              <a:t>Introducción al Costo de Capital.</a:t>
            </a:r>
          </a:p>
          <a:p>
            <a:pPr marL="342900" indent="-342900">
              <a:buClr>
                <a:srgbClr val="2C7C9F"/>
              </a:buClr>
              <a:buFontTx/>
              <a:buAutoNum type="arabicPeriod"/>
            </a:pPr>
            <a:endParaRPr lang="es-CO" sz="1600">
              <a:solidFill>
                <a:schemeClr val="accent1"/>
              </a:solidFill>
              <a:latin typeface="Century Gothic"/>
              <a:cs typeface="Arial"/>
            </a:endParaRPr>
          </a:p>
          <a:p>
            <a:pPr marL="342900" indent="-342900">
              <a:buClr>
                <a:schemeClr val="accent3">
                  <a:lumMod val="75000"/>
                </a:schemeClr>
              </a:buClr>
              <a:buFont typeface="Gill Sans MT" panose="020B0502020104020203"/>
              <a:buAutoNum type="arabicPeriod"/>
            </a:pPr>
            <a:r>
              <a:rPr lang="es-CO" sz="1600">
                <a:solidFill>
                  <a:schemeClr val="accent1"/>
                </a:solidFill>
                <a:latin typeface="Century Gothic"/>
                <a:cs typeface="Arial"/>
              </a:rPr>
              <a:t>Relación Riesgo – Rentabilidad.</a:t>
            </a:r>
          </a:p>
          <a:p>
            <a:pPr marL="342900" indent="-342900">
              <a:buClr>
                <a:srgbClr val="48BE7A"/>
              </a:buClr>
              <a:buFontTx/>
              <a:buAutoNum type="arabicPeriod"/>
            </a:pPr>
            <a:endParaRPr lang="es-CO" sz="1600">
              <a:solidFill>
                <a:schemeClr val="accent1"/>
              </a:solidFill>
              <a:latin typeface="Century Gothic"/>
              <a:cs typeface="Arial"/>
            </a:endParaRPr>
          </a:p>
          <a:p>
            <a:pPr marL="342900" indent="-342900">
              <a:buClr>
                <a:srgbClr val="48BE7A"/>
              </a:buClr>
              <a:buFontTx/>
              <a:buAutoNum type="arabicPeriod"/>
            </a:pPr>
            <a:r>
              <a:rPr lang="es-CO" sz="1600">
                <a:solidFill>
                  <a:schemeClr val="tx2">
                    <a:lumMod val="20000"/>
                    <a:lumOff val="80000"/>
                  </a:schemeClr>
                </a:solidFill>
                <a:latin typeface="Century Gothic"/>
                <a:cs typeface="Arial"/>
              </a:rPr>
              <a:t>El Costo del </a:t>
            </a:r>
            <a:r>
              <a:rPr lang="es-CO" sz="1600" err="1">
                <a:solidFill>
                  <a:schemeClr val="tx2">
                    <a:lumMod val="20000"/>
                    <a:lumOff val="80000"/>
                  </a:schemeClr>
                </a:solidFill>
                <a:latin typeface="Century Gothic"/>
                <a:cs typeface="Arial"/>
              </a:rPr>
              <a:t>Equity</a:t>
            </a:r>
            <a:r>
              <a:rPr lang="es-CO" sz="1600">
                <a:solidFill>
                  <a:schemeClr val="tx2">
                    <a:lumMod val="20000"/>
                    <a:lumOff val="80000"/>
                  </a:schemeClr>
                </a:solidFill>
                <a:latin typeface="Century Gothic"/>
                <a:cs typeface="Arial"/>
              </a:rPr>
              <a:t>.</a:t>
            </a:r>
          </a:p>
        </p:txBody>
      </p:sp>
      <p:sp>
        <p:nvSpPr>
          <p:cNvPr id="3" name="Rectángulo 2">
            <a:extLst>
              <a:ext uri="{FF2B5EF4-FFF2-40B4-BE49-F238E27FC236}">
                <a16:creationId xmlns:a16="http://schemas.microsoft.com/office/drawing/2014/main" id="{8DB3201E-90A8-37A5-E97A-4DA12E7EF6A7}"/>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FDE1A176-A2B5-7AD7-BD4E-8E82475A8CA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8EDB935E-40FA-E584-6FD0-229ACA141D49}"/>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5" name="Marcador de número de diapositiva 3">
            <a:extLst>
              <a:ext uri="{FF2B5EF4-FFF2-40B4-BE49-F238E27FC236}">
                <a16:creationId xmlns:a16="http://schemas.microsoft.com/office/drawing/2014/main" id="{46A95C5F-2C44-0F06-EF98-21E28867073F}"/>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14</a:t>
            </a:fld>
            <a:endParaRPr lang="en-US" sz="2000" b="1">
              <a:latin typeface="Century Gothic" panose="020B0502020202020204" pitchFamily="34" charset="0"/>
            </a:endParaRPr>
          </a:p>
        </p:txBody>
      </p:sp>
    </p:spTree>
    <p:extLst>
      <p:ext uri="{BB962C8B-B14F-4D97-AF65-F5344CB8AC3E}">
        <p14:creationId xmlns:p14="http://schemas.microsoft.com/office/powerpoint/2010/main" val="23671554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692808-9053-690D-B76C-BE4CF81C12E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A971C25-59F1-3788-11CC-3111F37D41DE}"/>
              </a:ext>
            </a:extLst>
          </p:cNvPr>
          <p:cNvSpPr>
            <a:spLocks noGrp="1"/>
          </p:cNvSpPr>
          <p:nvPr>
            <p:ph type="title"/>
          </p:nvPr>
        </p:nvSpPr>
        <p:spPr/>
        <p:txBody>
          <a:bodyPr>
            <a:normAutofit/>
          </a:bodyPr>
          <a:lstStyle/>
          <a:p>
            <a:r>
              <a:rPr lang="es-ES">
                <a:latin typeface="Century Gothic" panose="020B0502020202020204" pitchFamily="34" charset="0"/>
              </a:rPr>
              <a:t>Riesgo – Rentabilidad y la estructura de capital</a:t>
            </a:r>
          </a:p>
        </p:txBody>
      </p:sp>
      <p:sp>
        <p:nvSpPr>
          <p:cNvPr id="9" name="Rectángulo 8">
            <a:extLst>
              <a:ext uri="{FF2B5EF4-FFF2-40B4-BE49-F238E27FC236}">
                <a16:creationId xmlns:a16="http://schemas.microsoft.com/office/drawing/2014/main" id="{B89222AA-45DD-1374-CE5F-1F544EC25D64}"/>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04F092F3-FFAE-D252-DEAD-F45E8FAF24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1AB3FB18-099A-5563-ABE6-662EFBCB56CF}"/>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 name="Marcador de contenido 2">
            <a:extLst>
              <a:ext uri="{FF2B5EF4-FFF2-40B4-BE49-F238E27FC236}">
                <a16:creationId xmlns:a16="http://schemas.microsoft.com/office/drawing/2014/main" id="{7F9D29F9-824A-E132-253C-731D384064B7}"/>
              </a:ext>
            </a:extLst>
          </p:cNvPr>
          <p:cNvSpPr>
            <a:spLocks noGrp="1"/>
          </p:cNvSpPr>
          <p:nvPr>
            <p:ph idx="1"/>
          </p:nvPr>
        </p:nvSpPr>
        <p:spPr>
          <a:xfrm>
            <a:off x="943739" y="2243470"/>
            <a:ext cx="10304522" cy="3806456"/>
          </a:xfrm>
        </p:spPr>
        <p:txBody>
          <a:bodyPr>
            <a:normAutofit/>
          </a:bodyPr>
          <a:lstStyle/>
          <a:p>
            <a:pPr marL="305435" indent="-305435" algn="just"/>
            <a:r>
              <a:rPr lang="es-ES">
                <a:solidFill>
                  <a:schemeClr val="accent1"/>
                </a:solidFill>
                <a:latin typeface="Century Gothic" panose="020B0502020202020204" pitchFamily="34" charset="0"/>
              </a:rPr>
              <a:t>Entre </a:t>
            </a:r>
            <a:r>
              <a:rPr lang="es-ES" b="1">
                <a:solidFill>
                  <a:srgbClr val="D7A700"/>
                </a:solidFill>
                <a:latin typeface="Century Gothic" panose="020B0502020202020204" pitchFamily="34" charset="0"/>
              </a:rPr>
              <a:t>mayor sea la volatilidad </a:t>
            </a:r>
            <a:r>
              <a:rPr lang="es-ES">
                <a:solidFill>
                  <a:schemeClr val="accent1"/>
                </a:solidFill>
                <a:latin typeface="Century Gothic" panose="020B0502020202020204" pitchFamily="34" charset="0"/>
              </a:rPr>
              <a:t>de los flujos de caja de un proyecto, </a:t>
            </a:r>
            <a:r>
              <a:rPr lang="es-ES" b="1">
                <a:solidFill>
                  <a:srgbClr val="D7A700"/>
                </a:solidFill>
                <a:latin typeface="Century Gothic" panose="020B0502020202020204" pitchFamily="34" charset="0"/>
              </a:rPr>
              <a:t>mayor será el riesgo asociado para quien fondee</a:t>
            </a:r>
            <a:r>
              <a:rPr lang="es-ES">
                <a:solidFill>
                  <a:schemeClr val="accent1"/>
                </a:solidFill>
                <a:latin typeface="Century Gothic" panose="020B0502020202020204" pitchFamily="34" charset="0"/>
              </a:rPr>
              <a:t> dicho proyecto (deuda o </a:t>
            </a:r>
            <a:r>
              <a:rPr lang="es-ES" err="1">
                <a:solidFill>
                  <a:schemeClr val="accent1"/>
                </a:solidFill>
                <a:latin typeface="Century Gothic" panose="020B0502020202020204" pitchFamily="34" charset="0"/>
              </a:rPr>
              <a:t>equity</a:t>
            </a:r>
            <a:r>
              <a:rPr lang="es-ES">
                <a:solidFill>
                  <a:schemeClr val="accent1"/>
                </a:solidFill>
                <a:latin typeface="Century Gothic" panose="020B0502020202020204" pitchFamily="34" charset="0"/>
              </a:rPr>
              <a:t>). </a:t>
            </a:r>
            <a:endParaRPr lang="es-ES"/>
          </a:p>
          <a:p>
            <a:pPr algn="just"/>
            <a:endParaRPr lang="es-ES">
              <a:solidFill>
                <a:schemeClr val="accent1"/>
              </a:solidFill>
              <a:latin typeface="Century Gothic" panose="020B0502020202020204" pitchFamily="34" charset="0"/>
            </a:endParaRPr>
          </a:p>
          <a:p>
            <a:pPr marL="305435" indent="-305435" algn="just"/>
            <a:r>
              <a:rPr lang="es-ES">
                <a:solidFill>
                  <a:schemeClr val="accent1"/>
                </a:solidFill>
                <a:latin typeface="Century Gothic" panose="020B0502020202020204" pitchFamily="34" charset="0"/>
              </a:rPr>
              <a:t>Por lo tanto, entre mayor sea la volatilidad de los flujos de caja de un proyecto, </a:t>
            </a:r>
            <a:r>
              <a:rPr lang="es-ES" b="1">
                <a:solidFill>
                  <a:srgbClr val="D7A700"/>
                </a:solidFill>
                <a:latin typeface="Century Gothic" panose="020B0502020202020204" pitchFamily="34" charset="0"/>
              </a:rPr>
              <a:t>mayor deberá ser la compensación</a:t>
            </a:r>
            <a:r>
              <a:rPr lang="es-ES">
                <a:solidFill>
                  <a:schemeClr val="accent1"/>
                </a:solidFill>
                <a:latin typeface="Century Gothic" panose="020B0502020202020204" pitchFamily="34" charset="0"/>
              </a:rPr>
              <a:t> (rentabilidad) que la deuda o el </a:t>
            </a:r>
            <a:r>
              <a:rPr lang="es-ES" err="1">
                <a:solidFill>
                  <a:schemeClr val="accent1"/>
                </a:solidFill>
                <a:latin typeface="Century Gothic" panose="020B0502020202020204" pitchFamily="34" charset="0"/>
              </a:rPr>
              <a:t>equity</a:t>
            </a:r>
            <a:r>
              <a:rPr lang="es-ES">
                <a:solidFill>
                  <a:schemeClr val="accent1"/>
                </a:solidFill>
                <a:latin typeface="Century Gothic" panose="020B0502020202020204" pitchFamily="34" charset="0"/>
              </a:rPr>
              <a:t> exija por fondear el proyecto, dado que es mayor el riesgo que está asumiendo. </a:t>
            </a:r>
          </a:p>
          <a:p>
            <a:pPr algn="just"/>
            <a:endParaRPr lang="es-ES">
              <a:solidFill>
                <a:schemeClr val="accent1"/>
              </a:solidFill>
              <a:latin typeface="Century Gothic" panose="020B0502020202020204" pitchFamily="34" charset="0"/>
            </a:endParaRPr>
          </a:p>
          <a:p>
            <a:pPr marL="305435" indent="-305435" algn="just"/>
            <a:r>
              <a:rPr lang="es-ES">
                <a:solidFill>
                  <a:schemeClr val="accent1"/>
                </a:solidFill>
                <a:latin typeface="Century Gothic"/>
              </a:rPr>
              <a:t>Por la anterior razón, es lógico pensar que el costo de oportunidad de la deuda o el </a:t>
            </a:r>
            <a:r>
              <a:rPr lang="es-ES" i="1">
                <a:solidFill>
                  <a:schemeClr val="accent1"/>
                </a:solidFill>
                <a:latin typeface="Century Gothic"/>
              </a:rPr>
              <a:t>equity </a:t>
            </a:r>
            <a:r>
              <a:rPr lang="es-ES">
                <a:solidFill>
                  <a:schemeClr val="accent1"/>
                </a:solidFill>
                <a:latin typeface="Century Gothic"/>
              </a:rPr>
              <a:t>crecerá a medida que el riesgo del proyecto se incremente. Esto es: el costo de fondear recursos para un proyecto de alto riesgo es mayor que el de un proyecto depara un proyecto con bajo riesgo.</a:t>
            </a:r>
          </a:p>
        </p:txBody>
      </p:sp>
      <p:sp>
        <p:nvSpPr>
          <p:cNvPr id="6" name="Marcador de número de diapositiva 3">
            <a:extLst>
              <a:ext uri="{FF2B5EF4-FFF2-40B4-BE49-F238E27FC236}">
                <a16:creationId xmlns:a16="http://schemas.microsoft.com/office/drawing/2014/main" id="{8A4B74AA-CFFA-ADDB-260B-9935A201B014}"/>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15</a:t>
            </a:fld>
            <a:endParaRPr lang="en-US" sz="2000" b="1">
              <a:latin typeface="Century Gothic" panose="020B0502020202020204" pitchFamily="34" charset="0"/>
            </a:endParaRPr>
          </a:p>
        </p:txBody>
      </p:sp>
    </p:spTree>
    <p:extLst>
      <p:ext uri="{BB962C8B-B14F-4D97-AF65-F5344CB8AC3E}">
        <p14:creationId xmlns:p14="http://schemas.microsoft.com/office/powerpoint/2010/main" val="35742707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fade">
                                      <p:cBhvr>
                                        <p:cTn id="1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110704-C97A-CF9B-D79D-722772E2B35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7A52E15-C6C7-9A4D-23F3-DAA35C088580}"/>
              </a:ext>
            </a:extLst>
          </p:cNvPr>
          <p:cNvSpPr>
            <a:spLocks noGrp="1"/>
          </p:cNvSpPr>
          <p:nvPr>
            <p:ph type="title"/>
          </p:nvPr>
        </p:nvSpPr>
        <p:spPr/>
        <p:txBody>
          <a:bodyPr>
            <a:normAutofit/>
          </a:bodyPr>
          <a:lstStyle/>
          <a:p>
            <a:r>
              <a:rPr lang="es-ES">
                <a:latin typeface="Century Gothic" panose="020B0502020202020204" pitchFamily="34" charset="0"/>
              </a:rPr>
              <a:t>Riesgo – Rentabilidad y la estructura de capital</a:t>
            </a:r>
          </a:p>
        </p:txBody>
      </p:sp>
      <p:sp>
        <p:nvSpPr>
          <p:cNvPr id="9" name="Rectángulo 8">
            <a:extLst>
              <a:ext uri="{FF2B5EF4-FFF2-40B4-BE49-F238E27FC236}">
                <a16:creationId xmlns:a16="http://schemas.microsoft.com/office/drawing/2014/main" id="{C4904110-8210-FB32-1B33-D3F48FB2E871}"/>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E324D93C-2B02-2D59-F5B9-4F47AFAE7D2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0047855D-3B00-7EEB-728A-7EEFD1CEB38D}"/>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10" name="Marcador de contenido 2">
            <a:extLst>
              <a:ext uri="{FF2B5EF4-FFF2-40B4-BE49-F238E27FC236}">
                <a16:creationId xmlns:a16="http://schemas.microsoft.com/office/drawing/2014/main" id="{ADD83B70-3511-8AA5-D138-CD134056412C}"/>
              </a:ext>
            </a:extLst>
          </p:cNvPr>
          <p:cNvSpPr>
            <a:spLocks noGrp="1"/>
          </p:cNvSpPr>
          <p:nvPr>
            <p:ph idx="1"/>
          </p:nvPr>
        </p:nvSpPr>
        <p:spPr>
          <a:xfrm>
            <a:off x="1010212" y="1929534"/>
            <a:ext cx="10171575" cy="3471932"/>
          </a:xfrm>
        </p:spPr>
        <p:txBody>
          <a:bodyPr>
            <a:noAutofit/>
          </a:bodyPr>
          <a:lstStyle/>
          <a:p>
            <a:pPr marL="0" indent="0" algn="ctr">
              <a:buNone/>
            </a:pPr>
            <a:r>
              <a:rPr lang="es-ES" b="1">
                <a:solidFill>
                  <a:srgbClr val="C00000"/>
                </a:solidFill>
                <a:latin typeface="Century Gothic" panose="020B0502020202020204" pitchFamily="34" charset="0"/>
              </a:rPr>
              <a:t>¿Qué pasa con un proyecto de cero riesgo?</a:t>
            </a:r>
          </a:p>
          <a:p>
            <a:pPr marL="0" indent="0" algn="ctr">
              <a:buNone/>
            </a:pPr>
            <a:endParaRPr lang="es-ES" sz="1050">
              <a:solidFill>
                <a:srgbClr val="800000"/>
              </a:solidFill>
            </a:endParaRPr>
          </a:p>
          <a:p>
            <a:pPr algn="just"/>
            <a:r>
              <a:rPr lang="es-ES">
                <a:solidFill>
                  <a:schemeClr val="accent1"/>
                </a:solidFill>
                <a:latin typeface="Century Gothic" panose="020B0502020202020204" pitchFamily="34" charset="0"/>
              </a:rPr>
              <a:t>Si suponemos un proyecto con riesgo “cero”, no es correcto afirmar que la rentabilidad esperada de los proveedores de capital sea igualmente “cero”. </a:t>
            </a:r>
          </a:p>
          <a:p>
            <a:pPr algn="just"/>
            <a:r>
              <a:rPr lang="es-ES">
                <a:solidFill>
                  <a:schemeClr val="accent1"/>
                </a:solidFill>
                <a:latin typeface="Century Gothic" panose="020B0502020202020204" pitchFamily="34" charset="0"/>
              </a:rPr>
              <a:t>Esto es, porque aún sin haber riesgo, el dinero sí pierde valor en el tiempo. Por lo tanto, para un hipotético proyecto con riesgo “cero” </a:t>
            </a:r>
            <a:r>
              <a:rPr lang="es-ES" b="1">
                <a:solidFill>
                  <a:srgbClr val="D7A700"/>
                </a:solidFill>
                <a:latin typeface="Century Gothic" panose="020B0502020202020204" pitchFamily="34" charset="0"/>
              </a:rPr>
              <a:t>los proveedores de dinero exigirán al menos la pérdida del valor del dinero en el tiempo, que es la Inflación</a:t>
            </a:r>
            <a:r>
              <a:rPr lang="es-ES">
                <a:solidFill>
                  <a:schemeClr val="accent1"/>
                </a:solidFill>
                <a:latin typeface="Century Gothic" panose="020B0502020202020204" pitchFamily="34" charset="0"/>
              </a:rPr>
              <a:t>.</a:t>
            </a:r>
          </a:p>
          <a:p>
            <a:pPr algn="just"/>
            <a:r>
              <a:rPr lang="es-ES">
                <a:solidFill>
                  <a:schemeClr val="accent1"/>
                </a:solidFill>
                <a:latin typeface="Century Gothic" panose="020B0502020202020204" pitchFamily="34" charset="0"/>
              </a:rPr>
              <a:t>Para un proyecto habitual con cierto nivel de riesgo, evidentemente superior a la inflación, </a:t>
            </a:r>
            <a:r>
              <a:rPr lang="es-ES" b="1">
                <a:solidFill>
                  <a:srgbClr val="D7A700"/>
                </a:solidFill>
                <a:latin typeface="Century Gothic" panose="020B0502020202020204" pitchFamily="34" charset="0"/>
              </a:rPr>
              <a:t>el costo de oportunidad </a:t>
            </a:r>
            <a:r>
              <a:rPr lang="es-ES">
                <a:solidFill>
                  <a:schemeClr val="accent1"/>
                </a:solidFill>
                <a:latin typeface="Century Gothic" panose="020B0502020202020204" pitchFamily="34" charset="0"/>
              </a:rPr>
              <a:t>de los proveedores de dinero </a:t>
            </a:r>
            <a:r>
              <a:rPr lang="es-ES" b="1">
                <a:solidFill>
                  <a:srgbClr val="D7A700"/>
                </a:solidFill>
                <a:latin typeface="Century Gothic" panose="020B0502020202020204" pitchFamily="34" charset="0"/>
              </a:rPr>
              <a:t>tiene dos componentes</a:t>
            </a:r>
            <a:r>
              <a:rPr lang="es-ES">
                <a:solidFill>
                  <a:schemeClr val="accent1"/>
                </a:solidFill>
                <a:latin typeface="Century Gothic" panose="020B0502020202020204" pitchFamily="34" charset="0"/>
              </a:rPr>
              <a:t>: </a:t>
            </a:r>
          </a:p>
        </p:txBody>
      </p:sp>
      <p:sp>
        <p:nvSpPr>
          <p:cNvPr id="12" name="CuadroTexto 4">
            <a:extLst>
              <a:ext uri="{FF2B5EF4-FFF2-40B4-BE49-F238E27FC236}">
                <a16:creationId xmlns:a16="http://schemas.microsoft.com/office/drawing/2014/main" id="{887E7C51-CC35-6251-7234-BE55EB49157C}"/>
              </a:ext>
            </a:extLst>
          </p:cNvPr>
          <p:cNvSpPr txBox="1"/>
          <p:nvPr/>
        </p:nvSpPr>
        <p:spPr>
          <a:xfrm>
            <a:off x="2323620" y="5563847"/>
            <a:ext cx="7716492" cy="369332"/>
          </a:xfrm>
          <a:prstGeom prst="rect">
            <a:avLst/>
          </a:prstGeom>
          <a:noFill/>
        </p:spPr>
        <p:txBody>
          <a:bodyPr wrap="square" rtlCol="0">
            <a:spAutoFit/>
          </a:bodyPr>
          <a:lstStyle/>
          <a:p>
            <a:pPr algn="ctr"/>
            <a:r>
              <a:rPr lang="es-ES" b="1">
                <a:latin typeface="Century Gothic" panose="020B0502020202020204" pitchFamily="34" charset="0"/>
              </a:rPr>
              <a:t>Costo de Oportunidad = </a:t>
            </a:r>
            <a:r>
              <a:rPr lang="es-ES" b="1">
                <a:solidFill>
                  <a:schemeClr val="accent1">
                    <a:lumMod val="90000"/>
                    <a:lumOff val="10000"/>
                  </a:schemeClr>
                </a:solidFill>
                <a:latin typeface="Century Gothic" panose="020B0502020202020204" pitchFamily="34" charset="0"/>
              </a:rPr>
              <a:t>Tasa Libre Riesgo </a:t>
            </a:r>
            <a:r>
              <a:rPr lang="es-ES" b="1">
                <a:latin typeface="Century Gothic" panose="020B0502020202020204" pitchFamily="34" charset="0"/>
              </a:rPr>
              <a:t>+</a:t>
            </a:r>
            <a:r>
              <a:rPr lang="es-ES" b="1">
                <a:solidFill>
                  <a:srgbClr val="C00000"/>
                </a:solidFill>
                <a:latin typeface="Century Gothic" panose="020B0502020202020204" pitchFamily="34" charset="0"/>
              </a:rPr>
              <a:t> Prima por Riesgo</a:t>
            </a:r>
            <a:endParaRPr lang="es-ES">
              <a:solidFill>
                <a:srgbClr val="C00000"/>
              </a:solidFill>
              <a:latin typeface="Century Gothic" panose="020B0502020202020204" pitchFamily="34" charset="0"/>
            </a:endParaRPr>
          </a:p>
        </p:txBody>
      </p:sp>
      <p:sp>
        <p:nvSpPr>
          <p:cNvPr id="3" name="Marcador de número de diapositiva 3">
            <a:extLst>
              <a:ext uri="{FF2B5EF4-FFF2-40B4-BE49-F238E27FC236}">
                <a16:creationId xmlns:a16="http://schemas.microsoft.com/office/drawing/2014/main" id="{D2F459C2-4B2E-2116-26E5-7FDC8686FB5E}"/>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16</a:t>
            </a:fld>
            <a:endParaRPr lang="en-US" sz="2000" b="1">
              <a:latin typeface="Century Gothic" panose="020B0502020202020204" pitchFamily="34" charset="0"/>
            </a:endParaRPr>
          </a:p>
        </p:txBody>
      </p:sp>
    </p:spTree>
    <p:extLst>
      <p:ext uri="{BB962C8B-B14F-4D97-AF65-F5344CB8AC3E}">
        <p14:creationId xmlns:p14="http://schemas.microsoft.com/office/powerpoint/2010/main" val="19807729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xEl>
                                              <p:pRg st="2" end="2"/>
                                            </p:txEl>
                                          </p:spTgt>
                                        </p:tgtEl>
                                        <p:attrNameLst>
                                          <p:attrName>style.visibility</p:attrName>
                                        </p:attrNameLst>
                                      </p:cBhvr>
                                      <p:to>
                                        <p:strVal val="visible"/>
                                      </p:to>
                                    </p:set>
                                    <p:animEffect transition="in" filter="fade">
                                      <p:cBhvr>
                                        <p:cTn id="7" dur="500"/>
                                        <p:tgtEl>
                                          <p:spTgt spid="10">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xEl>
                                              <p:pRg st="3" end="3"/>
                                            </p:txEl>
                                          </p:spTgt>
                                        </p:tgtEl>
                                        <p:attrNameLst>
                                          <p:attrName>style.visibility</p:attrName>
                                        </p:attrNameLst>
                                      </p:cBhvr>
                                      <p:to>
                                        <p:strVal val="visible"/>
                                      </p:to>
                                    </p:set>
                                    <p:animEffect transition="in" filter="fade">
                                      <p:cBhvr>
                                        <p:cTn id="12" dur="500"/>
                                        <p:tgtEl>
                                          <p:spTgt spid="10">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xEl>
                                              <p:pRg st="4" end="4"/>
                                            </p:txEl>
                                          </p:spTgt>
                                        </p:tgtEl>
                                        <p:attrNameLst>
                                          <p:attrName>style.visibility</p:attrName>
                                        </p:attrNameLst>
                                      </p:cBhvr>
                                      <p:to>
                                        <p:strVal val="visible"/>
                                      </p:to>
                                    </p:set>
                                    <p:animEffect transition="in" filter="fade">
                                      <p:cBhvr>
                                        <p:cTn id="17" dur="500"/>
                                        <p:tgtEl>
                                          <p:spTgt spid="10">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145064-4BB6-FC62-0D06-F4C7E1BF8AA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DFFF00A-C543-83A7-C459-1BDC37FD0786}"/>
              </a:ext>
            </a:extLst>
          </p:cNvPr>
          <p:cNvSpPr>
            <a:spLocks noGrp="1"/>
          </p:cNvSpPr>
          <p:nvPr>
            <p:ph type="title"/>
          </p:nvPr>
        </p:nvSpPr>
        <p:spPr/>
        <p:txBody>
          <a:bodyPr>
            <a:normAutofit/>
          </a:bodyPr>
          <a:lstStyle/>
          <a:p>
            <a:r>
              <a:rPr lang="es-ES">
                <a:latin typeface="Century Gothic" panose="020B0502020202020204" pitchFamily="34" charset="0"/>
              </a:rPr>
              <a:t>Riesgo – Rentabilidad y la estructura de capital</a:t>
            </a:r>
          </a:p>
        </p:txBody>
      </p:sp>
      <p:sp>
        <p:nvSpPr>
          <p:cNvPr id="9" name="Rectángulo 8">
            <a:extLst>
              <a:ext uri="{FF2B5EF4-FFF2-40B4-BE49-F238E27FC236}">
                <a16:creationId xmlns:a16="http://schemas.microsoft.com/office/drawing/2014/main" id="{760FB80D-BD1C-6F3B-9108-345A8C42DE07}"/>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2E8041C8-851B-A339-7773-7EF009408D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90707231-728D-E124-E284-F066710272EF}"/>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14" name="Marcador de contenido 2">
            <a:extLst>
              <a:ext uri="{FF2B5EF4-FFF2-40B4-BE49-F238E27FC236}">
                <a16:creationId xmlns:a16="http://schemas.microsoft.com/office/drawing/2014/main" id="{D58E8BD5-61B2-5C8F-FBAD-B7F98DA4906A}"/>
              </a:ext>
            </a:extLst>
          </p:cNvPr>
          <p:cNvSpPr>
            <a:spLocks noGrp="1"/>
          </p:cNvSpPr>
          <p:nvPr>
            <p:ph idx="1"/>
          </p:nvPr>
        </p:nvSpPr>
        <p:spPr>
          <a:xfrm>
            <a:off x="1070881" y="2216862"/>
            <a:ext cx="9847490" cy="3739275"/>
          </a:xfrm>
        </p:spPr>
        <p:txBody>
          <a:bodyPr>
            <a:normAutofit/>
          </a:bodyPr>
          <a:lstStyle/>
          <a:p>
            <a:pPr algn="just"/>
            <a:r>
              <a:rPr lang="es-ES">
                <a:solidFill>
                  <a:schemeClr val="accent1"/>
                </a:solidFill>
                <a:latin typeface="Century Gothic" panose="020B0502020202020204" pitchFamily="34" charset="0"/>
              </a:rPr>
              <a:t>Recordemos:</a:t>
            </a:r>
          </a:p>
          <a:p>
            <a:pPr algn="just"/>
            <a:endParaRPr lang="es-ES">
              <a:solidFill>
                <a:schemeClr val="accent1"/>
              </a:solidFill>
              <a:latin typeface="Century Gothic" panose="020B0502020202020204" pitchFamily="34" charset="0"/>
            </a:endParaRPr>
          </a:p>
          <a:p>
            <a:pPr algn="just"/>
            <a:endParaRPr lang="es-ES">
              <a:solidFill>
                <a:schemeClr val="accent1"/>
              </a:solidFill>
              <a:latin typeface="Century Gothic" panose="020B0502020202020204" pitchFamily="34" charset="0"/>
            </a:endParaRPr>
          </a:p>
          <a:p>
            <a:pPr algn="just"/>
            <a:r>
              <a:rPr lang="es-ES">
                <a:solidFill>
                  <a:schemeClr val="accent1"/>
                </a:solidFill>
                <a:latin typeface="Century Gothic" panose="020B0502020202020204" pitchFamily="34" charset="0"/>
              </a:rPr>
              <a:t>Es clara la razón por la cual sólo deben aceptarse los proyectos con VPN mayor que cero, que es lo mismo que aceptar proyectos con rentabilidad mayor al costo de fondear los proyectos. Esto es, la </a:t>
            </a:r>
            <a:r>
              <a:rPr lang="es-ES">
                <a:solidFill>
                  <a:srgbClr val="C00000"/>
                </a:solidFill>
                <a:latin typeface="Century Gothic" panose="020B0502020202020204" pitchFamily="34" charset="0"/>
              </a:rPr>
              <a:t>rentabilidad del proyecto debe ser superior al costo del fondeo de este</a:t>
            </a:r>
            <a:r>
              <a:rPr lang="es-ES">
                <a:solidFill>
                  <a:schemeClr val="accent1"/>
                </a:solidFill>
                <a:latin typeface="Century Gothic" panose="020B0502020202020204" pitchFamily="34" charset="0"/>
              </a:rPr>
              <a:t>.</a:t>
            </a:r>
          </a:p>
          <a:p>
            <a:pPr marL="305435" indent="-305435" algn="just"/>
            <a:r>
              <a:rPr lang="es-ES">
                <a:solidFill>
                  <a:schemeClr val="accent1"/>
                </a:solidFill>
                <a:latin typeface="Century Gothic"/>
              </a:rPr>
              <a:t>Veamos algunas evidencias empíricas que respaldan la teoría básica de relación Rentabilidad – Riesgo</a:t>
            </a:r>
            <a:r>
              <a:rPr lang="es-ES">
                <a:latin typeface="Century Gothic"/>
              </a:rPr>
              <a:t>.</a:t>
            </a:r>
          </a:p>
        </p:txBody>
      </p:sp>
      <p:sp>
        <p:nvSpPr>
          <p:cNvPr id="15" name="CuadroTexto 4">
            <a:extLst>
              <a:ext uri="{FF2B5EF4-FFF2-40B4-BE49-F238E27FC236}">
                <a16:creationId xmlns:a16="http://schemas.microsoft.com/office/drawing/2014/main" id="{672DDC1D-9EF5-8040-1C14-9A67D22AC824}"/>
              </a:ext>
            </a:extLst>
          </p:cNvPr>
          <p:cNvSpPr txBox="1"/>
          <p:nvPr/>
        </p:nvSpPr>
        <p:spPr>
          <a:xfrm>
            <a:off x="4192897" y="2991600"/>
            <a:ext cx="1998688" cy="430887"/>
          </a:xfrm>
          <a:prstGeom prst="rect">
            <a:avLst/>
          </a:prstGeom>
          <a:noFill/>
        </p:spPr>
        <p:txBody>
          <a:bodyPr wrap="square" rtlCol="0">
            <a:spAutoFit/>
          </a:bodyPr>
          <a:lstStyle/>
          <a:p>
            <a:r>
              <a:rPr lang="es-ES" sz="2200" b="1">
                <a:latin typeface="Century Gothic" panose="020B0502020202020204" pitchFamily="34" charset="0"/>
              </a:rPr>
              <a:t>TIR &gt; C.O.</a:t>
            </a:r>
          </a:p>
        </p:txBody>
      </p:sp>
      <p:sp>
        <p:nvSpPr>
          <p:cNvPr id="16" name="Flecha abajo 5">
            <a:extLst>
              <a:ext uri="{FF2B5EF4-FFF2-40B4-BE49-F238E27FC236}">
                <a16:creationId xmlns:a16="http://schemas.microsoft.com/office/drawing/2014/main" id="{1D4E2808-E0E8-6038-FD0A-8FFC9E66750C}"/>
              </a:ext>
            </a:extLst>
          </p:cNvPr>
          <p:cNvSpPr/>
          <p:nvPr/>
        </p:nvSpPr>
        <p:spPr>
          <a:xfrm rot="16200000">
            <a:off x="5902383" y="3016124"/>
            <a:ext cx="342664" cy="367836"/>
          </a:xfrm>
          <a:prstGeom prst="downArrow">
            <a:avLst/>
          </a:prstGeom>
          <a:solidFill>
            <a:schemeClr val="accent3">
              <a:lumMod val="75000"/>
            </a:schemeClr>
          </a:solidFill>
          <a:ln>
            <a:solidFill>
              <a:schemeClr val="accent3">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sz="2200"/>
          </a:p>
        </p:txBody>
      </p:sp>
      <p:sp>
        <p:nvSpPr>
          <p:cNvPr id="17" name="CuadroTexto 6">
            <a:extLst>
              <a:ext uri="{FF2B5EF4-FFF2-40B4-BE49-F238E27FC236}">
                <a16:creationId xmlns:a16="http://schemas.microsoft.com/office/drawing/2014/main" id="{70D65884-A283-8DF0-77C8-F970299390F4}"/>
              </a:ext>
            </a:extLst>
          </p:cNvPr>
          <p:cNvSpPr txBox="1"/>
          <p:nvPr/>
        </p:nvSpPr>
        <p:spPr>
          <a:xfrm>
            <a:off x="6432703" y="3014671"/>
            <a:ext cx="1668062" cy="430887"/>
          </a:xfrm>
          <a:prstGeom prst="rect">
            <a:avLst/>
          </a:prstGeom>
          <a:noFill/>
        </p:spPr>
        <p:txBody>
          <a:bodyPr wrap="square" rtlCol="0">
            <a:spAutoFit/>
          </a:bodyPr>
          <a:lstStyle/>
          <a:p>
            <a:r>
              <a:rPr lang="es-ES" sz="2200" b="1">
                <a:latin typeface="Century Gothic" panose="020B0502020202020204" pitchFamily="34" charset="0"/>
              </a:rPr>
              <a:t>VPN &gt; O</a:t>
            </a:r>
          </a:p>
        </p:txBody>
      </p:sp>
      <p:sp>
        <p:nvSpPr>
          <p:cNvPr id="3" name="Marcador de número de diapositiva 3">
            <a:extLst>
              <a:ext uri="{FF2B5EF4-FFF2-40B4-BE49-F238E27FC236}">
                <a16:creationId xmlns:a16="http://schemas.microsoft.com/office/drawing/2014/main" id="{4215BB4A-20D9-AFA8-B409-9E1B3B8D2620}"/>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17</a:t>
            </a:fld>
            <a:endParaRPr lang="en-US" sz="2000" b="1">
              <a:latin typeface="Century Gothic" panose="020B0502020202020204" pitchFamily="34" charset="0"/>
            </a:endParaRPr>
          </a:p>
        </p:txBody>
      </p:sp>
    </p:spTree>
    <p:extLst>
      <p:ext uri="{BB962C8B-B14F-4D97-AF65-F5344CB8AC3E}">
        <p14:creationId xmlns:p14="http://schemas.microsoft.com/office/powerpoint/2010/main" val="41114807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5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4">
                                            <p:txEl>
                                              <p:pRg st="3" end="3"/>
                                            </p:txEl>
                                          </p:spTgt>
                                        </p:tgtEl>
                                        <p:attrNameLst>
                                          <p:attrName>style.visibility</p:attrName>
                                        </p:attrNameLst>
                                      </p:cBhvr>
                                      <p:to>
                                        <p:strVal val="visible"/>
                                      </p:to>
                                    </p:set>
                                    <p:animEffect transition="in" filter="fade">
                                      <p:cBhvr>
                                        <p:cTn id="15" dur="500"/>
                                        <p:tgtEl>
                                          <p:spTgt spid="14">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4">
                                            <p:txEl>
                                              <p:pRg st="4" end="4"/>
                                            </p:txEl>
                                          </p:spTgt>
                                        </p:tgtEl>
                                        <p:attrNameLst>
                                          <p:attrName>style.visibility</p:attrName>
                                        </p:attrNameLst>
                                      </p:cBhvr>
                                      <p:to>
                                        <p:strVal val="visible"/>
                                      </p:to>
                                    </p:set>
                                    <p:animEffect transition="in" filter="fade">
                                      <p:cBhvr>
                                        <p:cTn id="20" dur="500"/>
                                        <p:tgtEl>
                                          <p:spTgt spid="1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2B9E12-37B5-401F-802E-FEEED78EBBE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431D39D-94D5-63A5-AB2D-32EC10797F05}"/>
              </a:ext>
            </a:extLst>
          </p:cNvPr>
          <p:cNvSpPr>
            <a:spLocks noGrp="1"/>
          </p:cNvSpPr>
          <p:nvPr>
            <p:ph type="title"/>
          </p:nvPr>
        </p:nvSpPr>
        <p:spPr/>
        <p:txBody>
          <a:bodyPr>
            <a:normAutofit/>
          </a:bodyPr>
          <a:lstStyle/>
          <a:p>
            <a:r>
              <a:rPr lang="es-ES">
                <a:latin typeface="Century Gothic" panose="020B0502020202020204" pitchFamily="34" charset="0"/>
              </a:rPr>
              <a:t>Riesgo – Rentabilidad y la estructura de capital</a:t>
            </a:r>
          </a:p>
        </p:txBody>
      </p:sp>
      <p:sp>
        <p:nvSpPr>
          <p:cNvPr id="9" name="Rectángulo 8">
            <a:extLst>
              <a:ext uri="{FF2B5EF4-FFF2-40B4-BE49-F238E27FC236}">
                <a16:creationId xmlns:a16="http://schemas.microsoft.com/office/drawing/2014/main" id="{92C92C10-5352-133E-129D-3CA0D6D25B9F}"/>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181905F0-9D43-0636-1875-D2FCD93CFF9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868E902E-373C-8255-BFCC-0BB52A45B1BC}"/>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graphicFrame>
        <p:nvGraphicFramePr>
          <p:cNvPr id="8" name="Tabla 51">
            <a:extLst>
              <a:ext uri="{FF2B5EF4-FFF2-40B4-BE49-F238E27FC236}">
                <a16:creationId xmlns:a16="http://schemas.microsoft.com/office/drawing/2014/main" id="{8253D98F-B382-A57E-56A4-F06799AD342E}"/>
              </a:ext>
            </a:extLst>
          </p:cNvPr>
          <p:cNvGraphicFramePr>
            <a:graphicFrameLocks noGrp="1"/>
          </p:cNvGraphicFramePr>
          <p:nvPr>
            <p:extLst>
              <p:ext uri="{D42A27DB-BD31-4B8C-83A1-F6EECF244321}">
                <p14:modId xmlns:p14="http://schemas.microsoft.com/office/powerpoint/2010/main" val="777671544"/>
              </p:ext>
            </p:extLst>
          </p:nvPr>
        </p:nvGraphicFramePr>
        <p:xfrm>
          <a:off x="7652303" y="3200376"/>
          <a:ext cx="4105015" cy="1854200"/>
        </p:xfrm>
        <a:graphic>
          <a:graphicData uri="http://schemas.openxmlformats.org/drawingml/2006/table">
            <a:tbl>
              <a:tblPr firstRow="1" bandRow="1">
                <a:tableStyleId>{BC89EF96-8CEA-46FF-86C4-4CE0E7609802}</a:tableStyleId>
              </a:tblPr>
              <a:tblGrid>
                <a:gridCol w="2062480">
                  <a:extLst>
                    <a:ext uri="{9D8B030D-6E8A-4147-A177-3AD203B41FA5}">
                      <a16:colId xmlns:a16="http://schemas.microsoft.com/office/drawing/2014/main" val="4288467150"/>
                    </a:ext>
                  </a:extLst>
                </a:gridCol>
                <a:gridCol w="2042535">
                  <a:extLst>
                    <a:ext uri="{9D8B030D-6E8A-4147-A177-3AD203B41FA5}">
                      <a16:colId xmlns:a16="http://schemas.microsoft.com/office/drawing/2014/main" val="1194580009"/>
                    </a:ext>
                  </a:extLst>
                </a:gridCol>
              </a:tblGrid>
              <a:tr h="370840">
                <a:tc>
                  <a:txBody>
                    <a:bodyPr/>
                    <a:lstStyle/>
                    <a:p>
                      <a:pPr algn="ctr"/>
                      <a:r>
                        <a:rPr lang="es-CO" sz="1400" b="0">
                          <a:solidFill>
                            <a:schemeClr val="tx1"/>
                          </a:solidFill>
                          <a:latin typeface="Century Gothic" panose="020B0502020202020204" pitchFamily="34" charset="0"/>
                        </a:rPr>
                        <a:t>Small Stocks</a:t>
                      </a:r>
                    </a:p>
                  </a:txBody>
                  <a:tcPr>
                    <a:lnL w="12700" cap="flat" cmpd="sng" algn="ctr">
                      <a:solidFill>
                        <a:schemeClr val="accent3">
                          <a:lumMod val="75000"/>
                        </a:schemeClr>
                      </a:solidFill>
                      <a:prstDash val="solid"/>
                      <a:round/>
                      <a:headEnd type="none" w="med" len="med"/>
                      <a:tailEnd type="none" w="med" len="med"/>
                    </a:lnL>
                    <a:lnR w="12700" cap="flat" cmpd="sng" algn="ctr">
                      <a:solidFill>
                        <a:schemeClr val="accent3">
                          <a:lumMod val="75000"/>
                        </a:schemeClr>
                      </a:solidFill>
                      <a:prstDash val="solid"/>
                      <a:round/>
                      <a:headEnd type="none" w="med" len="med"/>
                      <a:tailEnd type="none" w="med" len="med"/>
                    </a:lnR>
                    <a:lnT w="12700" cap="flat" cmpd="sng" algn="ctr">
                      <a:solidFill>
                        <a:schemeClr val="accent3">
                          <a:lumMod val="75000"/>
                        </a:schemeClr>
                      </a:solidFill>
                      <a:prstDash val="solid"/>
                      <a:round/>
                      <a:headEnd type="none" w="med" len="med"/>
                      <a:tailEnd type="none" w="med" len="med"/>
                    </a:lnT>
                    <a:lnB w="12700" cap="flat" cmpd="sng" algn="ctr">
                      <a:solidFill>
                        <a:schemeClr val="accent3">
                          <a:lumMod val="75000"/>
                        </a:schemeClr>
                      </a:solidFill>
                      <a:prstDash val="solid"/>
                      <a:round/>
                      <a:headEnd type="none" w="med" len="med"/>
                      <a:tailEnd type="none" w="med" len="med"/>
                    </a:lnB>
                  </a:tcPr>
                </a:tc>
                <a:tc>
                  <a:txBody>
                    <a:bodyPr/>
                    <a:lstStyle/>
                    <a:p>
                      <a:pPr algn="ctr"/>
                      <a:r>
                        <a:rPr lang="es-CO" sz="1400" b="0">
                          <a:solidFill>
                            <a:schemeClr val="tx1"/>
                          </a:solidFill>
                          <a:latin typeface="Century Gothic" panose="020B0502020202020204" pitchFamily="34" charset="0"/>
                        </a:rPr>
                        <a:t>$49.052 USD</a:t>
                      </a:r>
                    </a:p>
                  </a:txBody>
                  <a:tcPr>
                    <a:lnL w="12700" cap="flat" cmpd="sng" algn="ctr">
                      <a:solidFill>
                        <a:schemeClr val="accent3">
                          <a:lumMod val="75000"/>
                        </a:schemeClr>
                      </a:solidFill>
                      <a:prstDash val="solid"/>
                      <a:round/>
                      <a:headEnd type="none" w="med" len="med"/>
                      <a:tailEnd type="none" w="med" len="med"/>
                    </a:lnL>
                    <a:lnR w="12700" cap="flat" cmpd="sng" algn="ctr">
                      <a:solidFill>
                        <a:schemeClr val="accent3">
                          <a:lumMod val="75000"/>
                        </a:schemeClr>
                      </a:solidFill>
                      <a:prstDash val="solid"/>
                      <a:round/>
                      <a:headEnd type="none" w="med" len="med"/>
                      <a:tailEnd type="none" w="med" len="med"/>
                    </a:lnR>
                    <a:lnT w="12700" cap="flat" cmpd="sng" algn="ctr">
                      <a:solidFill>
                        <a:schemeClr val="accent3">
                          <a:lumMod val="75000"/>
                        </a:schemeClr>
                      </a:solidFill>
                      <a:prstDash val="solid"/>
                      <a:round/>
                      <a:headEnd type="none" w="med" len="med"/>
                      <a:tailEnd type="none" w="med" len="med"/>
                    </a:lnT>
                    <a:lnB w="12700" cap="flat" cmpd="sng" algn="ctr">
                      <a:solidFill>
                        <a:schemeClr val="accent3">
                          <a:lumMod val="75000"/>
                        </a:schemeClr>
                      </a:solidFill>
                      <a:prstDash val="solid"/>
                      <a:round/>
                      <a:headEnd type="none" w="med" len="med"/>
                      <a:tailEnd type="none" w="med" len="med"/>
                    </a:lnB>
                  </a:tcPr>
                </a:tc>
                <a:extLst>
                  <a:ext uri="{0D108BD9-81ED-4DB2-BD59-A6C34878D82A}">
                    <a16:rowId xmlns:a16="http://schemas.microsoft.com/office/drawing/2014/main" val="2507189339"/>
                  </a:ext>
                </a:extLst>
              </a:tr>
              <a:tr h="370840">
                <a:tc>
                  <a:txBody>
                    <a:bodyPr/>
                    <a:lstStyle/>
                    <a:p>
                      <a:pPr algn="ctr"/>
                      <a:r>
                        <a:rPr lang="es-CO" sz="1400" b="0" err="1">
                          <a:solidFill>
                            <a:schemeClr val="tx1"/>
                          </a:solidFill>
                          <a:latin typeface="Century Gothic" panose="020B0502020202020204" pitchFamily="34" charset="0"/>
                        </a:rPr>
                        <a:t>Large</a:t>
                      </a:r>
                      <a:r>
                        <a:rPr lang="es-CO" sz="1400" b="0">
                          <a:solidFill>
                            <a:schemeClr val="tx1"/>
                          </a:solidFill>
                          <a:latin typeface="Century Gothic" panose="020B0502020202020204" pitchFamily="34" charset="0"/>
                        </a:rPr>
                        <a:t> Stocks</a:t>
                      </a:r>
                    </a:p>
                  </a:txBody>
                  <a:tcPr>
                    <a:lnL w="12700" cap="flat" cmpd="sng" algn="ctr">
                      <a:solidFill>
                        <a:schemeClr val="accent3">
                          <a:lumMod val="75000"/>
                        </a:schemeClr>
                      </a:solidFill>
                      <a:prstDash val="solid"/>
                      <a:round/>
                      <a:headEnd type="none" w="med" len="med"/>
                      <a:tailEnd type="none" w="med" len="med"/>
                    </a:lnL>
                    <a:lnR w="12700" cap="flat" cmpd="sng" algn="ctr">
                      <a:solidFill>
                        <a:schemeClr val="accent3">
                          <a:lumMod val="75000"/>
                        </a:schemeClr>
                      </a:solidFill>
                      <a:prstDash val="solid"/>
                      <a:round/>
                      <a:headEnd type="none" w="med" len="med"/>
                      <a:tailEnd type="none" w="med" len="med"/>
                    </a:lnR>
                    <a:lnT w="12700" cap="flat" cmpd="sng" algn="ctr">
                      <a:solidFill>
                        <a:schemeClr val="accent3">
                          <a:lumMod val="75000"/>
                        </a:schemeClr>
                      </a:solidFill>
                      <a:prstDash val="solid"/>
                      <a:round/>
                      <a:headEnd type="none" w="med" len="med"/>
                      <a:tailEnd type="none" w="med" len="med"/>
                    </a:lnT>
                    <a:lnB w="12700" cap="flat" cmpd="sng" algn="ctr">
                      <a:solidFill>
                        <a:schemeClr val="accent3">
                          <a:lumMod val="75000"/>
                        </a:schemeClr>
                      </a:solidFill>
                      <a:prstDash val="solid"/>
                      <a:round/>
                      <a:headEnd type="none" w="med" len="med"/>
                      <a:tailEnd type="none" w="med" len="med"/>
                    </a:lnB>
                  </a:tcPr>
                </a:tc>
                <a:tc>
                  <a:txBody>
                    <a:bodyPr/>
                    <a:lstStyle/>
                    <a:p>
                      <a:pPr algn="ctr"/>
                      <a:r>
                        <a:rPr lang="es-CO" sz="1400" b="0">
                          <a:solidFill>
                            <a:schemeClr val="tx1"/>
                          </a:solidFill>
                          <a:latin typeface="Century Gothic" panose="020B0502020202020204" pitchFamily="34" charset="0"/>
                        </a:rPr>
                        <a:t>$11.535 USD</a:t>
                      </a:r>
                    </a:p>
                  </a:txBody>
                  <a:tcPr>
                    <a:lnL w="12700" cap="flat" cmpd="sng" algn="ctr">
                      <a:solidFill>
                        <a:schemeClr val="accent3">
                          <a:lumMod val="75000"/>
                        </a:schemeClr>
                      </a:solidFill>
                      <a:prstDash val="solid"/>
                      <a:round/>
                      <a:headEnd type="none" w="med" len="med"/>
                      <a:tailEnd type="none" w="med" len="med"/>
                    </a:lnL>
                    <a:lnR w="12700" cap="flat" cmpd="sng" algn="ctr">
                      <a:solidFill>
                        <a:schemeClr val="accent3">
                          <a:lumMod val="75000"/>
                        </a:schemeClr>
                      </a:solidFill>
                      <a:prstDash val="solid"/>
                      <a:round/>
                      <a:headEnd type="none" w="med" len="med"/>
                      <a:tailEnd type="none" w="med" len="med"/>
                    </a:lnR>
                    <a:lnT w="12700" cap="flat" cmpd="sng" algn="ctr">
                      <a:solidFill>
                        <a:schemeClr val="accent3">
                          <a:lumMod val="75000"/>
                        </a:schemeClr>
                      </a:solidFill>
                      <a:prstDash val="solid"/>
                      <a:round/>
                      <a:headEnd type="none" w="med" len="med"/>
                      <a:tailEnd type="none" w="med" len="med"/>
                    </a:lnT>
                    <a:lnB w="12700" cap="flat" cmpd="sng" algn="ctr">
                      <a:solidFill>
                        <a:schemeClr val="accent3">
                          <a:lumMod val="75000"/>
                        </a:schemeClr>
                      </a:solidFill>
                      <a:prstDash val="solid"/>
                      <a:round/>
                      <a:headEnd type="none" w="med" len="med"/>
                      <a:tailEnd type="none" w="med" len="med"/>
                    </a:lnB>
                  </a:tcPr>
                </a:tc>
                <a:extLst>
                  <a:ext uri="{0D108BD9-81ED-4DB2-BD59-A6C34878D82A}">
                    <a16:rowId xmlns:a16="http://schemas.microsoft.com/office/drawing/2014/main" val="230587160"/>
                  </a:ext>
                </a:extLst>
              </a:tr>
              <a:tr h="370840">
                <a:tc>
                  <a:txBody>
                    <a:bodyPr/>
                    <a:lstStyle/>
                    <a:p>
                      <a:pPr algn="ctr"/>
                      <a:r>
                        <a:rPr lang="es-CO" sz="1400" b="0" err="1">
                          <a:solidFill>
                            <a:schemeClr val="tx1"/>
                          </a:solidFill>
                          <a:latin typeface="Century Gothic" panose="020B0502020202020204" pitchFamily="34" charset="0"/>
                        </a:rPr>
                        <a:t>Government</a:t>
                      </a:r>
                      <a:r>
                        <a:rPr lang="es-CO" sz="1400" b="0">
                          <a:solidFill>
                            <a:schemeClr val="tx1"/>
                          </a:solidFill>
                          <a:latin typeface="Century Gothic" panose="020B0502020202020204" pitchFamily="34" charset="0"/>
                        </a:rPr>
                        <a:t> Bonds</a:t>
                      </a:r>
                    </a:p>
                  </a:txBody>
                  <a:tcPr>
                    <a:lnL w="12700" cap="flat" cmpd="sng" algn="ctr">
                      <a:solidFill>
                        <a:schemeClr val="accent3">
                          <a:lumMod val="75000"/>
                        </a:schemeClr>
                      </a:solidFill>
                      <a:prstDash val="solid"/>
                      <a:round/>
                      <a:headEnd type="none" w="med" len="med"/>
                      <a:tailEnd type="none" w="med" len="med"/>
                    </a:lnL>
                    <a:lnR w="12700" cap="flat" cmpd="sng" algn="ctr">
                      <a:solidFill>
                        <a:schemeClr val="accent3">
                          <a:lumMod val="75000"/>
                        </a:schemeClr>
                      </a:solidFill>
                      <a:prstDash val="solid"/>
                      <a:round/>
                      <a:headEnd type="none" w="med" len="med"/>
                      <a:tailEnd type="none" w="med" len="med"/>
                    </a:lnR>
                    <a:lnT w="12700" cap="flat" cmpd="sng" algn="ctr">
                      <a:solidFill>
                        <a:schemeClr val="accent3">
                          <a:lumMod val="75000"/>
                        </a:schemeClr>
                      </a:solidFill>
                      <a:prstDash val="solid"/>
                      <a:round/>
                      <a:headEnd type="none" w="med" len="med"/>
                      <a:tailEnd type="none" w="med" len="med"/>
                    </a:lnT>
                    <a:lnB w="12700" cap="flat" cmpd="sng" algn="ctr">
                      <a:solidFill>
                        <a:schemeClr val="accent3">
                          <a:lumMod val="75000"/>
                        </a:schemeClr>
                      </a:solidFill>
                      <a:prstDash val="solid"/>
                      <a:round/>
                      <a:headEnd type="none" w="med" len="med"/>
                      <a:tailEnd type="none" w="med" len="med"/>
                    </a:lnB>
                  </a:tcPr>
                </a:tc>
                <a:tc>
                  <a:txBody>
                    <a:bodyPr/>
                    <a:lstStyle/>
                    <a:p>
                      <a:pPr algn="ctr"/>
                      <a:r>
                        <a:rPr lang="es-CO" sz="1400" b="0">
                          <a:solidFill>
                            <a:schemeClr val="tx1"/>
                          </a:solidFill>
                          <a:latin typeface="Century Gothic" panose="020B0502020202020204" pitchFamily="34" charset="0"/>
                        </a:rPr>
                        <a:t>$131 USD</a:t>
                      </a:r>
                    </a:p>
                  </a:txBody>
                  <a:tcPr>
                    <a:lnL w="12700" cap="flat" cmpd="sng" algn="ctr">
                      <a:solidFill>
                        <a:schemeClr val="accent3">
                          <a:lumMod val="75000"/>
                        </a:schemeClr>
                      </a:solidFill>
                      <a:prstDash val="solid"/>
                      <a:round/>
                      <a:headEnd type="none" w="med" len="med"/>
                      <a:tailEnd type="none" w="med" len="med"/>
                    </a:lnL>
                    <a:lnR w="12700" cap="flat" cmpd="sng" algn="ctr">
                      <a:solidFill>
                        <a:schemeClr val="accent3">
                          <a:lumMod val="75000"/>
                        </a:schemeClr>
                      </a:solidFill>
                      <a:prstDash val="solid"/>
                      <a:round/>
                      <a:headEnd type="none" w="med" len="med"/>
                      <a:tailEnd type="none" w="med" len="med"/>
                    </a:lnR>
                    <a:lnT w="12700" cap="flat" cmpd="sng" algn="ctr">
                      <a:solidFill>
                        <a:schemeClr val="accent3">
                          <a:lumMod val="75000"/>
                        </a:schemeClr>
                      </a:solidFill>
                      <a:prstDash val="solid"/>
                      <a:round/>
                      <a:headEnd type="none" w="med" len="med"/>
                      <a:tailEnd type="none" w="med" len="med"/>
                    </a:lnT>
                    <a:lnB w="12700" cap="flat" cmpd="sng" algn="ctr">
                      <a:solidFill>
                        <a:schemeClr val="accent3">
                          <a:lumMod val="75000"/>
                        </a:schemeClr>
                      </a:solidFill>
                      <a:prstDash val="solid"/>
                      <a:round/>
                      <a:headEnd type="none" w="med" len="med"/>
                      <a:tailEnd type="none" w="med" len="med"/>
                    </a:lnB>
                  </a:tcPr>
                </a:tc>
                <a:extLst>
                  <a:ext uri="{0D108BD9-81ED-4DB2-BD59-A6C34878D82A}">
                    <a16:rowId xmlns:a16="http://schemas.microsoft.com/office/drawing/2014/main" val="1117996458"/>
                  </a:ext>
                </a:extLst>
              </a:tr>
              <a:tr h="370840">
                <a:tc>
                  <a:txBody>
                    <a:bodyPr/>
                    <a:lstStyle/>
                    <a:p>
                      <a:pPr algn="ctr"/>
                      <a:r>
                        <a:rPr lang="es-CO" sz="1400" b="0" err="1">
                          <a:solidFill>
                            <a:schemeClr val="tx1"/>
                          </a:solidFill>
                          <a:latin typeface="Century Gothic" panose="020B0502020202020204" pitchFamily="34" charset="0"/>
                        </a:rPr>
                        <a:t>Treasury</a:t>
                      </a:r>
                      <a:r>
                        <a:rPr lang="es-CO" sz="1400" b="0">
                          <a:solidFill>
                            <a:schemeClr val="tx1"/>
                          </a:solidFill>
                          <a:latin typeface="Century Gothic" panose="020B0502020202020204" pitchFamily="34" charset="0"/>
                        </a:rPr>
                        <a:t> </a:t>
                      </a:r>
                      <a:r>
                        <a:rPr lang="es-CO" sz="1400" b="0" err="1">
                          <a:solidFill>
                            <a:schemeClr val="tx1"/>
                          </a:solidFill>
                          <a:latin typeface="Century Gothic" panose="020B0502020202020204" pitchFamily="34" charset="0"/>
                        </a:rPr>
                        <a:t>Bills</a:t>
                      </a:r>
                      <a:endParaRPr lang="es-CO" sz="1400" b="0">
                        <a:solidFill>
                          <a:schemeClr val="tx1"/>
                        </a:solidFill>
                        <a:latin typeface="Century Gothic" panose="020B0502020202020204" pitchFamily="34" charset="0"/>
                      </a:endParaRPr>
                    </a:p>
                  </a:txBody>
                  <a:tcPr>
                    <a:lnL w="12700" cap="flat" cmpd="sng" algn="ctr">
                      <a:solidFill>
                        <a:schemeClr val="accent3">
                          <a:lumMod val="75000"/>
                        </a:schemeClr>
                      </a:solidFill>
                      <a:prstDash val="solid"/>
                      <a:round/>
                      <a:headEnd type="none" w="med" len="med"/>
                      <a:tailEnd type="none" w="med" len="med"/>
                    </a:lnL>
                    <a:lnR w="12700" cap="flat" cmpd="sng" algn="ctr">
                      <a:solidFill>
                        <a:schemeClr val="accent3">
                          <a:lumMod val="75000"/>
                        </a:schemeClr>
                      </a:solidFill>
                      <a:prstDash val="solid"/>
                      <a:round/>
                      <a:headEnd type="none" w="med" len="med"/>
                      <a:tailEnd type="none" w="med" len="med"/>
                    </a:lnR>
                    <a:lnT w="12700" cap="flat" cmpd="sng" algn="ctr">
                      <a:solidFill>
                        <a:schemeClr val="accent3">
                          <a:lumMod val="75000"/>
                        </a:schemeClr>
                      </a:solidFill>
                      <a:prstDash val="solid"/>
                      <a:round/>
                      <a:headEnd type="none" w="med" len="med"/>
                      <a:tailEnd type="none" w="med" len="med"/>
                    </a:lnT>
                    <a:lnB w="12700" cap="flat" cmpd="sng" algn="ctr">
                      <a:solidFill>
                        <a:schemeClr val="accent3">
                          <a:lumMod val="75000"/>
                        </a:schemeClr>
                      </a:solidFill>
                      <a:prstDash val="solid"/>
                      <a:round/>
                      <a:headEnd type="none" w="med" len="med"/>
                      <a:tailEnd type="none" w="med" len="med"/>
                    </a:lnB>
                  </a:tcPr>
                </a:tc>
                <a:tc>
                  <a:txBody>
                    <a:bodyPr/>
                    <a:lstStyle/>
                    <a:p>
                      <a:pPr algn="ctr"/>
                      <a:r>
                        <a:rPr lang="es-CO" sz="1400" b="0">
                          <a:solidFill>
                            <a:schemeClr val="tx1"/>
                          </a:solidFill>
                          <a:latin typeface="Century Gothic" panose="020B0502020202020204" pitchFamily="34" charset="0"/>
                        </a:rPr>
                        <a:t>$22 USD</a:t>
                      </a:r>
                    </a:p>
                  </a:txBody>
                  <a:tcPr>
                    <a:lnL w="12700" cap="flat" cmpd="sng" algn="ctr">
                      <a:solidFill>
                        <a:schemeClr val="accent3">
                          <a:lumMod val="75000"/>
                        </a:schemeClr>
                      </a:solidFill>
                      <a:prstDash val="solid"/>
                      <a:round/>
                      <a:headEnd type="none" w="med" len="med"/>
                      <a:tailEnd type="none" w="med" len="med"/>
                    </a:lnL>
                    <a:lnR w="12700" cap="flat" cmpd="sng" algn="ctr">
                      <a:solidFill>
                        <a:schemeClr val="accent3">
                          <a:lumMod val="75000"/>
                        </a:schemeClr>
                      </a:solidFill>
                      <a:prstDash val="solid"/>
                      <a:round/>
                      <a:headEnd type="none" w="med" len="med"/>
                      <a:tailEnd type="none" w="med" len="med"/>
                    </a:lnR>
                    <a:lnT w="12700" cap="flat" cmpd="sng" algn="ctr">
                      <a:solidFill>
                        <a:schemeClr val="accent3">
                          <a:lumMod val="75000"/>
                        </a:schemeClr>
                      </a:solidFill>
                      <a:prstDash val="solid"/>
                      <a:round/>
                      <a:headEnd type="none" w="med" len="med"/>
                      <a:tailEnd type="none" w="med" len="med"/>
                    </a:lnT>
                    <a:lnB w="12700" cap="flat" cmpd="sng" algn="ctr">
                      <a:solidFill>
                        <a:schemeClr val="accent3">
                          <a:lumMod val="75000"/>
                        </a:schemeClr>
                      </a:solidFill>
                      <a:prstDash val="solid"/>
                      <a:round/>
                      <a:headEnd type="none" w="med" len="med"/>
                      <a:tailEnd type="none" w="med" len="med"/>
                    </a:lnB>
                  </a:tcPr>
                </a:tc>
                <a:extLst>
                  <a:ext uri="{0D108BD9-81ED-4DB2-BD59-A6C34878D82A}">
                    <a16:rowId xmlns:a16="http://schemas.microsoft.com/office/drawing/2014/main" val="3497460809"/>
                  </a:ext>
                </a:extLst>
              </a:tr>
              <a:tr h="370840">
                <a:tc>
                  <a:txBody>
                    <a:bodyPr/>
                    <a:lstStyle/>
                    <a:p>
                      <a:pPr algn="ctr"/>
                      <a:r>
                        <a:rPr lang="es-CO" sz="1400" b="0" err="1">
                          <a:solidFill>
                            <a:schemeClr val="tx1"/>
                          </a:solidFill>
                          <a:latin typeface="Century Gothic" panose="020B0502020202020204" pitchFamily="34" charset="0"/>
                        </a:rPr>
                        <a:t>Inflation</a:t>
                      </a:r>
                      <a:endParaRPr lang="es-CO" sz="1400" b="0">
                        <a:solidFill>
                          <a:schemeClr val="tx1"/>
                        </a:solidFill>
                        <a:latin typeface="Century Gothic" panose="020B0502020202020204" pitchFamily="34" charset="0"/>
                      </a:endParaRPr>
                    </a:p>
                  </a:txBody>
                  <a:tcPr>
                    <a:lnL w="12700" cap="flat" cmpd="sng" algn="ctr">
                      <a:solidFill>
                        <a:schemeClr val="accent3">
                          <a:lumMod val="75000"/>
                        </a:schemeClr>
                      </a:solidFill>
                      <a:prstDash val="solid"/>
                      <a:round/>
                      <a:headEnd type="none" w="med" len="med"/>
                      <a:tailEnd type="none" w="med" len="med"/>
                    </a:lnL>
                    <a:lnR w="12700" cap="flat" cmpd="sng" algn="ctr">
                      <a:solidFill>
                        <a:schemeClr val="accent3">
                          <a:lumMod val="75000"/>
                        </a:schemeClr>
                      </a:solidFill>
                      <a:prstDash val="solid"/>
                      <a:round/>
                      <a:headEnd type="none" w="med" len="med"/>
                      <a:tailEnd type="none" w="med" len="med"/>
                    </a:lnR>
                    <a:lnT w="12700" cap="flat" cmpd="sng" algn="ctr">
                      <a:solidFill>
                        <a:schemeClr val="accent3">
                          <a:lumMod val="75000"/>
                        </a:schemeClr>
                      </a:solidFill>
                      <a:prstDash val="solid"/>
                      <a:round/>
                      <a:headEnd type="none" w="med" len="med"/>
                      <a:tailEnd type="none" w="med" len="med"/>
                    </a:lnT>
                    <a:lnB w="12700" cap="flat" cmpd="sng" algn="ctr">
                      <a:solidFill>
                        <a:schemeClr val="accent3">
                          <a:lumMod val="75000"/>
                        </a:schemeClr>
                      </a:solidFill>
                      <a:prstDash val="solid"/>
                      <a:round/>
                      <a:headEnd type="none" w="med" len="med"/>
                      <a:tailEnd type="none" w="med" len="med"/>
                    </a:lnB>
                  </a:tcPr>
                </a:tc>
                <a:tc>
                  <a:txBody>
                    <a:bodyPr/>
                    <a:lstStyle/>
                    <a:p>
                      <a:pPr algn="ctr"/>
                      <a:r>
                        <a:rPr lang="es-CO" sz="1400" b="0">
                          <a:solidFill>
                            <a:schemeClr val="tx1"/>
                          </a:solidFill>
                          <a:latin typeface="Century Gothic" panose="020B0502020202020204" pitchFamily="34" charset="0"/>
                        </a:rPr>
                        <a:t>$17 USD</a:t>
                      </a:r>
                    </a:p>
                  </a:txBody>
                  <a:tcPr>
                    <a:lnL w="12700" cap="flat" cmpd="sng" algn="ctr">
                      <a:solidFill>
                        <a:schemeClr val="accent3">
                          <a:lumMod val="75000"/>
                        </a:schemeClr>
                      </a:solidFill>
                      <a:prstDash val="solid"/>
                      <a:round/>
                      <a:headEnd type="none" w="med" len="med"/>
                      <a:tailEnd type="none" w="med" len="med"/>
                    </a:lnL>
                    <a:lnR w="12700" cap="flat" cmpd="sng" algn="ctr">
                      <a:solidFill>
                        <a:schemeClr val="accent3">
                          <a:lumMod val="75000"/>
                        </a:schemeClr>
                      </a:solidFill>
                      <a:prstDash val="solid"/>
                      <a:round/>
                      <a:headEnd type="none" w="med" len="med"/>
                      <a:tailEnd type="none" w="med" len="med"/>
                    </a:lnR>
                    <a:lnT w="12700" cap="flat" cmpd="sng" algn="ctr">
                      <a:solidFill>
                        <a:schemeClr val="accent3">
                          <a:lumMod val="75000"/>
                        </a:schemeClr>
                      </a:solidFill>
                      <a:prstDash val="solid"/>
                      <a:round/>
                      <a:headEnd type="none" w="med" len="med"/>
                      <a:tailEnd type="none" w="med" len="med"/>
                    </a:lnT>
                    <a:lnB w="12700" cap="flat" cmpd="sng" algn="ctr">
                      <a:solidFill>
                        <a:schemeClr val="accent3">
                          <a:lumMod val="75000"/>
                        </a:schemeClr>
                      </a:solidFill>
                      <a:prstDash val="solid"/>
                      <a:round/>
                      <a:headEnd type="none" w="med" len="med"/>
                      <a:tailEnd type="none" w="med" len="med"/>
                    </a:lnB>
                  </a:tcPr>
                </a:tc>
                <a:extLst>
                  <a:ext uri="{0D108BD9-81ED-4DB2-BD59-A6C34878D82A}">
                    <a16:rowId xmlns:a16="http://schemas.microsoft.com/office/drawing/2014/main" val="451556026"/>
                  </a:ext>
                </a:extLst>
              </a:tr>
            </a:tbl>
          </a:graphicData>
        </a:graphic>
      </p:graphicFrame>
      <p:sp>
        <p:nvSpPr>
          <p:cNvPr id="10" name="Rectángulo 52">
            <a:extLst>
              <a:ext uri="{FF2B5EF4-FFF2-40B4-BE49-F238E27FC236}">
                <a16:creationId xmlns:a16="http://schemas.microsoft.com/office/drawing/2014/main" id="{D52E87FA-F829-448E-DAAC-5B8CD21BC6AF}"/>
              </a:ext>
            </a:extLst>
          </p:cNvPr>
          <p:cNvSpPr/>
          <p:nvPr/>
        </p:nvSpPr>
        <p:spPr>
          <a:xfrm>
            <a:off x="7463760" y="2060923"/>
            <a:ext cx="4293558" cy="923330"/>
          </a:xfrm>
          <a:prstGeom prst="rect">
            <a:avLst/>
          </a:prstGeom>
        </p:spPr>
        <p:txBody>
          <a:bodyPr wrap="square">
            <a:spAutoFit/>
          </a:bodyPr>
          <a:lstStyle/>
          <a:p>
            <a:pPr algn="ctr">
              <a:spcBef>
                <a:spcPct val="20000"/>
              </a:spcBef>
              <a:spcAft>
                <a:spcPts val="600"/>
              </a:spcAft>
              <a:buClr>
                <a:schemeClr val="accent2"/>
              </a:buClr>
              <a:buSzPct val="92000"/>
            </a:pPr>
            <a:r>
              <a:rPr lang="es-ES">
                <a:solidFill>
                  <a:schemeClr val="accent1"/>
                </a:solidFill>
                <a:latin typeface="Century Gothic" panose="020B0502020202020204" pitchFamily="34" charset="0"/>
              </a:rPr>
              <a:t>Ilustración del comportamiento de cuatro Activos Financieros, partiendo de una inversión de USD 1</a:t>
            </a:r>
            <a:endParaRPr lang="es-CO">
              <a:solidFill>
                <a:schemeClr val="accent1"/>
              </a:solidFill>
              <a:latin typeface="Century Gothic" panose="020B0502020202020204" pitchFamily="34" charset="0"/>
            </a:endParaRPr>
          </a:p>
        </p:txBody>
      </p:sp>
      <p:sp>
        <p:nvSpPr>
          <p:cNvPr id="6" name="Rectángulo 52">
            <a:extLst>
              <a:ext uri="{FF2B5EF4-FFF2-40B4-BE49-F238E27FC236}">
                <a16:creationId xmlns:a16="http://schemas.microsoft.com/office/drawing/2014/main" id="{F2B1AF52-72E1-DA50-A42A-688DD3466C65}"/>
              </a:ext>
            </a:extLst>
          </p:cNvPr>
          <p:cNvSpPr/>
          <p:nvPr/>
        </p:nvSpPr>
        <p:spPr>
          <a:xfrm>
            <a:off x="7725557" y="5199231"/>
            <a:ext cx="3958505" cy="858697"/>
          </a:xfrm>
          <a:prstGeom prst="rect">
            <a:avLst/>
          </a:prstGeom>
        </p:spPr>
        <p:txBody>
          <a:bodyPr wrap="square">
            <a:spAutoFit/>
          </a:bodyPr>
          <a:lstStyle/>
          <a:p>
            <a:pPr algn="ctr">
              <a:spcBef>
                <a:spcPct val="20000"/>
              </a:spcBef>
              <a:spcAft>
                <a:spcPts val="600"/>
              </a:spcAft>
              <a:buClr>
                <a:schemeClr val="accent2"/>
              </a:buClr>
              <a:buSzPct val="92000"/>
            </a:pPr>
            <a:r>
              <a:rPr lang="es-ES" sz="1400" b="1">
                <a:solidFill>
                  <a:schemeClr val="accent1"/>
                </a:solidFill>
                <a:latin typeface="Century Gothic" panose="020B0502020202020204" pitchFamily="34" charset="0"/>
              </a:rPr>
              <a:t>Ordenamiento por Riesgo:</a:t>
            </a:r>
          </a:p>
          <a:p>
            <a:pPr algn="ctr">
              <a:spcBef>
                <a:spcPct val="20000"/>
              </a:spcBef>
              <a:spcAft>
                <a:spcPts val="600"/>
              </a:spcAft>
              <a:buClr>
                <a:schemeClr val="accent2"/>
              </a:buClr>
              <a:buSzPct val="92000"/>
            </a:pPr>
            <a:r>
              <a:rPr lang="es-ES" sz="1400">
                <a:solidFill>
                  <a:schemeClr val="accent1"/>
                </a:solidFill>
                <a:latin typeface="Century Gothic" panose="020B0502020202020204" pitchFamily="34" charset="0"/>
              </a:rPr>
              <a:t>Small Stocks &gt; </a:t>
            </a:r>
            <a:r>
              <a:rPr lang="es-ES" sz="1400" err="1">
                <a:solidFill>
                  <a:schemeClr val="accent1"/>
                </a:solidFill>
                <a:latin typeface="Century Gothic" panose="020B0502020202020204" pitchFamily="34" charset="0"/>
              </a:rPr>
              <a:t>Large</a:t>
            </a:r>
            <a:r>
              <a:rPr lang="es-ES" sz="1400">
                <a:solidFill>
                  <a:schemeClr val="accent1"/>
                </a:solidFill>
                <a:latin typeface="Century Gothic" panose="020B0502020202020204" pitchFamily="34" charset="0"/>
              </a:rPr>
              <a:t> Stocks &gt; </a:t>
            </a:r>
            <a:r>
              <a:rPr lang="es-ES" sz="1400" err="1">
                <a:solidFill>
                  <a:schemeClr val="accent1"/>
                </a:solidFill>
                <a:latin typeface="Century Gothic" panose="020B0502020202020204" pitchFamily="34" charset="0"/>
              </a:rPr>
              <a:t>Gov</a:t>
            </a:r>
            <a:r>
              <a:rPr lang="es-ES" sz="1400">
                <a:solidFill>
                  <a:schemeClr val="accent1"/>
                </a:solidFill>
                <a:latin typeface="Century Gothic" panose="020B0502020202020204" pitchFamily="34" charset="0"/>
              </a:rPr>
              <a:t>. Bonds &gt; </a:t>
            </a:r>
            <a:r>
              <a:rPr lang="es-ES" sz="1400" err="1">
                <a:solidFill>
                  <a:schemeClr val="accent1"/>
                </a:solidFill>
                <a:latin typeface="Century Gothic" panose="020B0502020202020204" pitchFamily="34" charset="0"/>
              </a:rPr>
              <a:t>Treasury</a:t>
            </a:r>
            <a:r>
              <a:rPr lang="es-ES" sz="1400">
                <a:solidFill>
                  <a:schemeClr val="accent1"/>
                </a:solidFill>
                <a:latin typeface="Century Gothic" panose="020B0502020202020204" pitchFamily="34" charset="0"/>
              </a:rPr>
              <a:t> </a:t>
            </a:r>
            <a:r>
              <a:rPr lang="es-ES" sz="1400" err="1">
                <a:solidFill>
                  <a:schemeClr val="accent1"/>
                </a:solidFill>
                <a:latin typeface="Century Gothic" panose="020B0502020202020204" pitchFamily="34" charset="0"/>
              </a:rPr>
              <a:t>Bills</a:t>
            </a:r>
            <a:r>
              <a:rPr lang="es-ES" sz="1400">
                <a:solidFill>
                  <a:schemeClr val="accent1"/>
                </a:solidFill>
                <a:latin typeface="Century Gothic" panose="020B0502020202020204" pitchFamily="34" charset="0"/>
              </a:rPr>
              <a:t> &gt; IPC </a:t>
            </a:r>
            <a:endParaRPr lang="es-CO" sz="1400">
              <a:solidFill>
                <a:schemeClr val="accent1"/>
              </a:solidFill>
              <a:latin typeface="Century Gothic" panose="020B0502020202020204" pitchFamily="34" charset="0"/>
            </a:endParaRPr>
          </a:p>
        </p:txBody>
      </p:sp>
      <p:pic>
        <p:nvPicPr>
          <p:cNvPr id="3" name="Imagen 2" descr="Gráfico, Histograma&#10;&#10;El contenido generado por IA puede ser incorrecto.">
            <a:extLst>
              <a:ext uri="{FF2B5EF4-FFF2-40B4-BE49-F238E27FC236}">
                <a16:creationId xmlns:a16="http://schemas.microsoft.com/office/drawing/2014/main" id="{7D155D53-B9D0-B448-EED4-9452C4F2AA6B}"/>
              </a:ext>
            </a:extLst>
          </p:cNvPr>
          <p:cNvPicPr>
            <a:picLocks noChangeAspect="1"/>
          </p:cNvPicPr>
          <p:nvPr/>
        </p:nvPicPr>
        <p:blipFill>
          <a:blip r:embed="rId3"/>
          <a:srcRect r="49166" b="84514"/>
          <a:stretch>
            <a:fillRect/>
          </a:stretch>
        </p:blipFill>
        <p:spPr>
          <a:xfrm>
            <a:off x="474516" y="1802258"/>
            <a:ext cx="2674067" cy="517331"/>
          </a:xfrm>
          <a:prstGeom prst="rect">
            <a:avLst/>
          </a:prstGeom>
        </p:spPr>
      </p:pic>
      <p:pic>
        <p:nvPicPr>
          <p:cNvPr id="13" name="Imagen 12" descr="Gráfico, Histograma&#10;&#10;El contenido generado por IA puede ser incorrecto.">
            <a:extLst>
              <a:ext uri="{FF2B5EF4-FFF2-40B4-BE49-F238E27FC236}">
                <a16:creationId xmlns:a16="http://schemas.microsoft.com/office/drawing/2014/main" id="{533F4A63-4148-BE09-771F-16534AF79C26}"/>
              </a:ext>
            </a:extLst>
          </p:cNvPr>
          <p:cNvPicPr>
            <a:picLocks noChangeAspect="1"/>
          </p:cNvPicPr>
          <p:nvPr/>
        </p:nvPicPr>
        <p:blipFill>
          <a:blip r:embed="rId3"/>
          <a:srcRect l="22772" t="16105" r="644" b="874"/>
          <a:stretch>
            <a:fillRect/>
          </a:stretch>
        </p:blipFill>
        <p:spPr>
          <a:xfrm>
            <a:off x="474515" y="2320247"/>
            <a:ext cx="6562912" cy="4516354"/>
          </a:xfrm>
          <a:prstGeom prst="rect">
            <a:avLst/>
          </a:prstGeom>
        </p:spPr>
      </p:pic>
      <p:sp>
        <p:nvSpPr>
          <p:cNvPr id="7" name="Marcador de número de diapositiva 3">
            <a:extLst>
              <a:ext uri="{FF2B5EF4-FFF2-40B4-BE49-F238E27FC236}">
                <a16:creationId xmlns:a16="http://schemas.microsoft.com/office/drawing/2014/main" id="{C258CCE0-61EF-8BB6-65E8-7EA6E87B65DF}"/>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18</a:t>
            </a:fld>
            <a:endParaRPr lang="en-US" sz="2000" b="1">
              <a:latin typeface="Century Gothic" panose="020B0502020202020204" pitchFamily="34" charset="0"/>
            </a:endParaRPr>
          </a:p>
        </p:txBody>
      </p:sp>
    </p:spTree>
    <p:extLst>
      <p:ext uri="{BB962C8B-B14F-4D97-AF65-F5344CB8AC3E}">
        <p14:creationId xmlns:p14="http://schemas.microsoft.com/office/powerpoint/2010/main" val="12126705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59C42F-2C93-35BF-DF45-D0D8815F733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58DA51A-B941-E2D4-C6CE-427CA2E1C529}"/>
              </a:ext>
            </a:extLst>
          </p:cNvPr>
          <p:cNvSpPr>
            <a:spLocks noGrp="1"/>
          </p:cNvSpPr>
          <p:nvPr>
            <p:ph type="title"/>
          </p:nvPr>
        </p:nvSpPr>
        <p:spPr/>
        <p:txBody>
          <a:bodyPr>
            <a:normAutofit/>
          </a:bodyPr>
          <a:lstStyle/>
          <a:p>
            <a:r>
              <a:rPr lang="es-ES">
                <a:latin typeface="Century Gothic" panose="020B0502020202020204" pitchFamily="34" charset="0"/>
              </a:rPr>
              <a:t>la estructura de capital</a:t>
            </a:r>
          </a:p>
        </p:txBody>
      </p:sp>
      <p:sp>
        <p:nvSpPr>
          <p:cNvPr id="9" name="Rectángulo 8">
            <a:extLst>
              <a:ext uri="{FF2B5EF4-FFF2-40B4-BE49-F238E27FC236}">
                <a16:creationId xmlns:a16="http://schemas.microsoft.com/office/drawing/2014/main" id="{BC9ED25C-B5E9-B885-589A-D37518DEF6CE}"/>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EE4E923D-38E4-5357-8D67-B6A394AB07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9EA0C1A2-F01A-E5C8-FB0A-623DE18E3F26}"/>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 name="Marcador de contenido 2">
            <a:extLst>
              <a:ext uri="{FF2B5EF4-FFF2-40B4-BE49-F238E27FC236}">
                <a16:creationId xmlns:a16="http://schemas.microsoft.com/office/drawing/2014/main" id="{2B97FDAE-427E-63A8-0B91-D028DFD1CCCF}"/>
              </a:ext>
            </a:extLst>
          </p:cNvPr>
          <p:cNvSpPr>
            <a:spLocks noGrp="1"/>
          </p:cNvSpPr>
          <p:nvPr>
            <p:ph idx="1"/>
          </p:nvPr>
        </p:nvSpPr>
        <p:spPr>
          <a:xfrm>
            <a:off x="1161453" y="2266948"/>
            <a:ext cx="9869094" cy="3678303"/>
          </a:xfrm>
        </p:spPr>
        <p:txBody>
          <a:bodyPr>
            <a:normAutofit/>
          </a:bodyPr>
          <a:lstStyle/>
          <a:p>
            <a:pPr marL="0" indent="0" algn="just">
              <a:buNone/>
            </a:pPr>
            <a:r>
              <a:rPr lang="es-ES">
                <a:solidFill>
                  <a:schemeClr val="accent1"/>
                </a:solidFill>
                <a:latin typeface="Century Gothic" panose="020B0502020202020204" pitchFamily="34" charset="0"/>
              </a:rPr>
              <a:t>Mostraremos a continuación los modelos utilizados en este curso para calcular el costo de las fuentes de financiación, que como se dijo antes, corresponde al costo de oportunidad de los proveedores de capital.</a:t>
            </a:r>
          </a:p>
          <a:p>
            <a:pPr marL="0" indent="0" algn="just">
              <a:buNone/>
            </a:pPr>
            <a:endParaRPr lang="es-ES">
              <a:solidFill>
                <a:schemeClr val="accent1"/>
              </a:solidFill>
              <a:latin typeface="Century Gothic" panose="020B0502020202020204" pitchFamily="34" charset="0"/>
            </a:endParaRPr>
          </a:p>
          <a:p>
            <a:pPr marL="0" indent="0" algn="just">
              <a:buNone/>
            </a:pPr>
            <a:r>
              <a:rPr lang="es-ES">
                <a:solidFill>
                  <a:schemeClr val="accent1"/>
                </a:solidFill>
                <a:latin typeface="Century Gothic" panose="020B0502020202020204" pitchFamily="34" charset="0"/>
              </a:rPr>
              <a:t>Costo de Capital:</a:t>
            </a:r>
          </a:p>
          <a:p>
            <a:pPr lvl="1" algn="just"/>
            <a:r>
              <a:rPr lang="es-ES" sz="1800">
                <a:solidFill>
                  <a:schemeClr val="accent1"/>
                </a:solidFill>
                <a:latin typeface="Century Gothic" panose="020B0502020202020204" pitchFamily="34" charset="0"/>
              </a:rPr>
              <a:t>Costo de la Deuda</a:t>
            </a:r>
          </a:p>
          <a:p>
            <a:pPr lvl="1" algn="just"/>
            <a:r>
              <a:rPr lang="es-ES" sz="1800">
                <a:solidFill>
                  <a:schemeClr val="accent1"/>
                </a:solidFill>
                <a:latin typeface="Century Gothic" panose="020B0502020202020204" pitchFamily="34" charset="0"/>
              </a:rPr>
              <a:t>Costo del Equity</a:t>
            </a:r>
          </a:p>
          <a:p>
            <a:pPr algn="just"/>
            <a:endParaRPr lang="es-ES">
              <a:latin typeface="Century Gothic" panose="020B0502020202020204" pitchFamily="34" charset="0"/>
            </a:endParaRPr>
          </a:p>
        </p:txBody>
      </p:sp>
      <p:sp>
        <p:nvSpPr>
          <p:cNvPr id="6" name="Marcador de número de diapositiva 3">
            <a:extLst>
              <a:ext uri="{FF2B5EF4-FFF2-40B4-BE49-F238E27FC236}">
                <a16:creationId xmlns:a16="http://schemas.microsoft.com/office/drawing/2014/main" id="{0B716938-787F-7681-B840-9B8FFC565594}"/>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19</a:t>
            </a:fld>
            <a:endParaRPr lang="en-US" sz="2000" b="1">
              <a:latin typeface="Century Gothic" panose="020B0502020202020204" pitchFamily="34" charset="0"/>
            </a:endParaRPr>
          </a:p>
        </p:txBody>
      </p:sp>
    </p:spTree>
    <p:extLst>
      <p:ext uri="{BB962C8B-B14F-4D97-AF65-F5344CB8AC3E}">
        <p14:creationId xmlns:p14="http://schemas.microsoft.com/office/powerpoint/2010/main" val="2498269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715B18-347E-113F-AB28-E05C49BDF1F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FC43943-7AE8-3630-F51A-1745D8BE293E}"/>
              </a:ext>
            </a:extLst>
          </p:cNvPr>
          <p:cNvSpPr>
            <a:spLocks noGrp="1"/>
          </p:cNvSpPr>
          <p:nvPr>
            <p:ph type="title"/>
          </p:nvPr>
        </p:nvSpPr>
        <p:spPr/>
        <p:txBody>
          <a:bodyPr>
            <a:normAutofit/>
          </a:bodyPr>
          <a:lstStyle/>
          <a:p>
            <a:r>
              <a:rPr lang="es-CO" sz="3200">
                <a:latin typeface="Century Gothic" panose="020B0502020202020204" pitchFamily="34" charset="0"/>
              </a:rPr>
              <a:t>AGENDA PROPUESTA</a:t>
            </a:r>
          </a:p>
        </p:txBody>
      </p:sp>
      <p:pic>
        <p:nvPicPr>
          <p:cNvPr id="6" name="Picture 6" descr="Resultado de imagen para RELOJ VECTOR">
            <a:extLst>
              <a:ext uri="{FF2B5EF4-FFF2-40B4-BE49-F238E27FC236}">
                <a16:creationId xmlns:a16="http://schemas.microsoft.com/office/drawing/2014/main" id="{5C8C88E4-3418-CA53-D907-FBE7AE1B52CC}"/>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256045" y="27727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02AA702A-860E-2281-086A-37C9ADAC2915}"/>
              </a:ext>
            </a:extLst>
          </p:cNvPr>
          <p:cNvSpPr/>
          <p:nvPr/>
        </p:nvSpPr>
        <p:spPr>
          <a:xfrm>
            <a:off x="2806200" y="2772729"/>
            <a:ext cx="8540907" cy="1323439"/>
          </a:xfrm>
          <a:prstGeom prst="rect">
            <a:avLst/>
          </a:prstGeom>
        </p:spPr>
        <p:txBody>
          <a:bodyPr wrap="square" lIns="91440" tIns="45720" rIns="91440" bIns="45720" anchor="t">
            <a:spAutoFit/>
          </a:bodyPr>
          <a:lstStyle/>
          <a:p>
            <a:pPr marL="342900" indent="-342900">
              <a:buClr>
                <a:schemeClr val="accent3">
                  <a:lumMod val="75000"/>
                </a:schemeClr>
              </a:buClr>
              <a:buFont typeface="Gill Sans MT" panose="020B0502020104020203"/>
              <a:buAutoNum type="arabicPeriod"/>
            </a:pPr>
            <a:r>
              <a:rPr lang="es-ES" sz="1600">
                <a:solidFill>
                  <a:schemeClr val="tx2">
                    <a:lumMod val="20000"/>
                    <a:lumOff val="80000"/>
                  </a:schemeClr>
                </a:solidFill>
                <a:latin typeface="Century Gothic"/>
                <a:cs typeface="Arial"/>
              </a:rPr>
              <a:t>Introducción al Costo de Capital.</a:t>
            </a:r>
          </a:p>
          <a:p>
            <a:pPr marL="342900" indent="-342900">
              <a:buClr>
                <a:srgbClr val="2C7C9F"/>
              </a:buClr>
              <a:buFontTx/>
              <a:buAutoNum type="arabicPeriod"/>
            </a:pPr>
            <a:endParaRPr lang="es-CO" sz="1600">
              <a:solidFill>
                <a:schemeClr val="accent1"/>
              </a:solidFill>
              <a:latin typeface="Century Gothic"/>
              <a:cs typeface="Arial"/>
            </a:endParaRPr>
          </a:p>
          <a:p>
            <a:pPr marL="342900" indent="-342900">
              <a:buClr>
                <a:schemeClr val="accent3">
                  <a:lumMod val="75000"/>
                </a:schemeClr>
              </a:buClr>
              <a:buFont typeface="Gill Sans MT" panose="020B0502020104020203"/>
              <a:buAutoNum type="arabicPeriod"/>
            </a:pPr>
            <a:r>
              <a:rPr lang="es-CO" sz="1600">
                <a:solidFill>
                  <a:schemeClr val="tx2">
                    <a:lumMod val="20000"/>
                    <a:lumOff val="80000"/>
                  </a:schemeClr>
                </a:solidFill>
                <a:latin typeface="Century Gothic"/>
                <a:cs typeface="Arial"/>
              </a:rPr>
              <a:t>Relación Riesgo – Rentabilidad.</a:t>
            </a:r>
          </a:p>
          <a:p>
            <a:pPr marL="342900" indent="-342900">
              <a:buClr>
                <a:srgbClr val="48BE7A"/>
              </a:buClr>
              <a:buFontTx/>
              <a:buAutoNum type="arabicPeriod"/>
            </a:pPr>
            <a:endParaRPr lang="es-CO" sz="1600">
              <a:solidFill>
                <a:schemeClr val="accent1"/>
              </a:solidFill>
              <a:latin typeface="Century Gothic"/>
              <a:cs typeface="Arial"/>
            </a:endParaRPr>
          </a:p>
          <a:p>
            <a:pPr marL="342900" indent="-342900">
              <a:buClr>
                <a:schemeClr val="accent3">
                  <a:lumMod val="75000"/>
                </a:schemeClr>
              </a:buClr>
              <a:buFont typeface="Gill Sans MT" panose="020B0502020104020203"/>
              <a:buAutoNum type="arabicPeriod"/>
            </a:pPr>
            <a:r>
              <a:rPr lang="es-CO" sz="1600">
                <a:solidFill>
                  <a:schemeClr val="accent1"/>
                </a:solidFill>
                <a:latin typeface="Century Gothic"/>
                <a:cs typeface="Arial"/>
              </a:rPr>
              <a:t>El Costo del </a:t>
            </a:r>
            <a:r>
              <a:rPr lang="es-CO" sz="1600" err="1">
                <a:solidFill>
                  <a:schemeClr val="accent1"/>
                </a:solidFill>
                <a:latin typeface="Century Gothic"/>
                <a:cs typeface="Arial"/>
              </a:rPr>
              <a:t>Equity</a:t>
            </a:r>
            <a:r>
              <a:rPr lang="es-CO" sz="1600">
                <a:solidFill>
                  <a:schemeClr val="accent1"/>
                </a:solidFill>
                <a:latin typeface="Century Gothic"/>
                <a:cs typeface="Arial"/>
              </a:rPr>
              <a:t>.</a:t>
            </a:r>
          </a:p>
        </p:txBody>
      </p:sp>
      <p:sp>
        <p:nvSpPr>
          <p:cNvPr id="3" name="Rectángulo 2">
            <a:extLst>
              <a:ext uri="{FF2B5EF4-FFF2-40B4-BE49-F238E27FC236}">
                <a16:creationId xmlns:a16="http://schemas.microsoft.com/office/drawing/2014/main" id="{FA105821-4F3B-95D6-148A-51EB195A6FBE}"/>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CEDF49FD-E0B4-C14D-B646-E237B2C10A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C3272464-C3F4-E560-6682-1ED06B84A06E}"/>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5" name="Marcador de número de diapositiva 3">
            <a:extLst>
              <a:ext uri="{FF2B5EF4-FFF2-40B4-BE49-F238E27FC236}">
                <a16:creationId xmlns:a16="http://schemas.microsoft.com/office/drawing/2014/main" id="{39C43EA0-1D72-4DDA-B6CF-F92ECC1E5B40}"/>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20</a:t>
            </a:fld>
            <a:endParaRPr lang="en-US" sz="2000" b="1">
              <a:latin typeface="Century Gothic" panose="020B0502020202020204" pitchFamily="34" charset="0"/>
            </a:endParaRPr>
          </a:p>
        </p:txBody>
      </p:sp>
    </p:spTree>
    <p:extLst>
      <p:ext uri="{BB962C8B-B14F-4D97-AF65-F5344CB8AC3E}">
        <p14:creationId xmlns:p14="http://schemas.microsoft.com/office/powerpoint/2010/main" val="12087452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81AE22-E8B8-888E-5812-8CB341A1037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CA94AF4-6DE8-2E70-82B5-0464898AB5ED}"/>
              </a:ext>
            </a:extLst>
          </p:cNvPr>
          <p:cNvSpPr>
            <a:spLocks noGrp="1"/>
          </p:cNvSpPr>
          <p:nvPr>
            <p:ph type="title"/>
          </p:nvPr>
        </p:nvSpPr>
        <p:spPr/>
        <p:txBody>
          <a:bodyPr>
            <a:normAutofit/>
          </a:bodyPr>
          <a:lstStyle/>
          <a:p>
            <a:r>
              <a:rPr lang="es-ES">
                <a:latin typeface="Century Gothic" panose="020B0502020202020204" pitchFamily="34" charset="0"/>
              </a:rPr>
              <a:t>Costo del equity</a:t>
            </a:r>
          </a:p>
        </p:txBody>
      </p:sp>
      <p:sp>
        <p:nvSpPr>
          <p:cNvPr id="9" name="Rectángulo 8">
            <a:extLst>
              <a:ext uri="{FF2B5EF4-FFF2-40B4-BE49-F238E27FC236}">
                <a16:creationId xmlns:a16="http://schemas.microsoft.com/office/drawing/2014/main" id="{E44C55DF-0C23-09D6-6D94-04959C9C1889}"/>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2AB55495-8A3E-BC47-296C-3A65DC84A90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D7A91A7A-773C-5F98-495D-C751313EE135}"/>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8" name="Marcador de contenido 2">
            <a:extLst>
              <a:ext uri="{FF2B5EF4-FFF2-40B4-BE49-F238E27FC236}">
                <a16:creationId xmlns:a16="http://schemas.microsoft.com/office/drawing/2014/main" id="{232D4470-C277-B412-38B3-C3049667E1E7}"/>
              </a:ext>
            </a:extLst>
          </p:cNvPr>
          <p:cNvSpPr>
            <a:spLocks noGrp="1"/>
          </p:cNvSpPr>
          <p:nvPr>
            <p:ph idx="1"/>
          </p:nvPr>
        </p:nvSpPr>
        <p:spPr>
          <a:xfrm>
            <a:off x="1119962" y="2262310"/>
            <a:ext cx="9952075" cy="3678303"/>
          </a:xfrm>
        </p:spPr>
        <p:txBody>
          <a:bodyPr>
            <a:normAutofit/>
          </a:bodyPr>
          <a:lstStyle/>
          <a:p>
            <a:pPr algn="just"/>
            <a:r>
              <a:rPr lang="es-ES">
                <a:solidFill>
                  <a:schemeClr val="accent1"/>
                </a:solidFill>
                <a:latin typeface="Century Gothic" panose="020B0502020202020204" pitchFamily="34" charset="0"/>
              </a:rPr>
              <a:t>Nos preguntaremos ahora por el costo de oportunidad de los recursos que aportan los accionistas.</a:t>
            </a:r>
          </a:p>
          <a:p>
            <a:pPr algn="just"/>
            <a:r>
              <a:rPr lang="es-ES">
                <a:solidFill>
                  <a:schemeClr val="accent1"/>
                </a:solidFill>
                <a:latin typeface="Century Gothic" panose="020B0502020202020204" pitchFamily="34" charset="0"/>
              </a:rPr>
              <a:t>En otras palabras, la pregunta que se busca responder es </a:t>
            </a:r>
            <a:r>
              <a:rPr lang="es-ES" i="1">
                <a:solidFill>
                  <a:srgbClr val="C00000"/>
                </a:solidFill>
                <a:latin typeface="Century Gothic" panose="020B0502020202020204" pitchFamily="34" charset="0"/>
              </a:rPr>
              <a:t>¿cuál es el costo de oportunidad de los accionistas de entregar sus recursos para financiar el proyecto?</a:t>
            </a:r>
          </a:p>
          <a:p>
            <a:pPr algn="just"/>
            <a:r>
              <a:rPr lang="es-ES">
                <a:solidFill>
                  <a:schemeClr val="accent1"/>
                </a:solidFill>
                <a:latin typeface="Century Gothic" panose="020B0502020202020204" pitchFamily="34" charset="0"/>
              </a:rPr>
              <a:t>Es decir, </a:t>
            </a:r>
            <a:r>
              <a:rPr lang="es-ES">
                <a:solidFill>
                  <a:srgbClr val="C00000"/>
                </a:solidFill>
                <a:latin typeface="Century Gothic" panose="020B0502020202020204" pitchFamily="34" charset="0"/>
              </a:rPr>
              <a:t>cuál es la rentabilidad justa </a:t>
            </a:r>
            <a:r>
              <a:rPr lang="es-ES">
                <a:solidFill>
                  <a:schemeClr val="accent1"/>
                </a:solidFill>
                <a:latin typeface="Century Gothic" panose="020B0502020202020204" pitchFamily="34" charset="0"/>
              </a:rPr>
              <a:t>que se le debe otorgar al accionista dado el riesgo de fondear el proyecto. Note que la rentabilidad del accionista es equivalente al costo de los recursos para la empresa.</a:t>
            </a:r>
          </a:p>
          <a:p>
            <a:pPr marL="0" indent="0" algn="just">
              <a:buNone/>
            </a:pPr>
            <a:endParaRPr lang="es-ES" sz="2200">
              <a:solidFill>
                <a:srgbClr val="000000"/>
              </a:solidFill>
            </a:endParaRPr>
          </a:p>
        </p:txBody>
      </p:sp>
      <p:sp>
        <p:nvSpPr>
          <p:cNvPr id="3" name="Marcador de número de diapositiva 3">
            <a:extLst>
              <a:ext uri="{FF2B5EF4-FFF2-40B4-BE49-F238E27FC236}">
                <a16:creationId xmlns:a16="http://schemas.microsoft.com/office/drawing/2014/main" id="{0772F337-6AB3-D34F-8987-E50B0F3EE32D}"/>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21</a:t>
            </a:fld>
            <a:endParaRPr lang="en-US" sz="2000" b="1">
              <a:latin typeface="Century Gothic" panose="020B0502020202020204" pitchFamily="34" charset="0"/>
            </a:endParaRPr>
          </a:p>
        </p:txBody>
      </p:sp>
    </p:spTree>
    <p:extLst>
      <p:ext uri="{BB962C8B-B14F-4D97-AF65-F5344CB8AC3E}">
        <p14:creationId xmlns:p14="http://schemas.microsoft.com/office/powerpoint/2010/main" val="20507309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animEffect transition="in" filter="fade">
                                      <p:cBhvr>
                                        <p:cTn id="7" dur="500"/>
                                        <p:tgtEl>
                                          <p:spTgt spid="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2B6EB5-2750-EAFA-5287-096307277CA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5F8AAE6-1B53-743E-DC01-0D1E65B7256C}"/>
              </a:ext>
            </a:extLst>
          </p:cNvPr>
          <p:cNvSpPr>
            <a:spLocks noGrp="1"/>
          </p:cNvSpPr>
          <p:nvPr>
            <p:ph type="title"/>
          </p:nvPr>
        </p:nvSpPr>
        <p:spPr/>
        <p:txBody>
          <a:bodyPr>
            <a:normAutofit/>
          </a:bodyPr>
          <a:lstStyle/>
          <a:p>
            <a:r>
              <a:rPr lang="es-ES">
                <a:latin typeface="Century Gothic" panose="020B0502020202020204" pitchFamily="34" charset="0"/>
              </a:rPr>
              <a:t>Costo del equity</a:t>
            </a:r>
          </a:p>
        </p:txBody>
      </p:sp>
      <p:sp>
        <p:nvSpPr>
          <p:cNvPr id="9" name="Rectángulo 8">
            <a:extLst>
              <a:ext uri="{FF2B5EF4-FFF2-40B4-BE49-F238E27FC236}">
                <a16:creationId xmlns:a16="http://schemas.microsoft.com/office/drawing/2014/main" id="{C649E168-7CD7-43C8-116E-F9D87E760CEB}"/>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C837A222-1DEC-CC68-8B8A-A1E46D3D30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DAD567A6-5AFC-D1B8-027B-525D9CD38D99}"/>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7" name="Marcador de contenido 2">
            <a:extLst>
              <a:ext uri="{FF2B5EF4-FFF2-40B4-BE49-F238E27FC236}">
                <a16:creationId xmlns:a16="http://schemas.microsoft.com/office/drawing/2014/main" id="{8317F3D3-F479-2EA1-799D-D99FFE1E5E92}"/>
              </a:ext>
            </a:extLst>
          </p:cNvPr>
          <p:cNvSpPr>
            <a:spLocks noGrp="1"/>
          </p:cNvSpPr>
          <p:nvPr>
            <p:ph idx="1"/>
          </p:nvPr>
        </p:nvSpPr>
        <p:spPr>
          <a:xfrm>
            <a:off x="1231578" y="2175997"/>
            <a:ext cx="9728844" cy="3678303"/>
          </a:xfrm>
        </p:spPr>
        <p:txBody>
          <a:bodyPr>
            <a:normAutofit/>
          </a:bodyPr>
          <a:lstStyle/>
          <a:p>
            <a:pPr marL="0" indent="0" algn="just">
              <a:buNone/>
            </a:pPr>
            <a:r>
              <a:rPr lang="es-ES">
                <a:solidFill>
                  <a:schemeClr val="accent1"/>
                </a:solidFill>
                <a:latin typeface="Century Gothic" panose="020B0502020202020204" pitchFamily="34" charset="0"/>
              </a:rPr>
              <a:t>En finanzas existen varios modelos desarrollados para estimar el costo del </a:t>
            </a:r>
            <a:r>
              <a:rPr lang="es-ES" err="1">
                <a:solidFill>
                  <a:schemeClr val="accent1"/>
                </a:solidFill>
                <a:latin typeface="Century Gothic" panose="020B0502020202020204" pitchFamily="34" charset="0"/>
              </a:rPr>
              <a:t>equity</a:t>
            </a:r>
            <a:r>
              <a:rPr lang="es-ES">
                <a:solidFill>
                  <a:schemeClr val="accent1"/>
                </a:solidFill>
                <a:latin typeface="Century Gothic" panose="020B0502020202020204" pitchFamily="34" charset="0"/>
              </a:rPr>
              <a:t> (costo de los accionistas):</a:t>
            </a:r>
          </a:p>
          <a:p>
            <a:pPr algn="just"/>
            <a:endParaRPr lang="es-ES">
              <a:solidFill>
                <a:schemeClr val="accent1"/>
              </a:solidFill>
              <a:latin typeface="Century Gothic" panose="020B0502020202020204" pitchFamily="34" charset="0"/>
            </a:endParaRPr>
          </a:p>
          <a:p>
            <a:pPr marL="781200" lvl="1" indent="-457200" algn="just">
              <a:buFont typeface="+mj-lt"/>
              <a:buAutoNum type="arabicPeriod"/>
            </a:pPr>
            <a:r>
              <a:rPr lang="es-ES" sz="1800">
                <a:solidFill>
                  <a:schemeClr val="accent1"/>
                </a:solidFill>
                <a:latin typeface="Century Gothic" panose="020B0502020202020204" pitchFamily="34" charset="0"/>
              </a:rPr>
              <a:t>Modelo de Gordon – </a:t>
            </a:r>
            <a:r>
              <a:rPr lang="es-ES" sz="1800" err="1">
                <a:solidFill>
                  <a:schemeClr val="accent1"/>
                </a:solidFill>
                <a:latin typeface="Century Gothic" panose="020B0502020202020204" pitchFamily="34" charset="0"/>
              </a:rPr>
              <a:t>Shapiro</a:t>
            </a:r>
            <a:endParaRPr lang="es-ES" sz="1800">
              <a:solidFill>
                <a:schemeClr val="accent1"/>
              </a:solidFill>
              <a:latin typeface="Century Gothic" panose="020B0502020202020204" pitchFamily="34" charset="0"/>
            </a:endParaRPr>
          </a:p>
          <a:p>
            <a:pPr marL="1070100" lvl="2" indent="-457200" algn="just">
              <a:buClr>
                <a:schemeClr val="accent3">
                  <a:lumMod val="75000"/>
                </a:schemeClr>
              </a:buClr>
              <a:buFont typeface="+mj-lt"/>
              <a:buAutoNum type="alphaLcParenR"/>
            </a:pPr>
            <a:r>
              <a:rPr lang="es-ES" sz="1800">
                <a:solidFill>
                  <a:schemeClr val="accent1"/>
                </a:solidFill>
                <a:latin typeface="Century Gothic" panose="020B0502020202020204" pitchFamily="34" charset="0"/>
              </a:rPr>
              <a:t>Financiación Interna (Utilidades Retenidas)</a:t>
            </a:r>
          </a:p>
          <a:p>
            <a:pPr marL="1070100" lvl="2" indent="-457200" algn="just">
              <a:buClr>
                <a:schemeClr val="accent3">
                  <a:lumMod val="75000"/>
                </a:schemeClr>
              </a:buClr>
              <a:buFont typeface="+mj-lt"/>
              <a:buAutoNum type="alphaLcParenR"/>
            </a:pPr>
            <a:r>
              <a:rPr lang="es-ES" sz="1800">
                <a:solidFill>
                  <a:schemeClr val="accent1"/>
                </a:solidFill>
                <a:latin typeface="Century Gothic" panose="020B0502020202020204" pitchFamily="34" charset="0"/>
              </a:rPr>
              <a:t>Emisión de Acciones</a:t>
            </a:r>
          </a:p>
          <a:p>
            <a:pPr marL="1070100" lvl="2" indent="-457200" algn="just">
              <a:buFont typeface="+mj-ea"/>
              <a:buAutoNum type="alphaLcParenR"/>
            </a:pPr>
            <a:endParaRPr lang="es-ES" sz="1800">
              <a:solidFill>
                <a:schemeClr val="accent1"/>
              </a:solidFill>
              <a:latin typeface="Century Gothic" panose="020B0502020202020204" pitchFamily="34" charset="0"/>
            </a:endParaRPr>
          </a:p>
          <a:p>
            <a:pPr marL="781200" lvl="1" indent="-457200" algn="just">
              <a:buFont typeface="+mj-lt"/>
              <a:buAutoNum type="arabicPeriod"/>
            </a:pPr>
            <a:r>
              <a:rPr lang="es-ES" sz="1800">
                <a:solidFill>
                  <a:schemeClr val="accent1"/>
                </a:solidFill>
                <a:latin typeface="Century Gothic" panose="020B0502020202020204" pitchFamily="34" charset="0"/>
              </a:rPr>
              <a:t>CAPM (Capital </a:t>
            </a:r>
            <a:r>
              <a:rPr lang="es-ES" sz="1800" err="1">
                <a:solidFill>
                  <a:schemeClr val="accent1"/>
                </a:solidFill>
                <a:latin typeface="Century Gothic" panose="020B0502020202020204" pitchFamily="34" charset="0"/>
              </a:rPr>
              <a:t>Asset</a:t>
            </a:r>
            <a:r>
              <a:rPr lang="es-ES" sz="1800">
                <a:solidFill>
                  <a:schemeClr val="accent1"/>
                </a:solidFill>
                <a:latin typeface="Century Gothic" panose="020B0502020202020204" pitchFamily="34" charset="0"/>
              </a:rPr>
              <a:t> </a:t>
            </a:r>
            <a:r>
              <a:rPr lang="es-ES" sz="1800" err="1">
                <a:solidFill>
                  <a:schemeClr val="accent1"/>
                </a:solidFill>
                <a:latin typeface="Century Gothic" panose="020B0502020202020204" pitchFamily="34" charset="0"/>
              </a:rPr>
              <a:t>Pricing</a:t>
            </a:r>
            <a:r>
              <a:rPr lang="es-ES" sz="1800">
                <a:solidFill>
                  <a:schemeClr val="accent1"/>
                </a:solidFill>
                <a:latin typeface="Century Gothic" panose="020B0502020202020204" pitchFamily="34" charset="0"/>
              </a:rPr>
              <a:t> </a:t>
            </a:r>
            <a:r>
              <a:rPr lang="es-ES" sz="1800" err="1">
                <a:solidFill>
                  <a:schemeClr val="accent1"/>
                </a:solidFill>
                <a:latin typeface="Century Gothic" panose="020B0502020202020204" pitchFamily="34" charset="0"/>
              </a:rPr>
              <a:t>Model</a:t>
            </a:r>
            <a:r>
              <a:rPr lang="es-ES" sz="1800">
                <a:solidFill>
                  <a:schemeClr val="accent1"/>
                </a:solidFill>
                <a:latin typeface="Century Gothic" panose="020B0502020202020204" pitchFamily="34" charset="0"/>
              </a:rPr>
              <a:t>)</a:t>
            </a:r>
          </a:p>
        </p:txBody>
      </p:sp>
      <p:sp>
        <p:nvSpPr>
          <p:cNvPr id="3" name="Marcador de número de diapositiva 3">
            <a:extLst>
              <a:ext uri="{FF2B5EF4-FFF2-40B4-BE49-F238E27FC236}">
                <a16:creationId xmlns:a16="http://schemas.microsoft.com/office/drawing/2014/main" id="{6098563F-44AA-4C45-909D-085B64B55E6B}"/>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22</a:t>
            </a:fld>
            <a:endParaRPr lang="en-US" sz="2000" b="1">
              <a:latin typeface="Century Gothic" panose="020B0502020202020204" pitchFamily="34" charset="0"/>
            </a:endParaRPr>
          </a:p>
        </p:txBody>
      </p:sp>
    </p:spTree>
    <p:extLst>
      <p:ext uri="{BB962C8B-B14F-4D97-AF65-F5344CB8AC3E}">
        <p14:creationId xmlns:p14="http://schemas.microsoft.com/office/powerpoint/2010/main" val="24561983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animEffect transition="in" filter="fade">
                                      <p:cBhvr>
                                        <p:cTn id="7" dur="500"/>
                                        <p:tgtEl>
                                          <p:spTgt spid="7">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7">
                                            <p:txEl>
                                              <p:pRg st="3" end="3"/>
                                            </p:txEl>
                                          </p:spTgt>
                                        </p:tgtEl>
                                        <p:attrNameLst>
                                          <p:attrName>style.visibility</p:attrName>
                                        </p:attrNameLst>
                                      </p:cBhvr>
                                      <p:to>
                                        <p:strVal val="visible"/>
                                      </p:to>
                                    </p:set>
                                    <p:animEffect transition="in" filter="fade">
                                      <p:cBhvr>
                                        <p:cTn id="10" dur="500"/>
                                        <p:tgtEl>
                                          <p:spTgt spid="7">
                                            <p:txEl>
                                              <p:pRg st="3" end="3"/>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7">
                                            <p:txEl>
                                              <p:pRg st="4" end="4"/>
                                            </p:txEl>
                                          </p:spTgt>
                                        </p:tgtEl>
                                        <p:attrNameLst>
                                          <p:attrName>style.visibility</p:attrName>
                                        </p:attrNameLst>
                                      </p:cBhvr>
                                      <p:to>
                                        <p:strVal val="visible"/>
                                      </p:to>
                                    </p:set>
                                    <p:animEffect transition="in" filter="fade">
                                      <p:cBhvr>
                                        <p:cTn id="13" dur="500"/>
                                        <p:tgtEl>
                                          <p:spTgt spid="7">
                                            <p:txEl>
                                              <p:pRg st="4" end="4"/>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7">
                                            <p:txEl>
                                              <p:pRg st="6" end="6"/>
                                            </p:txEl>
                                          </p:spTgt>
                                        </p:tgtEl>
                                        <p:attrNameLst>
                                          <p:attrName>style.visibility</p:attrName>
                                        </p:attrNameLst>
                                      </p:cBhvr>
                                      <p:to>
                                        <p:strVal val="visible"/>
                                      </p:to>
                                    </p:set>
                                    <p:animEffect transition="in" filter="fade">
                                      <p:cBhvr>
                                        <p:cTn id="18" dur="500"/>
                                        <p:tgtEl>
                                          <p:spTgt spid="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4174A-ED98-BB00-043D-F3F8C6E26D4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940F3E2-87C0-6167-378C-DF0FD4598FBD}"/>
              </a:ext>
            </a:extLst>
          </p:cNvPr>
          <p:cNvSpPr>
            <a:spLocks noGrp="1"/>
          </p:cNvSpPr>
          <p:nvPr>
            <p:ph type="title"/>
          </p:nvPr>
        </p:nvSpPr>
        <p:spPr/>
        <p:txBody>
          <a:bodyPr>
            <a:normAutofit/>
          </a:bodyPr>
          <a:lstStyle/>
          <a:p>
            <a:r>
              <a:rPr lang="es-ES">
                <a:latin typeface="Century Gothic" panose="020B0502020202020204" pitchFamily="34" charset="0"/>
              </a:rPr>
              <a:t>Costo del equity</a:t>
            </a:r>
          </a:p>
        </p:txBody>
      </p:sp>
      <p:sp>
        <p:nvSpPr>
          <p:cNvPr id="9" name="Rectángulo 8">
            <a:extLst>
              <a:ext uri="{FF2B5EF4-FFF2-40B4-BE49-F238E27FC236}">
                <a16:creationId xmlns:a16="http://schemas.microsoft.com/office/drawing/2014/main" id="{26E5680D-2F79-2564-A8BB-C0F5262BED15}"/>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6FCAE58E-8228-E224-9630-5E3290E7C0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CF894A77-0F59-6256-48C9-7C0042A7F039}"/>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12" name="Marcador de contenido 2">
            <a:extLst>
              <a:ext uri="{FF2B5EF4-FFF2-40B4-BE49-F238E27FC236}">
                <a16:creationId xmlns:a16="http://schemas.microsoft.com/office/drawing/2014/main" id="{60A7083A-E11A-9E58-FEC1-C85883706EF0}"/>
              </a:ext>
            </a:extLst>
          </p:cNvPr>
          <p:cNvSpPr>
            <a:spLocks noGrp="1"/>
          </p:cNvSpPr>
          <p:nvPr>
            <p:ph idx="1"/>
          </p:nvPr>
        </p:nvSpPr>
        <p:spPr>
          <a:xfrm>
            <a:off x="983117" y="2280863"/>
            <a:ext cx="10232120" cy="3577936"/>
          </a:xfrm>
        </p:spPr>
        <p:txBody>
          <a:bodyPr>
            <a:normAutofit/>
          </a:bodyPr>
          <a:lstStyle/>
          <a:p>
            <a:pPr algn="just"/>
            <a:r>
              <a:rPr lang="es-ES">
                <a:solidFill>
                  <a:schemeClr val="accent1"/>
                </a:solidFill>
                <a:latin typeface="Century Gothic" panose="020B0502020202020204" pitchFamily="34" charset="0"/>
              </a:rPr>
              <a:t>La idea del modelo de Gordon – Shapiro es deducir el costo de capital a partir de información de mercado y de los flujos de caja que espera el inversionista.</a:t>
            </a:r>
          </a:p>
          <a:p>
            <a:pPr algn="just"/>
            <a:endParaRPr lang="es-ES">
              <a:solidFill>
                <a:schemeClr val="accent1"/>
              </a:solidFill>
              <a:latin typeface="Century Gothic" panose="020B0502020202020204" pitchFamily="34" charset="0"/>
            </a:endParaRPr>
          </a:p>
          <a:p>
            <a:pPr algn="just"/>
            <a:r>
              <a:rPr lang="es-ES">
                <a:solidFill>
                  <a:schemeClr val="accent1"/>
                </a:solidFill>
                <a:latin typeface="Century Gothic" panose="020B0502020202020204" pitchFamily="34" charset="0"/>
              </a:rPr>
              <a:t>El modelo opera sobre el concepto que </a:t>
            </a:r>
            <a:r>
              <a:rPr lang="es-ES" b="1">
                <a:solidFill>
                  <a:schemeClr val="accent1"/>
                </a:solidFill>
                <a:latin typeface="Century Gothic" panose="020B0502020202020204" pitchFamily="34" charset="0"/>
              </a:rPr>
              <a:t>el valor de un activo siempre es el valor presente de los flujos futuros que promete, descontados con el costo de oportunidad.</a:t>
            </a:r>
          </a:p>
          <a:p>
            <a:pPr algn="just"/>
            <a:endParaRPr lang="es-ES">
              <a:solidFill>
                <a:schemeClr val="accent1"/>
              </a:solidFill>
              <a:latin typeface="Century Gothic" panose="020B0502020202020204" pitchFamily="34" charset="0"/>
            </a:endParaRPr>
          </a:p>
          <a:p>
            <a:pPr algn="just"/>
            <a:r>
              <a:rPr lang="es-ES">
                <a:solidFill>
                  <a:schemeClr val="accent1"/>
                </a:solidFill>
                <a:latin typeface="Century Gothic" panose="020B0502020202020204" pitchFamily="34" charset="0"/>
              </a:rPr>
              <a:t>Así, si se observa el precio de una acción y se conocen los flujos, se puede obtener el costo de oportunidad.</a:t>
            </a:r>
          </a:p>
        </p:txBody>
      </p:sp>
      <p:sp>
        <p:nvSpPr>
          <p:cNvPr id="3" name="Marcador de número de diapositiva 3">
            <a:extLst>
              <a:ext uri="{FF2B5EF4-FFF2-40B4-BE49-F238E27FC236}">
                <a16:creationId xmlns:a16="http://schemas.microsoft.com/office/drawing/2014/main" id="{2B90C0AF-3B86-5BD3-D00A-0D4EED489C18}"/>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23</a:t>
            </a:fld>
            <a:endParaRPr lang="en-US" sz="2000" b="1">
              <a:latin typeface="Century Gothic" panose="020B0502020202020204" pitchFamily="34" charset="0"/>
            </a:endParaRPr>
          </a:p>
        </p:txBody>
      </p:sp>
    </p:spTree>
    <p:extLst>
      <p:ext uri="{BB962C8B-B14F-4D97-AF65-F5344CB8AC3E}">
        <p14:creationId xmlns:p14="http://schemas.microsoft.com/office/powerpoint/2010/main" val="42898691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D840E0-BB0A-3AC4-1792-29AE69F3263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D1C65C5-F80A-D34C-9D95-B82F398F5278}"/>
              </a:ext>
            </a:extLst>
          </p:cNvPr>
          <p:cNvSpPr>
            <a:spLocks noGrp="1"/>
          </p:cNvSpPr>
          <p:nvPr>
            <p:ph type="title"/>
          </p:nvPr>
        </p:nvSpPr>
        <p:spPr/>
        <p:txBody>
          <a:bodyPr>
            <a:normAutofit/>
          </a:bodyPr>
          <a:lstStyle/>
          <a:p>
            <a:r>
              <a:rPr lang="es-ES">
                <a:latin typeface="Century Gothic" panose="020B0502020202020204" pitchFamily="34" charset="0"/>
              </a:rPr>
              <a:t>Costo del equity</a:t>
            </a:r>
          </a:p>
        </p:txBody>
      </p:sp>
      <p:sp>
        <p:nvSpPr>
          <p:cNvPr id="9" name="Rectángulo 8">
            <a:extLst>
              <a:ext uri="{FF2B5EF4-FFF2-40B4-BE49-F238E27FC236}">
                <a16:creationId xmlns:a16="http://schemas.microsoft.com/office/drawing/2014/main" id="{D81E8E65-3F09-1256-606F-FDAC770BA778}"/>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49B717A0-25DC-0D07-A9CC-A81BBE8C04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1BA01FDC-2FD6-F50C-AFE4-C5CD55383BC4}"/>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 name="Marcador de contenido 2">
            <a:extLst>
              <a:ext uri="{FF2B5EF4-FFF2-40B4-BE49-F238E27FC236}">
                <a16:creationId xmlns:a16="http://schemas.microsoft.com/office/drawing/2014/main" id="{81F97D2B-7001-5AB1-B4A5-793D59CD941E}"/>
              </a:ext>
            </a:extLst>
          </p:cNvPr>
          <p:cNvSpPr>
            <a:spLocks noGrp="1"/>
          </p:cNvSpPr>
          <p:nvPr>
            <p:ph idx="1"/>
          </p:nvPr>
        </p:nvSpPr>
        <p:spPr>
          <a:xfrm>
            <a:off x="1520189" y="1787515"/>
            <a:ext cx="9143114" cy="2081769"/>
          </a:xfrm>
        </p:spPr>
        <p:txBody>
          <a:bodyPr>
            <a:noAutofit/>
          </a:bodyPr>
          <a:lstStyle/>
          <a:p>
            <a:pPr algn="just"/>
            <a:r>
              <a:rPr lang="es-ES">
                <a:solidFill>
                  <a:schemeClr val="accent1"/>
                </a:solidFill>
                <a:latin typeface="Century Gothic" panose="020B0502020202020204" pitchFamily="34" charset="0"/>
              </a:rPr>
              <a:t>Si usted es accionista de una compañía, </a:t>
            </a:r>
          </a:p>
          <a:p>
            <a:pPr marL="0" indent="0" algn="ctr">
              <a:buNone/>
            </a:pPr>
            <a:r>
              <a:rPr lang="es-ES">
                <a:solidFill>
                  <a:srgbClr val="C00000"/>
                </a:solidFill>
                <a:latin typeface="Century Gothic" panose="020B0502020202020204" pitchFamily="34" charset="0"/>
              </a:rPr>
              <a:t>¿Cuáles son los flujos futuros que promete la acción?</a:t>
            </a:r>
          </a:p>
          <a:p>
            <a:pPr algn="just"/>
            <a:r>
              <a:rPr lang="es-ES">
                <a:solidFill>
                  <a:schemeClr val="accent1"/>
                </a:solidFill>
                <a:latin typeface="Century Gothic" panose="020B0502020202020204" pitchFamily="34" charset="0"/>
              </a:rPr>
              <a:t>Si usted va a tener la acción sólo por un año. ¿Cuáles son los flujos de caja del accionista?</a:t>
            </a:r>
            <a:endParaRPr lang="es-ES" sz="2200">
              <a:solidFill>
                <a:srgbClr val="000000"/>
              </a:solidFill>
            </a:endParaRPr>
          </a:p>
        </p:txBody>
      </p:sp>
      <p:sp>
        <p:nvSpPr>
          <p:cNvPr id="6" name="Marcador de contenido 2">
            <a:extLst>
              <a:ext uri="{FF2B5EF4-FFF2-40B4-BE49-F238E27FC236}">
                <a16:creationId xmlns:a16="http://schemas.microsoft.com/office/drawing/2014/main" id="{CEABB343-2992-30FD-335E-2E9D189383AE}"/>
              </a:ext>
            </a:extLst>
          </p:cNvPr>
          <p:cNvSpPr txBox="1">
            <a:spLocks/>
          </p:cNvSpPr>
          <p:nvPr/>
        </p:nvSpPr>
        <p:spPr>
          <a:xfrm>
            <a:off x="1501772" y="4758122"/>
            <a:ext cx="7610476" cy="638695"/>
          </a:xfrm>
          <a:prstGeom prst="rect">
            <a:avLst/>
          </a:prstGeom>
        </p:spPr>
        <p:txBody>
          <a:bodyPr vert="horz" lIns="91440" tIns="45720" rIns="91440" bIns="45720" rtlCol="0">
            <a:normAutofit/>
          </a:bodyPr>
          <a:lstStyle>
            <a:lvl1pPr marL="342900" indent="-342900" algn="l" defTabSz="914400" rtl="0" eaLnBrk="1" latinLnBrk="0" hangingPunct="1">
              <a:spcBef>
                <a:spcPts val="20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2pPr>
            <a:lvl3pPr marL="10350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3pPr>
            <a:lvl4pPr marL="13716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4pPr>
            <a:lvl5pPr marL="17208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5pPr>
            <a:lvl6pPr marL="2055813"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6pPr>
            <a:lvl7pPr marL="2398713" indent="-344488" algn="l" defTabSz="914400" rtl="0" eaLnBrk="1" latinLnBrk="0" hangingPunct="1">
              <a:spcBef>
                <a:spcPct val="20000"/>
              </a:spcBef>
              <a:buClr>
                <a:schemeClr val="accent1"/>
              </a:buClr>
              <a:buFont typeface="Wingdings 2" pitchFamily="18" charset="2"/>
              <a:buChar char=""/>
              <a:defRPr lang="en-US" sz="1800" kern="1200" dirty="0" smtClean="0">
                <a:solidFill>
                  <a:schemeClr val="tx1">
                    <a:lumMod val="65000"/>
                    <a:lumOff val="35000"/>
                  </a:schemeClr>
                </a:solidFill>
                <a:latin typeface="+mn-lt"/>
                <a:ea typeface="+mn-ea"/>
                <a:cs typeface="+mn-cs"/>
              </a:defRPr>
            </a:lvl7pPr>
            <a:lvl8pPr marL="2743200"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8pPr>
            <a:lvl9pPr marL="3087688" indent="-344488" algn="l" defTabSz="914400" rtl="0" eaLnBrk="1" latinLnBrk="0" hangingPunct="1">
              <a:spcBef>
                <a:spcPct val="20000"/>
              </a:spcBef>
              <a:buClr>
                <a:schemeClr val="accent1"/>
              </a:buClr>
              <a:buFont typeface="Wingdings 2" pitchFamily="18" charset="2"/>
              <a:buChar char=""/>
              <a:defRPr lang="en-US" sz="1800" kern="1200" dirty="0">
                <a:solidFill>
                  <a:schemeClr val="tx1">
                    <a:lumMod val="65000"/>
                    <a:lumOff val="35000"/>
                  </a:schemeClr>
                </a:solidFill>
                <a:latin typeface="+mn-lt"/>
                <a:ea typeface="+mn-ea"/>
                <a:cs typeface="+mn-cs"/>
              </a:defRPr>
            </a:lvl9pPr>
          </a:lstStyle>
          <a:p>
            <a:pPr algn="just">
              <a:buClr>
                <a:schemeClr val="accent3">
                  <a:lumMod val="75000"/>
                </a:schemeClr>
              </a:buClr>
              <a:buFont typeface="Wingdings" panose="05000000000000000000" pitchFamily="2" charset="2"/>
              <a:buChar char="§"/>
            </a:pPr>
            <a:r>
              <a:rPr lang="es-ES" sz="1800">
                <a:solidFill>
                  <a:schemeClr val="accent1"/>
                </a:solidFill>
                <a:latin typeface="Century Gothic" panose="020B0502020202020204" pitchFamily="34" charset="0"/>
              </a:rPr>
              <a:t>¿Cuál es el precio de esa acción para el inversionista?</a:t>
            </a:r>
          </a:p>
        </p:txBody>
      </p:sp>
      <p:pic>
        <p:nvPicPr>
          <p:cNvPr id="7" name="Picture 6" descr="latex-image-1.pdf">
            <a:extLst>
              <a:ext uri="{FF2B5EF4-FFF2-40B4-BE49-F238E27FC236}">
                <a16:creationId xmlns:a16="http://schemas.microsoft.com/office/drawing/2014/main" id="{5C2EBE4C-6F76-83CB-AD0E-2D93605FFC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17392" y="5484777"/>
            <a:ext cx="3348709" cy="778551"/>
          </a:xfrm>
          <a:prstGeom prst="rect">
            <a:avLst/>
          </a:prstGeom>
        </p:spPr>
      </p:pic>
      <p:pic>
        <p:nvPicPr>
          <p:cNvPr id="8" name="Picture 7">
            <a:extLst>
              <a:ext uri="{FF2B5EF4-FFF2-40B4-BE49-F238E27FC236}">
                <a16:creationId xmlns:a16="http://schemas.microsoft.com/office/drawing/2014/main" id="{BB866687-4D97-FA14-EDE5-C4A7E348708E}"/>
              </a:ext>
            </a:extLst>
          </p:cNvPr>
          <p:cNvPicPr>
            <a:picLocks noChangeAspect="1"/>
          </p:cNvPicPr>
          <p:nvPr/>
        </p:nvPicPr>
        <p:blipFill>
          <a:blip r:embed="rId4"/>
          <a:stretch>
            <a:fillRect/>
          </a:stretch>
        </p:blipFill>
        <p:spPr>
          <a:xfrm>
            <a:off x="4142297" y="3794539"/>
            <a:ext cx="3898900" cy="469900"/>
          </a:xfrm>
          <a:prstGeom prst="rect">
            <a:avLst/>
          </a:prstGeom>
        </p:spPr>
      </p:pic>
      <p:sp>
        <p:nvSpPr>
          <p:cNvPr id="10" name="Marcador de número de diapositiva 3">
            <a:extLst>
              <a:ext uri="{FF2B5EF4-FFF2-40B4-BE49-F238E27FC236}">
                <a16:creationId xmlns:a16="http://schemas.microsoft.com/office/drawing/2014/main" id="{9E2A53A1-235F-0ED9-5526-4CE4FAC42FF0}"/>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24</a:t>
            </a:fld>
            <a:endParaRPr lang="en-US" sz="2000" b="1">
              <a:latin typeface="Century Gothic" panose="020B0502020202020204" pitchFamily="34" charset="0"/>
            </a:endParaRPr>
          </a:p>
        </p:txBody>
      </p:sp>
    </p:spTree>
    <p:extLst>
      <p:ext uri="{BB962C8B-B14F-4D97-AF65-F5344CB8AC3E}">
        <p14:creationId xmlns:p14="http://schemas.microsoft.com/office/powerpoint/2010/main" val="33784331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7ACAD7-A324-2F38-DD4C-C10A166B3D1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87B9B1A-F9DA-CE35-BD59-64A67A0D2B48}"/>
              </a:ext>
            </a:extLst>
          </p:cNvPr>
          <p:cNvSpPr>
            <a:spLocks noGrp="1"/>
          </p:cNvSpPr>
          <p:nvPr>
            <p:ph type="title"/>
          </p:nvPr>
        </p:nvSpPr>
        <p:spPr/>
        <p:txBody>
          <a:bodyPr>
            <a:normAutofit/>
          </a:bodyPr>
          <a:lstStyle/>
          <a:p>
            <a:r>
              <a:rPr lang="es-ES">
                <a:latin typeface="Century Gothic" panose="020B0502020202020204" pitchFamily="34" charset="0"/>
              </a:rPr>
              <a:t>Costo del equity</a:t>
            </a:r>
          </a:p>
        </p:txBody>
      </p:sp>
      <p:sp>
        <p:nvSpPr>
          <p:cNvPr id="9" name="Rectángulo 8">
            <a:extLst>
              <a:ext uri="{FF2B5EF4-FFF2-40B4-BE49-F238E27FC236}">
                <a16:creationId xmlns:a16="http://schemas.microsoft.com/office/drawing/2014/main" id="{2F2C55A4-AADB-A88E-3794-1317893DF1BB}"/>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AF8E619E-336B-4BD5-C8D1-D9EB1A98E2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B847FE60-5E25-2640-6FEF-E696FE938B89}"/>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 name="Marcador de contenido 2">
            <a:extLst>
              <a:ext uri="{FF2B5EF4-FFF2-40B4-BE49-F238E27FC236}">
                <a16:creationId xmlns:a16="http://schemas.microsoft.com/office/drawing/2014/main" id="{59A79040-2532-2746-23DC-0B4F91ECB06C}"/>
              </a:ext>
            </a:extLst>
          </p:cNvPr>
          <p:cNvSpPr>
            <a:spLocks noGrp="1"/>
          </p:cNvSpPr>
          <p:nvPr>
            <p:ph idx="1"/>
          </p:nvPr>
        </p:nvSpPr>
        <p:spPr>
          <a:xfrm>
            <a:off x="1471527" y="2249931"/>
            <a:ext cx="9248946" cy="1857531"/>
          </a:xfrm>
        </p:spPr>
        <p:txBody>
          <a:bodyPr>
            <a:normAutofit/>
          </a:bodyPr>
          <a:lstStyle/>
          <a:p>
            <a:pPr algn="just"/>
            <a:r>
              <a:rPr lang="es-ES">
                <a:solidFill>
                  <a:schemeClr val="accent1"/>
                </a:solidFill>
                <a:latin typeface="Century Gothic" panose="020B0502020202020204" pitchFamily="34" charset="0"/>
              </a:rPr>
              <a:t>Ahora</a:t>
            </a:r>
            <a:r>
              <a:rPr lang="es-ES" sz="2200">
                <a:solidFill>
                  <a:srgbClr val="000000"/>
                </a:solidFill>
              </a:rPr>
              <a:t> </a:t>
            </a:r>
            <a:r>
              <a:rPr lang="es-ES">
                <a:solidFill>
                  <a:schemeClr val="accent1"/>
                </a:solidFill>
                <a:latin typeface="Century Gothic" panose="020B0502020202020204" pitchFamily="34" charset="0"/>
              </a:rPr>
              <a:t>asumamos que el accionista no quiere vender la acción (Desea mantenerla indefinidamente). También supongamos que en cada periodo hay pago de dividendos.</a:t>
            </a:r>
          </a:p>
          <a:p>
            <a:pPr algn="just"/>
            <a:r>
              <a:rPr lang="es-ES">
                <a:solidFill>
                  <a:schemeClr val="accent1"/>
                </a:solidFill>
                <a:latin typeface="Century Gothic" panose="020B0502020202020204" pitchFamily="34" charset="0"/>
              </a:rPr>
              <a:t>¿Cómo serían los flujos de dicha acción?</a:t>
            </a:r>
          </a:p>
        </p:txBody>
      </p:sp>
      <p:pic>
        <p:nvPicPr>
          <p:cNvPr id="6" name="Picture 5">
            <a:extLst>
              <a:ext uri="{FF2B5EF4-FFF2-40B4-BE49-F238E27FC236}">
                <a16:creationId xmlns:a16="http://schemas.microsoft.com/office/drawing/2014/main" id="{E28B64E6-781C-9DB7-4DF2-BC3D097553F9}"/>
              </a:ext>
            </a:extLst>
          </p:cNvPr>
          <p:cNvPicPr>
            <a:picLocks noChangeAspect="1"/>
          </p:cNvPicPr>
          <p:nvPr/>
        </p:nvPicPr>
        <p:blipFill>
          <a:blip r:embed="rId3"/>
          <a:stretch>
            <a:fillRect/>
          </a:stretch>
        </p:blipFill>
        <p:spPr>
          <a:xfrm>
            <a:off x="1885950" y="4287913"/>
            <a:ext cx="8420100" cy="469900"/>
          </a:xfrm>
          <a:prstGeom prst="rect">
            <a:avLst/>
          </a:prstGeom>
        </p:spPr>
      </p:pic>
      <p:sp>
        <p:nvSpPr>
          <p:cNvPr id="7" name="Marcador de contenido 2">
            <a:extLst>
              <a:ext uri="{FF2B5EF4-FFF2-40B4-BE49-F238E27FC236}">
                <a16:creationId xmlns:a16="http://schemas.microsoft.com/office/drawing/2014/main" id="{CD70D938-256E-E035-6627-DBE07E5E2141}"/>
              </a:ext>
            </a:extLst>
          </p:cNvPr>
          <p:cNvSpPr txBox="1">
            <a:spLocks/>
          </p:cNvSpPr>
          <p:nvPr/>
        </p:nvSpPr>
        <p:spPr>
          <a:xfrm>
            <a:off x="1471527" y="5152518"/>
            <a:ext cx="7610476" cy="638695"/>
          </a:xfrm>
          <a:prstGeom prst="rect">
            <a:avLst/>
          </a:prstGeom>
        </p:spPr>
        <p:txBody>
          <a:bodyPr vert="horz" lIns="91440" tIns="45720" rIns="91440" bIns="45720" rtlCol="0">
            <a:normAutofit/>
          </a:bodyPr>
          <a:lstStyle>
            <a:lvl1pPr marL="342900" indent="-342900" algn="l" defTabSz="914400" rtl="0" eaLnBrk="1" latinLnBrk="0" hangingPunct="1">
              <a:spcBef>
                <a:spcPts val="20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2pPr>
            <a:lvl3pPr marL="10350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3pPr>
            <a:lvl4pPr marL="13716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4pPr>
            <a:lvl5pPr marL="17208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5pPr>
            <a:lvl6pPr marL="2055813"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6pPr>
            <a:lvl7pPr marL="2398713" indent="-344488" algn="l" defTabSz="914400" rtl="0" eaLnBrk="1" latinLnBrk="0" hangingPunct="1">
              <a:spcBef>
                <a:spcPct val="20000"/>
              </a:spcBef>
              <a:buClr>
                <a:schemeClr val="accent1"/>
              </a:buClr>
              <a:buFont typeface="Wingdings 2" pitchFamily="18" charset="2"/>
              <a:buChar char=""/>
              <a:defRPr lang="en-US" sz="1800" kern="1200" dirty="0" smtClean="0">
                <a:solidFill>
                  <a:schemeClr val="tx1">
                    <a:lumMod val="65000"/>
                    <a:lumOff val="35000"/>
                  </a:schemeClr>
                </a:solidFill>
                <a:latin typeface="+mn-lt"/>
                <a:ea typeface="+mn-ea"/>
                <a:cs typeface="+mn-cs"/>
              </a:defRPr>
            </a:lvl7pPr>
            <a:lvl8pPr marL="2743200"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8pPr>
            <a:lvl9pPr marL="3087688" indent="-344488" algn="l" defTabSz="914400" rtl="0" eaLnBrk="1" latinLnBrk="0" hangingPunct="1">
              <a:spcBef>
                <a:spcPct val="20000"/>
              </a:spcBef>
              <a:buClr>
                <a:schemeClr val="accent1"/>
              </a:buClr>
              <a:buFont typeface="Wingdings 2" pitchFamily="18" charset="2"/>
              <a:buChar char=""/>
              <a:defRPr lang="en-US" sz="1800" kern="1200" dirty="0">
                <a:solidFill>
                  <a:schemeClr val="tx1">
                    <a:lumMod val="65000"/>
                    <a:lumOff val="35000"/>
                  </a:schemeClr>
                </a:solidFill>
                <a:latin typeface="+mn-lt"/>
                <a:ea typeface="+mn-ea"/>
                <a:cs typeface="+mn-cs"/>
              </a:defRPr>
            </a:lvl9pPr>
          </a:lstStyle>
          <a:p>
            <a:pPr algn="just">
              <a:buClr>
                <a:schemeClr val="accent3">
                  <a:lumMod val="75000"/>
                </a:schemeClr>
              </a:buClr>
              <a:buFont typeface="Wingdings" panose="05000000000000000000" pitchFamily="2" charset="2"/>
              <a:buChar char="§"/>
            </a:pPr>
            <a:r>
              <a:rPr lang="es-ES" sz="1800">
                <a:solidFill>
                  <a:schemeClr val="accent1"/>
                </a:solidFill>
                <a:latin typeface="Century Gothic" panose="020B0502020202020204" pitchFamily="34" charset="0"/>
              </a:rPr>
              <a:t>¿Cuál es el precio de esa acción para el inversionista?</a:t>
            </a:r>
          </a:p>
        </p:txBody>
      </p:sp>
      <p:sp>
        <p:nvSpPr>
          <p:cNvPr id="8" name="Marcador de número de diapositiva 3">
            <a:extLst>
              <a:ext uri="{FF2B5EF4-FFF2-40B4-BE49-F238E27FC236}">
                <a16:creationId xmlns:a16="http://schemas.microsoft.com/office/drawing/2014/main" id="{2741FD31-3845-7900-3C79-AFF98A45D5C8}"/>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25</a:t>
            </a:fld>
            <a:endParaRPr lang="en-US" sz="2000" b="1">
              <a:latin typeface="Century Gothic" panose="020B0502020202020204" pitchFamily="34" charset="0"/>
            </a:endParaRPr>
          </a:p>
        </p:txBody>
      </p:sp>
    </p:spTree>
    <p:extLst>
      <p:ext uri="{BB962C8B-B14F-4D97-AF65-F5344CB8AC3E}">
        <p14:creationId xmlns:p14="http://schemas.microsoft.com/office/powerpoint/2010/main" val="41330318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7"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EFCD02-6175-C66B-B1DF-AA92230A4E9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0487873-AEB7-352B-C935-1343786953B6}"/>
              </a:ext>
            </a:extLst>
          </p:cNvPr>
          <p:cNvSpPr>
            <a:spLocks noGrp="1"/>
          </p:cNvSpPr>
          <p:nvPr>
            <p:ph type="title"/>
          </p:nvPr>
        </p:nvSpPr>
        <p:spPr/>
        <p:txBody>
          <a:bodyPr>
            <a:normAutofit/>
          </a:bodyPr>
          <a:lstStyle/>
          <a:p>
            <a:r>
              <a:rPr lang="es-ES">
                <a:latin typeface="Century Gothic" panose="020B0502020202020204" pitchFamily="34" charset="0"/>
              </a:rPr>
              <a:t>Costo del equity</a:t>
            </a:r>
          </a:p>
        </p:txBody>
      </p:sp>
      <p:sp>
        <p:nvSpPr>
          <p:cNvPr id="9" name="Rectángulo 8">
            <a:extLst>
              <a:ext uri="{FF2B5EF4-FFF2-40B4-BE49-F238E27FC236}">
                <a16:creationId xmlns:a16="http://schemas.microsoft.com/office/drawing/2014/main" id="{66BE1BE4-64A5-96D5-3D2D-44E714DD2E45}"/>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EBE09880-57E4-0338-E97D-25FB44735AE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E36FD12D-56DC-898D-14FE-5FC9F9745398}"/>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 name="Marcador de contenido 2">
            <a:extLst>
              <a:ext uri="{FF2B5EF4-FFF2-40B4-BE49-F238E27FC236}">
                <a16:creationId xmlns:a16="http://schemas.microsoft.com/office/drawing/2014/main" id="{3F1D6C68-79BA-0DBA-C87C-480297602BFE}"/>
              </a:ext>
            </a:extLst>
          </p:cNvPr>
          <p:cNvSpPr>
            <a:spLocks noGrp="1"/>
          </p:cNvSpPr>
          <p:nvPr>
            <p:ph idx="1"/>
          </p:nvPr>
        </p:nvSpPr>
        <p:spPr>
          <a:xfrm>
            <a:off x="1471540" y="2887038"/>
            <a:ext cx="8861914" cy="958466"/>
          </a:xfrm>
        </p:spPr>
        <p:txBody>
          <a:bodyPr>
            <a:normAutofit/>
          </a:bodyPr>
          <a:lstStyle/>
          <a:p>
            <a:pPr marL="0" indent="0" algn="just">
              <a:buNone/>
            </a:pPr>
            <a:r>
              <a:rPr lang="es-ES">
                <a:solidFill>
                  <a:schemeClr val="accent1"/>
                </a:solidFill>
                <a:latin typeface="Century Gothic" panose="020B0502020202020204" pitchFamily="34" charset="0"/>
              </a:rPr>
              <a:t>Nos encontramos en el caso de equivalencia de flujos a perpetuidad y valor presente; caso que ya vimos en la sección de matemáticas financieras.</a:t>
            </a:r>
          </a:p>
        </p:txBody>
      </p:sp>
      <p:pic>
        <p:nvPicPr>
          <p:cNvPr id="6" name="Picture 5">
            <a:extLst>
              <a:ext uri="{FF2B5EF4-FFF2-40B4-BE49-F238E27FC236}">
                <a16:creationId xmlns:a16="http://schemas.microsoft.com/office/drawing/2014/main" id="{76F7F656-0AC6-E566-00DA-7AE30655AC3E}"/>
              </a:ext>
            </a:extLst>
          </p:cNvPr>
          <p:cNvPicPr>
            <a:picLocks noChangeAspect="1"/>
          </p:cNvPicPr>
          <p:nvPr/>
        </p:nvPicPr>
        <p:blipFill>
          <a:blip r:embed="rId3"/>
          <a:stretch>
            <a:fillRect/>
          </a:stretch>
        </p:blipFill>
        <p:spPr>
          <a:xfrm>
            <a:off x="1402144" y="4423317"/>
            <a:ext cx="2413000" cy="1041400"/>
          </a:xfrm>
          <a:prstGeom prst="rect">
            <a:avLst/>
          </a:prstGeom>
        </p:spPr>
      </p:pic>
      <p:sp>
        <p:nvSpPr>
          <p:cNvPr id="7" name="Flecha derecha 5">
            <a:extLst>
              <a:ext uri="{FF2B5EF4-FFF2-40B4-BE49-F238E27FC236}">
                <a16:creationId xmlns:a16="http://schemas.microsoft.com/office/drawing/2014/main" id="{6574E55E-2D10-9C7E-BD35-A95AEED82409}"/>
              </a:ext>
            </a:extLst>
          </p:cNvPr>
          <p:cNvSpPr/>
          <p:nvPr/>
        </p:nvSpPr>
        <p:spPr>
          <a:xfrm>
            <a:off x="3880224" y="4652016"/>
            <a:ext cx="522111" cy="474727"/>
          </a:xfrm>
          <a:prstGeom prst="rightArrow">
            <a:avLst/>
          </a:prstGeom>
          <a:solidFill>
            <a:schemeClr val="accent3">
              <a:lumMod val="75000"/>
            </a:schemeClr>
          </a:solidFill>
          <a:ln>
            <a:solidFill>
              <a:schemeClr val="accent3">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pic>
        <p:nvPicPr>
          <p:cNvPr id="8" name="Imagen 6">
            <a:extLst>
              <a:ext uri="{FF2B5EF4-FFF2-40B4-BE49-F238E27FC236}">
                <a16:creationId xmlns:a16="http://schemas.microsoft.com/office/drawing/2014/main" id="{EB6A35EE-8B0F-8192-AE16-608BD97CBEC1}"/>
              </a:ext>
            </a:extLst>
          </p:cNvPr>
          <p:cNvPicPr>
            <a:picLocks noChangeAspect="1"/>
          </p:cNvPicPr>
          <p:nvPr/>
        </p:nvPicPr>
        <p:blipFill>
          <a:blip r:embed="rId4"/>
          <a:stretch>
            <a:fillRect/>
          </a:stretch>
        </p:blipFill>
        <p:spPr>
          <a:xfrm>
            <a:off x="4661979" y="4400541"/>
            <a:ext cx="2374900" cy="1041400"/>
          </a:xfrm>
          <a:prstGeom prst="rect">
            <a:avLst/>
          </a:prstGeom>
        </p:spPr>
      </p:pic>
      <p:sp>
        <p:nvSpPr>
          <p:cNvPr id="10" name="Rectángulo 1">
            <a:extLst>
              <a:ext uri="{FF2B5EF4-FFF2-40B4-BE49-F238E27FC236}">
                <a16:creationId xmlns:a16="http://schemas.microsoft.com/office/drawing/2014/main" id="{2A303862-3F06-887B-EC88-F70E42F67312}"/>
              </a:ext>
            </a:extLst>
          </p:cNvPr>
          <p:cNvSpPr/>
          <p:nvPr/>
        </p:nvSpPr>
        <p:spPr>
          <a:xfrm>
            <a:off x="740065" y="2350958"/>
            <a:ext cx="6072496" cy="400110"/>
          </a:xfrm>
          <a:prstGeom prst="rect">
            <a:avLst/>
          </a:prstGeom>
        </p:spPr>
        <p:txBody>
          <a:bodyPr wrap="none">
            <a:spAutoFit/>
          </a:bodyPr>
          <a:lstStyle/>
          <a:p>
            <a:pPr marL="1070100" lvl="2" indent="-457200" algn="just">
              <a:buFont typeface="+mj-lt"/>
              <a:buAutoNum type="alphaUcPeriod"/>
            </a:pPr>
            <a:r>
              <a:rPr lang="es-ES" b="1">
                <a:solidFill>
                  <a:schemeClr val="accent1"/>
                </a:solidFill>
                <a:latin typeface="Century Gothic" panose="020B0502020202020204" pitchFamily="34" charset="0"/>
              </a:rPr>
              <a:t>Financiación</a:t>
            </a:r>
            <a:r>
              <a:rPr lang="es-ES" sz="2000" b="1">
                <a:solidFill>
                  <a:schemeClr val="accent1">
                    <a:lumMod val="90000"/>
                    <a:lumOff val="10000"/>
                  </a:schemeClr>
                </a:solidFill>
              </a:rPr>
              <a:t> </a:t>
            </a:r>
            <a:r>
              <a:rPr lang="es-ES" b="1">
                <a:solidFill>
                  <a:schemeClr val="accent1"/>
                </a:solidFill>
                <a:latin typeface="Century Gothic" panose="020B0502020202020204" pitchFamily="34" charset="0"/>
              </a:rPr>
              <a:t>Interna (Utilidades Retenidas)</a:t>
            </a:r>
          </a:p>
        </p:txBody>
      </p:sp>
      <p:sp>
        <p:nvSpPr>
          <p:cNvPr id="12" name="Marcador de número de diapositiva 3">
            <a:extLst>
              <a:ext uri="{FF2B5EF4-FFF2-40B4-BE49-F238E27FC236}">
                <a16:creationId xmlns:a16="http://schemas.microsoft.com/office/drawing/2014/main" id="{65140914-308B-5E0B-CF6D-E4C6460856C6}"/>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26</a:t>
            </a:fld>
            <a:endParaRPr lang="en-US" sz="2000" b="1">
              <a:latin typeface="Century Gothic" panose="020B0502020202020204" pitchFamily="34" charset="0"/>
            </a:endParaRPr>
          </a:p>
        </p:txBody>
      </p:sp>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2D64D5CE-9E3F-60EF-7337-D71C2F4EB222}"/>
                  </a:ext>
                </a:extLst>
              </p:cNvPr>
              <p:cNvSpPr txBox="1"/>
              <p:nvPr/>
            </p:nvSpPr>
            <p:spPr>
              <a:xfrm>
                <a:off x="7250305" y="4704713"/>
                <a:ext cx="1839909" cy="369332"/>
              </a:xfrm>
              <a:prstGeom prst="rect">
                <a:avLst/>
              </a:prstGeom>
              <a:noFill/>
            </p:spPr>
            <p:txBody>
              <a:bodyPr wrap="square">
                <a:spAutoFit/>
              </a:bodyPr>
              <a:lstStyle/>
              <a:p>
                <a:r>
                  <a:rPr lang="es-ES" sz="1800">
                    <a:solidFill>
                      <a:srgbClr val="000000"/>
                    </a:solidFill>
                  </a:rPr>
                  <a:t>si despejamos </a:t>
                </a:r>
                <a14:m>
                  <m:oMath xmlns:m="http://schemas.openxmlformats.org/officeDocument/2006/math">
                    <m:sSub>
                      <m:sSubPr>
                        <m:ctrlPr>
                          <a:rPr lang="es-ES" sz="1800" i="1" dirty="0" smtClean="0">
                            <a:solidFill>
                              <a:srgbClr val="000000"/>
                            </a:solidFill>
                            <a:latin typeface="Cambria Math" panose="02040503050406030204" pitchFamily="18" charset="0"/>
                          </a:rPr>
                        </m:ctrlPr>
                      </m:sSubPr>
                      <m:e>
                        <m:r>
                          <a:rPr lang="es-ES" sz="1800" i="1" dirty="0" smtClean="0">
                            <a:solidFill>
                              <a:srgbClr val="000000"/>
                            </a:solidFill>
                            <a:latin typeface="Cambria Math" panose="02040503050406030204" pitchFamily="18" charset="0"/>
                          </a:rPr>
                          <m:t>𝐾</m:t>
                        </m:r>
                      </m:e>
                      <m:sub>
                        <m:r>
                          <a:rPr lang="es-ES" sz="1800" i="1" dirty="0" smtClean="0">
                            <a:solidFill>
                              <a:srgbClr val="000000"/>
                            </a:solidFill>
                            <a:latin typeface="Cambria Math" panose="02040503050406030204" pitchFamily="18" charset="0"/>
                          </a:rPr>
                          <m:t>𝑒</m:t>
                        </m:r>
                      </m:sub>
                    </m:sSub>
                    <m:r>
                      <a:rPr lang="en-US" sz="1800" b="0" i="1" dirty="0" smtClean="0">
                        <a:solidFill>
                          <a:srgbClr val="000000"/>
                        </a:solidFill>
                        <a:latin typeface="Cambria Math" panose="02040503050406030204" pitchFamily="18" charset="0"/>
                      </a:rPr>
                      <m:t>:</m:t>
                    </m:r>
                  </m:oMath>
                </a14:m>
                <a:r>
                  <a:rPr lang="es-ES" sz="1800">
                    <a:solidFill>
                      <a:srgbClr val="000000"/>
                    </a:solidFill>
                  </a:rPr>
                  <a:t>  </a:t>
                </a:r>
                <a:endParaRPr lang="es-ES_tradnl"/>
              </a:p>
            </p:txBody>
          </p:sp>
        </mc:Choice>
        <mc:Fallback>
          <p:sp>
            <p:nvSpPr>
              <p:cNvPr id="13" name="TextBox 12">
                <a:extLst>
                  <a:ext uri="{FF2B5EF4-FFF2-40B4-BE49-F238E27FC236}">
                    <a16:creationId xmlns:a16="http://schemas.microsoft.com/office/drawing/2014/main" id="{2D64D5CE-9E3F-60EF-7337-D71C2F4EB222}"/>
                  </a:ext>
                </a:extLst>
              </p:cNvPr>
              <p:cNvSpPr txBox="1">
                <a:spLocks noRot="1" noChangeAspect="1" noMove="1" noResize="1" noEditPoints="1" noAdjustHandles="1" noChangeArrowheads="1" noChangeShapeType="1" noTextEdit="1"/>
              </p:cNvSpPr>
              <p:nvPr/>
            </p:nvSpPr>
            <p:spPr>
              <a:xfrm>
                <a:off x="7250305" y="4704713"/>
                <a:ext cx="1839909" cy="369332"/>
              </a:xfrm>
              <a:prstGeom prst="rect">
                <a:avLst/>
              </a:prstGeom>
              <a:blipFill>
                <a:blip r:embed="rId5"/>
                <a:stretch>
                  <a:fillRect l="-2649" t="-10000" b="-7000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5" name="CuadroTexto 7">
                <a:extLst>
                  <a:ext uri="{FF2B5EF4-FFF2-40B4-BE49-F238E27FC236}">
                    <a16:creationId xmlns:a16="http://schemas.microsoft.com/office/drawing/2014/main" id="{9D28BFB4-5AEC-9244-F877-CDB28A6DD1EC}"/>
                  </a:ext>
                </a:extLst>
              </p:cNvPr>
              <p:cNvSpPr txBox="1"/>
              <p:nvPr/>
            </p:nvSpPr>
            <p:spPr>
              <a:xfrm>
                <a:off x="9073157" y="4412664"/>
                <a:ext cx="2520594" cy="100514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MX" sz="3200" b="0" i="1" smtClean="0">
                              <a:latin typeface="Cambria Math" panose="02040503050406030204" pitchFamily="18" charset="0"/>
                            </a:rPr>
                          </m:ctrlPr>
                        </m:sSubPr>
                        <m:e>
                          <m:r>
                            <a:rPr lang="es-MX" sz="3200" b="0" i="1" smtClean="0">
                              <a:latin typeface="Cambria Math" panose="02040503050406030204" pitchFamily="18" charset="0"/>
                            </a:rPr>
                            <m:t>𝐾</m:t>
                          </m:r>
                        </m:e>
                        <m:sub>
                          <m:r>
                            <a:rPr lang="es-MX" sz="3200" b="0" i="1" smtClean="0">
                              <a:latin typeface="Cambria Math" panose="02040503050406030204" pitchFamily="18" charset="0"/>
                            </a:rPr>
                            <m:t>𝑒</m:t>
                          </m:r>
                        </m:sub>
                      </m:sSub>
                      <m:r>
                        <a:rPr lang="es-MX" sz="3200" b="0" i="1" smtClean="0">
                          <a:latin typeface="Cambria Math" panose="02040503050406030204" pitchFamily="18" charset="0"/>
                        </a:rPr>
                        <m:t>=</m:t>
                      </m:r>
                      <m:f>
                        <m:fPr>
                          <m:ctrlPr>
                            <a:rPr lang="es-MX" sz="3200" b="0" i="1" smtClean="0">
                              <a:latin typeface="Cambria Math" panose="02040503050406030204" pitchFamily="18" charset="0"/>
                            </a:rPr>
                          </m:ctrlPr>
                        </m:fPr>
                        <m:num>
                          <m:sSub>
                            <m:sSubPr>
                              <m:ctrlPr>
                                <a:rPr lang="es-MX" sz="3200" b="0" i="1" smtClean="0">
                                  <a:latin typeface="Cambria Math" panose="02040503050406030204" pitchFamily="18" charset="0"/>
                                </a:rPr>
                              </m:ctrlPr>
                            </m:sSubPr>
                            <m:e>
                              <m:r>
                                <a:rPr lang="es-MX" sz="3200" b="0" i="1" smtClean="0">
                                  <a:latin typeface="Cambria Math" panose="02040503050406030204" pitchFamily="18" charset="0"/>
                                </a:rPr>
                                <m:t>𝐷</m:t>
                              </m:r>
                            </m:e>
                            <m:sub>
                              <m:r>
                                <a:rPr lang="es-MX" sz="3200" b="0" i="1" smtClean="0">
                                  <a:latin typeface="Cambria Math" panose="02040503050406030204" pitchFamily="18" charset="0"/>
                                </a:rPr>
                                <m:t>1</m:t>
                              </m:r>
                            </m:sub>
                          </m:sSub>
                        </m:num>
                        <m:den>
                          <m:sSub>
                            <m:sSubPr>
                              <m:ctrlPr>
                                <a:rPr lang="es-MX" sz="3200" b="0" i="1" smtClean="0">
                                  <a:latin typeface="Cambria Math" panose="02040503050406030204" pitchFamily="18" charset="0"/>
                                </a:rPr>
                              </m:ctrlPr>
                            </m:sSubPr>
                            <m:e>
                              <m:r>
                                <a:rPr lang="es-MX" sz="3200" b="0" i="1" smtClean="0">
                                  <a:latin typeface="Cambria Math" panose="02040503050406030204" pitchFamily="18" charset="0"/>
                                </a:rPr>
                                <m:t>𝑃</m:t>
                              </m:r>
                            </m:e>
                            <m:sub>
                              <m:r>
                                <a:rPr lang="es-MX" sz="3200" b="0" i="1" smtClean="0">
                                  <a:latin typeface="Cambria Math" panose="02040503050406030204" pitchFamily="18" charset="0"/>
                                </a:rPr>
                                <m:t>𝑜</m:t>
                              </m:r>
                            </m:sub>
                          </m:sSub>
                        </m:den>
                      </m:f>
                      <m:r>
                        <a:rPr lang="es-MX" sz="3200" b="0" i="1" smtClean="0">
                          <a:latin typeface="Cambria Math" panose="02040503050406030204" pitchFamily="18" charset="0"/>
                        </a:rPr>
                        <m:t>+</m:t>
                      </m:r>
                      <m:r>
                        <a:rPr lang="es-MX" sz="3200" b="0" i="1" smtClean="0">
                          <a:latin typeface="Cambria Math" panose="02040503050406030204" pitchFamily="18" charset="0"/>
                        </a:rPr>
                        <m:t>𝑔</m:t>
                      </m:r>
                    </m:oMath>
                  </m:oMathPara>
                </a14:m>
                <a:endParaRPr lang="es-CO" sz="3200"/>
              </a:p>
            </p:txBody>
          </p:sp>
        </mc:Choice>
        <mc:Fallback>
          <p:sp>
            <p:nvSpPr>
              <p:cNvPr id="15" name="CuadroTexto 7">
                <a:extLst>
                  <a:ext uri="{FF2B5EF4-FFF2-40B4-BE49-F238E27FC236}">
                    <a16:creationId xmlns:a16="http://schemas.microsoft.com/office/drawing/2014/main" id="{9D28BFB4-5AEC-9244-F877-CDB28A6DD1EC}"/>
                  </a:ext>
                </a:extLst>
              </p:cNvPr>
              <p:cNvSpPr txBox="1">
                <a:spLocks noRot="1" noChangeAspect="1" noMove="1" noResize="1" noEditPoints="1" noAdjustHandles="1" noChangeArrowheads="1" noChangeShapeType="1" noTextEdit="1"/>
              </p:cNvSpPr>
              <p:nvPr/>
            </p:nvSpPr>
            <p:spPr>
              <a:xfrm>
                <a:off x="9073157" y="4412664"/>
                <a:ext cx="2520594" cy="1005147"/>
              </a:xfrm>
              <a:prstGeom prst="rect">
                <a:avLst/>
              </a:prstGeom>
              <a:blipFill>
                <a:blip r:embed="rId6"/>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1438421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par>
                                <p:cTn id="16" presetID="10" presetClass="entr" presetSubtype="0" fill="hold"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7" grpId="0" animBg="1"/>
      <p:bldP spid="13" grpId="0"/>
      <p:bldP spid="15"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402D5A-7BE5-B485-D3F5-B349678D8F5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FFC8067-DA66-BE7C-5484-C16A8A329343}"/>
              </a:ext>
            </a:extLst>
          </p:cNvPr>
          <p:cNvSpPr>
            <a:spLocks noGrp="1"/>
          </p:cNvSpPr>
          <p:nvPr>
            <p:ph type="title"/>
          </p:nvPr>
        </p:nvSpPr>
        <p:spPr/>
        <p:txBody>
          <a:bodyPr>
            <a:normAutofit/>
          </a:bodyPr>
          <a:lstStyle/>
          <a:p>
            <a:r>
              <a:rPr lang="es-ES">
                <a:latin typeface="Century Gothic" panose="020B0502020202020204" pitchFamily="34" charset="0"/>
              </a:rPr>
              <a:t>Costo del equity</a:t>
            </a:r>
          </a:p>
        </p:txBody>
      </p:sp>
      <p:sp>
        <p:nvSpPr>
          <p:cNvPr id="9" name="Rectángulo 8">
            <a:extLst>
              <a:ext uri="{FF2B5EF4-FFF2-40B4-BE49-F238E27FC236}">
                <a16:creationId xmlns:a16="http://schemas.microsoft.com/office/drawing/2014/main" id="{63F44C68-9970-7F79-749A-AABC311EDCB3}"/>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44A0C5EC-6770-8025-7BC3-97016199E9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D6E14D72-9ADB-F8F6-81E2-CF2C1C392705}"/>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 name="Marcador de contenido 2">
            <a:extLst>
              <a:ext uri="{FF2B5EF4-FFF2-40B4-BE49-F238E27FC236}">
                <a16:creationId xmlns:a16="http://schemas.microsoft.com/office/drawing/2014/main" id="{CF1FB870-453A-BFB5-6E6B-5697A20C7E92}"/>
              </a:ext>
            </a:extLst>
          </p:cNvPr>
          <p:cNvSpPr>
            <a:spLocks noGrp="1"/>
          </p:cNvSpPr>
          <p:nvPr>
            <p:ph idx="1"/>
          </p:nvPr>
        </p:nvSpPr>
        <p:spPr>
          <a:xfrm>
            <a:off x="1300193" y="2049009"/>
            <a:ext cx="9591614" cy="2543539"/>
          </a:xfrm>
        </p:spPr>
        <p:txBody>
          <a:bodyPr>
            <a:normAutofit/>
          </a:bodyPr>
          <a:lstStyle/>
          <a:p>
            <a:pPr marL="0" indent="0" algn="just">
              <a:buNone/>
            </a:pPr>
            <a:r>
              <a:rPr lang="es-ES" b="1">
                <a:solidFill>
                  <a:srgbClr val="C00000"/>
                </a:solidFill>
                <a:latin typeface="Century Gothic" panose="020B0502020202020204" pitchFamily="34" charset="0"/>
              </a:rPr>
              <a:t>Ejemplo: </a:t>
            </a:r>
            <a:r>
              <a:rPr lang="es-ES">
                <a:solidFill>
                  <a:schemeClr val="accent1"/>
                </a:solidFill>
                <a:latin typeface="Century Gothic" panose="020B0502020202020204" pitchFamily="34" charset="0"/>
              </a:rPr>
              <a:t>Una compañía no tiene posibilidades de crecimiento. Actualmente su acción se negocia en el mercado de capitales a 120 USD. La compañía tiene hoy utilidades anuales de 25 USD por acción. La política de dividendos de la empresa es repartir el 100% de utilidades.</a:t>
            </a:r>
          </a:p>
          <a:p>
            <a:pPr marL="0" indent="0" algn="just">
              <a:buNone/>
            </a:pPr>
            <a:endParaRPr lang="es-ES">
              <a:solidFill>
                <a:schemeClr val="accent1"/>
              </a:solidFill>
              <a:latin typeface="Century Gothic" panose="020B0502020202020204" pitchFamily="34" charset="0"/>
            </a:endParaRPr>
          </a:p>
          <a:p>
            <a:pPr marL="0" indent="0" algn="just">
              <a:buNone/>
            </a:pPr>
            <a:r>
              <a:rPr lang="es-ES">
                <a:solidFill>
                  <a:schemeClr val="accent1"/>
                </a:solidFill>
                <a:latin typeface="Century Gothic" panose="020B0502020202020204" pitchFamily="34" charset="0"/>
              </a:rPr>
              <a:t>¿Cuál es el costo del equity de los accionistas?</a:t>
            </a:r>
          </a:p>
        </p:txBody>
      </p:sp>
      <p:pic>
        <p:nvPicPr>
          <p:cNvPr id="6" name="Picture 5">
            <a:extLst>
              <a:ext uri="{FF2B5EF4-FFF2-40B4-BE49-F238E27FC236}">
                <a16:creationId xmlns:a16="http://schemas.microsoft.com/office/drawing/2014/main" id="{501F7191-E45A-AFFF-6F78-A792EA27151F}"/>
              </a:ext>
            </a:extLst>
          </p:cNvPr>
          <p:cNvPicPr>
            <a:picLocks noChangeAspect="1"/>
          </p:cNvPicPr>
          <p:nvPr/>
        </p:nvPicPr>
        <p:blipFill>
          <a:blip r:embed="rId3"/>
          <a:stretch>
            <a:fillRect/>
          </a:stretch>
        </p:blipFill>
        <p:spPr>
          <a:xfrm>
            <a:off x="5029200" y="4535174"/>
            <a:ext cx="1955800" cy="952500"/>
          </a:xfrm>
          <a:prstGeom prst="rect">
            <a:avLst/>
          </a:prstGeom>
        </p:spPr>
      </p:pic>
      <p:pic>
        <p:nvPicPr>
          <p:cNvPr id="7" name="Picture 8">
            <a:extLst>
              <a:ext uri="{FF2B5EF4-FFF2-40B4-BE49-F238E27FC236}">
                <a16:creationId xmlns:a16="http://schemas.microsoft.com/office/drawing/2014/main" id="{08D780BF-BA46-4990-F40A-FB6B4F5AECAF}"/>
              </a:ext>
            </a:extLst>
          </p:cNvPr>
          <p:cNvPicPr>
            <a:picLocks noChangeAspect="1"/>
          </p:cNvPicPr>
          <p:nvPr/>
        </p:nvPicPr>
        <p:blipFill>
          <a:blip r:embed="rId4"/>
          <a:stretch>
            <a:fillRect/>
          </a:stretch>
        </p:blipFill>
        <p:spPr>
          <a:xfrm>
            <a:off x="4940300" y="5860692"/>
            <a:ext cx="2311400" cy="444500"/>
          </a:xfrm>
          <a:prstGeom prst="rect">
            <a:avLst/>
          </a:prstGeom>
        </p:spPr>
      </p:pic>
      <p:sp>
        <p:nvSpPr>
          <p:cNvPr id="8" name="Marcador de número de diapositiva 3">
            <a:extLst>
              <a:ext uri="{FF2B5EF4-FFF2-40B4-BE49-F238E27FC236}">
                <a16:creationId xmlns:a16="http://schemas.microsoft.com/office/drawing/2014/main" id="{2BC109A7-60B0-1DD3-805C-FE22D7EF62FA}"/>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27</a:t>
            </a:fld>
            <a:endParaRPr lang="en-US" sz="2000" b="1">
              <a:latin typeface="Century Gothic" panose="020B0502020202020204" pitchFamily="34" charset="0"/>
            </a:endParaRPr>
          </a:p>
        </p:txBody>
      </p:sp>
    </p:spTree>
    <p:extLst>
      <p:ext uri="{BB962C8B-B14F-4D97-AF65-F5344CB8AC3E}">
        <p14:creationId xmlns:p14="http://schemas.microsoft.com/office/powerpoint/2010/main" val="4128218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CF9972-3080-353B-F698-1DC5DC3B94D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B660087-582B-5351-FF77-90765E9BEE02}"/>
              </a:ext>
            </a:extLst>
          </p:cNvPr>
          <p:cNvSpPr>
            <a:spLocks noGrp="1"/>
          </p:cNvSpPr>
          <p:nvPr>
            <p:ph type="title"/>
          </p:nvPr>
        </p:nvSpPr>
        <p:spPr/>
        <p:txBody>
          <a:bodyPr>
            <a:normAutofit/>
          </a:bodyPr>
          <a:lstStyle/>
          <a:p>
            <a:r>
              <a:rPr lang="es-ES">
                <a:latin typeface="Century Gothic" panose="020B0502020202020204" pitchFamily="34" charset="0"/>
              </a:rPr>
              <a:t>Costo del equity</a:t>
            </a:r>
          </a:p>
        </p:txBody>
      </p:sp>
      <p:sp>
        <p:nvSpPr>
          <p:cNvPr id="9" name="Rectángulo 8">
            <a:extLst>
              <a:ext uri="{FF2B5EF4-FFF2-40B4-BE49-F238E27FC236}">
                <a16:creationId xmlns:a16="http://schemas.microsoft.com/office/drawing/2014/main" id="{3A6FA1E0-AC03-EDBD-E3FF-43ECDA790C15}"/>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2EA6D82F-1E10-99EC-AEBB-B754C0D1588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090BF8F6-F8B2-63C3-73F8-CD65761E825C}"/>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pic>
        <p:nvPicPr>
          <p:cNvPr id="3" name="Picture 2">
            <a:extLst>
              <a:ext uri="{FF2B5EF4-FFF2-40B4-BE49-F238E27FC236}">
                <a16:creationId xmlns:a16="http://schemas.microsoft.com/office/drawing/2014/main" id="{67D9EABE-55B7-7D54-187A-DBC04D57DEEB}"/>
              </a:ext>
            </a:extLst>
          </p:cNvPr>
          <p:cNvPicPr>
            <a:picLocks noChangeAspect="1"/>
          </p:cNvPicPr>
          <p:nvPr/>
        </p:nvPicPr>
        <p:blipFill>
          <a:blip r:embed="rId3"/>
          <a:stretch>
            <a:fillRect/>
          </a:stretch>
        </p:blipFill>
        <p:spPr>
          <a:xfrm>
            <a:off x="5118100" y="3726813"/>
            <a:ext cx="1955800" cy="952500"/>
          </a:xfrm>
          <a:prstGeom prst="rect">
            <a:avLst/>
          </a:prstGeom>
        </p:spPr>
      </p:pic>
      <p:sp>
        <p:nvSpPr>
          <p:cNvPr id="6" name="Marcador de contenido 2">
            <a:extLst>
              <a:ext uri="{FF2B5EF4-FFF2-40B4-BE49-F238E27FC236}">
                <a16:creationId xmlns:a16="http://schemas.microsoft.com/office/drawing/2014/main" id="{00D7A7B9-10BE-0720-91F1-92CA254881D5}"/>
              </a:ext>
            </a:extLst>
          </p:cNvPr>
          <p:cNvSpPr txBox="1">
            <a:spLocks/>
          </p:cNvSpPr>
          <p:nvPr/>
        </p:nvSpPr>
        <p:spPr>
          <a:xfrm>
            <a:off x="1646959" y="2482323"/>
            <a:ext cx="8794200" cy="1720740"/>
          </a:xfrm>
          <a:prstGeom prst="rect">
            <a:avLst/>
          </a:prstGeom>
        </p:spPr>
        <p:txBody>
          <a:bodyPr vert="horz" lIns="91440" tIns="45720" rIns="91440" bIns="45720" rtlCol="0">
            <a:normAutofit/>
          </a:bodyPr>
          <a:lstStyle>
            <a:lvl1pPr marL="342900" indent="-342900" algn="l" defTabSz="914400" rtl="0" eaLnBrk="1" latinLnBrk="0" hangingPunct="1">
              <a:spcBef>
                <a:spcPts val="20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2pPr>
            <a:lvl3pPr marL="10350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3pPr>
            <a:lvl4pPr marL="13716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4pPr>
            <a:lvl5pPr marL="17208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5pPr>
            <a:lvl6pPr marL="2055813"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6pPr>
            <a:lvl7pPr marL="2398713" indent="-344488" algn="l" defTabSz="914400" rtl="0" eaLnBrk="1" latinLnBrk="0" hangingPunct="1">
              <a:spcBef>
                <a:spcPct val="20000"/>
              </a:spcBef>
              <a:buClr>
                <a:schemeClr val="accent1"/>
              </a:buClr>
              <a:buFont typeface="Wingdings 2" pitchFamily="18" charset="2"/>
              <a:buChar char=""/>
              <a:defRPr lang="en-US" sz="1800" kern="1200" dirty="0" smtClean="0">
                <a:solidFill>
                  <a:schemeClr val="tx1">
                    <a:lumMod val="65000"/>
                    <a:lumOff val="35000"/>
                  </a:schemeClr>
                </a:solidFill>
                <a:latin typeface="+mn-lt"/>
                <a:ea typeface="+mn-ea"/>
                <a:cs typeface="+mn-cs"/>
              </a:defRPr>
            </a:lvl7pPr>
            <a:lvl8pPr marL="2743200"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8pPr>
            <a:lvl9pPr marL="3087688" indent="-344488" algn="l" defTabSz="914400" rtl="0" eaLnBrk="1" latinLnBrk="0" hangingPunct="1">
              <a:spcBef>
                <a:spcPct val="20000"/>
              </a:spcBef>
              <a:buClr>
                <a:schemeClr val="accent1"/>
              </a:buClr>
              <a:buFont typeface="Wingdings 2" pitchFamily="18" charset="2"/>
              <a:buChar char=""/>
              <a:defRPr lang="en-US" sz="1800" kern="1200" dirty="0">
                <a:solidFill>
                  <a:schemeClr val="tx1">
                    <a:lumMod val="65000"/>
                    <a:lumOff val="35000"/>
                  </a:schemeClr>
                </a:solidFill>
                <a:latin typeface="+mn-lt"/>
                <a:ea typeface="+mn-ea"/>
                <a:cs typeface="+mn-cs"/>
              </a:defRPr>
            </a:lvl9pPr>
          </a:lstStyle>
          <a:p>
            <a:pPr marL="0" indent="0" algn="just">
              <a:buNone/>
            </a:pPr>
            <a:r>
              <a:rPr lang="es-ES" sz="1800">
                <a:solidFill>
                  <a:schemeClr val="accent1"/>
                </a:solidFill>
                <a:latin typeface="Century Gothic" panose="020B0502020202020204" pitchFamily="34" charset="0"/>
              </a:rPr>
              <a:t>En el caso en el cual no existen oportunidades de crecimiento (g = 0), y asumiendo que todas las utilidades se reparten como dividendos, se llega a una relación muy conocida:</a:t>
            </a:r>
          </a:p>
        </p:txBody>
      </p:sp>
      <p:sp>
        <p:nvSpPr>
          <p:cNvPr id="7" name="Marcador de número de diapositiva 3">
            <a:extLst>
              <a:ext uri="{FF2B5EF4-FFF2-40B4-BE49-F238E27FC236}">
                <a16:creationId xmlns:a16="http://schemas.microsoft.com/office/drawing/2014/main" id="{2BFE7A49-36E4-95AD-F6EF-A98DEEFB8584}"/>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28</a:t>
            </a:fld>
            <a:endParaRPr lang="en-US" sz="2000" b="1">
              <a:latin typeface="Century Gothic" panose="020B0502020202020204" pitchFamily="34" charset="0"/>
            </a:endParaRPr>
          </a:p>
        </p:txBody>
      </p:sp>
    </p:spTree>
    <p:extLst>
      <p:ext uri="{BB962C8B-B14F-4D97-AF65-F5344CB8AC3E}">
        <p14:creationId xmlns:p14="http://schemas.microsoft.com/office/powerpoint/2010/main" val="28521263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029B08-43DD-7861-F201-7D2958E92DA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174E4EF-F3F3-273C-5C39-68BE97B5C981}"/>
              </a:ext>
            </a:extLst>
          </p:cNvPr>
          <p:cNvSpPr>
            <a:spLocks noGrp="1"/>
          </p:cNvSpPr>
          <p:nvPr>
            <p:ph type="title"/>
          </p:nvPr>
        </p:nvSpPr>
        <p:spPr/>
        <p:txBody>
          <a:bodyPr>
            <a:normAutofit/>
          </a:bodyPr>
          <a:lstStyle/>
          <a:p>
            <a:r>
              <a:rPr lang="es-ES">
                <a:latin typeface="Century Gothic" panose="020B0502020202020204" pitchFamily="34" charset="0"/>
              </a:rPr>
              <a:t>Costo del equity</a:t>
            </a:r>
          </a:p>
        </p:txBody>
      </p:sp>
      <p:sp>
        <p:nvSpPr>
          <p:cNvPr id="9" name="Rectángulo 8">
            <a:extLst>
              <a:ext uri="{FF2B5EF4-FFF2-40B4-BE49-F238E27FC236}">
                <a16:creationId xmlns:a16="http://schemas.microsoft.com/office/drawing/2014/main" id="{28EBD99C-3E00-AD10-F5C7-981E898CB6CD}"/>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C9E42A49-5B2C-7A12-09E8-61737CA60AA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2CD7E18F-5F0E-AC67-DFA5-8285F4661BBA}"/>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 name="Marcador de contenido 2">
            <a:extLst>
              <a:ext uri="{FF2B5EF4-FFF2-40B4-BE49-F238E27FC236}">
                <a16:creationId xmlns:a16="http://schemas.microsoft.com/office/drawing/2014/main" id="{2A5F063C-50E7-19D3-B50F-A95095F7D0A0}"/>
              </a:ext>
            </a:extLst>
          </p:cNvPr>
          <p:cNvSpPr>
            <a:spLocks noGrp="1"/>
          </p:cNvSpPr>
          <p:nvPr>
            <p:ph idx="1"/>
          </p:nvPr>
        </p:nvSpPr>
        <p:spPr>
          <a:xfrm>
            <a:off x="729343" y="1777570"/>
            <a:ext cx="10733314" cy="1673487"/>
          </a:xfrm>
        </p:spPr>
        <p:txBody>
          <a:bodyPr>
            <a:normAutofit/>
          </a:bodyPr>
          <a:lstStyle/>
          <a:p>
            <a:pPr marL="0" indent="0" algn="just">
              <a:buNone/>
            </a:pPr>
            <a:r>
              <a:rPr lang="es-ES" b="1">
                <a:solidFill>
                  <a:schemeClr val="accent1"/>
                </a:solidFill>
                <a:latin typeface="Century Gothic" panose="020B0502020202020204" pitchFamily="34" charset="0"/>
              </a:rPr>
              <a:t>Ejemplo: </a:t>
            </a:r>
            <a:r>
              <a:rPr lang="es-ES">
                <a:solidFill>
                  <a:schemeClr val="accent1"/>
                </a:solidFill>
                <a:latin typeface="Century Gothic" panose="020B0502020202020204" pitchFamily="34" charset="0"/>
              </a:rPr>
              <a:t>Una compañía tiene posibilidades de crecimiento en el largo plazo. Actualmente su acción se negocia en el mercado de capitales a 120 USD. La compañía espera hoy utilidades anuales de 25 USD por acción. La política de dividendos de la empresa es repartir el 80% de utilidades. El crecimiento esperado para los próximos años es del 3%. </a:t>
            </a:r>
            <a:r>
              <a:rPr lang="es-ES" b="1">
                <a:solidFill>
                  <a:srgbClr val="C00000"/>
                </a:solidFill>
                <a:latin typeface="Century Gothic" panose="020B0502020202020204" pitchFamily="34" charset="0"/>
              </a:rPr>
              <a:t>¿Cuál es el costo del equity de los accionistas?</a:t>
            </a:r>
          </a:p>
        </p:txBody>
      </p:sp>
      <p:pic>
        <p:nvPicPr>
          <p:cNvPr id="6" name="Imagen 10">
            <a:extLst>
              <a:ext uri="{FF2B5EF4-FFF2-40B4-BE49-F238E27FC236}">
                <a16:creationId xmlns:a16="http://schemas.microsoft.com/office/drawing/2014/main" id="{6FB80315-4AEE-3EEB-BC58-756F34120A1D}"/>
              </a:ext>
            </a:extLst>
          </p:cNvPr>
          <p:cNvPicPr>
            <a:picLocks noChangeAspect="1"/>
          </p:cNvPicPr>
          <p:nvPr/>
        </p:nvPicPr>
        <p:blipFill>
          <a:blip r:embed="rId3"/>
          <a:stretch>
            <a:fillRect/>
          </a:stretch>
        </p:blipFill>
        <p:spPr>
          <a:xfrm>
            <a:off x="6778038" y="3724876"/>
            <a:ext cx="3355643" cy="368039"/>
          </a:xfrm>
          <a:prstGeom prst="rect">
            <a:avLst/>
          </a:prstGeom>
        </p:spPr>
      </p:pic>
      <p:pic>
        <p:nvPicPr>
          <p:cNvPr id="7" name="Imagen 11">
            <a:extLst>
              <a:ext uri="{FF2B5EF4-FFF2-40B4-BE49-F238E27FC236}">
                <a16:creationId xmlns:a16="http://schemas.microsoft.com/office/drawing/2014/main" id="{D53E0282-34E3-AA4B-8972-E3708A3F4FF5}"/>
              </a:ext>
            </a:extLst>
          </p:cNvPr>
          <p:cNvPicPr>
            <a:picLocks noChangeAspect="1"/>
          </p:cNvPicPr>
          <p:nvPr/>
        </p:nvPicPr>
        <p:blipFill>
          <a:blip r:embed="rId4"/>
          <a:stretch>
            <a:fillRect/>
          </a:stretch>
        </p:blipFill>
        <p:spPr>
          <a:xfrm>
            <a:off x="6229544" y="4181753"/>
            <a:ext cx="4503055" cy="400512"/>
          </a:xfrm>
          <a:prstGeom prst="rect">
            <a:avLst/>
          </a:prstGeom>
        </p:spPr>
      </p:pic>
      <p:pic>
        <p:nvPicPr>
          <p:cNvPr id="8" name="Imagen 12">
            <a:extLst>
              <a:ext uri="{FF2B5EF4-FFF2-40B4-BE49-F238E27FC236}">
                <a16:creationId xmlns:a16="http://schemas.microsoft.com/office/drawing/2014/main" id="{F049C4F5-8B57-C0B7-1BD9-7369BADCCD51}"/>
              </a:ext>
            </a:extLst>
          </p:cNvPr>
          <p:cNvPicPr>
            <a:picLocks noChangeAspect="1"/>
          </p:cNvPicPr>
          <p:nvPr/>
        </p:nvPicPr>
        <p:blipFill rotWithShape="1">
          <a:blip r:embed="rId5"/>
          <a:srcRect r="48382"/>
          <a:stretch/>
        </p:blipFill>
        <p:spPr>
          <a:xfrm>
            <a:off x="3816602" y="3714457"/>
            <a:ext cx="1951768" cy="817546"/>
          </a:xfrm>
          <a:prstGeom prst="rect">
            <a:avLst/>
          </a:prstGeom>
        </p:spPr>
      </p:pic>
      <p:pic>
        <p:nvPicPr>
          <p:cNvPr id="10" name="Imagen 13">
            <a:extLst>
              <a:ext uri="{FF2B5EF4-FFF2-40B4-BE49-F238E27FC236}">
                <a16:creationId xmlns:a16="http://schemas.microsoft.com/office/drawing/2014/main" id="{5AE98B58-E25B-5208-D917-091D9ACC0E38}"/>
              </a:ext>
            </a:extLst>
          </p:cNvPr>
          <p:cNvPicPr>
            <a:picLocks noChangeAspect="1"/>
          </p:cNvPicPr>
          <p:nvPr/>
        </p:nvPicPr>
        <p:blipFill>
          <a:blip r:embed="rId6"/>
          <a:stretch>
            <a:fillRect/>
          </a:stretch>
        </p:blipFill>
        <p:spPr>
          <a:xfrm>
            <a:off x="4441458" y="6054545"/>
            <a:ext cx="2311400" cy="444500"/>
          </a:xfrm>
          <a:prstGeom prst="rect">
            <a:avLst/>
          </a:prstGeom>
        </p:spPr>
      </p:pic>
      <p:pic>
        <p:nvPicPr>
          <p:cNvPr id="12" name="Imagen 14">
            <a:extLst>
              <a:ext uri="{FF2B5EF4-FFF2-40B4-BE49-F238E27FC236}">
                <a16:creationId xmlns:a16="http://schemas.microsoft.com/office/drawing/2014/main" id="{FB7CD5B5-8307-5886-93F7-12F39EAA80CE}"/>
              </a:ext>
            </a:extLst>
          </p:cNvPr>
          <p:cNvPicPr>
            <a:picLocks noChangeAspect="1"/>
          </p:cNvPicPr>
          <p:nvPr/>
        </p:nvPicPr>
        <p:blipFill>
          <a:blip r:embed="rId5"/>
          <a:stretch>
            <a:fillRect/>
          </a:stretch>
        </p:blipFill>
        <p:spPr>
          <a:xfrm>
            <a:off x="3661616" y="4882956"/>
            <a:ext cx="3781152" cy="817546"/>
          </a:xfrm>
          <a:prstGeom prst="rect">
            <a:avLst/>
          </a:prstGeom>
        </p:spPr>
      </p:pic>
      <p:sp>
        <p:nvSpPr>
          <p:cNvPr id="13" name="Cerrar llave 1">
            <a:extLst>
              <a:ext uri="{FF2B5EF4-FFF2-40B4-BE49-F238E27FC236}">
                <a16:creationId xmlns:a16="http://schemas.microsoft.com/office/drawing/2014/main" id="{601F7D6F-B390-C8B8-CA41-E66059AE11FA}"/>
              </a:ext>
            </a:extLst>
          </p:cNvPr>
          <p:cNvSpPr/>
          <p:nvPr/>
        </p:nvSpPr>
        <p:spPr>
          <a:xfrm>
            <a:off x="5768370" y="3663044"/>
            <a:ext cx="352320" cy="923823"/>
          </a:xfrm>
          <a:prstGeom prst="rightBrace">
            <a:avLst/>
          </a:prstGeom>
          <a:ln w="28575">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O"/>
          </a:p>
        </p:txBody>
      </p:sp>
      <p:pic>
        <p:nvPicPr>
          <p:cNvPr id="14" name="Imagen 15">
            <a:extLst>
              <a:ext uri="{FF2B5EF4-FFF2-40B4-BE49-F238E27FC236}">
                <a16:creationId xmlns:a16="http://schemas.microsoft.com/office/drawing/2014/main" id="{B3B32C63-F133-AAA4-BB0F-F9485D4B0127}"/>
              </a:ext>
            </a:extLst>
          </p:cNvPr>
          <p:cNvPicPr>
            <a:picLocks noChangeAspect="1"/>
          </p:cNvPicPr>
          <p:nvPr/>
        </p:nvPicPr>
        <p:blipFill>
          <a:blip r:embed="rId7"/>
          <a:stretch>
            <a:fillRect/>
          </a:stretch>
        </p:blipFill>
        <p:spPr>
          <a:xfrm>
            <a:off x="1207486" y="3714457"/>
            <a:ext cx="1951768" cy="855855"/>
          </a:xfrm>
          <a:prstGeom prst="rect">
            <a:avLst/>
          </a:prstGeom>
        </p:spPr>
      </p:pic>
      <p:sp>
        <p:nvSpPr>
          <p:cNvPr id="15" name="Flecha: a la derecha 9">
            <a:extLst>
              <a:ext uri="{FF2B5EF4-FFF2-40B4-BE49-F238E27FC236}">
                <a16:creationId xmlns:a16="http://schemas.microsoft.com/office/drawing/2014/main" id="{DCD93E8E-67FE-E29B-81B7-29DF69247F35}"/>
              </a:ext>
            </a:extLst>
          </p:cNvPr>
          <p:cNvSpPr/>
          <p:nvPr/>
        </p:nvSpPr>
        <p:spPr>
          <a:xfrm>
            <a:off x="3311912" y="4019763"/>
            <a:ext cx="324874" cy="248741"/>
          </a:xfrm>
          <a:prstGeom prst="rightArrow">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mc:AlternateContent xmlns:mc="http://schemas.openxmlformats.org/markup-compatibility/2006">
        <mc:Choice xmlns:a14="http://schemas.microsoft.com/office/drawing/2010/main" Requires="a14">
          <p:sp>
            <p:nvSpPr>
              <p:cNvPr id="16" name="CuadroTexto 16">
                <a:extLst>
                  <a:ext uri="{FF2B5EF4-FFF2-40B4-BE49-F238E27FC236}">
                    <a16:creationId xmlns:a16="http://schemas.microsoft.com/office/drawing/2014/main" id="{8B56B3E3-F45A-034C-01F6-AA302324FE38}"/>
                  </a:ext>
                </a:extLst>
              </p:cNvPr>
              <p:cNvSpPr txBox="1"/>
              <p:nvPr/>
            </p:nvSpPr>
            <p:spPr>
              <a:xfrm>
                <a:off x="7448058" y="5045187"/>
                <a:ext cx="391133"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CO" sz="2800" b="0" i="1" smtClean="0">
                          <a:solidFill>
                            <a:schemeClr val="tx1"/>
                          </a:solidFill>
                          <a:latin typeface="Cambria Math" panose="02040503050406030204" pitchFamily="18" charset="0"/>
                        </a:rPr>
                        <m:t>%</m:t>
                      </m:r>
                    </m:oMath>
                  </m:oMathPara>
                </a14:m>
                <a:endParaRPr lang="es-CO" sz="2800">
                  <a:solidFill>
                    <a:schemeClr val="tx1"/>
                  </a:solidFill>
                </a:endParaRPr>
              </a:p>
            </p:txBody>
          </p:sp>
        </mc:Choice>
        <mc:Fallback>
          <p:sp>
            <p:nvSpPr>
              <p:cNvPr id="16" name="CuadroTexto 16">
                <a:extLst>
                  <a:ext uri="{FF2B5EF4-FFF2-40B4-BE49-F238E27FC236}">
                    <a16:creationId xmlns:a16="http://schemas.microsoft.com/office/drawing/2014/main" id="{8B56B3E3-F45A-034C-01F6-AA302324FE38}"/>
                  </a:ext>
                </a:extLst>
              </p:cNvPr>
              <p:cNvSpPr txBox="1">
                <a:spLocks noRot="1" noChangeAspect="1" noMove="1" noResize="1" noEditPoints="1" noAdjustHandles="1" noChangeArrowheads="1" noChangeShapeType="1" noTextEdit="1"/>
              </p:cNvSpPr>
              <p:nvPr/>
            </p:nvSpPr>
            <p:spPr>
              <a:xfrm>
                <a:off x="7448058" y="5045187"/>
                <a:ext cx="391133" cy="430887"/>
              </a:xfrm>
              <a:prstGeom prst="rect">
                <a:avLst/>
              </a:prstGeom>
              <a:blipFill>
                <a:blip r:embed="rId8"/>
                <a:stretch>
                  <a:fillRect/>
                </a:stretch>
              </a:blipFill>
            </p:spPr>
            <p:txBody>
              <a:bodyPr/>
              <a:lstStyle/>
              <a:p>
                <a:r>
                  <a:rPr lang="en-US">
                    <a:noFill/>
                  </a:rPr>
                  <a:t> </a:t>
                </a:r>
              </a:p>
            </p:txBody>
          </p:sp>
        </mc:Fallback>
      </mc:AlternateContent>
      <p:sp>
        <p:nvSpPr>
          <p:cNvPr id="17" name="Marcador de número de diapositiva 3">
            <a:extLst>
              <a:ext uri="{FF2B5EF4-FFF2-40B4-BE49-F238E27FC236}">
                <a16:creationId xmlns:a16="http://schemas.microsoft.com/office/drawing/2014/main" id="{A3D42F61-3F19-CA00-B113-9604D332AC2A}"/>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29</a:t>
            </a:fld>
            <a:endParaRPr lang="en-US" sz="2000" b="1">
              <a:latin typeface="Century Gothic" panose="020B0502020202020204" pitchFamily="34" charset="0"/>
            </a:endParaRPr>
          </a:p>
        </p:txBody>
      </p:sp>
    </p:spTree>
    <p:extLst>
      <p:ext uri="{BB962C8B-B14F-4D97-AF65-F5344CB8AC3E}">
        <p14:creationId xmlns:p14="http://schemas.microsoft.com/office/powerpoint/2010/main" val="12130073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5" grpId="0" animBg="1"/>
      <p:bldP spid="16"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69DF56-2D09-B066-BE13-6AB322657E4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0C7C6B7-1354-873A-6A61-1A54E8FB7A3B}"/>
              </a:ext>
            </a:extLst>
          </p:cNvPr>
          <p:cNvSpPr>
            <a:spLocks noGrp="1"/>
          </p:cNvSpPr>
          <p:nvPr>
            <p:ph type="title"/>
          </p:nvPr>
        </p:nvSpPr>
        <p:spPr/>
        <p:txBody>
          <a:bodyPr>
            <a:normAutofit/>
          </a:bodyPr>
          <a:lstStyle/>
          <a:p>
            <a:r>
              <a:rPr lang="es-ES">
                <a:latin typeface="Century Gothic" panose="020B0502020202020204" pitchFamily="34" charset="0"/>
              </a:rPr>
              <a:t>Costo del equity</a:t>
            </a:r>
          </a:p>
        </p:txBody>
      </p:sp>
      <p:sp>
        <p:nvSpPr>
          <p:cNvPr id="9" name="Rectángulo 8">
            <a:extLst>
              <a:ext uri="{FF2B5EF4-FFF2-40B4-BE49-F238E27FC236}">
                <a16:creationId xmlns:a16="http://schemas.microsoft.com/office/drawing/2014/main" id="{971BB458-584F-E658-506D-0730650281BF}"/>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A5F3FF42-5939-D91E-0D43-411DC057911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E0CE4371-6810-9F4E-97DF-DA385871C107}"/>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 name="Marcador de contenido 2">
            <a:extLst>
              <a:ext uri="{FF2B5EF4-FFF2-40B4-BE49-F238E27FC236}">
                <a16:creationId xmlns:a16="http://schemas.microsoft.com/office/drawing/2014/main" id="{C52EB5C8-9D3A-B800-8FEF-9C1D71F97684}"/>
              </a:ext>
            </a:extLst>
          </p:cNvPr>
          <p:cNvSpPr>
            <a:spLocks noGrp="1"/>
          </p:cNvSpPr>
          <p:nvPr>
            <p:ph idx="1"/>
          </p:nvPr>
        </p:nvSpPr>
        <p:spPr>
          <a:xfrm>
            <a:off x="730800" y="2788692"/>
            <a:ext cx="10730401" cy="1578874"/>
          </a:xfrm>
        </p:spPr>
        <p:txBody>
          <a:bodyPr>
            <a:normAutofit/>
          </a:bodyPr>
          <a:lstStyle/>
          <a:p>
            <a:pPr algn="just"/>
            <a:r>
              <a:rPr lang="es-ES">
                <a:solidFill>
                  <a:schemeClr val="accent1"/>
                </a:solidFill>
                <a:latin typeface="Century Gothic" panose="020B0502020202020204" pitchFamily="34" charset="0"/>
              </a:rPr>
              <a:t>Ahora, una segunda aproximación al costo de capital es analizar la financiación a través de emisión de acciones.</a:t>
            </a:r>
          </a:p>
          <a:p>
            <a:pPr algn="just"/>
            <a:r>
              <a:rPr lang="es-ES">
                <a:solidFill>
                  <a:schemeClr val="accent1"/>
                </a:solidFill>
                <a:latin typeface="Century Gothic" panose="020B0502020202020204" pitchFamily="34" charset="0"/>
              </a:rPr>
              <a:t>En este caso, el modelo de Gordon – Shapiro será nuestra base y sólo habrá que hacerle unas pequeñas modificaciones.</a:t>
            </a:r>
          </a:p>
        </p:txBody>
      </p:sp>
      <p:pic>
        <p:nvPicPr>
          <p:cNvPr id="6" name="Picture 5">
            <a:extLst>
              <a:ext uri="{FF2B5EF4-FFF2-40B4-BE49-F238E27FC236}">
                <a16:creationId xmlns:a16="http://schemas.microsoft.com/office/drawing/2014/main" id="{07A33F41-DAE7-2A83-FB25-EAA9012D3539}"/>
              </a:ext>
            </a:extLst>
          </p:cNvPr>
          <p:cNvPicPr>
            <a:picLocks noChangeAspect="1"/>
          </p:cNvPicPr>
          <p:nvPr/>
        </p:nvPicPr>
        <p:blipFill>
          <a:blip r:embed="rId3"/>
          <a:stretch>
            <a:fillRect/>
          </a:stretch>
        </p:blipFill>
        <p:spPr>
          <a:xfrm>
            <a:off x="6757193" y="4659021"/>
            <a:ext cx="2298700" cy="1016000"/>
          </a:xfrm>
          <a:prstGeom prst="rect">
            <a:avLst/>
          </a:prstGeom>
        </p:spPr>
      </p:pic>
      <p:pic>
        <p:nvPicPr>
          <p:cNvPr id="7" name="Imagen 1">
            <a:extLst>
              <a:ext uri="{FF2B5EF4-FFF2-40B4-BE49-F238E27FC236}">
                <a16:creationId xmlns:a16="http://schemas.microsoft.com/office/drawing/2014/main" id="{E7A2FD02-BB24-42DB-5D37-55D4F9D4268E}"/>
              </a:ext>
            </a:extLst>
          </p:cNvPr>
          <p:cNvPicPr>
            <a:picLocks noChangeAspect="1"/>
          </p:cNvPicPr>
          <p:nvPr/>
        </p:nvPicPr>
        <p:blipFill>
          <a:blip r:embed="rId4"/>
          <a:stretch>
            <a:fillRect/>
          </a:stretch>
        </p:blipFill>
        <p:spPr>
          <a:xfrm>
            <a:off x="3297767" y="4659021"/>
            <a:ext cx="2197100" cy="1041400"/>
          </a:xfrm>
          <a:prstGeom prst="rect">
            <a:avLst/>
          </a:prstGeom>
        </p:spPr>
      </p:pic>
      <p:sp>
        <p:nvSpPr>
          <p:cNvPr id="8" name="Rectángulo 4">
            <a:extLst>
              <a:ext uri="{FF2B5EF4-FFF2-40B4-BE49-F238E27FC236}">
                <a16:creationId xmlns:a16="http://schemas.microsoft.com/office/drawing/2014/main" id="{F0B9573C-5B27-10E8-F1FB-3990F888D668}"/>
              </a:ext>
            </a:extLst>
          </p:cNvPr>
          <p:cNvSpPr/>
          <p:nvPr/>
        </p:nvSpPr>
        <p:spPr>
          <a:xfrm>
            <a:off x="403612" y="2363597"/>
            <a:ext cx="3365024" cy="369332"/>
          </a:xfrm>
          <a:prstGeom prst="rect">
            <a:avLst/>
          </a:prstGeom>
        </p:spPr>
        <p:txBody>
          <a:bodyPr wrap="none">
            <a:spAutoFit/>
          </a:bodyPr>
          <a:lstStyle/>
          <a:p>
            <a:pPr marL="612900" lvl="2" algn="just"/>
            <a:r>
              <a:rPr lang="es-ES" b="1">
                <a:solidFill>
                  <a:schemeClr val="accent1"/>
                </a:solidFill>
                <a:latin typeface="Century Gothic" panose="020B0502020202020204" pitchFamily="34" charset="0"/>
              </a:rPr>
              <a:t>B. Emisión de Acciones</a:t>
            </a:r>
          </a:p>
        </p:txBody>
      </p:sp>
      <p:sp>
        <p:nvSpPr>
          <p:cNvPr id="10" name="Marcador de número de diapositiva 3">
            <a:extLst>
              <a:ext uri="{FF2B5EF4-FFF2-40B4-BE49-F238E27FC236}">
                <a16:creationId xmlns:a16="http://schemas.microsoft.com/office/drawing/2014/main" id="{51CDB925-58D8-FC3F-6DAB-542BF8679E2C}"/>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30</a:t>
            </a:fld>
            <a:endParaRPr lang="en-US" sz="2000" b="1">
              <a:latin typeface="Century Gothic" panose="020B0502020202020204" pitchFamily="34" charset="0"/>
            </a:endParaRPr>
          </a:p>
        </p:txBody>
      </p:sp>
    </p:spTree>
    <p:extLst>
      <p:ext uri="{BB962C8B-B14F-4D97-AF65-F5344CB8AC3E}">
        <p14:creationId xmlns:p14="http://schemas.microsoft.com/office/powerpoint/2010/main" val="6983244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1BB986-D50E-E36C-B40F-9DC6CB5A9AF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2965188-42EA-A9E1-624B-62F2731706CE}"/>
              </a:ext>
            </a:extLst>
          </p:cNvPr>
          <p:cNvSpPr>
            <a:spLocks noGrp="1"/>
          </p:cNvSpPr>
          <p:nvPr>
            <p:ph type="title"/>
          </p:nvPr>
        </p:nvSpPr>
        <p:spPr/>
        <p:txBody>
          <a:bodyPr>
            <a:normAutofit/>
          </a:bodyPr>
          <a:lstStyle/>
          <a:p>
            <a:r>
              <a:rPr lang="es-ES">
                <a:latin typeface="Century Gothic" panose="020B0502020202020204" pitchFamily="34" charset="0"/>
              </a:rPr>
              <a:t>Costo del equity</a:t>
            </a:r>
          </a:p>
        </p:txBody>
      </p:sp>
      <p:sp>
        <p:nvSpPr>
          <p:cNvPr id="9" name="Rectángulo 8">
            <a:extLst>
              <a:ext uri="{FF2B5EF4-FFF2-40B4-BE49-F238E27FC236}">
                <a16:creationId xmlns:a16="http://schemas.microsoft.com/office/drawing/2014/main" id="{10E28434-6130-B39D-38A1-06A93D2AF541}"/>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83689A7B-1C3E-3F31-AE74-4FC6D05D5E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3003EFEA-F1E0-2536-8FC5-098732A34E9F}"/>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 name="Marcador de contenido 2">
            <a:extLst>
              <a:ext uri="{FF2B5EF4-FFF2-40B4-BE49-F238E27FC236}">
                <a16:creationId xmlns:a16="http://schemas.microsoft.com/office/drawing/2014/main" id="{735999E5-E6B3-9184-7989-E05BCCBCBC96}"/>
              </a:ext>
            </a:extLst>
          </p:cNvPr>
          <p:cNvSpPr>
            <a:spLocks noGrp="1"/>
          </p:cNvSpPr>
          <p:nvPr>
            <p:ph idx="1"/>
          </p:nvPr>
        </p:nvSpPr>
        <p:spPr>
          <a:xfrm>
            <a:off x="730128" y="2033766"/>
            <a:ext cx="10731745" cy="1745019"/>
          </a:xfrm>
        </p:spPr>
        <p:txBody>
          <a:bodyPr>
            <a:normAutofit/>
          </a:bodyPr>
          <a:lstStyle/>
          <a:p>
            <a:pPr marL="305435" indent="-305435" algn="just"/>
            <a:r>
              <a:rPr lang="es-ES">
                <a:solidFill>
                  <a:schemeClr val="accent1"/>
                </a:solidFill>
                <a:latin typeface="Century Gothic"/>
              </a:rPr>
              <a:t>En este caso, el Po hace referencia al costo de suscripción de la acción ajustado por los costos de transacción de dicho proceso (incluyendo el ahorro tributario).</a:t>
            </a:r>
          </a:p>
        </p:txBody>
      </p:sp>
      <p:pic>
        <p:nvPicPr>
          <p:cNvPr id="6" name="Picture 5">
            <a:extLst>
              <a:ext uri="{FF2B5EF4-FFF2-40B4-BE49-F238E27FC236}">
                <a16:creationId xmlns:a16="http://schemas.microsoft.com/office/drawing/2014/main" id="{A2E26C0E-9A75-97AD-1E8B-5D394E652940}"/>
              </a:ext>
            </a:extLst>
          </p:cNvPr>
          <p:cNvPicPr>
            <a:picLocks noChangeAspect="1"/>
          </p:cNvPicPr>
          <p:nvPr/>
        </p:nvPicPr>
        <p:blipFill>
          <a:blip r:embed="rId3"/>
          <a:stretch>
            <a:fillRect/>
          </a:stretch>
        </p:blipFill>
        <p:spPr>
          <a:xfrm>
            <a:off x="3600450" y="3827300"/>
            <a:ext cx="4991100" cy="469900"/>
          </a:xfrm>
          <a:prstGeom prst="rect">
            <a:avLst/>
          </a:prstGeom>
        </p:spPr>
      </p:pic>
      <p:pic>
        <p:nvPicPr>
          <p:cNvPr id="7" name="Picture 6">
            <a:extLst>
              <a:ext uri="{FF2B5EF4-FFF2-40B4-BE49-F238E27FC236}">
                <a16:creationId xmlns:a16="http://schemas.microsoft.com/office/drawing/2014/main" id="{11473D3A-AA9E-F23F-6533-0EA12EDF3BDE}"/>
              </a:ext>
            </a:extLst>
          </p:cNvPr>
          <p:cNvPicPr>
            <a:picLocks noChangeAspect="1"/>
          </p:cNvPicPr>
          <p:nvPr/>
        </p:nvPicPr>
        <p:blipFill>
          <a:blip r:embed="rId4"/>
          <a:stretch>
            <a:fillRect/>
          </a:stretch>
        </p:blipFill>
        <p:spPr>
          <a:xfrm>
            <a:off x="3257550" y="4883773"/>
            <a:ext cx="5676900" cy="1054100"/>
          </a:xfrm>
          <a:prstGeom prst="rect">
            <a:avLst/>
          </a:prstGeom>
        </p:spPr>
      </p:pic>
      <p:sp>
        <p:nvSpPr>
          <p:cNvPr id="8" name="Marcador de número de diapositiva 3">
            <a:extLst>
              <a:ext uri="{FF2B5EF4-FFF2-40B4-BE49-F238E27FC236}">
                <a16:creationId xmlns:a16="http://schemas.microsoft.com/office/drawing/2014/main" id="{3B27447D-80C8-C943-200E-65222128DCEC}"/>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31</a:t>
            </a:fld>
            <a:endParaRPr lang="en-US" sz="2000" b="1">
              <a:latin typeface="Century Gothic" panose="020B0502020202020204" pitchFamily="34" charset="0"/>
            </a:endParaRPr>
          </a:p>
        </p:txBody>
      </p:sp>
    </p:spTree>
    <p:extLst>
      <p:ext uri="{BB962C8B-B14F-4D97-AF65-F5344CB8AC3E}">
        <p14:creationId xmlns:p14="http://schemas.microsoft.com/office/powerpoint/2010/main" val="17455499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01C02E-8776-BE4E-082C-C56CE0E9194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639DF5A-1B78-0361-B935-FDD20C354869}"/>
              </a:ext>
            </a:extLst>
          </p:cNvPr>
          <p:cNvSpPr>
            <a:spLocks noGrp="1"/>
          </p:cNvSpPr>
          <p:nvPr>
            <p:ph type="title"/>
          </p:nvPr>
        </p:nvSpPr>
        <p:spPr/>
        <p:txBody>
          <a:bodyPr>
            <a:normAutofit/>
          </a:bodyPr>
          <a:lstStyle/>
          <a:p>
            <a:r>
              <a:rPr lang="es-ES">
                <a:latin typeface="Century Gothic" panose="020B0502020202020204" pitchFamily="34" charset="0"/>
              </a:rPr>
              <a:t>Costo del equity</a:t>
            </a:r>
          </a:p>
        </p:txBody>
      </p:sp>
      <p:sp>
        <p:nvSpPr>
          <p:cNvPr id="9" name="Rectángulo 8">
            <a:extLst>
              <a:ext uri="{FF2B5EF4-FFF2-40B4-BE49-F238E27FC236}">
                <a16:creationId xmlns:a16="http://schemas.microsoft.com/office/drawing/2014/main" id="{FAB68CD1-DF12-A834-F957-B1F3B2E74FBF}"/>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36838E3A-B4A0-3143-AC83-7B2E1566230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60E53F55-4989-03A7-B5E1-395BD26E04E3}"/>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 name="Marcador de contenido 2">
            <a:extLst>
              <a:ext uri="{FF2B5EF4-FFF2-40B4-BE49-F238E27FC236}">
                <a16:creationId xmlns:a16="http://schemas.microsoft.com/office/drawing/2014/main" id="{5FED4713-CCA4-6CA8-5C4B-25FA46285A4C}"/>
              </a:ext>
            </a:extLst>
          </p:cNvPr>
          <p:cNvSpPr>
            <a:spLocks noGrp="1"/>
          </p:cNvSpPr>
          <p:nvPr>
            <p:ph idx="1"/>
          </p:nvPr>
        </p:nvSpPr>
        <p:spPr>
          <a:xfrm>
            <a:off x="690017" y="2130065"/>
            <a:ext cx="10805297" cy="2050048"/>
          </a:xfrm>
        </p:spPr>
        <p:txBody>
          <a:bodyPr>
            <a:normAutofit/>
          </a:bodyPr>
          <a:lstStyle/>
          <a:p>
            <a:pPr marL="0" indent="0" algn="just">
              <a:buNone/>
            </a:pPr>
            <a:r>
              <a:rPr lang="es-ES" b="1">
                <a:solidFill>
                  <a:schemeClr val="accent1"/>
                </a:solidFill>
                <a:latin typeface="Century Gothic" panose="020B0502020202020204" pitchFamily="34" charset="0"/>
              </a:rPr>
              <a:t>Ejemplo: </a:t>
            </a:r>
            <a:r>
              <a:rPr lang="es-ES">
                <a:solidFill>
                  <a:schemeClr val="accent1"/>
                </a:solidFill>
                <a:latin typeface="Century Gothic" panose="020B0502020202020204" pitchFamily="34" charset="0"/>
              </a:rPr>
              <a:t>Usted desea comprar unas acciones que acaban de emitir a un precio de mercado de 100 USD. Los dividendos que usted espera recibir hoy (año cero) son de 5 USD y se espera que el crecimiento de los dividendos sea del 5%.</a:t>
            </a:r>
          </a:p>
          <a:p>
            <a:pPr marL="0" indent="0" algn="just">
              <a:buNone/>
            </a:pPr>
            <a:r>
              <a:rPr lang="es-ES">
                <a:solidFill>
                  <a:schemeClr val="accent1"/>
                </a:solidFill>
                <a:latin typeface="Century Gothic" panose="020B0502020202020204" pitchFamily="34" charset="0"/>
              </a:rPr>
              <a:t>Por la emisión de acciones, usted debe incurrir en una comisión del 2% del precio de la acción. La tasa de impuestos es 33%.</a:t>
            </a:r>
          </a:p>
          <a:p>
            <a:pPr marL="0" indent="0" algn="ctr">
              <a:buNone/>
            </a:pPr>
            <a:r>
              <a:rPr lang="es-ES" sz="2000">
                <a:solidFill>
                  <a:srgbClr val="C00000"/>
                </a:solidFill>
              </a:rPr>
              <a:t> </a:t>
            </a:r>
            <a:r>
              <a:rPr lang="es-ES" b="1">
                <a:solidFill>
                  <a:srgbClr val="C00000"/>
                </a:solidFill>
                <a:latin typeface="Century Gothic" panose="020B0502020202020204" pitchFamily="34" charset="0"/>
              </a:rPr>
              <a:t>¿Cuál es el costo del equity de los accionistas?</a:t>
            </a:r>
          </a:p>
        </p:txBody>
      </p:sp>
      <p:pic>
        <p:nvPicPr>
          <p:cNvPr id="6" name="Picture 1" descr="latex-image-1.pdf">
            <a:extLst>
              <a:ext uri="{FF2B5EF4-FFF2-40B4-BE49-F238E27FC236}">
                <a16:creationId xmlns:a16="http://schemas.microsoft.com/office/drawing/2014/main" id="{DD9E44A3-CD16-3B4B-F75B-8E2FB934C7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52686" y="4542281"/>
            <a:ext cx="5279957" cy="369298"/>
          </a:xfrm>
          <a:prstGeom prst="rect">
            <a:avLst/>
          </a:prstGeom>
        </p:spPr>
      </p:pic>
      <p:pic>
        <p:nvPicPr>
          <p:cNvPr id="7" name="Picture 2" descr="latex-image-1.pdf">
            <a:extLst>
              <a:ext uri="{FF2B5EF4-FFF2-40B4-BE49-F238E27FC236}">
                <a16:creationId xmlns:a16="http://schemas.microsoft.com/office/drawing/2014/main" id="{BAD6B8AB-4928-141B-1005-36EBD08C5614}"/>
              </a:ext>
            </a:extLst>
          </p:cNvPr>
          <p:cNvPicPr>
            <a:picLocks noChangeAspect="1"/>
          </p:cNvPicPr>
          <p:nvPr/>
        </p:nvPicPr>
        <p:blipFill rotWithShape="1">
          <a:blip r:embed="rId4">
            <a:extLst>
              <a:ext uri="{28A0092B-C50C-407E-A947-70E740481C1C}">
                <a14:useLocalDpi xmlns:a14="http://schemas.microsoft.com/office/drawing/2010/main" val="0"/>
              </a:ext>
            </a:extLst>
          </a:blip>
          <a:srcRect b="31493"/>
          <a:stretch/>
        </p:blipFill>
        <p:spPr>
          <a:xfrm>
            <a:off x="2528478" y="5386704"/>
            <a:ext cx="3978184" cy="600867"/>
          </a:xfrm>
          <a:prstGeom prst="rect">
            <a:avLst/>
          </a:prstGeom>
        </p:spPr>
      </p:pic>
      <p:pic>
        <p:nvPicPr>
          <p:cNvPr id="8" name="Picture 8" descr="latex-image-1.pdf">
            <a:extLst>
              <a:ext uri="{FF2B5EF4-FFF2-40B4-BE49-F238E27FC236}">
                <a16:creationId xmlns:a16="http://schemas.microsoft.com/office/drawing/2014/main" id="{AAF5945D-1E00-580A-A7E2-0DF3E5EB3A0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645583" y="5657390"/>
            <a:ext cx="1971651" cy="330181"/>
          </a:xfrm>
          <a:prstGeom prst="rect">
            <a:avLst/>
          </a:prstGeom>
        </p:spPr>
      </p:pic>
      <p:pic>
        <p:nvPicPr>
          <p:cNvPr id="10" name="Picture 1" descr="latex-image-1.pdf">
            <a:extLst>
              <a:ext uri="{FF2B5EF4-FFF2-40B4-BE49-F238E27FC236}">
                <a16:creationId xmlns:a16="http://schemas.microsoft.com/office/drawing/2014/main" id="{B9327173-1FDF-DA05-9115-B83F66619A47}"/>
              </a:ext>
            </a:extLst>
          </p:cNvPr>
          <p:cNvPicPr>
            <a:picLocks noChangeAspect="1"/>
          </p:cNvPicPr>
          <p:nvPr/>
        </p:nvPicPr>
        <p:blipFill rotWithShape="1">
          <a:blip r:embed="rId3">
            <a:extLst>
              <a:ext uri="{28A0092B-C50C-407E-A947-70E740481C1C}">
                <a14:useLocalDpi xmlns:a14="http://schemas.microsoft.com/office/drawing/2010/main" val="0"/>
              </a:ext>
            </a:extLst>
          </a:blip>
          <a:srcRect l="83120"/>
          <a:stretch/>
        </p:blipFill>
        <p:spPr>
          <a:xfrm>
            <a:off x="4062602" y="5896494"/>
            <a:ext cx="849031" cy="351803"/>
          </a:xfrm>
          <a:prstGeom prst="rect">
            <a:avLst/>
          </a:prstGeom>
        </p:spPr>
      </p:pic>
      <p:sp>
        <p:nvSpPr>
          <p:cNvPr id="12" name="Marcador de número de diapositiva 3">
            <a:extLst>
              <a:ext uri="{FF2B5EF4-FFF2-40B4-BE49-F238E27FC236}">
                <a16:creationId xmlns:a16="http://schemas.microsoft.com/office/drawing/2014/main" id="{06977591-B572-5D42-7422-CEFFD22F153F}"/>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32</a:t>
            </a:fld>
            <a:endParaRPr lang="en-US" sz="2000" b="1">
              <a:latin typeface="Century Gothic" panose="020B0502020202020204" pitchFamily="34" charset="0"/>
            </a:endParaRPr>
          </a:p>
        </p:txBody>
      </p:sp>
    </p:spTree>
    <p:extLst>
      <p:ext uri="{BB962C8B-B14F-4D97-AF65-F5344CB8AC3E}">
        <p14:creationId xmlns:p14="http://schemas.microsoft.com/office/powerpoint/2010/main" val="10673060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BCF0AE-A69E-C931-6E32-760AB4F424B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22B5648-689F-E7AB-093C-9B24ACA3CA9E}"/>
              </a:ext>
            </a:extLst>
          </p:cNvPr>
          <p:cNvSpPr>
            <a:spLocks noGrp="1"/>
          </p:cNvSpPr>
          <p:nvPr>
            <p:ph type="title"/>
          </p:nvPr>
        </p:nvSpPr>
        <p:spPr/>
        <p:txBody>
          <a:bodyPr>
            <a:normAutofit/>
          </a:bodyPr>
          <a:lstStyle/>
          <a:p>
            <a:r>
              <a:rPr lang="es-ES">
                <a:latin typeface="Century Gothic" panose="020B0502020202020204" pitchFamily="34" charset="0"/>
              </a:rPr>
              <a:t>Costo del </a:t>
            </a:r>
            <a:r>
              <a:rPr lang="es-ES" err="1">
                <a:latin typeface="Century Gothic" panose="020B0502020202020204" pitchFamily="34" charset="0"/>
              </a:rPr>
              <a:t>equity</a:t>
            </a:r>
            <a:endParaRPr lang="es-ES">
              <a:latin typeface="Century Gothic" panose="020B0502020202020204" pitchFamily="34" charset="0"/>
            </a:endParaRPr>
          </a:p>
        </p:txBody>
      </p:sp>
      <p:sp>
        <p:nvSpPr>
          <p:cNvPr id="9" name="Rectángulo 8">
            <a:extLst>
              <a:ext uri="{FF2B5EF4-FFF2-40B4-BE49-F238E27FC236}">
                <a16:creationId xmlns:a16="http://schemas.microsoft.com/office/drawing/2014/main" id="{669B601D-E283-6C39-6F36-97F78275818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0BC09AD0-402B-BE56-B704-178841C04BD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7DD2948F-B664-7C11-380A-CB01B9A7AEEE}"/>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pic>
        <p:nvPicPr>
          <p:cNvPr id="3" name="Picture 2">
            <a:extLst>
              <a:ext uri="{FF2B5EF4-FFF2-40B4-BE49-F238E27FC236}">
                <a16:creationId xmlns:a16="http://schemas.microsoft.com/office/drawing/2014/main" id="{FE03F4A7-6ED5-F042-684E-AF64FED00D5E}"/>
              </a:ext>
            </a:extLst>
          </p:cNvPr>
          <p:cNvPicPr>
            <a:picLocks noChangeAspect="1"/>
          </p:cNvPicPr>
          <p:nvPr/>
        </p:nvPicPr>
        <p:blipFill>
          <a:blip r:embed="rId3"/>
          <a:stretch>
            <a:fillRect/>
          </a:stretch>
        </p:blipFill>
        <p:spPr>
          <a:xfrm>
            <a:off x="2405987" y="4192465"/>
            <a:ext cx="7380026" cy="743798"/>
          </a:xfrm>
          <a:prstGeom prst="rect">
            <a:avLst/>
          </a:prstGeom>
        </p:spPr>
      </p:pic>
      <p:sp>
        <p:nvSpPr>
          <p:cNvPr id="6" name="Marcador de contenido 2">
            <a:extLst>
              <a:ext uri="{FF2B5EF4-FFF2-40B4-BE49-F238E27FC236}">
                <a16:creationId xmlns:a16="http://schemas.microsoft.com/office/drawing/2014/main" id="{AAE4FD81-8F53-FD96-2CBA-27F3ACCD3B59}"/>
              </a:ext>
            </a:extLst>
          </p:cNvPr>
          <p:cNvSpPr>
            <a:spLocks noGrp="1"/>
          </p:cNvSpPr>
          <p:nvPr>
            <p:ph idx="1"/>
          </p:nvPr>
        </p:nvSpPr>
        <p:spPr>
          <a:xfrm>
            <a:off x="1833126" y="5796243"/>
            <a:ext cx="8725174" cy="525019"/>
          </a:xfrm>
        </p:spPr>
        <p:txBody>
          <a:bodyPr>
            <a:normAutofit fontScale="92500" lnSpcReduction="20000"/>
          </a:bodyPr>
          <a:lstStyle/>
          <a:p>
            <a:pPr marL="0" indent="0" algn="just">
              <a:buNone/>
            </a:pPr>
            <a:r>
              <a:rPr lang="es-ES">
                <a:solidFill>
                  <a:schemeClr val="accent1"/>
                </a:solidFill>
                <a:latin typeface="Century Gothic" panose="020B0502020202020204" pitchFamily="34" charset="0"/>
              </a:rPr>
              <a:t>Recordemos que siempre se deben utilizar valores de mercado y no valores contables.</a:t>
            </a:r>
          </a:p>
        </p:txBody>
      </p:sp>
      <p:sp>
        <p:nvSpPr>
          <p:cNvPr id="7" name="Rectángulo 2">
            <a:extLst>
              <a:ext uri="{FF2B5EF4-FFF2-40B4-BE49-F238E27FC236}">
                <a16:creationId xmlns:a16="http://schemas.microsoft.com/office/drawing/2014/main" id="{4AFEF35C-D3C6-31F6-76FA-D4497C32F76E}"/>
              </a:ext>
            </a:extLst>
          </p:cNvPr>
          <p:cNvSpPr/>
          <p:nvPr/>
        </p:nvSpPr>
        <p:spPr>
          <a:xfrm>
            <a:off x="1733413" y="2732484"/>
            <a:ext cx="8725174" cy="984885"/>
          </a:xfrm>
          <a:prstGeom prst="rect">
            <a:avLst/>
          </a:prstGeom>
        </p:spPr>
        <p:txBody>
          <a:bodyPr wrap="square">
            <a:spAutoFit/>
          </a:bodyPr>
          <a:lstStyle/>
          <a:p>
            <a:pPr algn="just"/>
            <a:r>
              <a:rPr lang="es-ES">
                <a:solidFill>
                  <a:schemeClr val="accent1"/>
                </a:solidFill>
                <a:latin typeface="Century Gothic" panose="020B0502020202020204" pitchFamily="34" charset="0"/>
              </a:rPr>
              <a:t>Ya</a:t>
            </a:r>
            <a:r>
              <a:rPr lang="es-ES" sz="2200"/>
              <a:t> </a:t>
            </a:r>
            <a:r>
              <a:rPr lang="es-ES">
                <a:solidFill>
                  <a:schemeClr val="accent1"/>
                </a:solidFill>
                <a:latin typeface="Century Gothic" panose="020B0502020202020204" pitchFamily="34" charset="0"/>
              </a:rPr>
              <a:t>hemos desarrollado las herramientas necesarias para estimar el costo de oportunidad de los accionistas. Sin embargo, lo que nos interesa es el costo de capital total del proyecto.</a:t>
            </a:r>
          </a:p>
        </p:txBody>
      </p:sp>
      <p:sp>
        <p:nvSpPr>
          <p:cNvPr id="10" name="TextBox 9">
            <a:extLst>
              <a:ext uri="{FF2B5EF4-FFF2-40B4-BE49-F238E27FC236}">
                <a16:creationId xmlns:a16="http://schemas.microsoft.com/office/drawing/2014/main" id="{895D973A-9826-9FA8-CEF2-F5381C2E0BF0}"/>
              </a:ext>
            </a:extLst>
          </p:cNvPr>
          <p:cNvSpPr txBox="1"/>
          <p:nvPr/>
        </p:nvSpPr>
        <p:spPr>
          <a:xfrm>
            <a:off x="3211830" y="1989939"/>
            <a:ext cx="6094476" cy="646331"/>
          </a:xfrm>
          <a:prstGeom prst="rect">
            <a:avLst/>
          </a:prstGeom>
          <a:noFill/>
        </p:spPr>
        <p:txBody>
          <a:bodyPr wrap="square">
            <a:spAutoFit/>
          </a:bodyPr>
          <a:lstStyle/>
          <a:p>
            <a:pPr algn="ctr"/>
            <a:r>
              <a:rPr lang="es-ES" b="1">
                <a:solidFill>
                  <a:srgbClr val="D7A700"/>
                </a:solidFill>
                <a:latin typeface="Century Gothic" panose="020B0502020202020204" pitchFamily="34" charset="0"/>
              </a:rPr>
              <a:t>¿Qué sucedería si un proyecto se financiara solo vía </a:t>
            </a:r>
            <a:r>
              <a:rPr lang="es-ES" b="1" err="1">
                <a:solidFill>
                  <a:srgbClr val="D7A700"/>
                </a:solidFill>
                <a:latin typeface="Century Gothic" panose="020B0502020202020204" pitchFamily="34" charset="0"/>
              </a:rPr>
              <a:t>equity</a:t>
            </a:r>
            <a:r>
              <a:rPr lang="es-ES" b="1">
                <a:solidFill>
                  <a:srgbClr val="D7A700"/>
                </a:solidFill>
                <a:latin typeface="Century Gothic" panose="020B0502020202020204" pitchFamily="34" charset="0"/>
              </a:rPr>
              <a:t>?</a:t>
            </a:r>
            <a:endParaRPr lang="en-US">
              <a:solidFill>
                <a:srgbClr val="D7A700"/>
              </a:solidFill>
            </a:endParaRPr>
          </a:p>
        </p:txBody>
      </p:sp>
      <p:cxnSp>
        <p:nvCxnSpPr>
          <p:cNvPr id="15" name="Straight Connector 14">
            <a:extLst>
              <a:ext uri="{FF2B5EF4-FFF2-40B4-BE49-F238E27FC236}">
                <a16:creationId xmlns:a16="http://schemas.microsoft.com/office/drawing/2014/main" id="{C4722DB7-065F-A74A-7BBA-E6478F9C1AF6}"/>
              </a:ext>
            </a:extLst>
          </p:cNvPr>
          <p:cNvCxnSpPr/>
          <p:nvPr/>
        </p:nvCxnSpPr>
        <p:spPr>
          <a:xfrm flipV="1">
            <a:off x="3813048" y="4192465"/>
            <a:ext cx="3913632" cy="845879"/>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9" name="Connector: Curved 18">
            <a:extLst>
              <a:ext uri="{FF2B5EF4-FFF2-40B4-BE49-F238E27FC236}">
                <a16:creationId xmlns:a16="http://schemas.microsoft.com/office/drawing/2014/main" id="{4307F567-B0A3-AF1E-4DCB-45618DA94286}"/>
              </a:ext>
            </a:extLst>
          </p:cNvPr>
          <p:cNvCxnSpPr>
            <a:cxnSpLocks/>
          </p:cNvCxnSpPr>
          <p:nvPr/>
        </p:nvCxnSpPr>
        <p:spPr>
          <a:xfrm rot="16200000" flipH="1">
            <a:off x="5568245" y="4753015"/>
            <a:ext cx="665366" cy="390144"/>
          </a:xfrm>
          <a:prstGeom prst="curvedConnector3">
            <a:avLst>
              <a:gd name="adj1" fmla="val 98100"/>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BCA7ED54-9D69-EF95-980E-E18CB1679174}"/>
              </a:ext>
            </a:extLst>
          </p:cNvPr>
          <p:cNvSpPr txBox="1"/>
          <p:nvPr/>
        </p:nvSpPr>
        <p:spPr>
          <a:xfrm>
            <a:off x="6259068" y="5082404"/>
            <a:ext cx="6094476" cy="369332"/>
          </a:xfrm>
          <a:prstGeom prst="rect">
            <a:avLst/>
          </a:prstGeom>
          <a:noFill/>
        </p:spPr>
        <p:txBody>
          <a:bodyPr wrap="square">
            <a:spAutoFit/>
          </a:bodyPr>
          <a:lstStyle/>
          <a:p>
            <a:r>
              <a:rPr lang="es-ES" b="1">
                <a:solidFill>
                  <a:srgbClr val="C00000"/>
                </a:solidFill>
                <a:latin typeface="Century Gothic" panose="020B0502020202020204" pitchFamily="34" charset="0"/>
              </a:rPr>
              <a:t>Sería igual a Cero</a:t>
            </a:r>
            <a:endParaRPr lang="en-US"/>
          </a:p>
        </p:txBody>
      </p:sp>
      <p:sp>
        <p:nvSpPr>
          <p:cNvPr id="8" name="Marcador de número de diapositiva 3">
            <a:extLst>
              <a:ext uri="{FF2B5EF4-FFF2-40B4-BE49-F238E27FC236}">
                <a16:creationId xmlns:a16="http://schemas.microsoft.com/office/drawing/2014/main" id="{D099F5DD-4132-4460-4B06-9DD0D90F99DF}"/>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33</a:t>
            </a:fld>
            <a:endParaRPr lang="en-US" sz="2000" b="1">
              <a:latin typeface="Century Gothic" panose="020B0502020202020204" pitchFamily="34" charset="0"/>
            </a:endParaRPr>
          </a:p>
        </p:txBody>
      </p:sp>
    </p:spTree>
    <p:extLst>
      <p:ext uri="{BB962C8B-B14F-4D97-AF65-F5344CB8AC3E}">
        <p14:creationId xmlns:p14="http://schemas.microsoft.com/office/powerpoint/2010/main" val="30912255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P spid="7" grpId="0"/>
      <p:bldP spid="10" grpId="0"/>
      <p:bldP spid="24"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4DA63D-29BA-C3CB-6F3E-146C7DB0D5B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57F985C-C9F7-2BB5-8FD0-0DDA63423905}"/>
              </a:ext>
            </a:extLst>
          </p:cNvPr>
          <p:cNvSpPr>
            <a:spLocks noGrp="1"/>
          </p:cNvSpPr>
          <p:nvPr>
            <p:ph type="title"/>
          </p:nvPr>
        </p:nvSpPr>
        <p:spPr/>
        <p:txBody>
          <a:bodyPr>
            <a:normAutofit/>
          </a:bodyPr>
          <a:lstStyle/>
          <a:p>
            <a:r>
              <a:rPr lang="es-ES">
                <a:latin typeface="Century Gothic" panose="020B0502020202020204" pitchFamily="34" charset="0"/>
              </a:rPr>
              <a:t>Costo del equity</a:t>
            </a:r>
          </a:p>
        </p:txBody>
      </p:sp>
      <p:sp>
        <p:nvSpPr>
          <p:cNvPr id="9" name="Rectángulo 8">
            <a:extLst>
              <a:ext uri="{FF2B5EF4-FFF2-40B4-BE49-F238E27FC236}">
                <a16:creationId xmlns:a16="http://schemas.microsoft.com/office/drawing/2014/main" id="{0303D13F-060B-AE02-1785-8A661788E43B}"/>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46B81D34-E287-935A-728A-33D5966545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517559A6-FD31-9ED6-EDDC-E2AFE62C01A8}"/>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 name="Marcador de contenido 2">
            <a:extLst>
              <a:ext uri="{FF2B5EF4-FFF2-40B4-BE49-F238E27FC236}">
                <a16:creationId xmlns:a16="http://schemas.microsoft.com/office/drawing/2014/main" id="{98FBCBA3-2ACA-E94E-08B8-C986E3370DF6}"/>
              </a:ext>
            </a:extLst>
          </p:cNvPr>
          <p:cNvSpPr>
            <a:spLocks noGrp="1"/>
          </p:cNvSpPr>
          <p:nvPr>
            <p:ph idx="1"/>
          </p:nvPr>
        </p:nvSpPr>
        <p:spPr>
          <a:xfrm>
            <a:off x="678575" y="1591056"/>
            <a:ext cx="10631682" cy="2461532"/>
          </a:xfrm>
        </p:spPr>
        <p:txBody>
          <a:bodyPr>
            <a:normAutofit/>
          </a:bodyPr>
          <a:lstStyle/>
          <a:p>
            <a:pPr marL="0" indent="0" algn="just">
              <a:buNone/>
            </a:pPr>
            <a:r>
              <a:rPr lang="es-ES" b="1">
                <a:solidFill>
                  <a:schemeClr val="accent1"/>
                </a:solidFill>
                <a:latin typeface="Century Gothic" panose="020B0502020202020204" pitchFamily="34" charset="0"/>
              </a:rPr>
              <a:t>Ejemplo: </a:t>
            </a:r>
            <a:r>
              <a:rPr lang="es-ES">
                <a:solidFill>
                  <a:schemeClr val="accent1"/>
                </a:solidFill>
                <a:latin typeface="Century Gothic" panose="020B0502020202020204" pitchFamily="34" charset="0"/>
              </a:rPr>
              <a:t>Usted tiene un proyecto de eficiencia geotérmica. En los próximos dos años, usted espera el flujo de caja libre trimestral que se muestra a continuación.</a:t>
            </a:r>
          </a:p>
          <a:p>
            <a:pPr marL="0" indent="0" algn="just">
              <a:buNone/>
            </a:pPr>
            <a:endParaRPr lang="es-ES">
              <a:solidFill>
                <a:schemeClr val="accent1"/>
              </a:solidFill>
              <a:latin typeface="Century Gothic" panose="020B0502020202020204" pitchFamily="34" charset="0"/>
            </a:endParaRPr>
          </a:p>
          <a:p>
            <a:pPr marL="0" indent="0" algn="just">
              <a:buNone/>
            </a:pPr>
            <a:endParaRPr lang="es-ES">
              <a:solidFill>
                <a:srgbClr val="000000"/>
              </a:solidFill>
              <a:latin typeface="Century Gothic" panose="020B0502020202020204" pitchFamily="34" charset="0"/>
            </a:endParaRPr>
          </a:p>
          <a:p>
            <a:pPr marL="0" indent="0" algn="just">
              <a:buNone/>
            </a:pPr>
            <a:r>
              <a:rPr lang="es-ES">
                <a:solidFill>
                  <a:schemeClr val="accent1"/>
                </a:solidFill>
                <a:latin typeface="Century Gothic" panose="020B0502020202020204" pitchFamily="34" charset="0"/>
              </a:rPr>
              <a:t>Usted busca financiar el proyecto totalmente vía acciones.</a:t>
            </a:r>
          </a:p>
        </p:txBody>
      </p:sp>
      <p:sp>
        <p:nvSpPr>
          <p:cNvPr id="6" name="Marcador de contenido 2">
            <a:extLst>
              <a:ext uri="{FF2B5EF4-FFF2-40B4-BE49-F238E27FC236}">
                <a16:creationId xmlns:a16="http://schemas.microsoft.com/office/drawing/2014/main" id="{EF89CDFE-28DE-7CD3-8F70-61E60E040247}"/>
              </a:ext>
            </a:extLst>
          </p:cNvPr>
          <p:cNvSpPr txBox="1">
            <a:spLocks/>
          </p:cNvSpPr>
          <p:nvPr/>
        </p:nvSpPr>
        <p:spPr>
          <a:xfrm>
            <a:off x="1973753" y="3879590"/>
            <a:ext cx="8041323" cy="2259109"/>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just">
              <a:buNone/>
            </a:pPr>
            <a:r>
              <a:rPr lang="es-ES" sz="1900">
                <a:solidFill>
                  <a:schemeClr val="accent1"/>
                </a:solidFill>
                <a:latin typeface="Century Gothic" panose="020B0502020202020204" pitchFamily="34" charset="0"/>
              </a:rPr>
              <a:t>La emisión de acciones se hará de la siguiente manera:</a:t>
            </a:r>
          </a:p>
          <a:p>
            <a:pPr marL="0" indent="0" algn="just">
              <a:spcBef>
                <a:spcPts val="0"/>
              </a:spcBef>
              <a:spcAft>
                <a:spcPts val="0"/>
              </a:spcAft>
              <a:buNone/>
            </a:pPr>
            <a:endParaRPr lang="es-ES">
              <a:solidFill>
                <a:srgbClr val="000000"/>
              </a:solidFill>
              <a:latin typeface="Century Gothic" panose="020B0502020202020204" pitchFamily="34" charset="0"/>
            </a:endParaRPr>
          </a:p>
          <a:p>
            <a:pPr marL="0" indent="0" algn="ctr">
              <a:buFont typeface="Wingdings 2" panose="05020102010507070707" pitchFamily="18" charset="2"/>
              <a:buNone/>
            </a:pPr>
            <a:r>
              <a:rPr lang="es-ES" i="1">
                <a:solidFill>
                  <a:srgbClr val="000000"/>
                </a:solidFill>
                <a:latin typeface="Century Gothic" panose="020B0502020202020204" pitchFamily="34" charset="0"/>
              </a:rPr>
              <a:t>Precio de emisión: </a:t>
            </a:r>
            <a:r>
              <a:rPr lang="es-ES" i="1">
                <a:solidFill>
                  <a:srgbClr val="800000"/>
                </a:solidFill>
                <a:latin typeface="Century Gothic" panose="020B0502020202020204" pitchFamily="34" charset="0"/>
              </a:rPr>
              <a:t>50	</a:t>
            </a:r>
            <a:r>
              <a:rPr lang="es-ES" i="1">
                <a:solidFill>
                  <a:schemeClr val="tx1"/>
                </a:solidFill>
                <a:latin typeface="Century Gothic" panose="020B0502020202020204" pitchFamily="34" charset="0"/>
              </a:rPr>
              <a:t>Crecimiento Anual: </a:t>
            </a:r>
            <a:r>
              <a:rPr lang="es-ES" i="1">
                <a:solidFill>
                  <a:srgbClr val="800000"/>
                </a:solidFill>
                <a:latin typeface="Century Gothic" panose="020B0502020202020204" pitchFamily="34" charset="0"/>
              </a:rPr>
              <a:t>4,5%</a:t>
            </a:r>
          </a:p>
          <a:p>
            <a:pPr marL="0" indent="0" algn="ctr">
              <a:buFont typeface="Wingdings 2" panose="05020102010507070707" pitchFamily="18" charset="2"/>
              <a:buNone/>
            </a:pPr>
            <a:r>
              <a:rPr lang="es-ES" i="1">
                <a:solidFill>
                  <a:srgbClr val="000000"/>
                </a:solidFill>
                <a:latin typeface="Century Gothic" panose="020B0502020202020204" pitchFamily="34" charset="0"/>
              </a:rPr>
              <a:t>Dividendo Anual Hoy: </a:t>
            </a:r>
            <a:r>
              <a:rPr lang="es-ES" i="1">
                <a:solidFill>
                  <a:srgbClr val="800000"/>
                </a:solidFill>
                <a:latin typeface="Century Gothic" panose="020B0502020202020204" pitchFamily="34" charset="0"/>
              </a:rPr>
              <a:t>7,5	</a:t>
            </a:r>
            <a:r>
              <a:rPr lang="es-ES" i="1">
                <a:solidFill>
                  <a:srgbClr val="000000"/>
                </a:solidFill>
                <a:latin typeface="Century Gothic" panose="020B0502020202020204" pitchFamily="34" charset="0"/>
              </a:rPr>
              <a:t>Costo Emisión: </a:t>
            </a:r>
            <a:r>
              <a:rPr lang="es-ES" i="1">
                <a:solidFill>
                  <a:srgbClr val="800000"/>
                </a:solidFill>
                <a:latin typeface="Century Gothic" panose="020B0502020202020204" pitchFamily="34" charset="0"/>
              </a:rPr>
              <a:t>5%</a:t>
            </a:r>
          </a:p>
          <a:p>
            <a:pPr marL="0" indent="0" algn="ctr">
              <a:buNone/>
            </a:pPr>
            <a:r>
              <a:rPr lang="es-ES" i="1">
                <a:solidFill>
                  <a:srgbClr val="000000"/>
                </a:solidFill>
                <a:latin typeface="Century Gothic" panose="020B0502020202020204" pitchFamily="34" charset="0"/>
              </a:rPr>
              <a:t>Tasa Impositiva: </a:t>
            </a:r>
            <a:r>
              <a:rPr lang="es-ES" i="1">
                <a:solidFill>
                  <a:srgbClr val="800000"/>
                </a:solidFill>
                <a:latin typeface="Century Gothic" panose="020B0502020202020204" pitchFamily="34" charset="0"/>
              </a:rPr>
              <a:t>33%</a:t>
            </a:r>
          </a:p>
        </p:txBody>
      </p:sp>
      <p:sp>
        <p:nvSpPr>
          <p:cNvPr id="7" name="Marcador de contenido 2">
            <a:extLst>
              <a:ext uri="{FF2B5EF4-FFF2-40B4-BE49-F238E27FC236}">
                <a16:creationId xmlns:a16="http://schemas.microsoft.com/office/drawing/2014/main" id="{1B11DB80-CDB4-4688-E0FD-A10608D93F7C}"/>
              </a:ext>
            </a:extLst>
          </p:cNvPr>
          <p:cNvSpPr txBox="1">
            <a:spLocks/>
          </p:cNvSpPr>
          <p:nvPr/>
        </p:nvSpPr>
        <p:spPr>
          <a:xfrm>
            <a:off x="2290762" y="6138699"/>
            <a:ext cx="7610476" cy="541642"/>
          </a:xfrm>
          <a:prstGeom prst="rect">
            <a:avLst/>
          </a:prstGeom>
        </p:spPr>
        <p:txBody>
          <a:bodyPr vert="horz" lIns="91440" tIns="45720" rIns="91440" bIns="45720" rtlCol="0">
            <a:normAutofit/>
          </a:bodyPr>
          <a:lstStyle>
            <a:lvl1pPr marL="342900" indent="-342900" algn="l" defTabSz="914400" rtl="0" eaLnBrk="1" latinLnBrk="0" hangingPunct="1">
              <a:spcBef>
                <a:spcPts val="20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2pPr>
            <a:lvl3pPr marL="10350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3pPr>
            <a:lvl4pPr marL="13716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4pPr>
            <a:lvl5pPr marL="17208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5pPr>
            <a:lvl6pPr marL="2055813"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6pPr>
            <a:lvl7pPr marL="2398713" indent="-344488" algn="l" defTabSz="914400" rtl="0" eaLnBrk="1" latinLnBrk="0" hangingPunct="1">
              <a:spcBef>
                <a:spcPct val="20000"/>
              </a:spcBef>
              <a:buClr>
                <a:schemeClr val="accent1"/>
              </a:buClr>
              <a:buFont typeface="Wingdings 2" pitchFamily="18" charset="2"/>
              <a:buChar char=""/>
              <a:defRPr lang="en-US" sz="1800" kern="1200" dirty="0" smtClean="0">
                <a:solidFill>
                  <a:schemeClr val="tx1">
                    <a:lumMod val="65000"/>
                    <a:lumOff val="35000"/>
                  </a:schemeClr>
                </a:solidFill>
                <a:latin typeface="+mn-lt"/>
                <a:ea typeface="+mn-ea"/>
                <a:cs typeface="+mn-cs"/>
              </a:defRPr>
            </a:lvl7pPr>
            <a:lvl8pPr marL="2743200"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8pPr>
            <a:lvl9pPr marL="3087688" indent="-344488" algn="l" defTabSz="914400" rtl="0" eaLnBrk="1" latinLnBrk="0" hangingPunct="1">
              <a:spcBef>
                <a:spcPct val="20000"/>
              </a:spcBef>
              <a:buClr>
                <a:schemeClr val="accent1"/>
              </a:buClr>
              <a:buFont typeface="Wingdings 2" pitchFamily="18" charset="2"/>
              <a:buChar char=""/>
              <a:defRPr lang="en-US" sz="1800" kern="1200" dirty="0">
                <a:solidFill>
                  <a:schemeClr val="tx1">
                    <a:lumMod val="65000"/>
                    <a:lumOff val="35000"/>
                  </a:schemeClr>
                </a:solidFill>
                <a:latin typeface="+mn-lt"/>
                <a:ea typeface="+mn-ea"/>
                <a:cs typeface="+mn-cs"/>
              </a:defRPr>
            </a:lvl9pPr>
          </a:lstStyle>
          <a:p>
            <a:pPr marL="0" indent="0" algn="ctr">
              <a:buNone/>
            </a:pPr>
            <a:r>
              <a:rPr lang="es-ES" sz="1900" b="1">
                <a:solidFill>
                  <a:schemeClr val="accent1"/>
                </a:solidFill>
                <a:latin typeface="Century Gothic" panose="020B0502020202020204" pitchFamily="34" charset="0"/>
              </a:rPr>
              <a:t>¿Es el proyecto económicamente viable? </a:t>
            </a:r>
          </a:p>
          <a:p>
            <a:pPr marL="0" indent="0" algn="ctr">
              <a:buNone/>
            </a:pPr>
            <a:endParaRPr lang="es-ES" sz="1800" b="1">
              <a:solidFill>
                <a:schemeClr val="accent3">
                  <a:lumMod val="75000"/>
                </a:schemeClr>
              </a:solidFill>
              <a:latin typeface="Century Gothic" panose="020B0502020202020204" pitchFamily="34" charset="0"/>
            </a:endParaRPr>
          </a:p>
        </p:txBody>
      </p:sp>
      <p:graphicFrame>
        <p:nvGraphicFramePr>
          <p:cNvPr id="8" name="Table 7">
            <a:extLst>
              <a:ext uri="{FF2B5EF4-FFF2-40B4-BE49-F238E27FC236}">
                <a16:creationId xmlns:a16="http://schemas.microsoft.com/office/drawing/2014/main" id="{F6F89DBF-2304-E734-5E3E-6A1EE4BF07BD}"/>
              </a:ext>
            </a:extLst>
          </p:cNvPr>
          <p:cNvGraphicFramePr>
            <a:graphicFrameLocks noGrp="1"/>
          </p:cNvGraphicFramePr>
          <p:nvPr>
            <p:extLst>
              <p:ext uri="{D42A27DB-BD31-4B8C-83A1-F6EECF244321}">
                <p14:modId xmlns:p14="http://schemas.microsoft.com/office/powerpoint/2010/main" val="1458057051"/>
              </p:ext>
            </p:extLst>
          </p:nvPr>
        </p:nvGraphicFramePr>
        <p:xfrm>
          <a:off x="1017181" y="2691390"/>
          <a:ext cx="10157638" cy="574040"/>
        </p:xfrm>
        <a:graphic>
          <a:graphicData uri="http://schemas.openxmlformats.org/drawingml/2006/table">
            <a:tbl>
              <a:tblPr/>
              <a:tblGrid>
                <a:gridCol w="1296670">
                  <a:extLst>
                    <a:ext uri="{9D8B030D-6E8A-4147-A177-3AD203B41FA5}">
                      <a16:colId xmlns:a16="http://schemas.microsoft.com/office/drawing/2014/main" val="20000"/>
                    </a:ext>
                  </a:extLst>
                </a:gridCol>
                <a:gridCol w="1179141">
                  <a:extLst>
                    <a:ext uri="{9D8B030D-6E8A-4147-A177-3AD203B41FA5}">
                      <a16:colId xmlns:a16="http://schemas.microsoft.com/office/drawing/2014/main" val="20001"/>
                    </a:ext>
                  </a:extLst>
                </a:gridCol>
                <a:gridCol w="921820">
                  <a:extLst>
                    <a:ext uri="{9D8B030D-6E8A-4147-A177-3AD203B41FA5}">
                      <a16:colId xmlns:a16="http://schemas.microsoft.com/office/drawing/2014/main" val="20002"/>
                    </a:ext>
                  </a:extLst>
                </a:gridCol>
                <a:gridCol w="883411">
                  <a:extLst>
                    <a:ext uri="{9D8B030D-6E8A-4147-A177-3AD203B41FA5}">
                      <a16:colId xmlns:a16="http://schemas.microsoft.com/office/drawing/2014/main" val="20003"/>
                    </a:ext>
                  </a:extLst>
                </a:gridCol>
                <a:gridCol w="883411">
                  <a:extLst>
                    <a:ext uri="{9D8B030D-6E8A-4147-A177-3AD203B41FA5}">
                      <a16:colId xmlns:a16="http://schemas.microsoft.com/office/drawing/2014/main" val="20004"/>
                    </a:ext>
                  </a:extLst>
                </a:gridCol>
                <a:gridCol w="998637">
                  <a:extLst>
                    <a:ext uri="{9D8B030D-6E8A-4147-A177-3AD203B41FA5}">
                      <a16:colId xmlns:a16="http://schemas.microsoft.com/office/drawing/2014/main" val="20005"/>
                    </a:ext>
                  </a:extLst>
                </a:gridCol>
                <a:gridCol w="998637">
                  <a:extLst>
                    <a:ext uri="{9D8B030D-6E8A-4147-A177-3AD203B41FA5}">
                      <a16:colId xmlns:a16="http://schemas.microsoft.com/office/drawing/2014/main" val="20006"/>
                    </a:ext>
                  </a:extLst>
                </a:gridCol>
                <a:gridCol w="998637">
                  <a:extLst>
                    <a:ext uri="{9D8B030D-6E8A-4147-A177-3AD203B41FA5}">
                      <a16:colId xmlns:a16="http://schemas.microsoft.com/office/drawing/2014/main" val="20007"/>
                    </a:ext>
                  </a:extLst>
                </a:gridCol>
                <a:gridCol w="998637">
                  <a:extLst>
                    <a:ext uri="{9D8B030D-6E8A-4147-A177-3AD203B41FA5}">
                      <a16:colId xmlns:a16="http://schemas.microsoft.com/office/drawing/2014/main" val="20008"/>
                    </a:ext>
                  </a:extLst>
                </a:gridCol>
                <a:gridCol w="998637">
                  <a:extLst>
                    <a:ext uri="{9D8B030D-6E8A-4147-A177-3AD203B41FA5}">
                      <a16:colId xmlns:a16="http://schemas.microsoft.com/office/drawing/2014/main" val="20009"/>
                    </a:ext>
                  </a:extLst>
                </a:gridCol>
              </a:tblGrid>
              <a:tr h="190500">
                <a:tc>
                  <a:txBody>
                    <a:bodyPr/>
                    <a:lstStyle/>
                    <a:p>
                      <a:pPr algn="ctr" fontAlgn="b"/>
                      <a:r>
                        <a:rPr lang="es-ES_tradnl" sz="1800" b="1" i="0" u="none" strike="noStrike" noProof="0">
                          <a:solidFill>
                            <a:srgbClr val="FFFFFF"/>
                          </a:solidFill>
                          <a:effectLst/>
                          <a:latin typeface="Century Gothic" panose="020B0502020202020204" pitchFamily="34" charset="0"/>
                        </a:rPr>
                        <a:t>Periodo (T)</a:t>
                      </a:r>
                    </a:p>
                  </a:txBody>
                  <a:tcPr marL="12700" marR="12700" marT="12700" marB="0" anchor="b">
                    <a:lnL>
                      <a:noFill/>
                    </a:lnL>
                    <a:lnR>
                      <a:noFill/>
                    </a:lnR>
                    <a:lnT>
                      <a:noFill/>
                    </a:lnT>
                    <a:lnB>
                      <a:noFill/>
                    </a:lnB>
                    <a:solidFill>
                      <a:schemeClr val="accent2">
                        <a:lumMod val="75000"/>
                      </a:schemeClr>
                    </a:solidFill>
                  </a:tcPr>
                </a:tc>
                <a:tc>
                  <a:txBody>
                    <a:bodyPr/>
                    <a:lstStyle/>
                    <a:p>
                      <a:pPr algn="ctr" fontAlgn="b"/>
                      <a:r>
                        <a:rPr lang="en-US" sz="1800" b="1" i="0" u="none" strike="noStrike">
                          <a:solidFill>
                            <a:srgbClr val="FFFFFF"/>
                          </a:solidFill>
                          <a:effectLst/>
                          <a:latin typeface="Century Gothic" panose="020B0502020202020204" pitchFamily="34" charset="0"/>
                        </a:rPr>
                        <a:t>0</a:t>
                      </a:r>
                    </a:p>
                  </a:txBody>
                  <a:tcPr marL="12700" marR="12700" marT="12700" marB="0" anchor="b">
                    <a:lnL>
                      <a:noFill/>
                    </a:lnL>
                    <a:lnR>
                      <a:noFill/>
                    </a:lnR>
                    <a:lnT>
                      <a:noFill/>
                    </a:lnT>
                    <a:lnB>
                      <a:noFill/>
                    </a:lnB>
                    <a:solidFill>
                      <a:schemeClr val="accent2">
                        <a:lumMod val="75000"/>
                      </a:schemeClr>
                    </a:solidFill>
                  </a:tcPr>
                </a:tc>
                <a:tc>
                  <a:txBody>
                    <a:bodyPr/>
                    <a:lstStyle/>
                    <a:p>
                      <a:pPr algn="ctr" fontAlgn="b"/>
                      <a:r>
                        <a:rPr lang="en-US" sz="1800" b="1" i="0" u="none" strike="noStrike">
                          <a:solidFill>
                            <a:srgbClr val="FFFFFF"/>
                          </a:solidFill>
                          <a:effectLst/>
                          <a:latin typeface="Century Gothic" panose="020B0502020202020204" pitchFamily="34" charset="0"/>
                        </a:rPr>
                        <a:t>1</a:t>
                      </a:r>
                    </a:p>
                  </a:txBody>
                  <a:tcPr marL="12700" marR="12700" marT="12700" marB="0" anchor="b">
                    <a:lnL>
                      <a:noFill/>
                    </a:lnL>
                    <a:lnR>
                      <a:noFill/>
                    </a:lnR>
                    <a:lnT>
                      <a:noFill/>
                    </a:lnT>
                    <a:lnB>
                      <a:noFill/>
                    </a:lnB>
                    <a:solidFill>
                      <a:schemeClr val="accent2">
                        <a:lumMod val="75000"/>
                      </a:schemeClr>
                    </a:solidFill>
                  </a:tcPr>
                </a:tc>
                <a:tc>
                  <a:txBody>
                    <a:bodyPr/>
                    <a:lstStyle/>
                    <a:p>
                      <a:pPr algn="ctr" fontAlgn="b"/>
                      <a:r>
                        <a:rPr lang="en-US" sz="1800" b="1" i="0" u="none" strike="noStrike">
                          <a:solidFill>
                            <a:srgbClr val="FFFFFF"/>
                          </a:solidFill>
                          <a:effectLst/>
                          <a:latin typeface="Century Gothic" panose="020B0502020202020204" pitchFamily="34" charset="0"/>
                        </a:rPr>
                        <a:t>2</a:t>
                      </a:r>
                    </a:p>
                  </a:txBody>
                  <a:tcPr marL="12700" marR="12700" marT="12700" marB="0" anchor="b">
                    <a:lnL>
                      <a:noFill/>
                    </a:lnL>
                    <a:lnR>
                      <a:noFill/>
                    </a:lnR>
                    <a:lnT>
                      <a:noFill/>
                    </a:lnT>
                    <a:lnB>
                      <a:noFill/>
                    </a:lnB>
                    <a:solidFill>
                      <a:schemeClr val="accent2">
                        <a:lumMod val="75000"/>
                      </a:schemeClr>
                    </a:solidFill>
                  </a:tcPr>
                </a:tc>
                <a:tc>
                  <a:txBody>
                    <a:bodyPr/>
                    <a:lstStyle/>
                    <a:p>
                      <a:pPr algn="ctr" fontAlgn="b"/>
                      <a:r>
                        <a:rPr lang="en-US" sz="1800" b="1" i="0" u="none" strike="noStrike">
                          <a:solidFill>
                            <a:srgbClr val="FFFFFF"/>
                          </a:solidFill>
                          <a:effectLst/>
                          <a:latin typeface="Century Gothic" panose="020B0502020202020204" pitchFamily="34" charset="0"/>
                        </a:rPr>
                        <a:t>3</a:t>
                      </a:r>
                    </a:p>
                  </a:txBody>
                  <a:tcPr marL="12700" marR="12700" marT="12700" marB="0" anchor="b">
                    <a:lnL>
                      <a:noFill/>
                    </a:lnL>
                    <a:lnR>
                      <a:noFill/>
                    </a:lnR>
                    <a:lnT>
                      <a:noFill/>
                    </a:lnT>
                    <a:lnB>
                      <a:noFill/>
                    </a:lnB>
                    <a:solidFill>
                      <a:schemeClr val="accent2">
                        <a:lumMod val="75000"/>
                      </a:schemeClr>
                    </a:solidFill>
                  </a:tcPr>
                </a:tc>
                <a:tc>
                  <a:txBody>
                    <a:bodyPr/>
                    <a:lstStyle/>
                    <a:p>
                      <a:pPr algn="ctr" fontAlgn="b"/>
                      <a:r>
                        <a:rPr lang="en-US" sz="1800" b="1" i="0" u="none" strike="noStrike">
                          <a:solidFill>
                            <a:srgbClr val="FFFFFF"/>
                          </a:solidFill>
                          <a:effectLst/>
                          <a:latin typeface="Century Gothic" panose="020B0502020202020204" pitchFamily="34" charset="0"/>
                        </a:rPr>
                        <a:t>4</a:t>
                      </a:r>
                    </a:p>
                  </a:txBody>
                  <a:tcPr marL="12700" marR="12700" marT="12700" marB="0" anchor="b">
                    <a:lnL>
                      <a:noFill/>
                    </a:lnL>
                    <a:lnR>
                      <a:noFill/>
                    </a:lnR>
                    <a:lnT>
                      <a:noFill/>
                    </a:lnT>
                    <a:lnB>
                      <a:noFill/>
                    </a:lnB>
                    <a:solidFill>
                      <a:schemeClr val="accent2">
                        <a:lumMod val="75000"/>
                      </a:schemeClr>
                    </a:solidFill>
                  </a:tcPr>
                </a:tc>
                <a:tc>
                  <a:txBody>
                    <a:bodyPr/>
                    <a:lstStyle/>
                    <a:p>
                      <a:pPr algn="ctr" fontAlgn="b"/>
                      <a:r>
                        <a:rPr lang="en-US" sz="1800" b="1" i="0" u="none" strike="noStrike">
                          <a:solidFill>
                            <a:srgbClr val="FFFFFF"/>
                          </a:solidFill>
                          <a:effectLst/>
                          <a:latin typeface="Century Gothic" panose="020B0502020202020204" pitchFamily="34" charset="0"/>
                        </a:rPr>
                        <a:t>5</a:t>
                      </a:r>
                    </a:p>
                  </a:txBody>
                  <a:tcPr marL="12700" marR="12700" marT="12700" marB="0" anchor="b">
                    <a:lnL>
                      <a:noFill/>
                    </a:lnL>
                    <a:lnR>
                      <a:noFill/>
                    </a:lnR>
                    <a:lnT>
                      <a:noFill/>
                    </a:lnT>
                    <a:lnB>
                      <a:noFill/>
                    </a:lnB>
                    <a:solidFill>
                      <a:schemeClr val="accent2">
                        <a:lumMod val="75000"/>
                      </a:schemeClr>
                    </a:solidFill>
                  </a:tcPr>
                </a:tc>
                <a:tc>
                  <a:txBody>
                    <a:bodyPr/>
                    <a:lstStyle/>
                    <a:p>
                      <a:pPr algn="ctr" fontAlgn="b"/>
                      <a:r>
                        <a:rPr lang="en-US" sz="1800" b="1" i="0" u="none" strike="noStrike">
                          <a:solidFill>
                            <a:srgbClr val="FFFFFF"/>
                          </a:solidFill>
                          <a:effectLst/>
                          <a:latin typeface="Century Gothic" panose="020B0502020202020204" pitchFamily="34" charset="0"/>
                        </a:rPr>
                        <a:t>6</a:t>
                      </a:r>
                    </a:p>
                  </a:txBody>
                  <a:tcPr marL="12700" marR="12700" marT="12700" marB="0" anchor="b">
                    <a:lnL>
                      <a:noFill/>
                    </a:lnL>
                    <a:lnR>
                      <a:noFill/>
                    </a:lnR>
                    <a:lnT>
                      <a:noFill/>
                    </a:lnT>
                    <a:lnB>
                      <a:noFill/>
                    </a:lnB>
                    <a:solidFill>
                      <a:schemeClr val="accent2">
                        <a:lumMod val="75000"/>
                      </a:schemeClr>
                    </a:solidFill>
                  </a:tcPr>
                </a:tc>
                <a:tc>
                  <a:txBody>
                    <a:bodyPr/>
                    <a:lstStyle/>
                    <a:p>
                      <a:pPr algn="ctr" fontAlgn="b"/>
                      <a:r>
                        <a:rPr lang="en-US" sz="1800" b="1" i="0" u="none" strike="noStrike">
                          <a:solidFill>
                            <a:srgbClr val="FFFFFF"/>
                          </a:solidFill>
                          <a:effectLst/>
                          <a:latin typeface="Century Gothic" panose="020B0502020202020204" pitchFamily="34" charset="0"/>
                        </a:rPr>
                        <a:t>7</a:t>
                      </a:r>
                    </a:p>
                  </a:txBody>
                  <a:tcPr marL="12700" marR="12700" marT="12700" marB="0" anchor="b">
                    <a:lnL>
                      <a:noFill/>
                    </a:lnL>
                    <a:lnR>
                      <a:noFill/>
                    </a:lnR>
                    <a:lnT>
                      <a:noFill/>
                    </a:lnT>
                    <a:lnB>
                      <a:noFill/>
                    </a:lnB>
                    <a:solidFill>
                      <a:schemeClr val="accent2">
                        <a:lumMod val="75000"/>
                      </a:schemeClr>
                    </a:solidFill>
                  </a:tcPr>
                </a:tc>
                <a:tc>
                  <a:txBody>
                    <a:bodyPr/>
                    <a:lstStyle/>
                    <a:p>
                      <a:pPr algn="ctr" fontAlgn="b"/>
                      <a:r>
                        <a:rPr lang="en-US" sz="1800" b="1" i="0" u="none" strike="noStrike">
                          <a:solidFill>
                            <a:srgbClr val="FFFFFF"/>
                          </a:solidFill>
                          <a:effectLst/>
                          <a:latin typeface="Century Gothic" panose="020B0502020202020204" pitchFamily="34" charset="0"/>
                        </a:rPr>
                        <a:t>8</a:t>
                      </a:r>
                    </a:p>
                  </a:txBody>
                  <a:tcPr marL="12700" marR="12700" marT="12700" marB="0" anchor="b">
                    <a:lnL>
                      <a:noFill/>
                    </a:lnL>
                    <a:lnR>
                      <a:noFill/>
                    </a:lnR>
                    <a:lnT>
                      <a:noFill/>
                    </a:lnT>
                    <a:lnB>
                      <a:noFill/>
                    </a:lnB>
                    <a:solidFill>
                      <a:schemeClr val="accent2">
                        <a:lumMod val="75000"/>
                      </a:schemeClr>
                    </a:solidFill>
                  </a:tcPr>
                </a:tc>
                <a:extLst>
                  <a:ext uri="{0D108BD9-81ED-4DB2-BD59-A6C34878D82A}">
                    <a16:rowId xmlns:a16="http://schemas.microsoft.com/office/drawing/2014/main" val="10000"/>
                  </a:ext>
                </a:extLst>
              </a:tr>
              <a:tr h="190500">
                <a:tc>
                  <a:txBody>
                    <a:bodyPr/>
                    <a:lstStyle/>
                    <a:p>
                      <a:pPr algn="ctr" fontAlgn="b"/>
                      <a:r>
                        <a:rPr lang="en-US" sz="1800" b="0" i="0" u="none" strike="noStrike">
                          <a:solidFill>
                            <a:srgbClr val="000000"/>
                          </a:solidFill>
                          <a:effectLst/>
                          <a:latin typeface="Century Gothic" panose="020B0502020202020204" pitchFamily="34" charset="0"/>
                        </a:rPr>
                        <a:t>FCL</a:t>
                      </a:r>
                    </a:p>
                  </a:txBody>
                  <a:tcPr marL="12700" marR="12700" marT="12700" marB="0" anchor="b">
                    <a:lnL>
                      <a:noFill/>
                    </a:lnL>
                    <a:lnR>
                      <a:noFill/>
                    </a:lnR>
                    <a:lnT>
                      <a:noFill/>
                    </a:lnT>
                    <a:lnB>
                      <a:noFill/>
                    </a:lnB>
                  </a:tcPr>
                </a:tc>
                <a:tc>
                  <a:txBody>
                    <a:bodyPr/>
                    <a:lstStyle/>
                    <a:p>
                      <a:pPr algn="ctr" fontAlgn="b"/>
                      <a:r>
                        <a:rPr lang="en-US" sz="1800" b="0" i="0" u="none" strike="noStrike">
                          <a:solidFill>
                            <a:srgbClr val="000000"/>
                          </a:solidFill>
                          <a:effectLst/>
                          <a:latin typeface="Century Gothic" panose="020B0502020202020204" pitchFamily="34" charset="0"/>
                        </a:rPr>
                        <a:t> (150.000)</a:t>
                      </a:r>
                    </a:p>
                  </a:txBody>
                  <a:tcPr marL="12700" marR="12700" marT="12700" marB="0" anchor="b">
                    <a:lnL>
                      <a:noFill/>
                    </a:lnL>
                    <a:lnR>
                      <a:noFill/>
                    </a:lnR>
                    <a:lnT>
                      <a:noFill/>
                    </a:lnT>
                    <a:lnB>
                      <a:noFill/>
                    </a:lnB>
                  </a:tcPr>
                </a:tc>
                <a:tc>
                  <a:txBody>
                    <a:bodyPr/>
                    <a:lstStyle/>
                    <a:p>
                      <a:pPr algn="ctr" fontAlgn="b"/>
                      <a:r>
                        <a:rPr lang="en-US" sz="1800" b="0" i="0" u="none" strike="noStrike">
                          <a:solidFill>
                            <a:srgbClr val="000000"/>
                          </a:solidFill>
                          <a:effectLst/>
                          <a:latin typeface="Century Gothic" panose="020B0502020202020204" pitchFamily="34" charset="0"/>
                        </a:rPr>
                        <a:t> 35.000 </a:t>
                      </a:r>
                    </a:p>
                  </a:txBody>
                  <a:tcPr marL="12700" marR="12700" marT="12700" marB="0" anchor="b">
                    <a:lnL>
                      <a:noFill/>
                    </a:lnL>
                    <a:lnR>
                      <a:noFill/>
                    </a:lnR>
                    <a:lnT>
                      <a:noFill/>
                    </a:lnT>
                    <a:lnB>
                      <a:noFill/>
                    </a:lnB>
                  </a:tcPr>
                </a:tc>
                <a:tc>
                  <a:txBody>
                    <a:bodyPr/>
                    <a:lstStyle/>
                    <a:p>
                      <a:pPr algn="ctr" fontAlgn="b"/>
                      <a:r>
                        <a:rPr lang="en-US" sz="1800" b="0" i="0" u="none" strike="noStrike">
                          <a:solidFill>
                            <a:srgbClr val="000000"/>
                          </a:solidFill>
                          <a:effectLst/>
                          <a:latin typeface="Century Gothic" panose="020B0502020202020204" pitchFamily="34" charset="0"/>
                        </a:rPr>
                        <a:t> 35.000 </a:t>
                      </a:r>
                    </a:p>
                  </a:txBody>
                  <a:tcPr marL="12700" marR="12700" marT="12700" marB="0" anchor="b">
                    <a:lnL>
                      <a:noFill/>
                    </a:lnL>
                    <a:lnR>
                      <a:noFill/>
                    </a:lnR>
                    <a:lnT>
                      <a:noFill/>
                    </a:lnT>
                    <a:lnB>
                      <a:noFill/>
                    </a:lnB>
                  </a:tcPr>
                </a:tc>
                <a:tc>
                  <a:txBody>
                    <a:bodyPr/>
                    <a:lstStyle/>
                    <a:p>
                      <a:pPr algn="ctr" fontAlgn="b"/>
                      <a:r>
                        <a:rPr lang="en-US" sz="1800" b="0" i="0" u="none" strike="noStrike">
                          <a:solidFill>
                            <a:srgbClr val="000000"/>
                          </a:solidFill>
                          <a:effectLst/>
                          <a:latin typeface="Century Gothic" panose="020B0502020202020204" pitchFamily="34" charset="0"/>
                        </a:rPr>
                        <a:t> 35.000 </a:t>
                      </a:r>
                    </a:p>
                  </a:txBody>
                  <a:tcPr marL="12700" marR="12700" marT="12700" marB="0" anchor="b">
                    <a:lnL>
                      <a:noFill/>
                    </a:lnL>
                    <a:lnR>
                      <a:noFill/>
                    </a:lnR>
                    <a:lnT>
                      <a:noFill/>
                    </a:lnT>
                    <a:lnB>
                      <a:noFill/>
                    </a:lnB>
                  </a:tcPr>
                </a:tc>
                <a:tc>
                  <a:txBody>
                    <a:bodyPr/>
                    <a:lstStyle/>
                    <a:p>
                      <a:pPr algn="ctr" fontAlgn="b"/>
                      <a:r>
                        <a:rPr lang="en-US" sz="1800" b="0" i="0" u="none" strike="noStrike">
                          <a:solidFill>
                            <a:srgbClr val="000000"/>
                          </a:solidFill>
                          <a:effectLst/>
                          <a:latin typeface="Century Gothic" panose="020B0502020202020204" pitchFamily="34" charset="0"/>
                        </a:rPr>
                        <a:t> 35.000 </a:t>
                      </a:r>
                    </a:p>
                  </a:txBody>
                  <a:tcPr marL="12700" marR="12700" marT="12700" marB="0" anchor="b">
                    <a:lnL>
                      <a:noFill/>
                    </a:lnL>
                    <a:lnR>
                      <a:noFill/>
                    </a:lnR>
                    <a:lnT>
                      <a:noFill/>
                    </a:lnT>
                    <a:lnB>
                      <a:noFill/>
                    </a:lnB>
                  </a:tcPr>
                </a:tc>
                <a:tc>
                  <a:txBody>
                    <a:bodyPr/>
                    <a:lstStyle/>
                    <a:p>
                      <a:pPr algn="ctr" fontAlgn="b"/>
                      <a:r>
                        <a:rPr lang="en-US" sz="1800" b="0" i="0" u="none" strike="noStrike">
                          <a:solidFill>
                            <a:srgbClr val="000000"/>
                          </a:solidFill>
                          <a:effectLst/>
                          <a:latin typeface="Century Gothic" panose="020B0502020202020204" pitchFamily="34" charset="0"/>
                        </a:rPr>
                        <a:t> 35.000 </a:t>
                      </a:r>
                    </a:p>
                  </a:txBody>
                  <a:tcPr marL="12700" marR="12700" marT="12700" marB="0" anchor="b">
                    <a:lnL>
                      <a:noFill/>
                    </a:lnL>
                    <a:lnR>
                      <a:noFill/>
                    </a:lnR>
                    <a:lnT>
                      <a:noFill/>
                    </a:lnT>
                    <a:lnB>
                      <a:noFill/>
                    </a:lnB>
                  </a:tcPr>
                </a:tc>
                <a:tc>
                  <a:txBody>
                    <a:bodyPr/>
                    <a:lstStyle/>
                    <a:p>
                      <a:pPr algn="ctr" fontAlgn="b"/>
                      <a:r>
                        <a:rPr lang="en-US" sz="1800" b="0" i="0" u="none" strike="noStrike">
                          <a:solidFill>
                            <a:srgbClr val="000000"/>
                          </a:solidFill>
                          <a:effectLst/>
                          <a:latin typeface="Century Gothic" panose="020B0502020202020204" pitchFamily="34" charset="0"/>
                        </a:rPr>
                        <a:t> 35.000 </a:t>
                      </a:r>
                    </a:p>
                  </a:txBody>
                  <a:tcPr marL="12700" marR="12700" marT="12700" marB="0" anchor="b">
                    <a:lnL>
                      <a:noFill/>
                    </a:lnL>
                    <a:lnR>
                      <a:noFill/>
                    </a:lnR>
                    <a:lnT>
                      <a:noFill/>
                    </a:lnT>
                    <a:lnB>
                      <a:noFill/>
                    </a:lnB>
                  </a:tcPr>
                </a:tc>
                <a:tc>
                  <a:txBody>
                    <a:bodyPr/>
                    <a:lstStyle/>
                    <a:p>
                      <a:pPr algn="ctr" fontAlgn="b"/>
                      <a:r>
                        <a:rPr lang="en-US" sz="1800" b="0" i="0" u="none" strike="noStrike">
                          <a:solidFill>
                            <a:srgbClr val="000000"/>
                          </a:solidFill>
                          <a:effectLst/>
                          <a:latin typeface="Century Gothic" panose="020B0502020202020204" pitchFamily="34" charset="0"/>
                        </a:rPr>
                        <a:t> 35.000 </a:t>
                      </a:r>
                    </a:p>
                  </a:txBody>
                  <a:tcPr marL="12700" marR="12700" marT="12700" marB="0" anchor="b">
                    <a:lnL>
                      <a:noFill/>
                    </a:lnL>
                    <a:lnR>
                      <a:noFill/>
                    </a:lnR>
                    <a:lnT>
                      <a:noFill/>
                    </a:lnT>
                    <a:lnB>
                      <a:noFill/>
                    </a:lnB>
                  </a:tcPr>
                </a:tc>
                <a:tc>
                  <a:txBody>
                    <a:bodyPr/>
                    <a:lstStyle/>
                    <a:p>
                      <a:pPr algn="ctr" fontAlgn="b"/>
                      <a:r>
                        <a:rPr lang="en-US" sz="1800" b="0" i="0" u="none" strike="noStrike">
                          <a:solidFill>
                            <a:srgbClr val="000000"/>
                          </a:solidFill>
                          <a:effectLst/>
                          <a:latin typeface="Century Gothic" panose="020B0502020202020204" pitchFamily="34" charset="0"/>
                        </a:rPr>
                        <a:t> 35.000 </a:t>
                      </a:r>
                    </a:p>
                  </a:txBody>
                  <a:tcPr marL="12700" marR="12700" marT="12700" marB="0" anchor="b">
                    <a:lnL>
                      <a:noFill/>
                    </a:lnL>
                    <a:lnR>
                      <a:noFill/>
                    </a:lnR>
                    <a:lnT>
                      <a:noFill/>
                    </a:lnT>
                    <a:lnB>
                      <a:noFill/>
                    </a:lnB>
                  </a:tcPr>
                </a:tc>
                <a:extLst>
                  <a:ext uri="{0D108BD9-81ED-4DB2-BD59-A6C34878D82A}">
                    <a16:rowId xmlns:a16="http://schemas.microsoft.com/office/drawing/2014/main" val="10001"/>
                  </a:ext>
                </a:extLst>
              </a:tr>
            </a:tbl>
          </a:graphicData>
        </a:graphic>
      </p:graphicFrame>
      <p:sp>
        <p:nvSpPr>
          <p:cNvPr id="10" name="Marcador de número de diapositiva 3">
            <a:extLst>
              <a:ext uri="{FF2B5EF4-FFF2-40B4-BE49-F238E27FC236}">
                <a16:creationId xmlns:a16="http://schemas.microsoft.com/office/drawing/2014/main" id="{412B2F6A-5C63-56D4-29BE-C52D28433468}"/>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34</a:t>
            </a:fld>
            <a:endParaRPr lang="en-US" sz="2000" b="1">
              <a:latin typeface="Century Gothic" panose="020B0502020202020204" pitchFamily="34" charset="0"/>
            </a:endParaRPr>
          </a:p>
        </p:txBody>
      </p:sp>
    </p:spTree>
    <p:extLst>
      <p:ext uri="{BB962C8B-B14F-4D97-AF65-F5344CB8AC3E}">
        <p14:creationId xmlns:p14="http://schemas.microsoft.com/office/powerpoint/2010/main" val="728160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P spid="7"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7AA857-1D23-7C99-DE28-8717022DA12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571D9D3-70CE-F967-0ACF-2A402D595356}"/>
              </a:ext>
            </a:extLst>
          </p:cNvPr>
          <p:cNvSpPr>
            <a:spLocks noGrp="1"/>
          </p:cNvSpPr>
          <p:nvPr>
            <p:ph type="title"/>
          </p:nvPr>
        </p:nvSpPr>
        <p:spPr/>
        <p:txBody>
          <a:bodyPr>
            <a:normAutofit/>
          </a:bodyPr>
          <a:lstStyle/>
          <a:p>
            <a:r>
              <a:rPr lang="es-ES">
                <a:latin typeface="Century Gothic" panose="020B0502020202020204" pitchFamily="34" charset="0"/>
              </a:rPr>
              <a:t>Costo del equity</a:t>
            </a:r>
          </a:p>
        </p:txBody>
      </p:sp>
      <p:sp>
        <p:nvSpPr>
          <p:cNvPr id="9" name="Rectángulo 8">
            <a:extLst>
              <a:ext uri="{FF2B5EF4-FFF2-40B4-BE49-F238E27FC236}">
                <a16:creationId xmlns:a16="http://schemas.microsoft.com/office/drawing/2014/main" id="{DC84C882-4B71-1935-CBD3-026C6123319B}"/>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1BEE689C-83AE-BE0F-1ADD-D7ADBA2CF11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1042279E-17B1-7357-E44B-2B14859559D8}"/>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 name="Marcador de contenido 2">
            <a:extLst>
              <a:ext uri="{FF2B5EF4-FFF2-40B4-BE49-F238E27FC236}">
                <a16:creationId xmlns:a16="http://schemas.microsoft.com/office/drawing/2014/main" id="{09EA8F65-012B-76F8-7B3E-D9B276CC61B3}"/>
              </a:ext>
            </a:extLst>
          </p:cNvPr>
          <p:cNvSpPr>
            <a:spLocks noGrp="1"/>
          </p:cNvSpPr>
          <p:nvPr>
            <p:ph idx="1"/>
          </p:nvPr>
        </p:nvSpPr>
        <p:spPr>
          <a:xfrm>
            <a:off x="914051" y="2845969"/>
            <a:ext cx="8089869" cy="522647"/>
          </a:xfrm>
        </p:spPr>
        <p:txBody>
          <a:bodyPr>
            <a:normAutofit/>
          </a:bodyPr>
          <a:lstStyle/>
          <a:p>
            <a:pPr marL="0" indent="0" algn="just">
              <a:buNone/>
            </a:pPr>
            <a:r>
              <a:rPr lang="es-ES">
                <a:solidFill>
                  <a:schemeClr val="accent1"/>
                </a:solidFill>
                <a:latin typeface="Century Gothic" panose="020B0502020202020204" pitchFamily="34" charset="0"/>
              </a:rPr>
              <a:t>Como</a:t>
            </a:r>
            <a:r>
              <a:rPr lang="es-ES" sz="2200"/>
              <a:t> </a:t>
            </a:r>
            <a:r>
              <a:rPr lang="es-ES">
                <a:solidFill>
                  <a:schemeClr val="accent1"/>
                </a:solidFill>
                <a:latin typeface="Century Gothic" panose="020B0502020202020204" pitchFamily="34" charset="0"/>
              </a:rPr>
              <a:t>el proyecto se financia 100% en acciones el WACC= Ke</a:t>
            </a:r>
          </a:p>
        </p:txBody>
      </p:sp>
      <p:pic>
        <p:nvPicPr>
          <p:cNvPr id="6" name="Picture 5">
            <a:extLst>
              <a:ext uri="{FF2B5EF4-FFF2-40B4-BE49-F238E27FC236}">
                <a16:creationId xmlns:a16="http://schemas.microsoft.com/office/drawing/2014/main" id="{9293DB5C-DDC8-786D-2390-B7FBD8567921}"/>
              </a:ext>
            </a:extLst>
          </p:cNvPr>
          <p:cNvPicPr>
            <a:picLocks noChangeAspect="1"/>
          </p:cNvPicPr>
          <p:nvPr/>
        </p:nvPicPr>
        <p:blipFill>
          <a:blip r:embed="rId3"/>
          <a:stretch>
            <a:fillRect/>
          </a:stretch>
        </p:blipFill>
        <p:spPr>
          <a:xfrm>
            <a:off x="3705894" y="3433579"/>
            <a:ext cx="4780211" cy="862516"/>
          </a:xfrm>
          <a:prstGeom prst="rect">
            <a:avLst/>
          </a:prstGeom>
        </p:spPr>
      </p:pic>
      <p:pic>
        <p:nvPicPr>
          <p:cNvPr id="7" name="Picture 6">
            <a:extLst>
              <a:ext uri="{FF2B5EF4-FFF2-40B4-BE49-F238E27FC236}">
                <a16:creationId xmlns:a16="http://schemas.microsoft.com/office/drawing/2014/main" id="{8AA253A1-6319-178C-99F9-22570D02459C}"/>
              </a:ext>
            </a:extLst>
          </p:cNvPr>
          <p:cNvPicPr>
            <a:picLocks noChangeAspect="1"/>
          </p:cNvPicPr>
          <p:nvPr/>
        </p:nvPicPr>
        <p:blipFill>
          <a:blip r:embed="rId4"/>
          <a:stretch>
            <a:fillRect/>
          </a:stretch>
        </p:blipFill>
        <p:spPr>
          <a:xfrm>
            <a:off x="3217480" y="4615668"/>
            <a:ext cx="5757037" cy="893692"/>
          </a:xfrm>
          <a:prstGeom prst="rect">
            <a:avLst/>
          </a:prstGeom>
        </p:spPr>
      </p:pic>
      <p:pic>
        <p:nvPicPr>
          <p:cNvPr id="8" name="Picture 7">
            <a:extLst>
              <a:ext uri="{FF2B5EF4-FFF2-40B4-BE49-F238E27FC236}">
                <a16:creationId xmlns:a16="http://schemas.microsoft.com/office/drawing/2014/main" id="{14BF4396-9085-CDAA-28DD-79A9566A982C}"/>
              </a:ext>
            </a:extLst>
          </p:cNvPr>
          <p:cNvPicPr>
            <a:picLocks noChangeAspect="1"/>
          </p:cNvPicPr>
          <p:nvPr/>
        </p:nvPicPr>
        <p:blipFill>
          <a:blip r:embed="rId5"/>
          <a:stretch>
            <a:fillRect/>
          </a:stretch>
        </p:blipFill>
        <p:spPr>
          <a:xfrm>
            <a:off x="4687914" y="5898301"/>
            <a:ext cx="2816168" cy="363712"/>
          </a:xfrm>
          <a:prstGeom prst="rect">
            <a:avLst/>
          </a:prstGeom>
        </p:spPr>
      </p:pic>
      <p:pic>
        <p:nvPicPr>
          <p:cNvPr id="10" name="Picture 4">
            <a:extLst>
              <a:ext uri="{FF2B5EF4-FFF2-40B4-BE49-F238E27FC236}">
                <a16:creationId xmlns:a16="http://schemas.microsoft.com/office/drawing/2014/main" id="{2EECDC55-DCA6-9656-4FD1-7C46A96DD0E0}"/>
              </a:ext>
            </a:extLst>
          </p:cNvPr>
          <p:cNvPicPr>
            <a:picLocks noChangeAspect="1"/>
          </p:cNvPicPr>
          <p:nvPr/>
        </p:nvPicPr>
        <p:blipFill>
          <a:blip r:embed="rId6"/>
          <a:stretch>
            <a:fillRect/>
          </a:stretch>
        </p:blipFill>
        <p:spPr>
          <a:xfrm>
            <a:off x="2744434" y="1945364"/>
            <a:ext cx="6703132" cy="675577"/>
          </a:xfrm>
          <a:prstGeom prst="rect">
            <a:avLst/>
          </a:prstGeom>
        </p:spPr>
      </p:pic>
      <p:sp>
        <p:nvSpPr>
          <p:cNvPr id="12" name="Marcador de número de diapositiva 3">
            <a:extLst>
              <a:ext uri="{FF2B5EF4-FFF2-40B4-BE49-F238E27FC236}">
                <a16:creationId xmlns:a16="http://schemas.microsoft.com/office/drawing/2014/main" id="{66E99223-3818-D326-A47A-ACEDD9317437}"/>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35</a:t>
            </a:fld>
            <a:endParaRPr lang="en-US" sz="2000" b="1">
              <a:latin typeface="Century Gothic" panose="020B0502020202020204" pitchFamily="34" charset="0"/>
            </a:endParaRPr>
          </a:p>
        </p:txBody>
      </p:sp>
    </p:spTree>
    <p:extLst>
      <p:ext uri="{BB962C8B-B14F-4D97-AF65-F5344CB8AC3E}">
        <p14:creationId xmlns:p14="http://schemas.microsoft.com/office/powerpoint/2010/main" val="5083801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DE81F7-3742-3BF0-32EC-B1AE24732A0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0785549-E41D-436B-147D-8C990F007D9B}"/>
              </a:ext>
            </a:extLst>
          </p:cNvPr>
          <p:cNvSpPr>
            <a:spLocks noGrp="1"/>
          </p:cNvSpPr>
          <p:nvPr>
            <p:ph type="title"/>
          </p:nvPr>
        </p:nvSpPr>
        <p:spPr/>
        <p:txBody>
          <a:bodyPr>
            <a:normAutofit/>
          </a:bodyPr>
          <a:lstStyle/>
          <a:p>
            <a:r>
              <a:rPr lang="es-ES">
                <a:latin typeface="Century Gothic" panose="020B0502020202020204" pitchFamily="34" charset="0"/>
              </a:rPr>
              <a:t>Costo del equity</a:t>
            </a:r>
          </a:p>
        </p:txBody>
      </p:sp>
      <p:sp>
        <p:nvSpPr>
          <p:cNvPr id="9" name="Rectángulo 8">
            <a:extLst>
              <a:ext uri="{FF2B5EF4-FFF2-40B4-BE49-F238E27FC236}">
                <a16:creationId xmlns:a16="http://schemas.microsoft.com/office/drawing/2014/main" id="{72441690-2947-0D7E-5DB7-1D6579FCE29E}"/>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AFD43142-5299-BD75-20B6-2C6FD3E280E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1E329348-7858-EB99-320A-9CFEF7FDB4B5}"/>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 name="Marcador de contenido 2">
            <a:extLst>
              <a:ext uri="{FF2B5EF4-FFF2-40B4-BE49-F238E27FC236}">
                <a16:creationId xmlns:a16="http://schemas.microsoft.com/office/drawing/2014/main" id="{C45F70EF-0C3E-10B3-85CD-1ADD0E8B61C1}"/>
              </a:ext>
            </a:extLst>
          </p:cNvPr>
          <p:cNvSpPr>
            <a:spLocks noGrp="1"/>
          </p:cNvSpPr>
          <p:nvPr>
            <p:ph idx="1"/>
          </p:nvPr>
        </p:nvSpPr>
        <p:spPr>
          <a:xfrm>
            <a:off x="446043" y="2125124"/>
            <a:ext cx="7610476" cy="1433130"/>
          </a:xfrm>
        </p:spPr>
        <p:txBody>
          <a:bodyPr>
            <a:normAutofit/>
          </a:bodyPr>
          <a:lstStyle/>
          <a:p>
            <a:pPr marL="0" indent="0" algn="just">
              <a:buNone/>
            </a:pPr>
            <a:r>
              <a:rPr lang="es-ES">
                <a:solidFill>
                  <a:schemeClr val="accent1"/>
                </a:solidFill>
                <a:latin typeface="Century Gothic" panose="020B0502020202020204" pitchFamily="34" charset="0"/>
              </a:rPr>
              <a:t>¿Es el proyecto económicamente viable? </a:t>
            </a:r>
          </a:p>
          <a:p>
            <a:pPr algn="just"/>
            <a:endParaRPr lang="es-ES">
              <a:solidFill>
                <a:schemeClr val="accent3">
                  <a:lumMod val="75000"/>
                </a:schemeClr>
              </a:solidFill>
              <a:latin typeface="Century Gothic" panose="020B0502020202020204" pitchFamily="34" charset="0"/>
            </a:endParaRPr>
          </a:p>
        </p:txBody>
      </p:sp>
      <mc:AlternateContent xmlns:mc="http://schemas.openxmlformats.org/markup-compatibility/2006">
        <mc:Choice xmlns:a14="http://schemas.microsoft.com/office/drawing/2010/main" Requires="a14">
          <p:sp>
            <p:nvSpPr>
              <p:cNvPr id="6" name="4 CuadroTexto">
                <a:extLst>
                  <a:ext uri="{FF2B5EF4-FFF2-40B4-BE49-F238E27FC236}">
                    <a16:creationId xmlns:a16="http://schemas.microsoft.com/office/drawing/2014/main" id="{F4CD22DF-34AA-1773-954E-68EF474861B1}"/>
                  </a:ext>
                </a:extLst>
              </p:cNvPr>
              <p:cNvSpPr txBox="1"/>
              <p:nvPr/>
            </p:nvSpPr>
            <p:spPr>
              <a:xfrm>
                <a:off x="4643185" y="5790108"/>
                <a:ext cx="247298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s-CO" b="1" i="1">
                          <a:solidFill>
                            <a:schemeClr val="accent1"/>
                          </a:solidFill>
                          <a:latin typeface="Cambria Math" panose="02040503050406030204" pitchFamily="18" charset="0"/>
                        </a:rPr>
                        <m:t>𝑽𝑷𝑵</m:t>
                      </m:r>
                      <m:r>
                        <a:rPr lang="es-CO" b="1">
                          <a:solidFill>
                            <a:schemeClr val="accent1"/>
                          </a:solidFill>
                          <a:latin typeface="Cambria Math" panose="02040503050406030204" pitchFamily="18" charset="0"/>
                        </a:rPr>
                        <m:t> </m:t>
                      </m:r>
                      <m:d>
                        <m:dPr>
                          <m:ctrlPr>
                            <a:rPr lang="es-CO" b="1" i="1">
                              <a:solidFill>
                                <a:schemeClr val="accent1"/>
                              </a:solidFill>
                              <a:latin typeface="Cambria Math" panose="02040503050406030204" pitchFamily="18" charset="0"/>
                            </a:rPr>
                          </m:ctrlPr>
                        </m:dPr>
                        <m:e>
                          <m:r>
                            <a:rPr lang="es-CO" b="1" i="1">
                              <a:solidFill>
                                <a:schemeClr val="accent1"/>
                              </a:solidFill>
                              <a:latin typeface="Cambria Math" panose="02040503050406030204" pitchFamily="18" charset="0"/>
                            </a:rPr>
                            <m:t>𝑭𝑪𝑳</m:t>
                          </m:r>
                        </m:e>
                      </m:d>
                      <m:r>
                        <a:rPr lang="es-CO" b="1">
                          <a:solidFill>
                            <a:schemeClr val="accent1"/>
                          </a:solidFill>
                          <a:latin typeface="Cambria Math" panose="02040503050406030204" pitchFamily="18" charset="0"/>
                        </a:rPr>
                        <m:t>=</m:t>
                      </m:r>
                      <m:r>
                        <a:rPr lang="es-CO" b="1" i="1">
                          <a:solidFill>
                            <a:schemeClr val="accent1"/>
                          </a:solidFill>
                          <a:latin typeface="Cambria Math" panose="02040503050406030204" pitchFamily="18" charset="0"/>
                        </a:rPr>
                        <m:t>𝟕𝟕</m:t>
                      </m:r>
                      <m:r>
                        <a:rPr lang="es-CO" b="1">
                          <a:solidFill>
                            <a:schemeClr val="accent1"/>
                          </a:solidFill>
                          <a:latin typeface="Cambria Math" panose="02040503050406030204" pitchFamily="18" charset="0"/>
                        </a:rPr>
                        <m:t>.</m:t>
                      </m:r>
                      <m:r>
                        <a:rPr lang="es-CO" b="1" i="1">
                          <a:solidFill>
                            <a:schemeClr val="accent1"/>
                          </a:solidFill>
                          <a:latin typeface="Cambria Math" panose="02040503050406030204" pitchFamily="18" charset="0"/>
                        </a:rPr>
                        <m:t>𝟖𝟖𝟔</m:t>
                      </m:r>
                    </m:oMath>
                  </m:oMathPara>
                </a14:m>
                <a:endParaRPr lang="es-CO" b="1">
                  <a:solidFill>
                    <a:schemeClr val="accent1"/>
                  </a:solidFill>
                  <a:latin typeface="Century Gothic" panose="020B0502020202020204" pitchFamily="34" charset="0"/>
                </a:endParaRPr>
              </a:p>
            </p:txBody>
          </p:sp>
        </mc:Choice>
        <mc:Fallback>
          <p:sp>
            <p:nvSpPr>
              <p:cNvPr id="6" name="4 CuadroTexto">
                <a:extLst>
                  <a:ext uri="{FF2B5EF4-FFF2-40B4-BE49-F238E27FC236}">
                    <a16:creationId xmlns:a16="http://schemas.microsoft.com/office/drawing/2014/main" id="{F4CD22DF-34AA-1773-954E-68EF474861B1}"/>
                  </a:ext>
                </a:extLst>
              </p:cNvPr>
              <p:cNvSpPr txBox="1">
                <a:spLocks noRot="1" noChangeAspect="1" noMove="1" noResize="1" noEditPoints="1" noAdjustHandles="1" noChangeArrowheads="1" noChangeShapeType="1" noTextEdit="1"/>
              </p:cNvSpPr>
              <p:nvPr/>
            </p:nvSpPr>
            <p:spPr>
              <a:xfrm>
                <a:off x="4643185" y="5790108"/>
                <a:ext cx="2472985" cy="369332"/>
              </a:xfrm>
              <a:prstGeom prst="rect">
                <a:avLst/>
              </a:prstGeom>
              <a:blipFill>
                <a:blip r:embed="rId3"/>
                <a:stretch>
                  <a:fillRect/>
                </a:stretch>
              </a:blipFill>
            </p:spPr>
            <p:txBody>
              <a:bodyPr/>
              <a:lstStyle/>
              <a:p>
                <a:r>
                  <a:rPr lang="en-US">
                    <a:noFill/>
                  </a:rPr>
                  <a:t> </a:t>
                </a:r>
              </a:p>
            </p:txBody>
          </p:sp>
        </mc:Fallback>
      </mc:AlternateContent>
      <p:pic>
        <p:nvPicPr>
          <p:cNvPr id="8" name="Picture 14">
            <a:extLst>
              <a:ext uri="{FF2B5EF4-FFF2-40B4-BE49-F238E27FC236}">
                <a16:creationId xmlns:a16="http://schemas.microsoft.com/office/drawing/2014/main" id="{259CD1C4-4F99-6016-A45A-48DBFBAA755F}"/>
              </a:ext>
            </a:extLst>
          </p:cNvPr>
          <p:cNvPicPr>
            <a:picLocks noChangeAspect="1"/>
          </p:cNvPicPr>
          <p:nvPr/>
        </p:nvPicPr>
        <p:blipFill>
          <a:blip r:embed="rId4"/>
          <a:stretch>
            <a:fillRect/>
          </a:stretch>
        </p:blipFill>
        <p:spPr>
          <a:xfrm>
            <a:off x="3784400" y="4040013"/>
            <a:ext cx="2816168" cy="363712"/>
          </a:xfrm>
          <a:prstGeom prst="rect">
            <a:avLst/>
          </a:prstGeom>
        </p:spPr>
      </p:pic>
      <p:pic>
        <p:nvPicPr>
          <p:cNvPr id="10" name="Picture 4">
            <a:extLst>
              <a:ext uri="{FF2B5EF4-FFF2-40B4-BE49-F238E27FC236}">
                <a16:creationId xmlns:a16="http://schemas.microsoft.com/office/drawing/2014/main" id="{B9B6C402-0380-CB79-8BAD-0BF1E4D66CB8}"/>
              </a:ext>
            </a:extLst>
          </p:cNvPr>
          <p:cNvPicPr>
            <a:picLocks noChangeAspect="1"/>
          </p:cNvPicPr>
          <p:nvPr/>
        </p:nvPicPr>
        <p:blipFill rotWithShape="1">
          <a:blip r:embed="rId5"/>
          <a:srcRect r="78331"/>
          <a:stretch/>
        </p:blipFill>
        <p:spPr>
          <a:xfrm>
            <a:off x="2208532" y="3884081"/>
            <a:ext cx="1452532" cy="675577"/>
          </a:xfrm>
          <a:prstGeom prst="rect">
            <a:avLst/>
          </a:prstGeom>
        </p:spPr>
      </p:pic>
      <p:sp>
        <p:nvSpPr>
          <p:cNvPr id="12" name="Flecha derecha 5">
            <a:extLst>
              <a:ext uri="{FF2B5EF4-FFF2-40B4-BE49-F238E27FC236}">
                <a16:creationId xmlns:a16="http://schemas.microsoft.com/office/drawing/2014/main" id="{CF52FB83-3B68-C3CA-4CA9-D6027964FFFB}"/>
              </a:ext>
            </a:extLst>
          </p:cNvPr>
          <p:cNvSpPr/>
          <p:nvPr/>
        </p:nvSpPr>
        <p:spPr>
          <a:xfrm>
            <a:off x="6988830" y="4040013"/>
            <a:ext cx="522111" cy="235442"/>
          </a:xfrm>
          <a:prstGeom prst="rightArrow">
            <a:avLst/>
          </a:prstGeom>
          <a:solidFill>
            <a:schemeClr val="accent3">
              <a:lumMod val="75000"/>
            </a:schemeClr>
          </a:solidFill>
          <a:ln>
            <a:solidFill>
              <a:schemeClr val="accent3">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latin typeface="Century Gothic" panose="020B0502020202020204" pitchFamily="34" charset="0"/>
            </a:endParaRPr>
          </a:p>
        </p:txBody>
      </p:sp>
      <p:sp>
        <p:nvSpPr>
          <p:cNvPr id="13" name="Rectángulo 13">
            <a:extLst>
              <a:ext uri="{FF2B5EF4-FFF2-40B4-BE49-F238E27FC236}">
                <a16:creationId xmlns:a16="http://schemas.microsoft.com/office/drawing/2014/main" id="{C1E89C11-CEB1-6008-6350-257B87498683}"/>
              </a:ext>
            </a:extLst>
          </p:cNvPr>
          <p:cNvSpPr/>
          <p:nvPr/>
        </p:nvSpPr>
        <p:spPr>
          <a:xfrm>
            <a:off x="7785948" y="3983485"/>
            <a:ext cx="1226618" cy="369332"/>
          </a:xfrm>
          <a:prstGeom prst="rect">
            <a:avLst/>
          </a:prstGeom>
          <a:solidFill>
            <a:schemeClr val="accent1">
              <a:lumMod val="10000"/>
              <a:lumOff val="90000"/>
            </a:schemeClr>
          </a:solidFill>
        </p:spPr>
        <p:txBody>
          <a:bodyPr wrap="none">
            <a:spAutoFit/>
          </a:bodyPr>
          <a:lstStyle/>
          <a:p>
            <a:pPr algn="ctr"/>
            <a:r>
              <a:rPr lang="en-US">
                <a:solidFill>
                  <a:srgbClr val="000000"/>
                </a:solidFill>
                <a:latin typeface="Century Gothic" panose="020B0502020202020204" pitchFamily="34" charset="0"/>
              </a:rPr>
              <a:t>4,82% E.T.</a:t>
            </a:r>
            <a:endParaRPr lang="es-CO">
              <a:latin typeface="Century Gothic" panose="020B0502020202020204" pitchFamily="34" charset="0"/>
            </a:endParaRPr>
          </a:p>
        </p:txBody>
      </p:sp>
      <p:pic>
        <p:nvPicPr>
          <p:cNvPr id="14" name="Picture 30" descr="latex-image-1.pdf">
            <a:extLst>
              <a:ext uri="{FF2B5EF4-FFF2-40B4-BE49-F238E27FC236}">
                <a16:creationId xmlns:a16="http://schemas.microsoft.com/office/drawing/2014/main" id="{F90865D2-1C33-415D-A553-E2B53997728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975200" y="4746660"/>
            <a:ext cx="4081319" cy="798519"/>
          </a:xfrm>
          <a:prstGeom prst="rect">
            <a:avLst/>
          </a:prstGeom>
        </p:spPr>
      </p:pic>
      <p:graphicFrame>
        <p:nvGraphicFramePr>
          <p:cNvPr id="15" name="Table 14">
            <a:extLst>
              <a:ext uri="{FF2B5EF4-FFF2-40B4-BE49-F238E27FC236}">
                <a16:creationId xmlns:a16="http://schemas.microsoft.com/office/drawing/2014/main" id="{A376CE7C-5A8B-EB02-8079-032ADE9D1B53}"/>
              </a:ext>
            </a:extLst>
          </p:cNvPr>
          <p:cNvGraphicFramePr>
            <a:graphicFrameLocks noGrp="1"/>
          </p:cNvGraphicFramePr>
          <p:nvPr>
            <p:extLst>
              <p:ext uri="{D42A27DB-BD31-4B8C-83A1-F6EECF244321}">
                <p14:modId xmlns:p14="http://schemas.microsoft.com/office/powerpoint/2010/main" val="3833192348"/>
              </p:ext>
            </p:extLst>
          </p:nvPr>
        </p:nvGraphicFramePr>
        <p:xfrm>
          <a:off x="1017181" y="3068546"/>
          <a:ext cx="10157638" cy="574040"/>
        </p:xfrm>
        <a:graphic>
          <a:graphicData uri="http://schemas.openxmlformats.org/drawingml/2006/table">
            <a:tbl>
              <a:tblPr/>
              <a:tblGrid>
                <a:gridCol w="1296670">
                  <a:extLst>
                    <a:ext uri="{9D8B030D-6E8A-4147-A177-3AD203B41FA5}">
                      <a16:colId xmlns:a16="http://schemas.microsoft.com/office/drawing/2014/main" val="20000"/>
                    </a:ext>
                  </a:extLst>
                </a:gridCol>
                <a:gridCol w="1179141">
                  <a:extLst>
                    <a:ext uri="{9D8B030D-6E8A-4147-A177-3AD203B41FA5}">
                      <a16:colId xmlns:a16="http://schemas.microsoft.com/office/drawing/2014/main" val="20001"/>
                    </a:ext>
                  </a:extLst>
                </a:gridCol>
                <a:gridCol w="921820">
                  <a:extLst>
                    <a:ext uri="{9D8B030D-6E8A-4147-A177-3AD203B41FA5}">
                      <a16:colId xmlns:a16="http://schemas.microsoft.com/office/drawing/2014/main" val="20002"/>
                    </a:ext>
                  </a:extLst>
                </a:gridCol>
                <a:gridCol w="883411">
                  <a:extLst>
                    <a:ext uri="{9D8B030D-6E8A-4147-A177-3AD203B41FA5}">
                      <a16:colId xmlns:a16="http://schemas.microsoft.com/office/drawing/2014/main" val="20003"/>
                    </a:ext>
                  </a:extLst>
                </a:gridCol>
                <a:gridCol w="883411">
                  <a:extLst>
                    <a:ext uri="{9D8B030D-6E8A-4147-A177-3AD203B41FA5}">
                      <a16:colId xmlns:a16="http://schemas.microsoft.com/office/drawing/2014/main" val="20004"/>
                    </a:ext>
                  </a:extLst>
                </a:gridCol>
                <a:gridCol w="998637">
                  <a:extLst>
                    <a:ext uri="{9D8B030D-6E8A-4147-A177-3AD203B41FA5}">
                      <a16:colId xmlns:a16="http://schemas.microsoft.com/office/drawing/2014/main" val="20005"/>
                    </a:ext>
                  </a:extLst>
                </a:gridCol>
                <a:gridCol w="998637">
                  <a:extLst>
                    <a:ext uri="{9D8B030D-6E8A-4147-A177-3AD203B41FA5}">
                      <a16:colId xmlns:a16="http://schemas.microsoft.com/office/drawing/2014/main" val="20006"/>
                    </a:ext>
                  </a:extLst>
                </a:gridCol>
                <a:gridCol w="998637">
                  <a:extLst>
                    <a:ext uri="{9D8B030D-6E8A-4147-A177-3AD203B41FA5}">
                      <a16:colId xmlns:a16="http://schemas.microsoft.com/office/drawing/2014/main" val="20007"/>
                    </a:ext>
                  </a:extLst>
                </a:gridCol>
                <a:gridCol w="998637">
                  <a:extLst>
                    <a:ext uri="{9D8B030D-6E8A-4147-A177-3AD203B41FA5}">
                      <a16:colId xmlns:a16="http://schemas.microsoft.com/office/drawing/2014/main" val="20008"/>
                    </a:ext>
                  </a:extLst>
                </a:gridCol>
                <a:gridCol w="998637">
                  <a:extLst>
                    <a:ext uri="{9D8B030D-6E8A-4147-A177-3AD203B41FA5}">
                      <a16:colId xmlns:a16="http://schemas.microsoft.com/office/drawing/2014/main" val="20009"/>
                    </a:ext>
                  </a:extLst>
                </a:gridCol>
              </a:tblGrid>
              <a:tr h="190500">
                <a:tc>
                  <a:txBody>
                    <a:bodyPr/>
                    <a:lstStyle/>
                    <a:p>
                      <a:pPr algn="ctr" fontAlgn="b"/>
                      <a:r>
                        <a:rPr lang="es-ES_tradnl" sz="1800" b="1" i="0" u="none" strike="noStrike" noProof="0">
                          <a:solidFill>
                            <a:srgbClr val="FFFFFF"/>
                          </a:solidFill>
                          <a:effectLst/>
                          <a:latin typeface="Century Gothic" panose="020B0502020202020204" pitchFamily="34" charset="0"/>
                        </a:rPr>
                        <a:t>Periodo (T)</a:t>
                      </a:r>
                    </a:p>
                  </a:txBody>
                  <a:tcPr marL="12700" marR="12700" marT="12700" marB="0" anchor="b">
                    <a:lnL>
                      <a:noFill/>
                    </a:lnL>
                    <a:lnR>
                      <a:noFill/>
                    </a:lnR>
                    <a:lnT>
                      <a:noFill/>
                    </a:lnT>
                    <a:lnB>
                      <a:noFill/>
                    </a:lnB>
                    <a:solidFill>
                      <a:schemeClr val="accent2">
                        <a:lumMod val="75000"/>
                      </a:schemeClr>
                    </a:solidFill>
                  </a:tcPr>
                </a:tc>
                <a:tc>
                  <a:txBody>
                    <a:bodyPr/>
                    <a:lstStyle/>
                    <a:p>
                      <a:pPr algn="ctr" fontAlgn="b"/>
                      <a:r>
                        <a:rPr lang="en-US" sz="1800" b="1" i="0" u="none" strike="noStrike">
                          <a:solidFill>
                            <a:srgbClr val="FFFFFF"/>
                          </a:solidFill>
                          <a:effectLst/>
                          <a:latin typeface="Century Gothic" panose="020B0502020202020204" pitchFamily="34" charset="0"/>
                        </a:rPr>
                        <a:t>0</a:t>
                      </a:r>
                    </a:p>
                  </a:txBody>
                  <a:tcPr marL="12700" marR="12700" marT="12700" marB="0" anchor="b">
                    <a:lnL>
                      <a:noFill/>
                    </a:lnL>
                    <a:lnR>
                      <a:noFill/>
                    </a:lnR>
                    <a:lnT>
                      <a:noFill/>
                    </a:lnT>
                    <a:lnB>
                      <a:noFill/>
                    </a:lnB>
                    <a:solidFill>
                      <a:schemeClr val="accent2">
                        <a:lumMod val="75000"/>
                      </a:schemeClr>
                    </a:solidFill>
                  </a:tcPr>
                </a:tc>
                <a:tc>
                  <a:txBody>
                    <a:bodyPr/>
                    <a:lstStyle/>
                    <a:p>
                      <a:pPr algn="ctr" fontAlgn="b"/>
                      <a:r>
                        <a:rPr lang="en-US" sz="1800" b="1" i="0" u="none" strike="noStrike">
                          <a:solidFill>
                            <a:srgbClr val="FFFFFF"/>
                          </a:solidFill>
                          <a:effectLst/>
                          <a:latin typeface="Century Gothic" panose="020B0502020202020204" pitchFamily="34" charset="0"/>
                        </a:rPr>
                        <a:t>1</a:t>
                      </a:r>
                    </a:p>
                  </a:txBody>
                  <a:tcPr marL="12700" marR="12700" marT="12700" marB="0" anchor="b">
                    <a:lnL>
                      <a:noFill/>
                    </a:lnL>
                    <a:lnR>
                      <a:noFill/>
                    </a:lnR>
                    <a:lnT>
                      <a:noFill/>
                    </a:lnT>
                    <a:lnB>
                      <a:noFill/>
                    </a:lnB>
                    <a:solidFill>
                      <a:schemeClr val="accent2">
                        <a:lumMod val="75000"/>
                      </a:schemeClr>
                    </a:solidFill>
                  </a:tcPr>
                </a:tc>
                <a:tc>
                  <a:txBody>
                    <a:bodyPr/>
                    <a:lstStyle/>
                    <a:p>
                      <a:pPr algn="ctr" fontAlgn="b"/>
                      <a:r>
                        <a:rPr lang="en-US" sz="1800" b="1" i="0" u="none" strike="noStrike">
                          <a:solidFill>
                            <a:srgbClr val="FFFFFF"/>
                          </a:solidFill>
                          <a:effectLst/>
                          <a:latin typeface="Century Gothic" panose="020B0502020202020204" pitchFamily="34" charset="0"/>
                        </a:rPr>
                        <a:t>2</a:t>
                      </a:r>
                    </a:p>
                  </a:txBody>
                  <a:tcPr marL="12700" marR="12700" marT="12700" marB="0" anchor="b">
                    <a:lnL>
                      <a:noFill/>
                    </a:lnL>
                    <a:lnR>
                      <a:noFill/>
                    </a:lnR>
                    <a:lnT>
                      <a:noFill/>
                    </a:lnT>
                    <a:lnB>
                      <a:noFill/>
                    </a:lnB>
                    <a:solidFill>
                      <a:schemeClr val="accent2">
                        <a:lumMod val="75000"/>
                      </a:schemeClr>
                    </a:solidFill>
                  </a:tcPr>
                </a:tc>
                <a:tc>
                  <a:txBody>
                    <a:bodyPr/>
                    <a:lstStyle/>
                    <a:p>
                      <a:pPr algn="ctr" fontAlgn="b"/>
                      <a:r>
                        <a:rPr lang="en-US" sz="1800" b="1" i="0" u="none" strike="noStrike">
                          <a:solidFill>
                            <a:srgbClr val="FFFFFF"/>
                          </a:solidFill>
                          <a:effectLst/>
                          <a:latin typeface="Century Gothic" panose="020B0502020202020204" pitchFamily="34" charset="0"/>
                        </a:rPr>
                        <a:t>3</a:t>
                      </a:r>
                    </a:p>
                  </a:txBody>
                  <a:tcPr marL="12700" marR="12700" marT="12700" marB="0" anchor="b">
                    <a:lnL>
                      <a:noFill/>
                    </a:lnL>
                    <a:lnR>
                      <a:noFill/>
                    </a:lnR>
                    <a:lnT>
                      <a:noFill/>
                    </a:lnT>
                    <a:lnB>
                      <a:noFill/>
                    </a:lnB>
                    <a:solidFill>
                      <a:schemeClr val="accent2">
                        <a:lumMod val="75000"/>
                      </a:schemeClr>
                    </a:solidFill>
                  </a:tcPr>
                </a:tc>
                <a:tc>
                  <a:txBody>
                    <a:bodyPr/>
                    <a:lstStyle/>
                    <a:p>
                      <a:pPr algn="ctr" fontAlgn="b"/>
                      <a:r>
                        <a:rPr lang="en-US" sz="1800" b="1" i="0" u="none" strike="noStrike">
                          <a:solidFill>
                            <a:srgbClr val="FFFFFF"/>
                          </a:solidFill>
                          <a:effectLst/>
                          <a:latin typeface="Century Gothic" panose="020B0502020202020204" pitchFamily="34" charset="0"/>
                        </a:rPr>
                        <a:t>4</a:t>
                      </a:r>
                    </a:p>
                  </a:txBody>
                  <a:tcPr marL="12700" marR="12700" marT="12700" marB="0" anchor="b">
                    <a:lnL>
                      <a:noFill/>
                    </a:lnL>
                    <a:lnR>
                      <a:noFill/>
                    </a:lnR>
                    <a:lnT>
                      <a:noFill/>
                    </a:lnT>
                    <a:lnB>
                      <a:noFill/>
                    </a:lnB>
                    <a:solidFill>
                      <a:schemeClr val="accent2">
                        <a:lumMod val="75000"/>
                      </a:schemeClr>
                    </a:solidFill>
                  </a:tcPr>
                </a:tc>
                <a:tc>
                  <a:txBody>
                    <a:bodyPr/>
                    <a:lstStyle/>
                    <a:p>
                      <a:pPr algn="ctr" fontAlgn="b"/>
                      <a:r>
                        <a:rPr lang="en-US" sz="1800" b="1" i="0" u="none" strike="noStrike">
                          <a:solidFill>
                            <a:srgbClr val="FFFFFF"/>
                          </a:solidFill>
                          <a:effectLst/>
                          <a:latin typeface="Century Gothic" panose="020B0502020202020204" pitchFamily="34" charset="0"/>
                        </a:rPr>
                        <a:t>5</a:t>
                      </a:r>
                    </a:p>
                  </a:txBody>
                  <a:tcPr marL="12700" marR="12700" marT="12700" marB="0" anchor="b">
                    <a:lnL>
                      <a:noFill/>
                    </a:lnL>
                    <a:lnR>
                      <a:noFill/>
                    </a:lnR>
                    <a:lnT>
                      <a:noFill/>
                    </a:lnT>
                    <a:lnB>
                      <a:noFill/>
                    </a:lnB>
                    <a:solidFill>
                      <a:schemeClr val="accent2">
                        <a:lumMod val="75000"/>
                      </a:schemeClr>
                    </a:solidFill>
                  </a:tcPr>
                </a:tc>
                <a:tc>
                  <a:txBody>
                    <a:bodyPr/>
                    <a:lstStyle/>
                    <a:p>
                      <a:pPr algn="ctr" fontAlgn="b"/>
                      <a:r>
                        <a:rPr lang="en-US" sz="1800" b="1" i="0" u="none" strike="noStrike">
                          <a:solidFill>
                            <a:srgbClr val="FFFFFF"/>
                          </a:solidFill>
                          <a:effectLst/>
                          <a:latin typeface="Century Gothic" panose="020B0502020202020204" pitchFamily="34" charset="0"/>
                        </a:rPr>
                        <a:t>6</a:t>
                      </a:r>
                    </a:p>
                  </a:txBody>
                  <a:tcPr marL="12700" marR="12700" marT="12700" marB="0" anchor="b">
                    <a:lnL>
                      <a:noFill/>
                    </a:lnL>
                    <a:lnR>
                      <a:noFill/>
                    </a:lnR>
                    <a:lnT>
                      <a:noFill/>
                    </a:lnT>
                    <a:lnB>
                      <a:noFill/>
                    </a:lnB>
                    <a:solidFill>
                      <a:schemeClr val="accent2">
                        <a:lumMod val="75000"/>
                      </a:schemeClr>
                    </a:solidFill>
                  </a:tcPr>
                </a:tc>
                <a:tc>
                  <a:txBody>
                    <a:bodyPr/>
                    <a:lstStyle/>
                    <a:p>
                      <a:pPr algn="ctr" fontAlgn="b"/>
                      <a:r>
                        <a:rPr lang="en-US" sz="1800" b="1" i="0" u="none" strike="noStrike">
                          <a:solidFill>
                            <a:srgbClr val="FFFFFF"/>
                          </a:solidFill>
                          <a:effectLst/>
                          <a:latin typeface="Century Gothic" panose="020B0502020202020204" pitchFamily="34" charset="0"/>
                        </a:rPr>
                        <a:t>7</a:t>
                      </a:r>
                    </a:p>
                  </a:txBody>
                  <a:tcPr marL="12700" marR="12700" marT="12700" marB="0" anchor="b">
                    <a:lnL>
                      <a:noFill/>
                    </a:lnL>
                    <a:lnR>
                      <a:noFill/>
                    </a:lnR>
                    <a:lnT>
                      <a:noFill/>
                    </a:lnT>
                    <a:lnB>
                      <a:noFill/>
                    </a:lnB>
                    <a:solidFill>
                      <a:schemeClr val="accent2">
                        <a:lumMod val="75000"/>
                      </a:schemeClr>
                    </a:solidFill>
                  </a:tcPr>
                </a:tc>
                <a:tc>
                  <a:txBody>
                    <a:bodyPr/>
                    <a:lstStyle/>
                    <a:p>
                      <a:pPr algn="ctr" fontAlgn="b"/>
                      <a:r>
                        <a:rPr lang="en-US" sz="1800" b="1" i="0" u="none" strike="noStrike">
                          <a:solidFill>
                            <a:srgbClr val="FFFFFF"/>
                          </a:solidFill>
                          <a:effectLst/>
                          <a:latin typeface="Century Gothic" panose="020B0502020202020204" pitchFamily="34" charset="0"/>
                        </a:rPr>
                        <a:t>8</a:t>
                      </a:r>
                    </a:p>
                  </a:txBody>
                  <a:tcPr marL="12700" marR="12700" marT="12700" marB="0" anchor="b">
                    <a:lnL>
                      <a:noFill/>
                    </a:lnL>
                    <a:lnR>
                      <a:noFill/>
                    </a:lnR>
                    <a:lnT>
                      <a:noFill/>
                    </a:lnT>
                    <a:lnB>
                      <a:noFill/>
                    </a:lnB>
                    <a:solidFill>
                      <a:schemeClr val="accent2">
                        <a:lumMod val="75000"/>
                      </a:schemeClr>
                    </a:solidFill>
                  </a:tcPr>
                </a:tc>
                <a:extLst>
                  <a:ext uri="{0D108BD9-81ED-4DB2-BD59-A6C34878D82A}">
                    <a16:rowId xmlns:a16="http://schemas.microsoft.com/office/drawing/2014/main" val="10000"/>
                  </a:ext>
                </a:extLst>
              </a:tr>
              <a:tr h="190500">
                <a:tc>
                  <a:txBody>
                    <a:bodyPr/>
                    <a:lstStyle/>
                    <a:p>
                      <a:pPr algn="ctr" fontAlgn="b"/>
                      <a:r>
                        <a:rPr lang="en-US" sz="1800" b="0" i="0" u="none" strike="noStrike">
                          <a:solidFill>
                            <a:srgbClr val="000000"/>
                          </a:solidFill>
                          <a:effectLst/>
                          <a:latin typeface="Century Gothic" panose="020B0502020202020204" pitchFamily="34" charset="0"/>
                        </a:rPr>
                        <a:t>FCL</a:t>
                      </a:r>
                    </a:p>
                  </a:txBody>
                  <a:tcPr marL="12700" marR="12700" marT="12700" marB="0" anchor="b">
                    <a:lnL>
                      <a:noFill/>
                    </a:lnL>
                    <a:lnR>
                      <a:noFill/>
                    </a:lnR>
                    <a:lnT>
                      <a:noFill/>
                    </a:lnT>
                    <a:lnB>
                      <a:noFill/>
                    </a:lnB>
                  </a:tcPr>
                </a:tc>
                <a:tc>
                  <a:txBody>
                    <a:bodyPr/>
                    <a:lstStyle/>
                    <a:p>
                      <a:pPr algn="ctr" fontAlgn="b"/>
                      <a:r>
                        <a:rPr lang="en-US" sz="1800" b="0" i="0" u="none" strike="noStrike">
                          <a:solidFill>
                            <a:srgbClr val="000000"/>
                          </a:solidFill>
                          <a:effectLst/>
                          <a:latin typeface="Century Gothic" panose="020B0502020202020204" pitchFamily="34" charset="0"/>
                        </a:rPr>
                        <a:t> (150.000)</a:t>
                      </a:r>
                    </a:p>
                  </a:txBody>
                  <a:tcPr marL="12700" marR="12700" marT="12700" marB="0" anchor="b">
                    <a:lnL>
                      <a:noFill/>
                    </a:lnL>
                    <a:lnR>
                      <a:noFill/>
                    </a:lnR>
                    <a:lnT>
                      <a:noFill/>
                    </a:lnT>
                    <a:lnB>
                      <a:noFill/>
                    </a:lnB>
                  </a:tcPr>
                </a:tc>
                <a:tc>
                  <a:txBody>
                    <a:bodyPr/>
                    <a:lstStyle/>
                    <a:p>
                      <a:pPr algn="ctr" fontAlgn="b"/>
                      <a:r>
                        <a:rPr lang="en-US" sz="1800" b="0" i="0" u="none" strike="noStrike">
                          <a:solidFill>
                            <a:srgbClr val="000000"/>
                          </a:solidFill>
                          <a:effectLst/>
                          <a:latin typeface="Century Gothic" panose="020B0502020202020204" pitchFamily="34" charset="0"/>
                        </a:rPr>
                        <a:t> 35.000 </a:t>
                      </a:r>
                    </a:p>
                  </a:txBody>
                  <a:tcPr marL="12700" marR="12700" marT="12700" marB="0" anchor="b">
                    <a:lnL>
                      <a:noFill/>
                    </a:lnL>
                    <a:lnR>
                      <a:noFill/>
                    </a:lnR>
                    <a:lnT>
                      <a:noFill/>
                    </a:lnT>
                    <a:lnB>
                      <a:noFill/>
                    </a:lnB>
                  </a:tcPr>
                </a:tc>
                <a:tc>
                  <a:txBody>
                    <a:bodyPr/>
                    <a:lstStyle/>
                    <a:p>
                      <a:pPr algn="ctr" fontAlgn="b"/>
                      <a:r>
                        <a:rPr lang="en-US" sz="1800" b="0" i="0" u="none" strike="noStrike">
                          <a:solidFill>
                            <a:srgbClr val="000000"/>
                          </a:solidFill>
                          <a:effectLst/>
                          <a:latin typeface="Century Gothic" panose="020B0502020202020204" pitchFamily="34" charset="0"/>
                        </a:rPr>
                        <a:t> 35.000 </a:t>
                      </a:r>
                    </a:p>
                  </a:txBody>
                  <a:tcPr marL="12700" marR="12700" marT="12700" marB="0" anchor="b">
                    <a:lnL>
                      <a:noFill/>
                    </a:lnL>
                    <a:lnR>
                      <a:noFill/>
                    </a:lnR>
                    <a:lnT>
                      <a:noFill/>
                    </a:lnT>
                    <a:lnB>
                      <a:noFill/>
                    </a:lnB>
                  </a:tcPr>
                </a:tc>
                <a:tc>
                  <a:txBody>
                    <a:bodyPr/>
                    <a:lstStyle/>
                    <a:p>
                      <a:pPr algn="ctr" fontAlgn="b"/>
                      <a:r>
                        <a:rPr lang="en-US" sz="1800" b="0" i="0" u="none" strike="noStrike">
                          <a:solidFill>
                            <a:srgbClr val="000000"/>
                          </a:solidFill>
                          <a:effectLst/>
                          <a:latin typeface="Century Gothic" panose="020B0502020202020204" pitchFamily="34" charset="0"/>
                        </a:rPr>
                        <a:t> 35.000 </a:t>
                      </a:r>
                    </a:p>
                  </a:txBody>
                  <a:tcPr marL="12700" marR="12700" marT="12700" marB="0" anchor="b">
                    <a:lnL>
                      <a:noFill/>
                    </a:lnL>
                    <a:lnR>
                      <a:noFill/>
                    </a:lnR>
                    <a:lnT>
                      <a:noFill/>
                    </a:lnT>
                    <a:lnB>
                      <a:noFill/>
                    </a:lnB>
                  </a:tcPr>
                </a:tc>
                <a:tc>
                  <a:txBody>
                    <a:bodyPr/>
                    <a:lstStyle/>
                    <a:p>
                      <a:pPr algn="ctr" fontAlgn="b"/>
                      <a:r>
                        <a:rPr lang="en-US" sz="1800" b="0" i="0" u="none" strike="noStrike">
                          <a:solidFill>
                            <a:srgbClr val="000000"/>
                          </a:solidFill>
                          <a:effectLst/>
                          <a:latin typeface="Century Gothic" panose="020B0502020202020204" pitchFamily="34" charset="0"/>
                        </a:rPr>
                        <a:t> 35.000 </a:t>
                      </a:r>
                    </a:p>
                  </a:txBody>
                  <a:tcPr marL="12700" marR="12700" marT="12700" marB="0" anchor="b">
                    <a:lnL>
                      <a:noFill/>
                    </a:lnL>
                    <a:lnR>
                      <a:noFill/>
                    </a:lnR>
                    <a:lnT>
                      <a:noFill/>
                    </a:lnT>
                    <a:lnB>
                      <a:noFill/>
                    </a:lnB>
                  </a:tcPr>
                </a:tc>
                <a:tc>
                  <a:txBody>
                    <a:bodyPr/>
                    <a:lstStyle/>
                    <a:p>
                      <a:pPr algn="ctr" fontAlgn="b"/>
                      <a:r>
                        <a:rPr lang="en-US" sz="1800" b="0" i="0" u="none" strike="noStrike">
                          <a:solidFill>
                            <a:srgbClr val="000000"/>
                          </a:solidFill>
                          <a:effectLst/>
                          <a:latin typeface="Century Gothic" panose="020B0502020202020204" pitchFamily="34" charset="0"/>
                        </a:rPr>
                        <a:t> 35.000 </a:t>
                      </a:r>
                    </a:p>
                  </a:txBody>
                  <a:tcPr marL="12700" marR="12700" marT="12700" marB="0" anchor="b">
                    <a:lnL>
                      <a:noFill/>
                    </a:lnL>
                    <a:lnR>
                      <a:noFill/>
                    </a:lnR>
                    <a:lnT>
                      <a:noFill/>
                    </a:lnT>
                    <a:lnB>
                      <a:noFill/>
                    </a:lnB>
                  </a:tcPr>
                </a:tc>
                <a:tc>
                  <a:txBody>
                    <a:bodyPr/>
                    <a:lstStyle/>
                    <a:p>
                      <a:pPr algn="ctr" fontAlgn="b"/>
                      <a:r>
                        <a:rPr lang="en-US" sz="1800" b="0" i="0" u="none" strike="noStrike">
                          <a:solidFill>
                            <a:srgbClr val="000000"/>
                          </a:solidFill>
                          <a:effectLst/>
                          <a:latin typeface="Century Gothic" panose="020B0502020202020204" pitchFamily="34" charset="0"/>
                        </a:rPr>
                        <a:t> 35.000 </a:t>
                      </a:r>
                    </a:p>
                  </a:txBody>
                  <a:tcPr marL="12700" marR="12700" marT="12700" marB="0" anchor="b">
                    <a:lnL>
                      <a:noFill/>
                    </a:lnL>
                    <a:lnR>
                      <a:noFill/>
                    </a:lnR>
                    <a:lnT>
                      <a:noFill/>
                    </a:lnT>
                    <a:lnB>
                      <a:noFill/>
                    </a:lnB>
                  </a:tcPr>
                </a:tc>
                <a:tc>
                  <a:txBody>
                    <a:bodyPr/>
                    <a:lstStyle/>
                    <a:p>
                      <a:pPr algn="ctr" fontAlgn="b"/>
                      <a:r>
                        <a:rPr lang="en-US" sz="1800" b="0" i="0" u="none" strike="noStrike">
                          <a:solidFill>
                            <a:srgbClr val="000000"/>
                          </a:solidFill>
                          <a:effectLst/>
                          <a:latin typeface="Century Gothic" panose="020B0502020202020204" pitchFamily="34" charset="0"/>
                        </a:rPr>
                        <a:t> 35.000 </a:t>
                      </a:r>
                    </a:p>
                  </a:txBody>
                  <a:tcPr marL="12700" marR="12700" marT="12700" marB="0" anchor="b">
                    <a:lnL>
                      <a:noFill/>
                    </a:lnL>
                    <a:lnR>
                      <a:noFill/>
                    </a:lnR>
                    <a:lnT>
                      <a:noFill/>
                    </a:lnT>
                    <a:lnB>
                      <a:noFill/>
                    </a:lnB>
                  </a:tcPr>
                </a:tc>
                <a:tc>
                  <a:txBody>
                    <a:bodyPr/>
                    <a:lstStyle/>
                    <a:p>
                      <a:pPr algn="ctr" fontAlgn="b"/>
                      <a:r>
                        <a:rPr lang="en-US" sz="1800" b="0" i="0" u="none" strike="noStrike">
                          <a:solidFill>
                            <a:srgbClr val="000000"/>
                          </a:solidFill>
                          <a:effectLst/>
                          <a:latin typeface="Century Gothic" panose="020B0502020202020204" pitchFamily="34" charset="0"/>
                        </a:rPr>
                        <a:t> 35.000 </a:t>
                      </a:r>
                    </a:p>
                  </a:txBody>
                  <a:tcPr marL="12700" marR="12700" marT="12700" marB="0" anchor="b">
                    <a:lnL>
                      <a:noFill/>
                    </a:lnL>
                    <a:lnR>
                      <a:noFill/>
                    </a:lnR>
                    <a:lnT>
                      <a:noFill/>
                    </a:lnT>
                    <a:lnB>
                      <a:noFill/>
                    </a:lnB>
                  </a:tcPr>
                </a:tc>
                <a:extLst>
                  <a:ext uri="{0D108BD9-81ED-4DB2-BD59-A6C34878D82A}">
                    <a16:rowId xmlns:a16="http://schemas.microsoft.com/office/drawing/2014/main" val="10001"/>
                  </a:ext>
                </a:extLst>
              </a:tr>
            </a:tbl>
          </a:graphicData>
        </a:graphic>
      </p:graphicFrame>
      <p:sp>
        <p:nvSpPr>
          <p:cNvPr id="7" name="Marcador de número de diapositiva 3">
            <a:extLst>
              <a:ext uri="{FF2B5EF4-FFF2-40B4-BE49-F238E27FC236}">
                <a16:creationId xmlns:a16="http://schemas.microsoft.com/office/drawing/2014/main" id="{FD5DAB61-1FAC-7EC3-AF62-4AE64EB4B118}"/>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36</a:t>
            </a:fld>
            <a:endParaRPr lang="en-US" sz="2000" b="1">
              <a:latin typeface="Century Gothic" panose="020B0502020202020204" pitchFamily="34" charset="0"/>
            </a:endParaRPr>
          </a:p>
        </p:txBody>
      </p:sp>
    </p:spTree>
    <p:extLst>
      <p:ext uri="{BB962C8B-B14F-4D97-AF65-F5344CB8AC3E}">
        <p14:creationId xmlns:p14="http://schemas.microsoft.com/office/powerpoint/2010/main" val="8987191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500"/>
                                        <p:tgtEl>
                                          <p:spTgt spid="12"/>
                                        </p:tgtEl>
                                      </p:cBhvr>
                                    </p:animEffect>
                                  </p:childTnLst>
                                </p:cTn>
                              </p:par>
                              <p:par>
                                <p:cTn id="14" presetID="1" presetClass="entr" presetSubtype="0"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500"/>
                                        <p:tgtEl>
                                          <p:spTgt spid="14"/>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2" grpId="0" animBg="1"/>
      <p:bldP spid="13"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7BFC75-B154-B48A-FFE9-47E5EB90E15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040E307-1551-9995-2944-57DF71BDEE6A}"/>
              </a:ext>
            </a:extLst>
          </p:cNvPr>
          <p:cNvSpPr>
            <a:spLocks noGrp="1"/>
          </p:cNvSpPr>
          <p:nvPr>
            <p:ph type="ctrTitle"/>
          </p:nvPr>
        </p:nvSpPr>
        <p:spPr>
          <a:xfrm>
            <a:off x="486108" y="1822352"/>
            <a:ext cx="10550396" cy="826833"/>
          </a:xfrm>
        </p:spPr>
        <p:txBody>
          <a:bodyPr>
            <a:noAutofit/>
          </a:bodyPr>
          <a:lstStyle/>
          <a:p>
            <a:r>
              <a:rPr lang="es-ES" sz="3200">
                <a:latin typeface="Century Gothic"/>
              </a:rPr>
              <a:t>Introducción al costo de capital</a:t>
            </a:r>
            <a:endParaRPr lang="es-CO" sz="3200">
              <a:latin typeface="Century Gothic" panose="020B0502020202020204" pitchFamily="34" charset="0"/>
            </a:endParaRPr>
          </a:p>
        </p:txBody>
      </p:sp>
      <p:sp>
        <p:nvSpPr>
          <p:cNvPr id="8" name="Rectángulo 7">
            <a:extLst>
              <a:ext uri="{FF2B5EF4-FFF2-40B4-BE49-F238E27FC236}">
                <a16:creationId xmlns:a16="http://schemas.microsoft.com/office/drawing/2014/main" id="{3F96FDF8-6F6C-3B1D-9915-B45FE8EB8A63}"/>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26" name="Picture 2" descr="Clientes y aliados | Centro de Evaluación | Uniandes">
            <a:extLst>
              <a:ext uri="{FF2B5EF4-FFF2-40B4-BE49-F238E27FC236}">
                <a16:creationId xmlns:a16="http://schemas.microsoft.com/office/drawing/2014/main" id="{1D02BE72-1410-086E-3A05-65349FB278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3" name="Rectángulo 2">
            <a:extLst>
              <a:ext uri="{FF2B5EF4-FFF2-40B4-BE49-F238E27FC236}">
                <a16:creationId xmlns:a16="http://schemas.microsoft.com/office/drawing/2014/main" id="{6DACBE6A-0137-D8F1-CA5E-434231980DF7}"/>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pic>
        <p:nvPicPr>
          <p:cNvPr id="5" name="Gráfico 4" descr="Open book contorno">
            <a:extLst>
              <a:ext uri="{FF2B5EF4-FFF2-40B4-BE49-F238E27FC236}">
                <a16:creationId xmlns:a16="http://schemas.microsoft.com/office/drawing/2014/main" id="{CF9713FB-3EDA-BC05-41F6-12BA4C3212F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134957" y="3342889"/>
            <a:ext cx="2695807" cy="2695807"/>
          </a:xfrm>
          <a:prstGeom prst="rect">
            <a:avLst/>
          </a:prstGeom>
        </p:spPr>
      </p:pic>
      <p:sp>
        <p:nvSpPr>
          <p:cNvPr id="7" name="CuadroTexto 6">
            <a:extLst>
              <a:ext uri="{FF2B5EF4-FFF2-40B4-BE49-F238E27FC236}">
                <a16:creationId xmlns:a16="http://schemas.microsoft.com/office/drawing/2014/main" id="{BEFA9C0D-9731-DE84-C309-8EFA3B0688F9}"/>
              </a:ext>
            </a:extLst>
          </p:cNvPr>
          <p:cNvSpPr txBox="1"/>
          <p:nvPr/>
        </p:nvSpPr>
        <p:spPr>
          <a:xfrm>
            <a:off x="1045027" y="3342889"/>
            <a:ext cx="6349598" cy="2492990"/>
          </a:xfrm>
          <a:prstGeom prst="rect">
            <a:avLst/>
          </a:prstGeom>
          <a:noFill/>
        </p:spPr>
        <p:txBody>
          <a:bodyPr wrap="square" lIns="91440" tIns="45720" rIns="91440" bIns="45720" rtlCol="0" anchor="t">
            <a:spAutoFit/>
          </a:bodyPr>
          <a:lstStyle/>
          <a:p>
            <a:r>
              <a:rPr lang="es-CO" sz="1600" b="1" u="sng">
                <a:solidFill>
                  <a:schemeClr val="bg1"/>
                </a:solidFill>
                <a:latin typeface="Century Gothic"/>
              </a:rPr>
              <a:t>													</a:t>
            </a:r>
            <a:endParaRPr lang="es-CO" sz="2000" b="1" u="sng">
              <a:solidFill>
                <a:schemeClr val="bg1"/>
              </a:solidFill>
              <a:latin typeface="Century Gothic"/>
            </a:endParaRPr>
          </a:p>
          <a:p>
            <a:endParaRPr lang="es-CO" sz="1000" b="1">
              <a:solidFill>
                <a:schemeClr val="bg1"/>
              </a:solidFill>
              <a:latin typeface="Century Gothic" panose="020B0502020202020204" pitchFamily="34" charset="0"/>
            </a:endParaRPr>
          </a:p>
          <a:p>
            <a:r>
              <a:rPr lang="es-CO" sz="2000" b="1">
                <a:solidFill>
                  <a:schemeClr val="bg1"/>
                </a:solidFill>
                <a:latin typeface="Century Gothic"/>
              </a:rPr>
              <a:t>DEPARTAMENTO DE INGENIERÍA INDUSTRIAL</a:t>
            </a:r>
          </a:p>
          <a:p>
            <a:r>
              <a:rPr lang="es-CO" sz="2000" b="1">
                <a:solidFill>
                  <a:schemeClr val="bg1"/>
                </a:solidFill>
                <a:latin typeface="Century Gothic"/>
              </a:rPr>
              <a:t>FACULTAD DE INGENIERÍA</a:t>
            </a:r>
          </a:p>
          <a:p>
            <a:r>
              <a:rPr lang="es-CO" sz="1000" b="1" u="sng">
                <a:solidFill>
                  <a:schemeClr val="bg1"/>
                </a:solidFill>
                <a:latin typeface="Century Gothic"/>
              </a:rPr>
              <a:t>													</a:t>
            </a:r>
          </a:p>
          <a:p>
            <a:endParaRPr lang="es-CO" sz="2000" b="1">
              <a:solidFill>
                <a:schemeClr val="bg1"/>
              </a:solidFill>
              <a:latin typeface="Century Gothic" panose="020B0502020202020204" pitchFamily="34" charset="0"/>
            </a:endParaRPr>
          </a:p>
          <a:p>
            <a:r>
              <a:rPr lang="es-CO" sz="2000" b="1">
                <a:solidFill>
                  <a:schemeClr val="bg1"/>
                </a:solidFill>
                <a:latin typeface="Century Gothic"/>
              </a:rPr>
              <a:t>Curso       </a:t>
            </a:r>
            <a:r>
              <a:rPr lang="es-CO" sz="2000">
                <a:solidFill>
                  <a:schemeClr val="bg1"/>
                </a:solidFill>
                <a:latin typeface="Century Gothic"/>
              </a:rPr>
              <a:t>ANÁLISIS DE DECISIONES DE INVERSIÓN</a:t>
            </a:r>
          </a:p>
          <a:p>
            <a:r>
              <a:rPr lang="es-CO" sz="2000" b="1">
                <a:solidFill>
                  <a:schemeClr val="bg1"/>
                </a:solidFill>
                <a:latin typeface="Century Gothic"/>
              </a:rPr>
              <a:t>Correo     </a:t>
            </a:r>
            <a:r>
              <a:rPr lang="es-CO" sz="2000">
                <a:solidFill>
                  <a:schemeClr val="bg1"/>
                </a:solidFill>
                <a:latin typeface="Century Gothic"/>
              </a:rPr>
              <a:t>cursoanadec@uniandes.edu.co</a:t>
            </a:r>
          </a:p>
          <a:p>
            <a:endParaRPr lang="es-CO" sz="2000" b="1">
              <a:solidFill>
                <a:schemeClr val="bg1"/>
              </a:solidFill>
              <a:latin typeface="Century Gothic" panose="020B0502020202020204" pitchFamily="34" charset="0"/>
            </a:endParaRPr>
          </a:p>
        </p:txBody>
      </p:sp>
    </p:spTree>
    <p:extLst>
      <p:ext uri="{BB962C8B-B14F-4D97-AF65-F5344CB8AC3E}">
        <p14:creationId xmlns:p14="http://schemas.microsoft.com/office/powerpoint/2010/main" val="2516043659"/>
      </p:ext>
    </p:extLst>
  </p:cSld>
  <p:clrMapOvr>
    <a:masterClrMapping/>
  </p:clrMapOvr>
</p:sld>
</file>

<file path=ppt/theme/theme1.xml><?xml version="1.0" encoding="utf-8"?>
<a:theme xmlns:a="http://schemas.openxmlformats.org/drawingml/2006/main" name="Dividendo">
  <a:themeElements>
    <a:clrScheme name="Dividendo">
      <a:dk1>
        <a:sysClr val="windowText" lastClr="000000"/>
      </a:dk1>
      <a:lt1>
        <a:sysClr val="window" lastClr="FFFFFF"/>
      </a:lt1>
      <a:dk2>
        <a:srgbClr val="3D3D3D"/>
      </a:dk2>
      <a:lt2>
        <a:srgbClr val="EBEBEB"/>
      </a:lt2>
      <a:accent1>
        <a:srgbClr val="366658"/>
      </a:accent1>
      <a:accent2>
        <a:srgbClr val="8CB64A"/>
      </a:accent2>
      <a:accent3>
        <a:srgbClr val="88D5A9"/>
      </a:accent3>
      <a:accent4>
        <a:srgbClr val="969FA7"/>
      </a:accent4>
      <a:accent5>
        <a:srgbClr val="E8A844"/>
      </a:accent5>
      <a:accent6>
        <a:srgbClr val="A1561F"/>
      </a:accent6>
      <a:hlink>
        <a:srgbClr val="828282"/>
      </a:hlink>
      <a:folHlink>
        <a:srgbClr val="A5A5A5"/>
      </a:folHlink>
    </a:clrScheme>
    <a:fontScheme name="Dividendo">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o">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4BEC0EAF-CF86-4D49-B83B-56CC62D3CFF1}"/>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Dividend</Template>
  <Application>Microsoft Office PowerPoint</Application>
  <PresentationFormat>Widescreen</PresentationFormat>
  <Slides>37</Slides>
  <Notes>1</Notes>
  <HiddenSlides>0</HiddenSlides>
  <ScaleCrop>false</ScaleCrop>
  <HeadingPairs>
    <vt:vector size="4" baseType="variant">
      <vt:variant>
        <vt:lpstr>Theme</vt:lpstr>
      </vt:variant>
      <vt:variant>
        <vt:i4>1</vt:i4>
      </vt:variant>
      <vt:variant>
        <vt:lpstr>Slide Titles</vt:lpstr>
      </vt:variant>
      <vt:variant>
        <vt:i4>37</vt:i4>
      </vt:variant>
    </vt:vector>
  </HeadingPairs>
  <TitlesOfParts>
    <vt:vector size="38" baseType="lpstr">
      <vt:lpstr>Dividendo</vt:lpstr>
      <vt:lpstr>Introducción al costo de capitaL</vt:lpstr>
      <vt:lpstr>AGENDA PROPUESTA</vt:lpstr>
      <vt:lpstr>AGENDA PROPUESTA</vt:lpstr>
      <vt:lpstr>Evaluación de proyectos</vt:lpstr>
      <vt:lpstr>El costo de capital y la financiación de proyectos </vt:lpstr>
      <vt:lpstr>El costo de capital y la financiación de proyectos </vt:lpstr>
      <vt:lpstr>El costo de capital y la financiación de proyectos </vt:lpstr>
      <vt:lpstr>El costo de capital y la financiación de proyectos </vt:lpstr>
      <vt:lpstr>El costo de capital y la financiación de proyectos </vt:lpstr>
      <vt:lpstr>Estructura de Capital</vt:lpstr>
      <vt:lpstr>Estructura de Capital</vt:lpstr>
      <vt:lpstr>El costo de capital y la financiación de proyectos </vt:lpstr>
      <vt:lpstr>El costo de capital y la financiación de proyectos </vt:lpstr>
      <vt:lpstr>AGENDA PROPUESTA</vt:lpstr>
      <vt:lpstr>Riesgo – Rentabilidad y la estructura de capital</vt:lpstr>
      <vt:lpstr>Riesgo – Rentabilidad y la estructura de capital</vt:lpstr>
      <vt:lpstr>Riesgo – Rentabilidad y la estructura de capital</vt:lpstr>
      <vt:lpstr>Riesgo – Rentabilidad y la estructura de capital</vt:lpstr>
      <vt:lpstr>la estructura de capital</vt:lpstr>
      <vt:lpstr>AGENDA PROPUESTA</vt:lpstr>
      <vt:lpstr>Costo del equity</vt:lpstr>
      <vt:lpstr>Costo del equity</vt:lpstr>
      <vt:lpstr>Costo del equity</vt:lpstr>
      <vt:lpstr>Costo del equity</vt:lpstr>
      <vt:lpstr>Costo del equity</vt:lpstr>
      <vt:lpstr>Costo del equity</vt:lpstr>
      <vt:lpstr>Costo del equity</vt:lpstr>
      <vt:lpstr>Costo del equity</vt:lpstr>
      <vt:lpstr>Costo del equity</vt:lpstr>
      <vt:lpstr>Costo del equity</vt:lpstr>
      <vt:lpstr>Costo del equity</vt:lpstr>
      <vt:lpstr>Costo del equity</vt:lpstr>
      <vt:lpstr>Costo del equity</vt:lpstr>
      <vt:lpstr>Costo del equity</vt:lpstr>
      <vt:lpstr>Costo del equity</vt:lpstr>
      <vt:lpstr>Costo del equity</vt:lpstr>
      <vt:lpstr>Introducción al costo de capital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ANÁLISIS DESDE UNA ÓPTICA ECONOMÉTRICA DE LA PREVISIBILIDAD DE LAS VARIACIONES DEL TRÁFICO DEL CORREDOR BOGOTÁ – PUERTO GAITÁN TENIENDO EN CUENTA EL COMPORTAMIENTO HISTÓRICO DEL TRÁFICO Y DEL PRECIO DEL PETRÓLEO WTI</dc:title>
  <dc:creator>Sebastian Joseph Sanchez Oyola</dc:creator>
  <cp:revision>1</cp:revision>
  <dcterms:created xsi:type="dcterms:W3CDTF">2019-06-20T04:25:04Z</dcterms:created>
  <dcterms:modified xsi:type="dcterms:W3CDTF">2026-10-07T15:42:31Z</dcterms:modified>
</cp:coreProperties>
</file>