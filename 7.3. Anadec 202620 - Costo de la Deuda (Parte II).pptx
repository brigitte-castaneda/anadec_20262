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45"/>
  </p:notesMasterIdLst>
  <p:handoutMasterIdLst>
    <p:handoutMasterId r:id="rId46"/>
  </p:handoutMasterIdLst>
  <p:sldIdLst>
    <p:sldId id="398" r:id="rId2"/>
    <p:sldId id="715" r:id="rId3"/>
    <p:sldId id="716" r:id="rId4"/>
    <p:sldId id="640" r:id="rId5"/>
    <p:sldId id="717" r:id="rId6"/>
    <p:sldId id="719" r:id="rId7"/>
    <p:sldId id="720" r:id="rId8"/>
    <p:sldId id="721" r:id="rId9"/>
    <p:sldId id="722" r:id="rId10"/>
    <p:sldId id="723" r:id="rId11"/>
    <p:sldId id="724" r:id="rId12"/>
    <p:sldId id="725" r:id="rId13"/>
    <p:sldId id="726" r:id="rId14"/>
    <p:sldId id="727" r:id="rId15"/>
    <p:sldId id="728" r:id="rId16"/>
    <p:sldId id="729" r:id="rId17"/>
    <p:sldId id="730" r:id="rId18"/>
    <p:sldId id="731" r:id="rId19"/>
    <p:sldId id="732" r:id="rId20"/>
    <p:sldId id="718" r:id="rId21"/>
    <p:sldId id="733" r:id="rId22"/>
    <p:sldId id="734" r:id="rId23"/>
    <p:sldId id="736" r:id="rId24"/>
    <p:sldId id="737" r:id="rId25"/>
    <p:sldId id="756" r:id="rId26"/>
    <p:sldId id="738" r:id="rId27"/>
    <p:sldId id="701" r:id="rId28"/>
    <p:sldId id="740" r:id="rId29"/>
    <p:sldId id="739" r:id="rId30"/>
    <p:sldId id="741" r:id="rId31"/>
    <p:sldId id="742" r:id="rId32"/>
    <p:sldId id="743" r:id="rId33"/>
    <p:sldId id="744" r:id="rId34"/>
    <p:sldId id="745" r:id="rId35"/>
    <p:sldId id="746" r:id="rId36"/>
    <p:sldId id="747" r:id="rId37"/>
    <p:sldId id="748" r:id="rId38"/>
    <p:sldId id="749" r:id="rId39"/>
    <p:sldId id="750" r:id="rId40"/>
    <p:sldId id="754" r:id="rId41"/>
    <p:sldId id="751" r:id="rId42"/>
    <p:sldId id="752" r:id="rId43"/>
    <p:sldId id="755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75"/>
    <a:srgbClr val="DFFFFF"/>
    <a:srgbClr val="A6DFBF"/>
    <a:srgbClr val="D7A700"/>
    <a:srgbClr val="485056"/>
    <a:srgbClr val="FF0000"/>
    <a:srgbClr val="FFEFEF"/>
    <a:srgbClr val="00B050"/>
    <a:srgbClr val="FAEEDA"/>
    <a:srgbClr val="F5D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32" autoAdjust="0"/>
    <p:restoredTop sz="94691"/>
  </p:normalViewPr>
  <p:slideViewPr>
    <p:cSldViewPr snapToGrid="0">
      <p:cViewPr varScale="1">
        <p:scale>
          <a:sx n="213" d="100"/>
          <a:sy n="213" d="100"/>
        </p:scale>
        <p:origin x="1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tte Castañeda Rodriguez" userId="5c201908-82f6-498c-9281-7eaa96fb17b4" providerId="ADAL" clId="{FA146403-BBA5-5A93-8956-7210BF70CAFE}"/>
    <pc:docChg chg="addSld delSld modSld">
      <pc:chgData name="Brigitte Castañeda Rodriguez" userId="5c201908-82f6-498c-9281-7eaa96fb17b4" providerId="ADAL" clId="{FA146403-BBA5-5A93-8956-7210BF70CAFE}" dt="2026-10-15T16:59:54.812" v="2" actId="2696"/>
      <pc:docMkLst>
        <pc:docMk/>
      </pc:docMkLst>
      <pc:sldChg chg="new del mod modShow">
        <pc:chgData name="Brigitte Castañeda Rodriguez" userId="5c201908-82f6-498c-9281-7eaa96fb17b4" providerId="ADAL" clId="{FA146403-BBA5-5A93-8956-7210BF70CAFE}" dt="2026-10-15T16:59:54.812" v="2" actId="2696"/>
        <pc:sldMkLst>
          <pc:docMk/>
          <pc:sldMk cId="4068025264" sldId="7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15/10/26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15/10/26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146249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324293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4281543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569E-23FD-F314-35B6-63A2E4A3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C73BA-7BB8-7E48-4311-CB5179347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C09E5-3106-346A-41D5-8AF986A61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38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606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4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1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7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0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7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6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1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0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2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6108" y="1822352"/>
            <a:ext cx="10550396" cy="826833"/>
          </a:xfrm>
        </p:spPr>
        <p:txBody>
          <a:bodyPr>
            <a:noAutofit/>
          </a:bodyPr>
          <a:lstStyle/>
          <a:p>
            <a:r>
              <a:rPr lang="es-ES" sz="3200" dirty="0">
                <a:latin typeface="Century Gothic"/>
              </a:rPr>
              <a:t>Costo de la deuda </a:t>
            </a:r>
            <a:r>
              <a:rPr lang="es-CO" sz="3200" dirty="0">
                <a:latin typeface="Century Gothic"/>
              </a:rPr>
              <a:t>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</a:t>
            </a:r>
            <a:r>
              <a:rPr lang="es-CO" sz="3200" dirty="0" err="1">
                <a:solidFill>
                  <a:srgbClr val="D7A700"/>
                </a:solidFill>
                <a:latin typeface="Century Gothic"/>
              </a:rPr>
              <a:t>Ii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9A2F7FD-DB75-B2F6-96F6-C7A714073C9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3D62EEA9-E977-2B15-6DB5-97AE28399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DACCAD9-71B4-2FA0-1592-3F9D80605EB2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1056-724D-5AE0-5E19-B32ABA0B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B58F26-3B71-5541-2D9E-136F478D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4AA32A-E7B7-EEDB-0D6E-A4011A101EA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E9D4A51-F1B0-E035-2742-CD766193B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7B2A808-E8F9-A0D1-2D80-F13D0CAD5FC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5C6CC22-2589-953D-EF38-0D1224BC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FE1999-FBF7-A982-8458-1AA985542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145328"/>
            <a:ext cx="10090616" cy="3511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Tasa: 16% NA/TV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Impuestos: 33%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2 Años 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Comisión del 5% del monto solicitado en el momento del desembolso.</a:t>
            </a:r>
          </a:p>
        </p:txBody>
      </p:sp>
    </p:spTree>
    <p:extLst>
      <p:ext uri="{BB962C8B-B14F-4D97-AF65-F5344CB8AC3E}">
        <p14:creationId xmlns:p14="http://schemas.microsoft.com/office/powerpoint/2010/main" val="280508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073E-F4F6-E4E6-45E0-0BCB708BC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74FD18-62AD-4A84-4C02-8AAA79FF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760BC69-91FA-E621-5173-6D40999C41C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E5AA9EB-C22A-0D24-A05E-243198D91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DE2C73E-E1A9-2CB7-7935-614D1803827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0407279-0C33-C1F1-2BEE-F5B1B955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345E891-6952-657B-A7B4-C8149350C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692" y="2075380"/>
            <a:ext cx="10090616" cy="58552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Primero, intentemos calcular el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costo efectivo de la deuda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de nuestra forma “rápida”.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64172C-0EE2-93A7-5AB9-CEBEDA3CEB68}"/>
                  </a:ext>
                </a:extLst>
              </p:cNvPr>
              <p:cNvSpPr txBox="1"/>
              <p:nvPr/>
            </p:nvSpPr>
            <p:spPr>
              <a:xfrm>
                <a:off x="3391990" y="3048177"/>
                <a:ext cx="540801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∗(1−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𝑇𝑥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64172C-0EE2-93A7-5AB9-CEBEDA3CE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990" y="3048177"/>
                <a:ext cx="540801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E0F088-B6D3-99B6-40C5-114479C113CA}"/>
                  </a:ext>
                </a:extLst>
              </p:cNvPr>
              <p:cNvSpPr txBox="1"/>
              <p:nvPr/>
            </p:nvSpPr>
            <p:spPr>
              <a:xfrm>
                <a:off x="2946258" y="3799725"/>
                <a:ext cx="629948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=4%∗(1−33%)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E0F088-B6D3-99B6-40C5-114479C11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258" y="3799725"/>
                <a:ext cx="629948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9F0F76-1A0C-8E1F-4955-5E1C1808BFF5}"/>
                  </a:ext>
                </a:extLst>
              </p:cNvPr>
              <p:cNvSpPr txBox="1"/>
              <p:nvPr/>
            </p:nvSpPr>
            <p:spPr>
              <a:xfrm>
                <a:off x="3912868" y="4551273"/>
                <a:ext cx="436626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=2,68%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9F0F76-1A0C-8E1F-4955-5E1C1808B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868" y="4551273"/>
                <a:ext cx="4366260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25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EA48-BB56-25A9-0DC7-43DF32A3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E1A547-8757-1768-B24C-D71DED32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6540E77-805B-7BD0-18A6-C375457C12C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6C2A1F4-EB0C-37D6-598A-9FDFE24C0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EF4301A-14BF-22E0-AF95-EF965EE1A4F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F4F208E-73BE-CB9B-44EB-8943E508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F351BCC-05B8-5668-78F5-6D8BBE397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692" y="2075380"/>
            <a:ext cx="10090616" cy="36760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85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¿Esta metodología “rápida” es 100% confiable?</a:t>
            </a:r>
          </a:p>
          <a:p>
            <a:pPr marL="0" indent="0" algn="ctr">
              <a:buNone/>
            </a:pPr>
            <a:endParaRPr lang="es-ES" sz="1850" i="1" dirty="0">
              <a:solidFill>
                <a:srgbClr val="800000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Como dijimos anteriormente, cuando existen costos de transacción esta forma “rápida” no servirá (no se cumplen los supuestos). 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Veamos entonces como son los resultados cuando construimos el flujo de caja de la deuda del anterior crédito por distintos métodos.</a:t>
            </a:r>
          </a:p>
        </p:txBody>
      </p:sp>
    </p:spTree>
    <p:extLst>
      <p:ext uri="{BB962C8B-B14F-4D97-AF65-F5344CB8AC3E}">
        <p14:creationId xmlns:p14="http://schemas.microsoft.com/office/powerpoint/2010/main" val="41924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1B25F-C86F-7921-5B43-8056DA1C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831695-4BB0-F449-0819-0C48BD03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5EC271A-A4BC-31D5-9DC6-7AEEA4FA42E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3C23BD1-2E3A-473E-3EAE-4980ECCD3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8677000-F1DC-22E2-BA01-77F8AF669FA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746D9CA-F22B-3FDB-7E52-9AA333BD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8" name="Tabla 17">
            <a:extLst>
              <a:ext uri="{FF2B5EF4-FFF2-40B4-BE49-F238E27FC236}">
                <a16:creationId xmlns:a16="http://schemas.microsoft.com/office/drawing/2014/main" id="{A7431F2A-6048-AEF4-364A-71844AE35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762930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9" name="Rectángulo 19">
            <a:extLst>
              <a:ext uri="{FF2B5EF4-FFF2-40B4-BE49-F238E27FC236}">
                <a16:creationId xmlns:a16="http://schemas.microsoft.com/office/drawing/2014/main" id="{6C788358-7DF1-A465-5542-40E1339116D4}"/>
              </a:ext>
            </a:extLst>
          </p:cNvPr>
          <p:cNvSpPr/>
          <p:nvPr/>
        </p:nvSpPr>
        <p:spPr>
          <a:xfrm>
            <a:off x="1000128" y="4756829"/>
            <a:ext cx="10097592" cy="4954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C65982FF-5A3D-DF3A-1A73-DBC6B3F5E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397527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3961-1F90-4579-4326-46A502AE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52D9E0-3295-538F-183C-C282E57C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F7CB1B-028E-712C-4273-8E14CCF7ED0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39B3E84-78D6-FC02-35A0-790A3E90A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8596F63-21FE-93C7-CCBB-9BCA97DC8D3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73437B-CCB0-D957-2F62-F69AD139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58A88265-64A9-4CF0-1541-5D21B30F7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185935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0B99678-3AE6-201F-2CE0-50A88EC4A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14507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BD690-BD0D-DFCE-81B6-D8A8DE50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EC0695-49B4-584C-CA94-A73F01E5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8BDC382-02DB-071B-720B-E8E8A5F1AFB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F0A7764-77AC-1A2C-BE31-BD8B15F97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0804097-CD38-87BF-E1F9-3488A628BE2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1469E96-BFFE-F0FB-98D7-AB528E86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9DD21C3A-D7B1-93EF-777D-71524429A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179966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1556103-86E4-688A-BB04-AD1D5A8B5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085097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EA70-2F36-3D53-2A8A-6DD54952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E43A53-4192-6DB6-91B2-817359A8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459CFDD-30AC-A436-7FB1-68E34F2A10F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CE02B77F-D97A-F20C-C1B4-0471283FA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F863B71-7812-BF2C-BDEF-670914C90EA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471DA82-FCF1-49D7-AB83-F84440B5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41ACE501-B6E0-AE15-C40C-12C15D9F8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663491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EDFA40F-0727-0AFF-2AF9-8641A6BB5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93171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369CD-4DF7-64BC-FFC1-CAE1AA5A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D14959-68FD-DC6A-E61A-FE36D1D2D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0526FA-001D-497A-B4F3-FCB08A3E5A5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FCE778C-1E3D-D446-F3C5-5AEFC1B6F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800564D-F881-8163-5847-C16CD725516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2991EBA-7750-A2D1-C8C3-009D47E6D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8CAFD3BA-E2C5-0032-F521-2D44CEC77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676054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87BA6C1-CC03-ABB8-0340-80E4A7B85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05011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3AB24-BF6C-6057-CC85-61AF8993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FE7016-38BE-BC3F-1D72-D02B264A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1D4CC24-ED23-5BCF-FAD8-5A0E4DA139D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79990A6-5331-486F-AB30-F20379008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4B0D741-2E1B-7B7C-9B12-4F5ED9D283D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3D80508-DFBD-259A-21FD-FEEC2372A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E951FEC0-4E22-64C5-912A-D8987E7E7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918586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08DB220-8322-8915-E7EA-17A66118D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844147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D0560-D535-245F-F7DC-ECB73BE4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0C82F-62A2-905B-BA00-2E2C6291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BF818C1-0A2F-F3A1-A9EC-13D20F4486F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CE97A0A-D8C4-7B4B-AAA9-4E20AF2F6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7A9068D-936E-6D5C-E035-BA3620E0603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3B8471-054B-F409-07EE-CC2A8528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74802502-3DED-1C73-4F08-1A099797A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98790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9D62C6B-D79E-E549-3B97-A882477CF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99393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DC47-D01F-840F-009E-6351FE5E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2ABB01-6CF2-8E2B-A72C-5821B95D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A522F0-ACD6-852E-6D0F-920D08484EA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B065E91-061D-5B71-CE83-DCA8C7265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BCD00EB-7B39-390F-3A65-4545BE55A5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0D4D4CC-BF07-7307-390F-CBF682A4A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2E78F7D3-3ED2-7D6C-AC33-B75EE8359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188979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1">
            <a:extLst>
              <a:ext uri="{FF2B5EF4-FFF2-40B4-BE49-F238E27FC236}">
                <a16:creationId xmlns:a16="http://schemas.microsoft.com/office/drawing/2014/main" id="{26DE4F65-9946-4D28-4220-EB093D1B4BAD}"/>
              </a:ext>
            </a:extLst>
          </p:cNvPr>
          <p:cNvSpPr/>
          <p:nvPr/>
        </p:nvSpPr>
        <p:spPr>
          <a:xfrm>
            <a:off x="1074148" y="51316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8F7513FC-5BBC-FD2D-F4A2-8C218869C61E}"/>
              </a:ext>
            </a:extLst>
          </p:cNvPr>
          <p:cNvSpPr txBox="1"/>
          <p:nvPr/>
        </p:nvSpPr>
        <p:spPr>
          <a:xfrm>
            <a:off x="4849732" y="2083355"/>
            <a:ext cx="690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FCD (Pre-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= Adquisición Deuda (t) – Cuota (t) – Costos Transacción (t)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BE89A95-7951-B2B7-B56C-410CE76A6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54125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649C-7E3C-CAC4-FCA7-CF9D6C79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3EBC73-ADA1-3386-EB4B-B1D5CA41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1D2AE2-58D7-A112-1773-64D70E40E7B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E5EE8ED9-CDEE-EAAF-ABB4-A72296E68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DC97502-09FC-1FDD-C246-8C0028C49FB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C84D97E-2484-7917-FC5B-066A8B7A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51F9B443-EC4C-6C8C-146C-7C9DF955E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956714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1">
            <a:extLst>
              <a:ext uri="{FF2B5EF4-FFF2-40B4-BE49-F238E27FC236}">
                <a16:creationId xmlns:a16="http://schemas.microsoft.com/office/drawing/2014/main" id="{96BD28D7-4300-9A08-668C-0F9B9D9F1E5C}"/>
              </a:ext>
            </a:extLst>
          </p:cNvPr>
          <p:cNvSpPr/>
          <p:nvPr/>
        </p:nvSpPr>
        <p:spPr>
          <a:xfrm>
            <a:off x="1074148" y="51316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CuadroTexto 12">
            <a:extLst>
              <a:ext uri="{FF2B5EF4-FFF2-40B4-BE49-F238E27FC236}">
                <a16:creationId xmlns:a16="http://schemas.microsoft.com/office/drawing/2014/main" id="{51D02186-AC40-2EEA-2AC8-A6F1CC0D0B88}"/>
              </a:ext>
            </a:extLst>
          </p:cNvPr>
          <p:cNvSpPr txBox="1"/>
          <p:nvPr/>
        </p:nvSpPr>
        <p:spPr>
          <a:xfrm>
            <a:off x="4849732" y="2083355"/>
            <a:ext cx="6905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FCD (Pre-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= Adquisición Deuda (t) – Cuota (t) – Costos Transacción (t)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E0C297EF-A5DE-13AA-4C39-321413C58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74073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F2D8-9335-6834-8109-1B1434FB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C1697A-496B-DC2B-7AB7-C34E9828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C11147-53FB-102E-E6DD-2BA87109FF2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BA9A812-8BE5-90BB-010A-66EB5FD46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7D147EA-7FD5-80CF-18EC-0A8AE735676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C11F32B-DA96-4E98-3306-7B4BB996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3DDE74FA-5251-048F-E91C-6EFB1403C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762314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9826530-D817-C893-AAAF-699F5C335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668130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BD297-AA84-ACC6-DD58-5FF1BC5DE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AEA08C-6881-7327-6FEF-417F1233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05617DC-2945-8E45-3B08-16E88FD7257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90FA49B-273E-AE17-62C6-6C3D85645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3B7E511-E0CE-AA83-8973-A2A5E63014F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3931E23-CF33-A794-A8C1-B054929C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A3DCF909-E89A-6C91-4780-B3A5C30EE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950917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5E93A12-0BB3-2E91-2C60-3F38071F8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023180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7480-A671-A2B7-992D-F2880187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6FD6A3-0D05-F05C-B5B8-68FB621F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305171D-877B-2B28-DB6B-7C0E2AD4017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8424F09-11CA-ADF8-CD58-48803C30F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2FAA94C-3E5A-3F0E-A5C9-0BEAC6D0CBB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86DA55D-DFEC-C9D1-1020-830686F02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1ADE9D73-C52C-BC23-7C68-9420B689E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478953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3B955FA-3C7B-3228-598E-08E021E8B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087378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992A-E802-4ECF-EEC8-91AACAB1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340615-0C8C-3297-4814-7B4D561C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E8FE07D-5634-EA96-B35E-6BEFFE9C4FD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D04C44E-498D-B846-90D9-14234AC7C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1713EDA-35B9-B5D5-09F3-7BA3AE42398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71ECA6C-E9CD-440B-93C3-7DB39EAB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6EB649A4-9A84-E4CC-8C1B-42C569BB0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00760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EE64FCC-73FB-55A5-634F-C91EEFEE8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646102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DD01-53E5-6F92-F258-3BF6CED0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D2C0A9-6EC3-792E-CE05-490DFFC2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ABFF839-A1C4-BEC4-6BB4-2F742B9AF5E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B7A5061-A7D6-4C32-E0E6-1ADAEFFAE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FBAF32B-161A-8251-3202-3E78ECD8936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4E14DCE-A301-438D-A016-D9187F78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73817E35-A4DF-4F76-D871-9913B8870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740342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0DB2E10-4DC4-3A0D-6D9A-D5CFB18D0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3798739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9041-E365-09CC-CABD-D28274C7B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EF4404-BFC5-C3EE-8C49-714EB4D7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9ABC59-CD63-E0EB-D92C-29488D27803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AC67AA8-E01A-4AA8-3B24-AA3A17563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98D74CF-F4E9-2BA2-C518-5DFE9E796E3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35EFC35-EB57-F66D-3086-1A12CBA5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5BDE9A45-A726-145A-A297-1142CE073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453359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$ 906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F3F36CC-11AA-5404-D099-E7BBB365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617851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FC469-ECC5-8265-F4D7-95BEE9F1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DE5F24-0827-517F-18B3-1A2A389B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B7BC01-C3E5-8DE6-AF96-26A6767FE1C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A13891E-65F6-1742-7639-3351379BB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E16BAC4-61AE-8833-7031-BEE3F002B16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89B419C-E3F6-3655-AE05-8F51C3194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2" name="Rectángulo 22">
            <a:extLst>
              <a:ext uri="{FF2B5EF4-FFF2-40B4-BE49-F238E27FC236}">
                <a16:creationId xmlns:a16="http://schemas.microsoft.com/office/drawing/2014/main" id="{554FC18A-4F65-D528-2925-371197A92994}"/>
              </a:ext>
            </a:extLst>
          </p:cNvPr>
          <p:cNvSpPr/>
          <p:nvPr/>
        </p:nvSpPr>
        <p:spPr>
          <a:xfrm>
            <a:off x="11029452" y="3463974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Rectángulo 24">
            <a:extLst>
              <a:ext uri="{FF2B5EF4-FFF2-40B4-BE49-F238E27FC236}">
                <a16:creationId xmlns:a16="http://schemas.microsoft.com/office/drawing/2014/main" id="{BD266E27-44F0-C629-4DF9-FD103D2853D2}"/>
              </a:ext>
            </a:extLst>
          </p:cNvPr>
          <p:cNvSpPr/>
          <p:nvPr/>
        </p:nvSpPr>
        <p:spPr>
          <a:xfrm>
            <a:off x="10657556" y="3890041"/>
            <a:ext cx="1223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5,31 % TV</a:t>
            </a:r>
          </a:p>
        </p:txBody>
      </p:sp>
      <p:graphicFrame>
        <p:nvGraphicFramePr>
          <p:cNvPr id="14" name="Tabla 25">
            <a:extLst>
              <a:ext uri="{FF2B5EF4-FFF2-40B4-BE49-F238E27FC236}">
                <a16:creationId xmlns:a16="http://schemas.microsoft.com/office/drawing/2014/main" id="{91D577D5-4B48-8D3B-5D8A-657E8A7CB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96814"/>
              </p:ext>
            </p:extLst>
          </p:nvPr>
        </p:nvGraphicFramePr>
        <p:xfrm>
          <a:off x="257135" y="2688964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$ 906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cxnSp>
        <p:nvCxnSpPr>
          <p:cNvPr id="15" name="Conector recto 26">
            <a:extLst>
              <a:ext uri="{FF2B5EF4-FFF2-40B4-BE49-F238E27FC236}">
                <a16:creationId xmlns:a16="http://schemas.microsoft.com/office/drawing/2014/main" id="{D5EDA55E-2CE8-0422-237B-7E59203E96A9}"/>
              </a:ext>
            </a:extLst>
          </p:cNvPr>
          <p:cNvCxnSpPr>
            <a:cxnSpLocks/>
          </p:cNvCxnSpPr>
          <p:nvPr/>
        </p:nvCxnSpPr>
        <p:spPr>
          <a:xfrm flipV="1">
            <a:off x="10454502" y="4259373"/>
            <a:ext cx="364156" cy="1216305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errar llave 27">
            <a:extLst>
              <a:ext uri="{FF2B5EF4-FFF2-40B4-BE49-F238E27FC236}">
                <a16:creationId xmlns:a16="http://schemas.microsoft.com/office/drawing/2014/main" id="{42071D0F-2CD5-F884-E94C-31F57004E92C}"/>
              </a:ext>
            </a:extLst>
          </p:cNvPr>
          <p:cNvSpPr/>
          <p:nvPr/>
        </p:nvSpPr>
        <p:spPr>
          <a:xfrm>
            <a:off x="10289549" y="5305322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BEA2BF9B-8EE6-A3D3-64EA-50B2D746D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66818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9BA1-2A8D-65DA-3227-170406B4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DF365F-332C-5CFE-E706-0AB6EA34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D52CFD8-DEAC-CB1E-3707-D9140CCF69D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9A5019F-DD46-AFAB-4B0F-D013D1596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B37C0E4-23A9-29FD-2EC3-F4E1CE62AB3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DDD7B53-DCAC-E66A-B6E4-D77D9C2F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Rectángulo 22">
            <a:extLst>
              <a:ext uri="{FF2B5EF4-FFF2-40B4-BE49-F238E27FC236}">
                <a16:creationId xmlns:a16="http://schemas.microsoft.com/office/drawing/2014/main" id="{1A2DD0A9-D0ED-9574-A4F3-E7DF2C34F342}"/>
              </a:ext>
            </a:extLst>
          </p:cNvPr>
          <p:cNvSpPr/>
          <p:nvPr/>
        </p:nvSpPr>
        <p:spPr>
          <a:xfrm>
            <a:off x="10726486" y="3463974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7" name="Rectángulo 24">
            <a:extLst>
              <a:ext uri="{FF2B5EF4-FFF2-40B4-BE49-F238E27FC236}">
                <a16:creationId xmlns:a16="http://schemas.microsoft.com/office/drawing/2014/main" id="{99FB48B5-6D59-93EE-2440-83FBE8FDDAE8}"/>
              </a:ext>
            </a:extLst>
          </p:cNvPr>
          <p:cNvSpPr/>
          <p:nvPr/>
        </p:nvSpPr>
        <p:spPr>
          <a:xfrm>
            <a:off x="10657556" y="3890041"/>
            <a:ext cx="1223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3,65 % TV</a:t>
            </a:r>
          </a:p>
        </p:txBody>
      </p:sp>
      <p:graphicFrame>
        <p:nvGraphicFramePr>
          <p:cNvPr id="8" name="Tabla 25">
            <a:extLst>
              <a:ext uri="{FF2B5EF4-FFF2-40B4-BE49-F238E27FC236}">
                <a16:creationId xmlns:a16="http://schemas.microsoft.com/office/drawing/2014/main" id="{C447A955-9B2A-3D36-FC98-BACC0A476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257744"/>
              </p:ext>
            </p:extLst>
          </p:nvPr>
        </p:nvGraphicFramePr>
        <p:xfrm>
          <a:off x="257135" y="2688964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$ 906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cxnSp>
        <p:nvCxnSpPr>
          <p:cNvPr id="9" name="Conector recto 26">
            <a:extLst>
              <a:ext uri="{FF2B5EF4-FFF2-40B4-BE49-F238E27FC236}">
                <a16:creationId xmlns:a16="http://schemas.microsoft.com/office/drawing/2014/main" id="{E3FE4622-528D-0FA7-2D68-902D688B8F79}"/>
              </a:ext>
            </a:extLst>
          </p:cNvPr>
          <p:cNvCxnSpPr>
            <a:cxnSpLocks/>
            <a:stCxn id="11" idx="1"/>
          </p:cNvCxnSpPr>
          <p:nvPr/>
        </p:nvCxnSpPr>
        <p:spPr>
          <a:xfrm flipV="1">
            <a:off x="10454502" y="4327760"/>
            <a:ext cx="814761" cy="1908974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errar llave 27">
            <a:extLst>
              <a:ext uri="{FF2B5EF4-FFF2-40B4-BE49-F238E27FC236}">
                <a16:creationId xmlns:a16="http://schemas.microsoft.com/office/drawing/2014/main" id="{DAC23813-EDD8-F9C0-EC65-53D23802DBEA}"/>
              </a:ext>
            </a:extLst>
          </p:cNvPr>
          <p:cNvSpPr/>
          <p:nvPr/>
        </p:nvSpPr>
        <p:spPr>
          <a:xfrm>
            <a:off x="10289549" y="6062562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583FB635-A31A-A4AD-F606-7C5102B93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66485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36A5-10D0-FC40-B173-AB22979D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C111D3-BB0B-5D30-1189-CEB750C2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F6002C-7EDC-085F-43DF-6BB474993CE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D32F93E-4987-4E15-0C47-3D616FB07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535036B-968D-ABBE-978A-C0E315619C4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6CFF12E-F29C-28E4-DA28-920CD164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D4012F2B-A00A-0075-0993-A490DD72F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 Constante Trimestral</a:t>
            </a:r>
          </a:p>
        </p:txBody>
      </p:sp>
      <p:graphicFrame>
        <p:nvGraphicFramePr>
          <p:cNvPr id="13" name="Tabla 8">
            <a:extLst>
              <a:ext uri="{FF2B5EF4-FFF2-40B4-BE49-F238E27FC236}">
                <a16:creationId xmlns:a16="http://schemas.microsoft.com/office/drawing/2014/main" id="{DFDF9791-BAED-BED3-5079-22F917362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858577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$ 356,59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$ 311,44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$ 264,49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$ 215,66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$ 164,87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$112,06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$ 57,13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$ 1.085,28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$ 1.128,69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$ 1.173,84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$ 1.220,79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$ 1.269,62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$ 1.320,41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$ 1.373,22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$ 1.428,15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$ 8.914,72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$ 7.786,03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$ 6.612,2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$ 5.391,4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$ 4.121,78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$ 2.801,38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$ 1.428,15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$ 604,73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$ 181,40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$ 880,55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$ 1.303,87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25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E7C8E-A9E3-9CB5-FC45-E83AE015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FEEF76-380E-7C7D-BFE0-E39861A2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A07A75-28A5-460C-030C-E7A563CFCBF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22FAC0A-2C97-7454-37D7-F780392CA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03758D4-C1A8-902C-1BF1-28BDDD3ACD4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C007AA4-234E-4410-E284-8706FBDC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Rectángulo 22">
            <a:extLst>
              <a:ext uri="{FF2B5EF4-FFF2-40B4-BE49-F238E27FC236}">
                <a16:creationId xmlns:a16="http://schemas.microsoft.com/office/drawing/2014/main" id="{7968AD2E-E4DC-2B29-A8A9-B67ECDB278AD}"/>
              </a:ext>
            </a:extLst>
          </p:cNvPr>
          <p:cNvSpPr/>
          <p:nvPr/>
        </p:nvSpPr>
        <p:spPr>
          <a:xfrm>
            <a:off x="11029455" y="3463974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24">
            <a:extLst>
              <a:ext uri="{FF2B5EF4-FFF2-40B4-BE49-F238E27FC236}">
                <a16:creationId xmlns:a16="http://schemas.microsoft.com/office/drawing/2014/main" id="{EC86F972-334C-EED5-51FE-0F7AD11FCA4E}"/>
              </a:ext>
            </a:extLst>
          </p:cNvPr>
          <p:cNvSpPr/>
          <p:nvPr/>
        </p:nvSpPr>
        <p:spPr>
          <a:xfrm>
            <a:off x="10614276" y="3890041"/>
            <a:ext cx="1309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5,26 % E.T.</a:t>
            </a:r>
          </a:p>
        </p:txBody>
      </p:sp>
      <p:sp>
        <p:nvSpPr>
          <p:cNvPr id="9" name="Rectángulo 28">
            <a:extLst>
              <a:ext uri="{FF2B5EF4-FFF2-40B4-BE49-F238E27FC236}">
                <a16:creationId xmlns:a16="http://schemas.microsoft.com/office/drawing/2014/main" id="{FF058D5C-922A-6EC6-668E-4F1863215041}"/>
              </a:ext>
            </a:extLst>
          </p:cNvPr>
          <p:cNvSpPr/>
          <p:nvPr/>
        </p:nvSpPr>
        <p:spPr>
          <a:xfrm>
            <a:off x="10726487" y="4517347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1" name="Rectángulo 29">
            <a:extLst>
              <a:ext uri="{FF2B5EF4-FFF2-40B4-BE49-F238E27FC236}">
                <a16:creationId xmlns:a16="http://schemas.microsoft.com/office/drawing/2014/main" id="{ED7BE8C2-222A-27EB-1A14-4A3176F3501C}"/>
              </a:ext>
            </a:extLst>
          </p:cNvPr>
          <p:cNvSpPr/>
          <p:nvPr/>
        </p:nvSpPr>
        <p:spPr>
          <a:xfrm>
            <a:off x="10614275" y="4943414"/>
            <a:ext cx="1309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3,61 % E.T.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0D422B85-F44B-E69D-B037-613A0DD43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 Constante Trimestral</a:t>
            </a:r>
          </a:p>
        </p:txBody>
      </p:sp>
      <p:graphicFrame>
        <p:nvGraphicFramePr>
          <p:cNvPr id="14" name="Tabla 8">
            <a:extLst>
              <a:ext uri="{FF2B5EF4-FFF2-40B4-BE49-F238E27FC236}">
                <a16:creationId xmlns:a16="http://schemas.microsoft.com/office/drawing/2014/main" id="{4123F388-8CA1-239B-5F7E-908CF557B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62233"/>
              </p:ext>
            </p:extLst>
          </p:nvPr>
        </p:nvGraphicFramePr>
        <p:xfrm>
          <a:off x="267750" y="2509604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$ 356,59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$ 311,44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$ 264,49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$ 215,66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$ 164,87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$112,06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$ 57,13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$ 1.085,28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$ 1.128,69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$ 1.173,84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$ 1.220,79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$ 1.269,62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$ 1.320,41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$ 1.373,22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$ 1.428,15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$ 8.914,72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$ 7.786,03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$ 6.612,2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$ 5.391,4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$ 4.121,78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$ 2.801,38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$ 1.428,15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$ 604,73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$ 181,40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$ 880,55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$ 1.485,28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$ 1.303,87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83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5975-B16A-849B-0410-DA22513D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A2512E-E289-C67C-5558-81F3672E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5D5C2AB-D000-DF28-8A2D-DCAA1E15A3C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E67FDA1-7D4C-D16C-7052-7C40252C0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4DB43A2-0A58-E194-03E9-DC7331278C7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BA635C4-737A-EBB3-6DA5-EB248311B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F290F-539E-7687-DD68-76870C3EA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Tipo Bullet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7E45C405-57A6-24BE-B2E4-E772848EE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785789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$ 10.400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$ 9.872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957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4FF8-6D1E-583A-08B8-2DB53131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950A80-C7DA-E678-B53D-F937C9E8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F1FC86C-6846-5C3C-80F9-0CDC79CDF28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E62C8D8-55BD-5547-73CF-E04841A86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CCF72BA-A606-BA1C-E6E9-DB0129FBFF8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30D45C9-4830-FA7F-9F34-3CEEDA04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Rectángulo 22">
            <a:extLst>
              <a:ext uri="{FF2B5EF4-FFF2-40B4-BE49-F238E27FC236}">
                <a16:creationId xmlns:a16="http://schemas.microsoft.com/office/drawing/2014/main" id="{E827013F-9305-02CF-18B2-6E95CA1C2689}"/>
              </a:ext>
            </a:extLst>
          </p:cNvPr>
          <p:cNvSpPr/>
          <p:nvPr/>
        </p:nvSpPr>
        <p:spPr>
          <a:xfrm>
            <a:off x="11029455" y="3463974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24">
            <a:extLst>
              <a:ext uri="{FF2B5EF4-FFF2-40B4-BE49-F238E27FC236}">
                <a16:creationId xmlns:a16="http://schemas.microsoft.com/office/drawing/2014/main" id="{64A4FCAA-3277-00C7-2994-617BF9D0C573}"/>
              </a:ext>
            </a:extLst>
          </p:cNvPr>
          <p:cNvSpPr/>
          <p:nvPr/>
        </p:nvSpPr>
        <p:spPr>
          <a:xfrm>
            <a:off x="10657557" y="3890041"/>
            <a:ext cx="1223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4,77 % TV</a:t>
            </a:r>
          </a:p>
        </p:txBody>
      </p:sp>
      <p:graphicFrame>
        <p:nvGraphicFramePr>
          <p:cNvPr id="11" name="Tabla 26">
            <a:extLst>
              <a:ext uri="{FF2B5EF4-FFF2-40B4-BE49-F238E27FC236}">
                <a16:creationId xmlns:a16="http://schemas.microsoft.com/office/drawing/2014/main" id="{100CDFB5-66CA-5534-E12E-8FC52859FA67}"/>
              </a:ext>
            </a:extLst>
          </p:cNvPr>
          <p:cNvGraphicFramePr>
            <a:graphicFrameLocks noGrp="1"/>
          </p:cNvGraphicFramePr>
          <p:nvPr/>
        </p:nvGraphicFramePr>
        <p:xfrm>
          <a:off x="271087" y="2690031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$ 10.400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$ 10.400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$ 9.872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689B3F60-3ABE-C40D-E601-BD0E74084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Tipo Bullet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F694DE-5367-0B74-9223-1FA8965FEF6A}"/>
              </a:ext>
            </a:extLst>
          </p:cNvPr>
          <p:cNvSpPr txBox="1"/>
          <p:nvPr/>
        </p:nvSpPr>
        <p:spPr>
          <a:xfrm>
            <a:off x="10694399" y="4556436"/>
            <a:ext cx="1149728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402241-74E4-D098-C24F-1BED20EAA1EE}"/>
              </a:ext>
            </a:extLst>
          </p:cNvPr>
          <p:cNvSpPr txBox="1"/>
          <p:nvPr/>
        </p:nvSpPr>
        <p:spPr>
          <a:xfrm>
            <a:off x="10657557" y="4923982"/>
            <a:ext cx="1149728" cy="36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?</a:t>
            </a:r>
            <a:endParaRPr lang="es-ES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42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0C24-1051-2404-48AD-130A511E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95D9E8-3D9E-DDFB-E144-F41E64C2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829EEE0-ACA4-8A9F-0E02-577F8D20AD4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E998D6C8-BD70-B23D-269F-CD3B3C5E5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913CABC-907B-908B-7C7D-04D68B082A8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D4ADED-D24B-3300-2A49-BF2D316B9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11" name="Tabla 26">
            <a:extLst>
              <a:ext uri="{FF2B5EF4-FFF2-40B4-BE49-F238E27FC236}">
                <a16:creationId xmlns:a16="http://schemas.microsoft.com/office/drawing/2014/main" id="{735999EE-855E-B45F-A360-FA2AD3811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288662"/>
              </p:ext>
            </p:extLst>
          </p:nvPr>
        </p:nvGraphicFramePr>
        <p:xfrm>
          <a:off x="792951" y="2520602"/>
          <a:ext cx="9980707" cy="148447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$ 10.400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6430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$ 293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$ 9.872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2A4AEA7-CE34-0995-57A2-A45850FEC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Tipo Bullet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34604-6D52-13CF-C5C2-20A92C16BAE8}"/>
              </a:ext>
            </a:extLst>
          </p:cNvPr>
          <p:cNvSpPr txBox="1"/>
          <p:nvPr/>
        </p:nvSpPr>
        <p:spPr>
          <a:xfrm>
            <a:off x="379959" y="4158236"/>
            <a:ext cx="1123084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ES" dirty="0">
                <a:solidFill>
                  <a:schemeClr val="accent1"/>
                </a:solidFill>
                <a:latin typeface="Century Gothic"/>
              </a:rPr>
              <a:t>Debemos tener sumo cuidado al momento de calcular el </a:t>
            </a:r>
            <a:r>
              <a:rPr lang="es-ES" dirty="0" err="1">
                <a:solidFill>
                  <a:schemeClr val="accent1"/>
                </a:solidFill>
                <a:latin typeface="Century Gothic"/>
              </a:rPr>
              <a:t>Kd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*(1-</a:t>
            </a:r>
            <a:r>
              <a:rPr lang="el-GR" dirty="0">
                <a:solidFill>
                  <a:srgbClr val="155E26"/>
                </a:solidFill>
                <a:latin typeface="Corbel"/>
              </a:rPr>
              <a:t>τ</a:t>
            </a:r>
            <a:r>
              <a:rPr lang="es-CO" dirty="0">
                <a:solidFill>
                  <a:schemeClr val="accent1"/>
                </a:solidFill>
                <a:latin typeface="Century Gothic"/>
              </a:rPr>
              <a:t>). Por ejemplo, en este caso podemos observar que 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el FCD (Post-</a:t>
            </a:r>
            <a:r>
              <a:rPr lang="es-ES" dirty="0" err="1">
                <a:solidFill>
                  <a:schemeClr val="accent1"/>
                </a:solidFill>
                <a:latin typeface="Century Gothic"/>
              </a:rPr>
              <a:t>Tax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) tiene más de un signo. Por lo que, el cálculo de la TIR puede llevarnos a imprecisiones. En este caso deberemos ajustar el </a:t>
            </a:r>
            <a:r>
              <a:rPr lang="es-ES" dirty="0" err="1">
                <a:solidFill>
                  <a:schemeClr val="accent1"/>
                </a:solidFill>
                <a:latin typeface="Century Gothic"/>
              </a:rPr>
              <a:t>Kd</a:t>
            </a:r>
            <a:r>
              <a:rPr lang="es-ES" dirty="0">
                <a:solidFill>
                  <a:schemeClr val="accent1"/>
                </a:solidFill>
                <a:latin typeface="Century Gothic"/>
              </a:rPr>
              <a:t>  como lo hemos aprendido: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9904A-9433-0CE3-B894-35B20C7DB254}"/>
              </a:ext>
            </a:extLst>
          </p:cNvPr>
          <p:cNvSpPr txBox="1"/>
          <p:nvPr/>
        </p:nvSpPr>
        <p:spPr>
          <a:xfrm>
            <a:off x="11377422" y="2637334"/>
            <a:ext cx="643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n-US" dirty="0"/>
          </a:p>
        </p:txBody>
      </p:sp>
      <p:sp>
        <p:nvSpPr>
          <p:cNvPr id="18" name="Rectángulo 24">
            <a:extLst>
              <a:ext uri="{FF2B5EF4-FFF2-40B4-BE49-F238E27FC236}">
                <a16:creationId xmlns:a16="http://schemas.microsoft.com/office/drawing/2014/main" id="{12FE90EC-052C-BCBB-90C6-509FC84E8A37}"/>
              </a:ext>
            </a:extLst>
          </p:cNvPr>
          <p:cNvSpPr/>
          <p:nvPr/>
        </p:nvSpPr>
        <p:spPr>
          <a:xfrm>
            <a:off x="10999099" y="2971853"/>
            <a:ext cx="1223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4,77 % TV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06515DB-9317-42C2-2B7D-1398B4A4665B}"/>
                  </a:ext>
                </a:extLst>
              </p:cNvPr>
              <p:cNvSpPr txBox="1"/>
              <p:nvPr/>
            </p:nvSpPr>
            <p:spPr>
              <a:xfrm>
                <a:off x="3849293" y="5256189"/>
                <a:ext cx="44934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∗(1−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𝑇𝑥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06515DB-9317-42C2-2B7D-1398B4A46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293" y="5256189"/>
                <a:ext cx="449341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B298BB-8B3E-846D-63D9-EE71219562D4}"/>
                  </a:ext>
                </a:extLst>
              </p:cNvPr>
              <p:cNvSpPr txBox="1"/>
              <p:nvPr/>
            </p:nvSpPr>
            <p:spPr>
              <a:xfrm>
                <a:off x="2682243" y="5861699"/>
                <a:ext cx="780412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=4,77%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𝑇𝑉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smtClean="0">
                              <a:latin typeface="Cambria Math" panose="02040503050406030204" pitchFamily="18" charset="0"/>
                            </a:rPr>
                            <m:t>1−33%</m:t>
                          </m:r>
                        </m:e>
                      </m:d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=3,19%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𝑇𝑉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B298BB-8B3E-846D-63D9-EE7121956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243" y="5861699"/>
                <a:ext cx="780412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83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1041-E071-74EB-492F-0EC6F6B2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A8EB23-B5F8-64C7-C2D2-6660D37D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BD3B1B-94C9-602E-8523-A1BE88BF6A4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4E02685-D710-E716-2A59-920AB5A4B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5B5B4A0-89E9-5748-5C4A-C9B71F10713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C630D7D-3026-F196-88DB-061E2141B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 DESPUÉS DE IMPUESTOS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C7FFA2-704F-CA7E-224C-956CA49B0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617" y="1948373"/>
            <a:ext cx="8283144" cy="471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resumen:</a:t>
            </a:r>
          </a:p>
        </p:txBody>
      </p:sp>
      <p:graphicFrame>
        <p:nvGraphicFramePr>
          <p:cNvPr id="7" name="Tabla 4">
            <a:extLst>
              <a:ext uri="{FF2B5EF4-FFF2-40B4-BE49-F238E27FC236}">
                <a16:creationId xmlns:a16="http://schemas.microsoft.com/office/drawing/2014/main" id="{B84E90CB-FAA1-9086-4607-E3CA88610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49117"/>
              </p:ext>
            </p:extLst>
          </p:nvPr>
        </p:nvGraphicFramePr>
        <p:xfrm>
          <a:off x="429769" y="2546440"/>
          <a:ext cx="5213550" cy="160455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7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520">
                  <a:extLst>
                    <a:ext uri="{9D8B030D-6E8A-4147-A177-3AD203B41FA5}">
                      <a16:colId xmlns:a16="http://schemas.microsoft.com/office/drawing/2014/main" val="136261491"/>
                    </a:ext>
                  </a:extLst>
                </a:gridCol>
              </a:tblGrid>
              <a:tr h="5802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effectLst/>
                          <a:latin typeface="Century Gothic" panose="020B0502020202020204" pitchFamily="34" charset="0"/>
                        </a:rPr>
                        <a:t>Tipo Amortización</a:t>
                      </a:r>
                      <a:endParaRPr lang="es-CO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Kd</a:t>
                      </a:r>
                      <a:endParaRPr lang="es-CO" sz="1400" b="1" u="none" strike="noStrike" kern="120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Kd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*(1-</a:t>
                      </a:r>
                      <a:r>
                        <a:rPr lang="el-GR" sz="1400" dirty="0">
                          <a:solidFill>
                            <a:schemeClr val="bg1"/>
                          </a:solidFill>
                        </a:rPr>
                        <a:t>τ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1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Kd</a:t>
                      </a:r>
                      <a:r>
                        <a:rPr lang="es-CO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AT (Método corto)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87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Constante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5,31% TV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3,65% </a:t>
                      </a:r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TV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2,68% </a:t>
                      </a:r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TV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Cuota Constante</a:t>
                      </a:r>
                      <a:endParaRPr lang="es-CO" sz="1400" b="0" i="0" u="none" strike="noStrike" kern="120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5,26% TV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3,61% </a:t>
                      </a:r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TV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87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Tipo </a:t>
                      </a:r>
                      <a:r>
                        <a:rPr lang="es-CO" sz="14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Bullet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4,77% TV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3,19% </a:t>
                      </a:r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TV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ángulo 5">
            <a:extLst>
              <a:ext uri="{FF2B5EF4-FFF2-40B4-BE49-F238E27FC236}">
                <a16:creationId xmlns:a16="http://schemas.microsoft.com/office/drawing/2014/main" id="{25E3CA6B-942C-5FCB-2234-62013803A05B}"/>
              </a:ext>
            </a:extLst>
          </p:cNvPr>
          <p:cNvSpPr/>
          <p:nvPr/>
        </p:nvSpPr>
        <p:spPr>
          <a:xfrm>
            <a:off x="6073978" y="2574865"/>
            <a:ext cx="54101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consecuencia, vemos como cuando existen costos de transacción, nuestra forma “rápida” no sirve para calcular el costo efectivo de la deuda.</a:t>
            </a:r>
          </a:p>
        </p:txBody>
      </p:sp>
      <p:sp>
        <p:nvSpPr>
          <p:cNvPr id="9" name="Rectángulo 6">
            <a:extLst>
              <a:ext uri="{FF2B5EF4-FFF2-40B4-BE49-F238E27FC236}">
                <a16:creationId xmlns:a16="http://schemas.microsoft.com/office/drawing/2014/main" id="{A9B16567-392F-4B2C-4C49-7A292A0C1C30}"/>
              </a:ext>
            </a:extLst>
          </p:cNvPr>
          <p:cNvSpPr/>
          <p:nvPr/>
        </p:nvSpPr>
        <p:spPr>
          <a:xfrm>
            <a:off x="1161488" y="4503584"/>
            <a:ext cx="103226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estos casos, necesariamente debemos construir los FCD y obtener de éstos, mediante la TIR, el costo efectivo de la deuda antes y después de impuestos.</a:t>
            </a:r>
          </a:p>
        </p:txBody>
      </p:sp>
      <p:sp>
        <p:nvSpPr>
          <p:cNvPr id="11" name="Rectángulo 7">
            <a:extLst>
              <a:ext uri="{FF2B5EF4-FFF2-40B4-BE49-F238E27FC236}">
                <a16:creationId xmlns:a16="http://schemas.microsoft.com/office/drawing/2014/main" id="{8787EF53-AFFC-4F62-9F1E-D532259E350C}"/>
              </a:ext>
            </a:extLst>
          </p:cNvPr>
          <p:cNvSpPr/>
          <p:nvPr/>
        </p:nvSpPr>
        <p:spPr>
          <a:xfrm>
            <a:off x="1161488" y="5380961"/>
            <a:ext cx="66330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Veamos otro ejemplo, esta vez con interés anticipado.</a:t>
            </a:r>
          </a:p>
        </p:txBody>
      </p:sp>
    </p:spTree>
    <p:extLst>
      <p:ext uri="{BB962C8B-B14F-4D97-AF65-F5344CB8AC3E}">
        <p14:creationId xmlns:p14="http://schemas.microsoft.com/office/powerpoint/2010/main" val="312833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1DA94-0F57-D6AE-AABC-2E2EC833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EC5647-D615-F121-6DBD-F3D1241E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C29A72C-BC9C-BD6F-2F24-F5445C0A817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BE9AF7A-D916-B8F4-8A3D-0A1B648C2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4C99B0C-C449-0BC7-FE4B-395D68BDE36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30BB6F1-9051-FB3D-3947-DFEE3E421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B63EB6-885A-1FF2-7404-12A918900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145328"/>
            <a:ext cx="10090616" cy="3511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 2:</a:t>
            </a:r>
          </a:p>
          <a:p>
            <a:pPr marL="0" indent="0">
              <a:buNone/>
            </a:pPr>
            <a:endParaRPr lang="es-ES" b="1" i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Tasa: 16% NA/TA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Impuestos: 33%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2 Años </a:t>
            </a:r>
          </a:p>
        </p:txBody>
      </p:sp>
    </p:spTree>
    <p:extLst>
      <p:ext uri="{BB962C8B-B14F-4D97-AF65-F5344CB8AC3E}">
        <p14:creationId xmlns:p14="http://schemas.microsoft.com/office/powerpoint/2010/main" val="1383030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451C-7144-36D7-B0BA-EFEF6D68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17BE06-D934-B5CF-10B3-A3F6F1C2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AB81D4-AC69-7665-5C73-A8FEBB2AB05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9C4DAC7-4511-9991-DDEF-D7957A1B7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B605436-F644-B4E1-838B-7A0351827C9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7B9C5F8-56EB-D453-3BAE-0FBF05FD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4187932F-70B8-08FD-6FC0-1837428BA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741778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7CD8BC1-08A7-9E20-8CDD-6DB082FCB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483549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D0884-3ADE-F71D-BFBE-BBEFF881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FE28E4-0428-4B6F-0D69-DAEF04FA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0D1854-9F5D-F5B5-7E03-BAEAB514640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03C48AB-415C-29FA-BEB8-85AA525C6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B87EC8F-ADC2-D44E-A2FC-0DDCFB13099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A028F96-F0FC-FADB-B1AA-48CECF7C5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98BA6DD0-6C7C-14DE-4E1F-E793CB707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951660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8340321-5BF4-2EF0-9C47-07F4B46C8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39391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26B5-4083-BD94-5A66-C5E381B5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88EB58-96C6-F512-6C9D-C268373D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BA13527-E745-F2EF-F9AE-B33CC8DE6EE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5C40879-70EF-9392-70F6-3FDAD82F7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33E398C-9D04-F345-A0F3-B8C7B7E6425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13B6AF0-92B8-A723-FE30-10107F48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A734558D-77E4-DFDA-D2ED-D788D4C9D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971245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DA475EA-BD41-EF30-A27F-8DA230734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213510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6E2C2-5046-FA4E-12F8-CEEE38E0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485588-935E-E006-C08C-C2F7226E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27DC9B-1262-78CE-4AE6-4462E976033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6C4DC37-743B-69A8-9C93-D1CF24BBA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AD33351-1E94-A557-03E0-2A454AF559F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B93E92B-9F2B-2880-C34D-AFCFC488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4789C88D-4573-AA3D-CD02-253D8B037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99149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1">
            <a:extLst>
              <a:ext uri="{FF2B5EF4-FFF2-40B4-BE49-F238E27FC236}">
                <a16:creationId xmlns:a16="http://schemas.microsoft.com/office/drawing/2014/main" id="{868AF20D-57D8-1D28-CE58-EEDE8CB6407C}"/>
              </a:ext>
            </a:extLst>
          </p:cNvPr>
          <p:cNvSpPr/>
          <p:nvPr/>
        </p:nvSpPr>
        <p:spPr>
          <a:xfrm>
            <a:off x="1066395" y="3263410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Century Gothic" panose="020B0502020202020204" pitchFamily="34" charset="0"/>
            </a:endParaRPr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F0C26DE2-CAEA-34F3-9B99-D98CD8F48BD4}"/>
              </a:ext>
            </a:extLst>
          </p:cNvPr>
          <p:cNvSpPr txBox="1"/>
          <p:nvPr/>
        </p:nvSpPr>
        <p:spPr>
          <a:xfrm>
            <a:off x="5485209" y="206358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Interés (t) = Saldo (t) *Tasa de Interés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8A580FC1-637A-3DF4-A82C-1868D1827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6248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E3C2-21ED-7332-2962-2F013069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28E8DD-8AFB-FA70-8BFE-DA074F3C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80C821-CEF1-A231-97A4-20183105321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AF3D1B0-ABFF-3DA6-DAF6-ADBC735DB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2531ABB-F068-5B0B-B849-3A63ED88D91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97210A2-28D0-1F3A-2324-DB46216D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A329E79C-D51E-7F33-136F-7BDAE43A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79122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1">
            <a:extLst>
              <a:ext uri="{FF2B5EF4-FFF2-40B4-BE49-F238E27FC236}">
                <a16:creationId xmlns:a16="http://schemas.microsoft.com/office/drawing/2014/main" id="{5A5625EB-71BA-EF80-653D-C53BF506F9E3}"/>
              </a:ext>
            </a:extLst>
          </p:cNvPr>
          <p:cNvSpPr/>
          <p:nvPr/>
        </p:nvSpPr>
        <p:spPr>
          <a:xfrm>
            <a:off x="1066395" y="3263410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Century Gothic" panose="020B0502020202020204" pitchFamily="34" charset="0"/>
            </a:endParaRPr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07EB9111-3D36-A678-59C3-DC1714914623}"/>
              </a:ext>
            </a:extLst>
          </p:cNvPr>
          <p:cNvSpPr txBox="1"/>
          <p:nvPr/>
        </p:nvSpPr>
        <p:spPr>
          <a:xfrm>
            <a:off x="5485209" y="206358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Interés (t) = Saldo (t) *Tasa de Interés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6A82110-6220-451E-3479-DC4E945AC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394034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761A-8CFD-B308-326D-F6958407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FB9636-31DB-FD5D-6219-7C455C0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5A20F6D-F328-1813-BEB5-616087D978A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8B2C37A-E3C7-3C7E-7834-33D12914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0EF2EC1-B307-C605-29FE-93FB5ED9F78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2DF8ED1-2355-61C0-C67F-45CF97E6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29F5D970-5013-217D-E044-67197D0DD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248125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BAC0615-DD12-9FD3-BB6B-82DB2995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317540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2239-9644-7C35-3E96-D0FAF9A2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F1335A-F5DB-E7C1-0C42-3A060573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A78931-61AD-3C6C-EF58-A088C473416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C10593F8-D238-565C-935F-D9397C04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7434A96-DEEA-1D51-0717-4793521DD03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FE73FCC-7420-3AD5-0771-548F391B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09B979AF-2EF7-45E5-7256-0EE610874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186322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A7D0E0A-654B-CC71-42C6-3C4B4467A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1579990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4DB2-9003-F347-BD79-BF4288AF4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6BCC86-E6FB-9B2C-4902-22A774ED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1D1C5B7-DC34-FABA-D241-DE6EE979652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54B0DB1-C957-6BE2-53C4-9061316EC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D4423FE-0315-70B8-EDD6-DD13B6326B3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5E4C076-6D07-DE79-EDD5-37D6B938E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A17B1267-EF05-1B6F-DF09-9E82CDFFC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945832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81553D3-4D6C-126C-2090-71E232A3D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190431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89B8-D126-3CE1-CB89-0E7D2054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F09EE-5B38-0F41-DA02-FE326905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9697B42-4CAA-3E87-27AA-56EE40750E6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26229B4-448E-C439-1FEC-125761EC4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7AABF46-68BA-16E8-C015-2D3B5EACD0F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644DAAF-33DA-E974-8429-746CEDD0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0E9B964A-607C-F655-AE6E-7D7AD357C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542913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62CE043-B4B0-664A-72B6-993DF63E1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2437334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C09D-1BD3-BACE-A513-BBC95F74C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1E214D-B7CE-DDA6-79EE-9CD0521C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C62D736-22FB-7DA2-2EB4-CA8C83F538E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F3956FC-18D0-8B4F-D229-DC92E45BC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829EEA8-57C5-E91C-0E93-5B84533AF70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FC9169D-E34E-3E7D-DC61-A343347B2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FB20008D-238E-F1DF-C0C2-820B82B1E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426088"/>
              </p:ext>
            </p:extLst>
          </p:nvPr>
        </p:nvGraphicFramePr>
        <p:xfrm>
          <a:off x="1066395" y="2576716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A2E35F4A-8113-A1EA-BE7C-0B72F1F4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3125356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1CFB6-145F-E7E0-99CA-1EE978ACD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ED6BAD-B3D5-4AE6-834B-6AF31C11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B82D46E-FF30-EA1F-4520-D93AAE3A67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23EF79A-0723-21DF-0956-23A492BE5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41AE926-18EA-A872-1862-800DFA7AF24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01E836D-7BD8-330E-2C0E-36B85891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Rectángulo 22">
            <a:extLst>
              <a:ext uri="{FF2B5EF4-FFF2-40B4-BE49-F238E27FC236}">
                <a16:creationId xmlns:a16="http://schemas.microsoft.com/office/drawing/2014/main" id="{5A9ED9C0-1BC5-10B9-ED76-8FAF5EEE643D}"/>
              </a:ext>
            </a:extLst>
          </p:cNvPr>
          <p:cNvSpPr/>
          <p:nvPr/>
        </p:nvSpPr>
        <p:spPr>
          <a:xfrm>
            <a:off x="10496456" y="3463974"/>
            <a:ext cx="1545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(Pre-</a:t>
            </a:r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Tax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7" name="Rectángulo 24">
            <a:extLst>
              <a:ext uri="{FF2B5EF4-FFF2-40B4-BE49-F238E27FC236}">
                <a16:creationId xmlns:a16="http://schemas.microsoft.com/office/drawing/2014/main" id="{0205E90C-4D18-38A2-265D-C822490B9D66}"/>
              </a:ext>
            </a:extLst>
          </p:cNvPr>
          <p:cNvSpPr/>
          <p:nvPr/>
        </p:nvSpPr>
        <p:spPr>
          <a:xfrm>
            <a:off x="10657558" y="3890041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4,17 % TV</a:t>
            </a:r>
          </a:p>
        </p:txBody>
      </p:sp>
      <p:sp>
        <p:nvSpPr>
          <p:cNvPr id="8" name="Rectángulo 28">
            <a:extLst>
              <a:ext uri="{FF2B5EF4-FFF2-40B4-BE49-F238E27FC236}">
                <a16:creationId xmlns:a16="http://schemas.microsoft.com/office/drawing/2014/main" id="{5920E142-913C-1C1A-2600-084873877C1D}"/>
              </a:ext>
            </a:extLst>
          </p:cNvPr>
          <p:cNvSpPr/>
          <p:nvPr/>
        </p:nvSpPr>
        <p:spPr>
          <a:xfrm>
            <a:off x="10448367" y="4517347"/>
            <a:ext cx="1641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(Post-</a:t>
            </a:r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Tax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9" name="Rectángulo 29">
            <a:extLst>
              <a:ext uri="{FF2B5EF4-FFF2-40B4-BE49-F238E27FC236}">
                <a16:creationId xmlns:a16="http://schemas.microsoft.com/office/drawing/2014/main" id="{A4BF1086-04B7-4552-A2ED-0895B592CF0E}"/>
              </a:ext>
            </a:extLst>
          </p:cNvPr>
          <p:cNvSpPr/>
          <p:nvPr/>
        </p:nvSpPr>
        <p:spPr>
          <a:xfrm>
            <a:off x="10657557" y="4943414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2,86 % TV</a:t>
            </a:r>
          </a:p>
        </p:txBody>
      </p:sp>
      <p:graphicFrame>
        <p:nvGraphicFramePr>
          <p:cNvPr id="11" name="Tabla 25">
            <a:extLst>
              <a:ext uri="{FF2B5EF4-FFF2-40B4-BE49-F238E27FC236}">
                <a16:creationId xmlns:a16="http://schemas.microsoft.com/office/drawing/2014/main" id="{B5631C40-BD94-982F-3492-F26413700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893387"/>
              </p:ext>
            </p:extLst>
          </p:nvPr>
        </p:nvGraphicFramePr>
        <p:xfrm>
          <a:off x="271676" y="2876492"/>
          <a:ext cx="9980707" cy="3733890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$ 1.250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$ 7.500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$ 3.750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$ 1.300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A49CC0A2-3A18-6185-FEBC-439AC8B5C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4682"/>
            <a:ext cx="11029615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Trimestral</a:t>
            </a:r>
          </a:p>
        </p:txBody>
      </p:sp>
    </p:spTree>
    <p:extLst>
      <p:ext uri="{BB962C8B-B14F-4D97-AF65-F5344CB8AC3E}">
        <p14:creationId xmlns:p14="http://schemas.microsoft.com/office/powerpoint/2010/main" val="424398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DBFF4-BD8E-BD58-EF64-86F77EBC7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67BD6E-836A-82B5-E87F-E76D470A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3EDFF5-D10F-C96C-93ED-1C78DD21650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94214A5-767E-8E99-D533-9E33E3F42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2DAD8D3-194B-6933-EF62-8CFD1E03ECF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882DEC-B064-B75A-116D-B986288CB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7DCC6D-7CD4-5B90-99F6-FACEB69B5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692" y="1989939"/>
            <a:ext cx="10090616" cy="44200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 3:</a:t>
            </a:r>
          </a:p>
          <a:p>
            <a:pPr marL="0" indent="0">
              <a:buNone/>
            </a:pPr>
            <a:endParaRPr lang="es-ES" b="1" i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Tasa: 16% NA/TA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Impuestos: 33%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2 Años 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Comisión: 5% del monto solicitado en el momento del desembolso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Periodo de Gracia: 1 semestre sobre capital al inicio del crédito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Seguros: 1% trimestral sobre el monto desembolsado 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Reciprocidad: $400 en una cuenta de ahorro desde el momento del desembolso hasta el pago total del crédito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Constante Semestral</a:t>
            </a:r>
          </a:p>
        </p:txBody>
      </p:sp>
    </p:spTree>
    <p:extLst>
      <p:ext uri="{BB962C8B-B14F-4D97-AF65-F5344CB8AC3E}">
        <p14:creationId xmlns:p14="http://schemas.microsoft.com/office/powerpoint/2010/main" val="33428573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C839-C402-2C18-15B0-88D9FC5F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79E968-C3F7-4F71-042E-F31DBA77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83941BF-35E7-2985-115D-B71D672E136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400B47F-6635-4234-30AE-20B097908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FA3B60D-96F3-7603-554D-A32137922A3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462F10F-613E-BF19-8A29-AF160356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4C8D166D-A639-E026-2DAB-21FBEF4D2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339238"/>
              </p:ext>
            </p:extLst>
          </p:nvPr>
        </p:nvGraphicFramePr>
        <p:xfrm>
          <a:off x="1104605" y="2008002"/>
          <a:ext cx="9980707" cy="4480668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$ 3.467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Seguro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089829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Reciprocidades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94476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$ 3.567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$ 2.875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$ 3.567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3974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303B-853F-D4CB-6059-F5E4C2D52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07FF9D-7A91-704D-BABA-3E588528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D7C86B-BB91-6CF6-59C2-B6253D1FEC8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3677E2E-766F-C684-B1F7-47345C37C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1B817E9-DE8A-F41B-F558-7443C0FF3DA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1BB0476-E1C7-B0CE-D8C6-278C93E9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23952D61-49EC-997F-D8F5-D4F7AD06A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554701"/>
              </p:ext>
            </p:extLst>
          </p:nvPr>
        </p:nvGraphicFramePr>
        <p:xfrm>
          <a:off x="328668" y="2080594"/>
          <a:ext cx="9980707" cy="4480668"/>
        </p:xfrm>
        <a:graphic>
          <a:graphicData uri="http://schemas.openxmlformats.org/drawingml/2006/table">
            <a:tbl>
              <a:tblPr/>
              <a:tblGrid>
                <a:gridCol w="155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2836177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89598565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0308673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5670362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$ 3.333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$ 3.467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$ 6.667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$ 3.333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Comisión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36517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Seguro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089829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Reciprocidades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$ 400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94476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$ 3.567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$ 8.700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$ 2.875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$ 3.567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Rectángulo 10">
            <a:extLst>
              <a:ext uri="{FF2B5EF4-FFF2-40B4-BE49-F238E27FC236}">
                <a16:creationId xmlns:a16="http://schemas.microsoft.com/office/drawing/2014/main" id="{77BA84A4-E697-DB4F-F381-79D8D1B23A7C}"/>
              </a:ext>
            </a:extLst>
          </p:cNvPr>
          <p:cNvSpPr/>
          <p:nvPr/>
        </p:nvSpPr>
        <p:spPr>
          <a:xfrm>
            <a:off x="10496456" y="3463974"/>
            <a:ext cx="1545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(Pre-</a:t>
            </a:r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Tax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:a16="http://schemas.microsoft.com/office/drawing/2014/main" id="{9AC9C4CD-69B3-A8BF-D57C-E3F420882285}"/>
              </a:ext>
            </a:extLst>
          </p:cNvPr>
          <p:cNvSpPr/>
          <p:nvPr/>
        </p:nvSpPr>
        <p:spPr>
          <a:xfrm>
            <a:off x="10657557" y="3890041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6,96 % TV</a:t>
            </a:r>
          </a:p>
        </p:txBody>
      </p:sp>
      <p:sp>
        <p:nvSpPr>
          <p:cNvPr id="9" name="Rectángulo 12">
            <a:extLst>
              <a:ext uri="{FF2B5EF4-FFF2-40B4-BE49-F238E27FC236}">
                <a16:creationId xmlns:a16="http://schemas.microsoft.com/office/drawing/2014/main" id="{D20F094B-6ADC-5AB5-D4D9-DB41657BDC0D}"/>
              </a:ext>
            </a:extLst>
          </p:cNvPr>
          <p:cNvSpPr/>
          <p:nvPr/>
        </p:nvSpPr>
        <p:spPr>
          <a:xfrm>
            <a:off x="10448367" y="4517347"/>
            <a:ext cx="1641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(Post-</a:t>
            </a:r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Tax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1" name="Rectángulo 13">
            <a:extLst>
              <a:ext uri="{FF2B5EF4-FFF2-40B4-BE49-F238E27FC236}">
                <a16:creationId xmlns:a16="http://schemas.microsoft.com/office/drawing/2014/main" id="{43A3EE79-43B1-F0C1-4F43-981B544A1F1D}"/>
              </a:ext>
            </a:extLst>
          </p:cNvPr>
          <p:cNvSpPr/>
          <p:nvPr/>
        </p:nvSpPr>
        <p:spPr>
          <a:xfrm>
            <a:off x="10689616" y="4943414"/>
            <a:ext cx="1159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4,83% TV</a:t>
            </a:r>
          </a:p>
        </p:txBody>
      </p:sp>
    </p:spTree>
    <p:extLst>
      <p:ext uri="{BB962C8B-B14F-4D97-AF65-F5344CB8AC3E}">
        <p14:creationId xmlns:p14="http://schemas.microsoft.com/office/powerpoint/2010/main" val="33602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2D7E-E855-4E5A-8B4D-786C3D63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4DDAA-94A4-5A9D-F942-C3DD7B030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08" y="1822352"/>
            <a:ext cx="10550396" cy="826833"/>
          </a:xfrm>
        </p:spPr>
        <p:txBody>
          <a:bodyPr>
            <a:noAutofit/>
          </a:bodyPr>
          <a:lstStyle/>
          <a:p>
            <a:r>
              <a:rPr lang="es-ES" sz="3200" dirty="0">
                <a:latin typeface="Century Gothic"/>
              </a:rPr>
              <a:t>Costo de la deuda </a:t>
            </a:r>
            <a:r>
              <a:rPr lang="es-CO" sz="3200" dirty="0">
                <a:latin typeface="Century Gothic"/>
              </a:rPr>
              <a:t>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</a:t>
            </a:r>
            <a:r>
              <a:rPr lang="es-CO" sz="3200" dirty="0" err="1">
                <a:solidFill>
                  <a:srgbClr val="D7A700"/>
                </a:solidFill>
                <a:latin typeface="Century Gothic"/>
              </a:rPr>
              <a:t>Ii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D18100A-7CFC-FDCE-E17B-AF34849ACF8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E0A702DE-5942-6235-BBBD-E764B5676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9D2B190-D807-9B61-CF30-DAA3F4000C1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54FC0062-A1CC-2DD9-A880-3FA7693EF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92E3C63-77AA-5312-EB66-A092433FDB81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58686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4455</TotalTime>
  <Words>5811</Words>
  <Application>Microsoft Macintosh PowerPoint</Application>
  <PresentationFormat>Widescreen</PresentationFormat>
  <Paragraphs>2907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Calibri</vt:lpstr>
      <vt:lpstr>Cambria Math</vt:lpstr>
      <vt:lpstr>Century Gothic</vt:lpstr>
      <vt:lpstr>Corbel</vt:lpstr>
      <vt:lpstr>Gill Sans MT</vt:lpstr>
      <vt:lpstr>Wingdings 2</vt:lpstr>
      <vt:lpstr>Dividendo</vt:lpstr>
      <vt:lpstr>Costo de la deuda (parte Ii)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 DESPUÉS DE IMPUESTOS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 (parte Ii)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</cp:lastModifiedBy>
  <cp:revision>162</cp:revision>
  <dcterms:created xsi:type="dcterms:W3CDTF">2019-06-20T04:25:04Z</dcterms:created>
  <dcterms:modified xsi:type="dcterms:W3CDTF">2026-10-15T17:01:57Z</dcterms:modified>
</cp:coreProperties>
</file>