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5"/>
  </p:notesMasterIdLst>
  <p:handoutMasterIdLst>
    <p:handoutMasterId r:id="rId46"/>
  </p:handoutMasterIdLst>
  <p:sldIdLst>
    <p:sldId id="398" r:id="rId2"/>
    <p:sldId id="354" r:id="rId3"/>
    <p:sldId id="456" r:id="rId4"/>
    <p:sldId id="366" r:id="rId5"/>
    <p:sldId id="367" r:id="rId6"/>
    <p:sldId id="434" r:id="rId7"/>
    <p:sldId id="458" r:id="rId8"/>
    <p:sldId id="437" r:id="rId9"/>
    <p:sldId id="439" r:id="rId10"/>
    <p:sldId id="442" r:id="rId11"/>
    <p:sldId id="486" r:id="rId12"/>
    <p:sldId id="497" r:id="rId13"/>
    <p:sldId id="457" r:id="rId14"/>
    <p:sldId id="443" r:id="rId15"/>
    <p:sldId id="487" r:id="rId16"/>
    <p:sldId id="391" r:id="rId17"/>
    <p:sldId id="488" r:id="rId18"/>
    <p:sldId id="444" r:id="rId19"/>
    <p:sldId id="489" r:id="rId20"/>
    <p:sldId id="490" r:id="rId21"/>
    <p:sldId id="460" r:id="rId22"/>
    <p:sldId id="392" r:id="rId23"/>
    <p:sldId id="368" r:id="rId24"/>
    <p:sldId id="370" r:id="rId25"/>
    <p:sldId id="371" r:id="rId26"/>
    <p:sldId id="459" r:id="rId27"/>
    <p:sldId id="372" r:id="rId28"/>
    <p:sldId id="373" r:id="rId29"/>
    <p:sldId id="491" r:id="rId30"/>
    <p:sldId id="492" r:id="rId31"/>
    <p:sldId id="493" r:id="rId32"/>
    <p:sldId id="494" r:id="rId33"/>
    <p:sldId id="382" r:id="rId34"/>
    <p:sldId id="495" r:id="rId35"/>
    <p:sldId id="384" r:id="rId36"/>
    <p:sldId id="399" r:id="rId37"/>
    <p:sldId id="400" r:id="rId38"/>
    <p:sldId id="415" r:id="rId39"/>
    <p:sldId id="385" r:id="rId40"/>
    <p:sldId id="496" r:id="rId41"/>
    <p:sldId id="484" r:id="rId42"/>
    <p:sldId id="483" r:id="rId43"/>
    <p:sldId id="485"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6666FF"/>
    <a:srgbClr val="FFF4E6"/>
    <a:srgbClr val="002F90"/>
    <a:srgbClr val="E8F8FA"/>
    <a:srgbClr val="DFFFFF"/>
    <a:srgbClr val="FF6600"/>
    <a:srgbClr val="33CC33"/>
    <a:srgbClr val="FF5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A7D367-D1DA-6D4A-B6E5-3A0FDA738AC5}" v="4" dt="2026-09-22T17:16:30.83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4"/>
    <p:restoredTop sz="94568"/>
  </p:normalViewPr>
  <p:slideViewPr>
    <p:cSldViewPr snapToGrid="0">
      <p:cViewPr varScale="1">
        <p:scale>
          <a:sx n="150" d="100"/>
          <a:sy n="150" d="100"/>
        </p:scale>
        <p:origin x="9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FA146403-BBA5-5A93-8956-7210BF70CAFE}"/>
    <pc:docChg chg="modSld">
      <pc:chgData name="Brigitte Castañeda Rodriguez" userId="5c201908-82f6-498c-9281-7eaa96fb17b4" providerId="ADAL" clId="{FA146403-BBA5-5A93-8956-7210BF70CAFE}" dt="2026-09-22T17:16:30.833" v="3" actId="108"/>
      <pc:docMkLst>
        <pc:docMk/>
      </pc:docMkLst>
      <pc:sldChg chg="modSp">
        <pc:chgData name="Brigitte Castañeda Rodriguez" userId="5c201908-82f6-498c-9281-7eaa96fb17b4" providerId="ADAL" clId="{FA146403-BBA5-5A93-8956-7210BF70CAFE}" dt="2026-09-22T17:16:30.833" v="3" actId="108"/>
        <pc:sldMkLst>
          <pc:docMk/>
          <pc:sldMk cId="457267099" sldId="392"/>
        </pc:sldMkLst>
        <pc:spChg chg="mod">
          <ac:chgData name="Brigitte Castañeda Rodriguez" userId="5c201908-82f6-498c-9281-7eaa96fb17b4" providerId="ADAL" clId="{FA146403-BBA5-5A93-8956-7210BF70CAFE}" dt="2026-09-22T17:16:30.833" v="3" actId="108"/>
          <ac:spMkLst>
            <pc:docMk/>
            <pc:sldMk cId="457267099" sldId="392"/>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22/09/26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22/09/26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a:t>
            </a:fld>
            <a:endParaRPr lang="en-US"/>
          </a:p>
        </p:txBody>
      </p:sp>
    </p:spTree>
    <p:extLst>
      <p:ext uri="{BB962C8B-B14F-4D97-AF65-F5344CB8AC3E}">
        <p14:creationId xmlns:p14="http://schemas.microsoft.com/office/powerpoint/2010/main" val="1532679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9</a:t>
            </a:fld>
            <a:endParaRPr lang="en-US"/>
          </a:p>
        </p:txBody>
      </p:sp>
    </p:spTree>
    <p:extLst>
      <p:ext uri="{BB962C8B-B14F-4D97-AF65-F5344CB8AC3E}">
        <p14:creationId xmlns:p14="http://schemas.microsoft.com/office/powerpoint/2010/main" val="3215039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2C4A9-88CB-DEB1-618C-9A86937B2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EE92A-4BC2-64B5-3538-62BE14102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13F30-2335-5552-B19F-98D4516638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338C43-7B1A-B3C3-D45C-AE4C5FE97789}"/>
              </a:ext>
            </a:extLst>
          </p:cNvPr>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195071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777FC-D74C-D726-6CE4-81C04A9C5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F8F45-09B3-7492-A43E-FC976433A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1F635-04D9-0ED5-BDCE-5D265D9907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005536-317B-D503-9956-FB45F3D0587E}"/>
              </a:ext>
            </a:extLst>
          </p:cNvPr>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404630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703005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5C0E-0FA7-8A69-68D5-970405A43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17656-ED52-5E36-B874-04528A41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9C56E-1E3F-DB79-4D56-BFF0E98586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5E79A0-DEE5-1B26-C6B8-141ABFBB6195}"/>
              </a:ext>
            </a:extLst>
          </p:cNvPr>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5903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52C8-FD75-637D-878C-A0C5ABFEA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8CCCA-922D-DC9D-4DD9-70E53F4C3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B2CB5-3946-9819-5DA8-DA104C8764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83501-80B8-3AF8-B885-754DD91DDDBB}"/>
              </a:ext>
            </a:extLst>
          </p:cNvPr>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2511634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406F6-2188-32DE-F534-0A8006DA7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39C01-27D7-60A0-666E-6F595CEDF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6EBA3-3FA4-7459-CD2C-9CBF45B2B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E6ED2-7EAC-C1FB-964E-BB828E3F99FC}"/>
              </a:ext>
            </a:extLst>
          </p:cNvPr>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2926079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3BB7-F748-2B35-A800-AF5AB0638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688ED-E030-34E3-8C22-C4C122F06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4CE03-8AAE-F56E-306B-4CE295762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1F8C2D-3801-EE9B-7FE4-076990EE20D1}"/>
              </a:ext>
            </a:extLst>
          </p:cNvPr>
          <p:cNvSpPr>
            <a:spLocks noGrp="1"/>
          </p:cNvSpPr>
          <p:nvPr>
            <p:ph type="sldNum" sz="quarter" idx="10"/>
          </p:nvPr>
        </p:nvSpPr>
        <p:spPr/>
        <p:txBody>
          <a:bodyPr/>
          <a:lstStyle/>
          <a:p>
            <a:fld id="{602C4E94-3DB4-C84A-925E-628A397D8BB4}" type="slidenum">
              <a:rPr lang="en-US" smtClean="0"/>
              <a:t>30</a:t>
            </a:fld>
            <a:endParaRPr lang="en-US"/>
          </a:p>
        </p:txBody>
      </p:sp>
    </p:spTree>
    <p:extLst>
      <p:ext uri="{BB962C8B-B14F-4D97-AF65-F5344CB8AC3E}">
        <p14:creationId xmlns:p14="http://schemas.microsoft.com/office/powerpoint/2010/main" val="2434105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2B3D-25FD-70A5-2275-224AE017C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C4171-22E9-FD32-524D-25F0D4DBF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464B-CB29-66A6-0AF1-F758B74AA1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1F3F5-DBA8-1749-E07F-18A54442A4AE}"/>
              </a:ext>
            </a:extLst>
          </p:cNvPr>
          <p:cNvSpPr>
            <a:spLocks noGrp="1"/>
          </p:cNvSpPr>
          <p:nvPr>
            <p:ph type="sldNum" sz="quarter" idx="10"/>
          </p:nvPr>
        </p:nvSpPr>
        <p:spPr/>
        <p:txBody>
          <a:bodyPr/>
          <a:lstStyle/>
          <a:p>
            <a:fld id="{602C4E94-3DB4-C84A-925E-628A397D8BB4}" type="slidenum">
              <a:rPr lang="en-US" smtClean="0"/>
              <a:t>31</a:t>
            </a:fld>
            <a:endParaRPr lang="en-US"/>
          </a:p>
        </p:txBody>
      </p:sp>
    </p:spTree>
    <p:extLst>
      <p:ext uri="{BB962C8B-B14F-4D97-AF65-F5344CB8AC3E}">
        <p14:creationId xmlns:p14="http://schemas.microsoft.com/office/powerpoint/2010/main" val="299620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6049-FE65-1247-18FB-A258E6EBB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D2750-B545-14E6-9495-881EC08E2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CE6AD-70D7-7D42-6343-113523FA3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F38F41-6BAC-FFE5-9437-AF9E2C541DDC}"/>
              </a:ext>
            </a:extLst>
          </p:cNvPr>
          <p:cNvSpPr>
            <a:spLocks noGrp="1"/>
          </p:cNvSpPr>
          <p:nvPr>
            <p:ph type="sldNum" sz="quarter" idx="10"/>
          </p:nvPr>
        </p:nvSpPr>
        <p:spPr/>
        <p:txBody>
          <a:bodyPr/>
          <a:lstStyle/>
          <a:p>
            <a:fld id="{602C4E94-3DB4-C84A-925E-628A397D8BB4}" type="slidenum">
              <a:rPr lang="en-US" smtClean="0"/>
              <a:t>32</a:t>
            </a:fld>
            <a:endParaRPr lang="en-US"/>
          </a:p>
        </p:txBody>
      </p:sp>
    </p:spTree>
    <p:extLst>
      <p:ext uri="{BB962C8B-B14F-4D97-AF65-F5344CB8AC3E}">
        <p14:creationId xmlns:p14="http://schemas.microsoft.com/office/powerpoint/2010/main" val="194453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8E753-A484-E369-12F9-EF1B2A454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E3B4D-9E51-6C1C-0078-316522DA6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606DB-2AA0-7BB8-A5A8-22597CDC8F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4D1819-A116-4B8A-9A14-53E6E9D755EE}"/>
              </a:ext>
            </a:extLst>
          </p:cNvPr>
          <p:cNvSpPr>
            <a:spLocks noGrp="1"/>
          </p:cNvSpPr>
          <p:nvPr>
            <p:ph type="sldNum" sz="quarter" idx="10"/>
          </p:nvPr>
        </p:nvSpPr>
        <p:spPr/>
        <p:txBody>
          <a:bodyPr/>
          <a:lstStyle/>
          <a:p>
            <a:fld id="{602C4E94-3DB4-C84A-925E-628A397D8BB4}" type="slidenum">
              <a:rPr lang="en-US" smtClean="0"/>
              <a:t>34</a:t>
            </a:fld>
            <a:endParaRPr lang="en-US"/>
          </a:p>
        </p:txBody>
      </p:sp>
    </p:spTree>
    <p:extLst>
      <p:ext uri="{BB962C8B-B14F-4D97-AF65-F5344CB8AC3E}">
        <p14:creationId xmlns:p14="http://schemas.microsoft.com/office/powerpoint/2010/main" val="3724007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9/22/26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74910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47048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9/22/26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35322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05511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03113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4406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6455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9/22/26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199962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0909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26860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9/22/26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011622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9/22/26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5710837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sv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0.svg"/></Relationships>
</file>

<file path=ppt/slides/_rels/slide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7" y="1814732"/>
            <a:ext cx="11079167" cy="826833"/>
          </a:xfrm>
        </p:spPr>
        <p:txBody>
          <a:bodyPr>
            <a:noAutofit/>
          </a:bodyPr>
          <a:lstStyle/>
          <a:p>
            <a:r>
              <a:rPr lang="es-CO" sz="3200" dirty="0">
                <a:latin typeface="Century Gothic"/>
              </a:rPr>
              <a:t>COMPARACIÓN Y SELECCIÓN DE PROYECTOS (</a:t>
            </a:r>
            <a:r>
              <a:rPr lang="es-CO" sz="3200" dirty="0">
                <a:solidFill>
                  <a:srgbClr val="D7A700"/>
                </a:solidFill>
                <a:latin typeface="Century Gothic"/>
              </a:rPr>
              <a:t>PARTE I</a:t>
            </a:r>
            <a:r>
              <a:rPr lang="es-CO" sz="3200" dirty="0">
                <a:latin typeface="Century Gothic"/>
              </a:rPr>
              <a:t>)</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3B9B72-D13E-2CBF-D0CA-6E449C2508E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00A2076B-5CA2-165C-9873-6BBE655A131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Introducción y tipos de proyectos.</a:t>
            </a:r>
            <a:endParaRPr lang="es-ES" dirty="0">
              <a:solidFill>
                <a:schemeClr val="accent1"/>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accent1"/>
                </a:solidFill>
                <a:latin typeface="Century Gothic"/>
                <a:cs typeface="Arial"/>
              </a:rPr>
              <a:t>Proyectos Independientes.</a:t>
            </a:r>
            <a:endParaRPr lang="es-CO" dirty="0">
              <a:solidFill>
                <a:schemeClr val="accent1"/>
              </a:solidFill>
              <a:latin typeface="Century Gothic"/>
            </a:endParaRPr>
          </a:p>
          <a:p>
            <a:pPr marL="342900" indent="-342900">
              <a:buClr>
                <a:srgbClr val="48BE7A"/>
              </a:buClr>
              <a:buFontTx/>
              <a:buAutoNum type="arabicPeriod"/>
            </a:pPr>
            <a:endParaRPr lang="es-CO" dirty="0">
              <a:solidFill>
                <a:schemeClr val="accent1"/>
              </a:solidFill>
              <a:latin typeface="Century Gothic"/>
            </a:endParaRPr>
          </a:p>
          <a:p>
            <a:pPr marL="342900" indent="-342900">
              <a:buClr>
                <a:srgbClr val="48BE7A"/>
              </a:buClr>
              <a:buFontTx/>
              <a:buAutoNum type="arabicPeriod"/>
            </a:pPr>
            <a:r>
              <a:rPr lang="es-CO" dirty="0">
                <a:solidFill>
                  <a:schemeClr val="accent1"/>
                </a:solidFill>
                <a:latin typeface="Century Gothic"/>
                <a:cs typeface="Arial"/>
              </a:rPr>
              <a:t>Proyectos Dependientes.</a:t>
            </a:r>
            <a:endParaRPr lang="es-CO" dirty="0">
              <a:solidFill>
                <a:schemeClr val="accent1"/>
              </a:solidFill>
              <a:latin typeface="Century Gothic"/>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accent1"/>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accent1"/>
                </a:solidFill>
                <a:latin typeface="Century Gothic"/>
                <a:cs typeface="Arial"/>
              </a:rPr>
              <a:t>Caso I: misma vida útil, misma inversión inicial.</a:t>
            </a:r>
            <a:endParaRPr lang="es-CO" dirty="0">
              <a:solidFill>
                <a:schemeClr val="accent1"/>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accent1"/>
                </a:solidFill>
                <a:latin typeface="Century Gothic"/>
                <a:cs typeface="Arial"/>
              </a:rPr>
              <a:t>Ejercicios de Práctica.</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5EE3CE35-619F-43F6-D5D0-2216339336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790377C-813D-BD19-50C9-E65975815F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9A04E29-88CB-E108-07FF-5E71BAEAF61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09DB9DBC-F3A8-714D-75FD-BB60DD91E22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9C47FD4-67A5-5906-5631-E60EEF426E3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A5622D4-B1A4-4DE8-C412-64CC4A811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CADF1B1-84CD-EB5A-367C-5367D03DEC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AC40724A-CCD6-3D85-0910-1EA5595C7ECB}"/>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Introducción y tipos de proyectos.</a:t>
            </a:r>
            <a:endParaRPr lang="es-ES" dirty="0">
              <a:solidFill>
                <a:schemeClr val="accent1"/>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endParaRPr lang="es-CO" dirty="0">
              <a:solidFill>
                <a:schemeClr val="bg2">
                  <a:lumMod val="90000"/>
                </a:schemeClr>
              </a:solidFill>
              <a:latin typeface="Century Gothic"/>
            </a:endParaRP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endParaRPr lang="es-CO" dirty="0">
              <a:solidFill>
                <a:schemeClr val="bg2">
                  <a:lumMod val="90000"/>
                </a:schemeClr>
              </a:solidFill>
              <a:latin typeface="Century Gothic"/>
            </a:endParaRP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1C7CF85A-C258-346B-8E76-76E8E3AB860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37293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INTRODUCCIÓN Y TIPOS DE PROYECTOS</a:t>
            </a:r>
          </a:p>
        </p:txBody>
      </p:sp>
      <p:sp>
        <p:nvSpPr>
          <p:cNvPr id="3" name="Content Placeholder 2"/>
          <p:cNvSpPr>
            <a:spLocks noGrp="1"/>
          </p:cNvSpPr>
          <p:nvPr>
            <p:ph idx="1"/>
          </p:nvPr>
        </p:nvSpPr>
        <p:spPr>
          <a:xfrm>
            <a:off x="1165413" y="2650583"/>
            <a:ext cx="9392888" cy="2731145"/>
          </a:xfrm>
        </p:spPr>
        <p:txBody>
          <a:bodyPr>
            <a:normAutofit/>
          </a:bodyPr>
          <a:lstStyle/>
          <a:p>
            <a:pPr marL="0" indent="0" algn="ctr">
              <a:buNone/>
            </a:pPr>
            <a:r>
              <a:rPr lang="es-ES_tradnl" sz="3200" b="1" dirty="0">
                <a:solidFill>
                  <a:srgbClr val="C00000"/>
                </a:solidFill>
                <a:latin typeface="Century Gothic" panose="020B0502020202020204" pitchFamily="34" charset="0"/>
              </a:rPr>
              <a:t>¿Cómo tomar decisiones de inversión cuando disponemos de distintas alternativas de inversión?</a:t>
            </a:r>
          </a:p>
          <a:p>
            <a:pPr marL="0" indent="0" algn="ctr">
              <a:buNone/>
            </a:pPr>
            <a:endParaRPr lang="es-ES_tradnl" sz="3200" b="1" dirty="0">
              <a:solidFill>
                <a:srgbClr val="C00000"/>
              </a:solidFill>
              <a:latin typeface="Century Gothic" panose="020B0502020202020204" pitchFamily="34" charset="0"/>
            </a:endParaRPr>
          </a:p>
        </p:txBody>
      </p:sp>
      <p:sp>
        <p:nvSpPr>
          <p:cNvPr id="5" name="Rectángulo 4">
            <a:extLst>
              <a:ext uri="{FF2B5EF4-FFF2-40B4-BE49-F238E27FC236}">
                <a16:creationId xmlns:a16="http://schemas.microsoft.com/office/drawing/2014/main" id="{4FE72642-6263-1A89-0177-1F22CAC0A3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CDE2DC4-59DB-0CD3-0D43-01BC74A55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06CC5B3-45B8-243C-2890-D7A2C7362CF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0045A270-222D-24BF-FAF0-1BE53E25083F}"/>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24191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8E3A5C-07D2-74B2-5A8D-05200E55263F}"/>
              </a:ext>
            </a:extLst>
          </p:cNvPr>
          <p:cNvSpPr>
            <a:spLocks noGrp="1"/>
          </p:cNvSpPr>
          <p:nvPr>
            <p:ph type="title"/>
          </p:nvPr>
        </p:nvSpPr>
        <p:spPr/>
        <p:txBody>
          <a:bodyPr>
            <a:normAutofit/>
          </a:bodyPr>
          <a:lstStyle/>
          <a:p>
            <a:r>
              <a:rPr lang="es-ES_tradnl" sz="3200" dirty="0">
                <a:latin typeface="Century Gothic" panose="020B0502020202020204" pitchFamily="34" charset="0"/>
              </a:rPr>
              <a:t>INTRODUCCIÓN Y TIPOS DE PROYECTOS</a:t>
            </a:r>
          </a:p>
        </p:txBody>
      </p:sp>
      <p:sp>
        <p:nvSpPr>
          <p:cNvPr id="3" name="Content Placeholder 2"/>
          <p:cNvSpPr>
            <a:spLocks noGrp="1"/>
          </p:cNvSpPr>
          <p:nvPr>
            <p:ph idx="1"/>
          </p:nvPr>
        </p:nvSpPr>
        <p:spPr>
          <a:xfrm>
            <a:off x="838647" y="2154740"/>
            <a:ext cx="5703913" cy="1013800"/>
          </a:xfrm>
        </p:spPr>
        <p:txBody>
          <a:bodyPr>
            <a:noAutofit/>
          </a:bodyPr>
          <a:lstStyle/>
          <a:p>
            <a:pPr marL="0" indent="0" algn="just">
              <a:buNone/>
            </a:pPr>
            <a:r>
              <a:rPr lang="es-ES_tradnl" sz="2000" dirty="0">
                <a:solidFill>
                  <a:schemeClr val="accent1"/>
                </a:solidFill>
                <a:latin typeface="Century Gothic" panose="020B0502020202020204" pitchFamily="34" charset="0"/>
              </a:rPr>
              <a:t>Se analizarán tres (3) tipos de proyectos:</a:t>
            </a:r>
          </a:p>
          <a:p>
            <a:pPr marL="0" indent="0" algn="just">
              <a:buNone/>
            </a:pPr>
            <a:endParaRPr lang="es-ES_tradnl" sz="2000" dirty="0">
              <a:solidFill>
                <a:schemeClr val="accent1"/>
              </a:solidFill>
              <a:latin typeface="Century Gothic" panose="020B0502020202020204" pitchFamily="34" charset="0"/>
            </a:endParaRPr>
          </a:p>
        </p:txBody>
      </p:sp>
      <p:pic>
        <p:nvPicPr>
          <p:cNvPr id="1026" name="Picture 2" descr="Si te da miedo el matrimonio quizá sea por esta razón">
            <a:extLst>
              <a:ext uri="{FF2B5EF4-FFF2-40B4-BE49-F238E27FC236}">
                <a16:creationId xmlns:a16="http://schemas.microsoft.com/office/drawing/2014/main" id="{5E95F3CF-B181-BBDD-E06B-BBF2AE55E2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2720" y="4691968"/>
            <a:ext cx="2755420" cy="144659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ómo ligar en una fiesta - 7 pasos">
            <a:extLst>
              <a:ext uri="{FF2B5EF4-FFF2-40B4-BE49-F238E27FC236}">
                <a16:creationId xmlns:a16="http://schemas.microsoft.com/office/drawing/2014/main" id="{5B17735E-3713-DBB4-A858-30120FFE2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2720" y="2154739"/>
            <a:ext cx="2308859" cy="1535391"/>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BAF4F37F-8ABF-B32B-84C6-E11BB34817B5}"/>
              </a:ext>
            </a:extLst>
          </p:cNvPr>
          <p:cNvSpPr txBox="1"/>
          <p:nvPr/>
        </p:nvSpPr>
        <p:spPr>
          <a:xfrm>
            <a:off x="768413" y="2922434"/>
            <a:ext cx="6096000" cy="1015663"/>
          </a:xfrm>
          <a:prstGeom prst="rect">
            <a:avLst/>
          </a:prstGeom>
          <a:noFill/>
        </p:spPr>
        <p:txBody>
          <a:bodyPr wrap="square">
            <a:spAutoFit/>
          </a:bodyPr>
          <a:lstStyle/>
          <a:p>
            <a:pPr algn="just">
              <a:buClr>
                <a:schemeClr val="accent6"/>
              </a:buClr>
            </a:pPr>
            <a:r>
              <a:rPr lang="es-ES_tradnl" sz="2000" b="1" dirty="0">
                <a:solidFill>
                  <a:schemeClr val="accent3">
                    <a:lumMod val="50000"/>
                  </a:schemeClr>
                </a:solidFill>
                <a:latin typeface="Century Gothic" panose="020B0502020202020204" pitchFamily="34" charset="0"/>
              </a:rPr>
              <a:t>1. </a:t>
            </a:r>
            <a:r>
              <a:rPr lang="es-ES_tradnl" sz="2000" b="1" dirty="0">
                <a:solidFill>
                  <a:srgbClr val="D7A700"/>
                </a:solidFill>
                <a:latin typeface="Century Gothic" panose="020B0502020202020204" pitchFamily="34" charset="0"/>
              </a:rPr>
              <a:t>Independientes: </a:t>
            </a:r>
            <a:r>
              <a:rPr lang="es-ES_tradnl" sz="2000" dirty="0">
                <a:solidFill>
                  <a:schemeClr val="accent1"/>
                </a:solidFill>
                <a:latin typeface="Century Gothic" panose="020B0502020202020204" pitchFamily="34" charset="0"/>
              </a:rPr>
              <a:t>Una alternativa se puede ejecutar independiente de realizar otras alternativas.</a:t>
            </a:r>
          </a:p>
        </p:txBody>
      </p:sp>
      <p:sp>
        <p:nvSpPr>
          <p:cNvPr id="16" name="CuadroTexto 15">
            <a:extLst>
              <a:ext uri="{FF2B5EF4-FFF2-40B4-BE49-F238E27FC236}">
                <a16:creationId xmlns:a16="http://schemas.microsoft.com/office/drawing/2014/main" id="{58B0FEFD-F8A7-F567-F679-22F4DA432EC4}"/>
              </a:ext>
            </a:extLst>
          </p:cNvPr>
          <p:cNvSpPr txBox="1"/>
          <p:nvPr/>
        </p:nvSpPr>
        <p:spPr>
          <a:xfrm>
            <a:off x="768413" y="4103752"/>
            <a:ext cx="6096000" cy="707886"/>
          </a:xfrm>
          <a:prstGeom prst="rect">
            <a:avLst/>
          </a:prstGeom>
          <a:noFill/>
        </p:spPr>
        <p:txBody>
          <a:bodyPr wrap="square">
            <a:spAutoFit/>
          </a:bodyPr>
          <a:lstStyle/>
          <a:p>
            <a:pPr algn="just">
              <a:buClr>
                <a:schemeClr val="accent6"/>
              </a:buClr>
            </a:pPr>
            <a:r>
              <a:rPr lang="es-ES_tradnl" sz="2000" b="1" dirty="0">
                <a:solidFill>
                  <a:schemeClr val="accent3">
                    <a:lumMod val="50000"/>
                  </a:schemeClr>
                </a:solidFill>
                <a:latin typeface="Century Gothic" panose="020B0502020202020204" pitchFamily="34" charset="0"/>
              </a:rPr>
              <a:t>2. </a:t>
            </a:r>
            <a:r>
              <a:rPr lang="es-ES_tradnl" sz="2000" b="1" dirty="0">
                <a:solidFill>
                  <a:srgbClr val="D7A700"/>
                </a:solidFill>
                <a:latin typeface="Century Gothic" panose="020B0502020202020204" pitchFamily="34" charset="0"/>
              </a:rPr>
              <a:t>Dependientes:</a:t>
            </a:r>
            <a:r>
              <a:rPr lang="es-ES_tradnl" sz="2000" dirty="0">
                <a:solidFill>
                  <a:srgbClr val="D7A700"/>
                </a:solidFill>
                <a:latin typeface="Century Gothic" panose="020B0502020202020204" pitchFamily="34" charset="0"/>
              </a:rPr>
              <a:t> </a:t>
            </a:r>
            <a:r>
              <a:rPr lang="es-ES_tradnl" sz="2000" dirty="0">
                <a:solidFill>
                  <a:schemeClr val="accent1"/>
                </a:solidFill>
                <a:latin typeface="Century Gothic" panose="020B0502020202020204" pitchFamily="34" charset="0"/>
              </a:rPr>
              <a:t>Una alternativa </a:t>
            </a:r>
            <a:r>
              <a:rPr lang="es-ES_tradnl" sz="2000" b="1" dirty="0">
                <a:solidFill>
                  <a:srgbClr val="C00000"/>
                </a:solidFill>
                <a:latin typeface="Century Gothic" panose="020B0502020202020204" pitchFamily="34" charset="0"/>
              </a:rPr>
              <a:t>NO</a:t>
            </a:r>
            <a:r>
              <a:rPr lang="es-ES_tradnl" sz="2000" dirty="0">
                <a:solidFill>
                  <a:schemeClr val="accent1"/>
                </a:solidFill>
                <a:latin typeface="Century Gothic" panose="020B0502020202020204" pitchFamily="34" charset="0"/>
              </a:rPr>
              <a:t> se puede ejecutar sin llevar a cabo la otra.</a:t>
            </a:r>
          </a:p>
        </p:txBody>
      </p:sp>
      <p:sp>
        <p:nvSpPr>
          <p:cNvPr id="18" name="CuadroTexto 17">
            <a:extLst>
              <a:ext uri="{FF2B5EF4-FFF2-40B4-BE49-F238E27FC236}">
                <a16:creationId xmlns:a16="http://schemas.microsoft.com/office/drawing/2014/main" id="{16F42E28-F600-99BF-01C2-7F6A5E41D693}"/>
              </a:ext>
            </a:extLst>
          </p:cNvPr>
          <p:cNvSpPr txBox="1"/>
          <p:nvPr/>
        </p:nvSpPr>
        <p:spPr>
          <a:xfrm>
            <a:off x="768413" y="4977293"/>
            <a:ext cx="6096000" cy="1015663"/>
          </a:xfrm>
          <a:prstGeom prst="rect">
            <a:avLst/>
          </a:prstGeom>
          <a:noFill/>
        </p:spPr>
        <p:txBody>
          <a:bodyPr wrap="square">
            <a:spAutoFit/>
          </a:bodyPr>
          <a:lstStyle/>
          <a:p>
            <a:pPr algn="just">
              <a:buClr>
                <a:schemeClr val="accent6"/>
              </a:buClr>
            </a:pPr>
            <a:r>
              <a:rPr lang="es-ES_tradnl" sz="2000" b="1" dirty="0">
                <a:solidFill>
                  <a:schemeClr val="accent3">
                    <a:lumMod val="50000"/>
                  </a:schemeClr>
                </a:solidFill>
                <a:latin typeface="Century Gothic" panose="020B0502020202020204" pitchFamily="34" charset="0"/>
              </a:rPr>
              <a:t>3. </a:t>
            </a:r>
            <a:r>
              <a:rPr lang="es-ES_tradnl" sz="2000" b="1" dirty="0">
                <a:solidFill>
                  <a:srgbClr val="D7A700"/>
                </a:solidFill>
                <a:latin typeface="Century Gothic" panose="020B0502020202020204" pitchFamily="34" charset="0"/>
              </a:rPr>
              <a:t>Mutuamente Excluyentes</a:t>
            </a:r>
            <a:r>
              <a:rPr lang="es-ES_tradnl" sz="2000" dirty="0">
                <a:solidFill>
                  <a:srgbClr val="D7A700"/>
                </a:solidFill>
                <a:latin typeface="Century Gothic" panose="020B0502020202020204" pitchFamily="34" charset="0"/>
              </a:rPr>
              <a:t>: </a:t>
            </a:r>
            <a:r>
              <a:rPr lang="es-ES_tradnl" sz="2000" dirty="0">
                <a:solidFill>
                  <a:schemeClr val="accent1"/>
                </a:solidFill>
                <a:latin typeface="Century Gothic" panose="020B0502020202020204" pitchFamily="34" charset="0"/>
              </a:rPr>
              <a:t>Si se lleva a cabo una alternativa, ésta limita a que otras </a:t>
            </a:r>
            <a:r>
              <a:rPr lang="es-ES_tradnl" sz="2000" b="1" dirty="0">
                <a:solidFill>
                  <a:srgbClr val="C00000"/>
                </a:solidFill>
                <a:latin typeface="Century Gothic" panose="020B0502020202020204" pitchFamily="34" charset="0"/>
              </a:rPr>
              <a:t>NO</a:t>
            </a:r>
            <a:r>
              <a:rPr lang="es-ES_tradnl" sz="2000" dirty="0">
                <a:solidFill>
                  <a:schemeClr val="accent1"/>
                </a:solidFill>
                <a:latin typeface="Century Gothic" panose="020B0502020202020204" pitchFamily="34" charset="0"/>
              </a:rPr>
              <a:t> se puedan ejecutar.</a:t>
            </a:r>
          </a:p>
        </p:txBody>
      </p:sp>
      <p:sp>
        <p:nvSpPr>
          <p:cNvPr id="2" name="Rectángulo 1">
            <a:extLst>
              <a:ext uri="{FF2B5EF4-FFF2-40B4-BE49-F238E27FC236}">
                <a16:creationId xmlns:a16="http://schemas.microsoft.com/office/drawing/2014/main" id="{635B867B-B079-503E-8747-B990670AF0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668A1EB-F5CC-022E-6EA4-F2B270040F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A2809C6-5E13-0098-5FB2-198FF1938A0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1B5BC001-BBAC-63C1-0DA7-67365B4CFD72}"/>
              </a:ext>
            </a:extLst>
          </p:cNvPr>
          <p:cNvPicPr>
            <a:picLocks noChangeAspect="1"/>
          </p:cNvPicPr>
          <p:nvPr/>
        </p:nvPicPr>
        <p:blipFill>
          <a:blip r:embed="rId5"/>
          <a:stretch>
            <a:fillRect/>
          </a:stretch>
        </p:blipFill>
        <p:spPr>
          <a:xfrm>
            <a:off x="9542009" y="2152725"/>
            <a:ext cx="1542545" cy="1534162"/>
          </a:xfrm>
          <a:prstGeom prst="rect">
            <a:avLst/>
          </a:prstGeom>
        </p:spPr>
      </p:pic>
      <p:pic>
        <p:nvPicPr>
          <p:cNvPr id="12" name="Imagen 11" descr="Un hombre y una mujer sentados en una cama&#10;&#10;Descripción generada automáticamente con confianza media">
            <a:extLst>
              <a:ext uri="{FF2B5EF4-FFF2-40B4-BE49-F238E27FC236}">
                <a16:creationId xmlns:a16="http://schemas.microsoft.com/office/drawing/2014/main" id="{7DFE050F-C7CA-9863-38E4-CBC63F3BED91}"/>
              </a:ext>
            </a:extLst>
          </p:cNvPr>
          <p:cNvPicPr>
            <a:picLocks noChangeAspect="1"/>
          </p:cNvPicPr>
          <p:nvPr/>
        </p:nvPicPr>
        <p:blipFill rotWithShape="1">
          <a:blip r:embed="rId6"/>
          <a:srcRect l="21016"/>
          <a:stretch/>
        </p:blipFill>
        <p:spPr>
          <a:xfrm>
            <a:off x="9542009" y="3462987"/>
            <a:ext cx="2308859" cy="1644287"/>
          </a:xfrm>
          <a:prstGeom prst="rect">
            <a:avLst/>
          </a:prstGeom>
        </p:spPr>
      </p:pic>
      <p:sp>
        <p:nvSpPr>
          <p:cNvPr id="9" name="Slide Number Placeholder 3">
            <a:extLst>
              <a:ext uri="{FF2B5EF4-FFF2-40B4-BE49-F238E27FC236}">
                <a16:creationId xmlns:a16="http://schemas.microsoft.com/office/drawing/2014/main" id="{C031F785-C274-198F-5405-64069F2CF47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49601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ppt_y</p:attrName>
                                        </p:attrNameLst>
                                      </p:cBhvr>
                                      <p:tavLst>
                                        <p:tav tm="0">
                                          <p:val>
                                            <p:strVal val="#ppt_y+#ppt_h*1.125000"/>
                                          </p:val>
                                        </p:tav>
                                        <p:tav tm="100000">
                                          <p:val>
                                            <p:strVal val="#ppt_y"/>
                                          </p:val>
                                        </p:tav>
                                      </p:tavLst>
                                    </p:anim>
                                    <p:animEffect transition="in" filter="wipe(up)">
                                      <p:cBhvr>
                                        <p:cTn id="8" dur="500"/>
                                        <p:tgtEl>
                                          <p:spTgt spid="14"/>
                                        </p:tgtEl>
                                      </p:cBhvr>
                                    </p:animEffect>
                                  </p:childTnLst>
                                </p:cTn>
                              </p:par>
                              <p:par>
                                <p:cTn id="9" presetID="12" presetClass="entr" presetSubtype="4" fill="hold" nodeType="withEffect">
                                  <p:stCondLst>
                                    <p:cond delay="0"/>
                                  </p:stCondLst>
                                  <p:childTnLst>
                                    <p:set>
                                      <p:cBhvr>
                                        <p:cTn id="10" dur="1" fill="hold">
                                          <p:stCondLst>
                                            <p:cond delay="0"/>
                                          </p:stCondLst>
                                        </p:cTn>
                                        <p:tgtEl>
                                          <p:spTgt spid="1032"/>
                                        </p:tgtEl>
                                        <p:attrNameLst>
                                          <p:attrName>style.visibility</p:attrName>
                                        </p:attrNameLst>
                                      </p:cBhvr>
                                      <p:to>
                                        <p:strVal val="visible"/>
                                      </p:to>
                                    </p:set>
                                    <p:anim calcmode="lin" valueType="num">
                                      <p:cBhvr additive="base">
                                        <p:cTn id="11" dur="500"/>
                                        <p:tgtEl>
                                          <p:spTgt spid="1032"/>
                                        </p:tgtEl>
                                        <p:attrNameLst>
                                          <p:attrName>ppt_y</p:attrName>
                                        </p:attrNameLst>
                                      </p:cBhvr>
                                      <p:tavLst>
                                        <p:tav tm="0">
                                          <p:val>
                                            <p:strVal val="#ppt_y+#ppt_h*1.125000"/>
                                          </p:val>
                                        </p:tav>
                                        <p:tav tm="100000">
                                          <p:val>
                                            <p:strVal val="#ppt_y"/>
                                          </p:val>
                                        </p:tav>
                                      </p:tavLst>
                                    </p:anim>
                                    <p:animEffect transition="in" filter="wipe(up)">
                                      <p:cBhvr>
                                        <p:cTn id="12" dur="500"/>
                                        <p:tgtEl>
                                          <p:spTgt spid="1032"/>
                                        </p:tgtEl>
                                      </p:cBhvr>
                                    </p:animEffect>
                                  </p:childTnLst>
                                </p:cTn>
                              </p:par>
                              <p:par>
                                <p:cTn id="13" presetID="1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p:tgtEl>
                                          <p:spTgt spid="8"/>
                                        </p:tgtEl>
                                        <p:attrNameLst>
                                          <p:attrName>ppt_y</p:attrName>
                                        </p:attrNameLst>
                                      </p:cBhvr>
                                      <p:tavLst>
                                        <p:tav tm="0">
                                          <p:val>
                                            <p:strVal val="#ppt_y+#ppt_h*1.125000"/>
                                          </p:val>
                                        </p:tav>
                                        <p:tav tm="100000">
                                          <p:val>
                                            <p:strVal val="#ppt_y"/>
                                          </p:val>
                                        </p:tav>
                                      </p:tavLst>
                                    </p:anim>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26"/>
                                        </p:tgtEl>
                                        <p:attrNameLst>
                                          <p:attrName>style.visibility</p:attrName>
                                        </p:attrNameLst>
                                      </p:cBhvr>
                                      <p:to>
                                        <p:strVal val="visible"/>
                                      </p:to>
                                    </p:set>
                                    <p:anim calcmode="lin" valueType="num">
                                      <p:cBhvr additive="base">
                                        <p:cTn id="35" dur="500" fill="hold"/>
                                        <p:tgtEl>
                                          <p:spTgt spid="1026"/>
                                        </p:tgtEl>
                                        <p:attrNameLst>
                                          <p:attrName>ppt_x</p:attrName>
                                        </p:attrNameLst>
                                      </p:cBhvr>
                                      <p:tavLst>
                                        <p:tav tm="0">
                                          <p:val>
                                            <p:strVal val="#ppt_x"/>
                                          </p:val>
                                        </p:tav>
                                        <p:tav tm="100000">
                                          <p:val>
                                            <p:strVal val="#ppt_x"/>
                                          </p:val>
                                        </p:tav>
                                      </p:tavLst>
                                    </p:anim>
                                    <p:anim calcmode="lin" valueType="num">
                                      <p:cBhvr additive="base">
                                        <p:cTn id="36"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2CDBD20-01C8-0677-D575-CA3555BD2D54}"/>
              </a:ext>
            </a:extLst>
          </p:cNvPr>
          <p:cNvSpPr>
            <a:spLocks noGrp="1"/>
          </p:cNvSpPr>
          <p:nvPr>
            <p:ph type="title"/>
          </p:nvPr>
        </p:nvSpPr>
        <p:spPr/>
        <p:txBody>
          <a:bodyPr>
            <a:normAutofit/>
          </a:bodyPr>
          <a:lstStyle/>
          <a:p>
            <a:r>
              <a:rPr lang="es-ES_tradnl" sz="3200" dirty="0">
                <a:latin typeface="Century Gothic" panose="020B0502020202020204" pitchFamily="34" charset="0"/>
              </a:rPr>
              <a:t>INTRODUCCIÓN Y TIPOS DE PROYECTOS</a:t>
            </a:r>
          </a:p>
        </p:txBody>
      </p:sp>
      <p:sp>
        <p:nvSpPr>
          <p:cNvPr id="3" name="Marcador de contenido 2"/>
          <p:cNvSpPr>
            <a:spLocks noGrp="1"/>
          </p:cNvSpPr>
          <p:nvPr>
            <p:ph idx="1"/>
          </p:nvPr>
        </p:nvSpPr>
        <p:spPr>
          <a:xfrm>
            <a:off x="362677" y="2277834"/>
            <a:ext cx="11466645" cy="3678303"/>
          </a:xfrm>
        </p:spPr>
        <p:txBody>
          <a:bodyPr>
            <a:noAutofit/>
          </a:bodyPr>
          <a:lstStyle/>
          <a:p>
            <a:pPr marL="0" indent="0" algn="ctr">
              <a:buNone/>
            </a:pPr>
            <a:r>
              <a:rPr lang="es-ES" sz="2000" dirty="0">
                <a:solidFill>
                  <a:schemeClr val="accent1"/>
                </a:solidFill>
                <a:latin typeface="Century Gothic" panose="020B0502020202020204" pitchFamily="34" charset="0"/>
              </a:rPr>
              <a:t>Para realizar la selección de proyectos, se requiere un ordenamiento de las alternativas de inversión. </a:t>
            </a:r>
          </a:p>
          <a:p>
            <a:pPr marL="0" indent="0" algn="ctr">
              <a:buNone/>
            </a:pPr>
            <a:r>
              <a:rPr lang="es-ES" sz="2000" dirty="0">
                <a:solidFill>
                  <a:schemeClr val="accent1"/>
                </a:solidFill>
                <a:latin typeface="Century Gothic" panose="020B0502020202020204" pitchFamily="34" charset="0"/>
              </a:rPr>
              <a:t>Para esto, utilizaremos los Indicadores de Bondad Financiera que ya conocemos:</a:t>
            </a:r>
          </a:p>
          <a:p>
            <a:pPr marL="0" indent="0" algn="ctr">
              <a:buNone/>
            </a:pPr>
            <a:endParaRPr lang="es-ES" sz="2000" dirty="0">
              <a:solidFill>
                <a:schemeClr val="accent1"/>
              </a:solidFill>
              <a:latin typeface="Century Gothic" panose="020B0502020202020204" pitchFamily="34" charset="0"/>
            </a:endParaRPr>
          </a:p>
          <a:p>
            <a:pPr marL="324000" lvl="1" indent="0" algn="ctr">
              <a:buNone/>
            </a:pPr>
            <a:r>
              <a:rPr lang="es-ES" sz="2000" b="1" dirty="0">
                <a:solidFill>
                  <a:schemeClr val="accent3">
                    <a:lumMod val="75000"/>
                  </a:schemeClr>
                </a:solidFill>
                <a:latin typeface="Century Gothic" panose="020B0502020202020204" pitchFamily="34" charset="0"/>
              </a:rPr>
              <a:t>Valor Presente Neto (VPN)</a:t>
            </a:r>
          </a:p>
          <a:p>
            <a:pPr marL="324000" lvl="1" indent="0" algn="ctr">
              <a:buNone/>
            </a:pPr>
            <a:r>
              <a:rPr lang="es-ES" sz="2000" b="1" dirty="0">
                <a:solidFill>
                  <a:schemeClr val="accent3">
                    <a:lumMod val="75000"/>
                  </a:schemeClr>
                </a:solidFill>
                <a:latin typeface="Century Gothic" panose="020B0502020202020204" pitchFamily="34" charset="0"/>
              </a:rPr>
              <a:t>Tasa Interna de Retorno (TIR)</a:t>
            </a:r>
          </a:p>
          <a:p>
            <a:pPr marL="324000" lvl="1" indent="0" algn="ctr">
              <a:buNone/>
            </a:pPr>
            <a:r>
              <a:rPr lang="es-ES" sz="2000" b="1" dirty="0">
                <a:solidFill>
                  <a:schemeClr val="accent3">
                    <a:lumMod val="75000"/>
                  </a:schemeClr>
                </a:solidFill>
                <a:latin typeface="Century Gothic" panose="020B0502020202020204" pitchFamily="34" charset="0"/>
              </a:rPr>
              <a:t>Tasa Verdadera de Rentabilidad (TVR)</a:t>
            </a:r>
          </a:p>
          <a:p>
            <a:pPr marL="324000" lvl="1" indent="0" algn="ctr">
              <a:buNone/>
            </a:pPr>
            <a:r>
              <a:rPr lang="es-ES" sz="2000" b="1" dirty="0">
                <a:solidFill>
                  <a:schemeClr val="accent3">
                    <a:lumMod val="75000"/>
                  </a:schemeClr>
                </a:solidFill>
                <a:latin typeface="Century Gothic" panose="020B0502020202020204" pitchFamily="34" charset="0"/>
              </a:rPr>
              <a:t>Valor Anual Equivalente (VAE)</a:t>
            </a:r>
          </a:p>
          <a:p>
            <a:pPr marL="324000" lvl="1" indent="0" algn="ctr">
              <a:buNone/>
            </a:pPr>
            <a:r>
              <a:rPr lang="es-ES" sz="2000" b="1" dirty="0">
                <a:solidFill>
                  <a:schemeClr val="accent3">
                    <a:lumMod val="75000"/>
                  </a:schemeClr>
                </a:solidFill>
                <a:latin typeface="Century Gothic" panose="020B0502020202020204" pitchFamily="34" charset="0"/>
              </a:rPr>
              <a:t>Relación Beneficio-Costo (B/C)</a:t>
            </a:r>
          </a:p>
        </p:txBody>
      </p:sp>
      <p:pic>
        <p:nvPicPr>
          <p:cNvPr id="5" name="Imagen 4">
            <a:extLst>
              <a:ext uri="{FF2B5EF4-FFF2-40B4-BE49-F238E27FC236}">
                <a16:creationId xmlns:a16="http://schemas.microsoft.com/office/drawing/2014/main" id="{5EF59994-009D-CE95-587B-E7248D561C12}"/>
              </a:ext>
            </a:extLst>
          </p:cNvPr>
          <p:cNvPicPr>
            <a:picLocks noChangeAspect="1"/>
          </p:cNvPicPr>
          <p:nvPr/>
        </p:nvPicPr>
        <p:blipFill>
          <a:blip r:embed="rId2"/>
          <a:stretch>
            <a:fillRect/>
          </a:stretch>
        </p:blipFill>
        <p:spPr>
          <a:xfrm>
            <a:off x="362677" y="3763597"/>
            <a:ext cx="3489897" cy="2557665"/>
          </a:xfrm>
          <a:prstGeom prst="rect">
            <a:avLst/>
          </a:prstGeom>
        </p:spPr>
      </p:pic>
      <p:sp>
        <p:nvSpPr>
          <p:cNvPr id="2" name="Rectángulo 1">
            <a:extLst>
              <a:ext uri="{FF2B5EF4-FFF2-40B4-BE49-F238E27FC236}">
                <a16:creationId xmlns:a16="http://schemas.microsoft.com/office/drawing/2014/main" id="{C2E759B8-E6AD-6E19-D11F-CF3CE2EDBC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5F83C2A-5A2D-4172-FED3-3A4C37B267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2864FFC-55A2-6DFC-6DA4-38C51CD069B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ADD92980-4D10-672D-3108-A8B732668D1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6351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B8AB005-BEC4-EDCC-47DD-06CB8AF490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F890B0A-C763-EC64-4D9F-8AB939769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8E1D78A-973F-012A-C97E-DF0DBB60B63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D1FD0CB0-58E6-8DA8-AE95-4D4B3AB27DE5}"/>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endParaRPr lang="es-CO" dirty="0">
              <a:solidFill>
                <a:schemeClr val="bg2">
                  <a:lumMod val="90000"/>
                </a:schemeClr>
              </a:solidFill>
              <a:latin typeface="Century Gothic"/>
            </a:endParaRP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60089B77-EA13-0DA7-A868-01F8C2D5871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65722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7" name="Marcador de contenido 2">
            <a:extLst>
              <a:ext uri="{FF2B5EF4-FFF2-40B4-BE49-F238E27FC236}">
                <a16:creationId xmlns:a16="http://schemas.microsoft.com/office/drawing/2014/main" id="{5949E62A-3684-0C8A-5E56-F037C22F5151}"/>
              </a:ext>
            </a:extLst>
          </p:cNvPr>
          <p:cNvSpPr>
            <a:spLocks noGrp="1"/>
          </p:cNvSpPr>
          <p:nvPr>
            <p:ph idx="1"/>
          </p:nvPr>
        </p:nvSpPr>
        <p:spPr>
          <a:xfrm>
            <a:off x="641965" y="2320094"/>
            <a:ext cx="7921267" cy="4046200"/>
          </a:xfrm>
        </p:spPr>
        <p:txBody>
          <a:bodyPr>
            <a:noAutofit/>
          </a:bodyPr>
          <a:lstStyle/>
          <a:p>
            <a:pPr marL="0" indent="0" algn="ctr">
              <a:buNone/>
            </a:pPr>
            <a:r>
              <a:rPr lang="es-ES" sz="2400" b="1" dirty="0">
                <a:solidFill>
                  <a:srgbClr val="C00000"/>
                </a:solidFill>
                <a:latin typeface="Century Gothic" panose="020B0502020202020204" pitchFamily="34" charset="0"/>
              </a:rPr>
              <a:t>Alternativas de Inversión Independientes</a:t>
            </a:r>
          </a:p>
          <a:p>
            <a:pPr marL="0" indent="0" algn="just">
              <a:buNone/>
            </a:pPr>
            <a:endParaRPr lang="es-ES" sz="2000" dirty="0">
              <a:solidFill>
                <a:schemeClr val="accent1"/>
              </a:solidFill>
              <a:latin typeface="Century Gothic" panose="020B0502020202020204" pitchFamily="34" charset="0"/>
            </a:endParaRPr>
          </a:p>
          <a:p>
            <a:pPr algn="just">
              <a:buFont typeface="Wingdings" panose="05000000000000000000" pitchFamily="2" charset="2"/>
              <a:buChar char="§"/>
            </a:pPr>
            <a:r>
              <a:rPr lang="es-ES" sz="2000" dirty="0">
                <a:solidFill>
                  <a:schemeClr val="accent1"/>
                </a:solidFill>
                <a:latin typeface="Century Gothic" panose="020B0502020202020204" pitchFamily="34" charset="0"/>
              </a:rPr>
              <a:t>Se dice que dos o más proyectos son independientes cuando </a:t>
            </a:r>
            <a:r>
              <a:rPr lang="es-ES" sz="2000" b="1" dirty="0">
                <a:solidFill>
                  <a:schemeClr val="accent3">
                    <a:lumMod val="50000"/>
                  </a:schemeClr>
                </a:solidFill>
                <a:latin typeface="Century Gothic" panose="020B0502020202020204" pitchFamily="34" charset="0"/>
              </a:rPr>
              <a:t>pueden ejecutarse simultáneamente</a:t>
            </a:r>
            <a:r>
              <a:rPr lang="es-ES" sz="2000" dirty="0">
                <a:solidFill>
                  <a:schemeClr val="accent1"/>
                </a:solidFill>
                <a:latin typeface="Century Gothic" panose="020B0502020202020204" pitchFamily="34" charset="0"/>
              </a:rPr>
              <a:t>.</a:t>
            </a:r>
          </a:p>
          <a:p>
            <a:pPr algn="just">
              <a:buFont typeface="Wingdings" panose="05000000000000000000" pitchFamily="2" charset="2"/>
              <a:buChar char="§"/>
            </a:pPr>
            <a:r>
              <a:rPr lang="es-ES" sz="2000" dirty="0">
                <a:solidFill>
                  <a:schemeClr val="accent1"/>
                </a:solidFill>
                <a:latin typeface="Century Gothic" panose="020B0502020202020204" pitchFamily="34" charset="0"/>
              </a:rPr>
              <a:t>Cuando la tarea consiste en determinar cuál(es) proyectos deben ejecutarse, basta con determinar qué proyectos son convenientes o rentables financieramente. </a:t>
            </a:r>
          </a:p>
          <a:p>
            <a:pPr algn="just">
              <a:buFont typeface="Wingdings" panose="05000000000000000000" pitchFamily="2" charset="2"/>
              <a:buChar char="§"/>
            </a:pPr>
            <a:r>
              <a:rPr lang="es-ES" sz="2000" dirty="0">
                <a:solidFill>
                  <a:schemeClr val="accent1"/>
                </a:solidFill>
                <a:latin typeface="Century Gothic" panose="020B0502020202020204" pitchFamily="34" charset="0"/>
              </a:rPr>
              <a:t>Siempre que no exista ningún tipo de </a:t>
            </a:r>
            <a:r>
              <a:rPr lang="es-ES" sz="2000" b="1" dirty="0">
                <a:solidFill>
                  <a:schemeClr val="accent3">
                    <a:lumMod val="50000"/>
                  </a:schemeClr>
                </a:solidFill>
                <a:latin typeface="Century Gothic" panose="020B0502020202020204" pitchFamily="34" charset="0"/>
              </a:rPr>
              <a:t>restricción</a:t>
            </a:r>
            <a:r>
              <a:rPr lang="es-ES" sz="2000" dirty="0">
                <a:solidFill>
                  <a:schemeClr val="accent1"/>
                </a:solidFill>
                <a:latin typeface="Century Gothic" panose="020B0502020202020204" pitchFamily="34" charset="0"/>
              </a:rPr>
              <a:t> o </a:t>
            </a:r>
            <a:r>
              <a:rPr lang="es-ES" sz="2000" b="1" dirty="0">
                <a:solidFill>
                  <a:schemeClr val="accent3">
                    <a:lumMod val="50000"/>
                  </a:schemeClr>
                </a:solidFill>
                <a:latin typeface="Century Gothic" panose="020B0502020202020204" pitchFamily="34" charset="0"/>
              </a:rPr>
              <a:t>limitación </a:t>
            </a:r>
            <a:r>
              <a:rPr lang="es-ES" sz="2000" dirty="0">
                <a:solidFill>
                  <a:schemeClr val="accent1"/>
                </a:solidFill>
                <a:latin typeface="Century Gothic" panose="020B0502020202020204" pitchFamily="34" charset="0"/>
              </a:rPr>
              <a:t>(presupuestal/liquidez, tecnológica, regulatoria, entre otras) se podrán hacer uso de los diferentes indicadores para poder seleccionar aquellos que sean convenientes.</a:t>
            </a:r>
          </a:p>
          <a:p>
            <a:pPr algn="just">
              <a:buFont typeface="Wingdings" panose="05000000000000000000" pitchFamily="2" charset="2"/>
              <a:buChar char="§"/>
            </a:pPr>
            <a:endParaRPr lang="es-ES" sz="2000" dirty="0">
              <a:solidFill>
                <a:schemeClr val="accent1"/>
              </a:solidFill>
              <a:latin typeface="Century Gothic" panose="020B0502020202020204" pitchFamily="34" charset="0"/>
            </a:endParaRPr>
          </a:p>
        </p:txBody>
      </p:sp>
      <p:pic>
        <p:nvPicPr>
          <p:cNvPr id="9" name="Imagen 8">
            <a:extLst>
              <a:ext uri="{FF2B5EF4-FFF2-40B4-BE49-F238E27FC236}">
                <a16:creationId xmlns:a16="http://schemas.microsoft.com/office/drawing/2014/main" id="{815915A7-B1F7-DE0F-6FD4-72901E2A8BC1}"/>
              </a:ext>
            </a:extLst>
          </p:cNvPr>
          <p:cNvPicPr>
            <a:picLocks noChangeAspect="1"/>
          </p:cNvPicPr>
          <p:nvPr/>
        </p:nvPicPr>
        <p:blipFill>
          <a:blip r:embed="rId3"/>
          <a:stretch>
            <a:fillRect/>
          </a:stretch>
        </p:blipFill>
        <p:spPr>
          <a:xfrm>
            <a:off x="8717302" y="3188545"/>
            <a:ext cx="2832733" cy="2227992"/>
          </a:xfrm>
          <a:prstGeom prst="rect">
            <a:avLst/>
          </a:prstGeom>
        </p:spPr>
      </p:pic>
      <p:sp>
        <p:nvSpPr>
          <p:cNvPr id="8" name="Rectángulo 7">
            <a:extLst>
              <a:ext uri="{FF2B5EF4-FFF2-40B4-BE49-F238E27FC236}">
                <a16:creationId xmlns:a16="http://schemas.microsoft.com/office/drawing/2014/main" id="{D1838F64-62E1-1588-E516-89278CB235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6EF4D652-280A-E69A-274A-FD6894F90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1271AA26-55F5-8F89-95E7-AC8CC7FD454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B4B0A83B-5084-6EB6-FA88-7906F2EF05E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37366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3" name="Content Placeholder 2"/>
          <p:cNvSpPr>
            <a:spLocks noGrp="1"/>
          </p:cNvSpPr>
          <p:nvPr>
            <p:ph idx="1"/>
          </p:nvPr>
        </p:nvSpPr>
        <p:spPr>
          <a:xfrm>
            <a:off x="1492908" y="4952478"/>
            <a:ext cx="9525867" cy="1186221"/>
          </a:xfrm>
        </p:spPr>
        <p:txBody>
          <a:bodyPr>
            <a:normAutofit/>
          </a:bodyPr>
          <a:lstStyle/>
          <a:p>
            <a:pPr marL="0" indent="0" algn="ctr">
              <a:buNone/>
            </a:pPr>
            <a:r>
              <a:rPr lang="es-ES_tradnl" sz="2000" dirty="0">
                <a:solidFill>
                  <a:schemeClr val="accent1"/>
                </a:solidFill>
                <a:latin typeface="Century Gothic" panose="020B0502020202020204" pitchFamily="34" charset="0"/>
              </a:rPr>
              <a:t>Es relativamente intuitivo que, si no tengo restricciones de capital, seleccionaría todos los proyectos que me generen valor.</a:t>
            </a:r>
          </a:p>
        </p:txBody>
      </p:sp>
      <p:graphicFrame>
        <p:nvGraphicFramePr>
          <p:cNvPr id="7" name="Table 6"/>
          <p:cNvGraphicFramePr>
            <a:graphicFrameLocks noGrp="1"/>
          </p:cNvGraphicFramePr>
          <p:nvPr>
            <p:extLst>
              <p:ext uri="{D42A27DB-BD31-4B8C-83A1-F6EECF244321}">
                <p14:modId xmlns:p14="http://schemas.microsoft.com/office/powerpoint/2010/main" val="3159755480"/>
              </p:ext>
            </p:extLst>
          </p:nvPr>
        </p:nvGraphicFramePr>
        <p:xfrm>
          <a:off x="1492908" y="3089042"/>
          <a:ext cx="9206184" cy="1483360"/>
        </p:xfrm>
        <a:graphic>
          <a:graphicData uri="http://schemas.openxmlformats.org/drawingml/2006/table">
            <a:tbl>
              <a:tblPr firstRow="1" bandRow="1">
                <a:tableStyleId>{5C22544A-7EE6-4342-B048-85BDC9FD1C3A}</a:tableStyleId>
              </a:tblPr>
              <a:tblGrid>
                <a:gridCol w="1534364">
                  <a:extLst>
                    <a:ext uri="{9D8B030D-6E8A-4147-A177-3AD203B41FA5}">
                      <a16:colId xmlns:a16="http://schemas.microsoft.com/office/drawing/2014/main" val="20000"/>
                    </a:ext>
                  </a:extLst>
                </a:gridCol>
                <a:gridCol w="1534364">
                  <a:extLst>
                    <a:ext uri="{9D8B030D-6E8A-4147-A177-3AD203B41FA5}">
                      <a16:colId xmlns:a16="http://schemas.microsoft.com/office/drawing/2014/main" val="20001"/>
                    </a:ext>
                  </a:extLst>
                </a:gridCol>
                <a:gridCol w="1534364">
                  <a:extLst>
                    <a:ext uri="{9D8B030D-6E8A-4147-A177-3AD203B41FA5}">
                      <a16:colId xmlns:a16="http://schemas.microsoft.com/office/drawing/2014/main" val="20002"/>
                    </a:ext>
                  </a:extLst>
                </a:gridCol>
                <a:gridCol w="1534364">
                  <a:extLst>
                    <a:ext uri="{9D8B030D-6E8A-4147-A177-3AD203B41FA5}">
                      <a16:colId xmlns:a16="http://schemas.microsoft.com/office/drawing/2014/main" val="20003"/>
                    </a:ext>
                  </a:extLst>
                </a:gridCol>
                <a:gridCol w="1534364">
                  <a:extLst>
                    <a:ext uri="{9D8B030D-6E8A-4147-A177-3AD203B41FA5}">
                      <a16:colId xmlns:a16="http://schemas.microsoft.com/office/drawing/2014/main" val="20004"/>
                    </a:ext>
                  </a:extLst>
                </a:gridCol>
                <a:gridCol w="1534364">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1F3F41D7-2BB6-C8AB-6780-BE881DD4E7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16E5C34-570E-2BC2-7F9A-1C3600664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F685E8D-C8AA-A3AA-D6D7-6C3E3E56424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Rectángulo 9">
            <a:extLst>
              <a:ext uri="{FF2B5EF4-FFF2-40B4-BE49-F238E27FC236}">
                <a16:creationId xmlns:a16="http://schemas.microsoft.com/office/drawing/2014/main" id="{7BBD28CD-48C5-5C7A-F469-1B80CCD7E8BD}"/>
              </a:ext>
            </a:extLst>
          </p:cNvPr>
          <p:cNvSpPr/>
          <p:nvPr/>
        </p:nvSpPr>
        <p:spPr>
          <a:xfrm>
            <a:off x="3140635" y="2974687"/>
            <a:ext cx="5910729"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ontent Placeholder 2">
            <a:extLst>
              <a:ext uri="{FF2B5EF4-FFF2-40B4-BE49-F238E27FC236}">
                <a16:creationId xmlns:a16="http://schemas.microsoft.com/office/drawing/2014/main" id="{BDF63346-666A-B9B1-0102-8B886D4167B3}"/>
              </a:ext>
            </a:extLst>
          </p:cNvPr>
          <p:cNvSpPr txBox="1">
            <a:spLocks/>
          </p:cNvSpPr>
          <p:nvPr/>
        </p:nvSpPr>
        <p:spPr>
          <a:xfrm>
            <a:off x="1448088" y="1748681"/>
            <a:ext cx="9525867" cy="118622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000" dirty="0">
                <a:solidFill>
                  <a:schemeClr val="accent1"/>
                </a:solidFill>
                <a:latin typeface="Century Gothic" panose="020B0502020202020204" pitchFamily="34" charset="0"/>
              </a:rPr>
              <a:t>Si todos los proyectos son independientes y no existen restricciones de capital, ¿qué proyecto(s) realizaría?</a:t>
            </a:r>
          </a:p>
        </p:txBody>
      </p:sp>
      <p:sp>
        <p:nvSpPr>
          <p:cNvPr id="5" name="Slide Number Placeholder 3">
            <a:extLst>
              <a:ext uri="{FF2B5EF4-FFF2-40B4-BE49-F238E27FC236}">
                <a16:creationId xmlns:a16="http://schemas.microsoft.com/office/drawing/2014/main" id="{E3DF8319-2B5A-2C48-7532-C1CA39A7A37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50717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962541" y="2053635"/>
            <a:ext cx="10266917" cy="3678303"/>
          </a:xfrm>
        </p:spPr>
        <p:txBody>
          <a:bodyPr>
            <a:normAutofit/>
          </a:bodyPr>
          <a:lstStyle/>
          <a:p>
            <a:pPr algn="just"/>
            <a:r>
              <a:rPr lang="es-ES" sz="2000" dirty="0">
                <a:solidFill>
                  <a:schemeClr val="accent1"/>
                </a:solidFill>
                <a:latin typeface="Century Gothic" panose="020B0502020202020204" pitchFamily="34" charset="0"/>
              </a:rPr>
              <a:t>Ahora bien, y ¿qué pasa cuando si se cuenta con alguna restricción?</a:t>
            </a:r>
          </a:p>
          <a:p>
            <a:pPr algn="just"/>
            <a:r>
              <a:rPr lang="es-ES" sz="2000" dirty="0">
                <a:solidFill>
                  <a:schemeClr val="accent1"/>
                </a:solidFill>
                <a:latin typeface="Century Gothic" panose="020B0502020202020204" pitchFamily="34" charset="0"/>
              </a:rPr>
              <a:t>De acuerdo con los criterios de aceptación de cada indicador vistos en secciones anteriores se pueden </a:t>
            </a:r>
            <a:r>
              <a:rPr lang="es-ES" sz="2000" b="1" dirty="0">
                <a:solidFill>
                  <a:schemeClr val="accent3">
                    <a:lumMod val="75000"/>
                  </a:schemeClr>
                </a:solidFill>
                <a:latin typeface="Century Gothic" panose="020B0502020202020204" pitchFamily="34" charset="0"/>
              </a:rPr>
              <a:t>seleccionar los proyectos</a:t>
            </a:r>
            <a:r>
              <a:rPr lang="es-ES" sz="2000" dirty="0">
                <a:solidFill>
                  <a:schemeClr val="accent3">
                    <a:lumMod val="75000"/>
                  </a:schemeClr>
                </a:solidFill>
                <a:latin typeface="Century Gothic" panose="020B0502020202020204" pitchFamily="34" charset="0"/>
              </a:rPr>
              <a:t> </a:t>
            </a:r>
            <a:r>
              <a:rPr lang="es-ES" sz="2000" dirty="0">
                <a:solidFill>
                  <a:schemeClr val="accent1"/>
                </a:solidFill>
                <a:latin typeface="Century Gothic" panose="020B0502020202020204" pitchFamily="34" charset="0"/>
              </a:rPr>
              <a:t>convenientes o rentables financieramente </a:t>
            </a:r>
            <a:r>
              <a:rPr lang="es-ES" sz="2000" b="1" dirty="0">
                <a:solidFill>
                  <a:schemeClr val="accent3">
                    <a:lumMod val="75000"/>
                  </a:schemeClr>
                </a:solidFill>
                <a:latin typeface="Century Gothic" panose="020B0502020202020204" pitchFamily="34" charset="0"/>
              </a:rPr>
              <a:t>hasta donde las restricciones</a:t>
            </a:r>
            <a:r>
              <a:rPr lang="es-ES" sz="2000" dirty="0">
                <a:solidFill>
                  <a:schemeClr val="accent1"/>
                </a:solidFill>
                <a:latin typeface="Century Gothic" panose="020B0502020202020204" pitchFamily="34" charset="0"/>
              </a:rPr>
              <a:t> (presupuestales, tecnológicas, etc.) </a:t>
            </a:r>
            <a:r>
              <a:rPr lang="es-ES" sz="2000" b="1" dirty="0">
                <a:solidFill>
                  <a:schemeClr val="accent3">
                    <a:lumMod val="75000"/>
                  </a:schemeClr>
                </a:solidFill>
                <a:latin typeface="Century Gothic" panose="020B0502020202020204" pitchFamily="34" charset="0"/>
              </a:rPr>
              <a:t>lo permitan</a:t>
            </a:r>
            <a:r>
              <a:rPr lang="es-ES" sz="2000" b="1" dirty="0">
                <a:solidFill>
                  <a:schemeClr val="accent1"/>
                </a:solidFill>
                <a:latin typeface="Century Gothic" panose="020B0502020202020204" pitchFamily="34" charset="0"/>
              </a:rPr>
              <a:t>.</a:t>
            </a:r>
          </a:p>
          <a:p>
            <a:pPr algn="just"/>
            <a:r>
              <a:rPr lang="es-ES" sz="2000" dirty="0">
                <a:solidFill>
                  <a:schemeClr val="accent1"/>
                </a:solidFill>
                <a:latin typeface="Century Gothic" panose="020B0502020202020204" pitchFamily="34" charset="0"/>
              </a:rPr>
              <a:t>Generalmente, la limitación para seleccionar más de un proyecto independiente son las restricciones de liquidez.</a:t>
            </a:r>
          </a:p>
          <a:p>
            <a:pPr marL="0" indent="0" algn="just">
              <a:buNone/>
            </a:pPr>
            <a:endParaRPr lang="es-ES" sz="2000" dirty="0">
              <a:solidFill>
                <a:srgbClr val="800000"/>
              </a:solidFill>
              <a:latin typeface="Century Gothic" panose="020B0502020202020204" pitchFamily="34" charset="0"/>
            </a:endParaRPr>
          </a:p>
          <a:p>
            <a:pPr marL="0" indent="0" algn="just">
              <a:buNone/>
            </a:pPr>
            <a:r>
              <a:rPr lang="es-ES" sz="2000" dirty="0">
                <a:solidFill>
                  <a:srgbClr val="800000"/>
                </a:solidFill>
                <a:latin typeface="Century Gothic" panose="020B0502020202020204" pitchFamily="34" charset="0"/>
              </a:rPr>
              <a:t>					</a:t>
            </a:r>
            <a:r>
              <a:rPr lang="es-ES" sz="2000" b="1" dirty="0">
                <a:solidFill>
                  <a:srgbClr val="C00000"/>
                </a:solidFill>
                <a:latin typeface="Century Gothic" panose="020B0502020202020204" pitchFamily="34" charset="0"/>
              </a:rPr>
              <a:t>¿Qué se debería realizar?</a:t>
            </a:r>
          </a:p>
        </p:txBody>
      </p:sp>
      <p:sp>
        <p:nvSpPr>
          <p:cNvPr id="5" name="Flecha derecha 4"/>
          <p:cNvSpPr/>
          <p:nvPr/>
        </p:nvSpPr>
        <p:spPr>
          <a:xfrm flipV="1">
            <a:off x="6615124" y="5252784"/>
            <a:ext cx="474680" cy="273840"/>
          </a:xfrm>
          <a:prstGeom prst="rightArrow">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p:cNvSpPr txBox="1"/>
          <p:nvPr/>
        </p:nvSpPr>
        <p:spPr>
          <a:xfrm>
            <a:off x="7137615" y="5189649"/>
            <a:ext cx="1378904" cy="400110"/>
          </a:xfrm>
          <a:prstGeom prst="rect">
            <a:avLst/>
          </a:prstGeom>
          <a:noFill/>
        </p:spPr>
        <p:txBody>
          <a:bodyPr wrap="none" rtlCol="0">
            <a:spAutoFit/>
          </a:bodyPr>
          <a:lstStyle/>
          <a:p>
            <a:r>
              <a:rPr lang="es-ES" sz="2000" b="1" dirty="0">
                <a:solidFill>
                  <a:srgbClr val="D7A700"/>
                </a:solidFill>
                <a:latin typeface="Century Gothic" panose="020B0502020202020204" pitchFamily="34" charset="0"/>
              </a:rPr>
              <a:t>Optimizar</a:t>
            </a:r>
          </a:p>
        </p:txBody>
      </p:sp>
      <p:pic>
        <p:nvPicPr>
          <p:cNvPr id="1026" name="Picture 2" descr="Dibujos Animados Brillante Bombilla De Luz Amarilla. Idea Creativa.  Concepto De Inspiración. Ilustración De Vector Dibujado A Mano Aislada  Sobre Fondo Blanco. Ilustraciones svg, vectoriales, clip art vectorizado  libre de derechos. Image">
            <a:extLst>
              <a:ext uri="{FF2B5EF4-FFF2-40B4-BE49-F238E27FC236}">
                <a16:creationId xmlns:a16="http://schemas.microsoft.com/office/drawing/2014/main" id="{D7CD9992-1E16-6596-7376-1F9EEDFC7F0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59283" y="4458146"/>
            <a:ext cx="1863116" cy="1863116"/>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F8605C0-22DF-FAEB-AADB-4462ED9439C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6A7077F-34C0-CFCB-8B37-F8904F38E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AA1FA03-FE61-6A5D-ED29-6EA1DA5C8D3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Slide Number Placeholder 3">
            <a:extLst>
              <a:ext uri="{FF2B5EF4-FFF2-40B4-BE49-F238E27FC236}">
                <a16:creationId xmlns:a16="http://schemas.microsoft.com/office/drawing/2014/main" id="{6FFF38AA-0BD2-FBB8-8E0D-9346FF9C200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32506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F0735-5938-E5AC-1124-C6509C059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620F6-A97A-A4CD-0CBB-C9FAE55E43AF}"/>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3" name="Content Placeholder 2">
            <a:extLst>
              <a:ext uri="{FF2B5EF4-FFF2-40B4-BE49-F238E27FC236}">
                <a16:creationId xmlns:a16="http://schemas.microsoft.com/office/drawing/2014/main" id="{B0493320-85AC-7C16-CC0E-70775028CEDD}"/>
              </a:ext>
            </a:extLst>
          </p:cNvPr>
          <p:cNvSpPr>
            <a:spLocks noGrp="1"/>
          </p:cNvSpPr>
          <p:nvPr>
            <p:ph idx="1"/>
          </p:nvPr>
        </p:nvSpPr>
        <p:spPr>
          <a:xfrm>
            <a:off x="1415434" y="4494212"/>
            <a:ext cx="9283658" cy="665405"/>
          </a:xfrm>
        </p:spPr>
        <p:txBody>
          <a:bodyPr>
            <a:normAutofit lnSpcReduction="10000"/>
          </a:bodyPr>
          <a:lstStyle/>
          <a:p>
            <a:pPr marL="0" indent="0" algn="ctr">
              <a:buNone/>
            </a:pPr>
            <a:r>
              <a:rPr lang="es-ES" sz="2000" dirty="0">
                <a:solidFill>
                  <a:schemeClr val="accent1"/>
                </a:solidFill>
                <a:latin typeface="Century Gothic" panose="020B0502020202020204" pitchFamily="34" charset="0"/>
              </a:rPr>
              <a:t>Se evalúan todas las combinaciones de proyectos (de los que generan </a:t>
            </a:r>
            <a:r>
              <a:rPr lang="es-ES" sz="2000" b="1" dirty="0">
                <a:solidFill>
                  <a:schemeClr val="accent1"/>
                </a:solidFill>
                <a:latin typeface="Century Gothic" panose="020B0502020202020204" pitchFamily="34" charset="0"/>
              </a:rPr>
              <a:t>valor</a:t>
            </a:r>
            <a:r>
              <a:rPr lang="es-ES" sz="2000" dirty="0">
                <a:solidFill>
                  <a:schemeClr val="accent1"/>
                </a:solidFill>
                <a:latin typeface="Century Gothic" panose="020B0502020202020204" pitchFamily="34" charset="0"/>
              </a:rPr>
              <a:t>) que puedo hacer con 200:​</a:t>
            </a:r>
          </a:p>
        </p:txBody>
      </p:sp>
      <p:graphicFrame>
        <p:nvGraphicFramePr>
          <p:cNvPr id="7" name="Table 6">
            <a:extLst>
              <a:ext uri="{FF2B5EF4-FFF2-40B4-BE49-F238E27FC236}">
                <a16:creationId xmlns:a16="http://schemas.microsoft.com/office/drawing/2014/main" id="{370B9E8C-3C50-1945-9623-524962A92C8C}"/>
              </a:ext>
            </a:extLst>
          </p:cNvPr>
          <p:cNvGraphicFramePr>
            <a:graphicFrameLocks noGrp="1"/>
          </p:cNvGraphicFramePr>
          <p:nvPr>
            <p:extLst>
              <p:ext uri="{D42A27DB-BD31-4B8C-83A1-F6EECF244321}">
                <p14:modId xmlns:p14="http://schemas.microsoft.com/office/powerpoint/2010/main" val="107486771"/>
              </p:ext>
            </p:extLst>
          </p:nvPr>
        </p:nvGraphicFramePr>
        <p:xfrm>
          <a:off x="1492908" y="2758168"/>
          <a:ext cx="9206184" cy="1483360"/>
        </p:xfrm>
        <a:graphic>
          <a:graphicData uri="http://schemas.openxmlformats.org/drawingml/2006/table">
            <a:tbl>
              <a:tblPr firstRow="1" bandRow="1">
                <a:tableStyleId>{5C22544A-7EE6-4342-B048-85BDC9FD1C3A}</a:tableStyleId>
              </a:tblPr>
              <a:tblGrid>
                <a:gridCol w="1534364">
                  <a:extLst>
                    <a:ext uri="{9D8B030D-6E8A-4147-A177-3AD203B41FA5}">
                      <a16:colId xmlns:a16="http://schemas.microsoft.com/office/drawing/2014/main" val="20000"/>
                    </a:ext>
                  </a:extLst>
                </a:gridCol>
                <a:gridCol w="1534364">
                  <a:extLst>
                    <a:ext uri="{9D8B030D-6E8A-4147-A177-3AD203B41FA5}">
                      <a16:colId xmlns:a16="http://schemas.microsoft.com/office/drawing/2014/main" val="20001"/>
                    </a:ext>
                  </a:extLst>
                </a:gridCol>
                <a:gridCol w="1534364">
                  <a:extLst>
                    <a:ext uri="{9D8B030D-6E8A-4147-A177-3AD203B41FA5}">
                      <a16:colId xmlns:a16="http://schemas.microsoft.com/office/drawing/2014/main" val="20002"/>
                    </a:ext>
                  </a:extLst>
                </a:gridCol>
                <a:gridCol w="1534364">
                  <a:extLst>
                    <a:ext uri="{9D8B030D-6E8A-4147-A177-3AD203B41FA5}">
                      <a16:colId xmlns:a16="http://schemas.microsoft.com/office/drawing/2014/main" val="20003"/>
                    </a:ext>
                  </a:extLst>
                </a:gridCol>
                <a:gridCol w="1534364">
                  <a:extLst>
                    <a:ext uri="{9D8B030D-6E8A-4147-A177-3AD203B41FA5}">
                      <a16:colId xmlns:a16="http://schemas.microsoft.com/office/drawing/2014/main" val="20004"/>
                    </a:ext>
                  </a:extLst>
                </a:gridCol>
                <a:gridCol w="1534364">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6CFC86CA-5231-006A-B1C4-F725054980F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CE23D1B-AA7F-4F51-965E-515808DF56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63DD0599-3E8D-0A4F-0F81-4078FDC7BC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Rectángulo 9">
            <a:extLst>
              <a:ext uri="{FF2B5EF4-FFF2-40B4-BE49-F238E27FC236}">
                <a16:creationId xmlns:a16="http://schemas.microsoft.com/office/drawing/2014/main" id="{1FCF7A8C-C491-5295-AA6F-65BFB603C064}"/>
              </a:ext>
            </a:extLst>
          </p:cNvPr>
          <p:cNvSpPr/>
          <p:nvPr/>
        </p:nvSpPr>
        <p:spPr>
          <a:xfrm>
            <a:off x="3140635" y="2665746"/>
            <a:ext cx="2865718"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ontent Placeholder 2">
            <a:extLst>
              <a:ext uri="{FF2B5EF4-FFF2-40B4-BE49-F238E27FC236}">
                <a16:creationId xmlns:a16="http://schemas.microsoft.com/office/drawing/2014/main" id="{44BBE9C4-D212-3537-A118-671411975382}"/>
              </a:ext>
            </a:extLst>
          </p:cNvPr>
          <p:cNvSpPr txBox="1">
            <a:spLocks/>
          </p:cNvSpPr>
          <p:nvPr/>
        </p:nvSpPr>
        <p:spPr>
          <a:xfrm>
            <a:off x="1448088" y="1748681"/>
            <a:ext cx="9525867" cy="118622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sz="2000" dirty="0">
                <a:solidFill>
                  <a:schemeClr val="accent1"/>
                </a:solidFill>
                <a:latin typeface="Century Gothic" panose="020B0502020202020204" pitchFamily="34" charset="0"/>
              </a:rPr>
              <a:t>¿Y si tengo un capital total de 200?</a:t>
            </a:r>
          </a:p>
        </p:txBody>
      </p:sp>
      <p:sp>
        <p:nvSpPr>
          <p:cNvPr id="11" name="CuadroTexto 10">
            <a:extLst>
              <a:ext uri="{FF2B5EF4-FFF2-40B4-BE49-F238E27FC236}">
                <a16:creationId xmlns:a16="http://schemas.microsoft.com/office/drawing/2014/main" id="{0AAB2FB9-6C47-C0CA-9BC7-F892E332D100}"/>
              </a:ext>
            </a:extLst>
          </p:cNvPr>
          <p:cNvSpPr txBox="1"/>
          <p:nvPr/>
        </p:nvSpPr>
        <p:spPr>
          <a:xfrm>
            <a:off x="3163021" y="5088316"/>
            <a:ext cx="6096000" cy="1015663"/>
          </a:xfrm>
          <a:prstGeom prst="rect">
            <a:avLst/>
          </a:prstGeom>
          <a:noFill/>
        </p:spPr>
        <p:txBody>
          <a:bodyPr wrap="square">
            <a:spAutoFit/>
          </a:bodyPr>
          <a:lstStyle/>
          <a:p>
            <a:pPr algn="ctr"/>
            <a:r>
              <a:rPr lang="es-ES" sz="2000" dirty="0">
                <a:solidFill>
                  <a:schemeClr val="accent1"/>
                </a:solidFill>
                <a:latin typeface="Century Gothic" panose="020B0502020202020204" pitchFamily="34" charset="0"/>
              </a:rPr>
              <a:t>A+B​</a:t>
            </a:r>
          </a:p>
          <a:p>
            <a:pPr algn="ctr"/>
            <a:r>
              <a:rPr lang="es-ES" sz="2000" dirty="0">
                <a:solidFill>
                  <a:schemeClr val="accent1"/>
                </a:solidFill>
                <a:latin typeface="Century Gothic" panose="020B0502020202020204" pitchFamily="34" charset="0"/>
              </a:rPr>
              <a:t>A+C+D​</a:t>
            </a:r>
          </a:p>
          <a:p>
            <a:pPr algn="ctr"/>
            <a:r>
              <a:rPr lang="es-ES" sz="2000" dirty="0">
                <a:solidFill>
                  <a:schemeClr val="accent1"/>
                </a:solidFill>
                <a:latin typeface="Century Gothic" panose="020B0502020202020204" pitchFamily="34" charset="0"/>
              </a:rPr>
              <a:t>B+C+D​</a:t>
            </a:r>
          </a:p>
        </p:txBody>
      </p:sp>
      <p:sp>
        <p:nvSpPr>
          <p:cNvPr id="13" name="CuadroTexto 12">
            <a:extLst>
              <a:ext uri="{FF2B5EF4-FFF2-40B4-BE49-F238E27FC236}">
                <a16:creationId xmlns:a16="http://schemas.microsoft.com/office/drawing/2014/main" id="{663CAFC8-9D3E-1B1C-A7A3-21D05362AC5D}"/>
              </a:ext>
            </a:extLst>
          </p:cNvPr>
          <p:cNvSpPr txBox="1"/>
          <p:nvPr/>
        </p:nvSpPr>
        <p:spPr>
          <a:xfrm>
            <a:off x="2982232" y="6155844"/>
            <a:ext cx="6457577" cy="400110"/>
          </a:xfrm>
          <a:prstGeom prst="rect">
            <a:avLst/>
          </a:prstGeom>
          <a:noFill/>
        </p:spPr>
        <p:txBody>
          <a:bodyPr wrap="square">
            <a:spAutoFit/>
          </a:bodyPr>
          <a:lstStyle/>
          <a:p>
            <a:pPr marL="0" indent="0" algn="ctr">
              <a:buNone/>
            </a:pPr>
            <a:r>
              <a:rPr lang="es-ES" sz="2000" dirty="0">
                <a:solidFill>
                  <a:schemeClr val="accent1"/>
                </a:solidFill>
                <a:latin typeface="Century Gothic" panose="020B0502020202020204" pitchFamily="34" charset="0"/>
              </a:rPr>
              <a:t>Se elige la combinación que genere más </a:t>
            </a:r>
            <a:r>
              <a:rPr lang="es-ES" sz="2000" b="1" dirty="0">
                <a:solidFill>
                  <a:srgbClr val="D7A700"/>
                </a:solidFill>
                <a:latin typeface="Century Gothic" panose="020B0502020202020204" pitchFamily="34" charset="0"/>
              </a:rPr>
              <a:t>VALOR</a:t>
            </a:r>
            <a:r>
              <a:rPr lang="es-ES" sz="2000" dirty="0">
                <a:solidFill>
                  <a:schemeClr val="accent1"/>
                </a:solidFill>
                <a:latin typeface="Century Gothic" panose="020B0502020202020204" pitchFamily="34" charset="0"/>
              </a:rPr>
              <a:t>.</a:t>
            </a:r>
            <a:r>
              <a:rPr lang="es-ES" sz="2000" dirty="0">
                <a:latin typeface="Century Gothic" panose="020B0502020202020204" pitchFamily="34" charset="0"/>
              </a:rPr>
              <a:t>​</a:t>
            </a:r>
            <a:endParaRPr lang="es-ES_tradnl" sz="2000" dirty="0">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5D2CCB21-A625-A833-053A-8EA3CDFD056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78911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9AD1A-AD24-8C15-5D53-9ABB6A39E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081F5-7AEA-2BCD-AD47-30770D487C04}"/>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3" name="Content Placeholder 2">
            <a:extLst>
              <a:ext uri="{FF2B5EF4-FFF2-40B4-BE49-F238E27FC236}">
                <a16:creationId xmlns:a16="http://schemas.microsoft.com/office/drawing/2014/main" id="{95DFE363-F5A2-BC01-EA5F-6C17D82134C4}"/>
              </a:ext>
            </a:extLst>
          </p:cNvPr>
          <p:cNvSpPr>
            <a:spLocks noGrp="1"/>
          </p:cNvSpPr>
          <p:nvPr>
            <p:ph idx="1"/>
          </p:nvPr>
        </p:nvSpPr>
        <p:spPr>
          <a:xfrm>
            <a:off x="1415434" y="4619901"/>
            <a:ext cx="9283658" cy="1661632"/>
          </a:xfrm>
        </p:spPr>
        <p:txBody>
          <a:bodyPr>
            <a:normAutofit lnSpcReduction="10000"/>
          </a:bodyPr>
          <a:lstStyle/>
          <a:p>
            <a:pPr marL="0" indent="0" algn="ctr">
              <a:buNone/>
            </a:pPr>
            <a:r>
              <a:rPr lang="es-ES" sz="2000" dirty="0">
                <a:solidFill>
                  <a:schemeClr val="accent1"/>
                </a:solidFill>
                <a:latin typeface="Century Gothic" panose="020B0502020202020204" pitchFamily="34" charset="0"/>
              </a:rPr>
              <a:t>En este caso la decisión ya no es tan intuitiva porque, aunque todos los proyectos son independientes, </a:t>
            </a:r>
            <a:r>
              <a:rPr lang="es-ES" sz="2000" b="1" dirty="0">
                <a:solidFill>
                  <a:schemeClr val="accent1"/>
                </a:solidFill>
                <a:latin typeface="Century Gothic" panose="020B0502020202020204" pitchFamily="34" charset="0"/>
              </a:rPr>
              <a:t>la restricción de capital </a:t>
            </a:r>
            <a:r>
              <a:rPr lang="es-ES" sz="2000" dirty="0">
                <a:solidFill>
                  <a:schemeClr val="accent1"/>
                </a:solidFill>
                <a:latin typeface="Century Gothic" panose="020B0502020202020204" pitchFamily="34" charset="0"/>
              </a:rPr>
              <a:t>me lleva a que solo puedo seleccionar uno de estos. </a:t>
            </a:r>
          </a:p>
          <a:p>
            <a:pPr marL="0" indent="0" algn="ctr">
              <a:buNone/>
            </a:pPr>
            <a:r>
              <a:rPr lang="es-ES" sz="2000" dirty="0">
                <a:solidFill>
                  <a:schemeClr val="accent1"/>
                </a:solidFill>
                <a:latin typeface="Century Gothic" panose="020B0502020202020204" pitchFamily="34" charset="0"/>
              </a:rPr>
              <a:t>Así, pasaríamos a tener una selección de proyectos </a:t>
            </a:r>
            <a:r>
              <a:rPr lang="es-ES" sz="2000" b="1" dirty="0">
                <a:solidFill>
                  <a:schemeClr val="accent1"/>
                </a:solidFill>
                <a:latin typeface="Century Gothic" panose="020B0502020202020204" pitchFamily="34" charset="0"/>
              </a:rPr>
              <a:t>mutuamente excluyentes</a:t>
            </a:r>
            <a:r>
              <a:rPr lang="es-ES" sz="2000" dirty="0">
                <a:solidFill>
                  <a:schemeClr val="accent1"/>
                </a:solidFill>
                <a:latin typeface="Century Gothic" panose="020B0502020202020204" pitchFamily="34" charset="0"/>
              </a:rPr>
              <a:t>, que veremos más adelante. </a:t>
            </a:r>
          </a:p>
        </p:txBody>
      </p:sp>
      <p:graphicFrame>
        <p:nvGraphicFramePr>
          <p:cNvPr id="7" name="Table 6">
            <a:extLst>
              <a:ext uri="{FF2B5EF4-FFF2-40B4-BE49-F238E27FC236}">
                <a16:creationId xmlns:a16="http://schemas.microsoft.com/office/drawing/2014/main" id="{8C94159E-6D8A-3180-071E-3B2AC7C92E8A}"/>
              </a:ext>
            </a:extLst>
          </p:cNvPr>
          <p:cNvGraphicFramePr>
            <a:graphicFrameLocks noGrp="1"/>
          </p:cNvGraphicFramePr>
          <p:nvPr>
            <p:extLst>
              <p:ext uri="{D42A27DB-BD31-4B8C-83A1-F6EECF244321}">
                <p14:modId xmlns:p14="http://schemas.microsoft.com/office/powerpoint/2010/main" val="2846367936"/>
              </p:ext>
            </p:extLst>
          </p:nvPr>
        </p:nvGraphicFramePr>
        <p:xfrm>
          <a:off x="1492908" y="2758168"/>
          <a:ext cx="9206184" cy="1483360"/>
        </p:xfrm>
        <a:graphic>
          <a:graphicData uri="http://schemas.openxmlformats.org/drawingml/2006/table">
            <a:tbl>
              <a:tblPr firstRow="1" bandRow="1">
                <a:tableStyleId>{5C22544A-7EE6-4342-B048-85BDC9FD1C3A}</a:tableStyleId>
              </a:tblPr>
              <a:tblGrid>
                <a:gridCol w="1534364">
                  <a:extLst>
                    <a:ext uri="{9D8B030D-6E8A-4147-A177-3AD203B41FA5}">
                      <a16:colId xmlns:a16="http://schemas.microsoft.com/office/drawing/2014/main" val="20000"/>
                    </a:ext>
                  </a:extLst>
                </a:gridCol>
                <a:gridCol w="1534364">
                  <a:extLst>
                    <a:ext uri="{9D8B030D-6E8A-4147-A177-3AD203B41FA5}">
                      <a16:colId xmlns:a16="http://schemas.microsoft.com/office/drawing/2014/main" val="20001"/>
                    </a:ext>
                  </a:extLst>
                </a:gridCol>
                <a:gridCol w="1534364">
                  <a:extLst>
                    <a:ext uri="{9D8B030D-6E8A-4147-A177-3AD203B41FA5}">
                      <a16:colId xmlns:a16="http://schemas.microsoft.com/office/drawing/2014/main" val="20002"/>
                    </a:ext>
                  </a:extLst>
                </a:gridCol>
                <a:gridCol w="1534364">
                  <a:extLst>
                    <a:ext uri="{9D8B030D-6E8A-4147-A177-3AD203B41FA5}">
                      <a16:colId xmlns:a16="http://schemas.microsoft.com/office/drawing/2014/main" val="20003"/>
                    </a:ext>
                  </a:extLst>
                </a:gridCol>
                <a:gridCol w="1534364">
                  <a:extLst>
                    <a:ext uri="{9D8B030D-6E8A-4147-A177-3AD203B41FA5}">
                      <a16:colId xmlns:a16="http://schemas.microsoft.com/office/drawing/2014/main" val="20004"/>
                    </a:ext>
                  </a:extLst>
                </a:gridCol>
                <a:gridCol w="1534364">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95945B63-7235-5585-93C2-E7C9E28C2A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7679407-0D6D-DB65-9925-EEB5FA2A1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F53B4A9A-70D6-733D-B08E-382782D8CA2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4" name="Content Placeholder 2">
            <a:extLst>
              <a:ext uri="{FF2B5EF4-FFF2-40B4-BE49-F238E27FC236}">
                <a16:creationId xmlns:a16="http://schemas.microsoft.com/office/drawing/2014/main" id="{108A7322-6556-3F0E-9950-5E11B871D5FF}"/>
              </a:ext>
            </a:extLst>
          </p:cNvPr>
          <p:cNvSpPr txBox="1">
            <a:spLocks/>
          </p:cNvSpPr>
          <p:nvPr/>
        </p:nvSpPr>
        <p:spPr>
          <a:xfrm>
            <a:off x="1448088" y="1748681"/>
            <a:ext cx="9525867" cy="118622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sz="2000" dirty="0">
                <a:solidFill>
                  <a:schemeClr val="accent1"/>
                </a:solidFill>
                <a:latin typeface="Century Gothic" panose="020B0502020202020204" pitchFamily="34" charset="0"/>
              </a:rPr>
              <a:t>¿Y si tengo un capital total de 100?</a:t>
            </a:r>
          </a:p>
        </p:txBody>
      </p:sp>
      <p:sp>
        <p:nvSpPr>
          <p:cNvPr id="5" name="Slide Number Placeholder 3">
            <a:extLst>
              <a:ext uri="{FF2B5EF4-FFF2-40B4-BE49-F238E27FC236}">
                <a16:creationId xmlns:a16="http://schemas.microsoft.com/office/drawing/2014/main" id="{86A757C5-13E4-FFB3-965F-0283B9DCC92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70671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B3FE409-7D0A-58C7-94CC-FF71DAC17F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41CBAAD-97DF-B955-E0A1-1A44E34CD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F6920EF-CAAF-FA9F-D7C3-6E161607554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2EFC8AC4-FCC0-E36D-D749-01111CA9B1F5}"/>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3ADFA0F0-4694-784D-BA3C-38D55829FEA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64385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Proyectos dependientes</a:t>
            </a:r>
          </a:p>
        </p:txBody>
      </p:sp>
      <p:sp>
        <p:nvSpPr>
          <p:cNvPr id="3" name="Marcador de contenido 2"/>
          <p:cNvSpPr>
            <a:spLocks noGrp="1"/>
          </p:cNvSpPr>
          <p:nvPr>
            <p:ph idx="1"/>
          </p:nvPr>
        </p:nvSpPr>
        <p:spPr>
          <a:xfrm>
            <a:off x="581192" y="1896478"/>
            <a:ext cx="11029615" cy="1532522"/>
          </a:xfrm>
        </p:spPr>
        <p:txBody>
          <a:bodyPr>
            <a:normAutofit/>
          </a:bodyPr>
          <a:lstStyle/>
          <a:p>
            <a:pPr marL="0" indent="0">
              <a:buNone/>
            </a:pPr>
            <a:r>
              <a:rPr lang="es-ES_tradnl" sz="2000" dirty="0">
                <a:solidFill>
                  <a:schemeClr val="accent1"/>
                </a:solidFill>
                <a:latin typeface="Century Gothic" panose="020B0502020202020204" pitchFamily="34" charset="0"/>
              </a:rPr>
              <a:t>Una alternativa </a:t>
            </a:r>
            <a:r>
              <a:rPr lang="es-ES_tradnl" sz="2000" b="1" dirty="0">
                <a:solidFill>
                  <a:srgbClr val="C00000"/>
                </a:solidFill>
                <a:latin typeface="Century Gothic" panose="020B0502020202020204" pitchFamily="34" charset="0"/>
              </a:rPr>
              <a:t>NO</a:t>
            </a:r>
            <a:r>
              <a:rPr lang="es-ES_tradnl" sz="2000" b="1" dirty="0">
                <a:solidFill>
                  <a:schemeClr val="accent3">
                    <a:lumMod val="75000"/>
                  </a:schemeClr>
                </a:solidFill>
                <a:latin typeface="Century Gothic" panose="020B0502020202020204" pitchFamily="34" charset="0"/>
              </a:rPr>
              <a:t> </a:t>
            </a:r>
            <a:r>
              <a:rPr lang="es-ES_tradnl" sz="2000" dirty="0">
                <a:solidFill>
                  <a:schemeClr val="accent1"/>
                </a:solidFill>
                <a:latin typeface="Century Gothic" panose="020B0502020202020204" pitchFamily="34" charset="0"/>
              </a:rPr>
              <a:t>se puede ejecutar sin llevar a cabo la otra.</a:t>
            </a:r>
          </a:p>
          <a:p>
            <a:endParaRPr lang="es-CO" sz="2000" dirty="0">
              <a:solidFill>
                <a:schemeClr val="accent1"/>
              </a:solidFill>
              <a:latin typeface="Century Gothic" panose="020B0502020202020204" pitchFamily="34" charset="0"/>
            </a:endParaRPr>
          </a:p>
        </p:txBody>
      </p:sp>
      <p:pic>
        <p:nvPicPr>
          <p:cNvPr id="7" name="Imagen 6">
            <a:extLst>
              <a:ext uri="{FF2B5EF4-FFF2-40B4-BE49-F238E27FC236}">
                <a16:creationId xmlns:a16="http://schemas.microsoft.com/office/drawing/2014/main" id="{1CD20935-4DE7-8DAF-0BBA-903413009AE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635555" y="2814924"/>
            <a:ext cx="8920887" cy="3506338"/>
          </a:xfrm>
          <a:prstGeom prst="rect">
            <a:avLst/>
          </a:prstGeom>
        </p:spPr>
      </p:pic>
      <p:sp>
        <p:nvSpPr>
          <p:cNvPr id="8" name="Rectángulo 7">
            <a:extLst>
              <a:ext uri="{FF2B5EF4-FFF2-40B4-BE49-F238E27FC236}">
                <a16:creationId xmlns:a16="http://schemas.microsoft.com/office/drawing/2014/main" id="{1370C518-B6DD-3F19-EF30-BD085C43619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5970841-5EFB-5AA8-A326-EB8A53B9D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47A03364-53A5-BF43-27F0-D4ECB85762E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75EB34EE-D1CA-8271-881F-447EC929DC3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63907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1A497-3069-01D0-18B9-323C07A3EF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4ADCBC-D8F0-7F86-E471-57FBB01B01D1}"/>
              </a:ext>
            </a:extLst>
          </p:cNvPr>
          <p:cNvSpPr>
            <a:spLocks noGrp="1"/>
          </p:cNvSpPr>
          <p:nvPr>
            <p:ph type="title"/>
          </p:nvPr>
        </p:nvSpPr>
        <p:spPr/>
        <p:txBody>
          <a:bodyPr>
            <a:normAutofit/>
          </a:bodyPr>
          <a:lstStyle/>
          <a:p>
            <a:r>
              <a:rPr lang="es-CO" sz="3200" dirty="0">
                <a:latin typeface="Century Gothic" panose="020B0502020202020204" pitchFamily="34" charset="0"/>
              </a:rPr>
              <a:t>Proyectos dependientes</a:t>
            </a:r>
          </a:p>
        </p:txBody>
      </p:sp>
      <p:sp>
        <p:nvSpPr>
          <p:cNvPr id="8" name="Rectángulo 7">
            <a:extLst>
              <a:ext uri="{FF2B5EF4-FFF2-40B4-BE49-F238E27FC236}">
                <a16:creationId xmlns:a16="http://schemas.microsoft.com/office/drawing/2014/main" id="{1ECD5DDF-5471-97E3-EA34-1F999BAEBE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D641FC0-80A6-FEF7-06CA-746EDB865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B3BA802-323B-428D-5484-41106C2A855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Marcador de contenido 2">
            <a:extLst>
              <a:ext uri="{FF2B5EF4-FFF2-40B4-BE49-F238E27FC236}">
                <a16:creationId xmlns:a16="http://schemas.microsoft.com/office/drawing/2014/main" id="{038906EA-5130-6549-1C58-3214EF67EED8}"/>
              </a:ext>
            </a:extLst>
          </p:cNvPr>
          <p:cNvSpPr>
            <a:spLocks noGrp="1"/>
          </p:cNvSpPr>
          <p:nvPr>
            <p:ph idx="1"/>
          </p:nvPr>
        </p:nvSpPr>
        <p:spPr>
          <a:xfrm>
            <a:off x="641965" y="2210674"/>
            <a:ext cx="8161376" cy="4110588"/>
          </a:xfrm>
        </p:spPr>
        <p:txBody>
          <a:bodyPr>
            <a:noAutofit/>
          </a:bodyPr>
          <a:lstStyle/>
          <a:p>
            <a:pPr marL="0" indent="0" algn="ctr">
              <a:buNone/>
            </a:pPr>
            <a:r>
              <a:rPr lang="es-ES" sz="2400" b="1" dirty="0">
                <a:solidFill>
                  <a:srgbClr val="C00000"/>
                </a:solidFill>
                <a:latin typeface="Century Gothic" panose="020B0502020202020204" pitchFamily="34" charset="0"/>
              </a:rPr>
              <a:t>Alternativas de Inversión Dependientes</a:t>
            </a:r>
          </a:p>
          <a:p>
            <a:pPr marL="0" indent="0" algn="just">
              <a:buNone/>
            </a:pPr>
            <a:endParaRPr lang="es-ES" sz="2000" dirty="0">
              <a:solidFill>
                <a:schemeClr val="accent1"/>
              </a:solidFill>
              <a:latin typeface="Century Gothic" panose="020B0502020202020204" pitchFamily="34" charset="0"/>
            </a:endParaRPr>
          </a:p>
          <a:p>
            <a:pPr marL="305435" indent="-305435" algn="just">
              <a:buFont typeface="Wingdings" panose="05000000000000000000" pitchFamily="2" charset="2"/>
              <a:buChar char="§"/>
            </a:pPr>
            <a:r>
              <a:rPr lang="es-ES" sz="2000" dirty="0">
                <a:solidFill>
                  <a:schemeClr val="accent1"/>
                </a:solidFill>
                <a:latin typeface="Century Gothic"/>
              </a:rPr>
              <a:t>Se dice que dos o más proyectos son dependientes cuando </a:t>
            </a:r>
            <a:r>
              <a:rPr lang="es-ES" sz="2000" b="1" dirty="0">
                <a:solidFill>
                  <a:schemeClr val="accent1"/>
                </a:solidFill>
                <a:latin typeface="Century Gothic"/>
              </a:rPr>
              <a:t>la realización de un proyecto exige obligatoriamente que se ejecute otro</a:t>
            </a:r>
            <a:r>
              <a:rPr lang="es-ES" sz="2000" dirty="0">
                <a:solidFill>
                  <a:schemeClr val="accent1"/>
                </a:solidFill>
                <a:latin typeface="Century Gothic"/>
              </a:rPr>
              <a:t>.</a:t>
            </a:r>
          </a:p>
          <a:p>
            <a:pPr algn="just">
              <a:buFont typeface="Wingdings" panose="05000000000000000000" pitchFamily="2" charset="2"/>
              <a:buChar char="§"/>
            </a:pPr>
            <a:r>
              <a:rPr lang="es-ES" sz="2000" dirty="0">
                <a:solidFill>
                  <a:schemeClr val="accent1"/>
                </a:solidFill>
                <a:latin typeface="Century Gothic" panose="020B0502020202020204" pitchFamily="34" charset="0"/>
              </a:rPr>
              <a:t>Un ejemplo sencillo de alternativas de inversión dependientes es el siguiente:</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1: </a:t>
            </a:r>
            <a:r>
              <a:rPr lang="es-ES" sz="2000" dirty="0">
                <a:solidFill>
                  <a:schemeClr val="accent1"/>
                </a:solidFill>
                <a:latin typeface="Century Gothic" panose="020B0502020202020204" pitchFamily="34" charset="0"/>
              </a:rPr>
              <a:t>Comprar una impresora para una papelería.</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2: </a:t>
            </a:r>
            <a:r>
              <a:rPr lang="es-ES" sz="2000" dirty="0">
                <a:solidFill>
                  <a:schemeClr val="accent1"/>
                </a:solidFill>
                <a:latin typeface="Century Gothic" panose="020B0502020202020204" pitchFamily="34" charset="0"/>
              </a:rPr>
              <a:t>Comprar un sistema de recarga de cartuchos de bajo costo que permita disminuir el costo de reemplazo de estos.</a:t>
            </a:r>
          </a:p>
        </p:txBody>
      </p:sp>
      <p:pic>
        <p:nvPicPr>
          <p:cNvPr id="12" name="Imagen 11">
            <a:extLst>
              <a:ext uri="{FF2B5EF4-FFF2-40B4-BE49-F238E27FC236}">
                <a16:creationId xmlns:a16="http://schemas.microsoft.com/office/drawing/2014/main" id="{4CBEDC69-1CC4-5E88-C22F-D75D017C400A}"/>
              </a:ext>
            </a:extLst>
          </p:cNvPr>
          <p:cNvPicPr>
            <a:picLocks noChangeAspect="1"/>
          </p:cNvPicPr>
          <p:nvPr/>
        </p:nvPicPr>
        <p:blipFill>
          <a:blip r:embed="rId3"/>
          <a:stretch>
            <a:fillRect/>
          </a:stretch>
        </p:blipFill>
        <p:spPr>
          <a:xfrm>
            <a:off x="8717302" y="3188545"/>
            <a:ext cx="2832733" cy="2227992"/>
          </a:xfrm>
          <a:prstGeom prst="rect">
            <a:avLst/>
          </a:prstGeom>
        </p:spPr>
      </p:pic>
      <p:sp>
        <p:nvSpPr>
          <p:cNvPr id="3" name="Slide Number Placeholder 3">
            <a:extLst>
              <a:ext uri="{FF2B5EF4-FFF2-40B4-BE49-F238E27FC236}">
                <a16:creationId xmlns:a16="http://schemas.microsoft.com/office/drawing/2014/main" id="{D228CFF8-1675-6471-9219-691CF3BF8CD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65959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dependientes</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1164220" y="2277834"/>
            <a:ext cx="7733596" cy="3678303"/>
          </a:xfrm>
        </p:spPr>
        <p:txBody>
          <a:bodyPr>
            <a:normAutofit/>
          </a:bodyPr>
          <a:lstStyle/>
          <a:p>
            <a:pPr marL="0" indent="0" algn="ctr">
              <a:buNone/>
            </a:pPr>
            <a:r>
              <a:rPr lang="es-ES" sz="2000" dirty="0">
                <a:solidFill>
                  <a:schemeClr val="accent1"/>
                </a:solidFill>
                <a:latin typeface="Century Gothic" panose="020B0502020202020204" pitchFamily="34" charset="0"/>
              </a:rPr>
              <a:t>Es correcto utilizar cualquier indicador de bondad y rentabilidad financiera para evaluar proyectos dependientes (VPN, TIR, TVR, VAE, B/C).</a:t>
            </a:r>
          </a:p>
          <a:p>
            <a:pPr marL="0" indent="0" algn="ctr">
              <a:buNone/>
            </a:pPr>
            <a:endParaRPr lang="es-ES" sz="2000" dirty="0">
              <a:solidFill>
                <a:schemeClr val="accent1"/>
              </a:solidFill>
              <a:latin typeface="Century Gothic" panose="020B0502020202020204" pitchFamily="34" charset="0"/>
            </a:endParaRPr>
          </a:p>
          <a:p>
            <a:pPr marL="0" indent="0" algn="ctr">
              <a:buNone/>
            </a:pPr>
            <a:r>
              <a:rPr lang="es-ES" sz="2000" dirty="0">
                <a:solidFill>
                  <a:schemeClr val="accent1"/>
                </a:solidFill>
                <a:latin typeface="Century Gothic" panose="020B0502020202020204" pitchFamily="34" charset="0"/>
              </a:rPr>
              <a:t>Sin embargo, hay que tener en cuenta que la evaluación de los proyectos dependientes no debe hacerse totalmente por separado, pues al tener la restricción de que deben realizarse simultáneamente, éstos tienen que </a:t>
            </a:r>
            <a:r>
              <a:rPr lang="es-ES" sz="2000" b="1" dirty="0">
                <a:solidFill>
                  <a:srgbClr val="C00000"/>
                </a:solidFill>
                <a:latin typeface="Century Gothic" panose="020B0502020202020204" pitchFamily="34" charset="0"/>
              </a:rPr>
              <a:t>evaluarse conjuntamente</a:t>
            </a:r>
            <a:r>
              <a:rPr lang="es-ES" sz="2000" dirty="0">
                <a:latin typeface="Century Gothic" panose="020B0502020202020204" pitchFamily="34" charset="0"/>
              </a:rPr>
              <a:t>.</a:t>
            </a:r>
          </a:p>
        </p:txBody>
      </p:sp>
      <p:pic>
        <p:nvPicPr>
          <p:cNvPr id="6" name="Imagen 5">
            <a:extLst>
              <a:ext uri="{FF2B5EF4-FFF2-40B4-BE49-F238E27FC236}">
                <a16:creationId xmlns:a16="http://schemas.microsoft.com/office/drawing/2014/main" id="{FD1BD194-6719-EA9D-16C9-FC99A7A57DBB}"/>
              </a:ext>
            </a:extLst>
          </p:cNvPr>
          <p:cNvPicPr>
            <a:picLocks noChangeAspect="1"/>
          </p:cNvPicPr>
          <p:nvPr/>
        </p:nvPicPr>
        <p:blipFill>
          <a:blip r:embed="rId2"/>
          <a:stretch>
            <a:fillRect/>
          </a:stretch>
        </p:blipFill>
        <p:spPr>
          <a:xfrm>
            <a:off x="9045889" y="2961846"/>
            <a:ext cx="2441136" cy="1498943"/>
          </a:xfrm>
          <a:prstGeom prst="rect">
            <a:avLst/>
          </a:prstGeom>
        </p:spPr>
      </p:pic>
      <p:sp>
        <p:nvSpPr>
          <p:cNvPr id="5" name="Rectángulo 4">
            <a:extLst>
              <a:ext uri="{FF2B5EF4-FFF2-40B4-BE49-F238E27FC236}">
                <a16:creationId xmlns:a16="http://schemas.microsoft.com/office/drawing/2014/main" id="{D01F7363-0234-66F1-B80B-5750FE96FC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B0F58DD-7B40-6337-C7FC-E9F7A6211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E554093-B6F7-D5C0-64FC-A9633C0539E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1891FC26-9875-1235-05BD-D2282965A25D}"/>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50642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BE1A1-0169-87A3-C167-CA8209DA1B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46D315-A5F6-13D9-85AC-D47D4376A76D}"/>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dependientes</a:t>
            </a:r>
            <a:endParaRPr lang="es-ES"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8B7E909-CBC1-9080-A121-2D1D688E536F}"/>
                  </a:ext>
                </a:extLst>
              </p:cNvPr>
              <p:cNvSpPr>
                <a:spLocks noGrp="1"/>
              </p:cNvSpPr>
              <p:nvPr>
                <p:ph idx="1"/>
              </p:nvPr>
            </p:nvSpPr>
            <p:spPr>
              <a:xfrm>
                <a:off x="766462" y="1939659"/>
                <a:ext cx="10173145" cy="4425282"/>
              </a:xfrm>
            </p:spPr>
            <p:txBody>
              <a:bodyPr>
                <a:normAutofit lnSpcReduction="10000"/>
              </a:bodyPr>
              <a:lstStyle/>
              <a:p>
                <a:pPr marL="0" indent="0" algn="ctr">
                  <a:buNone/>
                </a:pPr>
                <a:r>
                  <a:rPr lang="es-ES" sz="2000" dirty="0">
                    <a:solidFill>
                      <a:schemeClr val="accent1"/>
                    </a:solidFill>
                    <a:latin typeface="Century Gothic" panose="020B0502020202020204" pitchFamily="34" charset="0"/>
                  </a:rPr>
                  <a:t>El Proyecto A depende del Proyecto B</a:t>
                </a:r>
              </a:p>
              <a:p>
                <a:pPr marL="0" indent="0" algn="ctr">
                  <a:buNone/>
                </a:pPr>
                <a:endParaRPr lang="es-ES" sz="2000" dirty="0">
                  <a:solidFill>
                    <a:schemeClr val="accent1"/>
                  </a:solidFill>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Aproximación I (Se conocen los Flujos de Caja Libre para cada periodo de ambos proyectos)</a:t>
                </a:r>
              </a:p>
              <a:p>
                <a:pPr marL="0" indent="0" algn="ctr">
                  <a:buNone/>
                </a:pPr>
                <a14:m>
                  <m:oMathPara xmlns:m="http://schemas.openxmlformats.org/officeDocument/2006/math">
                    <m:oMath>
                      <m:r>
                        <a:rPr lang="es-ES" sz="2000" b="0" i="1" smtClean="0">
                          <a:solidFill>
                            <a:schemeClr val="accent1"/>
                          </a:solidFill>
                          <a:latin typeface="Cambria Math" panose="02040503050406030204" pitchFamily="18" charset="0"/>
                        </a:rPr>
                        <m:t>𝐹𝐶</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𝐿</m:t>
                          </m:r>
                        </m:e>
                        <m:sub>
                          <m:r>
                            <a:rPr lang="es-ES" sz="2000" b="0" i="1" smtClean="0">
                              <a:solidFill>
                                <a:schemeClr val="accent1"/>
                              </a:solidFill>
                              <a:latin typeface="Cambria Math" panose="02040503050406030204" pitchFamily="18" charset="0"/>
                            </a:rPr>
                            <m:t>𝐴</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𝐵</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𝑡</m:t>
                          </m:r>
                          <m:r>
                            <a:rPr lang="es-ES" sz="2000" b="0" i="1" smtClean="0">
                              <a:solidFill>
                                <a:schemeClr val="accent1"/>
                              </a:solidFill>
                              <a:latin typeface="Cambria Math" panose="02040503050406030204" pitchFamily="18" charset="0"/>
                            </a:rPr>
                            <m:t>)</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𝐹𝐶</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𝐿</m:t>
                          </m:r>
                        </m:e>
                        <m:sub>
                          <m:r>
                            <a:rPr lang="es-ES" sz="2000" b="0" i="1" smtClean="0">
                              <a:solidFill>
                                <a:schemeClr val="accent1"/>
                              </a:solidFill>
                              <a:latin typeface="Cambria Math" panose="02040503050406030204" pitchFamily="18" charset="0"/>
                            </a:rPr>
                            <m:t>𝐴</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𝑡</m:t>
                          </m:r>
                          <m:r>
                            <a:rPr lang="es-ES" sz="2000" b="0" i="1" smtClean="0">
                              <a:solidFill>
                                <a:schemeClr val="accent1"/>
                              </a:solidFill>
                              <a:latin typeface="Cambria Math" panose="02040503050406030204" pitchFamily="18" charset="0"/>
                            </a:rPr>
                            <m:t>)</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𝐹𝐶</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𝐿</m:t>
                          </m:r>
                        </m:e>
                        <m:sub>
                          <m:r>
                            <a:rPr lang="es-ES" sz="2000" b="0" i="1" smtClean="0">
                              <a:solidFill>
                                <a:schemeClr val="accent1"/>
                              </a:solidFill>
                              <a:latin typeface="Cambria Math" panose="02040503050406030204" pitchFamily="18" charset="0"/>
                            </a:rPr>
                            <m:t>𝐵</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𝑡</m:t>
                          </m:r>
                          <m:r>
                            <a:rPr lang="es-ES" sz="2000" b="0" i="1" smtClean="0">
                              <a:solidFill>
                                <a:schemeClr val="accent1"/>
                              </a:solidFill>
                              <a:latin typeface="Cambria Math" panose="02040503050406030204" pitchFamily="18" charset="0"/>
                            </a:rPr>
                            <m:t>)</m:t>
                          </m:r>
                        </m:sub>
                      </m:sSub>
                    </m:oMath>
                  </m:oMathPara>
                </a14:m>
                <a:endParaRPr lang="es-ES" sz="2000" dirty="0">
                  <a:solidFill>
                    <a:schemeClr val="accent1"/>
                  </a:solidFill>
                  <a:latin typeface="Century Gothic" panose="020B0502020202020204" pitchFamily="34" charset="0"/>
                </a:endParaRPr>
              </a:p>
              <a:p>
                <a:pPr marL="0" indent="0" algn="ctr">
                  <a:buNone/>
                </a:pPr>
                <a:endParaRPr lang="es-ES" sz="2000" dirty="0">
                  <a:solidFill>
                    <a:schemeClr val="accent1"/>
                  </a:solidFill>
                  <a:latin typeface="Century Gothic" panose="020B0502020202020204" pitchFamily="34" charset="0"/>
                </a:endParaRPr>
              </a:p>
              <a:p>
                <a:pPr marL="0" indent="0" algn="ctr">
                  <a:buNone/>
                </a:pPr>
                <a:endParaRPr lang="es-ES" sz="2000" dirty="0">
                  <a:solidFill>
                    <a:schemeClr val="accent1"/>
                  </a:solidFill>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Aproximación 2 (Solo se conocen los Indicadores de Bondad Financiera – IBF de cada proyecto)</a:t>
                </a:r>
              </a:p>
              <a:p>
                <a:pPr marL="0" indent="0" algn="ctr">
                  <a:buNone/>
                </a:pPr>
                <a14:m>
                  <m:oMath xmlns:m="http://schemas.openxmlformats.org/officeDocument/2006/math">
                    <m:r>
                      <a:rPr lang="es-ES" sz="2000" b="0" i="1" smtClean="0">
                        <a:solidFill>
                          <a:schemeClr val="accent1"/>
                        </a:solidFill>
                        <a:latin typeface="Cambria Math" panose="02040503050406030204" pitchFamily="18" charset="0"/>
                      </a:rPr>
                      <m:t>𝑉𝑃</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𝑁</m:t>
                        </m:r>
                      </m:e>
                      <m:sub>
                        <m:r>
                          <a:rPr lang="es-ES" sz="2000" b="0" i="1" smtClean="0">
                            <a:solidFill>
                              <a:schemeClr val="accent1"/>
                            </a:solidFill>
                            <a:latin typeface="Cambria Math" panose="02040503050406030204" pitchFamily="18" charset="0"/>
                          </a:rPr>
                          <m:t>𝐴</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𝐵</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𝑉𝑃</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𝑁</m:t>
                        </m:r>
                      </m:e>
                      <m:sub>
                        <m:r>
                          <a:rPr lang="es-ES" sz="2000" b="0" i="1" smtClean="0">
                            <a:solidFill>
                              <a:schemeClr val="accent1"/>
                            </a:solidFill>
                            <a:latin typeface="Cambria Math" panose="02040503050406030204" pitchFamily="18" charset="0"/>
                          </a:rPr>
                          <m:t>𝐴</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𝑉𝑃</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𝑁</m:t>
                        </m:r>
                      </m:e>
                      <m:sub>
                        <m:r>
                          <a:rPr lang="es-ES" sz="2000" b="0" i="1" smtClean="0">
                            <a:solidFill>
                              <a:schemeClr val="accent1"/>
                            </a:solidFill>
                            <a:latin typeface="Cambria Math" panose="02040503050406030204" pitchFamily="18" charset="0"/>
                          </a:rPr>
                          <m:t>𝐵</m:t>
                        </m:r>
                      </m:sub>
                    </m:sSub>
                  </m:oMath>
                </a14:m>
                <a:r>
                  <a:rPr lang="es-ES" sz="2000" dirty="0">
                    <a:solidFill>
                      <a:schemeClr val="accent1"/>
                    </a:solidFill>
                    <a:latin typeface="Century Gothic" panose="020B0502020202020204" pitchFamily="34" charset="0"/>
                  </a:rPr>
                  <a:t> </a:t>
                </a:r>
              </a:p>
              <a:p>
                <a:pPr marL="0" indent="0" algn="ctr">
                  <a:buNone/>
                </a:pPr>
                <a14:m>
                  <m:oMathPara xmlns:m="http://schemas.openxmlformats.org/officeDocument/2006/math">
                    <m:oMath>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𝑉𝐴𝐸</m:t>
                          </m:r>
                        </m:e>
                        <m:sub>
                          <m:r>
                            <a:rPr lang="es-ES" sz="2000" i="1">
                              <a:solidFill>
                                <a:schemeClr val="accent1"/>
                              </a:solidFill>
                              <a:latin typeface="Cambria Math" panose="02040503050406030204" pitchFamily="18" charset="0"/>
                            </a:rPr>
                            <m:t>𝐴</m:t>
                          </m:r>
                          <m:r>
                            <a:rPr lang="es-ES" sz="2000" i="1">
                              <a:solidFill>
                                <a:schemeClr val="accent1"/>
                              </a:solidFill>
                              <a:latin typeface="Cambria Math" panose="02040503050406030204" pitchFamily="18" charset="0"/>
                            </a:rPr>
                            <m:t>+</m:t>
                          </m:r>
                          <m:r>
                            <a:rPr lang="es-ES" sz="2000" i="1">
                              <a:solidFill>
                                <a:schemeClr val="accent1"/>
                              </a:solidFill>
                              <a:latin typeface="Cambria Math" panose="02040503050406030204" pitchFamily="18" charset="0"/>
                            </a:rPr>
                            <m:t>𝐵</m:t>
                          </m:r>
                        </m:sub>
                      </m:sSub>
                      <m:r>
                        <a:rPr lang="es-ES" sz="2000" i="1">
                          <a:solidFill>
                            <a:schemeClr val="accent1"/>
                          </a:solidFill>
                          <a:latin typeface="Cambria Math" panose="02040503050406030204" pitchFamily="18" charset="0"/>
                        </a:rPr>
                        <m:t>=</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𝑉𝐴𝐸</m:t>
                          </m:r>
                        </m:e>
                        <m:sub>
                          <m:r>
                            <a:rPr lang="es-ES" sz="2000" i="1">
                              <a:solidFill>
                                <a:schemeClr val="accent1"/>
                              </a:solidFill>
                              <a:latin typeface="Cambria Math" panose="02040503050406030204" pitchFamily="18" charset="0"/>
                            </a:rPr>
                            <m:t>𝐴</m:t>
                          </m:r>
                        </m:sub>
                      </m:sSub>
                      <m:r>
                        <a:rPr lang="es-ES" sz="2000" i="1">
                          <a:solidFill>
                            <a:schemeClr val="accent1"/>
                          </a:solidFill>
                          <a:latin typeface="Cambria Math" panose="02040503050406030204" pitchFamily="18" charset="0"/>
                        </a:rPr>
                        <m:t>+</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𝑉𝐴𝐸</m:t>
                          </m:r>
                        </m:e>
                        <m:sub>
                          <m:r>
                            <a:rPr lang="es-ES" sz="2000" i="1">
                              <a:solidFill>
                                <a:schemeClr val="accent1"/>
                              </a:solidFill>
                              <a:latin typeface="Cambria Math" panose="02040503050406030204" pitchFamily="18" charset="0"/>
                            </a:rPr>
                            <m:t>𝐵</m:t>
                          </m:r>
                        </m:sub>
                      </m:sSub>
                    </m:oMath>
                  </m:oMathPara>
                </a14:m>
                <a:endParaRPr lang="es-ES" sz="2000" dirty="0">
                  <a:solidFill>
                    <a:schemeClr val="accent1"/>
                  </a:solidFill>
                  <a:latin typeface="Century Gothic" panose="020B0502020202020204" pitchFamily="34" charset="0"/>
                </a:endParaRPr>
              </a:p>
            </p:txBody>
          </p:sp>
        </mc:Choice>
        <mc:Fallback xmlns="">
          <p:sp>
            <p:nvSpPr>
              <p:cNvPr id="3" name="Marcador de contenido 2">
                <a:extLst>
                  <a:ext uri="{FF2B5EF4-FFF2-40B4-BE49-F238E27FC236}">
                    <a16:creationId xmlns:a16="http://schemas.microsoft.com/office/drawing/2014/main" id="{88B7E909-CBC1-9080-A121-2D1D688E536F}"/>
                  </a:ext>
                </a:extLst>
              </p:cNvPr>
              <p:cNvSpPr>
                <a:spLocks noGrp="1" noRot="1" noChangeAspect="1" noMove="1" noResize="1" noEditPoints="1" noAdjustHandles="1" noChangeArrowheads="1" noChangeShapeType="1" noTextEdit="1"/>
              </p:cNvSpPr>
              <p:nvPr>
                <p:ph idx="1"/>
              </p:nvPr>
            </p:nvSpPr>
            <p:spPr>
              <a:xfrm>
                <a:off x="766462" y="1939659"/>
                <a:ext cx="10173145" cy="4425282"/>
              </a:xfrm>
              <a:blipFill>
                <a:blip r:embed="rId2"/>
                <a:stretch>
                  <a:fillRect l="-419" r="-959"/>
                </a:stretch>
              </a:blipFill>
            </p:spPr>
            <p:txBody>
              <a:bodyPr/>
              <a:lstStyle/>
              <a:p>
                <a:r>
                  <a:rPr lang="es-CO">
                    <a:noFill/>
                  </a:rPr>
                  <a:t> </a:t>
                </a:r>
              </a:p>
            </p:txBody>
          </p:sp>
        </mc:Fallback>
      </mc:AlternateContent>
      <p:sp>
        <p:nvSpPr>
          <p:cNvPr id="5" name="Rectángulo 4">
            <a:extLst>
              <a:ext uri="{FF2B5EF4-FFF2-40B4-BE49-F238E27FC236}">
                <a16:creationId xmlns:a16="http://schemas.microsoft.com/office/drawing/2014/main" id="{B698AD39-3AA3-7771-DFE3-7E42D64DC33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9C9CF37-E737-890D-00F0-1D27B36C1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B58AA1E-7F04-6F58-A3CD-037E2F04A81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CuadroTexto 10">
            <a:extLst>
              <a:ext uri="{FF2B5EF4-FFF2-40B4-BE49-F238E27FC236}">
                <a16:creationId xmlns:a16="http://schemas.microsoft.com/office/drawing/2014/main" id="{66CF72E1-F901-BC28-375D-A1E34FC09A85}"/>
              </a:ext>
            </a:extLst>
          </p:cNvPr>
          <p:cNvSpPr txBox="1"/>
          <p:nvPr/>
        </p:nvSpPr>
        <p:spPr>
          <a:xfrm>
            <a:off x="8271058" y="3365357"/>
            <a:ext cx="2824855" cy="646331"/>
          </a:xfrm>
          <a:prstGeom prst="rect">
            <a:avLst/>
          </a:prstGeom>
          <a:noFill/>
        </p:spPr>
        <p:txBody>
          <a:bodyPr wrap="square">
            <a:spAutoFit/>
          </a:bodyPr>
          <a:lstStyle/>
          <a:p>
            <a:pPr marL="0" indent="0" algn="ctr">
              <a:buNone/>
            </a:pPr>
            <a:r>
              <a:rPr lang="es-ES" sz="1800" b="1" dirty="0">
                <a:solidFill>
                  <a:schemeClr val="accent1"/>
                </a:solidFill>
                <a:latin typeface="Century Gothic" panose="020B0502020202020204" pitchFamily="34" charset="0"/>
              </a:rPr>
              <a:t>Se puede concluir con cualquier IBF confiable </a:t>
            </a:r>
          </a:p>
        </p:txBody>
      </p:sp>
      <p:sp>
        <p:nvSpPr>
          <p:cNvPr id="13" name="CuadroTexto 12">
            <a:extLst>
              <a:ext uri="{FF2B5EF4-FFF2-40B4-BE49-F238E27FC236}">
                <a16:creationId xmlns:a16="http://schemas.microsoft.com/office/drawing/2014/main" id="{6F44F4DA-D687-BEEC-4872-23EE21E88B84}"/>
              </a:ext>
            </a:extLst>
          </p:cNvPr>
          <p:cNvSpPr txBox="1"/>
          <p:nvPr/>
        </p:nvSpPr>
        <p:spPr>
          <a:xfrm>
            <a:off x="8033718" y="5252433"/>
            <a:ext cx="2824855" cy="1200329"/>
          </a:xfrm>
          <a:prstGeom prst="rect">
            <a:avLst/>
          </a:prstGeom>
          <a:noFill/>
        </p:spPr>
        <p:txBody>
          <a:bodyPr wrap="square">
            <a:spAutoFit/>
          </a:bodyPr>
          <a:lstStyle/>
          <a:p>
            <a:pPr marL="0" indent="0" algn="ctr">
              <a:buNone/>
            </a:pPr>
            <a:r>
              <a:rPr lang="es-ES" b="1" dirty="0">
                <a:solidFill>
                  <a:schemeClr val="accent1"/>
                </a:solidFill>
                <a:latin typeface="Century Gothic" panose="020B0502020202020204" pitchFamily="34" charset="0"/>
              </a:rPr>
              <a:t>Únicamente se puede concluir con estos indicadores de generación de valor </a:t>
            </a:r>
            <a:endParaRPr lang="es-ES" sz="1800" b="1" dirty="0">
              <a:solidFill>
                <a:schemeClr val="accent1"/>
              </a:solidFill>
              <a:latin typeface="Century Gothic" panose="020B0502020202020204" pitchFamily="34" charset="0"/>
            </a:endParaRPr>
          </a:p>
        </p:txBody>
      </p:sp>
      <p:sp>
        <p:nvSpPr>
          <p:cNvPr id="14" name="Flecha derecha 4">
            <a:extLst>
              <a:ext uri="{FF2B5EF4-FFF2-40B4-BE49-F238E27FC236}">
                <a16:creationId xmlns:a16="http://schemas.microsoft.com/office/drawing/2014/main" id="{A5B80531-5D39-2193-0213-77BEF1718F7A}"/>
              </a:ext>
            </a:extLst>
          </p:cNvPr>
          <p:cNvSpPr/>
          <p:nvPr/>
        </p:nvSpPr>
        <p:spPr>
          <a:xfrm flipV="1">
            <a:off x="7796378" y="3562206"/>
            <a:ext cx="474680" cy="273840"/>
          </a:xfrm>
          <a:prstGeom prst="rightArrow">
            <a:avLst/>
          </a:prstGeom>
          <a:solidFill>
            <a:srgbClr val="D7A700"/>
          </a:solidFill>
          <a:ln>
            <a:solidFill>
              <a:srgbClr val="D7A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5" name="Flecha derecha 4">
            <a:extLst>
              <a:ext uri="{FF2B5EF4-FFF2-40B4-BE49-F238E27FC236}">
                <a16:creationId xmlns:a16="http://schemas.microsoft.com/office/drawing/2014/main" id="{8F8A00E5-DFC2-7375-E101-F5BFED6E9F8F}"/>
              </a:ext>
            </a:extLst>
          </p:cNvPr>
          <p:cNvSpPr/>
          <p:nvPr/>
        </p:nvSpPr>
        <p:spPr>
          <a:xfrm flipV="1">
            <a:off x="7443551" y="5682297"/>
            <a:ext cx="474680" cy="273840"/>
          </a:xfrm>
          <a:prstGeom prst="rightArrow">
            <a:avLst/>
          </a:prstGeom>
          <a:solidFill>
            <a:srgbClr val="D7A700"/>
          </a:solidFill>
          <a:ln>
            <a:solidFill>
              <a:srgbClr val="D7A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Slide Number Placeholder 3">
            <a:extLst>
              <a:ext uri="{FF2B5EF4-FFF2-40B4-BE49-F238E27FC236}">
                <a16:creationId xmlns:a16="http://schemas.microsoft.com/office/drawing/2014/main" id="{A7697BFD-57E8-0DAE-ABD7-77DBD682A5C3}"/>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3546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dependientes</a:t>
            </a:r>
          </a:p>
        </p:txBody>
      </p:sp>
      <p:sp>
        <p:nvSpPr>
          <p:cNvPr id="3" name="Content Placeholder 2"/>
          <p:cNvSpPr>
            <a:spLocks noGrp="1"/>
          </p:cNvSpPr>
          <p:nvPr>
            <p:ph idx="1"/>
          </p:nvPr>
        </p:nvSpPr>
        <p:spPr>
          <a:xfrm>
            <a:off x="2246878" y="2242779"/>
            <a:ext cx="7610476" cy="1186221"/>
          </a:xfrm>
        </p:spPr>
        <p:txBody>
          <a:bodyPr>
            <a:noAutofit/>
          </a:bodyPr>
          <a:lstStyle/>
          <a:p>
            <a:pPr marL="0" indent="0" algn="ctr">
              <a:buNone/>
            </a:pPr>
            <a:r>
              <a:rPr lang="es-ES_tradnl" sz="2000" dirty="0">
                <a:solidFill>
                  <a:schemeClr val="accent1"/>
                </a:solidFill>
                <a:latin typeface="Century Gothic" panose="020B0502020202020204" pitchFamily="34" charset="0"/>
              </a:rPr>
              <a:t>¿Qué proyecto realizaría si C es dependiente de E?</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Todos los demás proyectos son independientes y no existen restricciones de capital.</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18</a:t>
            </a:fld>
            <a:endParaRPr lang="en-US" sz="1800" dirty="0"/>
          </a:p>
        </p:txBody>
      </p:sp>
      <p:graphicFrame>
        <p:nvGraphicFramePr>
          <p:cNvPr id="7" name="Table 6"/>
          <p:cNvGraphicFramePr>
            <a:graphicFrameLocks noGrp="1"/>
          </p:cNvGraphicFramePr>
          <p:nvPr>
            <p:extLst>
              <p:ext uri="{D42A27DB-BD31-4B8C-83A1-F6EECF244321}">
                <p14:modId xmlns:p14="http://schemas.microsoft.com/office/powerpoint/2010/main" val="3592845497"/>
              </p:ext>
            </p:extLst>
          </p:nvPr>
        </p:nvGraphicFramePr>
        <p:xfrm>
          <a:off x="1000554" y="3926674"/>
          <a:ext cx="10190892" cy="1483360"/>
        </p:xfrm>
        <a:graphic>
          <a:graphicData uri="http://schemas.openxmlformats.org/drawingml/2006/table">
            <a:tbl>
              <a:tblPr firstRow="1" bandRow="1">
                <a:tableStyleId>{5C22544A-7EE6-4342-B048-85BDC9FD1C3A}</a:tableStyleId>
              </a:tblPr>
              <a:tblGrid>
                <a:gridCol w="1698482">
                  <a:extLst>
                    <a:ext uri="{9D8B030D-6E8A-4147-A177-3AD203B41FA5}">
                      <a16:colId xmlns:a16="http://schemas.microsoft.com/office/drawing/2014/main" val="20000"/>
                    </a:ext>
                  </a:extLst>
                </a:gridCol>
                <a:gridCol w="1698482">
                  <a:extLst>
                    <a:ext uri="{9D8B030D-6E8A-4147-A177-3AD203B41FA5}">
                      <a16:colId xmlns:a16="http://schemas.microsoft.com/office/drawing/2014/main" val="20001"/>
                    </a:ext>
                  </a:extLst>
                </a:gridCol>
                <a:gridCol w="1698482">
                  <a:extLst>
                    <a:ext uri="{9D8B030D-6E8A-4147-A177-3AD203B41FA5}">
                      <a16:colId xmlns:a16="http://schemas.microsoft.com/office/drawing/2014/main" val="20002"/>
                    </a:ext>
                  </a:extLst>
                </a:gridCol>
                <a:gridCol w="1698482">
                  <a:extLst>
                    <a:ext uri="{9D8B030D-6E8A-4147-A177-3AD203B41FA5}">
                      <a16:colId xmlns:a16="http://schemas.microsoft.com/office/drawing/2014/main" val="20003"/>
                    </a:ext>
                  </a:extLst>
                </a:gridCol>
                <a:gridCol w="1698482">
                  <a:extLst>
                    <a:ext uri="{9D8B030D-6E8A-4147-A177-3AD203B41FA5}">
                      <a16:colId xmlns:a16="http://schemas.microsoft.com/office/drawing/2014/main" val="20004"/>
                    </a:ext>
                  </a:extLst>
                </a:gridCol>
                <a:gridCol w="1698482">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DCC4F215-CF73-212D-0CFC-70A0A418BF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683A3B6-9CF8-D3FF-9294-5A65CACD1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FB39CC8-9419-7FE2-9702-4E66C992FA6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Rectángulo 8">
            <a:extLst>
              <a:ext uri="{FF2B5EF4-FFF2-40B4-BE49-F238E27FC236}">
                <a16:creationId xmlns:a16="http://schemas.microsoft.com/office/drawing/2014/main" id="{8A856B1E-4D09-E798-BC5B-1221A8E37F25}"/>
              </a:ext>
            </a:extLst>
          </p:cNvPr>
          <p:cNvSpPr/>
          <p:nvPr/>
        </p:nvSpPr>
        <p:spPr>
          <a:xfrm>
            <a:off x="2806200" y="3806995"/>
            <a:ext cx="3200153"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ABDDB7AA-03D9-C11D-95EE-8467C4A26465}"/>
              </a:ext>
            </a:extLst>
          </p:cNvPr>
          <p:cNvSpPr/>
          <p:nvPr/>
        </p:nvSpPr>
        <p:spPr>
          <a:xfrm>
            <a:off x="7884401" y="3806995"/>
            <a:ext cx="1558423"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168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4B94-7B86-3948-F22A-6282EDDE5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B15815-6244-FE3D-098F-7D0C13F2C1CE}"/>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dependientes</a:t>
            </a:r>
          </a:p>
        </p:txBody>
      </p:sp>
      <p:sp>
        <p:nvSpPr>
          <p:cNvPr id="3" name="Content Placeholder 2">
            <a:extLst>
              <a:ext uri="{FF2B5EF4-FFF2-40B4-BE49-F238E27FC236}">
                <a16:creationId xmlns:a16="http://schemas.microsoft.com/office/drawing/2014/main" id="{93C0360D-74E3-AF58-F8F7-A2FE5E157C30}"/>
              </a:ext>
            </a:extLst>
          </p:cNvPr>
          <p:cNvSpPr>
            <a:spLocks noGrp="1"/>
          </p:cNvSpPr>
          <p:nvPr>
            <p:ph idx="1"/>
          </p:nvPr>
        </p:nvSpPr>
        <p:spPr>
          <a:xfrm>
            <a:off x="2246878" y="2242779"/>
            <a:ext cx="7610476" cy="1186221"/>
          </a:xfrm>
        </p:spPr>
        <p:txBody>
          <a:bodyPr>
            <a:noAutofit/>
          </a:bodyPr>
          <a:lstStyle/>
          <a:p>
            <a:pPr marL="0" indent="0" algn="ctr">
              <a:buNone/>
            </a:pPr>
            <a:r>
              <a:rPr lang="es-ES_tradnl" sz="2000" dirty="0">
                <a:solidFill>
                  <a:schemeClr val="accent1"/>
                </a:solidFill>
                <a:latin typeface="Century Gothic" panose="020B0502020202020204" pitchFamily="34" charset="0"/>
              </a:rPr>
              <a:t>¿Qué proyecto realizaría si A es dependiente de E?</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Todos los demás proyectos son independientes y no existen restricciones de capital.</a:t>
            </a:r>
          </a:p>
        </p:txBody>
      </p:sp>
      <p:graphicFrame>
        <p:nvGraphicFramePr>
          <p:cNvPr id="7" name="Table 6">
            <a:extLst>
              <a:ext uri="{FF2B5EF4-FFF2-40B4-BE49-F238E27FC236}">
                <a16:creationId xmlns:a16="http://schemas.microsoft.com/office/drawing/2014/main" id="{EC3F3861-6CFD-1CD0-B106-9493A814CEC5}"/>
              </a:ext>
            </a:extLst>
          </p:cNvPr>
          <p:cNvGraphicFramePr>
            <a:graphicFrameLocks noGrp="1"/>
          </p:cNvGraphicFramePr>
          <p:nvPr>
            <p:extLst>
              <p:ext uri="{D42A27DB-BD31-4B8C-83A1-F6EECF244321}">
                <p14:modId xmlns:p14="http://schemas.microsoft.com/office/powerpoint/2010/main" val="164308614"/>
              </p:ext>
            </p:extLst>
          </p:nvPr>
        </p:nvGraphicFramePr>
        <p:xfrm>
          <a:off x="1000554" y="3926674"/>
          <a:ext cx="10190892" cy="1483360"/>
        </p:xfrm>
        <a:graphic>
          <a:graphicData uri="http://schemas.openxmlformats.org/drawingml/2006/table">
            <a:tbl>
              <a:tblPr firstRow="1" bandRow="1">
                <a:tableStyleId>{5C22544A-7EE6-4342-B048-85BDC9FD1C3A}</a:tableStyleId>
              </a:tblPr>
              <a:tblGrid>
                <a:gridCol w="1698482">
                  <a:extLst>
                    <a:ext uri="{9D8B030D-6E8A-4147-A177-3AD203B41FA5}">
                      <a16:colId xmlns:a16="http://schemas.microsoft.com/office/drawing/2014/main" val="20000"/>
                    </a:ext>
                  </a:extLst>
                </a:gridCol>
                <a:gridCol w="1698482">
                  <a:extLst>
                    <a:ext uri="{9D8B030D-6E8A-4147-A177-3AD203B41FA5}">
                      <a16:colId xmlns:a16="http://schemas.microsoft.com/office/drawing/2014/main" val="20001"/>
                    </a:ext>
                  </a:extLst>
                </a:gridCol>
                <a:gridCol w="1698482">
                  <a:extLst>
                    <a:ext uri="{9D8B030D-6E8A-4147-A177-3AD203B41FA5}">
                      <a16:colId xmlns:a16="http://schemas.microsoft.com/office/drawing/2014/main" val="20002"/>
                    </a:ext>
                  </a:extLst>
                </a:gridCol>
                <a:gridCol w="1698482">
                  <a:extLst>
                    <a:ext uri="{9D8B030D-6E8A-4147-A177-3AD203B41FA5}">
                      <a16:colId xmlns:a16="http://schemas.microsoft.com/office/drawing/2014/main" val="20003"/>
                    </a:ext>
                  </a:extLst>
                </a:gridCol>
                <a:gridCol w="1698482">
                  <a:extLst>
                    <a:ext uri="{9D8B030D-6E8A-4147-A177-3AD203B41FA5}">
                      <a16:colId xmlns:a16="http://schemas.microsoft.com/office/drawing/2014/main" val="20004"/>
                    </a:ext>
                  </a:extLst>
                </a:gridCol>
                <a:gridCol w="1698482">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CA34004B-F391-8DBB-C749-1E156BD66F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7EE7CE6-880B-85D3-009C-D5A831D395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F72756A-CCB4-978B-0E90-0E362A04296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Rectángulo 8">
            <a:extLst>
              <a:ext uri="{FF2B5EF4-FFF2-40B4-BE49-F238E27FC236}">
                <a16:creationId xmlns:a16="http://schemas.microsoft.com/office/drawing/2014/main" id="{460A2BBB-78ED-FBD4-3FD3-2A5803CBE6F6}"/>
              </a:ext>
            </a:extLst>
          </p:cNvPr>
          <p:cNvSpPr/>
          <p:nvPr/>
        </p:nvSpPr>
        <p:spPr>
          <a:xfrm>
            <a:off x="2806200" y="3806995"/>
            <a:ext cx="8274176"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Slide Number Placeholder 3">
            <a:extLst>
              <a:ext uri="{FF2B5EF4-FFF2-40B4-BE49-F238E27FC236}">
                <a16:creationId xmlns:a16="http://schemas.microsoft.com/office/drawing/2014/main" id="{4BB05BA1-9339-EDA7-1176-AF9793A70FB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88843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10755-2485-92EC-6559-69FCDD712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EEB05-AAB2-ED1E-EEC1-C7A785164F62}"/>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dependientes</a:t>
            </a:r>
          </a:p>
        </p:txBody>
      </p:sp>
      <p:sp>
        <p:nvSpPr>
          <p:cNvPr id="3" name="Content Placeholder 2">
            <a:extLst>
              <a:ext uri="{FF2B5EF4-FFF2-40B4-BE49-F238E27FC236}">
                <a16:creationId xmlns:a16="http://schemas.microsoft.com/office/drawing/2014/main" id="{837DFCDD-AA21-15C9-EC0A-689D8F8EE335}"/>
              </a:ext>
            </a:extLst>
          </p:cNvPr>
          <p:cNvSpPr>
            <a:spLocks noGrp="1"/>
          </p:cNvSpPr>
          <p:nvPr>
            <p:ph idx="1"/>
          </p:nvPr>
        </p:nvSpPr>
        <p:spPr>
          <a:xfrm>
            <a:off x="2246878" y="2242779"/>
            <a:ext cx="7610476" cy="1186221"/>
          </a:xfrm>
        </p:spPr>
        <p:txBody>
          <a:bodyPr>
            <a:noAutofit/>
          </a:bodyPr>
          <a:lstStyle/>
          <a:p>
            <a:pPr marL="0" indent="0" algn="ctr">
              <a:buNone/>
            </a:pPr>
            <a:r>
              <a:rPr lang="es-ES_tradnl" sz="2000" dirty="0">
                <a:solidFill>
                  <a:schemeClr val="accent1"/>
                </a:solidFill>
                <a:latin typeface="Century Gothic" panose="020B0502020202020204" pitchFamily="34" charset="0"/>
              </a:rPr>
              <a:t>¿Qué proyecto realizaría si A es dependiente de E?</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Todos los demás proyectos son independientes y cuento con un capital total de 200.</a:t>
            </a:r>
          </a:p>
        </p:txBody>
      </p:sp>
      <p:graphicFrame>
        <p:nvGraphicFramePr>
          <p:cNvPr id="7" name="Table 6">
            <a:extLst>
              <a:ext uri="{FF2B5EF4-FFF2-40B4-BE49-F238E27FC236}">
                <a16:creationId xmlns:a16="http://schemas.microsoft.com/office/drawing/2014/main" id="{7D7EF479-105B-2718-E02A-001D4F90CEEE}"/>
              </a:ext>
            </a:extLst>
          </p:cNvPr>
          <p:cNvGraphicFramePr>
            <a:graphicFrameLocks noGrp="1"/>
          </p:cNvGraphicFramePr>
          <p:nvPr>
            <p:extLst>
              <p:ext uri="{D42A27DB-BD31-4B8C-83A1-F6EECF244321}">
                <p14:modId xmlns:p14="http://schemas.microsoft.com/office/powerpoint/2010/main" val="1706259180"/>
              </p:ext>
            </p:extLst>
          </p:nvPr>
        </p:nvGraphicFramePr>
        <p:xfrm>
          <a:off x="1000554" y="3926674"/>
          <a:ext cx="10190892" cy="1483360"/>
        </p:xfrm>
        <a:graphic>
          <a:graphicData uri="http://schemas.openxmlformats.org/drawingml/2006/table">
            <a:tbl>
              <a:tblPr firstRow="1" bandRow="1">
                <a:tableStyleId>{5C22544A-7EE6-4342-B048-85BDC9FD1C3A}</a:tableStyleId>
              </a:tblPr>
              <a:tblGrid>
                <a:gridCol w="1698482">
                  <a:extLst>
                    <a:ext uri="{9D8B030D-6E8A-4147-A177-3AD203B41FA5}">
                      <a16:colId xmlns:a16="http://schemas.microsoft.com/office/drawing/2014/main" val="20000"/>
                    </a:ext>
                  </a:extLst>
                </a:gridCol>
                <a:gridCol w="1698482">
                  <a:extLst>
                    <a:ext uri="{9D8B030D-6E8A-4147-A177-3AD203B41FA5}">
                      <a16:colId xmlns:a16="http://schemas.microsoft.com/office/drawing/2014/main" val="20001"/>
                    </a:ext>
                  </a:extLst>
                </a:gridCol>
                <a:gridCol w="1698482">
                  <a:extLst>
                    <a:ext uri="{9D8B030D-6E8A-4147-A177-3AD203B41FA5}">
                      <a16:colId xmlns:a16="http://schemas.microsoft.com/office/drawing/2014/main" val="20002"/>
                    </a:ext>
                  </a:extLst>
                </a:gridCol>
                <a:gridCol w="1698482">
                  <a:extLst>
                    <a:ext uri="{9D8B030D-6E8A-4147-A177-3AD203B41FA5}">
                      <a16:colId xmlns:a16="http://schemas.microsoft.com/office/drawing/2014/main" val="20003"/>
                    </a:ext>
                  </a:extLst>
                </a:gridCol>
                <a:gridCol w="1698482">
                  <a:extLst>
                    <a:ext uri="{9D8B030D-6E8A-4147-A177-3AD203B41FA5}">
                      <a16:colId xmlns:a16="http://schemas.microsoft.com/office/drawing/2014/main" val="20004"/>
                    </a:ext>
                  </a:extLst>
                </a:gridCol>
                <a:gridCol w="1698482">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1F73C56C-34F2-337E-199E-23BC8F6E2E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57E2F05-90FD-493D-9A69-D24A0438B5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2D1C349-1657-502E-6DEC-080816E9295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Rectángulo 8">
            <a:extLst>
              <a:ext uri="{FF2B5EF4-FFF2-40B4-BE49-F238E27FC236}">
                <a16:creationId xmlns:a16="http://schemas.microsoft.com/office/drawing/2014/main" id="{5ED9F3DC-8D57-FE70-9ACA-A57FACDC1C59}"/>
              </a:ext>
            </a:extLst>
          </p:cNvPr>
          <p:cNvSpPr/>
          <p:nvPr/>
        </p:nvSpPr>
        <p:spPr>
          <a:xfrm>
            <a:off x="2806200" y="3806995"/>
            <a:ext cx="1502835"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1489DB4C-2C72-453D-CCD4-347CF36F4510}"/>
              </a:ext>
            </a:extLst>
          </p:cNvPr>
          <p:cNvSpPr/>
          <p:nvPr/>
        </p:nvSpPr>
        <p:spPr>
          <a:xfrm>
            <a:off x="6197847" y="3806995"/>
            <a:ext cx="4888506"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Slide Number Placeholder 3">
            <a:extLst>
              <a:ext uri="{FF2B5EF4-FFF2-40B4-BE49-F238E27FC236}">
                <a16:creationId xmlns:a16="http://schemas.microsoft.com/office/drawing/2014/main" id="{145E9004-B64E-6461-1DB2-3B8A0FCE0B4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99445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63843F8-4DE9-8C8B-C3FC-3E946709A18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1DE4245-85FA-D0CF-C0B0-A2BA6FB1C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3AF8F8B-9F8E-6E7A-2BD4-6A12842FED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49D1C304-85F1-5405-B2DD-DBE9AF21FB0B}"/>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C1525795-48E0-AFA2-7AB8-9A8A5C9BBF0D}"/>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12134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3200" dirty="0">
                <a:latin typeface="Century Gothic" panose="020B0502020202020204" pitchFamily="34" charset="0"/>
              </a:rPr>
              <a:t>PROYECTOS Mutuamente Excluyentes</a:t>
            </a:r>
          </a:p>
        </p:txBody>
      </p:sp>
      <p:sp>
        <p:nvSpPr>
          <p:cNvPr id="3" name="Marcador de contenido 2"/>
          <p:cNvSpPr>
            <a:spLocks noGrp="1"/>
          </p:cNvSpPr>
          <p:nvPr>
            <p:ph idx="1"/>
          </p:nvPr>
        </p:nvSpPr>
        <p:spPr>
          <a:xfrm>
            <a:off x="461415" y="2427887"/>
            <a:ext cx="11088620" cy="3973513"/>
          </a:xfrm>
        </p:spPr>
        <p:txBody>
          <a:bodyPr>
            <a:noAutofit/>
          </a:bodyPr>
          <a:lstStyle/>
          <a:p>
            <a:pPr marL="0" indent="0" algn="just">
              <a:buNone/>
            </a:pPr>
            <a:r>
              <a:rPr lang="es-ES" sz="2400" b="1" dirty="0">
                <a:solidFill>
                  <a:srgbClr val="C00000"/>
                </a:solidFill>
                <a:latin typeface="Century Gothic" panose="020B0502020202020204" pitchFamily="34" charset="0"/>
              </a:rPr>
              <a:t>Alternativas de Inversión Mutuamente Excluyentes:</a:t>
            </a:r>
          </a:p>
          <a:p>
            <a:pPr marL="0" indent="0" algn="just">
              <a:buNone/>
            </a:pPr>
            <a:endParaRPr lang="es-ES" sz="2000" b="1" dirty="0">
              <a:solidFill>
                <a:srgbClr val="800000"/>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Se dice que dos o más proyectos son mutuamente excluyentes </a:t>
            </a:r>
            <a:r>
              <a:rPr lang="es-ES" sz="2000" b="1" dirty="0">
                <a:solidFill>
                  <a:schemeClr val="accent1"/>
                </a:solidFill>
                <a:latin typeface="Century Gothic" panose="020B0502020202020204" pitchFamily="34" charset="0"/>
              </a:rPr>
              <a:t>cuando la realización de un proyecto descarta la ejecución de los demás proyectos.</a:t>
            </a:r>
          </a:p>
          <a:p>
            <a:pPr algn="just"/>
            <a:r>
              <a:rPr lang="es-ES" sz="2000" dirty="0">
                <a:solidFill>
                  <a:schemeClr val="accent1"/>
                </a:solidFill>
                <a:latin typeface="Century Gothic" panose="020B0502020202020204" pitchFamily="34" charset="0"/>
              </a:rPr>
              <a:t>Generalmente, esto se da porque todas ellas responden a la misma necesidad y basta con ejecutar una de las alternativas para solucionar un problema o existen restricciones de tipo presupuestales, tecnológicas, regulatorias, etc.</a:t>
            </a:r>
          </a:p>
          <a:p>
            <a:pPr algn="just"/>
            <a:r>
              <a:rPr lang="es-ES" sz="2000" dirty="0">
                <a:solidFill>
                  <a:schemeClr val="accent1"/>
                </a:solidFill>
                <a:latin typeface="Century Gothic" panose="020B0502020202020204" pitchFamily="34" charset="0"/>
              </a:rPr>
              <a:t>Un ejemplo sencillo de alternativas de inversión dependientes es el siguiente:</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1: </a:t>
            </a:r>
            <a:r>
              <a:rPr lang="es-ES" sz="2000" dirty="0">
                <a:solidFill>
                  <a:schemeClr val="accent1"/>
                </a:solidFill>
                <a:latin typeface="Century Gothic" panose="020B0502020202020204" pitchFamily="34" charset="0"/>
              </a:rPr>
              <a:t>Comprar </a:t>
            </a:r>
            <a:r>
              <a:rPr lang="en-CO" sz="2000" dirty="0">
                <a:solidFill>
                  <a:schemeClr val="accent1"/>
                </a:solidFill>
                <a:latin typeface="Century Gothic" panose="020B0502020202020204" pitchFamily="34" charset="0"/>
              </a:rPr>
              <a:t>un vehículo a gasolina</a:t>
            </a:r>
            <a:r>
              <a:rPr lang="es-ES" sz="2000" dirty="0">
                <a:solidFill>
                  <a:schemeClr val="accent1"/>
                </a:solidFill>
                <a:latin typeface="Century Gothic" panose="020B0502020202020204" pitchFamily="34" charset="0"/>
              </a:rPr>
              <a:t>.</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2: </a:t>
            </a:r>
            <a:r>
              <a:rPr lang="es-ES" sz="2000" dirty="0">
                <a:solidFill>
                  <a:schemeClr val="accent1"/>
                </a:solidFill>
                <a:latin typeface="Century Gothic" panose="020B0502020202020204" pitchFamily="34" charset="0"/>
              </a:rPr>
              <a:t>Comprar </a:t>
            </a:r>
            <a:r>
              <a:rPr lang="en-CO" sz="2000" dirty="0">
                <a:solidFill>
                  <a:schemeClr val="accent1"/>
                </a:solidFill>
                <a:latin typeface="Century Gothic" panose="020B0502020202020204" pitchFamily="34" charset="0"/>
              </a:rPr>
              <a:t>un vehículo 100% eléctrico</a:t>
            </a:r>
            <a:r>
              <a:rPr lang="es-ES" sz="2000" dirty="0">
                <a:solidFill>
                  <a:schemeClr val="accent1"/>
                </a:solidFill>
                <a:latin typeface="Century Gothic" panose="020B0502020202020204" pitchFamily="34" charset="0"/>
              </a:rPr>
              <a:t>.</a:t>
            </a:r>
          </a:p>
          <a:p>
            <a:pPr algn="just"/>
            <a:endParaRPr lang="es-ES" sz="2000" dirty="0">
              <a:solidFill>
                <a:schemeClr val="accent1"/>
              </a:solidFill>
              <a:latin typeface="Century Gothic" panose="020B0502020202020204" pitchFamily="34" charset="0"/>
            </a:endParaRPr>
          </a:p>
        </p:txBody>
      </p:sp>
      <p:sp>
        <p:nvSpPr>
          <p:cNvPr id="5" name="Rectángulo 4">
            <a:extLst>
              <a:ext uri="{FF2B5EF4-FFF2-40B4-BE49-F238E27FC236}">
                <a16:creationId xmlns:a16="http://schemas.microsoft.com/office/drawing/2014/main" id="{148A15CE-2EB9-961C-83BC-05B52564978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8BE75B0-2524-0C43-A847-011EECCE0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4526344-BD67-551F-5EB7-FD4FD8FD793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47216B52-C870-DC0F-75BB-E427A2ED0FA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5726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dirty="0">
                <a:latin typeface="Century Gothic" panose="020B0502020202020204" pitchFamily="34" charset="0"/>
              </a:rPr>
              <a:t>PROYECTOS Mutuamente Excluyentes</a:t>
            </a:r>
            <a:endParaRPr lang="es-ES_tradnl" sz="3200" dirty="0">
              <a:latin typeface="Century Gothic" panose="020B0502020202020204" pitchFamily="34" charset="0"/>
            </a:endParaRPr>
          </a:p>
        </p:txBody>
      </p:sp>
      <p:sp>
        <p:nvSpPr>
          <p:cNvPr id="3" name="Content Placeholder 2"/>
          <p:cNvSpPr>
            <a:spLocks noGrp="1"/>
          </p:cNvSpPr>
          <p:nvPr>
            <p:ph idx="1"/>
          </p:nvPr>
        </p:nvSpPr>
        <p:spPr>
          <a:xfrm>
            <a:off x="641965" y="2154739"/>
            <a:ext cx="10371622" cy="4166523"/>
          </a:xfrm>
        </p:spPr>
        <p:txBody>
          <a:bodyPr>
            <a:noAutofit/>
          </a:bodyPr>
          <a:lstStyle/>
          <a:p>
            <a:pPr algn="just"/>
            <a:r>
              <a:rPr lang="es-ES_tradnl" sz="2000" dirty="0">
                <a:solidFill>
                  <a:schemeClr val="accent1"/>
                </a:solidFill>
                <a:latin typeface="Century Gothic" panose="020B0502020202020204" pitchFamily="34" charset="0"/>
              </a:rPr>
              <a:t>Para realizar la selección de proyectos, se requiere un ordenamiento de las alternativas de inversión.</a:t>
            </a:r>
          </a:p>
          <a:p>
            <a:pPr algn="just"/>
            <a:r>
              <a:rPr lang="es-ES_tradnl" sz="2000" dirty="0">
                <a:solidFill>
                  <a:schemeClr val="accent1"/>
                </a:solidFill>
                <a:latin typeface="Century Gothic" panose="020B0502020202020204" pitchFamily="34" charset="0"/>
              </a:rPr>
              <a:t>Para esto, utilizaremos los IBF que ya conocemos.</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VPN</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TIR</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TVR</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B/C</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VAE</a:t>
            </a:r>
          </a:p>
          <a:p>
            <a:pPr marL="0" indent="0" algn="ctr">
              <a:buNone/>
            </a:pPr>
            <a:endParaRPr lang="es-ES_tradnl" sz="2000" b="1" dirty="0">
              <a:solidFill>
                <a:srgbClr val="C00000"/>
              </a:solidFill>
              <a:latin typeface="Century Gothic" panose="020B0502020202020204" pitchFamily="34" charset="0"/>
            </a:endParaRPr>
          </a:p>
          <a:p>
            <a:pPr marL="0" indent="0" algn="ctr">
              <a:buNone/>
            </a:pPr>
            <a:r>
              <a:rPr lang="es-ES_tradnl" sz="2000" b="1" dirty="0">
                <a:solidFill>
                  <a:srgbClr val="C00000"/>
                </a:solidFill>
                <a:latin typeface="Century Gothic" panose="020B0502020202020204" pitchFamily="34" charset="0"/>
              </a:rPr>
              <a:t>Sin embargo, es necesario entender en qué casos es correcto usarlos y en qué casos no.</a:t>
            </a:r>
          </a:p>
        </p:txBody>
      </p:sp>
      <p:pic>
        <p:nvPicPr>
          <p:cNvPr id="3074" name="Picture 2" descr="Dibujos Animados De Contabilidad Imágenes y Fotos - 123RF">
            <a:extLst>
              <a:ext uri="{FF2B5EF4-FFF2-40B4-BE49-F238E27FC236}">
                <a16:creationId xmlns:a16="http://schemas.microsoft.com/office/drawing/2014/main" id="{79E1707F-21D5-E9EE-14A2-BCA9DD529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822" y="2890384"/>
            <a:ext cx="2762765" cy="2695231"/>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B16C4BD-2F94-BF8B-4E7C-8E0CA7854E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67907AE-B19F-6281-195D-FDAC7E6A4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B31DE06-2C43-239E-FC7B-F75C8E85275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306D1495-7B95-36B8-DDE5-0C4B002FFFE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63992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dirty="0">
                <a:latin typeface="Century Gothic" panose="020B0502020202020204" pitchFamily="34" charset="0"/>
              </a:rPr>
              <a:t>PROYECTOS Mutuamente Excluyentes</a:t>
            </a:r>
            <a:endParaRPr lang="es-ES_tradnl" sz="3200" dirty="0">
              <a:latin typeface="Century Gothic" panose="020B0502020202020204" pitchFamily="34" charset="0"/>
            </a:endParaRPr>
          </a:p>
        </p:txBody>
      </p:sp>
      <p:sp>
        <p:nvSpPr>
          <p:cNvPr id="3" name="Content Placeholder 2"/>
          <p:cNvSpPr>
            <a:spLocks noGrp="1"/>
          </p:cNvSpPr>
          <p:nvPr>
            <p:ph idx="1"/>
          </p:nvPr>
        </p:nvSpPr>
        <p:spPr>
          <a:xfrm>
            <a:off x="763863" y="2003501"/>
            <a:ext cx="8955232" cy="4166523"/>
          </a:xfrm>
        </p:spPr>
        <p:txBody>
          <a:bodyPr>
            <a:normAutofit/>
          </a:bodyPr>
          <a:lstStyle/>
          <a:p>
            <a:pPr marL="0" indent="0" algn="ctr">
              <a:buNone/>
            </a:pPr>
            <a:r>
              <a:rPr lang="es-ES_tradnl" sz="2000" dirty="0">
                <a:solidFill>
                  <a:schemeClr val="accent1"/>
                </a:solidFill>
                <a:latin typeface="Century Gothic" panose="020B0502020202020204" pitchFamily="34" charset="0"/>
              </a:rPr>
              <a:t>Aquí es importante estudiar diferentes casos concretos.</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Esto se debe a que, si no se usan de manera técnica y adecuada, utilizar libremente los IBF podría llevar a </a:t>
            </a:r>
            <a:r>
              <a:rPr lang="es-ES_tradnl" sz="2000" b="1" dirty="0">
                <a:solidFill>
                  <a:srgbClr val="C00000"/>
                </a:solidFill>
                <a:latin typeface="Century Gothic" panose="020B0502020202020204" pitchFamily="34" charset="0"/>
              </a:rPr>
              <a:t>errores en la selección de proyectos</a:t>
            </a:r>
            <a:r>
              <a:rPr lang="es-ES_tradnl" sz="2000" dirty="0">
                <a:solidFill>
                  <a:schemeClr val="accent1"/>
                </a:solidFill>
                <a:latin typeface="Century Gothic" panose="020B0502020202020204" pitchFamily="34" charset="0"/>
              </a:rPr>
              <a:t>.</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En particular, nos interesan los siguientes </a:t>
            </a:r>
            <a:r>
              <a:rPr lang="es-ES_tradnl" sz="2000" b="1" dirty="0">
                <a:solidFill>
                  <a:srgbClr val="D7A700"/>
                </a:solidFill>
                <a:latin typeface="Century Gothic" panose="020B0502020202020204" pitchFamily="34" charset="0"/>
              </a:rPr>
              <a:t>tres (3) casos</a:t>
            </a:r>
            <a:r>
              <a:rPr lang="es-ES_tradnl" sz="2000" dirty="0">
                <a:solidFill>
                  <a:schemeClr val="accent1"/>
                </a:solidFill>
                <a:latin typeface="Century Gothic" panose="020B0502020202020204" pitchFamily="34" charset="0"/>
              </a:rPr>
              <a:t>.</a:t>
            </a:r>
          </a:p>
        </p:txBody>
      </p:sp>
      <p:pic>
        <p:nvPicPr>
          <p:cNvPr id="7" name="Imagen 6">
            <a:extLst>
              <a:ext uri="{FF2B5EF4-FFF2-40B4-BE49-F238E27FC236}">
                <a16:creationId xmlns:a16="http://schemas.microsoft.com/office/drawing/2014/main" id="{376E2720-FA44-6A17-4CFD-8DBFDF3AF499}"/>
              </a:ext>
            </a:extLst>
          </p:cNvPr>
          <p:cNvPicPr>
            <a:picLocks noChangeAspect="1"/>
          </p:cNvPicPr>
          <p:nvPr/>
        </p:nvPicPr>
        <p:blipFill rotWithShape="1">
          <a:blip r:embed="rId2"/>
          <a:srcRect b="6318"/>
          <a:stretch/>
        </p:blipFill>
        <p:spPr>
          <a:xfrm>
            <a:off x="9673087" y="2985986"/>
            <a:ext cx="1755051" cy="2224216"/>
          </a:xfrm>
          <a:prstGeom prst="rect">
            <a:avLst/>
          </a:prstGeom>
        </p:spPr>
      </p:pic>
      <p:sp>
        <p:nvSpPr>
          <p:cNvPr id="5" name="Rectángulo 4">
            <a:extLst>
              <a:ext uri="{FF2B5EF4-FFF2-40B4-BE49-F238E27FC236}">
                <a16:creationId xmlns:a16="http://schemas.microsoft.com/office/drawing/2014/main" id="{67D08D61-CF5D-5316-5125-7A6422CF89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948DE3F-105D-49F4-8031-BADBF8089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32B4ADA-9601-AD16-F3DC-134698D6BE7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4305497A-5CA1-8AFC-478B-5F292045E0B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664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a:t>
            </a:r>
          </a:p>
        </p:txBody>
      </p:sp>
      <p:sp>
        <p:nvSpPr>
          <p:cNvPr id="6" name="Rounded Rectangle 5"/>
          <p:cNvSpPr/>
          <p:nvPr/>
        </p:nvSpPr>
        <p:spPr>
          <a:xfrm>
            <a:off x="5027272" y="294481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Misma Vida Útil</a:t>
            </a:r>
          </a:p>
        </p:txBody>
      </p:sp>
      <p:sp>
        <p:nvSpPr>
          <p:cNvPr id="7" name="Rounded Rectangle 6"/>
          <p:cNvSpPr/>
          <p:nvPr/>
        </p:nvSpPr>
        <p:spPr>
          <a:xfrm>
            <a:off x="1635641" y="3937321"/>
            <a:ext cx="2088967" cy="1211411"/>
          </a:xfrm>
          <a:prstGeom prst="roundRect">
            <a:avLst/>
          </a:prstGeom>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2000" dirty="0">
                <a:latin typeface="Century Gothic" panose="020B0502020202020204" pitchFamily="34" charset="0"/>
              </a:rPr>
              <a:t>Proyectos Mutuamente Excluyentes</a:t>
            </a:r>
          </a:p>
        </p:txBody>
      </p:sp>
      <p:cxnSp>
        <p:nvCxnSpPr>
          <p:cNvPr id="8" name="Curved Connector 7"/>
          <p:cNvCxnSpPr>
            <a:stCxn id="7" idx="0"/>
            <a:endCxn id="6" idx="1"/>
          </p:cNvCxnSpPr>
          <p:nvPr/>
        </p:nvCxnSpPr>
        <p:spPr>
          <a:xfrm rot="5400000" flipH="1" flipV="1">
            <a:off x="3558244" y="2468292"/>
            <a:ext cx="590908"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9" name="Curved Connector 8"/>
          <p:cNvCxnSpPr>
            <a:stCxn id="6" idx="3"/>
            <a:endCxn id="10" idx="1"/>
          </p:cNvCxnSpPr>
          <p:nvPr/>
        </p:nvCxnSpPr>
        <p:spPr>
          <a:xfrm flipV="1">
            <a:off x="7496994" y="2527136"/>
            <a:ext cx="886618" cy="819276"/>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Rounded Rectangle 9"/>
          <p:cNvSpPr/>
          <p:nvPr/>
        </p:nvSpPr>
        <p:spPr>
          <a:xfrm>
            <a:off x="8383613" y="218837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Inversión Inicial Igual</a:t>
            </a:r>
          </a:p>
        </p:txBody>
      </p:sp>
      <p:sp>
        <p:nvSpPr>
          <p:cNvPr id="19" name="Rounded Rectangle 18"/>
          <p:cNvSpPr/>
          <p:nvPr/>
        </p:nvSpPr>
        <p:spPr>
          <a:xfrm>
            <a:off x="8383613" y="393732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Inversión Inicial Distinta</a:t>
            </a:r>
          </a:p>
        </p:txBody>
      </p:sp>
      <p:sp>
        <p:nvSpPr>
          <p:cNvPr id="25" name="Rounded Rectangle 24"/>
          <p:cNvSpPr/>
          <p:nvPr/>
        </p:nvSpPr>
        <p:spPr>
          <a:xfrm>
            <a:off x="5027272" y="546544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Distinta Vida Útil</a:t>
            </a:r>
          </a:p>
        </p:txBody>
      </p:sp>
      <p:cxnSp>
        <p:nvCxnSpPr>
          <p:cNvPr id="28" name="Curved Connector 27"/>
          <p:cNvCxnSpPr>
            <a:stCxn id="6" idx="3"/>
            <a:endCxn id="19" idx="1"/>
          </p:cNvCxnSpPr>
          <p:nvPr/>
        </p:nvCxnSpPr>
        <p:spPr>
          <a:xfrm>
            <a:off x="7496994" y="3346412"/>
            <a:ext cx="886618" cy="929674"/>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1" name="Curved Connector 30"/>
          <p:cNvCxnSpPr>
            <a:stCxn id="7" idx="2"/>
            <a:endCxn id="25" idx="1"/>
          </p:cNvCxnSpPr>
          <p:nvPr/>
        </p:nvCxnSpPr>
        <p:spPr>
          <a:xfrm rot="16200000" flipH="1">
            <a:off x="3494544" y="4334312"/>
            <a:ext cx="718311"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sp>
        <p:nvSpPr>
          <p:cNvPr id="5" name="CuadroTexto 4">
            <a:extLst>
              <a:ext uri="{FF2B5EF4-FFF2-40B4-BE49-F238E27FC236}">
                <a16:creationId xmlns:a16="http://schemas.microsoft.com/office/drawing/2014/main" id="{F3E6710F-5296-C8EA-FC02-F62865098209}"/>
              </a:ext>
            </a:extLst>
          </p:cNvPr>
          <p:cNvSpPr txBox="1"/>
          <p:nvPr/>
        </p:nvSpPr>
        <p:spPr>
          <a:xfrm>
            <a:off x="10479288" y="2279855"/>
            <a:ext cx="1444487" cy="400110"/>
          </a:xfrm>
          <a:prstGeom prst="rect">
            <a:avLst/>
          </a:prstGeom>
          <a:noFill/>
        </p:spPr>
        <p:txBody>
          <a:bodyPr wrap="square">
            <a:spAutoFit/>
          </a:bodyPr>
          <a:lstStyle/>
          <a:p>
            <a:pPr marL="0" indent="0" algn="ctr">
              <a:buNone/>
            </a:pPr>
            <a:r>
              <a:rPr lang="es-ES_tradnl" sz="2000" b="1" dirty="0">
                <a:solidFill>
                  <a:schemeClr val="accent5">
                    <a:lumMod val="75000"/>
                  </a:schemeClr>
                </a:solidFill>
                <a:latin typeface="Century Gothic" panose="020B0502020202020204" pitchFamily="34" charset="0"/>
              </a:rPr>
              <a:t>Caso 1</a:t>
            </a:r>
          </a:p>
        </p:txBody>
      </p:sp>
      <p:sp>
        <p:nvSpPr>
          <p:cNvPr id="11" name="CuadroTexto 10">
            <a:extLst>
              <a:ext uri="{FF2B5EF4-FFF2-40B4-BE49-F238E27FC236}">
                <a16:creationId xmlns:a16="http://schemas.microsoft.com/office/drawing/2014/main" id="{43596B43-DB69-9ABE-B1C5-CEBE414FD44B}"/>
              </a:ext>
            </a:extLst>
          </p:cNvPr>
          <p:cNvSpPr txBox="1"/>
          <p:nvPr/>
        </p:nvSpPr>
        <p:spPr>
          <a:xfrm>
            <a:off x="10538033" y="4091420"/>
            <a:ext cx="1444487" cy="400110"/>
          </a:xfrm>
          <a:prstGeom prst="rect">
            <a:avLst/>
          </a:prstGeom>
          <a:noFill/>
        </p:spPr>
        <p:txBody>
          <a:bodyPr wrap="square">
            <a:spAutoFit/>
          </a:bodyPr>
          <a:lstStyle/>
          <a:p>
            <a:pPr marL="0" indent="0" algn="ctr">
              <a:buNone/>
            </a:pPr>
            <a:r>
              <a:rPr lang="es-ES_tradnl" sz="2000" b="1" dirty="0">
                <a:solidFill>
                  <a:schemeClr val="accent5">
                    <a:lumMod val="75000"/>
                  </a:schemeClr>
                </a:solidFill>
                <a:latin typeface="Century Gothic" panose="020B0502020202020204" pitchFamily="34" charset="0"/>
              </a:rPr>
              <a:t>Caso 2</a:t>
            </a:r>
          </a:p>
        </p:txBody>
      </p:sp>
      <p:sp>
        <p:nvSpPr>
          <p:cNvPr id="12" name="CuadroTexto 11">
            <a:extLst>
              <a:ext uri="{FF2B5EF4-FFF2-40B4-BE49-F238E27FC236}">
                <a16:creationId xmlns:a16="http://schemas.microsoft.com/office/drawing/2014/main" id="{2163208D-0BFA-1FB1-681C-B80A53A5B282}"/>
              </a:ext>
            </a:extLst>
          </p:cNvPr>
          <p:cNvSpPr txBox="1"/>
          <p:nvPr/>
        </p:nvSpPr>
        <p:spPr>
          <a:xfrm>
            <a:off x="7661368" y="5610498"/>
            <a:ext cx="1444487" cy="400110"/>
          </a:xfrm>
          <a:prstGeom prst="rect">
            <a:avLst/>
          </a:prstGeom>
          <a:noFill/>
        </p:spPr>
        <p:txBody>
          <a:bodyPr wrap="square">
            <a:spAutoFit/>
          </a:bodyPr>
          <a:lstStyle/>
          <a:p>
            <a:pPr marL="0" indent="0" algn="ctr">
              <a:buNone/>
            </a:pPr>
            <a:r>
              <a:rPr lang="es-ES_tradnl" sz="2000" b="1" dirty="0">
                <a:solidFill>
                  <a:schemeClr val="accent5">
                    <a:lumMod val="75000"/>
                  </a:schemeClr>
                </a:solidFill>
                <a:latin typeface="Century Gothic" panose="020B0502020202020204" pitchFamily="34" charset="0"/>
              </a:rPr>
              <a:t>Caso 3</a:t>
            </a:r>
          </a:p>
        </p:txBody>
      </p:sp>
      <p:sp>
        <p:nvSpPr>
          <p:cNvPr id="16" name="Rectángulo 15">
            <a:extLst>
              <a:ext uri="{FF2B5EF4-FFF2-40B4-BE49-F238E27FC236}">
                <a16:creationId xmlns:a16="http://schemas.microsoft.com/office/drawing/2014/main" id="{9D857554-F3B2-69D0-0C5F-9E82D4CE183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E53C6530-586B-6779-E646-C96EC9898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77C8E1B0-E647-AB4A-F646-1D23C50D2EC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Rectángulo 2">
            <a:extLst>
              <a:ext uri="{FF2B5EF4-FFF2-40B4-BE49-F238E27FC236}">
                <a16:creationId xmlns:a16="http://schemas.microsoft.com/office/drawing/2014/main" id="{C047A25E-CE87-F60D-BC06-CFC27860A0FE}"/>
              </a:ext>
            </a:extLst>
          </p:cNvPr>
          <p:cNvSpPr/>
          <p:nvPr/>
        </p:nvSpPr>
        <p:spPr>
          <a:xfrm>
            <a:off x="10675277" y="2279855"/>
            <a:ext cx="1052508" cy="40011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Slide Number Placeholder 3">
            <a:extLst>
              <a:ext uri="{FF2B5EF4-FFF2-40B4-BE49-F238E27FC236}">
                <a16:creationId xmlns:a16="http://schemas.microsoft.com/office/drawing/2014/main" id="{D55CF16C-C210-440B-DC19-A188925FF9E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66659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par>
                                <p:cTn id="14" presetID="5" presetClass="entr" presetSubtype="1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checkerboard(across)">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heckerboard(across)">
                                      <p:cBhvr>
                                        <p:cTn id="33" dur="500"/>
                                        <p:tgtEl>
                                          <p:spTgt spid="9"/>
                                        </p:tgtEl>
                                      </p:cBhvr>
                                    </p:animEffect>
                                  </p:childTnLst>
                                </p:cTn>
                              </p:par>
                              <p:par>
                                <p:cTn id="34" presetID="5" presetClass="entr" presetSubtype="1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checkerboard(across)">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ppt_x"/>
                                          </p:val>
                                        </p:tav>
                                        <p:tav tm="100000">
                                          <p:val>
                                            <p:strVal val="#ppt_x"/>
                                          </p:val>
                                        </p:tav>
                                      </p:tavLst>
                                    </p:anim>
                                    <p:anim calcmode="lin" valueType="num">
                                      <p:cBhvr additive="base">
                                        <p:cTn id="6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additive="base">
                                        <p:cTn id="65" dur="500" fill="hold"/>
                                        <p:tgtEl>
                                          <p:spTgt spid="12"/>
                                        </p:tgtEl>
                                        <p:attrNameLst>
                                          <p:attrName>ppt_x</p:attrName>
                                        </p:attrNameLst>
                                      </p:cBhvr>
                                      <p:tavLst>
                                        <p:tav tm="0">
                                          <p:val>
                                            <p:strVal val="#ppt_x"/>
                                          </p:val>
                                        </p:tav>
                                        <p:tav tm="100000">
                                          <p:val>
                                            <p:strVal val="#ppt_x"/>
                                          </p:val>
                                        </p:tav>
                                      </p:tavLst>
                                    </p:anim>
                                    <p:anim calcmode="lin" valueType="num">
                                      <p:cBhvr additive="base">
                                        <p:cTn id="6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9" grpId="0" animBg="1"/>
      <p:bldP spid="25" grpId="0" animBg="1"/>
      <p:bldP spid="5" grpId="0"/>
      <p:bldP spid="11" grpId="0"/>
      <p:bldP spid="12" grpId="0"/>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15187EC-F549-06D5-7A54-A03CACEB0B6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B6C2BAE-554B-CC11-5319-1DCD1C85B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C25B810-031A-5DA6-5176-D7AD2F63944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88F96EAE-75E4-D21A-77FF-D37655EDAA13}"/>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accent1"/>
                </a:solidFill>
                <a:latin typeface="Century Gothic"/>
                <a:cs typeface="Arial"/>
              </a:rPr>
              <a:t>Caso I: misma vida útil, misma inversión inicial.</a:t>
            </a:r>
            <a:endParaRPr lang="es-CO" dirty="0">
              <a:solidFill>
                <a:schemeClr val="accent1"/>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DE9B8E10-893F-4FC0-8E74-44C74F9CC85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0412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503799" y="1989939"/>
            <a:ext cx="8569615" cy="4166523"/>
          </a:xfrm>
        </p:spPr>
        <p:txBody>
          <a:bodyPr>
            <a:normAutofit/>
          </a:bodyPr>
          <a:lstStyle/>
          <a:p>
            <a:pPr marL="0" indent="0" algn="ctr">
              <a:buNone/>
            </a:pPr>
            <a:r>
              <a:rPr lang="es-ES_tradnl" sz="2000" b="1" dirty="0">
                <a:solidFill>
                  <a:srgbClr val="C00000"/>
                </a:solidFill>
                <a:latin typeface="Century Gothic" panose="020B0502020202020204" pitchFamily="34" charset="0"/>
              </a:rPr>
              <a:t>Caso 1: </a:t>
            </a:r>
            <a:r>
              <a:rPr lang="es-ES_tradnl" sz="2000" b="1" dirty="0">
                <a:solidFill>
                  <a:schemeClr val="accent3">
                    <a:lumMod val="75000"/>
                  </a:schemeClr>
                </a:solidFill>
                <a:latin typeface="Century Gothic" panose="020B0502020202020204" pitchFamily="34" charset="0"/>
              </a:rPr>
              <a:t>Comparación de alternativas mutuamente excluyentes con vidas útiles e inversiones iniciales iguales.</a:t>
            </a:r>
          </a:p>
          <a:p>
            <a:pPr marL="0" indent="0" algn="ctr">
              <a:buNone/>
            </a:pPr>
            <a:endParaRPr lang="es-ES_tradnl" sz="2000" b="1"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Es el caso más sencillo para estudiar a la hora de realizar la selección de proyectos mutuamente excluyentes.</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Para el análisis, tomemos los siguientes dos proyectos. Asuma un costo de oportunidad del 10%.</a:t>
            </a:r>
          </a:p>
        </p:txBody>
      </p:sp>
      <p:pic>
        <p:nvPicPr>
          <p:cNvPr id="11" name="Imagen 10">
            <a:extLst>
              <a:ext uri="{FF2B5EF4-FFF2-40B4-BE49-F238E27FC236}">
                <a16:creationId xmlns:a16="http://schemas.microsoft.com/office/drawing/2014/main" id="{F8E63E37-10C6-7294-DE82-C94C1EF6D027}"/>
              </a:ext>
            </a:extLst>
          </p:cNvPr>
          <p:cNvPicPr>
            <a:picLocks noChangeAspect="1"/>
          </p:cNvPicPr>
          <p:nvPr/>
        </p:nvPicPr>
        <p:blipFill>
          <a:blip r:embed="rId2"/>
          <a:stretch>
            <a:fillRect/>
          </a:stretch>
        </p:blipFill>
        <p:spPr>
          <a:xfrm>
            <a:off x="9171691" y="3301656"/>
            <a:ext cx="2565682" cy="1651877"/>
          </a:xfrm>
          <a:prstGeom prst="rect">
            <a:avLst/>
          </a:prstGeom>
        </p:spPr>
      </p:pic>
      <p:sp>
        <p:nvSpPr>
          <p:cNvPr id="9" name="Rectángulo 8">
            <a:extLst>
              <a:ext uri="{FF2B5EF4-FFF2-40B4-BE49-F238E27FC236}">
                <a16:creationId xmlns:a16="http://schemas.microsoft.com/office/drawing/2014/main" id="{8219050E-FB62-6AAA-80F5-EFCA8EEC67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8A407CA-098C-3A60-EF73-052EDD9B4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D98B3E34-DC21-AD25-DE17-B7DB1BFC287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63FE2972-78F3-8C41-ECF6-90856E37E3F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08595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el VPN?</a:t>
            </a:r>
          </a:p>
        </p:txBody>
      </p:sp>
      <p:cxnSp>
        <p:nvCxnSpPr>
          <p:cNvPr id="7" name="Straight Arrow Connector 6"/>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2585254"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p:cNvSpPr>
            <a:spLocks/>
          </p:cNvSpPr>
          <p:nvPr/>
        </p:nvSpPr>
        <p:spPr bwMode="auto">
          <a:xfrm>
            <a:off x="4377504" y="351136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p:cNvSpPr>
            <a:spLocks/>
          </p:cNvSpPr>
          <p:nvPr/>
        </p:nvSpPr>
        <p:spPr bwMode="auto">
          <a:xfrm>
            <a:off x="1728808"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p:cNvSpPr>
            <a:spLocks/>
          </p:cNvSpPr>
          <p:nvPr/>
        </p:nvSpPr>
        <p:spPr bwMode="auto">
          <a:xfrm>
            <a:off x="3922367"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p:cNvSpPr>
            <a:spLocks/>
          </p:cNvSpPr>
          <p:nvPr/>
        </p:nvSpPr>
        <p:spPr bwMode="auto">
          <a:xfrm flipH="1">
            <a:off x="6977106"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p:cNvSpPr>
            <a:spLocks/>
          </p:cNvSpPr>
          <p:nvPr/>
        </p:nvSpPr>
        <p:spPr bwMode="auto">
          <a:xfrm>
            <a:off x="8769355" y="34407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p:cNvSpPr>
            <a:spLocks/>
          </p:cNvSpPr>
          <p:nvPr/>
        </p:nvSpPr>
        <p:spPr bwMode="auto">
          <a:xfrm>
            <a:off x="6099387"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p:cNvSpPr>
            <a:spLocks/>
          </p:cNvSpPr>
          <p:nvPr/>
        </p:nvSpPr>
        <p:spPr bwMode="auto">
          <a:xfrm>
            <a:off x="8314219"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p:cNvSpPr>
            <a:spLocks/>
          </p:cNvSpPr>
          <p:nvPr/>
        </p:nvSpPr>
        <p:spPr bwMode="auto">
          <a:xfrm>
            <a:off x="7837760" y="34368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p:cNvSpPr>
            <a:spLocks/>
          </p:cNvSpPr>
          <p:nvPr/>
        </p:nvSpPr>
        <p:spPr bwMode="auto">
          <a:xfrm>
            <a:off x="7367564" y="25920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23FD7D65-D9A6-3334-985B-677641921F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1B185DF-4DDF-6B87-764B-3607DA0C6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82FBB356-70F3-969E-F98F-16A8A3869B0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0DC127BE-A6E9-2F4A-F441-A0615BDBFA87}"/>
              </a:ext>
            </a:extLst>
          </p:cNvPr>
          <p:cNvGraphicFramePr>
            <a:graphicFrameLocks noGrp="1"/>
          </p:cNvGraphicFramePr>
          <p:nvPr>
            <p:extLst>
              <p:ext uri="{D42A27DB-BD31-4B8C-83A1-F6EECF244321}">
                <p14:modId xmlns:p14="http://schemas.microsoft.com/office/powerpoint/2010/main" val="2074553913"/>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2283629264"/>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53F764F5-5B5C-EABD-F704-33621618769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7978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BC62-9959-3799-759A-69AE47CC9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458B1-BDD6-A5C9-ABDA-61987364FD75}"/>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a:extLst>
              <a:ext uri="{FF2B5EF4-FFF2-40B4-BE49-F238E27FC236}">
                <a16:creationId xmlns:a16="http://schemas.microsoft.com/office/drawing/2014/main" id="{79BC4F48-1DAA-CFAA-6814-C0F8C9D3F042}"/>
              </a:ext>
            </a:extLst>
          </p:cNvPr>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la TIR?</a:t>
            </a:r>
          </a:p>
        </p:txBody>
      </p:sp>
      <p:cxnSp>
        <p:nvCxnSpPr>
          <p:cNvPr id="7" name="Straight Arrow Connector 6">
            <a:extLst>
              <a:ext uri="{FF2B5EF4-FFF2-40B4-BE49-F238E27FC236}">
                <a16:creationId xmlns:a16="http://schemas.microsoft.com/office/drawing/2014/main" id="{B95F9BF7-47A9-7832-6A15-5486D6CBE88C}"/>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7FF793A-25B2-74F3-766E-20115E88ED58}"/>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873E6AB6-A7CD-7C02-82BF-9DDF90B01F0D}"/>
              </a:ext>
            </a:extLst>
          </p:cNvPr>
          <p:cNvSpPr>
            <a:spLocks/>
          </p:cNvSpPr>
          <p:nvPr/>
        </p:nvSpPr>
        <p:spPr bwMode="auto">
          <a:xfrm flipH="1">
            <a:off x="2585254"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12622C24-D890-9AD1-E2E8-264EF7F63F78}"/>
              </a:ext>
            </a:extLst>
          </p:cNvPr>
          <p:cNvSpPr>
            <a:spLocks/>
          </p:cNvSpPr>
          <p:nvPr/>
        </p:nvSpPr>
        <p:spPr bwMode="auto">
          <a:xfrm>
            <a:off x="4377504" y="3511362"/>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4E72E875-89BE-392A-53A4-B228E46ADF47}"/>
              </a:ext>
            </a:extLst>
          </p:cNvPr>
          <p:cNvSpPr>
            <a:spLocks/>
          </p:cNvSpPr>
          <p:nvPr/>
        </p:nvSpPr>
        <p:spPr bwMode="auto">
          <a:xfrm>
            <a:off x="1728808"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C9BB6037-7886-4248-9FF4-832D964033D3}"/>
              </a:ext>
            </a:extLst>
          </p:cNvPr>
          <p:cNvSpPr>
            <a:spLocks/>
          </p:cNvSpPr>
          <p:nvPr/>
        </p:nvSpPr>
        <p:spPr bwMode="auto">
          <a:xfrm>
            <a:off x="3922367"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E482EA49-886A-5374-44A4-C7B23F55D233}"/>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89B91F4-7873-915B-7745-B71A65188A21}"/>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BD03B832-F77A-AB8C-60ED-89A4B1B09F70}"/>
              </a:ext>
            </a:extLst>
          </p:cNvPr>
          <p:cNvSpPr>
            <a:spLocks/>
          </p:cNvSpPr>
          <p:nvPr/>
        </p:nvSpPr>
        <p:spPr bwMode="auto">
          <a:xfrm flipH="1">
            <a:off x="6977106"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24BF6C2A-30E1-BED9-93AB-384BCDEE363F}"/>
              </a:ext>
            </a:extLst>
          </p:cNvPr>
          <p:cNvSpPr>
            <a:spLocks/>
          </p:cNvSpPr>
          <p:nvPr/>
        </p:nvSpPr>
        <p:spPr bwMode="auto">
          <a:xfrm>
            <a:off x="8769355" y="344074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9C60BCD2-FD90-2279-2BDD-400951464692}"/>
              </a:ext>
            </a:extLst>
          </p:cNvPr>
          <p:cNvSpPr>
            <a:spLocks/>
          </p:cNvSpPr>
          <p:nvPr/>
        </p:nvSpPr>
        <p:spPr bwMode="auto">
          <a:xfrm>
            <a:off x="6099387"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6C17E7FF-2931-2238-A7AE-E94F02A94293}"/>
              </a:ext>
            </a:extLst>
          </p:cNvPr>
          <p:cNvSpPr>
            <a:spLocks/>
          </p:cNvSpPr>
          <p:nvPr/>
        </p:nvSpPr>
        <p:spPr bwMode="auto">
          <a:xfrm>
            <a:off x="8314219"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FB9DEB41-2E55-3367-44C4-D110B39986EE}"/>
              </a:ext>
            </a:extLst>
          </p:cNvPr>
          <p:cNvSpPr>
            <a:spLocks/>
          </p:cNvSpPr>
          <p:nvPr/>
        </p:nvSpPr>
        <p:spPr bwMode="auto">
          <a:xfrm>
            <a:off x="7837760" y="343685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7397D1A2-9D09-8951-4D3F-430213158DFE}"/>
              </a:ext>
            </a:extLst>
          </p:cNvPr>
          <p:cNvSpPr>
            <a:spLocks/>
          </p:cNvSpPr>
          <p:nvPr/>
        </p:nvSpPr>
        <p:spPr bwMode="auto">
          <a:xfrm>
            <a:off x="7367564" y="2592049"/>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6EA0217C-F54F-122F-F752-01BF7D8F3AAE}"/>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4154DA2-1EF9-9516-DD77-9F7087F10C65}"/>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E041F769-2BB8-E0FA-C33E-C34FC241FCAB}"/>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0EDECF08-77F5-5786-1CDF-B254B4ACD7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6DC2289C-9770-B1C4-B4BD-21F93FEC88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487D5BB9-54C5-BF2F-0EAE-F9FA35BABF8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EEA6EA0A-7A77-02A0-3004-0AFAD1A2719E}"/>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261BF30-5A7F-D40F-1564-6A120E9D7410}"/>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CB5D9B34-91EB-A978-0CC6-240EBBEAC250}"/>
              </a:ext>
            </a:extLst>
          </p:cNvPr>
          <p:cNvGraphicFramePr>
            <a:graphicFrameLocks noGrp="1"/>
          </p:cNvGraphicFramePr>
          <p:nvPr>
            <p:extLst>
              <p:ext uri="{D42A27DB-BD31-4B8C-83A1-F6EECF244321}">
                <p14:modId xmlns:p14="http://schemas.microsoft.com/office/powerpoint/2010/main" val="2164244274"/>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F5C90A90-9A5A-70C0-530A-5FAC777C97E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00493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DADD-981C-E4AD-400D-A6C9C804D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DC65A-F8D2-9CAE-8E7C-27A216DCFF74}"/>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a:extLst>
              <a:ext uri="{FF2B5EF4-FFF2-40B4-BE49-F238E27FC236}">
                <a16:creationId xmlns:a16="http://schemas.microsoft.com/office/drawing/2014/main" id="{589585D0-DEB3-BBFA-A03C-14772750264C}"/>
              </a:ext>
            </a:extLst>
          </p:cNvPr>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B/C?</a:t>
            </a:r>
          </a:p>
        </p:txBody>
      </p:sp>
      <p:cxnSp>
        <p:nvCxnSpPr>
          <p:cNvPr id="7" name="Straight Arrow Connector 6">
            <a:extLst>
              <a:ext uri="{FF2B5EF4-FFF2-40B4-BE49-F238E27FC236}">
                <a16:creationId xmlns:a16="http://schemas.microsoft.com/office/drawing/2014/main" id="{83742199-3A12-9363-4CA8-B882CBF5ED2F}"/>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8100A41-2198-5444-677B-AD487605DEEB}"/>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6BE3439-02D0-8495-7CDA-A0DDB21840F9}"/>
              </a:ext>
            </a:extLst>
          </p:cNvPr>
          <p:cNvSpPr>
            <a:spLocks/>
          </p:cNvSpPr>
          <p:nvPr/>
        </p:nvSpPr>
        <p:spPr bwMode="auto">
          <a:xfrm flipH="1">
            <a:off x="2585254"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873D0FF8-CEBF-8635-2D61-8D60A4462E9A}"/>
              </a:ext>
            </a:extLst>
          </p:cNvPr>
          <p:cNvSpPr>
            <a:spLocks/>
          </p:cNvSpPr>
          <p:nvPr/>
        </p:nvSpPr>
        <p:spPr bwMode="auto">
          <a:xfrm>
            <a:off x="4377504" y="351136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E77CC9C4-99CC-2B45-B9E3-7604400A1C97}"/>
              </a:ext>
            </a:extLst>
          </p:cNvPr>
          <p:cNvSpPr>
            <a:spLocks/>
          </p:cNvSpPr>
          <p:nvPr/>
        </p:nvSpPr>
        <p:spPr bwMode="auto">
          <a:xfrm>
            <a:off x="1728808"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94597C81-853B-FDE9-D34F-2064EB13AA3D}"/>
              </a:ext>
            </a:extLst>
          </p:cNvPr>
          <p:cNvSpPr>
            <a:spLocks/>
          </p:cNvSpPr>
          <p:nvPr/>
        </p:nvSpPr>
        <p:spPr bwMode="auto">
          <a:xfrm>
            <a:off x="3922367"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D8B5B27F-59B6-4607-32FF-363F3BE668BA}"/>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0236752-BB7A-2593-B493-B433A8422D03}"/>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00E928F5-04C1-A940-3111-2AC9D8FD52A3}"/>
              </a:ext>
            </a:extLst>
          </p:cNvPr>
          <p:cNvSpPr>
            <a:spLocks/>
          </p:cNvSpPr>
          <p:nvPr/>
        </p:nvSpPr>
        <p:spPr bwMode="auto">
          <a:xfrm flipH="1">
            <a:off x="6977106"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B03D3A8F-B8CC-3186-A5D5-9CB76E44446A}"/>
              </a:ext>
            </a:extLst>
          </p:cNvPr>
          <p:cNvSpPr>
            <a:spLocks/>
          </p:cNvSpPr>
          <p:nvPr/>
        </p:nvSpPr>
        <p:spPr bwMode="auto">
          <a:xfrm>
            <a:off x="8769355" y="34407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4DDAB4B4-653D-C36E-13E6-935FEB429B17}"/>
              </a:ext>
            </a:extLst>
          </p:cNvPr>
          <p:cNvSpPr>
            <a:spLocks/>
          </p:cNvSpPr>
          <p:nvPr/>
        </p:nvSpPr>
        <p:spPr bwMode="auto">
          <a:xfrm>
            <a:off x="6099387"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A9058E33-7F4B-34D1-9D81-027940B95E7E}"/>
              </a:ext>
            </a:extLst>
          </p:cNvPr>
          <p:cNvSpPr>
            <a:spLocks/>
          </p:cNvSpPr>
          <p:nvPr/>
        </p:nvSpPr>
        <p:spPr bwMode="auto">
          <a:xfrm>
            <a:off x="8314219"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B377F048-6E27-DFE1-7065-2AE20DE2DE84}"/>
              </a:ext>
            </a:extLst>
          </p:cNvPr>
          <p:cNvSpPr>
            <a:spLocks/>
          </p:cNvSpPr>
          <p:nvPr/>
        </p:nvSpPr>
        <p:spPr bwMode="auto">
          <a:xfrm>
            <a:off x="7837760" y="34368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BAC6E6C4-2BBF-C3A6-CD40-FF4687A8D978}"/>
              </a:ext>
            </a:extLst>
          </p:cNvPr>
          <p:cNvSpPr>
            <a:spLocks/>
          </p:cNvSpPr>
          <p:nvPr/>
        </p:nvSpPr>
        <p:spPr bwMode="auto">
          <a:xfrm>
            <a:off x="7367564" y="25920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3F5C962F-B1E6-2FC5-CDA8-1CBAFBADBE22}"/>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ED4C167-ECF6-A388-D9C0-B5AE9D75AB57}"/>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16437B8C-C745-93BE-3690-61FDEE24BCDC}"/>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535E5554-0E19-0677-06B9-2DA5B1E239B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D137037-2AF6-AF90-8509-E66FC32E8F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82AF669A-2567-21A1-32F2-12E44C643FD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FA7466D5-8174-F9CD-910A-72CAC52140F5}"/>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FECF2C3-53AA-0BC0-0995-C1598015FC91}"/>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312C10D8-09BB-8251-FC50-F1A28CC130CB}"/>
              </a:ext>
            </a:extLst>
          </p:cNvPr>
          <p:cNvGraphicFramePr>
            <a:graphicFrameLocks noGrp="1"/>
          </p:cNvGraphicFramePr>
          <p:nvPr>
            <p:extLst>
              <p:ext uri="{D42A27DB-BD31-4B8C-83A1-F6EECF244321}">
                <p14:modId xmlns:p14="http://schemas.microsoft.com/office/powerpoint/2010/main" val="2894988712"/>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1,14</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CC7F7352-18D1-5E99-C617-55FC081B1478}"/>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569431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05C23-7D5D-852D-265E-9AD5BA866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21D1-61BE-74CE-4B48-088820434376}"/>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a:extLst>
              <a:ext uri="{FF2B5EF4-FFF2-40B4-BE49-F238E27FC236}">
                <a16:creationId xmlns:a16="http://schemas.microsoft.com/office/drawing/2014/main" id="{CEF91C46-EE05-FF5D-3A0E-A29E0CFA6939}"/>
              </a:ext>
            </a:extLst>
          </p:cNvPr>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VAE?</a:t>
            </a:r>
          </a:p>
        </p:txBody>
      </p:sp>
      <p:cxnSp>
        <p:nvCxnSpPr>
          <p:cNvPr id="7" name="Straight Arrow Connector 6">
            <a:extLst>
              <a:ext uri="{FF2B5EF4-FFF2-40B4-BE49-F238E27FC236}">
                <a16:creationId xmlns:a16="http://schemas.microsoft.com/office/drawing/2014/main" id="{57CDB682-E354-B0D2-16E9-46550F22EFDE}"/>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61914F0-846C-EEE8-1416-8B9CA6239E0D}"/>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1AF48FB5-9836-14A0-5C3C-04CE940B0C41}"/>
              </a:ext>
            </a:extLst>
          </p:cNvPr>
          <p:cNvSpPr>
            <a:spLocks/>
          </p:cNvSpPr>
          <p:nvPr/>
        </p:nvSpPr>
        <p:spPr bwMode="auto">
          <a:xfrm flipH="1">
            <a:off x="2585254"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04EF242B-08E1-A9D2-8E20-413FAEE4E856}"/>
              </a:ext>
            </a:extLst>
          </p:cNvPr>
          <p:cNvSpPr>
            <a:spLocks/>
          </p:cNvSpPr>
          <p:nvPr/>
        </p:nvSpPr>
        <p:spPr bwMode="auto">
          <a:xfrm>
            <a:off x="4377504" y="3511362"/>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79E9FEDB-E22D-C403-F124-DF9725467F53}"/>
              </a:ext>
            </a:extLst>
          </p:cNvPr>
          <p:cNvSpPr>
            <a:spLocks/>
          </p:cNvSpPr>
          <p:nvPr/>
        </p:nvSpPr>
        <p:spPr bwMode="auto">
          <a:xfrm>
            <a:off x="1728808"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90D9A0B1-611D-706F-1C39-9150FB99E67F}"/>
              </a:ext>
            </a:extLst>
          </p:cNvPr>
          <p:cNvSpPr>
            <a:spLocks/>
          </p:cNvSpPr>
          <p:nvPr/>
        </p:nvSpPr>
        <p:spPr bwMode="auto">
          <a:xfrm>
            <a:off x="3922367"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95946767-C621-423F-D065-0BABBEBD0A9B}"/>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C4F8D1D-72A4-FDA1-9CFB-5B927CB01A37}"/>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51E8AD12-12CC-42D3-8659-00911132E666}"/>
              </a:ext>
            </a:extLst>
          </p:cNvPr>
          <p:cNvSpPr>
            <a:spLocks/>
          </p:cNvSpPr>
          <p:nvPr/>
        </p:nvSpPr>
        <p:spPr bwMode="auto">
          <a:xfrm flipH="1">
            <a:off x="6977106"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9FBAACC1-5806-C867-EDBA-1AAEA5906742}"/>
              </a:ext>
            </a:extLst>
          </p:cNvPr>
          <p:cNvSpPr>
            <a:spLocks/>
          </p:cNvSpPr>
          <p:nvPr/>
        </p:nvSpPr>
        <p:spPr bwMode="auto">
          <a:xfrm>
            <a:off x="8769355" y="344074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542292AF-EAE7-BD93-8AB9-81B197A0ADA1}"/>
              </a:ext>
            </a:extLst>
          </p:cNvPr>
          <p:cNvSpPr>
            <a:spLocks/>
          </p:cNvSpPr>
          <p:nvPr/>
        </p:nvSpPr>
        <p:spPr bwMode="auto">
          <a:xfrm>
            <a:off x="6099387"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DC4CE82B-D511-C891-BC85-4B09742B7B6B}"/>
              </a:ext>
            </a:extLst>
          </p:cNvPr>
          <p:cNvSpPr>
            <a:spLocks/>
          </p:cNvSpPr>
          <p:nvPr/>
        </p:nvSpPr>
        <p:spPr bwMode="auto">
          <a:xfrm>
            <a:off x="8314219"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28F70D21-2193-ABA1-37CB-0178D514536C}"/>
              </a:ext>
            </a:extLst>
          </p:cNvPr>
          <p:cNvSpPr>
            <a:spLocks/>
          </p:cNvSpPr>
          <p:nvPr/>
        </p:nvSpPr>
        <p:spPr bwMode="auto">
          <a:xfrm>
            <a:off x="7837760" y="343685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A2A29CDB-D648-52C5-2E78-1A1CEF1B9508}"/>
              </a:ext>
            </a:extLst>
          </p:cNvPr>
          <p:cNvSpPr>
            <a:spLocks/>
          </p:cNvSpPr>
          <p:nvPr/>
        </p:nvSpPr>
        <p:spPr bwMode="auto">
          <a:xfrm>
            <a:off x="7367564" y="2592049"/>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1C7B0C2A-1379-5512-A7C5-4F1917A0523C}"/>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39B894E-80A0-28AD-AB29-293A1E3BF354}"/>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CFC54440-F4F3-9844-4942-7A1031A44455}"/>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C301AE23-2200-C520-3DB0-005A895761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F3A9E6A1-D35A-F757-9090-40E20C161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AAD0B32F-AA37-DC1B-0DC2-E4F8AB46496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3CD31B71-E464-EB0F-A3E5-8B4627E6E35F}"/>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F58F8A8-A300-0CDF-0E3B-0007B8F9B72E}"/>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1A9F5E40-5E2E-0C83-3500-E527FB1026F2}"/>
              </a:ext>
            </a:extLst>
          </p:cNvPr>
          <p:cNvGraphicFramePr>
            <a:graphicFrameLocks noGrp="1"/>
          </p:cNvGraphicFramePr>
          <p:nvPr>
            <p:extLst>
              <p:ext uri="{D42A27DB-BD31-4B8C-83A1-F6EECF244321}">
                <p14:modId xmlns:p14="http://schemas.microsoft.com/office/powerpoint/2010/main" val="3286271287"/>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1,14</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87</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79</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D7BBB1D4-A326-2575-10FC-97C0925EA55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28901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2D4B6-B5AD-0275-4B75-793438628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B57F5-FE61-9C54-A656-DF2E6752E2ED}"/>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cxnSp>
        <p:nvCxnSpPr>
          <p:cNvPr id="7" name="Straight Arrow Connector 6">
            <a:extLst>
              <a:ext uri="{FF2B5EF4-FFF2-40B4-BE49-F238E27FC236}">
                <a16:creationId xmlns:a16="http://schemas.microsoft.com/office/drawing/2014/main" id="{57399AE6-7E37-5E3C-4C35-F0C63C740397}"/>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74D9E5E0-9309-2989-369C-CD48C63C0495}"/>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A94D9976-A420-ACFE-FBB7-9FCF4D9A87BB}"/>
              </a:ext>
            </a:extLst>
          </p:cNvPr>
          <p:cNvSpPr>
            <a:spLocks/>
          </p:cNvSpPr>
          <p:nvPr/>
        </p:nvSpPr>
        <p:spPr bwMode="auto">
          <a:xfrm flipH="1">
            <a:off x="2585254"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7604156C-6EC4-820D-11C3-A134E4534839}"/>
              </a:ext>
            </a:extLst>
          </p:cNvPr>
          <p:cNvSpPr>
            <a:spLocks/>
          </p:cNvSpPr>
          <p:nvPr/>
        </p:nvSpPr>
        <p:spPr bwMode="auto">
          <a:xfrm>
            <a:off x="4377504" y="351136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87CB70EB-418A-3246-955A-A1BE5F1A7966}"/>
              </a:ext>
            </a:extLst>
          </p:cNvPr>
          <p:cNvSpPr>
            <a:spLocks/>
          </p:cNvSpPr>
          <p:nvPr/>
        </p:nvSpPr>
        <p:spPr bwMode="auto">
          <a:xfrm>
            <a:off x="1728808"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9D5EF180-F8C2-23D5-AEB7-4E1CD7A233D8}"/>
              </a:ext>
            </a:extLst>
          </p:cNvPr>
          <p:cNvSpPr>
            <a:spLocks/>
          </p:cNvSpPr>
          <p:nvPr/>
        </p:nvSpPr>
        <p:spPr bwMode="auto">
          <a:xfrm>
            <a:off x="3922367"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BFEE5214-8D3F-7659-AB29-41E202EC38E2}"/>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0C96F60-601B-C1A4-5B54-0EEC7A62A617}"/>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2F6EA1E7-BD5E-D320-D797-6836EB471E72}"/>
              </a:ext>
            </a:extLst>
          </p:cNvPr>
          <p:cNvSpPr>
            <a:spLocks/>
          </p:cNvSpPr>
          <p:nvPr/>
        </p:nvSpPr>
        <p:spPr bwMode="auto">
          <a:xfrm flipH="1">
            <a:off x="6977106"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67608C13-1E40-C5D6-FD22-2FE1A5E2A495}"/>
              </a:ext>
            </a:extLst>
          </p:cNvPr>
          <p:cNvSpPr>
            <a:spLocks/>
          </p:cNvSpPr>
          <p:nvPr/>
        </p:nvSpPr>
        <p:spPr bwMode="auto">
          <a:xfrm>
            <a:off x="8769355" y="34407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31CD760F-88A0-58D2-4407-FF5B3F56E606}"/>
              </a:ext>
            </a:extLst>
          </p:cNvPr>
          <p:cNvSpPr>
            <a:spLocks/>
          </p:cNvSpPr>
          <p:nvPr/>
        </p:nvSpPr>
        <p:spPr bwMode="auto">
          <a:xfrm>
            <a:off x="6099387"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CD0700B5-D31D-F620-AA84-67C792B2DA3D}"/>
              </a:ext>
            </a:extLst>
          </p:cNvPr>
          <p:cNvSpPr>
            <a:spLocks/>
          </p:cNvSpPr>
          <p:nvPr/>
        </p:nvSpPr>
        <p:spPr bwMode="auto">
          <a:xfrm>
            <a:off x="8314219"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1CE0DD33-6263-523C-8960-551AAC514C3B}"/>
              </a:ext>
            </a:extLst>
          </p:cNvPr>
          <p:cNvSpPr>
            <a:spLocks/>
          </p:cNvSpPr>
          <p:nvPr/>
        </p:nvSpPr>
        <p:spPr bwMode="auto">
          <a:xfrm>
            <a:off x="7837760" y="34368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9DE6FBBB-6A41-26AF-3861-EF744FB3A942}"/>
              </a:ext>
            </a:extLst>
          </p:cNvPr>
          <p:cNvSpPr>
            <a:spLocks/>
          </p:cNvSpPr>
          <p:nvPr/>
        </p:nvSpPr>
        <p:spPr bwMode="auto">
          <a:xfrm>
            <a:off x="7367564" y="25920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921510E7-DA07-97C1-77CC-931C514A21BE}"/>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26B62E8-45B6-CF5D-EC39-093E1570180C}"/>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0746701D-40EF-E80C-F019-7E4594CDD9DC}"/>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AEA5E451-2972-234A-6255-F5D40E6045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D530021F-A5A2-4B90-8058-2CBD4C4A9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23721D64-899D-B778-1175-950B9A1E945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372D8666-7CD6-F993-F961-90C09B64B5B8}"/>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9059A54-FFF8-6E0E-D62B-993B2C1CCA14}"/>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547B84F1-BC02-806D-5570-61FA2C321FD1}"/>
              </a:ext>
            </a:extLst>
          </p:cNvPr>
          <p:cNvSpPr txBox="1">
            <a:spLocks/>
          </p:cNvSpPr>
          <p:nvPr/>
        </p:nvSpPr>
        <p:spPr>
          <a:xfrm>
            <a:off x="1920343" y="4504972"/>
            <a:ext cx="7610476" cy="116948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000" b="1" dirty="0">
                <a:solidFill>
                  <a:srgbClr val="D7A700"/>
                </a:solidFill>
                <a:latin typeface="Century Gothic" panose="020B0502020202020204" pitchFamily="34" charset="0"/>
              </a:rPr>
              <a:t>¿Hay consistencia?</a:t>
            </a:r>
          </a:p>
        </p:txBody>
      </p:sp>
      <p:sp>
        <p:nvSpPr>
          <p:cNvPr id="3" name="Slide Number Placeholder 3">
            <a:extLst>
              <a:ext uri="{FF2B5EF4-FFF2-40B4-BE49-F238E27FC236}">
                <a16:creationId xmlns:a16="http://schemas.microsoft.com/office/drawing/2014/main" id="{5DB2E4B3-20AB-B1AF-2DE3-292C3B4092A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65323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581192" y="2154739"/>
            <a:ext cx="8664408" cy="4166523"/>
          </a:xfrm>
        </p:spPr>
        <p:txBody>
          <a:bodyPr>
            <a:normAutofit/>
          </a:bodyPr>
          <a:lstStyle/>
          <a:p>
            <a:pPr algn="ctr">
              <a:buFont typeface="Wingdings" panose="05000000000000000000" pitchFamily="2" charset="2"/>
              <a:buChar char="§"/>
            </a:pPr>
            <a:r>
              <a:rPr lang="es-ES_tradnl" sz="2000" dirty="0">
                <a:solidFill>
                  <a:schemeClr val="accent1"/>
                </a:solidFill>
                <a:latin typeface="Century Gothic" panose="020B0502020202020204" pitchFamily="34" charset="0"/>
              </a:rPr>
              <a:t>Pudimos observar que el VPN, la relación B/C y el VAE nos dan un ordenamiento consistente.</a:t>
            </a:r>
          </a:p>
          <a:p>
            <a:pPr algn="ctr">
              <a:buFont typeface="Wingdings" panose="05000000000000000000" pitchFamily="2" charset="2"/>
              <a:buChar char="§"/>
            </a:pPr>
            <a:endParaRPr lang="es-ES_tradnl" sz="2000" dirty="0">
              <a:solidFill>
                <a:schemeClr val="accent1"/>
              </a:solidFill>
              <a:latin typeface="Century Gothic" panose="020B0502020202020204" pitchFamily="34" charset="0"/>
            </a:endParaRPr>
          </a:p>
          <a:p>
            <a:pPr algn="ctr">
              <a:buFont typeface="Wingdings" panose="05000000000000000000" pitchFamily="2" charset="2"/>
              <a:buChar char="§"/>
            </a:pPr>
            <a:r>
              <a:rPr lang="es-ES_tradnl" sz="2000" dirty="0">
                <a:solidFill>
                  <a:schemeClr val="accent1"/>
                </a:solidFill>
                <a:latin typeface="Century Gothic" panose="020B0502020202020204" pitchFamily="34" charset="0"/>
              </a:rPr>
              <a:t>No obstante, </a:t>
            </a:r>
            <a:r>
              <a:rPr lang="es-ES_tradnl" sz="2000" b="1" dirty="0">
                <a:solidFill>
                  <a:srgbClr val="D7A700"/>
                </a:solidFill>
                <a:latin typeface="Century Gothic" panose="020B0502020202020204" pitchFamily="34" charset="0"/>
              </a:rPr>
              <a:t>la TIR da un ordenamiento distinto</a:t>
            </a:r>
            <a:r>
              <a:rPr lang="es-ES_tradnl" sz="2000" dirty="0">
                <a:solidFill>
                  <a:schemeClr val="accent1"/>
                </a:solidFill>
                <a:latin typeface="Century Gothic" panose="020B0502020202020204" pitchFamily="34" charset="0"/>
              </a:rPr>
              <a:t>. ¿Por qué?</a:t>
            </a:r>
          </a:p>
          <a:p>
            <a:pPr algn="ctr">
              <a:buFont typeface="Wingdings" panose="05000000000000000000" pitchFamily="2" charset="2"/>
              <a:buChar char="§"/>
            </a:pPr>
            <a:endParaRPr lang="es-ES_tradnl" sz="2000" dirty="0">
              <a:solidFill>
                <a:schemeClr val="accent1"/>
              </a:solidFill>
              <a:latin typeface="Century Gothic" panose="020B0502020202020204" pitchFamily="34" charset="0"/>
            </a:endParaRPr>
          </a:p>
          <a:p>
            <a:pPr algn="ctr">
              <a:buFont typeface="Wingdings" panose="05000000000000000000" pitchFamily="2" charset="2"/>
              <a:buChar char="§"/>
            </a:pPr>
            <a:r>
              <a:rPr lang="es-ES_tradnl" sz="2000" dirty="0">
                <a:solidFill>
                  <a:schemeClr val="accent1"/>
                </a:solidFill>
                <a:latin typeface="Century Gothic" panose="020B0502020202020204" pitchFamily="34" charset="0"/>
              </a:rPr>
              <a:t>Recordemos </a:t>
            </a:r>
            <a:r>
              <a:rPr lang="es-ES_tradnl" sz="2000" b="1" dirty="0">
                <a:solidFill>
                  <a:srgbClr val="C00000"/>
                </a:solidFill>
                <a:latin typeface="Century Gothic" panose="020B0502020202020204" pitchFamily="34" charset="0"/>
              </a:rPr>
              <a:t>los supuestos de la TIR</a:t>
            </a:r>
            <a:r>
              <a:rPr lang="es-ES_tradnl" sz="2000" dirty="0">
                <a:solidFill>
                  <a:schemeClr val="accent1"/>
                </a:solidFill>
                <a:latin typeface="Century Gothic" panose="020B0502020202020204" pitchFamily="34" charset="0"/>
              </a:rPr>
              <a:t>; reinversión de los flujos a la TIR del proyecto.</a:t>
            </a:r>
          </a:p>
          <a:p>
            <a:pPr algn="ctr">
              <a:buFont typeface="Wingdings" panose="05000000000000000000" pitchFamily="2" charset="2"/>
              <a:buChar char="§"/>
            </a:pPr>
            <a:endParaRPr lang="es-ES_tradnl" sz="2000" dirty="0">
              <a:solidFill>
                <a:schemeClr val="accent1"/>
              </a:solidFill>
              <a:latin typeface="Century Gothic" panose="020B0502020202020204" pitchFamily="34" charset="0"/>
            </a:endParaRPr>
          </a:p>
          <a:p>
            <a:pPr algn="ctr">
              <a:buFont typeface="Wingdings" panose="05000000000000000000" pitchFamily="2" charset="2"/>
              <a:buChar char="§"/>
            </a:pPr>
            <a:r>
              <a:rPr lang="es-ES_tradnl" sz="2000" dirty="0">
                <a:solidFill>
                  <a:schemeClr val="accent1"/>
                </a:solidFill>
                <a:latin typeface="Century Gothic" panose="020B0502020202020204" pitchFamily="34" charset="0"/>
              </a:rPr>
              <a:t>Utilicemos ahora, para solucionar lo anterior, la TVR. ¿Da consistente?</a:t>
            </a:r>
          </a:p>
        </p:txBody>
      </p:sp>
      <p:pic>
        <p:nvPicPr>
          <p:cNvPr id="7" name="Imagen 6">
            <a:extLst>
              <a:ext uri="{FF2B5EF4-FFF2-40B4-BE49-F238E27FC236}">
                <a16:creationId xmlns:a16="http://schemas.microsoft.com/office/drawing/2014/main" id="{F70BE7AF-9E75-EA86-DE41-5D31BA851770}"/>
              </a:ext>
            </a:extLst>
          </p:cNvPr>
          <p:cNvPicPr>
            <a:picLocks noChangeAspect="1"/>
          </p:cNvPicPr>
          <p:nvPr/>
        </p:nvPicPr>
        <p:blipFill>
          <a:blip r:embed="rId2"/>
          <a:stretch>
            <a:fillRect/>
          </a:stretch>
        </p:blipFill>
        <p:spPr>
          <a:xfrm>
            <a:off x="9175374" y="3168295"/>
            <a:ext cx="2708315" cy="1906716"/>
          </a:xfrm>
          <a:prstGeom prst="rect">
            <a:avLst/>
          </a:prstGeom>
        </p:spPr>
      </p:pic>
      <p:sp>
        <p:nvSpPr>
          <p:cNvPr id="5" name="Rectángulo 4">
            <a:extLst>
              <a:ext uri="{FF2B5EF4-FFF2-40B4-BE49-F238E27FC236}">
                <a16:creationId xmlns:a16="http://schemas.microsoft.com/office/drawing/2014/main" id="{BEB362F9-ABCA-0009-7F0F-7114DA4141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68F84CF-3864-8F8E-0E54-211140263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E22F416-CF53-0CDA-6DA9-66DCABE8E53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AD9762C5-8142-E6C5-E34E-261A0BBE381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6520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A2397-9B1C-7211-307E-063FED4C4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B20C7-F611-2B1E-24BA-D0093CBF6493}"/>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cxnSp>
        <p:nvCxnSpPr>
          <p:cNvPr id="7" name="Straight Arrow Connector 6">
            <a:extLst>
              <a:ext uri="{FF2B5EF4-FFF2-40B4-BE49-F238E27FC236}">
                <a16:creationId xmlns:a16="http://schemas.microsoft.com/office/drawing/2014/main" id="{81FAC44D-B4A3-B0DD-3A3C-809BC6E92039}"/>
              </a:ext>
            </a:extLst>
          </p:cNvPr>
          <p:cNvCxnSpPr>
            <a:cxnSpLocks/>
          </p:cNvCxnSpPr>
          <p:nvPr/>
        </p:nvCxnSpPr>
        <p:spPr>
          <a:xfrm>
            <a:off x="2969305" y="3257885"/>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5EF2812-FEB2-8A1A-7BBF-11CEC1D5115E}"/>
              </a:ext>
            </a:extLst>
          </p:cNvPr>
          <p:cNvCxnSpPr/>
          <p:nvPr/>
        </p:nvCxnSpPr>
        <p:spPr>
          <a:xfrm flipV="1">
            <a:off x="4859543" y="279915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307F09F4-0259-2F0C-E77A-23E86CA7043F}"/>
              </a:ext>
            </a:extLst>
          </p:cNvPr>
          <p:cNvSpPr>
            <a:spLocks/>
          </p:cNvSpPr>
          <p:nvPr/>
        </p:nvSpPr>
        <p:spPr bwMode="auto">
          <a:xfrm flipH="1">
            <a:off x="2883704" y="2914665"/>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208454A2-5930-E7B5-9CAD-E834AD54AE37}"/>
              </a:ext>
            </a:extLst>
          </p:cNvPr>
          <p:cNvSpPr>
            <a:spLocks/>
          </p:cNvSpPr>
          <p:nvPr/>
        </p:nvSpPr>
        <p:spPr bwMode="auto">
          <a:xfrm>
            <a:off x="4675954" y="338099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33594825-7BCE-71DF-9E77-7949C582E238}"/>
              </a:ext>
            </a:extLst>
          </p:cNvPr>
          <p:cNvSpPr>
            <a:spLocks/>
          </p:cNvSpPr>
          <p:nvPr/>
        </p:nvSpPr>
        <p:spPr bwMode="auto">
          <a:xfrm>
            <a:off x="2027258" y="3971277"/>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BE5CACAA-0C24-6DF3-DFF1-B5DAC0A0B3E1}"/>
              </a:ext>
            </a:extLst>
          </p:cNvPr>
          <p:cNvSpPr>
            <a:spLocks/>
          </p:cNvSpPr>
          <p:nvPr/>
        </p:nvSpPr>
        <p:spPr bwMode="auto">
          <a:xfrm>
            <a:off x="4220817" y="2432393"/>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9A85E7AA-9A30-B5AE-63E3-846315C679E1}"/>
              </a:ext>
            </a:extLst>
          </p:cNvPr>
          <p:cNvCxnSpPr>
            <a:cxnSpLocks/>
          </p:cNvCxnSpPr>
          <p:nvPr/>
        </p:nvCxnSpPr>
        <p:spPr>
          <a:xfrm>
            <a:off x="7361157" y="3271615"/>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DB652B7-733F-18E9-A27A-B35BC3541A71}"/>
              </a:ext>
            </a:extLst>
          </p:cNvPr>
          <p:cNvCxnSpPr/>
          <p:nvPr/>
        </p:nvCxnSpPr>
        <p:spPr>
          <a:xfrm flipV="1">
            <a:off x="9251395" y="279915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413A3AD3-D1CC-1BB3-CEEA-E4497E407735}"/>
              </a:ext>
            </a:extLst>
          </p:cNvPr>
          <p:cNvSpPr>
            <a:spLocks/>
          </p:cNvSpPr>
          <p:nvPr/>
        </p:nvSpPr>
        <p:spPr bwMode="auto">
          <a:xfrm flipH="1">
            <a:off x="7275556" y="2914665"/>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559F9757-9072-D7CF-6C69-11AD9C0B2636}"/>
              </a:ext>
            </a:extLst>
          </p:cNvPr>
          <p:cNvSpPr>
            <a:spLocks/>
          </p:cNvSpPr>
          <p:nvPr/>
        </p:nvSpPr>
        <p:spPr bwMode="auto">
          <a:xfrm>
            <a:off x="9067805" y="331037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38162363-F850-3792-AD3A-293E315DD45B}"/>
              </a:ext>
            </a:extLst>
          </p:cNvPr>
          <p:cNvSpPr>
            <a:spLocks/>
          </p:cNvSpPr>
          <p:nvPr/>
        </p:nvSpPr>
        <p:spPr bwMode="auto">
          <a:xfrm>
            <a:off x="6397837" y="3971277"/>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F0F110C0-F67E-85C1-D70A-FC8A7BD3DBA3}"/>
              </a:ext>
            </a:extLst>
          </p:cNvPr>
          <p:cNvSpPr>
            <a:spLocks/>
          </p:cNvSpPr>
          <p:nvPr/>
        </p:nvSpPr>
        <p:spPr bwMode="auto">
          <a:xfrm>
            <a:off x="8612669" y="2432393"/>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EA8690EE-C9C4-AFB7-8256-A6A999F42606}"/>
              </a:ext>
            </a:extLst>
          </p:cNvPr>
          <p:cNvSpPr>
            <a:spLocks/>
          </p:cNvSpPr>
          <p:nvPr/>
        </p:nvSpPr>
        <p:spPr bwMode="auto">
          <a:xfrm>
            <a:off x="8136210" y="330648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B2434516-CF71-8C5E-B80A-FDBED2C73E15}"/>
              </a:ext>
            </a:extLst>
          </p:cNvPr>
          <p:cNvSpPr>
            <a:spLocks/>
          </p:cNvSpPr>
          <p:nvPr/>
        </p:nvSpPr>
        <p:spPr bwMode="auto">
          <a:xfrm>
            <a:off x="7666014" y="2461682"/>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E224EC15-366C-748D-F414-DCA137B9B482}"/>
              </a:ext>
            </a:extLst>
          </p:cNvPr>
          <p:cNvCxnSpPr/>
          <p:nvPr/>
        </p:nvCxnSpPr>
        <p:spPr>
          <a:xfrm flipV="1">
            <a:off x="8304740" y="279915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2F16ADA-90C6-21A1-3CFD-B6F2ED29DDF1}"/>
              </a:ext>
            </a:extLst>
          </p:cNvPr>
          <p:cNvSpPr txBox="1"/>
          <p:nvPr/>
        </p:nvSpPr>
        <p:spPr>
          <a:xfrm>
            <a:off x="3237921" y="1900931"/>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BCAA64CF-274A-BBA4-3951-B3845445FBC0}"/>
              </a:ext>
            </a:extLst>
          </p:cNvPr>
          <p:cNvSpPr txBox="1"/>
          <p:nvPr/>
        </p:nvSpPr>
        <p:spPr>
          <a:xfrm>
            <a:off x="7854340" y="1871642"/>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7B8017D0-E51E-E15D-BD6E-6D8598F823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CC0640C2-66EA-98A5-6FBD-51FA652F6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F205613F-F4D3-3868-35E6-0F770E5A4BF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ABADA490-4060-8724-2BA9-9CE5EAEB2853}"/>
              </a:ext>
            </a:extLst>
          </p:cNvPr>
          <p:cNvCxnSpPr/>
          <p:nvPr/>
        </p:nvCxnSpPr>
        <p:spPr>
          <a:xfrm>
            <a:off x="2969305" y="3257884"/>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FBB82D2-7DB7-D760-9055-67EAF9C95A28}"/>
              </a:ext>
            </a:extLst>
          </p:cNvPr>
          <p:cNvCxnSpPr/>
          <p:nvPr/>
        </p:nvCxnSpPr>
        <p:spPr>
          <a:xfrm>
            <a:off x="7361157" y="3271615"/>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6D87C793-2D58-6655-88DE-473F983656E9}"/>
              </a:ext>
            </a:extLst>
          </p:cNvPr>
          <p:cNvGraphicFramePr>
            <a:graphicFrameLocks noGrp="1"/>
          </p:cNvGraphicFramePr>
          <p:nvPr>
            <p:extLst>
              <p:ext uri="{D42A27DB-BD31-4B8C-83A1-F6EECF244321}">
                <p14:modId xmlns:p14="http://schemas.microsoft.com/office/powerpoint/2010/main" val="1315489084"/>
              </p:ext>
            </p:extLst>
          </p:nvPr>
        </p:nvGraphicFramePr>
        <p:xfrm>
          <a:off x="2290762" y="4437607"/>
          <a:ext cx="7610480" cy="2225040"/>
        </p:xfrm>
        <a:graphic>
          <a:graphicData uri="http://schemas.openxmlformats.org/drawingml/2006/table">
            <a:tbl>
              <a:tblPr firstRow="1" bandRow="1">
                <a:tableStyleId>{5C22544A-7EE6-4342-B048-85BDC9FD1C3A}</a:tableStyleId>
              </a:tblPr>
              <a:tblGrid>
                <a:gridCol w="1902620">
                  <a:extLst>
                    <a:ext uri="{9D8B030D-6E8A-4147-A177-3AD203B41FA5}">
                      <a16:colId xmlns:a16="http://schemas.microsoft.com/office/drawing/2014/main" val="20000"/>
                    </a:ext>
                  </a:extLst>
                </a:gridCol>
                <a:gridCol w="1902620">
                  <a:extLst>
                    <a:ext uri="{9D8B030D-6E8A-4147-A177-3AD203B41FA5}">
                      <a16:colId xmlns:a16="http://schemas.microsoft.com/office/drawing/2014/main" val="20001"/>
                    </a:ext>
                  </a:extLst>
                </a:gridCol>
                <a:gridCol w="1902620">
                  <a:extLst>
                    <a:ext uri="{9D8B030D-6E8A-4147-A177-3AD203B41FA5}">
                      <a16:colId xmlns:a16="http://schemas.microsoft.com/office/drawing/2014/main" val="20002"/>
                    </a:ext>
                  </a:extLst>
                </a:gridCol>
                <a:gridCol w="1902620">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b="1" noProof="0" dirty="0">
                          <a:solidFill>
                            <a:srgbClr val="C00000"/>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1" noProof="0" dirty="0">
                          <a:solidFill>
                            <a:srgbClr val="C00000"/>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1" noProof="0" dirty="0">
                          <a:solidFill>
                            <a:srgbClr val="C00000"/>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1" noProof="0" dirty="0">
                          <a:solidFill>
                            <a:srgbClr val="C00000"/>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1,14</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87</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79</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17,28%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996382192"/>
                  </a:ext>
                </a:extLst>
              </a:tr>
            </a:tbl>
          </a:graphicData>
        </a:graphic>
      </p:graphicFrame>
      <p:sp>
        <p:nvSpPr>
          <p:cNvPr id="3" name="Slide Number Placeholder 3">
            <a:extLst>
              <a:ext uri="{FF2B5EF4-FFF2-40B4-BE49-F238E27FC236}">
                <a16:creationId xmlns:a16="http://schemas.microsoft.com/office/drawing/2014/main" id="{26D3BE00-4316-5BFA-65AB-C3F01CAE765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8250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1270183" y="2293359"/>
            <a:ext cx="6738938" cy="3085374"/>
          </a:xfrm>
        </p:spPr>
        <p:txBody>
          <a:bodyPr>
            <a:normAutofit/>
          </a:bodyPr>
          <a:lstStyle/>
          <a:p>
            <a:pPr marL="0" indent="0" algn="ctr">
              <a:buNone/>
            </a:pPr>
            <a:r>
              <a:rPr lang="es-ES_tradnl" sz="2400" b="1" dirty="0">
                <a:solidFill>
                  <a:srgbClr val="C00000"/>
                </a:solidFill>
                <a:latin typeface="Century Gothic" panose="020B0502020202020204" pitchFamily="34" charset="0"/>
              </a:rPr>
              <a:t>Es evidente como, si son utilizados de manera correcta, los IBF proporcionarán un ordenamiento consistente entre sí.</a:t>
            </a:r>
          </a:p>
        </p:txBody>
      </p:sp>
      <p:pic>
        <p:nvPicPr>
          <p:cNvPr id="12" name="Imagen 11">
            <a:extLst>
              <a:ext uri="{FF2B5EF4-FFF2-40B4-BE49-F238E27FC236}">
                <a16:creationId xmlns:a16="http://schemas.microsoft.com/office/drawing/2014/main" id="{7030CF80-0239-61CB-B8B4-CECE0D014A38}"/>
              </a:ext>
            </a:extLst>
          </p:cNvPr>
          <p:cNvPicPr>
            <a:picLocks noChangeAspect="1"/>
          </p:cNvPicPr>
          <p:nvPr/>
        </p:nvPicPr>
        <p:blipFill>
          <a:blip r:embed="rId2"/>
          <a:stretch>
            <a:fillRect/>
          </a:stretch>
        </p:blipFill>
        <p:spPr>
          <a:xfrm>
            <a:off x="8009121" y="2419653"/>
            <a:ext cx="3140698" cy="2832786"/>
          </a:xfrm>
          <a:prstGeom prst="rect">
            <a:avLst/>
          </a:prstGeom>
        </p:spPr>
      </p:pic>
      <p:sp>
        <p:nvSpPr>
          <p:cNvPr id="9" name="Rectángulo 8">
            <a:extLst>
              <a:ext uri="{FF2B5EF4-FFF2-40B4-BE49-F238E27FC236}">
                <a16:creationId xmlns:a16="http://schemas.microsoft.com/office/drawing/2014/main" id="{9D703DCD-C55F-E1EA-DB9C-DD3050D6BB0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2074BB2E-8248-29C4-55F0-557277AA1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60524FB-9A9C-38BC-0886-E18EC099E1D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03964BE5-2C33-59D7-B82F-90589605B928}"/>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63449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766218" y="2092175"/>
            <a:ext cx="10659564" cy="784784"/>
          </a:xfrm>
        </p:spPr>
        <p:txBody>
          <a:bodyPr>
            <a:normAutofit/>
          </a:bodyPr>
          <a:lstStyle/>
          <a:p>
            <a:pPr marL="0" indent="0" algn="just">
              <a:buNone/>
            </a:pPr>
            <a:r>
              <a:rPr lang="es-ES_tradnl" sz="2000" b="1" dirty="0">
                <a:solidFill>
                  <a:srgbClr val="C00000"/>
                </a:solidFill>
                <a:latin typeface="Century Gothic"/>
              </a:rPr>
              <a:t>Ejemplo 2: </a:t>
            </a:r>
            <a:r>
              <a:rPr lang="es-ES_tradnl" sz="2000" dirty="0">
                <a:latin typeface="Century Gothic"/>
              </a:rPr>
              <a:t>Usted tiene que escoger un mecanismo de generación eléctrica para el país: Eólica, Térmica o Hidráulica. Su costo de oportunidad es 5%.</a:t>
            </a:r>
            <a:endParaRPr lang="es-ES" sz="2400" dirty="0">
              <a:latin typeface="Century Gothic"/>
            </a:endParaRPr>
          </a:p>
        </p:txBody>
      </p:sp>
      <p:graphicFrame>
        <p:nvGraphicFramePr>
          <p:cNvPr id="5" name="Table 4"/>
          <p:cNvGraphicFramePr>
            <a:graphicFrameLocks noGrp="1"/>
          </p:cNvGraphicFramePr>
          <p:nvPr>
            <p:extLst>
              <p:ext uri="{D42A27DB-BD31-4B8C-83A1-F6EECF244321}">
                <p14:modId xmlns:p14="http://schemas.microsoft.com/office/powerpoint/2010/main" val="3736872424"/>
              </p:ext>
            </p:extLst>
          </p:nvPr>
        </p:nvGraphicFramePr>
        <p:xfrm>
          <a:off x="1291401" y="3253178"/>
          <a:ext cx="9609198" cy="2035192"/>
        </p:xfrm>
        <a:graphic>
          <a:graphicData uri="http://schemas.openxmlformats.org/drawingml/2006/table">
            <a:tbl>
              <a:tblPr firstRow="1" bandRow="1">
                <a:tableStyleId>{5C22544A-7EE6-4342-B048-85BDC9FD1C3A}</a:tableStyleId>
              </a:tblPr>
              <a:tblGrid>
                <a:gridCol w="1601533">
                  <a:extLst>
                    <a:ext uri="{9D8B030D-6E8A-4147-A177-3AD203B41FA5}">
                      <a16:colId xmlns:a16="http://schemas.microsoft.com/office/drawing/2014/main" val="20000"/>
                    </a:ext>
                  </a:extLst>
                </a:gridCol>
                <a:gridCol w="1601533">
                  <a:extLst>
                    <a:ext uri="{9D8B030D-6E8A-4147-A177-3AD203B41FA5}">
                      <a16:colId xmlns:a16="http://schemas.microsoft.com/office/drawing/2014/main" val="20001"/>
                    </a:ext>
                  </a:extLst>
                </a:gridCol>
                <a:gridCol w="1601533">
                  <a:extLst>
                    <a:ext uri="{9D8B030D-6E8A-4147-A177-3AD203B41FA5}">
                      <a16:colId xmlns:a16="http://schemas.microsoft.com/office/drawing/2014/main" val="20002"/>
                    </a:ext>
                  </a:extLst>
                </a:gridCol>
                <a:gridCol w="1601533">
                  <a:extLst>
                    <a:ext uri="{9D8B030D-6E8A-4147-A177-3AD203B41FA5}">
                      <a16:colId xmlns:a16="http://schemas.microsoft.com/office/drawing/2014/main" val="20003"/>
                    </a:ext>
                  </a:extLst>
                </a:gridCol>
                <a:gridCol w="1601533">
                  <a:extLst>
                    <a:ext uri="{9D8B030D-6E8A-4147-A177-3AD203B41FA5}">
                      <a16:colId xmlns:a16="http://schemas.microsoft.com/office/drawing/2014/main" val="20004"/>
                    </a:ext>
                  </a:extLst>
                </a:gridCol>
                <a:gridCol w="1601533">
                  <a:extLst>
                    <a:ext uri="{9D8B030D-6E8A-4147-A177-3AD203B41FA5}">
                      <a16:colId xmlns:a16="http://schemas.microsoft.com/office/drawing/2014/main" val="20005"/>
                    </a:ext>
                  </a:extLst>
                </a:gridCol>
              </a:tblGrid>
              <a:tr h="508798">
                <a:tc>
                  <a:txBody>
                    <a:bodyPr/>
                    <a:lstStyle/>
                    <a:p>
                      <a:pPr algn="ctr"/>
                      <a:r>
                        <a:rPr lang="es-ES_tradnl" sz="1800" noProof="0" dirty="0">
                          <a:latin typeface="Century Gothic" panose="020B0502020202020204" pitchFamily="34" charset="0"/>
                        </a:rPr>
                        <a:t>Proyecto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508798">
                <a:tc>
                  <a:txBody>
                    <a:bodyPr/>
                    <a:lstStyle/>
                    <a:p>
                      <a:pPr algn="ctr"/>
                      <a:r>
                        <a:rPr lang="es-ES_tradnl" sz="1800" noProof="0" dirty="0">
                          <a:solidFill>
                            <a:schemeClr val="accent1"/>
                          </a:solidFill>
                          <a:latin typeface="Century Gothic" panose="020B0502020202020204" pitchFamily="34" charset="0"/>
                        </a:rPr>
                        <a:t>Térmica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1.090.000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8798">
                <a:tc>
                  <a:txBody>
                    <a:bodyPr/>
                    <a:lstStyle/>
                    <a:p>
                      <a:pPr algn="ctr"/>
                      <a:r>
                        <a:rPr lang="es-ES_tradnl" sz="1800" noProof="0" dirty="0">
                          <a:solidFill>
                            <a:schemeClr val="accent1"/>
                          </a:solidFill>
                          <a:latin typeface="Century Gothic" panose="020B0502020202020204" pitchFamily="34" charset="0"/>
                        </a:rPr>
                        <a:t>Eólica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-1.000.000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590.000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45.000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545.000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8798">
                <a:tc>
                  <a:txBody>
                    <a:bodyPr/>
                    <a:lstStyle/>
                    <a:p>
                      <a:pPr algn="ctr"/>
                      <a:r>
                        <a:rPr lang="es-ES_tradnl" sz="1800" noProof="0" dirty="0">
                          <a:solidFill>
                            <a:schemeClr val="accent1"/>
                          </a:solidFill>
                          <a:latin typeface="Century Gothic" panose="020B0502020202020204" pitchFamily="34" charset="0"/>
                        </a:rPr>
                        <a:t>Hidráulica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-1.000.000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834958FF-1F3F-8CEB-4F05-954CA4ABE8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2096E71-6A0D-59AA-03B3-1019FF880C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2B4BBC4-A1B3-F5F0-EFF0-A4CE9D6B80F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76816529-54C0-BC48-090F-B5E259BF2530}"/>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2622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p:cNvCxnSpPr/>
          <p:nvPr/>
        </p:nvCxnSpPr>
        <p:spPr>
          <a:xfrm>
            <a:off x="1091157" y="4499782"/>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cxnSpLocks/>
          </p:cNvCxnSpPr>
          <p:nvPr/>
        </p:nvCxnSpPr>
        <p:spPr>
          <a:xfrm flipV="1">
            <a:off x="2981395" y="4119248"/>
            <a:ext cx="0" cy="380533"/>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8"/>
          <p:cNvSpPr>
            <a:spLocks/>
          </p:cNvSpPr>
          <p:nvPr/>
        </p:nvSpPr>
        <p:spPr bwMode="auto">
          <a:xfrm flipH="1">
            <a:off x="1005556" y="415656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0" name="Rectangle 9"/>
          <p:cNvSpPr>
            <a:spLocks/>
          </p:cNvSpPr>
          <p:nvPr/>
        </p:nvSpPr>
        <p:spPr bwMode="auto">
          <a:xfrm>
            <a:off x="1544850"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11" name="Rectangle 10"/>
          <p:cNvSpPr>
            <a:spLocks/>
          </p:cNvSpPr>
          <p:nvPr/>
        </p:nvSpPr>
        <p:spPr bwMode="auto">
          <a:xfrm>
            <a:off x="154895" y="5402017"/>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12" name="Rectangle 11"/>
          <p:cNvSpPr>
            <a:spLocks/>
          </p:cNvSpPr>
          <p:nvPr/>
        </p:nvSpPr>
        <p:spPr bwMode="auto">
          <a:xfrm>
            <a:off x="2662032" y="375426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sp>
        <p:nvSpPr>
          <p:cNvPr id="13" name="Rectangle 12"/>
          <p:cNvSpPr>
            <a:spLocks/>
          </p:cNvSpPr>
          <p:nvPr/>
        </p:nvSpPr>
        <p:spPr bwMode="auto">
          <a:xfrm>
            <a:off x="2174138"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14" name="Rectangle 13"/>
          <p:cNvSpPr>
            <a:spLocks/>
          </p:cNvSpPr>
          <p:nvPr/>
        </p:nvSpPr>
        <p:spPr bwMode="auto">
          <a:xfrm>
            <a:off x="2812865"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3</a:t>
            </a:r>
          </a:p>
        </p:txBody>
      </p:sp>
      <p:sp>
        <p:nvSpPr>
          <p:cNvPr id="15" name="Rectangle 14"/>
          <p:cNvSpPr>
            <a:spLocks/>
          </p:cNvSpPr>
          <p:nvPr/>
        </p:nvSpPr>
        <p:spPr bwMode="auto">
          <a:xfrm>
            <a:off x="3451591"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4</a:t>
            </a:r>
          </a:p>
        </p:txBody>
      </p:sp>
      <p:cxnSp>
        <p:nvCxnSpPr>
          <p:cNvPr id="16" name="Straight Arrow Connector 15"/>
          <p:cNvCxnSpPr/>
          <p:nvPr/>
        </p:nvCxnSpPr>
        <p:spPr>
          <a:xfrm flipV="1">
            <a:off x="2342668" y="4122239"/>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1722698" y="4109699"/>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3280625" y="3739619"/>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1.090</a:t>
            </a:r>
          </a:p>
        </p:txBody>
      </p:sp>
      <p:sp>
        <p:nvSpPr>
          <p:cNvPr id="19" name="Rectangle 18"/>
          <p:cNvSpPr>
            <a:spLocks/>
          </p:cNvSpPr>
          <p:nvPr/>
        </p:nvSpPr>
        <p:spPr bwMode="auto">
          <a:xfrm>
            <a:off x="2023305" y="371822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sp>
        <p:nvSpPr>
          <p:cNvPr id="20" name="Rectangle 19"/>
          <p:cNvSpPr>
            <a:spLocks/>
          </p:cNvSpPr>
          <p:nvPr/>
        </p:nvSpPr>
        <p:spPr bwMode="auto">
          <a:xfrm>
            <a:off x="1403335" y="3748365"/>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cxnSp>
        <p:nvCxnSpPr>
          <p:cNvPr id="21" name="Straight Arrow Connector 20"/>
          <p:cNvCxnSpPr>
            <a:cxnSpLocks/>
          </p:cNvCxnSpPr>
          <p:nvPr/>
        </p:nvCxnSpPr>
        <p:spPr>
          <a:xfrm flipV="1">
            <a:off x="3620121" y="4119248"/>
            <a:ext cx="0" cy="375647"/>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a:off x="4549198" y="4520605"/>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cxnSpLocks/>
          </p:cNvCxnSpPr>
          <p:nvPr/>
        </p:nvCxnSpPr>
        <p:spPr>
          <a:xfrm flipV="1">
            <a:off x="6439436" y="4130522"/>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flipH="1">
            <a:off x="4463597" y="4161996"/>
            <a:ext cx="1317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0</a:t>
            </a:r>
          </a:p>
        </p:txBody>
      </p:sp>
      <p:sp>
        <p:nvSpPr>
          <p:cNvPr id="28" name="Rectangle 27"/>
          <p:cNvSpPr>
            <a:spLocks/>
          </p:cNvSpPr>
          <p:nvPr/>
        </p:nvSpPr>
        <p:spPr bwMode="auto">
          <a:xfrm>
            <a:off x="5002891"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29" name="Rectangle 28"/>
          <p:cNvSpPr>
            <a:spLocks/>
          </p:cNvSpPr>
          <p:nvPr/>
        </p:nvSpPr>
        <p:spPr bwMode="auto">
          <a:xfrm>
            <a:off x="3612936" y="5422840"/>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0" name="Rectangle 29"/>
          <p:cNvSpPr>
            <a:spLocks/>
          </p:cNvSpPr>
          <p:nvPr/>
        </p:nvSpPr>
        <p:spPr bwMode="auto">
          <a:xfrm>
            <a:off x="6120073" y="377508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45</a:t>
            </a:r>
          </a:p>
        </p:txBody>
      </p:sp>
      <p:sp>
        <p:nvSpPr>
          <p:cNvPr id="31" name="Rectangle 30"/>
          <p:cNvSpPr>
            <a:spLocks/>
          </p:cNvSpPr>
          <p:nvPr/>
        </p:nvSpPr>
        <p:spPr bwMode="auto">
          <a:xfrm>
            <a:off x="5632179"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2" name="Rectangle 31"/>
          <p:cNvSpPr>
            <a:spLocks/>
          </p:cNvSpPr>
          <p:nvPr/>
        </p:nvSpPr>
        <p:spPr bwMode="auto">
          <a:xfrm>
            <a:off x="6270906"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3</a:t>
            </a:r>
          </a:p>
        </p:txBody>
      </p:sp>
      <p:sp>
        <p:nvSpPr>
          <p:cNvPr id="33" name="Rectangle 32"/>
          <p:cNvSpPr>
            <a:spLocks/>
          </p:cNvSpPr>
          <p:nvPr/>
        </p:nvSpPr>
        <p:spPr bwMode="auto">
          <a:xfrm>
            <a:off x="6909632"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4</a:t>
            </a:r>
          </a:p>
        </p:txBody>
      </p:sp>
      <p:cxnSp>
        <p:nvCxnSpPr>
          <p:cNvPr id="34" name="Straight Arrow Connector 33"/>
          <p:cNvCxnSpPr/>
          <p:nvPr/>
        </p:nvCxnSpPr>
        <p:spPr>
          <a:xfrm flipV="1">
            <a:off x="5800709" y="4143062"/>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V="1">
            <a:off x="5180739" y="4130522"/>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35"/>
          <p:cNvSpPr>
            <a:spLocks/>
          </p:cNvSpPr>
          <p:nvPr/>
        </p:nvSpPr>
        <p:spPr bwMode="auto">
          <a:xfrm>
            <a:off x="6738666" y="376044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545</a:t>
            </a:r>
          </a:p>
        </p:txBody>
      </p:sp>
      <p:sp>
        <p:nvSpPr>
          <p:cNvPr id="37" name="Rectangle 36"/>
          <p:cNvSpPr>
            <a:spLocks/>
          </p:cNvSpPr>
          <p:nvPr/>
        </p:nvSpPr>
        <p:spPr bwMode="auto">
          <a:xfrm>
            <a:off x="5481346" y="373904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590</a:t>
            </a:r>
          </a:p>
        </p:txBody>
      </p:sp>
      <p:sp>
        <p:nvSpPr>
          <p:cNvPr id="38" name="Rectangle 37"/>
          <p:cNvSpPr>
            <a:spLocks/>
          </p:cNvSpPr>
          <p:nvPr/>
        </p:nvSpPr>
        <p:spPr bwMode="auto">
          <a:xfrm>
            <a:off x="4861376" y="376918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cxnSp>
        <p:nvCxnSpPr>
          <p:cNvPr id="39" name="Straight Arrow Connector 38"/>
          <p:cNvCxnSpPr>
            <a:cxnSpLocks/>
          </p:cNvCxnSpPr>
          <p:nvPr/>
        </p:nvCxnSpPr>
        <p:spPr>
          <a:xfrm flipV="1">
            <a:off x="7078162" y="4130522"/>
            <a:ext cx="0" cy="38519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a:off x="8018810" y="4496791"/>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a:cxnSpLocks/>
          </p:cNvCxnSpPr>
          <p:nvPr/>
        </p:nvCxnSpPr>
        <p:spPr>
          <a:xfrm flipV="1">
            <a:off x="9909048" y="4138182"/>
            <a:ext cx="0" cy="358608"/>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0" name="Rectangle 59"/>
          <p:cNvSpPr>
            <a:spLocks/>
          </p:cNvSpPr>
          <p:nvPr/>
        </p:nvSpPr>
        <p:spPr bwMode="auto">
          <a:xfrm flipH="1">
            <a:off x="7933209" y="4138182"/>
            <a:ext cx="1317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0</a:t>
            </a:r>
          </a:p>
        </p:txBody>
      </p:sp>
      <p:sp>
        <p:nvSpPr>
          <p:cNvPr id="61" name="Rectangle 60"/>
          <p:cNvSpPr>
            <a:spLocks/>
          </p:cNvSpPr>
          <p:nvPr/>
        </p:nvSpPr>
        <p:spPr bwMode="auto">
          <a:xfrm>
            <a:off x="8472503"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62" name="Rectangle 61"/>
          <p:cNvSpPr>
            <a:spLocks/>
          </p:cNvSpPr>
          <p:nvPr/>
        </p:nvSpPr>
        <p:spPr bwMode="auto">
          <a:xfrm>
            <a:off x="7031056" y="5399026"/>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63" name="Rectangle 62"/>
          <p:cNvSpPr>
            <a:spLocks/>
          </p:cNvSpPr>
          <p:nvPr/>
        </p:nvSpPr>
        <p:spPr bwMode="auto">
          <a:xfrm>
            <a:off x="9589685" y="375127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sp>
        <p:nvSpPr>
          <p:cNvPr id="64" name="Rectangle 63"/>
          <p:cNvSpPr>
            <a:spLocks/>
          </p:cNvSpPr>
          <p:nvPr/>
        </p:nvSpPr>
        <p:spPr bwMode="auto">
          <a:xfrm>
            <a:off x="9101791"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65" name="Rectangle 64"/>
          <p:cNvSpPr>
            <a:spLocks/>
          </p:cNvSpPr>
          <p:nvPr/>
        </p:nvSpPr>
        <p:spPr bwMode="auto">
          <a:xfrm>
            <a:off x="9740518"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3</a:t>
            </a:r>
          </a:p>
        </p:txBody>
      </p:sp>
      <p:sp>
        <p:nvSpPr>
          <p:cNvPr id="66" name="Rectangle 65"/>
          <p:cNvSpPr>
            <a:spLocks/>
          </p:cNvSpPr>
          <p:nvPr/>
        </p:nvSpPr>
        <p:spPr bwMode="auto">
          <a:xfrm>
            <a:off x="10379244"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4</a:t>
            </a:r>
          </a:p>
        </p:txBody>
      </p:sp>
      <p:cxnSp>
        <p:nvCxnSpPr>
          <p:cNvPr id="67" name="Straight Arrow Connector 66"/>
          <p:cNvCxnSpPr/>
          <p:nvPr/>
        </p:nvCxnSpPr>
        <p:spPr>
          <a:xfrm flipV="1">
            <a:off x="9270321" y="4119248"/>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8650351" y="4106708"/>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a:spLocks/>
          </p:cNvSpPr>
          <p:nvPr/>
        </p:nvSpPr>
        <p:spPr bwMode="auto">
          <a:xfrm>
            <a:off x="10208278" y="373662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sp>
        <p:nvSpPr>
          <p:cNvPr id="70" name="Rectangle 69"/>
          <p:cNvSpPr>
            <a:spLocks/>
          </p:cNvSpPr>
          <p:nvPr/>
        </p:nvSpPr>
        <p:spPr bwMode="auto">
          <a:xfrm>
            <a:off x="8950958" y="371523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sp>
        <p:nvSpPr>
          <p:cNvPr id="71" name="Rectangle 70"/>
          <p:cNvSpPr>
            <a:spLocks/>
          </p:cNvSpPr>
          <p:nvPr/>
        </p:nvSpPr>
        <p:spPr bwMode="auto">
          <a:xfrm>
            <a:off x="8330988" y="3745374"/>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cxnSp>
        <p:nvCxnSpPr>
          <p:cNvPr id="72" name="Straight Arrow Connector 71"/>
          <p:cNvCxnSpPr/>
          <p:nvPr/>
        </p:nvCxnSpPr>
        <p:spPr>
          <a:xfrm flipV="1">
            <a:off x="10547774" y="4153570"/>
            <a:ext cx="0" cy="338334"/>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Rectángulo 4"/>
          <p:cNvSpPr/>
          <p:nvPr/>
        </p:nvSpPr>
        <p:spPr>
          <a:xfrm>
            <a:off x="1838220" y="3160369"/>
            <a:ext cx="1172117" cy="400110"/>
          </a:xfrm>
          <a:prstGeom prst="rect">
            <a:avLst/>
          </a:prstGeom>
        </p:spPr>
        <p:txBody>
          <a:bodyPr wrap="none">
            <a:spAutoFit/>
          </a:bodyPr>
          <a:lstStyle/>
          <a:p>
            <a:pPr algn="ctr"/>
            <a:r>
              <a:rPr lang="es-ES_tradnl" sz="2000" b="1" dirty="0">
                <a:solidFill>
                  <a:srgbClr val="D7A700"/>
                </a:solidFill>
                <a:latin typeface="Century Gothic" panose="020B0502020202020204" pitchFamily="34" charset="0"/>
              </a:rPr>
              <a:t>Térmica</a:t>
            </a:r>
          </a:p>
        </p:txBody>
      </p:sp>
      <p:sp>
        <p:nvSpPr>
          <p:cNvPr id="73" name="Rectángulo 72"/>
          <p:cNvSpPr/>
          <p:nvPr/>
        </p:nvSpPr>
        <p:spPr>
          <a:xfrm>
            <a:off x="5604313" y="3166442"/>
            <a:ext cx="928459" cy="369332"/>
          </a:xfrm>
          <a:prstGeom prst="rect">
            <a:avLst/>
          </a:prstGeom>
        </p:spPr>
        <p:txBody>
          <a:bodyPr wrap="none">
            <a:spAutoFit/>
          </a:bodyPr>
          <a:lstStyle/>
          <a:p>
            <a:pPr algn="ctr"/>
            <a:r>
              <a:rPr lang="es-ES_tradnl" b="1" dirty="0">
                <a:solidFill>
                  <a:srgbClr val="D7A700"/>
                </a:solidFill>
                <a:latin typeface="Century Gothic" panose="020B0502020202020204" pitchFamily="34" charset="0"/>
              </a:rPr>
              <a:t>Eólica </a:t>
            </a:r>
          </a:p>
        </p:txBody>
      </p:sp>
      <p:sp>
        <p:nvSpPr>
          <p:cNvPr id="74" name="Rectángulo 73"/>
          <p:cNvSpPr/>
          <p:nvPr/>
        </p:nvSpPr>
        <p:spPr>
          <a:xfrm>
            <a:off x="8743438" y="3170573"/>
            <a:ext cx="1451039" cy="400110"/>
          </a:xfrm>
          <a:prstGeom prst="rect">
            <a:avLst/>
          </a:prstGeom>
        </p:spPr>
        <p:txBody>
          <a:bodyPr wrap="none">
            <a:spAutoFit/>
          </a:bodyPr>
          <a:lstStyle/>
          <a:p>
            <a:pPr algn="ctr"/>
            <a:r>
              <a:rPr lang="es-ES_tradnl" sz="2000" b="1" dirty="0">
                <a:solidFill>
                  <a:srgbClr val="D7A700"/>
                </a:solidFill>
                <a:latin typeface="Century Gothic" panose="020B0502020202020204" pitchFamily="34" charset="0"/>
              </a:rPr>
              <a:t>Hidráulica</a:t>
            </a:r>
          </a:p>
        </p:txBody>
      </p:sp>
      <p:sp>
        <p:nvSpPr>
          <p:cNvPr id="42" name="Rectángulo 41">
            <a:extLst>
              <a:ext uri="{FF2B5EF4-FFF2-40B4-BE49-F238E27FC236}">
                <a16:creationId xmlns:a16="http://schemas.microsoft.com/office/drawing/2014/main" id="{72C31555-855C-33D2-FD2E-34286E1E08C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3" name="Picture 2" descr="Clientes y aliados | Centro de Evaluación | Uniandes">
            <a:extLst>
              <a:ext uri="{FF2B5EF4-FFF2-40B4-BE49-F238E27FC236}">
                <a16:creationId xmlns:a16="http://schemas.microsoft.com/office/drawing/2014/main" id="{F18D1C3D-7A68-CD53-BD78-95F296691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4" name="Rectángulo 43">
            <a:extLst>
              <a:ext uri="{FF2B5EF4-FFF2-40B4-BE49-F238E27FC236}">
                <a16:creationId xmlns:a16="http://schemas.microsoft.com/office/drawing/2014/main" id="{F6FC1351-0F1B-4B69-C2C4-54AF9084556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49" name="Title 1">
            <a:extLst>
              <a:ext uri="{FF2B5EF4-FFF2-40B4-BE49-F238E27FC236}">
                <a16:creationId xmlns:a16="http://schemas.microsoft.com/office/drawing/2014/main" id="{273C4E1C-EF81-18A0-9334-E8E01DFA7F5C}"/>
              </a:ext>
            </a:extLst>
          </p:cNvPr>
          <p:cNvSpPr>
            <a:spLocks noGrp="1"/>
          </p:cNvSpPr>
          <p:nvPr>
            <p:ph type="title"/>
          </p:nvPr>
        </p:nvSpPr>
        <p:spPr>
          <a:xfrm>
            <a:off x="581192" y="702156"/>
            <a:ext cx="11029616" cy="1013800"/>
          </a:xfrm>
        </p:spPr>
        <p:txBody>
          <a:bodyPr>
            <a:normAutofit/>
          </a:bodyPr>
          <a:lstStyle/>
          <a:p>
            <a:r>
              <a:rPr lang="es-ES_tradnl" sz="3200" dirty="0">
                <a:latin typeface="Century Gothic" panose="020B0502020202020204" pitchFamily="34" charset="0"/>
              </a:rPr>
              <a:t>Proyectos Mutuamente Excluyentes – CASO 1 </a:t>
            </a:r>
          </a:p>
        </p:txBody>
      </p:sp>
      <p:sp>
        <p:nvSpPr>
          <p:cNvPr id="50" name="Content Placeholder 2">
            <a:extLst>
              <a:ext uri="{FF2B5EF4-FFF2-40B4-BE49-F238E27FC236}">
                <a16:creationId xmlns:a16="http://schemas.microsoft.com/office/drawing/2014/main" id="{A8003139-8475-DF21-9A97-C0FAD54222E9}"/>
              </a:ext>
            </a:extLst>
          </p:cNvPr>
          <p:cNvSpPr>
            <a:spLocks noGrp="1"/>
          </p:cNvSpPr>
          <p:nvPr>
            <p:ph idx="1"/>
          </p:nvPr>
        </p:nvSpPr>
        <p:spPr>
          <a:xfrm>
            <a:off x="766218" y="2092175"/>
            <a:ext cx="10659564" cy="784784"/>
          </a:xfrm>
        </p:spPr>
        <p:txBody>
          <a:bodyPr>
            <a:normAutofit/>
          </a:bodyPr>
          <a:lstStyle/>
          <a:p>
            <a:pPr marL="0" indent="0" algn="just">
              <a:buNone/>
            </a:pPr>
            <a:r>
              <a:rPr lang="es-ES_tradnl" sz="2000" b="1" dirty="0">
                <a:solidFill>
                  <a:srgbClr val="C00000"/>
                </a:solidFill>
                <a:latin typeface="Century Gothic"/>
              </a:rPr>
              <a:t>Ejemplo 2: </a:t>
            </a:r>
            <a:r>
              <a:rPr lang="es-ES_tradnl" sz="2000" dirty="0">
                <a:latin typeface="Century Gothic"/>
              </a:rPr>
              <a:t>Usted tiene que escoger un mecanismo de generación eléctrica para el país: Eólica, Térmica o Hidráulica. Su costo de oportunidad es 5%.</a:t>
            </a:r>
            <a:endParaRPr lang="es-ES" sz="2400" dirty="0">
              <a:latin typeface="Century Gothic"/>
            </a:endParaRPr>
          </a:p>
        </p:txBody>
      </p:sp>
      <p:cxnSp>
        <p:nvCxnSpPr>
          <p:cNvPr id="6" name="Straight Connector 5"/>
          <p:cNvCxnSpPr/>
          <p:nvPr/>
        </p:nvCxnSpPr>
        <p:spPr>
          <a:xfrm>
            <a:off x="1091157" y="4499781"/>
            <a:ext cx="252896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4549198" y="4520604"/>
            <a:ext cx="252896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a:off x="8018810" y="4496790"/>
            <a:ext cx="252896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Slide Number Placeholder 3">
            <a:extLst>
              <a:ext uri="{FF2B5EF4-FFF2-40B4-BE49-F238E27FC236}">
                <a16:creationId xmlns:a16="http://schemas.microsoft.com/office/drawing/2014/main" id="{E73E57A7-1D50-57EB-E552-9F31977A954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026947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5">
            <a:extLst>
              <a:ext uri="{FF2B5EF4-FFF2-40B4-BE49-F238E27FC236}">
                <a16:creationId xmlns:a16="http://schemas.microsoft.com/office/drawing/2014/main" id="{C6ED3C2A-8F67-49BA-8396-4AE805403D6A}"/>
              </a:ext>
            </a:extLst>
          </p:cNvPr>
          <p:cNvGraphicFramePr>
            <a:graphicFrameLocks noGrp="1"/>
          </p:cNvGraphicFramePr>
          <p:nvPr>
            <p:extLst>
              <p:ext uri="{D42A27DB-BD31-4B8C-83A1-F6EECF244321}">
                <p14:modId xmlns:p14="http://schemas.microsoft.com/office/powerpoint/2010/main" val="618013949"/>
              </p:ext>
            </p:extLst>
          </p:nvPr>
        </p:nvGraphicFramePr>
        <p:xfrm>
          <a:off x="2123848" y="3327400"/>
          <a:ext cx="7610476" cy="23774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20003"/>
                    </a:ext>
                  </a:extLst>
                </a:gridCol>
              </a:tblGrid>
              <a:tr h="370840">
                <a:tc>
                  <a:txBody>
                    <a:bodyPr/>
                    <a:lstStyle/>
                    <a:p>
                      <a:pPr algn="ctr"/>
                      <a:r>
                        <a:rPr lang="es-ES_tradnl" sz="20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2000" noProof="0" dirty="0">
                          <a:latin typeface="Century Gothic" panose="020B0502020202020204" pitchFamily="34" charset="0"/>
                        </a:rPr>
                        <a:t>Térmica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2000" noProof="0" dirty="0">
                          <a:latin typeface="Century Gothic" panose="020B0502020202020204" pitchFamily="34" charset="0"/>
                        </a:rPr>
                        <a:t>Eólica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2000" noProof="0" dirty="0">
                          <a:latin typeface="Century Gothic" panose="020B0502020202020204" pitchFamily="34" charset="0"/>
                        </a:rPr>
                        <a:t>Hidráulica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2000" noProof="0" dirty="0">
                          <a:solidFill>
                            <a:schemeClr val="accent1"/>
                          </a:solidFill>
                          <a:latin typeface="Century Gothic" panose="020B0502020202020204" pitchFamily="34" charset="0"/>
                        </a:rPr>
                        <a:t>VPN (5%)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20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62409632"/>
                  </a:ext>
                </a:extLst>
              </a:tr>
              <a:tr h="370840">
                <a:tc>
                  <a:txBody>
                    <a:bodyPr/>
                    <a:lstStyle/>
                    <a:p>
                      <a:pPr marL="0" algn="ctr" defTabSz="457200" rtl="0" eaLnBrk="1" latinLnBrk="0" hangingPunct="1"/>
                      <a:r>
                        <a:rPr lang="es-ES_tradnl" sz="2000" kern="1200" noProof="0" dirty="0">
                          <a:solidFill>
                            <a:schemeClr val="accent1"/>
                          </a:solidFill>
                          <a:latin typeface="Century Gothic" panose="020B0502020202020204" pitchFamily="34" charset="0"/>
                          <a:ea typeface="+mn-ea"/>
                          <a:cs typeface="+mn-cs"/>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20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r>
                        <a:rPr lang="es-ES_tradnl" sz="20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Rectángulo 2">
            <a:extLst>
              <a:ext uri="{FF2B5EF4-FFF2-40B4-BE49-F238E27FC236}">
                <a16:creationId xmlns:a16="http://schemas.microsoft.com/office/drawing/2014/main" id="{A5A100E0-5D19-CAA0-69F0-C55AD5A529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0866C8E-1BEF-7DC7-DD85-06BA374C59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7709C74-6960-E0E4-EB9A-F193C7C9803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7" name="Title 1">
            <a:extLst>
              <a:ext uri="{FF2B5EF4-FFF2-40B4-BE49-F238E27FC236}">
                <a16:creationId xmlns:a16="http://schemas.microsoft.com/office/drawing/2014/main" id="{52071C66-C072-3CB1-0017-BF5FC71AB58C}"/>
              </a:ext>
            </a:extLst>
          </p:cNvPr>
          <p:cNvSpPr>
            <a:spLocks noGrp="1"/>
          </p:cNvSpPr>
          <p:nvPr>
            <p:ph type="title"/>
          </p:nvPr>
        </p:nvSpPr>
        <p:spPr>
          <a:xfrm>
            <a:off x="581192" y="702156"/>
            <a:ext cx="11029616" cy="1013800"/>
          </a:xfrm>
        </p:spPr>
        <p:txBody>
          <a:bodyPr>
            <a:normAutofit/>
          </a:bodyPr>
          <a:lstStyle/>
          <a:p>
            <a:r>
              <a:rPr lang="es-ES_tradnl" sz="3200" dirty="0">
                <a:latin typeface="Century Gothic" panose="020B0502020202020204" pitchFamily="34" charset="0"/>
              </a:rPr>
              <a:t>Proyectos Mutuamente Excluyentes – CASO 1 </a:t>
            </a:r>
          </a:p>
        </p:txBody>
      </p:sp>
      <p:sp>
        <p:nvSpPr>
          <p:cNvPr id="18" name="Content Placeholder 2">
            <a:extLst>
              <a:ext uri="{FF2B5EF4-FFF2-40B4-BE49-F238E27FC236}">
                <a16:creationId xmlns:a16="http://schemas.microsoft.com/office/drawing/2014/main" id="{02964151-CA41-D9C6-8721-C9B4E794B541}"/>
              </a:ext>
            </a:extLst>
          </p:cNvPr>
          <p:cNvSpPr>
            <a:spLocks noGrp="1"/>
          </p:cNvSpPr>
          <p:nvPr>
            <p:ph idx="1"/>
          </p:nvPr>
        </p:nvSpPr>
        <p:spPr>
          <a:xfrm>
            <a:off x="766218" y="2092175"/>
            <a:ext cx="10659564" cy="784784"/>
          </a:xfrm>
        </p:spPr>
        <p:txBody>
          <a:bodyPr>
            <a:normAutofit/>
          </a:bodyPr>
          <a:lstStyle/>
          <a:p>
            <a:pPr marL="0" indent="0" algn="just">
              <a:buNone/>
            </a:pPr>
            <a:r>
              <a:rPr lang="es-ES_tradnl" sz="2000" b="1" dirty="0">
                <a:solidFill>
                  <a:srgbClr val="C00000"/>
                </a:solidFill>
                <a:latin typeface="Century Gothic"/>
              </a:rPr>
              <a:t>Ejemplo 2: </a:t>
            </a:r>
            <a:r>
              <a:rPr lang="es-ES_tradnl" sz="2000" dirty="0">
                <a:latin typeface="Century Gothic"/>
              </a:rPr>
              <a:t>Usted tiene que escoger un mecanismo de generación eléctrica para el país: Eólica, Térmica o Hidráulica. Su costo de oportunidad es 5%.</a:t>
            </a:r>
            <a:endParaRPr lang="es-ES" sz="2400" dirty="0">
              <a:latin typeface="Century Gothic"/>
            </a:endParaRPr>
          </a:p>
        </p:txBody>
      </p:sp>
      <p:graphicFrame>
        <p:nvGraphicFramePr>
          <p:cNvPr id="19" name="Tabla 18">
            <a:extLst>
              <a:ext uri="{FF2B5EF4-FFF2-40B4-BE49-F238E27FC236}">
                <a16:creationId xmlns:a16="http://schemas.microsoft.com/office/drawing/2014/main" id="{0F038197-8372-CE67-7F60-F73C6FC48B58}"/>
              </a:ext>
            </a:extLst>
          </p:cNvPr>
          <p:cNvGraphicFramePr>
            <a:graphicFrameLocks noGrp="1"/>
          </p:cNvGraphicFramePr>
          <p:nvPr>
            <p:extLst>
              <p:ext uri="{D42A27DB-BD31-4B8C-83A1-F6EECF244321}">
                <p14:modId xmlns:p14="http://schemas.microsoft.com/office/powerpoint/2010/main" val="2961742282"/>
              </p:ext>
            </p:extLst>
          </p:nvPr>
        </p:nvGraphicFramePr>
        <p:xfrm>
          <a:off x="4026466" y="3730648"/>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770620364"/>
                    </a:ext>
                  </a:extLst>
                </a:gridCol>
                <a:gridCol w="1902619">
                  <a:extLst>
                    <a:ext uri="{9D8B030D-6E8A-4147-A177-3AD203B41FA5}">
                      <a16:colId xmlns:a16="http://schemas.microsoft.com/office/drawing/2014/main" val="21827599"/>
                    </a:ext>
                  </a:extLst>
                </a:gridCol>
                <a:gridCol w="1902619">
                  <a:extLst>
                    <a:ext uri="{9D8B030D-6E8A-4147-A177-3AD203B41FA5}">
                      <a16:colId xmlns:a16="http://schemas.microsoft.com/office/drawing/2014/main" val="3770784417"/>
                    </a:ext>
                  </a:extLst>
                </a:gridCol>
              </a:tblGrid>
              <a:tr h="370840">
                <a:tc>
                  <a:txBody>
                    <a:bodyPr/>
                    <a:lstStyle/>
                    <a:p>
                      <a:pPr algn="ctr"/>
                      <a:r>
                        <a:rPr lang="es-ES_tradnl" sz="2000" b="0" noProof="0" dirty="0">
                          <a:solidFill>
                            <a:schemeClr val="accent1"/>
                          </a:solidFill>
                          <a:latin typeface="Century Gothic" panose="020B0502020202020204" pitchFamily="34" charset="0"/>
                        </a:rPr>
                        <a:t>141.838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108.107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94.524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888539643"/>
                  </a:ext>
                </a:extLst>
              </a:tr>
            </a:tbl>
          </a:graphicData>
        </a:graphic>
      </p:graphicFrame>
      <p:graphicFrame>
        <p:nvGraphicFramePr>
          <p:cNvPr id="20" name="Tabla 19">
            <a:extLst>
              <a:ext uri="{FF2B5EF4-FFF2-40B4-BE49-F238E27FC236}">
                <a16:creationId xmlns:a16="http://schemas.microsoft.com/office/drawing/2014/main" id="{0F932EEA-7A66-ADA8-331A-B4A70D67BFB8}"/>
              </a:ext>
            </a:extLst>
          </p:cNvPr>
          <p:cNvGraphicFramePr>
            <a:graphicFrameLocks noGrp="1"/>
          </p:cNvGraphicFramePr>
          <p:nvPr>
            <p:extLst>
              <p:ext uri="{D42A27DB-BD31-4B8C-83A1-F6EECF244321}">
                <p14:modId xmlns:p14="http://schemas.microsoft.com/office/powerpoint/2010/main" val="2080506245"/>
              </p:ext>
            </p:extLst>
          </p:nvPr>
        </p:nvGraphicFramePr>
        <p:xfrm>
          <a:off x="4026465" y="4524159"/>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3121723349"/>
                    </a:ext>
                  </a:extLst>
                </a:gridCol>
                <a:gridCol w="1902619">
                  <a:extLst>
                    <a:ext uri="{9D8B030D-6E8A-4147-A177-3AD203B41FA5}">
                      <a16:colId xmlns:a16="http://schemas.microsoft.com/office/drawing/2014/main" val="954546362"/>
                    </a:ext>
                  </a:extLst>
                </a:gridCol>
                <a:gridCol w="1902619">
                  <a:extLst>
                    <a:ext uri="{9D8B030D-6E8A-4147-A177-3AD203B41FA5}">
                      <a16:colId xmlns:a16="http://schemas.microsoft.com/office/drawing/2014/main" val="99110070"/>
                    </a:ext>
                  </a:extLst>
                </a:gridCol>
              </a:tblGrid>
              <a:tr h="370840">
                <a:tc>
                  <a:txBody>
                    <a:bodyPr/>
                    <a:lstStyle/>
                    <a:p>
                      <a:pPr algn="ctr"/>
                      <a:r>
                        <a:rPr lang="es-ES_tradnl" sz="2000" b="0" noProof="0" dirty="0">
                          <a:solidFill>
                            <a:schemeClr val="accent1"/>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173907580"/>
                  </a:ext>
                </a:extLst>
              </a:tr>
            </a:tbl>
          </a:graphicData>
        </a:graphic>
      </p:graphicFrame>
      <p:graphicFrame>
        <p:nvGraphicFramePr>
          <p:cNvPr id="21" name="Tabla 20">
            <a:extLst>
              <a:ext uri="{FF2B5EF4-FFF2-40B4-BE49-F238E27FC236}">
                <a16:creationId xmlns:a16="http://schemas.microsoft.com/office/drawing/2014/main" id="{7CA426C9-947A-FE94-6040-2A12E98F9001}"/>
              </a:ext>
            </a:extLst>
          </p:cNvPr>
          <p:cNvGraphicFramePr>
            <a:graphicFrameLocks noGrp="1"/>
          </p:cNvGraphicFramePr>
          <p:nvPr>
            <p:extLst>
              <p:ext uri="{D42A27DB-BD31-4B8C-83A1-F6EECF244321}">
                <p14:modId xmlns:p14="http://schemas.microsoft.com/office/powerpoint/2010/main" val="758400224"/>
              </p:ext>
            </p:extLst>
          </p:nvPr>
        </p:nvGraphicFramePr>
        <p:xfrm>
          <a:off x="4026463" y="4523128"/>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3121723349"/>
                    </a:ext>
                  </a:extLst>
                </a:gridCol>
                <a:gridCol w="1902619">
                  <a:extLst>
                    <a:ext uri="{9D8B030D-6E8A-4147-A177-3AD203B41FA5}">
                      <a16:colId xmlns:a16="http://schemas.microsoft.com/office/drawing/2014/main" val="954546362"/>
                    </a:ext>
                  </a:extLst>
                </a:gridCol>
                <a:gridCol w="1902619">
                  <a:extLst>
                    <a:ext uri="{9D8B030D-6E8A-4147-A177-3AD203B41FA5}">
                      <a16:colId xmlns:a16="http://schemas.microsoft.com/office/drawing/2014/main" val="99110070"/>
                    </a:ext>
                  </a:extLst>
                </a:gridCol>
              </a:tblGrid>
              <a:tr h="370840">
                <a:tc>
                  <a:txBody>
                    <a:bodyPr/>
                    <a:lstStyle/>
                    <a:p>
                      <a:pPr algn="ctr"/>
                      <a:r>
                        <a:rPr lang="es-ES_tradnl" sz="2000" b="0" noProof="0" dirty="0">
                          <a:solidFill>
                            <a:srgbClr val="C00000"/>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rgbClr val="C00000"/>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rgbClr val="C00000"/>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173907580"/>
                  </a:ext>
                </a:extLst>
              </a:tr>
            </a:tbl>
          </a:graphicData>
        </a:graphic>
      </p:graphicFrame>
      <p:graphicFrame>
        <p:nvGraphicFramePr>
          <p:cNvPr id="22" name="Tabla 21">
            <a:extLst>
              <a:ext uri="{FF2B5EF4-FFF2-40B4-BE49-F238E27FC236}">
                <a16:creationId xmlns:a16="http://schemas.microsoft.com/office/drawing/2014/main" id="{92740AC7-2987-5C86-BC86-F03849589433}"/>
              </a:ext>
            </a:extLst>
          </p:cNvPr>
          <p:cNvGraphicFramePr>
            <a:graphicFrameLocks noGrp="1"/>
          </p:cNvGraphicFramePr>
          <p:nvPr>
            <p:extLst>
              <p:ext uri="{D42A27DB-BD31-4B8C-83A1-F6EECF244321}">
                <p14:modId xmlns:p14="http://schemas.microsoft.com/office/powerpoint/2010/main" val="3758916407"/>
              </p:ext>
            </p:extLst>
          </p:nvPr>
        </p:nvGraphicFramePr>
        <p:xfrm>
          <a:off x="4026461" y="4927408"/>
          <a:ext cx="5707857" cy="3708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428324974"/>
                    </a:ext>
                  </a:extLst>
                </a:gridCol>
                <a:gridCol w="1902619">
                  <a:extLst>
                    <a:ext uri="{9D8B030D-6E8A-4147-A177-3AD203B41FA5}">
                      <a16:colId xmlns:a16="http://schemas.microsoft.com/office/drawing/2014/main" val="4061667582"/>
                    </a:ext>
                  </a:extLst>
                </a:gridCol>
                <a:gridCol w="1902619">
                  <a:extLst>
                    <a:ext uri="{9D8B030D-6E8A-4147-A177-3AD203B41FA5}">
                      <a16:colId xmlns:a16="http://schemas.microsoft.com/office/drawing/2014/main" val="2721698778"/>
                    </a:ext>
                  </a:extLst>
                </a:gridCol>
              </a:tblGrid>
              <a:tr h="370840">
                <a:tc>
                  <a:txBody>
                    <a:bodyPr/>
                    <a:lstStyle/>
                    <a:p>
                      <a:pPr algn="ctr"/>
                      <a:r>
                        <a:rPr lang="es-ES_tradnl" sz="1800" b="0" noProof="0" dirty="0">
                          <a:solidFill>
                            <a:schemeClr val="accent1"/>
                          </a:solidFill>
                          <a:latin typeface="Century Gothic" panose="020B0502020202020204" pitchFamily="34" charset="0"/>
                        </a:rPr>
                        <a:t>8,54%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b="0" noProof="0" dirty="0">
                          <a:solidFill>
                            <a:schemeClr val="accent1"/>
                          </a:solidFill>
                          <a:latin typeface="Century Gothic" panose="020B0502020202020204" pitchFamily="34" charset="0"/>
                        </a:rPr>
                        <a:t>7,73%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b="0" noProof="0" dirty="0">
                          <a:solidFill>
                            <a:schemeClr val="accent1"/>
                          </a:solidFill>
                          <a:latin typeface="Century Gothic" panose="020B0502020202020204" pitchFamily="34" charset="0"/>
                        </a:rPr>
                        <a:t>7,40%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84415307"/>
                  </a:ext>
                </a:extLst>
              </a:tr>
            </a:tbl>
          </a:graphicData>
        </a:graphic>
      </p:graphicFrame>
      <p:graphicFrame>
        <p:nvGraphicFramePr>
          <p:cNvPr id="23" name="Tabla 22">
            <a:extLst>
              <a:ext uri="{FF2B5EF4-FFF2-40B4-BE49-F238E27FC236}">
                <a16:creationId xmlns:a16="http://schemas.microsoft.com/office/drawing/2014/main" id="{75A232DC-B373-BBF0-1B5A-D925CEB3B128}"/>
              </a:ext>
            </a:extLst>
          </p:cNvPr>
          <p:cNvGraphicFramePr>
            <a:graphicFrameLocks noGrp="1"/>
          </p:cNvGraphicFramePr>
          <p:nvPr>
            <p:extLst>
              <p:ext uri="{D42A27DB-BD31-4B8C-83A1-F6EECF244321}">
                <p14:modId xmlns:p14="http://schemas.microsoft.com/office/powerpoint/2010/main" val="2640699663"/>
              </p:ext>
            </p:extLst>
          </p:nvPr>
        </p:nvGraphicFramePr>
        <p:xfrm>
          <a:off x="4026462" y="5316640"/>
          <a:ext cx="5707857" cy="3708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3521816449"/>
                    </a:ext>
                  </a:extLst>
                </a:gridCol>
                <a:gridCol w="1902619">
                  <a:extLst>
                    <a:ext uri="{9D8B030D-6E8A-4147-A177-3AD203B41FA5}">
                      <a16:colId xmlns:a16="http://schemas.microsoft.com/office/drawing/2014/main" val="31741854"/>
                    </a:ext>
                  </a:extLst>
                </a:gridCol>
                <a:gridCol w="1902619">
                  <a:extLst>
                    <a:ext uri="{9D8B030D-6E8A-4147-A177-3AD203B41FA5}">
                      <a16:colId xmlns:a16="http://schemas.microsoft.com/office/drawing/2014/main" val="3188901457"/>
                    </a:ext>
                  </a:extLst>
                </a:gridCol>
              </a:tblGrid>
              <a:tr h="370840">
                <a:tc>
                  <a:txBody>
                    <a:bodyPr/>
                    <a:lstStyle/>
                    <a:p>
                      <a:pPr algn="ctr"/>
                      <a:r>
                        <a:rPr lang="es-ES_tradnl" sz="1800" b="0" noProof="0" dirty="0">
                          <a:solidFill>
                            <a:schemeClr val="accent1"/>
                          </a:solidFill>
                          <a:latin typeface="Century Gothic" panose="020B0502020202020204" pitchFamily="34" charset="0"/>
                        </a:rPr>
                        <a:t>1,14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0" noProof="0" dirty="0">
                          <a:solidFill>
                            <a:schemeClr val="accent1"/>
                          </a:solidFill>
                          <a:latin typeface="Century Gothic" panose="020B0502020202020204" pitchFamily="34" charset="0"/>
                        </a:rPr>
                        <a:t>1,11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0" noProof="0" dirty="0">
                          <a:solidFill>
                            <a:schemeClr val="accent1"/>
                          </a:solidFill>
                          <a:latin typeface="Century Gothic" panose="020B0502020202020204" pitchFamily="34" charset="0"/>
                        </a:rPr>
                        <a:t>1,09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181804820"/>
                  </a:ext>
                </a:extLst>
              </a:tr>
            </a:tbl>
          </a:graphicData>
        </a:graphic>
      </p:graphicFrame>
      <p:graphicFrame>
        <p:nvGraphicFramePr>
          <p:cNvPr id="24" name="Tabla 23">
            <a:extLst>
              <a:ext uri="{FF2B5EF4-FFF2-40B4-BE49-F238E27FC236}">
                <a16:creationId xmlns:a16="http://schemas.microsoft.com/office/drawing/2014/main" id="{DC13DE9C-C032-5F1B-EC50-957CC1C15CF1}"/>
              </a:ext>
            </a:extLst>
          </p:cNvPr>
          <p:cNvGraphicFramePr>
            <a:graphicFrameLocks noGrp="1"/>
          </p:cNvGraphicFramePr>
          <p:nvPr>
            <p:extLst>
              <p:ext uri="{D42A27DB-BD31-4B8C-83A1-F6EECF244321}">
                <p14:modId xmlns:p14="http://schemas.microsoft.com/office/powerpoint/2010/main" val="2458462528"/>
              </p:ext>
            </p:extLst>
          </p:nvPr>
        </p:nvGraphicFramePr>
        <p:xfrm>
          <a:off x="4026465" y="4119880"/>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4123762118"/>
                    </a:ext>
                  </a:extLst>
                </a:gridCol>
                <a:gridCol w="1902619">
                  <a:extLst>
                    <a:ext uri="{9D8B030D-6E8A-4147-A177-3AD203B41FA5}">
                      <a16:colId xmlns:a16="http://schemas.microsoft.com/office/drawing/2014/main" val="3721948261"/>
                    </a:ext>
                  </a:extLst>
                </a:gridCol>
                <a:gridCol w="1902619">
                  <a:extLst>
                    <a:ext uri="{9D8B030D-6E8A-4147-A177-3AD203B41FA5}">
                      <a16:colId xmlns:a16="http://schemas.microsoft.com/office/drawing/2014/main" val="1221075260"/>
                    </a:ext>
                  </a:extLst>
                </a:gridCol>
              </a:tblGrid>
              <a:tr h="370840">
                <a:tc>
                  <a:txBody>
                    <a:bodyPr/>
                    <a:lstStyle/>
                    <a:p>
                      <a:pPr algn="ctr"/>
                      <a:r>
                        <a:rPr lang="es-ES_tradnl" sz="2000" b="0" noProof="0" dirty="0">
                          <a:solidFill>
                            <a:schemeClr val="accent1"/>
                          </a:solidFill>
                          <a:latin typeface="Century Gothic" panose="020B0502020202020204" pitchFamily="34" charset="0"/>
                        </a:rPr>
                        <a:t>40.000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2000" b="0" noProof="0" dirty="0">
                          <a:solidFill>
                            <a:schemeClr val="accent1"/>
                          </a:solidFill>
                          <a:latin typeface="Century Gothic" panose="020B0502020202020204" pitchFamily="34" charset="0"/>
                        </a:rPr>
                        <a:t>30.488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2000" b="0" noProof="0" dirty="0">
                          <a:solidFill>
                            <a:schemeClr val="accent1"/>
                          </a:solidFill>
                          <a:latin typeface="Century Gothic" panose="020B0502020202020204" pitchFamily="34" charset="0"/>
                        </a:rPr>
                        <a:t>26.657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743295247"/>
                  </a:ext>
                </a:extLst>
              </a:tr>
            </a:tbl>
          </a:graphicData>
        </a:graphic>
      </p:graphicFrame>
      <p:sp>
        <p:nvSpPr>
          <p:cNvPr id="25" name="Rectángulo 24">
            <a:extLst>
              <a:ext uri="{FF2B5EF4-FFF2-40B4-BE49-F238E27FC236}">
                <a16:creationId xmlns:a16="http://schemas.microsoft.com/office/drawing/2014/main" id="{B54F8FA6-3402-87F9-AE02-CF5734DFEFD7}"/>
              </a:ext>
            </a:extLst>
          </p:cNvPr>
          <p:cNvSpPr/>
          <p:nvPr/>
        </p:nvSpPr>
        <p:spPr>
          <a:xfrm>
            <a:off x="4156360" y="3239731"/>
            <a:ext cx="1685971" cy="258855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Slide Number Placeholder 3">
            <a:extLst>
              <a:ext uri="{FF2B5EF4-FFF2-40B4-BE49-F238E27FC236}">
                <a16:creationId xmlns:a16="http://schemas.microsoft.com/office/drawing/2014/main" id="{E50B9839-AC3D-B585-8EDC-B3C8C9AD2A30}"/>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00626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259492" y="2095838"/>
            <a:ext cx="10282119" cy="4166523"/>
          </a:xfrm>
        </p:spPr>
        <p:txBody>
          <a:bodyPr>
            <a:noAutofit/>
          </a:bodyPr>
          <a:lstStyle/>
          <a:p>
            <a:pPr marL="0" indent="0" algn="ctr">
              <a:buNone/>
            </a:pPr>
            <a:r>
              <a:rPr lang="es-ES_tradnl" sz="2000" b="1" dirty="0">
                <a:solidFill>
                  <a:srgbClr val="C00000"/>
                </a:solidFill>
                <a:latin typeface="Century Gothic" panose="020B0502020202020204" pitchFamily="34" charset="0"/>
              </a:rPr>
              <a:t>Caso 1: </a:t>
            </a:r>
            <a:r>
              <a:rPr lang="es-ES_tradnl" sz="2000" b="1" dirty="0">
                <a:solidFill>
                  <a:schemeClr val="accent3">
                    <a:lumMod val="75000"/>
                  </a:schemeClr>
                </a:solidFill>
                <a:latin typeface="Century Gothic" panose="020B0502020202020204" pitchFamily="34" charset="0"/>
              </a:rPr>
              <a:t>Comparación de alternativas mutuamente excluyentes con vidas útiles e inversiones iniciales iguales.</a:t>
            </a:r>
          </a:p>
          <a:p>
            <a:pPr marL="0" indent="0" algn="ctr">
              <a:buNone/>
            </a:pPr>
            <a:endParaRPr lang="es-ES_tradnl" sz="2000" b="1" dirty="0">
              <a:solidFill>
                <a:schemeClr val="accent3">
                  <a:lumMod val="50000"/>
                </a:schemeClr>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Es el caso más sencillo para estudiar a la hora de realizar la selección de proyectos mutuamente excluyentes.</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En este caso, se pueden usar los siguientes IBF:</a:t>
            </a:r>
          </a:p>
          <a:p>
            <a:pPr marL="0" indent="0" algn="ctr">
              <a:buNone/>
            </a:pPr>
            <a:r>
              <a:rPr lang="es-ES_tradnl" sz="2000" b="1" dirty="0">
                <a:solidFill>
                  <a:srgbClr val="D7A700"/>
                </a:solidFill>
                <a:latin typeface="Century Gothic" panose="020B0502020202020204" pitchFamily="34" charset="0"/>
              </a:rPr>
              <a:t>VPN</a:t>
            </a:r>
          </a:p>
          <a:p>
            <a:pPr marL="0" indent="0" algn="ctr">
              <a:buNone/>
            </a:pPr>
            <a:r>
              <a:rPr lang="es-ES_tradnl" sz="2000" b="1" dirty="0">
                <a:solidFill>
                  <a:srgbClr val="D7A700"/>
                </a:solidFill>
                <a:latin typeface="Century Gothic" panose="020B0502020202020204" pitchFamily="34" charset="0"/>
              </a:rPr>
              <a:t>TVR</a:t>
            </a:r>
          </a:p>
          <a:p>
            <a:pPr marL="0" indent="0" algn="ctr">
              <a:buNone/>
            </a:pPr>
            <a:r>
              <a:rPr lang="es-ES_tradnl" sz="2000" b="1" dirty="0">
                <a:solidFill>
                  <a:srgbClr val="D7A700"/>
                </a:solidFill>
                <a:latin typeface="Century Gothic" panose="020B0502020202020204" pitchFamily="34" charset="0"/>
              </a:rPr>
              <a:t>VAE</a:t>
            </a:r>
          </a:p>
          <a:p>
            <a:pPr marL="0" indent="0" algn="ctr">
              <a:buNone/>
            </a:pPr>
            <a:r>
              <a:rPr lang="es-ES_tradnl" sz="2000" b="1" dirty="0">
                <a:solidFill>
                  <a:srgbClr val="D7A700"/>
                </a:solidFill>
                <a:latin typeface="Century Gothic" panose="020B0502020202020204" pitchFamily="34" charset="0"/>
              </a:rPr>
              <a:t>B/C</a:t>
            </a:r>
          </a:p>
        </p:txBody>
      </p:sp>
      <p:pic>
        <p:nvPicPr>
          <p:cNvPr id="7" name="Imagen 6">
            <a:extLst>
              <a:ext uri="{FF2B5EF4-FFF2-40B4-BE49-F238E27FC236}">
                <a16:creationId xmlns:a16="http://schemas.microsoft.com/office/drawing/2014/main" id="{7CF6D562-6370-0B2A-0E90-2EC1638FB090}"/>
              </a:ext>
            </a:extLst>
          </p:cNvPr>
          <p:cNvPicPr>
            <a:picLocks noChangeAspect="1"/>
          </p:cNvPicPr>
          <p:nvPr/>
        </p:nvPicPr>
        <p:blipFill rotWithShape="1">
          <a:blip r:embed="rId2"/>
          <a:srcRect t="7625" b="8432"/>
          <a:stretch/>
        </p:blipFill>
        <p:spPr>
          <a:xfrm>
            <a:off x="8529262" y="4179099"/>
            <a:ext cx="2555292" cy="1549756"/>
          </a:xfrm>
          <a:prstGeom prst="rect">
            <a:avLst/>
          </a:prstGeom>
        </p:spPr>
      </p:pic>
      <p:sp>
        <p:nvSpPr>
          <p:cNvPr id="5" name="Rectángulo 4">
            <a:extLst>
              <a:ext uri="{FF2B5EF4-FFF2-40B4-BE49-F238E27FC236}">
                <a16:creationId xmlns:a16="http://schemas.microsoft.com/office/drawing/2014/main" id="{C3F58F04-25E9-3373-DF01-DC474DBC6AA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8895558-98AC-B134-4A97-DF45282E27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E6CC995-813A-ACC7-1741-0D036FF3CF5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1056A6CD-E993-FE3C-E12E-05D79E36AB4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8182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EBF9B-7C0C-1111-B270-28AAA2A505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74CD57-79C4-4E8D-36E2-CE7B97BC5151}"/>
              </a:ext>
            </a:extLst>
          </p:cNvPr>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C25FB62B-18A2-F751-B278-86157EF9385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770218F-827F-6FAD-BE5C-94863242F6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D92DFCC9-A88A-EDDF-E6AE-EC9615984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7950B313-35F1-9B35-D6C7-CDFEACFA257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1BAC287D-8A16-FDFE-9AC5-585215B8C0B3}"/>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accent1"/>
                </a:solidFill>
                <a:latin typeface="Century Gothic"/>
                <a:cs typeface="Arial"/>
              </a:rPr>
              <a:t>Ejercicios de Práctica.</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70D90040-8978-6D6D-A5ED-8CD98F9F3DAF}"/>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557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86AC9-37DB-B0EA-06B1-21AAF6316B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28CE01-6A07-579A-6E79-30A97B62D535}"/>
              </a:ext>
            </a:extLst>
          </p:cNvPr>
          <p:cNvSpPr>
            <a:spLocks noGrp="1"/>
          </p:cNvSpPr>
          <p:nvPr>
            <p:ph type="title"/>
          </p:nvPr>
        </p:nvSpPr>
        <p:spPr/>
        <p:txBody>
          <a:bodyPr>
            <a:normAutofit/>
          </a:bodyPr>
          <a:lstStyle/>
          <a:p>
            <a:r>
              <a:rPr lang="es-ES" sz="3200" dirty="0">
                <a:latin typeface="Century Gothic" panose="020B0502020202020204" pitchFamily="34" charset="0"/>
              </a:rPr>
              <a:t>PREGUNTA 1 (3 MINUTOS)</a:t>
            </a:r>
          </a:p>
        </p:txBody>
      </p:sp>
      <p:pic>
        <p:nvPicPr>
          <p:cNvPr id="13" name="Imagen 12">
            <a:extLst>
              <a:ext uri="{FF2B5EF4-FFF2-40B4-BE49-F238E27FC236}">
                <a16:creationId xmlns:a16="http://schemas.microsoft.com/office/drawing/2014/main" id="{7C6FEFEF-F6D3-1B5C-36E1-E468CD91F0EA}"/>
              </a:ext>
            </a:extLst>
          </p:cNvPr>
          <p:cNvPicPr>
            <a:picLocks noChangeAspect="1"/>
          </p:cNvPicPr>
          <p:nvPr/>
        </p:nvPicPr>
        <p:blipFill>
          <a:blip r:embed="rId2"/>
          <a:stretch>
            <a:fillRect/>
          </a:stretch>
        </p:blipFill>
        <p:spPr>
          <a:xfrm>
            <a:off x="1761385" y="1864678"/>
            <a:ext cx="7514628" cy="4749951"/>
          </a:xfrm>
          <a:prstGeom prst="rect">
            <a:avLst/>
          </a:prstGeom>
        </p:spPr>
      </p:pic>
      <p:sp>
        <p:nvSpPr>
          <p:cNvPr id="3" name="Rectángulo 2">
            <a:extLst>
              <a:ext uri="{FF2B5EF4-FFF2-40B4-BE49-F238E27FC236}">
                <a16:creationId xmlns:a16="http://schemas.microsoft.com/office/drawing/2014/main" id="{7117C611-9141-DE6C-5F69-236A8C5AD0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BCFCF76-BF6A-4A76-2C3E-D9FB1B0DA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C47BD74A-DD28-08A3-38CD-5E33FF52D8E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7" name="Gráfico 6" descr="Badge Tick1 con relleno sólido">
            <a:extLst>
              <a:ext uri="{FF2B5EF4-FFF2-40B4-BE49-F238E27FC236}">
                <a16:creationId xmlns:a16="http://schemas.microsoft.com/office/drawing/2014/main" id="{8EDFA611-9EB6-F560-8CBA-C1C0564D04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7047" y="6038415"/>
            <a:ext cx="253604" cy="253604"/>
          </a:xfrm>
          <a:prstGeom prst="rect">
            <a:avLst/>
          </a:prstGeom>
        </p:spPr>
      </p:pic>
      <p:pic>
        <p:nvPicPr>
          <p:cNvPr id="17" name="Gráfico 16" descr="Badge Tick1 con relleno sólido">
            <a:extLst>
              <a:ext uri="{FF2B5EF4-FFF2-40B4-BE49-F238E27FC236}">
                <a16:creationId xmlns:a16="http://schemas.microsoft.com/office/drawing/2014/main" id="{DCA76419-E949-7082-F77D-BC40AC0D5C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7047" y="6292019"/>
            <a:ext cx="253604" cy="253604"/>
          </a:xfrm>
          <a:prstGeom prst="rect">
            <a:avLst/>
          </a:prstGeom>
        </p:spPr>
      </p:pic>
      <p:pic>
        <p:nvPicPr>
          <p:cNvPr id="18" name="Picture 2" descr="Aprender a resolver problemas | PressCoaching">
            <a:extLst>
              <a:ext uri="{FF2B5EF4-FFF2-40B4-BE49-F238E27FC236}">
                <a16:creationId xmlns:a16="http://schemas.microsoft.com/office/drawing/2014/main" id="{68B4CDC3-41FD-71FD-D1BE-BDF100E427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9181" y="1989939"/>
            <a:ext cx="3207142" cy="180374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F644244-6073-0316-6962-CD393E5BC3C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4317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224A-0523-F384-2329-43A4DAB90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B7C81-2C4A-4F3B-8C3B-A864B464AEC9}"/>
              </a:ext>
            </a:extLst>
          </p:cNvPr>
          <p:cNvSpPr>
            <a:spLocks noGrp="1"/>
          </p:cNvSpPr>
          <p:nvPr>
            <p:ph type="title"/>
          </p:nvPr>
        </p:nvSpPr>
        <p:spPr/>
        <p:txBody>
          <a:bodyPr>
            <a:normAutofit/>
          </a:bodyPr>
          <a:lstStyle/>
          <a:p>
            <a:r>
              <a:rPr lang="es-ES_tradnl" sz="3200" dirty="0">
                <a:latin typeface="Century Gothic" panose="020B0502020202020204" pitchFamily="34" charset="0"/>
              </a:rPr>
              <a:t>PREGUNTA 2 (4 MINUTOS)</a:t>
            </a:r>
          </a:p>
        </p:txBody>
      </p:sp>
      <p:pic>
        <p:nvPicPr>
          <p:cNvPr id="5" name="Imagen 4">
            <a:extLst>
              <a:ext uri="{FF2B5EF4-FFF2-40B4-BE49-F238E27FC236}">
                <a16:creationId xmlns:a16="http://schemas.microsoft.com/office/drawing/2014/main" id="{7082142B-BC79-7C22-CAA7-9AAD6BD03858}"/>
              </a:ext>
            </a:extLst>
          </p:cNvPr>
          <p:cNvPicPr>
            <a:picLocks noChangeAspect="1"/>
          </p:cNvPicPr>
          <p:nvPr/>
        </p:nvPicPr>
        <p:blipFill>
          <a:blip r:embed="rId2"/>
          <a:stretch>
            <a:fillRect/>
          </a:stretch>
        </p:blipFill>
        <p:spPr>
          <a:xfrm>
            <a:off x="1877905" y="1989939"/>
            <a:ext cx="6057900" cy="4635500"/>
          </a:xfrm>
          <a:prstGeom prst="rect">
            <a:avLst/>
          </a:prstGeom>
        </p:spPr>
      </p:pic>
      <p:sp>
        <p:nvSpPr>
          <p:cNvPr id="3" name="Rectángulo 2">
            <a:extLst>
              <a:ext uri="{FF2B5EF4-FFF2-40B4-BE49-F238E27FC236}">
                <a16:creationId xmlns:a16="http://schemas.microsoft.com/office/drawing/2014/main" id="{A7943A14-3214-5491-2915-7C81C656B5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A9308BA5-3427-E3DF-03C9-ABEA9C0CB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2D04FFA-B663-7044-A63A-AC83B369E21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Gráfico 7" descr="Badge Tick1 con relleno sólido">
            <a:extLst>
              <a:ext uri="{FF2B5EF4-FFF2-40B4-BE49-F238E27FC236}">
                <a16:creationId xmlns:a16="http://schemas.microsoft.com/office/drawing/2014/main" id="{7C3C5CE5-9D57-81F8-7A98-44B88AE796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92052" y="6138699"/>
            <a:ext cx="253604" cy="253604"/>
          </a:xfrm>
          <a:prstGeom prst="rect">
            <a:avLst/>
          </a:prstGeom>
        </p:spPr>
      </p:pic>
      <p:pic>
        <p:nvPicPr>
          <p:cNvPr id="13" name="Picture 2" descr="Tendencias ineficaces a la hora de resolver problemas">
            <a:extLst>
              <a:ext uri="{FF2B5EF4-FFF2-40B4-BE49-F238E27FC236}">
                <a16:creationId xmlns:a16="http://schemas.microsoft.com/office/drawing/2014/main" id="{161717B5-1E6E-E26F-7424-DC7E46E06D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5306" y="2909200"/>
            <a:ext cx="2891043" cy="17540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E945DBB-8564-B179-A367-76F353BC578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03083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9A59-04F5-3B80-C41F-881F979700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3840E3-A533-EB02-5FB1-BC6047A2B4CB}"/>
              </a:ext>
            </a:extLst>
          </p:cNvPr>
          <p:cNvSpPr>
            <a:spLocks noGrp="1"/>
          </p:cNvSpPr>
          <p:nvPr>
            <p:ph type="ctrTitle"/>
          </p:nvPr>
        </p:nvSpPr>
        <p:spPr>
          <a:xfrm>
            <a:off x="470868" y="1814732"/>
            <a:ext cx="10687556" cy="826833"/>
          </a:xfrm>
        </p:spPr>
        <p:txBody>
          <a:bodyPr>
            <a:noAutofit/>
          </a:bodyPr>
          <a:lstStyle/>
          <a:p>
            <a:r>
              <a:rPr lang="es-CO" sz="3000" dirty="0">
                <a:latin typeface="Century Gothic"/>
              </a:rPr>
              <a:t>COMPARACIÓN Y SELECCIÓN DE PROYECTOS (</a:t>
            </a:r>
            <a:r>
              <a:rPr lang="es-CO" sz="3000" dirty="0">
                <a:solidFill>
                  <a:srgbClr val="D7A700"/>
                </a:solidFill>
                <a:latin typeface="Century Gothic"/>
              </a:rPr>
              <a:t>PARTE I</a:t>
            </a:r>
            <a:r>
              <a:rPr lang="es-CO" sz="3000" dirty="0">
                <a:latin typeface="Century Gothic"/>
              </a:rPr>
              <a:t>)</a:t>
            </a:r>
            <a:endParaRPr lang="es-CO" sz="3000" dirty="0">
              <a:latin typeface="Century Gothic" panose="020B0502020202020204" pitchFamily="34" charset="0"/>
            </a:endParaRPr>
          </a:p>
        </p:txBody>
      </p:sp>
      <p:sp>
        <p:nvSpPr>
          <p:cNvPr id="8" name="Rectángulo 7">
            <a:extLst>
              <a:ext uri="{FF2B5EF4-FFF2-40B4-BE49-F238E27FC236}">
                <a16:creationId xmlns:a16="http://schemas.microsoft.com/office/drawing/2014/main" id="{E33566FD-36BA-E245-7994-38C5CA390C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3E5965B1-A690-D783-7E0E-F0F39DB0F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2646EA66-FD2D-F0AF-B985-5CE8AFCDA1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6F2DCEAC-C7C8-9AB7-A3A2-480B8D7762C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ADEFB415-9918-0CF3-9EED-BC899E9F523A}"/>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00058634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2539</TotalTime>
  <Words>2839</Words>
  <Application>Microsoft Macintosh PowerPoint</Application>
  <PresentationFormat>Widescreen</PresentationFormat>
  <Paragraphs>794</Paragraphs>
  <Slides>43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Cambria Math</vt:lpstr>
      <vt:lpstr>Century Gothic</vt:lpstr>
      <vt:lpstr>Courier New</vt:lpstr>
      <vt:lpstr>Gill Sans MT</vt:lpstr>
      <vt:lpstr>Wingdings</vt:lpstr>
      <vt:lpstr>Wingdings 2</vt:lpstr>
      <vt:lpstr>Dividendo</vt:lpstr>
      <vt:lpstr>COMPARACIÓN Y SELECCIÓN DE PROYECTOS (PARTE I)</vt:lpstr>
      <vt:lpstr>AGENDA PROPUESTA</vt:lpstr>
      <vt:lpstr>AGENDA PROPUESTA</vt:lpstr>
      <vt:lpstr>INTRODUCCIÓN Y TIPOS DE PROYECTOS</vt:lpstr>
      <vt:lpstr>INTRODUCCIÓN Y TIPOS DE PROYECTOS</vt:lpstr>
      <vt:lpstr>INTRODUCCIÓN Y TIPOS DE PROYECTOS</vt:lpstr>
      <vt:lpstr>AGENDA PROPUESTA</vt:lpstr>
      <vt:lpstr>Proyectos Independientes</vt:lpstr>
      <vt:lpstr>Proyectos Independientes</vt:lpstr>
      <vt:lpstr>Proyectos Independientes</vt:lpstr>
      <vt:lpstr>Proyectos Independientes</vt:lpstr>
      <vt:lpstr>Proyectos Independientes</vt:lpstr>
      <vt:lpstr>AGENDA PROPUESTA</vt:lpstr>
      <vt:lpstr>Proyectos dependientes</vt:lpstr>
      <vt:lpstr>Proyectos dependientes</vt:lpstr>
      <vt:lpstr>Proyectos dependientes</vt:lpstr>
      <vt:lpstr>Proyectos dependientes</vt:lpstr>
      <vt:lpstr>Proyectos dependientes</vt:lpstr>
      <vt:lpstr>Proyectos dependientes</vt:lpstr>
      <vt:lpstr>Proyectos dependientes</vt:lpstr>
      <vt:lpstr>AGENDA PROPUESTA</vt:lpstr>
      <vt:lpstr>PROYECTOS Mutuamente Excluyentes</vt:lpstr>
      <vt:lpstr>PROYECTOS Mutuamente Excluyentes</vt:lpstr>
      <vt:lpstr>PROYECTOS Mutuamente Excluyentes</vt:lpstr>
      <vt:lpstr>Proyectos Mutuamente Excluyentes</vt:lpstr>
      <vt:lpstr>AGENDA PROPUESTA</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AGENDA PROPUESTA</vt:lpstr>
      <vt:lpstr>PREGUNTA 1 (3 MINUTOS)</vt:lpstr>
      <vt:lpstr>PREGUNTA 2 (4 MINUTOS)</vt:lpstr>
      <vt:lpstr>COMPARACIÓN Y SELECCIÓN DE PROYECTOS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60</cp:revision>
  <dcterms:created xsi:type="dcterms:W3CDTF">2019-06-20T04:25:04Z</dcterms:created>
  <dcterms:modified xsi:type="dcterms:W3CDTF">2026-09-22T17:16:36Z</dcterms:modified>
</cp:coreProperties>
</file>