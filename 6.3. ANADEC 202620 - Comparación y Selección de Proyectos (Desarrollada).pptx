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37"/>
  </p:notesMasterIdLst>
  <p:handoutMasterIdLst>
    <p:handoutMasterId r:id="rId38"/>
  </p:handoutMasterIdLst>
  <p:sldIdLst>
    <p:sldId id="398" r:id="rId2"/>
    <p:sldId id="462" r:id="rId3"/>
    <p:sldId id="463" r:id="rId4"/>
    <p:sldId id="449" r:id="rId5"/>
    <p:sldId id="453" r:id="rId6"/>
    <p:sldId id="423" r:id="rId7"/>
    <p:sldId id="424" r:id="rId8"/>
    <p:sldId id="425" r:id="rId9"/>
    <p:sldId id="426" r:id="rId10"/>
    <p:sldId id="455" r:id="rId11"/>
    <p:sldId id="261" r:id="rId12"/>
    <p:sldId id="427" r:id="rId13"/>
    <p:sldId id="456" r:id="rId14"/>
    <p:sldId id="457" r:id="rId15"/>
    <p:sldId id="428" r:id="rId16"/>
    <p:sldId id="429" r:id="rId17"/>
    <p:sldId id="454" r:id="rId18"/>
    <p:sldId id="464" r:id="rId19"/>
    <p:sldId id="465" r:id="rId20"/>
    <p:sldId id="466" r:id="rId21"/>
    <p:sldId id="467" r:id="rId22"/>
    <p:sldId id="468" r:id="rId23"/>
    <p:sldId id="469" r:id="rId24"/>
    <p:sldId id="470" r:id="rId25"/>
    <p:sldId id="471" r:id="rId26"/>
    <p:sldId id="472" r:id="rId27"/>
    <p:sldId id="460" r:id="rId28"/>
    <p:sldId id="458" r:id="rId29"/>
    <p:sldId id="473" r:id="rId30"/>
    <p:sldId id="445" r:id="rId31"/>
    <p:sldId id="450" r:id="rId32"/>
    <p:sldId id="451" r:id="rId33"/>
    <p:sldId id="452" r:id="rId34"/>
    <p:sldId id="461" r:id="rId35"/>
    <p:sldId id="403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A700"/>
    <a:srgbClr val="002F90"/>
    <a:srgbClr val="33CC33"/>
    <a:srgbClr val="FFF4E6"/>
    <a:srgbClr val="E8F8FA"/>
    <a:srgbClr val="DFFFFF"/>
    <a:srgbClr val="FF6600"/>
    <a:srgbClr val="6666FF"/>
    <a:srgbClr val="FF505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C97D1C-6DB5-4045-8CE4-87DBACD3D52A}" v="1" dt="2026-10-08T16:53:42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0" autoAdjust="0"/>
    <p:restoredTop sz="94645"/>
  </p:normalViewPr>
  <p:slideViewPr>
    <p:cSldViewPr snapToGrid="0">
      <p:cViewPr varScale="1">
        <p:scale>
          <a:sx n="143" d="100"/>
          <a:sy n="143" d="100"/>
        </p:scale>
        <p:origin x="21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tte Castañeda Rodriguez" userId="5c201908-82f6-498c-9281-7eaa96fb17b4" providerId="ADAL" clId="{FA146403-BBA5-5A93-8956-7210BF70CAFE}"/>
    <pc:docChg chg="addSld modSld">
      <pc:chgData name="Brigitte Castañeda Rodriguez" userId="5c201908-82f6-498c-9281-7eaa96fb17b4" providerId="ADAL" clId="{FA146403-BBA5-5A93-8956-7210BF70CAFE}" dt="2026-10-06T18:53:44.589" v="39" actId="1076"/>
      <pc:docMkLst>
        <pc:docMk/>
      </pc:docMkLst>
      <pc:sldChg chg="addSp delSp modSp new mod">
        <pc:chgData name="Brigitte Castañeda Rodriguez" userId="5c201908-82f6-498c-9281-7eaa96fb17b4" providerId="ADAL" clId="{FA146403-BBA5-5A93-8956-7210BF70CAFE}" dt="2026-10-06T18:41:57.735" v="27" actId="14100"/>
        <pc:sldMkLst>
          <pc:docMk/>
          <pc:sldMk cId="1720043484" sldId="462"/>
        </pc:sldMkLst>
        <pc:spChg chg="mod">
          <ac:chgData name="Brigitte Castañeda Rodriguez" userId="5c201908-82f6-498c-9281-7eaa96fb17b4" providerId="ADAL" clId="{FA146403-BBA5-5A93-8956-7210BF70CAFE}" dt="2026-10-06T18:40:27.550" v="17" actId="20577"/>
          <ac:spMkLst>
            <pc:docMk/>
            <pc:sldMk cId="1720043484" sldId="462"/>
            <ac:spMk id="2" creationId="{086F7825-9519-56FC-D75E-257AA6C09CB4}"/>
          </ac:spMkLst>
        </pc:spChg>
        <pc:spChg chg="add mod">
          <ac:chgData name="Brigitte Castañeda Rodriguez" userId="5c201908-82f6-498c-9281-7eaa96fb17b4" providerId="ADAL" clId="{FA146403-BBA5-5A93-8956-7210BF70CAFE}" dt="2026-10-06T18:41:57.735" v="27" actId="14100"/>
          <ac:spMkLst>
            <pc:docMk/>
            <pc:sldMk cId="1720043484" sldId="462"/>
            <ac:spMk id="7" creationId="{1C0BEE2D-404A-9CD0-7ABD-78113BD6DE25}"/>
          </ac:spMkLst>
        </pc:spChg>
        <pc:picChg chg="add mod">
          <ac:chgData name="Brigitte Castañeda Rodriguez" userId="5c201908-82f6-498c-9281-7eaa96fb17b4" providerId="ADAL" clId="{FA146403-BBA5-5A93-8956-7210BF70CAFE}" dt="2026-10-06T18:40:56.369" v="20" actId="1076"/>
          <ac:picMkLst>
            <pc:docMk/>
            <pc:sldMk cId="1720043484" sldId="462"/>
            <ac:picMk id="5" creationId="{D097672E-DADD-9217-6301-8111C184D252}"/>
          </ac:picMkLst>
        </pc:picChg>
      </pc:sldChg>
      <pc:sldChg chg="addSp delSp modSp new mod">
        <pc:chgData name="Brigitte Castañeda Rodriguez" userId="5c201908-82f6-498c-9281-7eaa96fb17b4" providerId="ADAL" clId="{FA146403-BBA5-5A93-8956-7210BF70CAFE}" dt="2026-10-06T18:53:44.589" v="39" actId="1076"/>
        <pc:sldMkLst>
          <pc:docMk/>
          <pc:sldMk cId="4270155669" sldId="463"/>
        </pc:sldMkLst>
        <pc:spChg chg="mod">
          <ac:chgData name="Brigitte Castañeda Rodriguez" userId="5c201908-82f6-498c-9281-7eaa96fb17b4" providerId="ADAL" clId="{FA146403-BBA5-5A93-8956-7210BF70CAFE}" dt="2026-10-06T18:53:30.082" v="34" actId="20577"/>
          <ac:spMkLst>
            <pc:docMk/>
            <pc:sldMk cId="4270155669" sldId="463"/>
            <ac:spMk id="2" creationId="{7B994A7D-F480-F14D-6B36-050FDFC836DB}"/>
          </ac:spMkLst>
        </pc:spChg>
        <pc:picChg chg="add mod">
          <ac:chgData name="Brigitte Castañeda Rodriguez" userId="5c201908-82f6-498c-9281-7eaa96fb17b4" providerId="ADAL" clId="{FA146403-BBA5-5A93-8956-7210BF70CAFE}" dt="2026-10-06T18:53:43.453" v="37" actId="1076"/>
          <ac:picMkLst>
            <pc:docMk/>
            <pc:sldMk cId="4270155669" sldId="463"/>
            <ac:picMk id="5" creationId="{6B8FB9E9-823E-8CD3-F479-301F3048C87C}"/>
          </ac:picMkLst>
        </pc:picChg>
        <pc:picChg chg="add mod">
          <ac:chgData name="Brigitte Castañeda Rodriguez" userId="5c201908-82f6-498c-9281-7eaa96fb17b4" providerId="ADAL" clId="{FA146403-BBA5-5A93-8956-7210BF70CAFE}" dt="2026-10-06T18:53:44.589" v="39" actId="1076"/>
          <ac:picMkLst>
            <pc:docMk/>
            <pc:sldMk cId="4270155669" sldId="463"/>
            <ac:picMk id="6" creationId="{48828B9E-084E-3C23-E921-CA5849E690A5}"/>
          </ac:picMkLst>
        </pc:picChg>
      </pc:sldChg>
    </pc:docChg>
  </pc:docChgLst>
  <pc:docChgLst>
    <pc:chgData name="Brigitte Castañeda Rodriguez" userId="5c201908-82f6-498c-9281-7eaa96fb17b4" providerId="ADAL" clId="{938F7A95-1314-5A0F-843E-287C4A35EE59}"/>
    <pc:docChg chg="custSel addSld delSld modSld sldOrd">
      <pc:chgData name="Brigitte Castañeda Rodriguez" userId="5c201908-82f6-498c-9281-7eaa96fb17b4" providerId="ADAL" clId="{938F7A95-1314-5A0F-843E-287C4A35EE59}" dt="2026-10-08T16:53:46.149" v="25" actId="20578"/>
      <pc:docMkLst>
        <pc:docMk/>
      </pc:docMkLst>
      <pc:sldChg chg="del">
        <pc:chgData name="Brigitte Castañeda Rodriguez" userId="5c201908-82f6-498c-9281-7eaa96fb17b4" providerId="ADAL" clId="{938F7A95-1314-5A0F-843E-287C4A35EE59}" dt="2026-10-08T16:52:17.350" v="23" actId="2696"/>
        <pc:sldMkLst>
          <pc:docMk/>
          <pc:sldMk cId="2388988279" sldId="459"/>
        </pc:sldMkLst>
      </pc:sldChg>
      <pc:sldChg chg="addSp modSp add mod">
        <pc:chgData name="Brigitte Castañeda Rodriguez" userId="5c201908-82f6-498c-9281-7eaa96fb17b4" providerId="ADAL" clId="{938F7A95-1314-5A0F-843E-287C4A35EE59}" dt="2026-10-08T16:50:20.495" v="3" actId="2085"/>
        <pc:sldMkLst>
          <pc:docMk/>
          <pc:sldMk cId="4177770840" sldId="464"/>
        </pc:sldMkLst>
        <pc:spChg chg="add mod">
          <ac:chgData name="Brigitte Castañeda Rodriguez" userId="5c201908-82f6-498c-9281-7eaa96fb17b4" providerId="ADAL" clId="{938F7A95-1314-5A0F-843E-287C4A35EE59}" dt="2026-10-08T16:50:20.495" v="3" actId="2085"/>
          <ac:spMkLst>
            <pc:docMk/>
            <pc:sldMk cId="4177770840" sldId="464"/>
            <ac:spMk id="4" creationId="{F3E937F4-1D1E-AFF3-8FD5-FF3A8C84ACD7}"/>
          </ac:spMkLst>
        </pc:spChg>
      </pc:sldChg>
      <pc:sldChg chg="modSp add mod">
        <pc:chgData name="Brigitte Castañeda Rodriguez" userId="5c201908-82f6-498c-9281-7eaa96fb17b4" providerId="ADAL" clId="{938F7A95-1314-5A0F-843E-287C4A35EE59}" dt="2026-10-08T16:50:37.636" v="6" actId="14100"/>
        <pc:sldMkLst>
          <pc:docMk/>
          <pc:sldMk cId="1966294431" sldId="465"/>
        </pc:sldMkLst>
        <pc:spChg chg="mod">
          <ac:chgData name="Brigitte Castañeda Rodriguez" userId="5c201908-82f6-498c-9281-7eaa96fb17b4" providerId="ADAL" clId="{938F7A95-1314-5A0F-843E-287C4A35EE59}" dt="2026-10-08T16:50:37.636" v="6" actId="14100"/>
          <ac:spMkLst>
            <pc:docMk/>
            <pc:sldMk cId="1966294431" sldId="465"/>
            <ac:spMk id="4" creationId="{0C6512D6-484A-8A2D-798A-267E82F1DC9D}"/>
          </ac:spMkLst>
        </pc:spChg>
      </pc:sldChg>
      <pc:sldChg chg="modSp add mod">
        <pc:chgData name="Brigitte Castañeda Rodriguez" userId="5c201908-82f6-498c-9281-7eaa96fb17b4" providerId="ADAL" clId="{938F7A95-1314-5A0F-843E-287C4A35EE59}" dt="2026-10-08T16:50:49.003" v="8" actId="14100"/>
        <pc:sldMkLst>
          <pc:docMk/>
          <pc:sldMk cId="2616249801" sldId="466"/>
        </pc:sldMkLst>
        <pc:spChg chg="mod">
          <ac:chgData name="Brigitte Castañeda Rodriguez" userId="5c201908-82f6-498c-9281-7eaa96fb17b4" providerId="ADAL" clId="{938F7A95-1314-5A0F-843E-287C4A35EE59}" dt="2026-10-08T16:50:49.003" v="8" actId="14100"/>
          <ac:spMkLst>
            <pc:docMk/>
            <pc:sldMk cId="2616249801" sldId="466"/>
            <ac:spMk id="4" creationId="{93F049A2-F2E5-CF7B-C311-8F2800A66FFA}"/>
          </ac:spMkLst>
        </pc:spChg>
      </pc:sldChg>
      <pc:sldChg chg="modSp add mod">
        <pc:chgData name="Brigitte Castañeda Rodriguez" userId="5c201908-82f6-498c-9281-7eaa96fb17b4" providerId="ADAL" clId="{938F7A95-1314-5A0F-843E-287C4A35EE59}" dt="2026-10-08T16:51:07.606" v="11" actId="14100"/>
        <pc:sldMkLst>
          <pc:docMk/>
          <pc:sldMk cId="4049798009" sldId="467"/>
        </pc:sldMkLst>
        <pc:spChg chg="mod">
          <ac:chgData name="Brigitte Castañeda Rodriguez" userId="5c201908-82f6-498c-9281-7eaa96fb17b4" providerId="ADAL" clId="{938F7A95-1314-5A0F-843E-287C4A35EE59}" dt="2026-10-08T16:51:07.606" v="11" actId="14100"/>
          <ac:spMkLst>
            <pc:docMk/>
            <pc:sldMk cId="4049798009" sldId="467"/>
            <ac:spMk id="4" creationId="{1B279260-FACB-7E34-D01D-CBA21684E4B7}"/>
          </ac:spMkLst>
        </pc:spChg>
      </pc:sldChg>
      <pc:sldChg chg="modSp add mod">
        <pc:chgData name="Brigitte Castañeda Rodriguez" userId="5c201908-82f6-498c-9281-7eaa96fb17b4" providerId="ADAL" clId="{938F7A95-1314-5A0F-843E-287C4A35EE59}" dt="2026-10-08T16:51:17.367" v="12" actId="14100"/>
        <pc:sldMkLst>
          <pc:docMk/>
          <pc:sldMk cId="1084293137" sldId="468"/>
        </pc:sldMkLst>
        <pc:spChg chg="mod">
          <ac:chgData name="Brigitte Castañeda Rodriguez" userId="5c201908-82f6-498c-9281-7eaa96fb17b4" providerId="ADAL" clId="{938F7A95-1314-5A0F-843E-287C4A35EE59}" dt="2026-10-08T16:51:17.367" v="12" actId="14100"/>
          <ac:spMkLst>
            <pc:docMk/>
            <pc:sldMk cId="1084293137" sldId="468"/>
            <ac:spMk id="4" creationId="{884A0E95-323F-A4B1-45B1-E9EC50657C74}"/>
          </ac:spMkLst>
        </pc:spChg>
      </pc:sldChg>
      <pc:sldChg chg="modSp add mod">
        <pc:chgData name="Brigitte Castañeda Rodriguez" userId="5c201908-82f6-498c-9281-7eaa96fb17b4" providerId="ADAL" clId="{938F7A95-1314-5A0F-843E-287C4A35EE59}" dt="2026-10-08T16:51:28.552" v="14" actId="14100"/>
        <pc:sldMkLst>
          <pc:docMk/>
          <pc:sldMk cId="3014151623" sldId="469"/>
        </pc:sldMkLst>
        <pc:spChg chg="mod">
          <ac:chgData name="Brigitte Castañeda Rodriguez" userId="5c201908-82f6-498c-9281-7eaa96fb17b4" providerId="ADAL" clId="{938F7A95-1314-5A0F-843E-287C4A35EE59}" dt="2026-10-08T16:51:28.552" v="14" actId="14100"/>
          <ac:spMkLst>
            <pc:docMk/>
            <pc:sldMk cId="3014151623" sldId="469"/>
            <ac:spMk id="4" creationId="{CAC59083-A72D-B8AA-B839-CB5F49591346}"/>
          </ac:spMkLst>
        </pc:spChg>
      </pc:sldChg>
      <pc:sldChg chg="modSp add mod">
        <pc:chgData name="Brigitte Castañeda Rodriguez" userId="5c201908-82f6-498c-9281-7eaa96fb17b4" providerId="ADAL" clId="{938F7A95-1314-5A0F-843E-287C4A35EE59}" dt="2026-10-08T16:51:52.752" v="18" actId="14100"/>
        <pc:sldMkLst>
          <pc:docMk/>
          <pc:sldMk cId="229560238" sldId="470"/>
        </pc:sldMkLst>
        <pc:spChg chg="mod">
          <ac:chgData name="Brigitte Castañeda Rodriguez" userId="5c201908-82f6-498c-9281-7eaa96fb17b4" providerId="ADAL" clId="{938F7A95-1314-5A0F-843E-287C4A35EE59}" dt="2026-10-08T16:51:52.752" v="18" actId="14100"/>
          <ac:spMkLst>
            <pc:docMk/>
            <pc:sldMk cId="229560238" sldId="470"/>
            <ac:spMk id="4" creationId="{B74DFB33-BAAC-AD9E-5E34-3B9FD67E689A}"/>
          </ac:spMkLst>
        </pc:spChg>
      </pc:sldChg>
      <pc:sldChg chg="modSp add mod">
        <pc:chgData name="Brigitte Castañeda Rodriguez" userId="5c201908-82f6-498c-9281-7eaa96fb17b4" providerId="ADAL" clId="{938F7A95-1314-5A0F-843E-287C4A35EE59}" dt="2026-10-08T16:52:05" v="20" actId="14100"/>
        <pc:sldMkLst>
          <pc:docMk/>
          <pc:sldMk cId="1896783471" sldId="471"/>
        </pc:sldMkLst>
        <pc:spChg chg="mod">
          <ac:chgData name="Brigitte Castañeda Rodriguez" userId="5c201908-82f6-498c-9281-7eaa96fb17b4" providerId="ADAL" clId="{938F7A95-1314-5A0F-843E-287C4A35EE59}" dt="2026-10-08T16:52:05" v="20" actId="14100"/>
          <ac:spMkLst>
            <pc:docMk/>
            <pc:sldMk cId="1896783471" sldId="471"/>
            <ac:spMk id="4" creationId="{F9C7A4EE-F412-0637-7B24-0A88AD0D9912}"/>
          </ac:spMkLst>
        </pc:spChg>
      </pc:sldChg>
      <pc:sldChg chg="delSp add mod">
        <pc:chgData name="Brigitte Castañeda Rodriguez" userId="5c201908-82f6-498c-9281-7eaa96fb17b4" providerId="ADAL" clId="{938F7A95-1314-5A0F-843E-287C4A35EE59}" dt="2026-10-08T16:52:11.562" v="22" actId="478"/>
        <pc:sldMkLst>
          <pc:docMk/>
          <pc:sldMk cId="1726644615" sldId="472"/>
        </pc:sldMkLst>
        <pc:spChg chg="del">
          <ac:chgData name="Brigitte Castañeda Rodriguez" userId="5c201908-82f6-498c-9281-7eaa96fb17b4" providerId="ADAL" clId="{938F7A95-1314-5A0F-843E-287C4A35EE59}" dt="2026-10-08T16:52:11.562" v="22" actId="478"/>
          <ac:spMkLst>
            <pc:docMk/>
            <pc:sldMk cId="1726644615" sldId="472"/>
            <ac:spMk id="4" creationId="{49FB8FDF-D289-FCC8-1D81-F491A08B7CBF}"/>
          </ac:spMkLst>
        </pc:spChg>
      </pc:sldChg>
      <pc:sldChg chg="add ord">
        <pc:chgData name="Brigitte Castañeda Rodriguez" userId="5c201908-82f6-498c-9281-7eaa96fb17b4" providerId="ADAL" clId="{938F7A95-1314-5A0F-843E-287C4A35EE59}" dt="2026-10-08T16:53:46.149" v="25" actId="20578"/>
        <pc:sldMkLst>
          <pc:docMk/>
          <pc:sldMk cId="4202908" sldId="473"/>
        </pc:sldMkLst>
      </pc:sldChg>
    </pc:docChg>
  </pc:docChgLst>
  <pc:docChgLst>
    <pc:chgData name="Diana Lucila Bohorquez Gomez" userId="S::dl.bohorquez@uniandes.edu.co::a5eb8baf-0f6a-49af-b1ae-2734181cf298" providerId="AD" clId="Web-{12E4A3C8-C579-18D9-D2BA-FF6B04AC8DCC}"/>
    <pc:docChg chg="modSld">
      <pc:chgData name="Diana Lucila Bohorquez Gomez" userId="S::dl.bohorquez@uniandes.edu.co::a5eb8baf-0f6a-49af-b1ae-2734181cf298" providerId="AD" clId="Web-{12E4A3C8-C579-18D9-D2BA-FF6B04AC8DCC}" dt="2026-10-05T13:14:10.196" v="1"/>
      <pc:docMkLst>
        <pc:docMk/>
      </pc:docMkLst>
      <pc:sldChg chg="modSp">
        <pc:chgData name="Diana Lucila Bohorquez Gomez" userId="S::dl.bohorquez@uniandes.edu.co::a5eb8baf-0f6a-49af-b1ae-2734181cf298" providerId="AD" clId="Web-{12E4A3C8-C579-18D9-D2BA-FF6B04AC8DCC}" dt="2026-10-05T13:14:10.196" v="1"/>
        <pc:sldMkLst>
          <pc:docMk/>
          <pc:sldMk cId="2388988279" sldId="459"/>
        </pc:sldMkLst>
        <pc:graphicFrameChg chg="mod modGraphic">
          <ac:chgData name="Diana Lucila Bohorquez Gomez" userId="S::dl.bohorquez@uniandes.edu.co::a5eb8baf-0f6a-49af-b1ae-2734181cf298" providerId="AD" clId="Web-{12E4A3C8-C579-18D9-D2BA-FF6B04AC8DCC}" dt="2026-10-05T13:14:10.196" v="1"/>
          <ac:graphicFrameMkLst>
            <pc:docMk/>
            <pc:sldMk cId="2388988279" sldId="459"/>
            <ac:graphicFrameMk id="9" creationId="{632C3B19-46A3-535E-E26B-E9C0115EF80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8/10/26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8/10/26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5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2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2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7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2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3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6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0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3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5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7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787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jpeg"/><Relationship Id="rId4" Type="http://schemas.openxmlformats.org/officeDocument/2006/relationships/image" Target="../media/image12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687556" cy="826833"/>
          </a:xfrm>
        </p:spPr>
        <p:txBody>
          <a:bodyPr>
            <a:noAutofit/>
          </a:bodyPr>
          <a:lstStyle/>
          <a:p>
            <a:r>
              <a:rPr lang="es-CO" sz="3000" dirty="0">
                <a:latin typeface="Century Gothic"/>
              </a:rPr>
              <a:t>COMPARACIÓN Y SELECCIÓN DE PROYECTOS (</a:t>
            </a:r>
            <a:r>
              <a:rPr lang="es-CO" sz="3000" dirty="0">
                <a:solidFill>
                  <a:srgbClr val="D7A700"/>
                </a:solidFill>
                <a:latin typeface="Century Gothic"/>
              </a:rPr>
              <a:t>PARTE III</a:t>
            </a:r>
            <a:r>
              <a:rPr lang="es-CO" sz="3000" dirty="0">
                <a:latin typeface="Century Gothic"/>
              </a:rPr>
              <a:t>)</a:t>
            </a:r>
            <a:endParaRPr lang="es-CO" sz="3000" dirty="0">
              <a:latin typeface="Century Gothic" panose="020B0502020202020204" pitchFamily="34" charset="0"/>
            </a:endParaRPr>
          </a:p>
        </p:txBody>
      </p:sp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AD5C9A0-84B6-D7D9-1079-C468AF2B0A5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E1678139-4461-9349-5DEB-C59837F3E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BA773F3-394D-067A-A8F5-1671AA5AFD9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6CFE1A0-DD4A-5EC2-9193-7C5003ED4DDE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7825-9519-56FC-D75E-257AA6C09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EXCEL DE REPASO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97672E-DADD-9217-6301-8111C184D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7446" y="2063994"/>
            <a:ext cx="4383943" cy="43540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D0602-85E3-FA2E-EF57-BD549B2A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BEE2D-404A-9CD0-7ABD-78113BD6DE25}"/>
              </a:ext>
            </a:extLst>
          </p:cNvPr>
          <p:cNvSpPr txBox="1"/>
          <p:nvPr/>
        </p:nvSpPr>
        <p:spPr>
          <a:xfrm>
            <a:off x="797169" y="3560857"/>
            <a:ext cx="3528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O" sz="2400" dirty="0">
                <a:solidFill>
                  <a:srgbClr val="FF0000"/>
                </a:solidFill>
              </a:rPr>
              <a:t>https://shorturl.at/2EWR9</a:t>
            </a:r>
          </a:p>
        </p:txBody>
      </p:sp>
    </p:spTree>
    <p:extLst>
      <p:ext uri="{BB962C8B-B14F-4D97-AF65-F5344CB8AC3E}">
        <p14:creationId xmlns:p14="http://schemas.microsoft.com/office/powerpoint/2010/main" val="1720043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94A7D-F480-F14D-6B36-050FDFC8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MENTI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8FB9E9-823E-8CD3-F479-301F3048C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2564" y="2277899"/>
            <a:ext cx="3898244" cy="36782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9581E-2EE1-F5A2-91E6-CDB14BEA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828B9E-084E-3C23-E921-CA5849E69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623" y="2277899"/>
            <a:ext cx="5317206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5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772729"/>
            <a:ext cx="8540907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/>
                <a:cs typeface="Arial"/>
              </a:rPr>
              <a:t>Proyectos Mutuamente Excluyentes.</a:t>
            </a:r>
            <a:endParaRPr lang="es-CO" dirty="0">
              <a:solidFill>
                <a:schemeClr val="accent1">
                  <a:lumMod val="75000"/>
                </a:schemeClr>
              </a:solidFill>
              <a:latin typeface="Century Gothic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	</a:t>
            </a: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1.1.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Caso 3: distinta vida útil y distinta inversión inicial.</a:t>
            </a:r>
          </a:p>
          <a:p>
            <a:pPr>
              <a:buClr>
                <a:srgbClr val="48BE7A"/>
              </a:buClr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Consolidado Evaluación Proyectos</a:t>
            </a: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Ejercicios de Práctica.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1EBBCEC-05FB-F446-B35D-BFE0B079BA1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7C131E77-E6C7-9CBD-D9DE-11EDF449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712DB0F-E569-0A29-C7A4-5EDA9C8A3BC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2AE86183-F820-25BF-0997-EB230E97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65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F15F-3C83-37FE-31C0-1E841619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E05D0-969D-95EC-9381-26ADC540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761807AD-F081-35E9-266F-B713FEE26D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55937C94-7B1F-B66E-DE3C-906CF502671C}"/>
              </a:ext>
            </a:extLst>
          </p:cNvPr>
          <p:cNvSpPr/>
          <p:nvPr/>
        </p:nvSpPr>
        <p:spPr>
          <a:xfrm>
            <a:off x="2806200" y="2772729"/>
            <a:ext cx="8540907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Proyectos Mutuamente Excluyentes.</a:t>
            </a:r>
            <a:endParaRPr lang="es-CO" dirty="0">
              <a:solidFill>
                <a:schemeClr val="bg2">
                  <a:lumMod val="90000"/>
                </a:schemeClr>
              </a:solidFill>
              <a:latin typeface="Century Gothic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	</a:t>
            </a: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1.1.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Caso 3: distinta vida útil y distinta inversión inicial.</a:t>
            </a:r>
          </a:p>
          <a:p>
            <a:pPr>
              <a:buClr>
                <a:srgbClr val="48BE7A"/>
              </a:buClr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Consolidado Evaluación Proyectos</a:t>
            </a: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endParaRPr lang="es-CO" dirty="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Ejercicios de Práctica.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6788A66-E768-459A-385F-A9016BB1D01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381188BE-39FF-35B1-CA49-ED3403732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7BCD732-721D-C824-759B-C415958BDA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CFA82E4-F0D6-0095-AEB2-CB4ECF4E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69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7272" y="2944819"/>
            <a:ext cx="2469722" cy="80318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Misma Vida Útil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35641" y="3937321"/>
            <a:ext cx="2088967" cy="1211411"/>
          </a:xfrm>
          <a:prstGeom prst="roundRect">
            <a:avLst/>
          </a:prstGeom>
          <a:solidFill>
            <a:schemeClr val="accent2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Proyectos Mutuamente Excluyentes</a:t>
            </a:r>
          </a:p>
        </p:txBody>
      </p:sp>
      <p:cxnSp>
        <p:nvCxnSpPr>
          <p:cNvPr id="8" name="Curved Connector 7"/>
          <p:cNvCxnSpPr>
            <a:stCxn id="7" idx="0"/>
            <a:endCxn id="6" idx="1"/>
          </p:cNvCxnSpPr>
          <p:nvPr/>
        </p:nvCxnSpPr>
        <p:spPr>
          <a:xfrm rot="5400000" flipH="1" flipV="1">
            <a:off x="3558244" y="2468292"/>
            <a:ext cx="590908" cy="2347148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6" idx="3"/>
            <a:endCxn id="10" idx="1"/>
          </p:cNvCxnSpPr>
          <p:nvPr/>
        </p:nvCxnSpPr>
        <p:spPr>
          <a:xfrm flipV="1">
            <a:off x="7496994" y="2527136"/>
            <a:ext cx="886618" cy="819276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83613" y="2188370"/>
            <a:ext cx="2054201" cy="67753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Inversión Inicial Igual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3613" y="3937320"/>
            <a:ext cx="2054201" cy="67753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Inversión Inicial Distinta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7272" y="5465449"/>
            <a:ext cx="2469722" cy="80318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Distinta Vida Útil</a:t>
            </a:r>
          </a:p>
        </p:txBody>
      </p:sp>
      <p:cxnSp>
        <p:nvCxnSpPr>
          <p:cNvPr id="28" name="Curved Connector 27"/>
          <p:cNvCxnSpPr>
            <a:stCxn id="6" idx="3"/>
            <a:endCxn id="19" idx="1"/>
          </p:cNvCxnSpPr>
          <p:nvPr/>
        </p:nvCxnSpPr>
        <p:spPr>
          <a:xfrm>
            <a:off x="7496994" y="3346412"/>
            <a:ext cx="886618" cy="929674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7" idx="2"/>
            <a:endCxn id="25" idx="1"/>
          </p:cNvCxnSpPr>
          <p:nvPr/>
        </p:nvCxnSpPr>
        <p:spPr>
          <a:xfrm rot="16200000" flipH="1">
            <a:off x="3494544" y="4334312"/>
            <a:ext cx="718311" cy="2347148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48AE31D-E680-6519-2CA7-D4D2DD81B4CC}"/>
              </a:ext>
            </a:extLst>
          </p:cNvPr>
          <p:cNvSpPr txBox="1"/>
          <p:nvPr/>
        </p:nvSpPr>
        <p:spPr>
          <a:xfrm>
            <a:off x="10556359" y="4091420"/>
            <a:ext cx="1148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Caso 2 </a:t>
            </a:r>
            <a:endParaRPr lang="es-CO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818B9FF-B089-2044-49CC-43218CA5645A}"/>
              </a:ext>
            </a:extLst>
          </p:cNvPr>
          <p:cNvSpPr txBox="1"/>
          <p:nvPr/>
        </p:nvSpPr>
        <p:spPr>
          <a:xfrm>
            <a:off x="10510071" y="2358038"/>
            <a:ext cx="1148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Caso 1 </a:t>
            </a:r>
            <a:endParaRPr lang="es-CO" sz="20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E885C4-9006-8069-681B-85CDB96D0577}"/>
              </a:ext>
            </a:extLst>
          </p:cNvPr>
          <p:cNvSpPr txBox="1"/>
          <p:nvPr/>
        </p:nvSpPr>
        <p:spPr>
          <a:xfrm>
            <a:off x="7514097" y="5682230"/>
            <a:ext cx="1148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Caso 3 </a:t>
            </a:r>
            <a:endParaRPr lang="es-CO" sz="20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62F2F0F-133C-1573-454B-B3175A099D0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A49B3BC2-07BF-CCB4-003D-47BE2FB1B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F4465351-C5A2-727E-64F4-D7232A1FDE2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7BDDD4-5B83-31B7-AA8E-CCB14C8FF165}"/>
              </a:ext>
            </a:extLst>
          </p:cNvPr>
          <p:cNvSpPr/>
          <p:nvPr/>
        </p:nvSpPr>
        <p:spPr>
          <a:xfrm>
            <a:off x="7531350" y="5682230"/>
            <a:ext cx="1052508" cy="4001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8F29475-CC73-E7E4-D736-FF34F8A6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6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98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998" y="1789614"/>
            <a:ext cx="7933543" cy="43662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Caso 3: </a:t>
            </a:r>
            <a:r>
              <a:rPr lang="es-ES_tradnl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Comparación de alternativas mutuamente excluyentes con vidas útiles e inversiones iniciales distintas.</a:t>
            </a:r>
          </a:p>
          <a:p>
            <a:pPr marL="0" indent="0" algn="ctr">
              <a:buNone/>
            </a:pP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En este caso, se podrá optar por dos alternativas: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replicar o no replicar el proyecto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ctr">
              <a:buNone/>
            </a:pPr>
            <a:endParaRPr lang="es-ES_tradnl" sz="1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Replicar el proyecto implica que este se pueda realizar nuevamente de manera indefinida bajo </a:t>
            </a:r>
            <a:r>
              <a:rPr lang="es-ES_tradnl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las mismas condiciones iniciales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 Es decir que, asumiendo réplica, los proyectos se podrían llevar a una </a:t>
            </a:r>
            <a:r>
              <a:rPr lang="es-ES_tradnl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misma base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de comparación.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861D6FF-B266-9277-F7C2-4BCD008BFB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18" t="15135" r="11430" b="10238"/>
          <a:stretch/>
        </p:blipFill>
        <p:spPr>
          <a:xfrm>
            <a:off x="8855251" y="2671732"/>
            <a:ext cx="2755557" cy="27303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36F6386-32CE-0A5E-653C-84F54B1F364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50A15B13-F1DE-4385-B666-3DEB53512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CB7617A-A023-FC24-CE27-013FB7DFBE6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Marcador de número de diapositiva 2">
            <a:extLst>
              <a:ext uri="{FF2B5EF4-FFF2-40B4-BE49-F238E27FC236}">
                <a16:creationId xmlns:a16="http://schemas.microsoft.com/office/drawing/2014/main" id="{47C2FCD4-6070-A5A1-FEF7-6B725AF5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7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4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Arrow Connector 18">
            <a:extLst>
              <a:ext uri="{FF2B5EF4-FFF2-40B4-BE49-F238E27FC236}">
                <a16:creationId xmlns:a16="http://schemas.microsoft.com/office/drawing/2014/main" id="{F308F2AB-E0BC-D3EB-9537-BDE2F08D079D}"/>
              </a:ext>
            </a:extLst>
          </p:cNvPr>
          <p:cNvCxnSpPr/>
          <p:nvPr/>
        </p:nvCxnSpPr>
        <p:spPr>
          <a:xfrm flipV="1">
            <a:off x="8423390" y="391532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18">
            <a:extLst>
              <a:ext uri="{FF2B5EF4-FFF2-40B4-BE49-F238E27FC236}">
                <a16:creationId xmlns:a16="http://schemas.microsoft.com/office/drawing/2014/main" id="{CC358806-F0A6-96F9-F1D8-8A3CC7E685F4}"/>
              </a:ext>
            </a:extLst>
          </p:cNvPr>
          <p:cNvCxnSpPr/>
          <p:nvPr/>
        </p:nvCxnSpPr>
        <p:spPr>
          <a:xfrm flipV="1">
            <a:off x="7805952" y="391532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8">
            <a:extLst>
              <a:ext uri="{FF2B5EF4-FFF2-40B4-BE49-F238E27FC236}">
                <a16:creationId xmlns:a16="http://schemas.microsoft.com/office/drawing/2014/main" id="{D80166A8-9038-9E91-D0FA-9277D718515B}"/>
              </a:ext>
            </a:extLst>
          </p:cNvPr>
          <p:cNvCxnSpPr/>
          <p:nvPr/>
        </p:nvCxnSpPr>
        <p:spPr>
          <a:xfrm flipV="1">
            <a:off x="4297506" y="3884418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6" y="2085093"/>
            <a:ext cx="10018323" cy="6630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Analicemos los siguientes dos potenciales proyectos. Usted debe escoger uno. Su costo de oportunidad es 10%. Suponiendo que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NO SE PUEDEN 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replicar: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7172769" y="4578828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>
            <a:spLocks/>
          </p:cNvSpPr>
          <p:nvPr/>
        </p:nvSpPr>
        <p:spPr bwMode="auto">
          <a:xfrm flipH="1">
            <a:off x="7087168" y="4235608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8756088" y="424437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6257988" y="5471145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9063007" y="3920721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>
            <a:spLocks/>
          </p:cNvSpPr>
          <p:nvPr/>
        </p:nvSpPr>
        <p:spPr bwMode="auto">
          <a:xfrm>
            <a:off x="8756088" y="3609339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045995" y="4547924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>
            <a:spLocks/>
          </p:cNvSpPr>
          <p:nvPr/>
        </p:nvSpPr>
        <p:spPr bwMode="auto">
          <a:xfrm flipH="1">
            <a:off x="2960394" y="4204704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28" name="Rectangle 27"/>
          <p:cNvSpPr>
            <a:spLocks/>
          </p:cNvSpPr>
          <p:nvPr/>
        </p:nvSpPr>
        <p:spPr bwMode="auto">
          <a:xfrm>
            <a:off x="3423488" y="4201418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39" name="Rectangle 38"/>
          <p:cNvSpPr>
            <a:spLocks/>
          </p:cNvSpPr>
          <p:nvPr/>
        </p:nvSpPr>
        <p:spPr bwMode="auto">
          <a:xfrm>
            <a:off x="2109733" y="5436955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4809897-1561-66E4-F938-8A32F6FA49C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6" name="Picture 2" descr="Clientes y aliados | Centro de Evaluación | Uniandes">
            <a:extLst>
              <a:ext uri="{FF2B5EF4-FFF2-40B4-BE49-F238E27FC236}">
                <a16:creationId xmlns:a16="http://schemas.microsoft.com/office/drawing/2014/main" id="{92EF2E46-FA1D-9B7A-FB86-FAA3328AF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3A7A709E-05CC-7479-0603-A525611CC9C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172769" y="4578829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18">
            <a:extLst>
              <a:ext uri="{FF2B5EF4-FFF2-40B4-BE49-F238E27FC236}">
                <a16:creationId xmlns:a16="http://schemas.microsoft.com/office/drawing/2014/main" id="{6CBAE996-632E-627E-B912-F99AAFFB55D9}"/>
              </a:ext>
            </a:extLst>
          </p:cNvPr>
          <p:cNvCxnSpPr/>
          <p:nvPr/>
        </p:nvCxnSpPr>
        <p:spPr>
          <a:xfrm flipV="1">
            <a:off x="3680068" y="3884418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cxnSpLocks/>
          </p:cNvCxnSpPr>
          <p:nvPr/>
        </p:nvCxnSpPr>
        <p:spPr>
          <a:xfrm flipV="1">
            <a:off x="3045996" y="4547923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30">
            <a:extLst>
              <a:ext uri="{FF2B5EF4-FFF2-40B4-BE49-F238E27FC236}">
                <a16:creationId xmlns:a16="http://schemas.microsoft.com/office/drawing/2014/main" id="{2B90C806-9F13-BCE0-18EC-B5825D6429EA}"/>
              </a:ext>
            </a:extLst>
          </p:cNvPr>
          <p:cNvSpPr>
            <a:spLocks/>
          </p:cNvSpPr>
          <p:nvPr/>
        </p:nvSpPr>
        <p:spPr bwMode="auto">
          <a:xfrm>
            <a:off x="3361150" y="3572638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43" name="Rectangle 27">
            <a:extLst>
              <a:ext uri="{FF2B5EF4-FFF2-40B4-BE49-F238E27FC236}">
                <a16:creationId xmlns:a16="http://schemas.microsoft.com/office/drawing/2014/main" id="{AB11D516-6542-30A1-9C0D-5E65A858F8EA}"/>
              </a:ext>
            </a:extLst>
          </p:cNvPr>
          <p:cNvSpPr>
            <a:spLocks/>
          </p:cNvSpPr>
          <p:nvPr/>
        </p:nvSpPr>
        <p:spPr bwMode="auto">
          <a:xfrm>
            <a:off x="4040926" y="4201418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45" name="Rectangle 30">
            <a:extLst>
              <a:ext uri="{FF2B5EF4-FFF2-40B4-BE49-F238E27FC236}">
                <a16:creationId xmlns:a16="http://schemas.microsoft.com/office/drawing/2014/main" id="{894223F2-FD83-9E2B-C97D-393D50D37D38}"/>
              </a:ext>
            </a:extLst>
          </p:cNvPr>
          <p:cNvSpPr>
            <a:spLocks/>
          </p:cNvSpPr>
          <p:nvPr/>
        </p:nvSpPr>
        <p:spPr bwMode="auto">
          <a:xfrm>
            <a:off x="3978588" y="3572638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47" name="Rectangle 27">
            <a:extLst>
              <a:ext uri="{FF2B5EF4-FFF2-40B4-BE49-F238E27FC236}">
                <a16:creationId xmlns:a16="http://schemas.microsoft.com/office/drawing/2014/main" id="{C277E3F5-40E6-6763-91E2-0E9556A70F62}"/>
              </a:ext>
            </a:extLst>
          </p:cNvPr>
          <p:cNvSpPr>
            <a:spLocks/>
          </p:cNvSpPr>
          <p:nvPr/>
        </p:nvSpPr>
        <p:spPr bwMode="auto">
          <a:xfrm>
            <a:off x="7549372" y="4232322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49" name="Rectangle 30">
            <a:extLst>
              <a:ext uri="{FF2B5EF4-FFF2-40B4-BE49-F238E27FC236}">
                <a16:creationId xmlns:a16="http://schemas.microsoft.com/office/drawing/2014/main" id="{FFF478E0-46BF-40D3-76DD-D4182D2F5475}"/>
              </a:ext>
            </a:extLst>
          </p:cNvPr>
          <p:cNvSpPr>
            <a:spLocks/>
          </p:cNvSpPr>
          <p:nvPr/>
        </p:nvSpPr>
        <p:spPr bwMode="auto">
          <a:xfrm>
            <a:off x="7487034" y="360354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50" name="Rectangle 27">
            <a:extLst>
              <a:ext uri="{FF2B5EF4-FFF2-40B4-BE49-F238E27FC236}">
                <a16:creationId xmlns:a16="http://schemas.microsoft.com/office/drawing/2014/main" id="{69375A6B-CC2D-26BB-B293-2A6A6B4BFA28}"/>
              </a:ext>
            </a:extLst>
          </p:cNvPr>
          <p:cNvSpPr>
            <a:spLocks/>
          </p:cNvSpPr>
          <p:nvPr/>
        </p:nvSpPr>
        <p:spPr bwMode="auto">
          <a:xfrm>
            <a:off x="8166810" y="4232322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51" name="Rectangle 30">
            <a:extLst>
              <a:ext uri="{FF2B5EF4-FFF2-40B4-BE49-F238E27FC236}">
                <a16:creationId xmlns:a16="http://schemas.microsoft.com/office/drawing/2014/main" id="{82CC5A37-541A-48EC-80F0-7E76FF171844}"/>
              </a:ext>
            </a:extLst>
          </p:cNvPr>
          <p:cNvSpPr>
            <a:spLocks/>
          </p:cNvSpPr>
          <p:nvPr/>
        </p:nvSpPr>
        <p:spPr bwMode="auto">
          <a:xfrm>
            <a:off x="8104472" y="360354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830371F0-7D25-2DAD-6215-9B5F2B5F5F9E}"/>
              </a:ext>
            </a:extLst>
          </p:cNvPr>
          <p:cNvSpPr>
            <a:spLocks/>
          </p:cNvSpPr>
          <p:nvPr/>
        </p:nvSpPr>
        <p:spPr bwMode="auto">
          <a:xfrm>
            <a:off x="3134279" y="3053410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53" name="Rectangle 43">
            <a:extLst>
              <a:ext uri="{FF2B5EF4-FFF2-40B4-BE49-F238E27FC236}">
                <a16:creationId xmlns:a16="http://schemas.microsoft.com/office/drawing/2014/main" id="{3910E1C2-5F9D-5C10-CF38-9268CE4092AF}"/>
              </a:ext>
            </a:extLst>
          </p:cNvPr>
          <p:cNvSpPr>
            <a:spLocks/>
          </p:cNvSpPr>
          <p:nvPr/>
        </p:nvSpPr>
        <p:spPr bwMode="auto">
          <a:xfrm>
            <a:off x="7562501" y="3053409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6948D81D-93BC-AADD-9C48-D12AD574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8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213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436" y="1719022"/>
            <a:ext cx="8972384" cy="6630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Vemos como el VPN y el VAE no nos dan resultados consistentes.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146940"/>
              </p:ext>
            </p:extLst>
          </p:nvPr>
        </p:nvGraphicFramePr>
        <p:xfrm>
          <a:off x="3539487" y="5319858"/>
          <a:ext cx="507365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IBF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B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(10%)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$ 10,24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$ 11,74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VAE (10%)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$ 5,90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$ 4,72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Rectángulo 35">
            <a:extLst>
              <a:ext uri="{FF2B5EF4-FFF2-40B4-BE49-F238E27FC236}">
                <a16:creationId xmlns:a16="http://schemas.microsoft.com/office/drawing/2014/main" id="{1D2FE92C-D129-5BA0-7FD8-3EC9D219614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7" name="Picture 2" descr="Clientes y aliados | Centro de Evaluación | Uniandes">
            <a:extLst>
              <a:ext uri="{FF2B5EF4-FFF2-40B4-BE49-F238E27FC236}">
                <a16:creationId xmlns:a16="http://schemas.microsoft.com/office/drawing/2014/main" id="{169BE077-9786-9A2A-03DE-962665E96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E1AE9B5F-F51A-151A-A9DA-9B946F553AC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8" name="Straight Arrow Connector 18">
            <a:extLst>
              <a:ext uri="{FF2B5EF4-FFF2-40B4-BE49-F238E27FC236}">
                <a16:creationId xmlns:a16="http://schemas.microsoft.com/office/drawing/2014/main" id="{A465D4E3-C84F-DFFF-44FE-84D553A5EAC8}"/>
              </a:ext>
            </a:extLst>
          </p:cNvPr>
          <p:cNvCxnSpPr/>
          <p:nvPr/>
        </p:nvCxnSpPr>
        <p:spPr>
          <a:xfrm flipV="1">
            <a:off x="8567164" y="322801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18">
            <a:extLst>
              <a:ext uri="{FF2B5EF4-FFF2-40B4-BE49-F238E27FC236}">
                <a16:creationId xmlns:a16="http://schemas.microsoft.com/office/drawing/2014/main" id="{1E20B450-4BFB-A0DA-0B03-60D641B1EE42}"/>
              </a:ext>
            </a:extLst>
          </p:cNvPr>
          <p:cNvCxnSpPr/>
          <p:nvPr/>
        </p:nvCxnSpPr>
        <p:spPr>
          <a:xfrm flipV="1">
            <a:off x="7949726" y="322801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18">
            <a:extLst>
              <a:ext uri="{FF2B5EF4-FFF2-40B4-BE49-F238E27FC236}">
                <a16:creationId xmlns:a16="http://schemas.microsoft.com/office/drawing/2014/main" id="{CE53A494-D8BA-C137-7682-6B160C0125CF}"/>
              </a:ext>
            </a:extLst>
          </p:cNvPr>
          <p:cNvCxnSpPr/>
          <p:nvPr/>
        </p:nvCxnSpPr>
        <p:spPr>
          <a:xfrm flipV="1">
            <a:off x="4372269" y="326035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4">
            <a:extLst>
              <a:ext uri="{FF2B5EF4-FFF2-40B4-BE49-F238E27FC236}">
                <a16:creationId xmlns:a16="http://schemas.microsoft.com/office/drawing/2014/main" id="{3AD65EB3-41F9-0AC0-CDCE-796296AA6C4D}"/>
              </a:ext>
            </a:extLst>
          </p:cNvPr>
          <p:cNvCxnSpPr/>
          <p:nvPr/>
        </p:nvCxnSpPr>
        <p:spPr>
          <a:xfrm>
            <a:off x="7316543" y="3891521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6">
            <a:extLst>
              <a:ext uri="{FF2B5EF4-FFF2-40B4-BE49-F238E27FC236}">
                <a16:creationId xmlns:a16="http://schemas.microsoft.com/office/drawing/2014/main" id="{8BCA6BFB-BE49-A14F-F879-992D0A67816E}"/>
              </a:ext>
            </a:extLst>
          </p:cNvPr>
          <p:cNvSpPr>
            <a:spLocks/>
          </p:cNvSpPr>
          <p:nvPr/>
        </p:nvSpPr>
        <p:spPr bwMode="auto">
          <a:xfrm flipH="1">
            <a:off x="7230942" y="3548301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73" name="Rectangle 12">
            <a:extLst>
              <a:ext uri="{FF2B5EF4-FFF2-40B4-BE49-F238E27FC236}">
                <a16:creationId xmlns:a16="http://schemas.microsoft.com/office/drawing/2014/main" id="{083B5AB1-1399-B269-0502-FDDE6DB671BA}"/>
              </a:ext>
            </a:extLst>
          </p:cNvPr>
          <p:cNvSpPr>
            <a:spLocks/>
          </p:cNvSpPr>
          <p:nvPr/>
        </p:nvSpPr>
        <p:spPr bwMode="auto">
          <a:xfrm>
            <a:off x="8899862" y="355706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74" name="Rectangle 15">
            <a:extLst>
              <a:ext uri="{FF2B5EF4-FFF2-40B4-BE49-F238E27FC236}">
                <a16:creationId xmlns:a16="http://schemas.microsoft.com/office/drawing/2014/main" id="{AA3355A5-9170-111A-C8CE-2D00EC87413C}"/>
              </a:ext>
            </a:extLst>
          </p:cNvPr>
          <p:cNvSpPr>
            <a:spLocks/>
          </p:cNvSpPr>
          <p:nvPr/>
        </p:nvSpPr>
        <p:spPr bwMode="auto">
          <a:xfrm>
            <a:off x="6401762" y="478383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75" name="Straight Arrow Connector 18">
            <a:extLst>
              <a:ext uri="{FF2B5EF4-FFF2-40B4-BE49-F238E27FC236}">
                <a16:creationId xmlns:a16="http://schemas.microsoft.com/office/drawing/2014/main" id="{0873B8B4-6914-5431-FC0F-EADABFDFFBD4}"/>
              </a:ext>
            </a:extLst>
          </p:cNvPr>
          <p:cNvCxnSpPr/>
          <p:nvPr/>
        </p:nvCxnSpPr>
        <p:spPr>
          <a:xfrm flipV="1">
            <a:off x="9206781" y="3233414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20">
            <a:extLst>
              <a:ext uri="{FF2B5EF4-FFF2-40B4-BE49-F238E27FC236}">
                <a16:creationId xmlns:a16="http://schemas.microsoft.com/office/drawing/2014/main" id="{23CA799A-E74D-8546-093E-825FCDB50DDD}"/>
              </a:ext>
            </a:extLst>
          </p:cNvPr>
          <p:cNvSpPr>
            <a:spLocks/>
          </p:cNvSpPr>
          <p:nvPr/>
        </p:nvSpPr>
        <p:spPr bwMode="auto">
          <a:xfrm>
            <a:off x="8899863" y="289899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77" name="Straight Arrow Connector 21">
            <a:extLst>
              <a:ext uri="{FF2B5EF4-FFF2-40B4-BE49-F238E27FC236}">
                <a16:creationId xmlns:a16="http://schemas.microsoft.com/office/drawing/2014/main" id="{680D4F62-AF07-A8F1-CAB9-91AD5B9FFC58}"/>
              </a:ext>
            </a:extLst>
          </p:cNvPr>
          <p:cNvCxnSpPr/>
          <p:nvPr/>
        </p:nvCxnSpPr>
        <p:spPr>
          <a:xfrm>
            <a:off x="3120758" y="3923859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23">
            <a:extLst>
              <a:ext uri="{FF2B5EF4-FFF2-40B4-BE49-F238E27FC236}">
                <a16:creationId xmlns:a16="http://schemas.microsoft.com/office/drawing/2014/main" id="{A774A7F7-71D5-D2CD-CA2E-216DBC04F6DB}"/>
              </a:ext>
            </a:extLst>
          </p:cNvPr>
          <p:cNvSpPr>
            <a:spLocks/>
          </p:cNvSpPr>
          <p:nvPr/>
        </p:nvSpPr>
        <p:spPr bwMode="auto">
          <a:xfrm flipH="1">
            <a:off x="3035157" y="3580639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79" name="Rectangle 27">
            <a:extLst>
              <a:ext uri="{FF2B5EF4-FFF2-40B4-BE49-F238E27FC236}">
                <a16:creationId xmlns:a16="http://schemas.microsoft.com/office/drawing/2014/main" id="{E2D3CB73-A4C8-BF0A-3E03-091DCBA158BC}"/>
              </a:ext>
            </a:extLst>
          </p:cNvPr>
          <p:cNvSpPr>
            <a:spLocks/>
          </p:cNvSpPr>
          <p:nvPr/>
        </p:nvSpPr>
        <p:spPr bwMode="auto">
          <a:xfrm>
            <a:off x="3498251" y="357735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80" name="Rectangle 38">
            <a:extLst>
              <a:ext uri="{FF2B5EF4-FFF2-40B4-BE49-F238E27FC236}">
                <a16:creationId xmlns:a16="http://schemas.microsoft.com/office/drawing/2014/main" id="{232ED999-4656-88EA-61F8-9A504848CB55}"/>
              </a:ext>
            </a:extLst>
          </p:cNvPr>
          <p:cNvSpPr>
            <a:spLocks/>
          </p:cNvSpPr>
          <p:nvPr/>
        </p:nvSpPr>
        <p:spPr bwMode="auto">
          <a:xfrm>
            <a:off x="2166185" y="476738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81" name="Straight Connector 16">
            <a:extLst>
              <a:ext uri="{FF2B5EF4-FFF2-40B4-BE49-F238E27FC236}">
                <a16:creationId xmlns:a16="http://schemas.microsoft.com/office/drawing/2014/main" id="{06FE6AFF-B299-7A48-A626-6FC8CB2A6A76}"/>
              </a:ext>
            </a:extLst>
          </p:cNvPr>
          <p:cNvCxnSpPr/>
          <p:nvPr/>
        </p:nvCxnSpPr>
        <p:spPr>
          <a:xfrm>
            <a:off x="7316543" y="3891522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8">
            <a:extLst>
              <a:ext uri="{FF2B5EF4-FFF2-40B4-BE49-F238E27FC236}">
                <a16:creationId xmlns:a16="http://schemas.microsoft.com/office/drawing/2014/main" id="{F9F8A3D9-F726-0723-4B6C-7702F4102364}"/>
              </a:ext>
            </a:extLst>
          </p:cNvPr>
          <p:cNvCxnSpPr/>
          <p:nvPr/>
        </p:nvCxnSpPr>
        <p:spPr>
          <a:xfrm flipV="1">
            <a:off x="3754831" y="326035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32">
            <a:extLst>
              <a:ext uri="{FF2B5EF4-FFF2-40B4-BE49-F238E27FC236}">
                <a16:creationId xmlns:a16="http://schemas.microsoft.com/office/drawing/2014/main" id="{FF9283C0-0EAD-83D3-5CFA-4DAFED1C0AB5}"/>
              </a:ext>
            </a:extLst>
          </p:cNvPr>
          <p:cNvCxnSpPr>
            <a:cxnSpLocks/>
          </p:cNvCxnSpPr>
          <p:nvPr/>
        </p:nvCxnSpPr>
        <p:spPr>
          <a:xfrm flipV="1">
            <a:off x="3120759" y="3923858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30">
            <a:extLst>
              <a:ext uri="{FF2B5EF4-FFF2-40B4-BE49-F238E27FC236}">
                <a16:creationId xmlns:a16="http://schemas.microsoft.com/office/drawing/2014/main" id="{309F5651-0F66-3FDD-0AF9-A5247A0146AD}"/>
              </a:ext>
            </a:extLst>
          </p:cNvPr>
          <p:cNvSpPr>
            <a:spLocks/>
          </p:cNvSpPr>
          <p:nvPr/>
        </p:nvSpPr>
        <p:spPr bwMode="auto">
          <a:xfrm>
            <a:off x="3435913" y="294857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85" name="Rectangle 27">
            <a:extLst>
              <a:ext uri="{FF2B5EF4-FFF2-40B4-BE49-F238E27FC236}">
                <a16:creationId xmlns:a16="http://schemas.microsoft.com/office/drawing/2014/main" id="{2383681E-0736-A3C2-8D6F-AE4963539251}"/>
              </a:ext>
            </a:extLst>
          </p:cNvPr>
          <p:cNvSpPr>
            <a:spLocks/>
          </p:cNvSpPr>
          <p:nvPr/>
        </p:nvSpPr>
        <p:spPr bwMode="auto">
          <a:xfrm>
            <a:off x="4115689" y="357735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86" name="Rectangle 30">
            <a:extLst>
              <a:ext uri="{FF2B5EF4-FFF2-40B4-BE49-F238E27FC236}">
                <a16:creationId xmlns:a16="http://schemas.microsoft.com/office/drawing/2014/main" id="{B7C7836F-8864-7CF1-C464-2E525795BEFF}"/>
              </a:ext>
            </a:extLst>
          </p:cNvPr>
          <p:cNvSpPr>
            <a:spLocks/>
          </p:cNvSpPr>
          <p:nvPr/>
        </p:nvSpPr>
        <p:spPr bwMode="auto">
          <a:xfrm>
            <a:off x="4053351" y="294857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87" name="Rectangle 27">
            <a:extLst>
              <a:ext uri="{FF2B5EF4-FFF2-40B4-BE49-F238E27FC236}">
                <a16:creationId xmlns:a16="http://schemas.microsoft.com/office/drawing/2014/main" id="{E675D5B0-F970-2702-DAE3-E8373913B720}"/>
              </a:ext>
            </a:extLst>
          </p:cNvPr>
          <p:cNvSpPr>
            <a:spLocks/>
          </p:cNvSpPr>
          <p:nvPr/>
        </p:nvSpPr>
        <p:spPr bwMode="auto">
          <a:xfrm>
            <a:off x="7693146" y="354501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88" name="Rectangle 30">
            <a:extLst>
              <a:ext uri="{FF2B5EF4-FFF2-40B4-BE49-F238E27FC236}">
                <a16:creationId xmlns:a16="http://schemas.microsoft.com/office/drawing/2014/main" id="{428AC85A-7885-E1FA-D9A0-FE854AEF8BA0}"/>
              </a:ext>
            </a:extLst>
          </p:cNvPr>
          <p:cNvSpPr>
            <a:spLocks/>
          </p:cNvSpPr>
          <p:nvPr/>
        </p:nvSpPr>
        <p:spPr bwMode="auto">
          <a:xfrm>
            <a:off x="7630808" y="291623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89" name="Rectangle 27">
            <a:extLst>
              <a:ext uri="{FF2B5EF4-FFF2-40B4-BE49-F238E27FC236}">
                <a16:creationId xmlns:a16="http://schemas.microsoft.com/office/drawing/2014/main" id="{5FA0688D-DBF7-C4BC-C9A0-5DC7CA8846A9}"/>
              </a:ext>
            </a:extLst>
          </p:cNvPr>
          <p:cNvSpPr>
            <a:spLocks/>
          </p:cNvSpPr>
          <p:nvPr/>
        </p:nvSpPr>
        <p:spPr bwMode="auto">
          <a:xfrm>
            <a:off x="8310584" y="354501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90" name="Rectangle 30">
            <a:extLst>
              <a:ext uri="{FF2B5EF4-FFF2-40B4-BE49-F238E27FC236}">
                <a16:creationId xmlns:a16="http://schemas.microsoft.com/office/drawing/2014/main" id="{238E0999-CC42-0A3D-0D77-F51268B97201}"/>
              </a:ext>
            </a:extLst>
          </p:cNvPr>
          <p:cNvSpPr>
            <a:spLocks/>
          </p:cNvSpPr>
          <p:nvPr/>
        </p:nvSpPr>
        <p:spPr bwMode="auto">
          <a:xfrm>
            <a:off x="8248246" y="291623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91" name="Rectangle 43">
            <a:extLst>
              <a:ext uri="{FF2B5EF4-FFF2-40B4-BE49-F238E27FC236}">
                <a16:creationId xmlns:a16="http://schemas.microsoft.com/office/drawing/2014/main" id="{6BF006A9-A227-A190-D3AE-C2E38F60D8C2}"/>
              </a:ext>
            </a:extLst>
          </p:cNvPr>
          <p:cNvSpPr>
            <a:spLocks/>
          </p:cNvSpPr>
          <p:nvPr/>
        </p:nvSpPr>
        <p:spPr bwMode="auto">
          <a:xfrm>
            <a:off x="3120758" y="2439464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92" name="Rectangle 43">
            <a:extLst>
              <a:ext uri="{FF2B5EF4-FFF2-40B4-BE49-F238E27FC236}">
                <a16:creationId xmlns:a16="http://schemas.microsoft.com/office/drawing/2014/main" id="{E0EDD2BF-5298-11A9-5261-BFBADE612CEE}"/>
              </a:ext>
            </a:extLst>
          </p:cNvPr>
          <p:cNvSpPr>
            <a:spLocks/>
          </p:cNvSpPr>
          <p:nvPr/>
        </p:nvSpPr>
        <p:spPr bwMode="auto">
          <a:xfrm>
            <a:off x="7742354" y="2439463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248F7624-D53A-2108-432E-C06D25E54070}"/>
              </a:ext>
            </a:extLst>
          </p:cNvPr>
          <p:cNvSpPr/>
          <p:nvPr/>
        </p:nvSpPr>
        <p:spPr>
          <a:xfrm>
            <a:off x="3438812" y="5630309"/>
            <a:ext cx="1887166" cy="4522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6722B5B7-EE69-023E-78B1-851D79D21A67}"/>
              </a:ext>
            </a:extLst>
          </p:cNvPr>
          <p:cNvSpPr/>
          <p:nvPr/>
        </p:nvSpPr>
        <p:spPr>
          <a:xfrm>
            <a:off x="6844504" y="5630309"/>
            <a:ext cx="1887166" cy="4522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EFA8CD2D-E607-23B0-A097-89ECAF3A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9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15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0DFA4-258E-0390-EED0-94044A557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1229-6CB5-B880-E29A-6612FF8F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5F3B8-FEEF-B64E-5B05-4C14B118A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41" y="1780034"/>
            <a:ext cx="8972384" cy="6630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Y si hiciéramos análisis marginal con un indicador como B/C.</a:t>
            </a:r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25235CD-2D2A-C3B9-9876-B212F4824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618438"/>
              </p:ext>
            </p:extLst>
          </p:nvPr>
        </p:nvGraphicFramePr>
        <p:xfrm>
          <a:off x="1516525" y="5182485"/>
          <a:ext cx="507365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IBF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B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(10%)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$ 10,24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$ 11,74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VAE (10%)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$ 5,90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$ 4,72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B/C (B-A)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" sz="20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1,09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491353"/>
                  </a:ext>
                </a:extLst>
              </a:tr>
            </a:tbl>
          </a:graphicData>
        </a:graphic>
      </p:graphicFrame>
      <p:sp>
        <p:nvSpPr>
          <p:cNvPr id="36" name="Rectángulo 35">
            <a:extLst>
              <a:ext uri="{FF2B5EF4-FFF2-40B4-BE49-F238E27FC236}">
                <a16:creationId xmlns:a16="http://schemas.microsoft.com/office/drawing/2014/main" id="{66433DBD-A6BB-5431-D8BD-562191A63AB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7" name="Picture 2" descr="Clientes y aliados | Centro de Evaluación | Uniandes">
            <a:extLst>
              <a:ext uri="{FF2B5EF4-FFF2-40B4-BE49-F238E27FC236}">
                <a16:creationId xmlns:a16="http://schemas.microsoft.com/office/drawing/2014/main" id="{E70C2ECD-B8FB-A26A-2C2F-D059B0F61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9A477770-05F3-C4B3-2DDC-E4F784D3AF3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081DCB0-94CE-25B2-5C66-679454A7B6E7}"/>
              </a:ext>
            </a:extLst>
          </p:cNvPr>
          <p:cNvSpPr txBox="1"/>
          <p:nvPr/>
        </p:nvSpPr>
        <p:spPr>
          <a:xfrm>
            <a:off x="7077689" y="5355972"/>
            <a:ext cx="28028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Se confirma que el proyecto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</a:t>
            </a: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 es más conveniente que el A </a:t>
            </a:r>
            <a:r>
              <a:rPr lang="es-ES" sz="18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si no se puede replicar</a:t>
            </a: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lang="es-CO" b="1" dirty="0"/>
          </a:p>
        </p:txBody>
      </p: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09371196-9E94-05EE-3952-D6ABDE4D6390}"/>
              </a:ext>
            </a:extLst>
          </p:cNvPr>
          <p:cNvCxnSpPr/>
          <p:nvPr/>
        </p:nvCxnSpPr>
        <p:spPr>
          <a:xfrm flipV="1">
            <a:off x="8567164" y="322801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8">
            <a:extLst>
              <a:ext uri="{FF2B5EF4-FFF2-40B4-BE49-F238E27FC236}">
                <a16:creationId xmlns:a16="http://schemas.microsoft.com/office/drawing/2014/main" id="{22952E16-C696-EBEA-8F32-BEDDDE702D47}"/>
              </a:ext>
            </a:extLst>
          </p:cNvPr>
          <p:cNvCxnSpPr/>
          <p:nvPr/>
        </p:nvCxnSpPr>
        <p:spPr>
          <a:xfrm flipV="1">
            <a:off x="7949726" y="322801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8">
            <a:extLst>
              <a:ext uri="{FF2B5EF4-FFF2-40B4-BE49-F238E27FC236}">
                <a16:creationId xmlns:a16="http://schemas.microsoft.com/office/drawing/2014/main" id="{676A2BEA-0D89-4ACC-A0D5-CA9BF90433FF}"/>
              </a:ext>
            </a:extLst>
          </p:cNvPr>
          <p:cNvCxnSpPr/>
          <p:nvPr/>
        </p:nvCxnSpPr>
        <p:spPr>
          <a:xfrm flipV="1">
            <a:off x="4372269" y="326035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4">
            <a:extLst>
              <a:ext uri="{FF2B5EF4-FFF2-40B4-BE49-F238E27FC236}">
                <a16:creationId xmlns:a16="http://schemas.microsoft.com/office/drawing/2014/main" id="{431366F9-084D-DAAB-EE66-9F943C5385E8}"/>
              </a:ext>
            </a:extLst>
          </p:cNvPr>
          <p:cNvCxnSpPr/>
          <p:nvPr/>
        </p:nvCxnSpPr>
        <p:spPr>
          <a:xfrm>
            <a:off x="7316543" y="3891521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6">
            <a:extLst>
              <a:ext uri="{FF2B5EF4-FFF2-40B4-BE49-F238E27FC236}">
                <a16:creationId xmlns:a16="http://schemas.microsoft.com/office/drawing/2014/main" id="{8B3C6B05-779B-7FAC-B421-9616B301D005}"/>
              </a:ext>
            </a:extLst>
          </p:cNvPr>
          <p:cNvSpPr>
            <a:spLocks/>
          </p:cNvSpPr>
          <p:nvPr/>
        </p:nvSpPr>
        <p:spPr bwMode="auto">
          <a:xfrm flipH="1">
            <a:off x="7230942" y="3548301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43574D44-75F3-1671-A4B6-6D81D4BF19E7}"/>
              </a:ext>
            </a:extLst>
          </p:cNvPr>
          <p:cNvSpPr>
            <a:spLocks/>
          </p:cNvSpPr>
          <p:nvPr/>
        </p:nvSpPr>
        <p:spPr bwMode="auto">
          <a:xfrm>
            <a:off x="8899862" y="355706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7F1052-9092-3F3C-815A-2F623552E839}"/>
              </a:ext>
            </a:extLst>
          </p:cNvPr>
          <p:cNvSpPr>
            <a:spLocks/>
          </p:cNvSpPr>
          <p:nvPr/>
        </p:nvSpPr>
        <p:spPr bwMode="auto">
          <a:xfrm>
            <a:off x="6401762" y="478383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17" name="Straight Arrow Connector 18">
            <a:extLst>
              <a:ext uri="{FF2B5EF4-FFF2-40B4-BE49-F238E27FC236}">
                <a16:creationId xmlns:a16="http://schemas.microsoft.com/office/drawing/2014/main" id="{CE03EBFE-D65D-C977-9553-01D47CD51A76}"/>
              </a:ext>
            </a:extLst>
          </p:cNvPr>
          <p:cNvCxnSpPr/>
          <p:nvPr/>
        </p:nvCxnSpPr>
        <p:spPr>
          <a:xfrm flipV="1">
            <a:off x="9206781" y="3233414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0">
            <a:extLst>
              <a:ext uri="{FF2B5EF4-FFF2-40B4-BE49-F238E27FC236}">
                <a16:creationId xmlns:a16="http://schemas.microsoft.com/office/drawing/2014/main" id="{390CB764-84DE-B0C1-EDBA-3F3C6798AEB1}"/>
              </a:ext>
            </a:extLst>
          </p:cNvPr>
          <p:cNvSpPr>
            <a:spLocks/>
          </p:cNvSpPr>
          <p:nvPr/>
        </p:nvSpPr>
        <p:spPr bwMode="auto">
          <a:xfrm>
            <a:off x="8899863" y="289899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19" name="Straight Arrow Connector 21">
            <a:extLst>
              <a:ext uri="{FF2B5EF4-FFF2-40B4-BE49-F238E27FC236}">
                <a16:creationId xmlns:a16="http://schemas.microsoft.com/office/drawing/2014/main" id="{9ED15FCD-701C-064D-C0BF-8FF867ED856D}"/>
              </a:ext>
            </a:extLst>
          </p:cNvPr>
          <p:cNvCxnSpPr/>
          <p:nvPr/>
        </p:nvCxnSpPr>
        <p:spPr>
          <a:xfrm>
            <a:off x="3120758" y="3923859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DB94A740-ADF1-6D91-2A15-3D46023D7ED8}"/>
              </a:ext>
            </a:extLst>
          </p:cNvPr>
          <p:cNvSpPr>
            <a:spLocks/>
          </p:cNvSpPr>
          <p:nvPr/>
        </p:nvSpPr>
        <p:spPr bwMode="auto">
          <a:xfrm flipH="1">
            <a:off x="3035157" y="3580639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B7318D4E-77B0-B0AE-ACE6-F13FE7DCF2B4}"/>
              </a:ext>
            </a:extLst>
          </p:cNvPr>
          <p:cNvSpPr>
            <a:spLocks/>
          </p:cNvSpPr>
          <p:nvPr/>
        </p:nvSpPr>
        <p:spPr bwMode="auto">
          <a:xfrm>
            <a:off x="3498251" y="357735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22" name="Rectangle 38">
            <a:extLst>
              <a:ext uri="{FF2B5EF4-FFF2-40B4-BE49-F238E27FC236}">
                <a16:creationId xmlns:a16="http://schemas.microsoft.com/office/drawing/2014/main" id="{0068E024-F53B-82E5-F30B-0F3B4BE49572}"/>
              </a:ext>
            </a:extLst>
          </p:cNvPr>
          <p:cNvSpPr>
            <a:spLocks/>
          </p:cNvSpPr>
          <p:nvPr/>
        </p:nvSpPr>
        <p:spPr bwMode="auto">
          <a:xfrm>
            <a:off x="2166185" y="476738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23" name="Straight Connector 16">
            <a:extLst>
              <a:ext uri="{FF2B5EF4-FFF2-40B4-BE49-F238E27FC236}">
                <a16:creationId xmlns:a16="http://schemas.microsoft.com/office/drawing/2014/main" id="{CB940DDC-9DBA-9270-E73D-75A7A2E79C2A}"/>
              </a:ext>
            </a:extLst>
          </p:cNvPr>
          <p:cNvCxnSpPr/>
          <p:nvPr/>
        </p:nvCxnSpPr>
        <p:spPr>
          <a:xfrm>
            <a:off x="7316543" y="3891522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18">
            <a:extLst>
              <a:ext uri="{FF2B5EF4-FFF2-40B4-BE49-F238E27FC236}">
                <a16:creationId xmlns:a16="http://schemas.microsoft.com/office/drawing/2014/main" id="{7DC71BEB-0FAF-3C61-6943-A067DB8CBB00}"/>
              </a:ext>
            </a:extLst>
          </p:cNvPr>
          <p:cNvCxnSpPr/>
          <p:nvPr/>
        </p:nvCxnSpPr>
        <p:spPr>
          <a:xfrm flipV="1">
            <a:off x="3754831" y="326035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36638796-64BD-EA43-D862-BA3FDE3716E6}"/>
              </a:ext>
            </a:extLst>
          </p:cNvPr>
          <p:cNvCxnSpPr>
            <a:cxnSpLocks/>
          </p:cNvCxnSpPr>
          <p:nvPr/>
        </p:nvCxnSpPr>
        <p:spPr>
          <a:xfrm flipV="1">
            <a:off x="3120759" y="3923858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30">
            <a:extLst>
              <a:ext uri="{FF2B5EF4-FFF2-40B4-BE49-F238E27FC236}">
                <a16:creationId xmlns:a16="http://schemas.microsoft.com/office/drawing/2014/main" id="{BEB06878-06E2-131B-E207-167B4BFAD605}"/>
              </a:ext>
            </a:extLst>
          </p:cNvPr>
          <p:cNvSpPr>
            <a:spLocks/>
          </p:cNvSpPr>
          <p:nvPr/>
        </p:nvSpPr>
        <p:spPr bwMode="auto">
          <a:xfrm>
            <a:off x="3435913" y="294857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34B9AEDD-23B1-A1B0-BB8A-610CC746B146}"/>
              </a:ext>
            </a:extLst>
          </p:cNvPr>
          <p:cNvSpPr>
            <a:spLocks/>
          </p:cNvSpPr>
          <p:nvPr/>
        </p:nvSpPr>
        <p:spPr bwMode="auto">
          <a:xfrm>
            <a:off x="4115689" y="357735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21E771F0-0047-67AF-0FCD-145F759C32D4}"/>
              </a:ext>
            </a:extLst>
          </p:cNvPr>
          <p:cNvSpPr>
            <a:spLocks/>
          </p:cNvSpPr>
          <p:nvPr/>
        </p:nvSpPr>
        <p:spPr bwMode="auto">
          <a:xfrm>
            <a:off x="4053351" y="294857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F5749BF5-5F94-867C-1E26-4758BED918B0}"/>
              </a:ext>
            </a:extLst>
          </p:cNvPr>
          <p:cNvSpPr>
            <a:spLocks/>
          </p:cNvSpPr>
          <p:nvPr/>
        </p:nvSpPr>
        <p:spPr bwMode="auto">
          <a:xfrm>
            <a:off x="7693146" y="354501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3BDDE49C-72B8-6244-0F7D-C408D43D9356}"/>
              </a:ext>
            </a:extLst>
          </p:cNvPr>
          <p:cNvSpPr>
            <a:spLocks/>
          </p:cNvSpPr>
          <p:nvPr/>
        </p:nvSpPr>
        <p:spPr bwMode="auto">
          <a:xfrm>
            <a:off x="7630808" y="291623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DC2867A4-A383-7BDA-D420-E09D97F710D3}"/>
              </a:ext>
            </a:extLst>
          </p:cNvPr>
          <p:cNvSpPr>
            <a:spLocks/>
          </p:cNvSpPr>
          <p:nvPr/>
        </p:nvSpPr>
        <p:spPr bwMode="auto">
          <a:xfrm>
            <a:off x="8310584" y="354501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B0E0E3EE-00D2-E679-9041-C41BFADDFCD9}"/>
              </a:ext>
            </a:extLst>
          </p:cNvPr>
          <p:cNvSpPr>
            <a:spLocks/>
          </p:cNvSpPr>
          <p:nvPr/>
        </p:nvSpPr>
        <p:spPr bwMode="auto">
          <a:xfrm>
            <a:off x="8248246" y="291623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34" name="Rectangle 43">
            <a:extLst>
              <a:ext uri="{FF2B5EF4-FFF2-40B4-BE49-F238E27FC236}">
                <a16:creationId xmlns:a16="http://schemas.microsoft.com/office/drawing/2014/main" id="{806E4C24-7835-CA6D-1317-C2D985AE0C81}"/>
              </a:ext>
            </a:extLst>
          </p:cNvPr>
          <p:cNvSpPr>
            <a:spLocks/>
          </p:cNvSpPr>
          <p:nvPr/>
        </p:nvSpPr>
        <p:spPr bwMode="auto">
          <a:xfrm>
            <a:off x="3120758" y="2439464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35" name="Rectangle 43">
            <a:extLst>
              <a:ext uri="{FF2B5EF4-FFF2-40B4-BE49-F238E27FC236}">
                <a16:creationId xmlns:a16="http://schemas.microsoft.com/office/drawing/2014/main" id="{A729387E-149A-1A8E-F346-178DE0E04301}"/>
              </a:ext>
            </a:extLst>
          </p:cNvPr>
          <p:cNvSpPr>
            <a:spLocks/>
          </p:cNvSpPr>
          <p:nvPr/>
        </p:nvSpPr>
        <p:spPr bwMode="auto">
          <a:xfrm>
            <a:off x="7742354" y="2439463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616723EA-19A2-AF8A-B917-917D9707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10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0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075" y="1832539"/>
            <a:ext cx="7610476" cy="6630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Si asumimos que los proyectos </a:t>
            </a:r>
            <a:r>
              <a:rPr lang="es-ES_tradnl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SÍ SE PUEDEN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_tradnl" sz="20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replicar.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750152" y="2921197"/>
            <a:ext cx="59250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2"/>
              </a:buClr>
              <a:buFont typeface="+mj-lt"/>
              <a:buAutoNum type="arabicPeriod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Encontrar una vida útil común: </a:t>
            </a:r>
            <a:r>
              <a:rPr lang="es-CO" sz="20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Mínimo Común Múltiplo</a:t>
            </a:r>
          </a:p>
          <a:p>
            <a:pPr marL="342900" indent="-342900">
              <a:buAutoNum type="arabicParenR"/>
            </a:pPr>
            <a:endParaRPr lang="es-CO" sz="2000" dirty="0">
              <a:latin typeface="Century Gothic" panose="020B0502020202020204" pitchFamily="34" charset="0"/>
            </a:endParaRPr>
          </a:p>
          <a:p>
            <a:pPr algn="ctr"/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6 años  </a:t>
            </a:r>
          </a:p>
          <a:p>
            <a:pPr algn="ctr"/>
            <a:endParaRPr lang="es-CO" sz="2000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endParaRPr lang="es-CO" sz="2000" dirty="0">
              <a:latin typeface="Century Gothic" panose="020B0502020202020204" pitchFamily="34" charset="0"/>
            </a:endParaRPr>
          </a:p>
          <a:p>
            <a:endParaRPr lang="es-CO" sz="2000" dirty="0">
              <a:latin typeface="Century Gothic" panose="020B0502020202020204" pitchFamily="34" charset="0"/>
            </a:endParaRPr>
          </a:p>
          <a:p>
            <a:endParaRPr lang="es-CO" sz="200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46AB9D7-6911-43C3-895E-BD043A8E9882}"/>
              </a:ext>
            </a:extLst>
          </p:cNvPr>
          <p:cNvSpPr/>
          <p:nvPr/>
        </p:nvSpPr>
        <p:spPr>
          <a:xfrm>
            <a:off x="740705" y="5456718"/>
            <a:ext cx="85502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Clr>
                <a:schemeClr val="accent2"/>
              </a:buClr>
              <a:buFont typeface="+mj-lt"/>
              <a:buAutoNum type="arabicPeriod" startAt="2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inversión Inicial vuelve a empezar el último periodo donde acaba el proyecto original.</a:t>
            </a:r>
          </a:p>
        </p:txBody>
      </p:sp>
      <p:pic>
        <p:nvPicPr>
          <p:cNvPr id="1026" name="Picture 2" descr="Icono de ilustración de dibujos animados de bombilla de vector en estilo  cómic | Vector Premium">
            <a:extLst>
              <a:ext uri="{FF2B5EF4-FFF2-40B4-BE49-F238E27FC236}">
                <a16:creationId xmlns:a16="http://schemas.microsoft.com/office/drawing/2014/main" id="{477CAA2A-AF0A-E9C1-840E-7F100F272A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6" t="10422" r="7608" b="10239"/>
          <a:stretch/>
        </p:blipFill>
        <p:spPr bwMode="auto">
          <a:xfrm>
            <a:off x="9476585" y="5311968"/>
            <a:ext cx="1492964" cy="137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2D3D880B-35FB-B59F-15FA-7BA006B11A1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5" name="Picture 2" descr="Clientes y aliados | Centro de Evaluación | Uniandes">
            <a:extLst>
              <a:ext uri="{FF2B5EF4-FFF2-40B4-BE49-F238E27FC236}">
                <a16:creationId xmlns:a16="http://schemas.microsoft.com/office/drawing/2014/main" id="{286F8693-3F60-3FE5-9B34-C7B5FCB5F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ángulo 35">
            <a:extLst>
              <a:ext uri="{FF2B5EF4-FFF2-40B4-BE49-F238E27FC236}">
                <a16:creationId xmlns:a16="http://schemas.microsoft.com/office/drawing/2014/main" id="{2DEFE0C2-1A94-74E4-340E-AE7AAC73056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029" name="Straight Arrow Connector 18">
            <a:extLst>
              <a:ext uri="{FF2B5EF4-FFF2-40B4-BE49-F238E27FC236}">
                <a16:creationId xmlns:a16="http://schemas.microsoft.com/office/drawing/2014/main" id="{4DE22697-62F5-D9F6-CC55-2FC2CC482905}"/>
              </a:ext>
            </a:extLst>
          </p:cNvPr>
          <p:cNvCxnSpPr/>
          <p:nvPr/>
        </p:nvCxnSpPr>
        <p:spPr>
          <a:xfrm flipV="1">
            <a:off x="10994578" y="345697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Arrow Connector 18">
            <a:extLst>
              <a:ext uri="{FF2B5EF4-FFF2-40B4-BE49-F238E27FC236}">
                <a16:creationId xmlns:a16="http://schemas.microsoft.com/office/drawing/2014/main" id="{BAFA4276-2532-00F8-02F9-45D0F213467F}"/>
              </a:ext>
            </a:extLst>
          </p:cNvPr>
          <p:cNvCxnSpPr/>
          <p:nvPr/>
        </p:nvCxnSpPr>
        <p:spPr>
          <a:xfrm flipV="1">
            <a:off x="10377140" y="345697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8">
            <a:extLst>
              <a:ext uri="{FF2B5EF4-FFF2-40B4-BE49-F238E27FC236}">
                <a16:creationId xmlns:a16="http://schemas.microsoft.com/office/drawing/2014/main" id="{6E5E7E9E-E9C5-014D-97C5-4D82C12BC6D2}"/>
              </a:ext>
            </a:extLst>
          </p:cNvPr>
          <p:cNvCxnSpPr/>
          <p:nvPr/>
        </p:nvCxnSpPr>
        <p:spPr>
          <a:xfrm flipV="1">
            <a:off x="8646583" y="349456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4">
            <a:extLst>
              <a:ext uri="{FF2B5EF4-FFF2-40B4-BE49-F238E27FC236}">
                <a16:creationId xmlns:a16="http://schemas.microsoft.com/office/drawing/2014/main" id="{67034489-1DD6-5684-7534-DF2037470D59}"/>
              </a:ext>
            </a:extLst>
          </p:cNvPr>
          <p:cNvCxnSpPr/>
          <p:nvPr/>
        </p:nvCxnSpPr>
        <p:spPr>
          <a:xfrm>
            <a:off x="9743957" y="4120481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3" name="Rectangle 6">
            <a:extLst>
              <a:ext uri="{FF2B5EF4-FFF2-40B4-BE49-F238E27FC236}">
                <a16:creationId xmlns:a16="http://schemas.microsoft.com/office/drawing/2014/main" id="{DBF665F2-0E73-7965-FDA2-4D2A5A715C01}"/>
              </a:ext>
            </a:extLst>
          </p:cNvPr>
          <p:cNvSpPr>
            <a:spLocks/>
          </p:cNvSpPr>
          <p:nvPr/>
        </p:nvSpPr>
        <p:spPr bwMode="auto">
          <a:xfrm flipH="1">
            <a:off x="9658356" y="3777261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034" name="Rectangle 12">
            <a:extLst>
              <a:ext uri="{FF2B5EF4-FFF2-40B4-BE49-F238E27FC236}">
                <a16:creationId xmlns:a16="http://schemas.microsoft.com/office/drawing/2014/main" id="{7829F40B-0DA5-4021-1B4D-AD40F9962A80}"/>
              </a:ext>
            </a:extLst>
          </p:cNvPr>
          <p:cNvSpPr>
            <a:spLocks/>
          </p:cNvSpPr>
          <p:nvPr/>
        </p:nvSpPr>
        <p:spPr bwMode="auto">
          <a:xfrm>
            <a:off x="11327276" y="378602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035" name="Rectangle 15">
            <a:extLst>
              <a:ext uri="{FF2B5EF4-FFF2-40B4-BE49-F238E27FC236}">
                <a16:creationId xmlns:a16="http://schemas.microsoft.com/office/drawing/2014/main" id="{44A00CAC-0072-D59A-C0E7-E4E7F8D3B998}"/>
              </a:ext>
            </a:extLst>
          </p:cNvPr>
          <p:cNvSpPr>
            <a:spLocks/>
          </p:cNvSpPr>
          <p:nvPr/>
        </p:nvSpPr>
        <p:spPr bwMode="auto">
          <a:xfrm>
            <a:off x="8829176" y="501279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1036" name="Straight Arrow Connector 18">
            <a:extLst>
              <a:ext uri="{FF2B5EF4-FFF2-40B4-BE49-F238E27FC236}">
                <a16:creationId xmlns:a16="http://schemas.microsoft.com/office/drawing/2014/main" id="{E390B6A6-8E75-8481-3955-0AB1D78C9A0C}"/>
              </a:ext>
            </a:extLst>
          </p:cNvPr>
          <p:cNvCxnSpPr/>
          <p:nvPr/>
        </p:nvCxnSpPr>
        <p:spPr>
          <a:xfrm flipV="1">
            <a:off x="11634195" y="3462374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Rectangle 20">
            <a:extLst>
              <a:ext uri="{FF2B5EF4-FFF2-40B4-BE49-F238E27FC236}">
                <a16:creationId xmlns:a16="http://schemas.microsoft.com/office/drawing/2014/main" id="{75A34059-A69C-3DCF-35BC-3BAD5D504B3B}"/>
              </a:ext>
            </a:extLst>
          </p:cNvPr>
          <p:cNvSpPr>
            <a:spLocks/>
          </p:cNvSpPr>
          <p:nvPr/>
        </p:nvSpPr>
        <p:spPr bwMode="auto">
          <a:xfrm>
            <a:off x="11327277" y="312795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1038" name="Straight Arrow Connector 21">
            <a:extLst>
              <a:ext uri="{FF2B5EF4-FFF2-40B4-BE49-F238E27FC236}">
                <a16:creationId xmlns:a16="http://schemas.microsoft.com/office/drawing/2014/main" id="{737B886A-D689-582D-AA85-CB4B4BB3C74C}"/>
              </a:ext>
            </a:extLst>
          </p:cNvPr>
          <p:cNvCxnSpPr/>
          <p:nvPr/>
        </p:nvCxnSpPr>
        <p:spPr>
          <a:xfrm>
            <a:off x="7395072" y="4158071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ectangle 23">
            <a:extLst>
              <a:ext uri="{FF2B5EF4-FFF2-40B4-BE49-F238E27FC236}">
                <a16:creationId xmlns:a16="http://schemas.microsoft.com/office/drawing/2014/main" id="{05AA30A2-8597-E4C6-53B5-BF2FC399D220}"/>
              </a:ext>
            </a:extLst>
          </p:cNvPr>
          <p:cNvSpPr>
            <a:spLocks/>
          </p:cNvSpPr>
          <p:nvPr/>
        </p:nvSpPr>
        <p:spPr bwMode="auto">
          <a:xfrm flipH="1">
            <a:off x="7309471" y="3814851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040" name="Rectangle 27">
            <a:extLst>
              <a:ext uri="{FF2B5EF4-FFF2-40B4-BE49-F238E27FC236}">
                <a16:creationId xmlns:a16="http://schemas.microsoft.com/office/drawing/2014/main" id="{7FA94465-E29B-7A7D-9B74-D5F5F0450AF3}"/>
              </a:ext>
            </a:extLst>
          </p:cNvPr>
          <p:cNvSpPr>
            <a:spLocks/>
          </p:cNvSpPr>
          <p:nvPr/>
        </p:nvSpPr>
        <p:spPr bwMode="auto">
          <a:xfrm>
            <a:off x="7772565" y="381156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041" name="Rectangle 38">
            <a:extLst>
              <a:ext uri="{FF2B5EF4-FFF2-40B4-BE49-F238E27FC236}">
                <a16:creationId xmlns:a16="http://schemas.microsoft.com/office/drawing/2014/main" id="{3A6E14F4-2DA8-A3C1-1FA0-48C69E51F3C0}"/>
              </a:ext>
            </a:extLst>
          </p:cNvPr>
          <p:cNvSpPr>
            <a:spLocks/>
          </p:cNvSpPr>
          <p:nvPr/>
        </p:nvSpPr>
        <p:spPr bwMode="auto">
          <a:xfrm>
            <a:off x="6440499" y="5001601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1042" name="Straight Connector 16">
            <a:extLst>
              <a:ext uri="{FF2B5EF4-FFF2-40B4-BE49-F238E27FC236}">
                <a16:creationId xmlns:a16="http://schemas.microsoft.com/office/drawing/2014/main" id="{1D038E6E-24F1-7E3B-B29F-DA2889C11ED0}"/>
              </a:ext>
            </a:extLst>
          </p:cNvPr>
          <p:cNvCxnSpPr/>
          <p:nvPr/>
        </p:nvCxnSpPr>
        <p:spPr>
          <a:xfrm>
            <a:off x="9743957" y="4120482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Arrow Connector 18">
            <a:extLst>
              <a:ext uri="{FF2B5EF4-FFF2-40B4-BE49-F238E27FC236}">
                <a16:creationId xmlns:a16="http://schemas.microsoft.com/office/drawing/2014/main" id="{4F34544E-B4EF-1963-0437-B22223514F51}"/>
              </a:ext>
            </a:extLst>
          </p:cNvPr>
          <p:cNvCxnSpPr/>
          <p:nvPr/>
        </p:nvCxnSpPr>
        <p:spPr>
          <a:xfrm flipV="1">
            <a:off x="8029145" y="349456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32">
            <a:extLst>
              <a:ext uri="{FF2B5EF4-FFF2-40B4-BE49-F238E27FC236}">
                <a16:creationId xmlns:a16="http://schemas.microsoft.com/office/drawing/2014/main" id="{A803F151-36E4-3121-C50B-B4BD6865A88C}"/>
              </a:ext>
            </a:extLst>
          </p:cNvPr>
          <p:cNvCxnSpPr>
            <a:cxnSpLocks/>
          </p:cNvCxnSpPr>
          <p:nvPr/>
        </p:nvCxnSpPr>
        <p:spPr>
          <a:xfrm flipV="1">
            <a:off x="7395073" y="4158070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5" name="Rectangle 30">
            <a:extLst>
              <a:ext uri="{FF2B5EF4-FFF2-40B4-BE49-F238E27FC236}">
                <a16:creationId xmlns:a16="http://schemas.microsoft.com/office/drawing/2014/main" id="{2394F16E-23A7-5CCB-9EB1-34A5AEBB7FA6}"/>
              </a:ext>
            </a:extLst>
          </p:cNvPr>
          <p:cNvSpPr>
            <a:spLocks/>
          </p:cNvSpPr>
          <p:nvPr/>
        </p:nvSpPr>
        <p:spPr bwMode="auto">
          <a:xfrm>
            <a:off x="7710227" y="318278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46" name="Rectangle 27">
            <a:extLst>
              <a:ext uri="{FF2B5EF4-FFF2-40B4-BE49-F238E27FC236}">
                <a16:creationId xmlns:a16="http://schemas.microsoft.com/office/drawing/2014/main" id="{8C2AB0D3-7748-415C-218C-682FCAC86786}"/>
              </a:ext>
            </a:extLst>
          </p:cNvPr>
          <p:cNvSpPr>
            <a:spLocks/>
          </p:cNvSpPr>
          <p:nvPr/>
        </p:nvSpPr>
        <p:spPr bwMode="auto">
          <a:xfrm>
            <a:off x="8390003" y="381156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47" name="Rectangle 30">
            <a:extLst>
              <a:ext uri="{FF2B5EF4-FFF2-40B4-BE49-F238E27FC236}">
                <a16:creationId xmlns:a16="http://schemas.microsoft.com/office/drawing/2014/main" id="{29640C9F-99D5-B796-D05F-BE3F77C548AD}"/>
              </a:ext>
            </a:extLst>
          </p:cNvPr>
          <p:cNvSpPr>
            <a:spLocks/>
          </p:cNvSpPr>
          <p:nvPr/>
        </p:nvSpPr>
        <p:spPr bwMode="auto">
          <a:xfrm>
            <a:off x="8327665" y="318278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48" name="Rectangle 27">
            <a:extLst>
              <a:ext uri="{FF2B5EF4-FFF2-40B4-BE49-F238E27FC236}">
                <a16:creationId xmlns:a16="http://schemas.microsoft.com/office/drawing/2014/main" id="{1900A49A-52C0-FD27-4C15-CDBF511A5EE7}"/>
              </a:ext>
            </a:extLst>
          </p:cNvPr>
          <p:cNvSpPr>
            <a:spLocks/>
          </p:cNvSpPr>
          <p:nvPr/>
        </p:nvSpPr>
        <p:spPr bwMode="auto">
          <a:xfrm>
            <a:off x="10120560" y="377397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049" name="Rectangle 30">
            <a:extLst>
              <a:ext uri="{FF2B5EF4-FFF2-40B4-BE49-F238E27FC236}">
                <a16:creationId xmlns:a16="http://schemas.microsoft.com/office/drawing/2014/main" id="{9BF28F8F-EA06-4CCB-FF6F-D36B9E3F3335}"/>
              </a:ext>
            </a:extLst>
          </p:cNvPr>
          <p:cNvSpPr>
            <a:spLocks/>
          </p:cNvSpPr>
          <p:nvPr/>
        </p:nvSpPr>
        <p:spPr bwMode="auto">
          <a:xfrm>
            <a:off x="10058222" y="314519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50" name="Rectangle 27">
            <a:extLst>
              <a:ext uri="{FF2B5EF4-FFF2-40B4-BE49-F238E27FC236}">
                <a16:creationId xmlns:a16="http://schemas.microsoft.com/office/drawing/2014/main" id="{8FF502EA-190A-E718-A2AC-DD2C5A7E73A5}"/>
              </a:ext>
            </a:extLst>
          </p:cNvPr>
          <p:cNvSpPr>
            <a:spLocks/>
          </p:cNvSpPr>
          <p:nvPr/>
        </p:nvSpPr>
        <p:spPr bwMode="auto">
          <a:xfrm>
            <a:off x="10737998" y="377397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51" name="Rectangle 30">
            <a:extLst>
              <a:ext uri="{FF2B5EF4-FFF2-40B4-BE49-F238E27FC236}">
                <a16:creationId xmlns:a16="http://schemas.microsoft.com/office/drawing/2014/main" id="{B885548A-D93A-8FB6-B4CE-E7ECBD82CF27}"/>
              </a:ext>
            </a:extLst>
          </p:cNvPr>
          <p:cNvSpPr>
            <a:spLocks/>
          </p:cNvSpPr>
          <p:nvPr/>
        </p:nvSpPr>
        <p:spPr bwMode="auto">
          <a:xfrm>
            <a:off x="10675660" y="314519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52" name="Rectangle 43">
            <a:extLst>
              <a:ext uri="{FF2B5EF4-FFF2-40B4-BE49-F238E27FC236}">
                <a16:creationId xmlns:a16="http://schemas.microsoft.com/office/drawing/2014/main" id="{8D722C92-D828-8942-D168-F37EA2AB39A4}"/>
              </a:ext>
            </a:extLst>
          </p:cNvPr>
          <p:cNvSpPr>
            <a:spLocks/>
          </p:cNvSpPr>
          <p:nvPr/>
        </p:nvSpPr>
        <p:spPr bwMode="auto">
          <a:xfrm>
            <a:off x="7395072" y="2673676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1053" name="Rectangle 43">
            <a:extLst>
              <a:ext uri="{FF2B5EF4-FFF2-40B4-BE49-F238E27FC236}">
                <a16:creationId xmlns:a16="http://schemas.microsoft.com/office/drawing/2014/main" id="{00B4261D-450C-D1E2-CBE5-B3E3C6D6CECE}"/>
              </a:ext>
            </a:extLst>
          </p:cNvPr>
          <p:cNvSpPr>
            <a:spLocks/>
          </p:cNvSpPr>
          <p:nvPr/>
        </p:nvSpPr>
        <p:spPr bwMode="auto">
          <a:xfrm>
            <a:off x="10221011" y="2707043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A8A3AEBC-37F4-9ABE-E54E-6534A507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11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47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Straight Arrow Connector 18">
            <a:extLst>
              <a:ext uri="{FF2B5EF4-FFF2-40B4-BE49-F238E27FC236}">
                <a16:creationId xmlns:a16="http://schemas.microsoft.com/office/drawing/2014/main" id="{61E0EC4B-AE21-C571-8A5B-FF2112BB560A}"/>
              </a:ext>
            </a:extLst>
          </p:cNvPr>
          <p:cNvCxnSpPr/>
          <p:nvPr/>
        </p:nvCxnSpPr>
        <p:spPr>
          <a:xfrm flipV="1">
            <a:off x="9667432" y="3561924"/>
            <a:ext cx="0" cy="65810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8">
            <a:extLst>
              <a:ext uri="{FF2B5EF4-FFF2-40B4-BE49-F238E27FC236}">
                <a16:creationId xmlns:a16="http://schemas.microsoft.com/office/drawing/2014/main" id="{6B870789-2D3E-A212-71EB-95C466B7ED53}"/>
              </a:ext>
            </a:extLst>
          </p:cNvPr>
          <p:cNvCxnSpPr/>
          <p:nvPr/>
        </p:nvCxnSpPr>
        <p:spPr>
          <a:xfrm flipV="1">
            <a:off x="9049994" y="3561924"/>
            <a:ext cx="0" cy="65810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4">
            <a:extLst>
              <a:ext uri="{FF2B5EF4-FFF2-40B4-BE49-F238E27FC236}">
                <a16:creationId xmlns:a16="http://schemas.microsoft.com/office/drawing/2014/main" id="{A0226EB4-137B-EC72-6690-BE4F6FB54DBA}"/>
              </a:ext>
            </a:extLst>
          </p:cNvPr>
          <p:cNvCxnSpPr/>
          <p:nvPr/>
        </p:nvCxnSpPr>
        <p:spPr>
          <a:xfrm>
            <a:off x="8399558" y="4236932"/>
            <a:ext cx="0" cy="84353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2">
            <a:extLst>
              <a:ext uri="{FF2B5EF4-FFF2-40B4-BE49-F238E27FC236}">
                <a16:creationId xmlns:a16="http://schemas.microsoft.com/office/drawing/2014/main" id="{CCD17573-3BEA-E1C3-7EA8-716EF123B1DF}"/>
              </a:ext>
            </a:extLst>
          </p:cNvPr>
          <p:cNvSpPr>
            <a:spLocks/>
          </p:cNvSpPr>
          <p:nvPr/>
        </p:nvSpPr>
        <p:spPr bwMode="auto">
          <a:xfrm>
            <a:off x="10000130" y="3902480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34" name="Rectangle 15">
            <a:extLst>
              <a:ext uri="{FF2B5EF4-FFF2-40B4-BE49-F238E27FC236}">
                <a16:creationId xmlns:a16="http://schemas.microsoft.com/office/drawing/2014/main" id="{B5FAA806-5376-E432-FB6C-D7BA489ACC89}"/>
              </a:ext>
            </a:extLst>
          </p:cNvPr>
          <p:cNvSpPr>
            <a:spLocks/>
          </p:cNvSpPr>
          <p:nvPr/>
        </p:nvSpPr>
        <p:spPr bwMode="auto">
          <a:xfrm>
            <a:off x="7502030" y="512924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135" name="Straight Arrow Connector 18">
            <a:extLst>
              <a:ext uri="{FF2B5EF4-FFF2-40B4-BE49-F238E27FC236}">
                <a16:creationId xmlns:a16="http://schemas.microsoft.com/office/drawing/2014/main" id="{DD41FE7D-34B3-5BF4-7302-9CAF1894D229}"/>
              </a:ext>
            </a:extLst>
          </p:cNvPr>
          <p:cNvCxnSpPr/>
          <p:nvPr/>
        </p:nvCxnSpPr>
        <p:spPr>
          <a:xfrm flipV="1">
            <a:off x="10307049" y="3567323"/>
            <a:ext cx="0" cy="65810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20">
            <a:extLst>
              <a:ext uri="{FF2B5EF4-FFF2-40B4-BE49-F238E27FC236}">
                <a16:creationId xmlns:a16="http://schemas.microsoft.com/office/drawing/2014/main" id="{0BB73078-8940-8F1F-D17E-A6FF040A14EF}"/>
              </a:ext>
            </a:extLst>
          </p:cNvPr>
          <p:cNvSpPr>
            <a:spLocks/>
          </p:cNvSpPr>
          <p:nvPr/>
        </p:nvSpPr>
        <p:spPr bwMode="auto">
          <a:xfrm>
            <a:off x="10000131" y="3244404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37" name="Rectangle 27">
            <a:extLst>
              <a:ext uri="{FF2B5EF4-FFF2-40B4-BE49-F238E27FC236}">
                <a16:creationId xmlns:a16="http://schemas.microsoft.com/office/drawing/2014/main" id="{EAE04B1E-14FB-35C5-C6FC-D5CEC818FD23}"/>
              </a:ext>
            </a:extLst>
          </p:cNvPr>
          <p:cNvSpPr>
            <a:spLocks/>
          </p:cNvSpPr>
          <p:nvPr/>
        </p:nvSpPr>
        <p:spPr bwMode="auto">
          <a:xfrm>
            <a:off x="8793414" y="389042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38" name="Rectangle 30">
            <a:extLst>
              <a:ext uri="{FF2B5EF4-FFF2-40B4-BE49-F238E27FC236}">
                <a16:creationId xmlns:a16="http://schemas.microsoft.com/office/drawing/2014/main" id="{B01209B9-E8DA-8109-A588-741B5A0FDAFE}"/>
              </a:ext>
            </a:extLst>
          </p:cNvPr>
          <p:cNvSpPr>
            <a:spLocks/>
          </p:cNvSpPr>
          <p:nvPr/>
        </p:nvSpPr>
        <p:spPr bwMode="auto">
          <a:xfrm>
            <a:off x="8731076" y="3261646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39" name="Rectangle 27">
            <a:extLst>
              <a:ext uri="{FF2B5EF4-FFF2-40B4-BE49-F238E27FC236}">
                <a16:creationId xmlns:a16="http://schemas.microsoft.com/office/drawing/2014/main" id="{5BCACE22-0108-6832-1340-5247EF44A055}"/>
              </a:ext>
            </a:extLst>
          </p:cNvPr>
          <p:cNvSpPr>
            <a:spLocks/>
          </p:cNvSpPr>
          <p:nvPr/>
        </p:nvSpPr>
        <p:spPr bwMode="auto">
          <a:xfrm>
            <a:off x="9410852" y="389042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40" name="Rectangle 30">
            <a:extLst>
              <a:ext uri="{FF2B5EF4-FFF2-40B4-BE49-F238E27FC236}">
                <a16:creationId xmlns:a16="http://schemas.microsoft.com/office/drawing/2014/main" id="{DD371DF9-7861-D740-4B11-6256F365BC9C}"/>
              </a:ext>
            </a:extLst>
          </p:cNvPr>
          <p:cNvSpPr>
            <a:spLocks/>
          </p:cNvSpPr>
          <p:nvPr/>
        </p:nvSpPr>
        <p:spPr bwMode="auto">
          <a:xfrm>
            <a:off x="9348514" y="3261646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122" name="Straight Arrow Connector 18">
            <a:extLst>
              <a:ext uri="{FF2B5EF4-FFF2-40B4-BE49-F238E27FC236}">
                <a16:creationId xmlns:a16="http://schemas.microsoft.com/office/drawing/2014/main" id="{7C647BEE-DF33-4290-D96C-3A96D3226429}"/>
              </a:ext>
            </a:extLst>
          </p:cNvPr>
          <p:cNvCxnSpPr/>
          <p:nvPr/>
        </p:nvCxnSpPr>
        <p:spPr>
          <a:xfrm flipV="1">
            <a:off x="4680959" y="3483714"/>
            <a:ext cx="0" cy="658107"/>
          </a:xfrm>
          <a:prstGeom prst="straightConnector1">
            <a:avLst/>
          </a:prstGeom>
          <a:ln w="38100">
            <a:solidFill>
              <a:srgbClr val="002F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21">
            <a:extLst>
              <a:ext uri="{FF2B5EF4-FFF2-40B4-BE49-F238E27FC236}">
                <a16:creationId xmlns:a16="http://schemas.microsoft.com/office/drawing/2014/main" id="{5C1C583B-5968-7A33-DE20-7054C6C7A893}"/>
              </a:ext>
            </a:extLst>
          </p:cNvPr>
          <p:cNvCxnSpPr/>
          <p:nvPr/>
        </p:nvCxnSpPr>
        <p:spPr>
          <a:xfrm>
            <a:off x="3429448" y="4147220"/>
            <a:ext cx="0" cy="843530"/>
          </a:xfrm>
          <a:prstGeom prst="straightConnector1">
            <a:avLst/>
          </a:prstGeom>
          <a:ln w="38100">
            <a:solidFill>
              <a:srgbClr val="002F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8">
            <a:extLst>
              <a:ext uri="{FF2B5EF4-FFF2-40B4-BE49-F238E27FC236}">
                <a16:creationId xmlns:a16="http://schemas.microsoft.com/office/drawing/2014/main" id="{52C8251A-D3C9-B243-6F9D-9B286D130932}"/>
              </a:ext>
            </a:extLst>
          </p:cNvPr>
          <p:cNvCxnSpPr/>
          <p:nvPr/>
        </p:nvCxnSpPr>
        <p:spPr>
          <a:xfrm flipV="1">
            <a:off x="4063521" y="3483714"/>
            <a:ext cx="0" cy="658107"/>
          </a:xfrm>
          <a:prstGeom prst="straightConnector1">
            <a:avLst/>
          </a:prstGeom>
          <a:ln w="38100">
            <a:solidFill>
              <a:srgbClr val="002F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38">
            <a:extLst>
              <a:ext uri="{FF2B5EF4-FFF2-40B4-BE49-F238E27FC236}">
                <a16:creationId xmlns:a16="http://schemas.microsoft.com/office/drawing/2014/main" id="{3AB97C83-9E68-777C-83F7-1AA9C28D4348}"/>
              </a:ext>
            </a:extLst>
          </p:cNvPr>
          <p:cNvSpPr>
            <a:spLocks/>
          </p:cNvSpPr>
          <p:nvPr/>
        </p:nvSpPr>
        <p:spPr bwMode="auto">
          <a:xfrm>
            <a:off x="2493092" y="4990750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sp>
        <p:nvSpPr>
          <p:cNvPr id="127" name="Rectangle 30">
            <a:extLst>
              <a:ext uri="{FF2B5EF4-FFF2-40B4-BE49-F238E27FC236}">
                <a16:creationId xmlns:a16="http://schemas.microsoft.com/office/drawing/2014/main" id="{AFB55D1A-1264-BD36-AAA4-F0A48717A4B1}"/>
              </a:ext>
            </a:extLst>
          </p:cNvPr>
          <p:cNvSpPr>
            <a:spLocks/>
          </p:cNvSpPr>
          <p:nvPr/>
        </p:nvSpPr>
        <p:spPr bwMode="auto">
          <a:xfrm>
            <a:off x="3762820" y="3171934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04165B2F-742C-9873-2F56-66215CAC5C3C}"/>
              </a:ext>
            </a:extLst>
          </p:cNvPr>
          <p:cNvSpPr>
            <a:spLocks/>
          </p:cNvSpPr>
          <p:nvPr/>
        </p:nvSpPr>
        <p:spPr bwMode="auto">
          <a:xfrm>
            <a:off x="4380258" y="3171934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13" name="Straight Arrow Connector 18">
            <a:extLst>
              <a:ext uri="{FF2B5EF4-FFF2-40B4-BE49-F238E27FC236}">
                <a16:creationId xmlns:a16="http://schemas.microsoft.com/office/drawing/2014/main" id="{04E5D020-F7B2-03D4-2E57-6D36CACF28BB}"/>
              </a:ext>
            </a:extLst>
          </p:cNvPr>
          <p:cNvCxnSpPr/>
          <p:nvPr/>
        </p:nvCxnSpPr>
        <p:spPr>
          <a:xfrm flipV="1">
            <a:off x="3429449" y="3489113"/>
            <a:ext cx="0" cy="65810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21">
            <a:extLst>
              <a:ext uri="{FF2B5EF4-FFF2-40B4-BE49-F238E27FC236}">
                <a16:creationId xmlns:a16="http://schemas.microsoft.com/office/drawing/2014/main" id="{6593AD2D-34BA-FA44-C2D2-E197AC4AC3BF}"/>
              </a:ext>
            </a:extLst>
          </p:cNvPr>
          <p:cNvCxnSpPr/>
          <p:nvPr/>
        </p:nvCxnSpPr>
        <p:spPr>
          <a:xfrm>
            <a:off x="2177938" y="4152619"/>
            <a:ext cx="0" cy="84353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8">
            <a:extLst>
              <a:ext uri="{FF2B5EF4-FFF2-40B4-BE49-F238E27FC236}">
                <a16:creationId xmlns:a16="http://schemas.microsoft.com/office/drawing/2014/main" id="{9123D69C-7BCA-ADA3-4C0A-7F8A0BFF9EFF}"/>
              </a:ext>
            </a:extLst>
          </p:cNvPr>
          <p:cNvCxnSpPr/>
          <p:nvPr/>
        </p:nvCxnSpPr>
        <p:spPr>
          <a:xfrm flipV="1">
            <a:off x="2812011" y="3489113"/>
            <a:ext cx="0" cy="65810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7747" y="1916732"/>
            <a:ext cx="7610476" cy="6630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asumimos que los proyectos se pueden replicar.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FCC5CC3-102F-8D1F-2AB2-872EC60F5AD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7" name="Picture 2" descr="Clientes y aliados | Centro de Evaluación | Uniandes">
            <a:extLst>
              <a:ext uri="{FF2B5EF4-FFF2-40B4-BE49-F238E27FC236}">
                <a16:creationId xmlns:a16="http://schemas.microsoft.com/office/drawing/2014/main" id="{500C04F4-9C05-4ABB-10AE-AF0184F6E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ángulo 49">
            <a:extLst>
              <a:ext uri="{FF2B5EF4-FFF2-40B4-BE49-F238E27FC236}">
                <a16:creationId xmlns:a16="http://schemas.microsoft.com/office/drawing/2014/main" id="{C71555F2-D480-364E-239D-673B42ECA84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85" name="Straight Arrow Connector 18">
            <a:extLst>
              <a:ext uri="{FF2B5EF4-FFF2-40B4-BE49-F238E27FC236}">
                <a16:creationId xmlns:a16="http://schemas.microsoft.com/office/drawing/2014/main" id="{FF609D45-95DF-3000-FF75-EE25364859B1}"/>
              </a:ext>
            </a:extLst>
          </p:cNvPr>
          <p:cNvCxnSpPr/>
          <p:nvPr/>
        </p:nvCxnSpPr>
        <p:spPr>
          <a:xfrm flipV="1">
            <a:off x="7765116" y="3536687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8">
            <a:extLst>
              <a:ext uri="{FF2B5EF4-FFF2-40B4-BE49-F238E27FC236}">
                <a16:creationId xmlns:a16="http://schemas.microsoft.com/office/drawing/2014/main" id="{B0F8E8AF-8733-078A-11B7-8FF88502885F}"/>
              </a:ext>
            </a:extLst>
          </p:cNvPr>
          <p:cNvCxnSpPr/>
          <p:nvPr/>
        </p:nvCxnSpPr>
        <p:spPr>
          <a:xfrm flipV="1">
            <a:off x="7147678" y="3536687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18">
            <a:extLst>
              <a:ext uri="{FF2B5EF4-FFF2-40B4-BE49-F238E27FC236}">
                <a16:creationId xmlns:a16="http://schemas.microsoft.com/office/drawing/2014/main" id="{0969679D-E274-B106-6979-713A46E83600}"/>
              </a:ext>
            </a:extLst>
          </p:cNvPr>
          <p:cNvCxnSpPr/>
          <p:nvPr/>
        </p:nvCxnSpPr>
        <p:spPr>
          <a:xfrm flipV="1">
            <a:off x="2177938" y="348911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4">
            <a:extLst>
              <a:ext uri="{FF2B5EF4-FFF2-40B4-BE49-F238E27FC236}">
                <a16:creationId xmlns:a16="http://schemas.microsoft.com/office/drawing/2014/main" id="{8B32154E-126D-25B3-7FFD-D7845F145521}"/>
              </a:ext>
            </a:extLst>
          </p:cNvPr>
          <p:cNvCxnSpPr/>
          <p:nvPr/>
        </p:nvCxnSpPr>
        <p:spPr>
          <a:xfrm>
            <a:off x="6514495" y="4200193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6">
            <a:extLst>
              <a:ext uri="{FF2B5EF4-FFF2-40B4-BE49-F238E27FC236}">
                <a16:creationId xmlns:a16="http://schemas.microsoft.com/office/drawing/2014/main" id="{0251C8AC-EEBE-0BCF-FFCB-6555BA9F1063}"/>
              </a:ext>
            </a:extLst>
          </p:cNvPr>
          <p:cNvSpPr>
            <a:spLocks/>
          </p:cNvSpPr>
          <p:nvPr/>
        </p:nvSpPr>
        <p:spPr bwMode="auto">
          <a:xfrm flipH="1">
            <a:off x="6428894" y="3856973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90" name="Rectangle 12">
            <a:extLst>
              <a:ext uri="{FF2B5EF4-FFF2-40B4-BE49-F238E27FC236}">
                <a16:creationId xmlns:a16="http://schemas.microsoft.com/office/drawing/2014/main" id="{C9FD3A1E-68E3-0456-D6A8-21B32E54B482}"/>
              </a:ext>
            </a:extLst>
          </p:cNvPr>
          <p:cNvSpPr>
            <a:spLocks/>
          </p:cNvSpPr>
          <p:nvPr/>
        </p:nvSpPr>
        <p:spPr bwMode="auto">
          <a:xfrm>
            <a:off x="8097814" y="386574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2A827BEA-E798-4B11-324B-EE684D189CC8}"/>
              </a:ext>
            </a:extLst>
          </p:cNvPr>
          <p:cNvSpPr>
            <a:spLocks/>
          </p:cNvSpPr>
          <p:nvPr/>
        </p:nvSpPr>
        <p:spPr bwMode="auto">
          <a:xfrm>
            <a:off x="5599714" y="5092510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92" name="Straight Arrow Connector 18">
            <a:extLst>
              <a:ext uri="{FF2B5EF4-FFF2-40B4-BE49-F238E27FC236}">
                <a16:creationId xmlns:a16="http://schemas.microsoft.com/office/drawing/2014/main" id="{47C15EBA-1605-58EF-8E9D-B58C55D7E1C2}"/>
              </a:ext>
            </a:extLst>
          </p:cNvPr>
          <p:cNvCxnSpPr/>
          <p:nvPr/>
        </p:nvCxnSpPr>
        <p:spPr>
          <a:xfrm flipV="1">
            <a:off x="8404733" y="3542086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20">
            <a:extLst>
              <a:ext uri="{FF2B5EF4-FFF2-40B4-BE49-F238E27FC236}">
                <a16:creationId xmlns:a16="http://schemas.microsoft.com/office/drawing/2014/main" id="{EAF385D6-17A6-02BB-1100-1B92CD81E284}"/>
              </a:ext>
            </a:extLst>
          </p:cNvPr>
          <p:cNvSpPr>
            <a:spLocks/>
          </p:cNvSpPr>
          <p:nvPr/>
        </p:nvSpPr>
        <p:spPr bwMode="auto">
          <a:xfrm>
            <a:off x="8097815" y="320766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94" name="Straight Arrow Connector 21">
            <a:extLst>
              <a:ext uri="{FF2B5EF4-FFF2-40B4-BE49-F238E27FC236}">
                <a16:creationId xmlns:a16="http://schemas.microsoft.com/office/drawing/2014/main" id="{D64B386B-8CCE-EC70-E0EA-5788EE54173B}"/>
              </a:ext>
            </a:extLst>
          </p:cNvPr>
          <p:cNvCxnSpPr/>
          <p:nvPr/>
        </p:nvCxnSpPr>
        <p:spPr>
          <a:xfrm>
            <a:off x="926427" y="4152619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23">
            <a:extLst>
              <a:ext uri="{FF2B5EF4-FFF2-40B4-BE49-F238E27FC236}">
                <a16:creationId xmlns:a16="http://schemas.microsoft.com/office/drawing/2014/main" id="{BB3BE5AC-18ED-0ED0-2749-62071D91C207}"/>
              </a:ext>
            </a:extLst>
          </p:cNvPr>
          <p:cNvSpPr>
            <a:spLocks/>
          </p:cNvSpPr>
          <p:nvPr/>
        </p:nvSpPr>
        <p:spPr bwMode="auto">
          <a:xfrm flipH="1">
            <a:off x="840826" y="3809399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96" name="Rectangle 27">
            <a:extLst>
              <a:ext uri="{FF2B5EF4-FFF2-40B4-BE49-F238E27FC236}">
                <a16:creationId xmlns:a16="http://schemas.microsoft.com/office/drawing/2014/main" id="{480ED205-7CC3-04CE-FE8A-30ACCF8C0786}"/>
              </a:ext>
            </a:extLst>
          </p:cNvPr>
          <p:cNvSpPr>
            <a:spLocks/>
          </p:cNvSpPr>
          <p:nvPr/>
        </p:nvSpPr>
        <p:spPr bwMode="auto">
          <a:xfrm>
            <a:off x="1303920" y="380611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97" name="Rectangle 38">
            <a:extLst>
              <a:ext uri="{FF2B5EF4-FFF2-40B4-BE49-F238E27FC236}">
                <a16:creationId xmlns:a16="http://schemas.microsoft.com/office/drawing/2014/main" id="{FD7B2896-5954-878F-3BCC-F6B89BD1B035}"/>
              </a:ext>
            </a:extLst>
          </p:cNvPr>
          <p:cNvSpPr>
            <a:spLocks/>
          </p:cNvSpPr>
          <p:nvPr/>
        </p:nvSpPr>
        <p:spPr bwMode="auto">
          <a:xfrm>
            <a:off x="-28146" y="499614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98" name="Straight Connector 16">
            <a:extLst>
              <a:ext uri="{FF2B5EF4-FFF2-40B4-BE49-F238E27FC236}">
                <a16:creationId xmlns:a16="http://schemas.microsoft.com/office/drawing/2014/main" id="{22C6A878-55DF-A8C1-EFD9-A1EFF2337704}"/>
              </a:ext>
            </a:extLst>
          </p:cNvPr>
          <p:cNvCxnSpPr/>
          <p:nvPr/>
        </p:nvCxnSpPr>
        <p:spPr>
          <a:xfrm>
            <a:off x="6514495" y="4200194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18">
            <a:extLst>
              <a:ext uri="{FF2B5EF4-FFF2-40B4-BE49-F238E27FC236}">
                <a16:creationId xmlns:a16="http://schemas.microsoft.com/office/drawing/2014/main" id="{17AFF2B1-73A4-B432-3B51-ACF0A69FA64D}"/>
              </a:ext>
            </a:extLst>
          </p:cNvPr>
          <p:cNvCxnSpPr/>
          <p:nvPr/>
        </p:nvCxnSpPr>
        <p:spPr>
          <a:xfrm flipV="1">
            <a:off x="1560500" y="348911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32">
            <a:extLst>
              <a:ext uri="{FF2B5EF4-FFF2-40B4-BE49-F238E27FC236}">
                <a16:creationId xmlns:a16="http://schemas.microsoft.com/office/drawing/2014/main" id="{0A569D01-6C6E-450D-1452-8A1554628E8B}"/>
              </a:ext>
            </a:extLst>
          </p:cNvPr>
          <p:cNvCxnSpPr>
            <a:cxnSpLocks/>
          </p:cNvCxnSpPr>
          <p:nvPr/>
        </p:nvCxnSpPr>
        <p:spPr>
          <a:xfrm flipV="1">
            <a:off x="926428" y="4152618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30">
            <a:extLst>
              <a:ext uri="{FF2B5EF4-FFF2-40B4-BE49-F238E27FC236}">
                <a16:creationId xmlns:a16="http://schemas.microsoft.com/office/drawing/2014/main" id="{A16379FF-2339-42F6-61A2-2FAEB70A2A50}"/>
              </a:ext>
            </a:extLst>
          </p:cNvPr>
          <p:cNvSpPr>
            <a:spLocks/>
          </p:cNvSpPr>
          <p:nvPr/>
        </p:nvSpPr>
        <p:spPr bwMode="auto">
          <a:xfrm>
            <a:off x="1241582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2" name="Rectangle 27">
            <a:extLst>
              <a:ext uri="{FF2B5EF4-FFF2-40B4-BE49-F238E27FC236}">
                <a16:creationId xmlns:a16="http://schemas.microsoft.com/office/drawing/2014/main" id="{90F94109-5DD9-58FF-1597-5C9251BF6E1A}"/>
              </a:ext>
            </a:extLst>
          </p:cNvPr>
          <p:cNvSpPr>
            <a:spLocks/>
          </p:cNvSpPr>
          <p:nvPr/>
        </p:nvSpPr>
        <p:spPr bwMode="auto">
          <a:xfrm>
            <a:off x="1921358" y="380611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3" name="Rectangle 30">
            <a:extLst>
              <a:ext uri="{FF2B5EF4-FFF2-40B4-BE49-F238E27FC236}">
                <a16:creationId xmlns:a16="http://schemas.microsoft.com/office/drawing/2014/main" id="{DC018219-0543-C8FA-8F0E-928053F78CD5}"/>
              </a:ext>
            </a:extLst>
          </p:cNvPr>
          <p:cNvSpPr>
            <a:spLocks/>
          </p:cNvSpPr>
          <p:nvPr/>
        </p:nvSpPr>
        <p:spPr bwMode="auto">
          <a:xfrm>
            <a:off x="1859020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4" name="Rectangle 27">
            <a:extLst>
              <a:ext uri="{FF2B5EF4-FFF2-40B4-BE49-F238E27FC236}">
                <a16:creationId xmlns:a16="http://schemas.microsoft.com/office/drawing/2014/main" id="{5751C488-EBC4-31AE-4AED-9B36E895046E}"/>
              </a:ext>
            </a:extLst>
          </p:cNvPr>
          <p:cNvSpPr>
            <a:spLocks/>
          </p:cNvSpPr>
          <p:nvPr/>
        </p:nvSpPr>
        <p:spPr bwMode="auto">
          <a:xfrm>
            <a:off x="6891098" y="385368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05" name="Rectangle 30">
            <a:extLst>
              <a:ext uri="{FF2B5EF4-FFF2-40B4-BE49-F238E27FC236}">
                <a16:creationId xmlns:a16="http://schemas.microsoft.com/office/drawing/2014/main" id="{ABFC8EB6-D33E-05A2-223A-41BFDB3DE1C5}"/>
              </a:ext>
            </a:extLst>
          </p:cNvPr>
          <p:cNvSpPr>
            <a:spLocks/>
          </p:cNvSpPr>
          <p:nvPr/>
        </p:nvSpPr>
        <p:spPr bwMode="auto">
          <a:xfrm>
            <a:off x="6828760" y="3224907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6" name="Rectangle 27">
            <a:extLst>
              <a:ext uri="{FF2B5EF4-FFF2-40B4-BE49-F238E27FC236}">
                <a16:creationId xmlns:a16="http://schemas.microsoft.com/office/drawing/2014/main" id="{9DEDD907-5D21-7AFC-6C11-E809A37AB658}"/>
              </a:ext>
            </a:extLst>
          </p:cNvPr>
          <p:cNvSpPr>
            <a:spLocks/>
          </p:cNvSpPr>
          <p:nvPr/>
        </p:nvSpPr>
        <p:spPr bwMode="auto">
          <a:xfrm>
            <a:off x="7508536" y="385368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7" name="Rectangle 30">
            <a:extLst>
              <a:ext uri="{FF2B5EF4-FFF2-40B4-BE49-F238E27FC236}">
                <a16:creationId xmlns:a16="http://schemas.microsoft.com/office/drawing/2014/main" id="{AFA80468-A35F-0BAF-FE29-E6E1D2906A28}"/>
              </a:ext>
            </a:extLst>
          </p:cNvPr>
          <p:cNvSpPr>
            <a:spLocks/>
          </p:cNvSpPr>
          <p:nvPr/>
        </p:nvSpPr>
        <p:spPr bwMode="auto">
          <a:xfrm>
            <a:off x="7446198" y="3224907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8" name="Rectangle 43">
            <a:extLst>
              <a:ext uri="{FF2B5EF4-FFF2-40B4-BE49-F238E27FC236}">
                <a16:creationId xmlns:a16="http://schemas.microsoft.com/office/drawing/2014/main" id="{6777195D-D4C4-53E3-CA84-D8AEAE36B49D}"/>
              </a:ext>
            </a:extLst>
          </p:cNvPr>
          <p:cNvSpPr>
            <a:spLocks/>
          </p:cNvSpPr>
          <p:nvPr/>
        </p:nvSpPr>
        <p:spPr bwMode="auto">
          <a:xfrm>
            <a:off x="2130794" y="2698237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109" name="Rectangle 43">
            <a:extLst>
              <a:ext uri="{FF2B5EF4-FFF2-40B4-BE49-F238E27FC236}">
                <a16:creationId xmlns:a16="http://schemas.microsoft.com/office/drawing/2014/main" id="{AD53D2E8-A6BE-8D7D-3F75-B36BC59F935B}"/>
              </a:ext>
            </a:extLst>
          </p:cNvPr>
          <p:cNvSpPr>
            <a:spLocks/>
          </p:cNvSpPr>
          <p:nvPr/>
        </p:nvSpPr>
        <p:spPr bwMode="auto">
          <a:xfrm>
            <a:off x="7948110" y="2737539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cxnSp>
        <p:nvCxnSpPr>
          <p:cNvPr id="110" name="Straight Connector 32">
            <a:extLst>
              <a:ext uri="{FF2B5EF4-FFF2-40B4-BE49-F238E27FC236}">
                <a16:creationId xmlns:a16="http://schemas.microsoft.com/office/drawing/2014/main" id="{9192E683-55DD-A22D-13DF-50BA616DC4D0}"/>
              </a:ext>
            </a:extLst>
          </p:cNvPr>
          <p:cNvCxnSpPr>
            <a:cxnSpLocks/>
          </p:cNvCxnSpPr>
          <p:nvPr/>
        </p:nvCxnSpPr>
        <p:spPr>
          <a:xfrm flipV="1">
            <a:off x="2180445" y="4152710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27">
            <a:extLst>
              <a:ext uri="{FF2B5EF4-FFF2-40B4-BE49-F238E27FC236}">
                <a16:creationId xmlns:a16="http://schemas.microsoft.com/office/drawing/2014/main" id="{CA40C6CC-BE2F-01D9-C355-B7086A4A8050}"/>
              </a:ext>
            </a:extLst>
          </p:cNvPr>
          <p:cNvSpPr>
            <a:spLocks/>
          </p:cNvSpPr>
          <p:nvPr/>
        </p:nvSpPr>
        <p:spPr bwMode="auto">
          <a:xfrm>
            <a:off x="2508414" y="38317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12" name="Rectangle 27">
            <a:extLst>
              <a:ext uri="{FF2B5EF4-FFF2-40B4-BE49-F238E27FC236}">
                <a16:creationId xmlns:a16="http://schemas.microsoft.com/office/drawing/2014/main" id="{6B23C0D1-2BD5-9A2B-9EC2-872E690E39CF}"/>
              </a:ext>
            </a:extLst>
          </p:cNvPr>
          <p:cNvSpPr>
            <a:spLocks/>
          </p:cNvSpPr>
          <p:nvPr/>
        </p:nvSpPr>
        <p:spPr bwMode="auto">
          <a:xfrm>
            <a:off x="3125852" y="38317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16" name="Rectangle 38">
            <a:extLst>
              <a:ext uri="{FF2B5EF4-FFF2-40B4-BE49-F238E27FC236}">
                <a16:creationId xmlns:a16="http://schemas.microsoft.com/office/drawing/2014/main" id="{DBFBF581-1E3D-2FB6-97E4-5C69C4330621}"/>
              </a:ext>
            </a:extLst>
          </p:cNvPr>
          <p:cNvSpPr>
            <a:spLocks/>
          </p:cNvSpPr>
          <p:nvPr/>
        </p:nvSpPr>
        <p:spPr bwMode="auto">
          <a:xfrm>
            <a:off x="1241582" y="499614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sp>
        <p:nvSpPr>
          <p:cNvPr id="117" name="Rectangle 30">
            <a:extLst>
              <a:ext uri="{FF2B5EF4-FFF2-40B4-BE49-F238E27FC236}">
                <a16:creationId xmlns:a16="http://schemas.microsoft.com/office/drawing/2014/main" id="{4239DC22-EB05-3E35-7ACD-7758A37AA20E}"/>
              </a:ext>
            </a:extLst>
          </p:cNvPr>
          <p:cNvSpPr>
            <a:spLocks/>
          </p:cNvSpPr>
          <p:nvPr/>
        </p:nvSpPr>
        <p:spPr bwMode="auto">
          <a:xfrm>
            <a:off x="2511310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18" name="Rectangle 30">
            <a:extLst>
              <a:ext uri="{FF2B5EF4-FFF2-40B4-BE49-F238E27FC236}">
                <a16:creationId xmlns:a16="http://schemas.microsoft.com/office/drawing/2014/main" id="{212F77A9-ECD8-D4EF-8165-F015C7A65FB0}"/>
              </a:ext>
            </a:extLst>
          </p:cNvPr>
          <p:cNvSpPr>
            <a:spLocks/>
          </p:cNvSpPr>
          <p:nvPr/>
        </p:nvSpPr>
        <p:spPr bwMode="auto">
          <a:xfrm>
            <a:off x="3128748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19" name="Straight Connector 32">
            <a:extLst>
              <a:ext uri="{FF2B5EF4-FFF2-40B4-BE49-F238E27FC236}">
                <a16:creationId xmlns:a16="http://schemas.microsoft.com/office/drawing/2014/main" id="{27D7BBF3-D567-E081-2565-769C298847BE}"/>
              </a:ext>
            </a:extLst>
          </p:cNvPr>
          <p:cNvCxnSpPr>
            <a:cxnSpLocks/>
          </p:cNvCxnSpPr>
          <p:nvPr/>
        </p:nvCxnSpPr>
        <p:spPr>
          <a:xfrm flipV="1">
            <a:off x="3426144" y="4153651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27">
            <a:extLst>
              <a:ext uri="{FF2B5EF4-FFF2-40B4-BE49-F238E27FC236}">
                <a16:creationId xmlns:a16="http://schemas.microsoft.com/office/drawing/2014/main" id="{38873733-3D5A-A0D7-2F4A-0A687CF265EF}"/>
              </a:ext>
            </a:extLst>
          </p:cNvPr>
          <p:cNvSpPr>
            <a:spLocks/>
          </p:cNvSpPr>
          <p:nvPr/>
        </p:nvSpPr>
        <p:spPr bwMode="auto">
          <a:xfrm>
            <a:off x="3689093" y="385370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21" name="Rectangle 27">
            <a:extLst>
              <a:ext uri="{FF2B5EF4-FFF2-40B4-BE49-F238E27FC236}">
                <a16:creationId xmlns:a16="http://schemas.microsoft.com/office/drawing/2014/main" id="{E03D4244-3CC2-3589-7E42-DCB4C3E4AB24}"/>
              </a:ext>
            </a:extLst>
          </p:cNvPr>
          <p:cNvSpPr>
            <a:spLocks/>
          </p:cNvSpPr>
          <p:nvPr/>
        </p:nvSpPr>
        <p:spPr bwMode="auto">
          <a:xfrm>
            <a:off x="4306531" y="385370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cxnSp>
        <p:nvCxnSpPr>
          <p:cNvPr id="129" name="Straight Connector 16">
            <a:extLst>
              <a:ext uri="{FF2B5EF4-FFF2-40B4-BE49-F238E27FC236}">
                <a16:creationId xmlns:a16="http://schemas.microsoft.com/office/drawing/2014/main" id="{FD65FB03-50F2-C4E6-4939-0A30C1B4F8DD}"/>
              </a:ext>
            </a:extLst>
          </p:cNvPr>
          <p:cNvCxnSpPr/>
          <p:nvPr/>
        </p:nvCxnSpPr>
        <p:spPr>
          <a:xfrm>
            <a:off x="8417178" y="4207849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4114F4CA-11F1-07B4-CBE4-B87D6963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12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55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4" grpId="0"/>
      <p:bldP spid="136" grpId="0"/>
      <p:bldP spid="137" grpId="0"/>
      <p:bldP spid="138" grpId="0"/>
      <p:bldP spid="139" grpId="0"/>
      <p:bldP spid="140" grpId="0"/>
      <p:bldP spid="126" grpId="0"/>
      <p:bldP spid="127" grpId="0"/>
      <p:bldP spid="128" grpId="0"/>
      <p:bldP spid="111" grpId="0"/>
      <p:bldP spid="112" grpId="0"/>
      <p:bldP spid="116" grpId="0"/>
      <p:bldP spid="117" grpId="0"/>
      <p:bldP spid="118" grpId="0"/>
      <p:bldP spid="120" grpId="0"/>
      <p:bldP spid="1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04F8A-1591-3505-F275-4EA8F4F8B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Straight Arrow Connector 18">
            <a:extLst>
              <a:ext uri="{FF2B5EF4-FFF2-40B4-BE49-F238E27FC236}">
                <a16:creationId xmlns:a16="http://schemas.microsoft.com/office/drawing/2014/main" id="{82D6267E-A27D-A721-20A6-855C69F279E5}"/>
              </a:ext>
            </a:extLst>
          </p:cNvPr>
          <p:cNvCxnSpPr/>
          <p:nvPr/>
        </p:nvCxnSpPr>
        <p:spPr>
          <a:xfrm flipV="1">
            <a:off x="9667432" y="356115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8">
            <a:extLst>
              <a:ext uri="{FF2B5EF4-FFF2-40B4-BE49-F238E27FC236}">
                <a16:creationId xmlns:a16="http://schemas.microsoft.com/office/drawing/2014/main" id="{FCC3A39A-F0F1-B9FC-5B45-2DE492746CC6}"/>
              </a:ext>
            </a:extLst>
          </p:cNvPr>
          <p:cNvCxnSpPr/>
          <p:nvPr/>
        </p:nvCxnSpPr>
        <p:spPr>
          <a:xfrm flipV="1">
            <a:off x="9049994" y="356115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4">
            <a:extLst>
              <a:ext uri="{FF2B5EF4-FFF2-40B4-BE49-F238E27FC236}">
                <a16:creationId xmlns:a16="http://schemas.microsoft.com/office/drawing/2014/main" id="{62E47263-11E8-4BE1-D639-437DD3EE9D66}"/>
              </a:ext>
            </a:extLst>
          </p:cNvPr>
          <p:cNvCxnSpPr>
            <a:cxnSpLocks/>
          </p:cNvCxnSpPr>
          <p:nvPr/>
        </p:nvCxnSpPr>
        <p:spPr>
          <a:xfrm>
            <a:off x="8416811" y="4236932"/>
            <a:ext cx="367" cy="58181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2">
            <a:extLst>
              <a:ext uri="{FF2B5EF4-FFF2-40B4-BE49-F238E27FC236}">
                <a16:creationId xmlns:a16="http://schemas.microsoft.com/office/drawing/2014/main" id="{F74C20C7-4F01-1389-6FA7-678FB791B157}"/>
              </a:ext>
            </a:extLst>
          </p:cNvPr>
          <p:cNvSpPr>
            <a:spLocks/>
          </p:cNvSpPr>
          <p:nvPr/>
        </p:nvSpPr>
        <p:spPr bwMode="auto">
          <a:xfrm>
            <a:off x="10000130" y="3902480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34" name="Rectangle 15">
            <a:extLst>
              <a:ext uri="{FF2B5EF4-FFF2-40B4-BE49-F238E27FC236}">
                <a16:creationId xmlns:a16="http://schemas.microsoft.com/office/drawing/2014/main" id="{37E661EE-7D6F-50F1-9996-FDE25E49BC4D}"/>
              </a:ext>
            </a:extLst>
          </p:cNvPr>
          <p:cNvSpPr>
            <a:spLocks/>
          </p:cNvSpPr>
          <p:nvPr/>
        </p:nvSpPr>
        <p:spPr bwMode="auto">
          <a:xfrm>
            <a:off x="7486880" y="482512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35" name="Straight Arrow Connector 18">
            <a:extLst>
              <a:ext uri="{FF2B5EF4-FFF2-40B4-BE49-F238E27FC236}">
                <a16:creationId xmlns:a16="http://schemas.microsoft.com/office/drawing/2014/main" id="{FC996601-AFE8-B195-4D10-A84E5E730F40}"/>
              </a:ext>
            </a:extLst>
          </p:cNvPr>
          <p:cNvCxnSpPr/>
          <p:nvPr/>
        </p:nvCxnSpPr>
        <p:spPr>
          <a:xfrm flipV="1">
            <a:off x="10307049" y="3566551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20">
            <a:extLst>
              <a:ext uri="{FF2B5EF4-FFF2-40B4-BE49-F238E27FC236}">
                <a16:creationId xmlns:a16="http://schemas.microsoft.com/office/drawing/2014/main" id="{07641241-39A5-DBEA-32D8-108BFCB93765}"/>
              </a:ext>
            </a:extLst>
          </p:cNvPr>
          <p:cNvSpPr>
            <a:spLocks/>
          </p:cNvSpPr>
          <p:nvPr/>
        </p:nvSpPr>
        <p:spPr bwMode="auto">
          <a:xfrm>
            <a:off x="10000131" y="3232130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37" name="Rectangle 27">
            <a:extLst>
              <a:ext uri="{FF2B5EF4-FFF2-40B4-BE49-F238E27FC236}">
                <a16:creationId xmlns:a16="http://schemas.microsoft.com/office/drawing/2014/main" id="{DC611EF9-654F-2B8C-0B37-C5BD84EF08BF}"/>
              </a:ext>
            </a:extLst>
          </p:cNvPr>
          <p:cNvSpPr>
            <a:spLocks/>
          </p:cNvSpPr>
          <p:nvPr/>
        </p:nvSpPr>
        <p:spPr bwMode="auto">
          <a:xfrm>
            <a:off x="8793414" y="389042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38" name="Rectangle 30">
            <a:extLst>
              <a:ext uri="{FF2B5EF4-FFF2-40B4-BE49-F238E27FC236}">
                <a16:creationId xmlns:a16="http://schemas.microsoft.com/office/drawing/2014/main" id="{C3ED34AB-29C7-E29E-78DB-EB74D743223C}"/>
              </a:ext>
            </a:extLst>
          </p:cNvPr>
          <p:cNvSpPr>
            <a:spLocks/>
          </p:cNvSpPr>
          <p:nvPr/>
        </p:nvSpPr>
        <p:spPr bwMode="auto">
          <a:xfrm>
            <a:off x="8731076" y="324937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39" name="Rectangle 27">
            <a:extLst>
              <a:ext uri="{FF2B5EF4-FFF2-40B4-BE49-F238E27FC236}">
                <a16:creationId xmlns:a16="http://schemas.microsoft.com/office/drawing/2014/main" id="{393135BD-5434-8634-1BDB-4D7E265D4023}"/>
              </a:ext>
            </a:extLst>
          </p:cNvPr>
          <p:cNvSpPr>
            <a:spLocks/>
          </p:cNvSpPr>
          <p:nvPr/>
        </p:nvSpPr>
        <p:spPr bwMode="auto">
          <a:xfrm>
            <a:off x="9410852" y="389042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40" name="Rectangle 30">
            <a:extLst>
              <a:ext uri="{FF2B5EF4-FFF2-40B4-BE49-F238E27FC236}">
                <a16:creationId xmlns:a16="http://schemas.microsoft.com/office/drawing/2014/main" id="{E67D084C-39F3-4F4E-D8F8-2021414129FE}"/>
              </a:ext>
            </a:extLst>
          </p:cNvPr>
          <p:cNvSpPr>
            <a:spLocks/>
          </p:cNvSpPr>
          <p:nvPr/>
        </p:nvSpPr>
        <p:spPr bwMode="auto">
          <a:xfrm>
            <a:off x="9348514" y="324937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122" name="Straight Arrow Connector 18">
            <a:extLst>
              <a:ext uri="{FF2B5EF4-FFF2-40B4-BE49-F238E27FC236}">
                <a16:creationId xmlns:a16="http://schemas.microsoft.com/office/drawing/2014/main" id="{02FEC25B-A7C3-3E5D-F5E4-AA9DE3EAC3AD}"/>
              </a:ext>
            </a:extLst>
          </p:cNvPr>
          <p:cNvCxnSpPr/>
          <p:nvPr/>
        </p:nvCxnSpPr>
        <p:spPr>
          <a:xfrm flipV="1">
            <a:off x="4680959" y="3483714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8">
            <a:extLst>
              <a:ext uri="{FF2B5EF4-FFF2-40B4-BE49-F238E27FC236}">
                <a16:creationId xmlns:a16="http://schemas.microsoft.com/office/drawing/2014/main" id="{88D1DBED-4F0A-D00A-BBE0-C9CDD6C92922}"/>
              </a:ext>
            </a:extLst>
          </p:cNvPr>
          <p:cNvCxnSpPr/>
          <p:nvPr/>
        </p:nvCxnSpPr>
        <p:spPr>
          <a:xfrm flipV="1">
            <a:off x="4063521" y="3483714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30">
            <a:extLst>
              <a:ext uri="{FF2B5EF4-FFF2-40B4-BE49-F238E27FC236}">
                <a16:creationId xmlns:a16="http://schemas.microsoft.com/office/drawing/2014/main" id="{23713BFD-7C95-F0E3-BB1D-E279BCD2FACE}"/>
              </a:ext>
            </a:extLst>
          </p:cNvPr>
          <p:cNvSpPr>
            <a:spLocks/>
          </p:cNvSpPr>
          <p:nvPr/>
        </p:nvSpPr>
        <p:spPr bwMode="auto">
          <a:xfrm>
            <a:off x="3762820" y="3171934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53D11820-35FC-9320-03FF-C21C4CD27068}"/>
              </a:ext>
            </a:extLst>
          </p:cNvPr>
          <p:cNvSpPr>
            <a:spLocks/>
          </p:cNvSpPr>
          <p:nvPr/>
        </p:nvSpPr>
        <p:spPr bwMode="auto">
          <a:xfrm>
            <a:off x="4380258" y="3171934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14" name="Straight Arrow Connector 21">
            <a:extLst>
              <a:ext uri="{FF2B5EF4-FFF2-40B4-BE49-F238E27FC236}">
                <a16:creationId xmlns:a16="http://schemas.microsoft.com/office/drawing/2014/main" id="{369B95E1-8332-7857-82CD-E391D3C135F8}"/>
              </a:ext>
            </a:extLst>
          </p:cNvPr>
          <p:cNvCxnSpPr>
            <a:cxnSpLocks/>
          </p:cNvCxnSpPr>
          <p:nvPr/>
        </p:nvCxnSpPr>
        <p:spPr>
          <a:xfrm>
            <a:off x="2177938" y="4152619"/>
            <a:ext cx="0" cy="48264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8">
            <a:extLst>
              <a:ext uri="{FF2B5EF4-FFF2-40B4-BE49-F238E27FC236}">
                <a16:creationId xmlns:a16="http://schemas.microsoft.com/office/drawing/2014/main" id="{D8AD6C3D-1013-698D-BE6A-C2B45334DF62}"/>
              </a:ext>
            </a:extLst>
          </p:cNvPr>
          <p:cNvCxnSpPr/>
          <p:nvPr/>
        </p:nvCxnSpPr>
        <p:spPr>
          <a:xfrm flipV="1">
            <a:off x="2812011" y="348911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6D442D4-2F60-9DB3-BF25-62146158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EAAB5-7B05-6D07-EB41-862B8307F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747" y="1916732"/>
            <a:ext cx="7610476" cy="6630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asumimos que los proyectos se pueden replicar.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16FFE96E-A4CB-9ECF-5089-3079497DA1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9785944"/>
                  </p:ext>
                </p:extLst>
              </p:nvPr>
            </p:nvGraphicFramePr>
            <p:xfrm>
              <a:off x="1805796" y="5511490"/>
              <a:ext cx="6660903" cy="11512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03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03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03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IBF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A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B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VPN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Replicado</m:t>
                                  </m:r>
                                </m:sub>
                              </m:sSub>
                              <m:r>
                                <a:rPr lang="es-ES" sz="1800" b="0" i="0" noProof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_tradnl" sz="18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(10%)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$ 25,70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$ 20,56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VAE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Replicado</m:t>
                                  </m:r>
                                </m:sub>
                              </m:sSub>
                              <m:r>
                                <a:rPr lang="es-ES" sz="1800" b="0" i="0" noProof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_tradnl" sz="18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 (10%)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$ 5,90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$ 4,72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16FFE96E-A4CB-9ECF-5089-3079497DA1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9785944"/>
                  </p:ext>
                </p:extLst>
              </p:nvPr>
            </p:nvGraphicFramePr>
            <p:xfrm>
              <a:off x="1805796" y="5511490"/>
              <a:ext cx="6660903" cy="11512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03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03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03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IBF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A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B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100000" r="-201714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$ 25,70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$ 20,56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200000" r="-201714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$ 5,90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$ 4,72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1" name="Rectángulo 80">
            <a:extLst>
              <a:ext uri="{FF2B5EF4-FFF2-40B4-BE49-F238E27FC236}">
                <a16:creationId xmlns:a16="http://schemas.microsoft.com/office/drawing/2014/main" id="{7479D697-8F64-7255-329C-29E95460290F}"/>
              </a:ext>
            </a:extLst>
          </p:cNvPr>
          <p:cNvSpPr/>
          <p:nvPr/>
        </p:nvSpPr>
        <p:spPr>
          <a:xfrm>
            <a:off x="1805797" y="5511490"/>
            <a:ext cx="4494992" cy="117049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D1D072E-CEA2-351C-2500-E84EDBFFEBF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7" name="Picture 2" descr="Clientes y aliados | Centro de Evaluación | Uniandes">
            <a:extLst>
              <a:ext uri="{FF2B5EF4-FFF2-40B4-BE49-F238E27FC236}">
                <a16:creationId xmlns:a16="http://schemas.microsoft.com/office/drawing/2014/main" id="{14469AED-B43B-820E-4DD0-DCB68EC1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ángulo 49">
            <a:extLst>
              <a:ext uri="{FF2B5EF4-FFF2-40B4-BE49-F238E27FC236}">
                <a16:creationId xmlns:a16="http://schemas.microsoft.com/office/drawing/2014/main" id="{9A2D1051-BA4E-76E3-C108-25583EEBA2F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85" name="Straight Arrow Connector 18">
            <a:extLst>
              <a:ext uri="{FF2B5EF4-FFF2-40B4-BE49-F238E27FC236}">
                <a16:creationId xmlns:a16="http://schemas.microsoft.com/office/drawing/2014/main" id="{10C42EDE-8E0A-D5C6-E07E-97E418344624}"/>
              </a:ext>
            </a:extLst>
          </p:cNvPr>
          <p:cNvCxnSpPr/>
          <p:nvPr/>
        </p:nvCxnSpPr>
        <p:spPr>
          <a:xfrm flipV="1">
            <a:off x="7765116" y="3536687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8">
            <a:extLst>
              <a:ext uri="{FF2B5EF4-FFF2-40B4-BE49-F238E27FC236}">
                <a16:creationId xmlns:a16="http://schemas.microsoft.com/office/drawing/2014/main" id="{AD924F2A-9085-74C1-7149-E3CD0FFF1DA9}"/>
              </a:ext>
            </a:extLst>
          </p:cNvPr>
          <p:cNvCxnSpPr/>
          <p:nvPr/>
        </p:nvCxnSpPr>
        <p:spPr>
          <a:xfrm flipV="1">
            <a:off x="7147678" y="3536687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4">
            <a:extLst>
              <a:ext uri="{FF2B5EF4-FFF2-40B4-BE49-F238E27FC236}">
                <a16:creationId xmlns:a16="http://schemas.microsoft.com/office/drawing/2014/main" id="{E6F95E1B-9D91-1463-F432-BF9877FF71C0}"/>
              </a:ext>
            </a:extLst>
          </p:cNvPr>
          <p:cNvCxnSpPr/>
          <p:nvPr/>
        </p:nvCxnSpPr>
        <p:spPr>
          <a:xfrm>
            <a:off x="6514495" y="4200193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6">
            <a:extLst>
              <a:ext uri="{FF2B5EF4-FFF2-40B4-BE49-F238E27FC236}">
                <a16:creationId xmlns:a16="http://schemas.microsoft.com/office/drawing/2014/main" id="{5FFEDC35-30CB-5CCC-B047-301F5BBE8FBD}"/>
              </a:ext>
            </a:extLst>
          </p:cNvPr>
          <p:cNvSpPr>
            <a:spLocks/>
          </p:cNvSpPr>
          <p:nvPr/>
        </p:nvSpPr>
        <p:spPr bwMode="auto">
          <a:xfrm flipH="1">
            <a:off x="6428894" y="3856973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90" name="Rectangle 12">
            <a:extLst>
              <a:ext uri="{FF2B5EF4-FFF2-40B4-BE49-F238E27FC236}">
                <a16:creationId xmlns:a16="http://schemas.microsoft.com/office/drawing/2014/main" id="{BB3F2A2B-E127-0A9E-6B26-13FDE674F495}"/>
              </a:ext>
            </a:extLst>
          </p:cNvPr>
          <p:cNvSpPr>
            <a:spLocks/>
          </p:cNvSpPr>
          <p:nvPr/>
        </p:nvSpPr>
        <p:spPr bwMode="auto">
          <a:xfrm>
            <a:off x="8252800" y="3865740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78F97F41-636B-2AA4-A832-A543DCE6E287}"/>
              </a:ext>
            </a:extLst>
          </p:cNvPr>
          <p:cNvSpPr>
            <a:spLocks/>
          </p:cNvSpPr>
          <p:nvPr/>
        </p:nvSpPr>
        <p:spPr bwMode="auto">
          <a:xfrm>
            <a:off x="5599714" y="5092510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94" name="Straight Arrow Connector 21">
            <a:extLst>
              <a:ext uri="{FF2B5EF4-FFF2-40B4-BE49-F238E27FC236}">
                <a16:creationId xmlns:a16="http://schemas.microsoft.com/office/drawing/2014/main" id="{808E604F-9CB8-1461-1855-4E606FF0BEFA}"/>
              </a:ext>
            </a:extLst>
          </p:cNvPr>
          <p:cNvCxnSpPr/>
          <p:nvPr/>
        </p:nvCxnSpPr>
        <p:spPr>
          <a:xfrm>
            <a:off x="926427" y="4152619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23">
            <a:extLst>
              <a:ext uri="{FF2B5EF4-FFF2-40B4-BE49-F238E27FC236}">
                <a16:creationId xmlns:a16="http://schemas.microsoft.com/office/drawing/2014/main" id="{A9B2D6C1-083F-7EE2-18F9-A88ECBFACBF5}"/>
              </a:ext>
            </a:extLst>
          </p:cNvPr>
          <p:cNvSpPr>
            <a:spLocks/>
          </p:cNvSpPr>
          <p:nvPr/>
        </p:nvSpPr>
        <p:spPr bwMode="auto">
          <a:xfrm flipH="1">
            <a:off x="840826" y="3809399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96" name="Rectangle 27">
            <a:extLst>
              <a:ext uri="{FF2B5EF4-FFF2-40B4-BE49-F238E27FC236}">
                <a16:creationId xmlns:a16="http://schemas.microsoft.com/office/drawing/2014/main" id="{B1CA2C21-CCE4-8EEE-E2F4-25C86B2509F5}"/>
              </a:ext>
            </a:extLst>
          </p:cNvPr>
          <p:cNvSpPr>
            <a:spLocks/>
          </p:cNvSpPr>
          <p:nvPr/>
        </p:nvSpPr>
        <p:spPr bwMode="auto">
          <a:xfrm>
            <a:off x="1303920" y="380611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97" name="Rectangle 38">
            <a:extLst>
              <a:ext uri="{FF2B5EF4-FFF2-40B4-BE49-F238E27FC236}">
                <a16:creationId xmlns:a16="http://schemas.microsoft.com/office/drawing/2014/main" id="{05F4B72A-985D-9773-D8BE-CE4C11450324}"/>
              </a:ext>
            </a:extLst>
          </p:cNvPr>
          <p:cNvSpPr>
            <a:spLocks/>
          </p:cNvSpPr>
          <p:nvPr/>
        </p:nvSpPr>
        <p:spPr bwMode="auto">
          <a:xfrm>
            <a:off x="-28146" y="499614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98" name="Straight Connector 16">
            <a:extLst>
              <a:ext uri="{FF2B5EF4-FFF2-40B4-BE49-F238E27FC236}">
                <a16:creationId xmlns:a16="http://schemas.microsoft.com/office/drawing/2014/main" id="{0B89AC10-4E66-DE95-3688-A86DD4294C98}"/>
              </a:ext>
            </a:extLst>
          </p:cNvPr>
          <p:cNvCxnSpPr/>
          <p:nvPr/>
        </p:nvCxnSpPr>
        <p:spPr>
          <a:xfrm>
            <a:off x="6514495" y="4200194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18">
            <a:extLst>
              <a:ext uri="{FF2B5EF4-FFF2-40B4-BE49-F238E27FC236}">
                <a16:creationId xmlns:a16="http://schemas.microsoft.com/office/drawing/2014/main" id="{7BC228C9-27E0-6C8C-D5B8-4B878A2C67C8}"/>
              </a:ext>
            </a:extLst>
          </p:cNvPr>
          <p:cNvCxnSpPr/>
          <p:nvPr/>
        </p:nvCxnSpPr>
        <p:spPr>
          <a:xfrm flipV="1">
            <a:off x="1560500" y="348911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32">
            <a:extLst>
              <a:ext uri="{FF2B5EF4-FFF2-40B4-BE49-F238E27FC236}">
                <a16:creationId xmlns:a16="http://schemas.microsoft.com/office/drawing/2014/main" id="{078EFCF8-375A-3F17-EBEA-E4F0D00BB513}"/>
              </a:ext>
            </a:extLst>
          </p:cNvPr>
          <p:cNvCxnSpPr>
            <a:cxnSpLocks/>
          </p:cNvCxnSpPr>
          <p:nvPr/>
        </p:nvCxnSpPr>
        <p:spPr>
          <a:xfrm flipV="1">
            <a:off x="926428" y="4152618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30">
            <a:extLst>
              <a:ext uri="{FF2B5EF4-FFF2-40B4-BE49-F238E27FC236}">
                <a16:creationId xmlns:a16="http://schemas.microsoft.com/office/drawing/2014/main" id="{23FDCC18-568F-1738-DC31-158975378131}"/>
              </a:ext>
            </a:extLst>
          </p:cNvPr>
          <p:cNvSpPr>
            <a:spLocks/>
          </p:cNvSpPr>
          <p:nvPr/>
        </p:nvSpPr>
        <p:spPr bwMode="auto">
          <a:xfrm>
            <a:off x="1241582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2" name="Rectangle 27">
            <a:extLst>
              <a:ext uri="{FF2B5EF4-FFF2-40B4-BE49-F238E27FC236}">
                <a16:creationId xmlns:a16="http://schemas.microsoft.com/office/drawing/2014/main" id="{74869FDE-5E54-D3CF-3759-DC65AD9B518B}"/>
              </a:ext>
            </a:extLst>
          </p:cNvPr>
          <p:cNvSpPr>
            <a:spLocks/>
          </p:cNvSpPr>
          <p:nvPr/>
        </p:nvSpPr>
        <p:spPr bwMode="auto">
          <a:xfrm>
            <a:off x="2013682" y="381276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4" name="Rectangle 27">
            <a:extLst>
              <a:ext uri="{FF2B5EF4-FFF2-40B4-BE49-F238E27FC236}">
                <a16:creationId xmlns:a16="http://schemas.microsoft.com/office/drawing/2014/main" id="{BDC94589-9AF9-31AA-911E-6575171C16E3}"/>
              </a:ext>
            </a:extLst>
          </p:cNvPr>
          <p:cNvSpPr>
            <a:spLocks/>
          </p:cNvSpPr>
          <p:nvPr/>
        </p:nvSpPr>
        <p:spPr bwMode="auto">
          <a:xfrm>
            <a:off x="6891098" y="385368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05" name="Rectangle 30">
            <a:extLst>
              <a:ext uri="{FF2B5EF4-FFF2-40B4-BE49-F238E27FC236}">
                <a16:creationId xmlns:a16="http://schemas.microsoft.com/office/drawing/2014/main" id="{7E534665-4829-5857-C2DF-43534416BB4A}"/>
              </a:ext>
            </a:extLst>
          </p:cNvPr>
          <p:cNvSpPr>
            <a:spLocks/>
          </p:cNvSpPr>
          <p:nvPr/>
        </p:nvSpPr>
        <p:spPr bwMode="auto">
          <a:xfrm>
            <a:off x="6828760" y="3224907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6" name="Rectangle 27">
            <a:extLst>
              <a:ext uri="{FF2B5EF4-FFF2-40B4-BE49-F238E27FC236}">
                <a16:creationId xmlns:a16="http://schemas.microsoft.com/office/drawing/2014/main" id="{3082B339-3BF4-C950-1A4A-1EDA1C0684E0}"/>
              </a:ext>
            </a:extLst>
          </p:cNvPr>
          <p:cNvSpPr>
            <a:spLocks/>
          </p:cNvSpPr>
          <p:nvPr/>
        </p:nvSpPr>
        <p:spPr bwMode="auto">
          <a:xfrm>
            <a:off x="7508536" y="385368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7" name="Rectangle 30">
            <a:extLst>
              <a:ext uri="{FF2B5EF4-FFF2-40B4-BE49-F238E27FC236}">
                <a16:creationId xmlns:a16="http://schemas.microsoft.com/office/drawing/2014/main" id="{55244111-0FF5-1933-44B7-B74A27710559}"/>
              </a:ext>
            </a:extLst>
          </p:cNvPr>
          <p:cNvSpPr>
            <a:spLocks/>
          </p:cNvSpPr>
          <p:nvPr/>
        </p:nvSpPr>
        <p:spPr bwMode="auto">
          <a:xfrm>
            <a:off x="7446198" y="3224907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8" name="Rectangle 43">
            <a:extLst>
              <a:ext uri="{FF2B5EF4-FFF2-40B4-BE49-F238E27FC236}">
                <a16:creationId xmlns:a16="http://schemas.microsoft.com/office/drawing/2014/main" id="{5DB277B8-E2DB-CC3B-6D05-D75FE3D67400}"/>
              </a:ext>
            </a:extLst>
          </p:cNvPr>
          <p:cNvSpPr>
            <a:spLocks/>
          </p:cNvSpPr>
          <p:nvPr/>
        </p:nvSpPr>
        <p:spPr bwMode="auto">
          <a:xfrm>
            <a:off x="2130794" y="2698237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cxnSp>
        <p:nvCxnSpPr>
          <p:cNvPr id="110" name="Straight Connector 32">
            <a:extLst>
              <a:ext uri="{FF2B5EF4-FFF2-40B4-BE49-F238E27FC236}">
                <a16:creationId xmlns:a16="http://schemas.microsoft.com/office/drawing/2014/main" id="{0505E7F4-983E-7B7A-938A-45D0889C5416}"/>
              </a:ext>
            </a:extLst>
          </p:cNvPr>
          <p:cNvCxnSpPr>
            <a:cxnSpLocks/>
          </p:cNvCxnSpPr>
          <p:nvPr/>
        </p:nvCxnSpPr>
        <p:spPr>
          <a:xfrm flipV="1">
            <a:off x="2180445" y="4152710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27">
            <a:extLst>
              <a:ext uri="{FF2B5EF4-FFF2-40B4-BE49-F238E27FC236}">
                <a16:creationId xmlns:a16="http://schemas.microsoft.com/office/drawing/2014/main" id="{880C045E-8AFD-A0EA-ECDF-C8D4B9A3AB32}"/>
              </a:ext>
            </a:extLst>
          </p:cNvPr>
          <p:cNvSpPr>
            <a:spLocks/>
          </p:cNvSpPr>
          <p:nvPr/>
        </p:nvSpPr>
        <p:spPr bwMode="auto">
          <a:xfrm>
            <a:off x="2508414" y="38317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12" name="Rectangle 27">
            <a:extLst>
              <a:ext uri="{FF2B5EF4-FFF2-40B4-BE49-F238E27FC236}">
                <a16:creationId xmlns:a16="http://schemas.microsoft.com/office/drawing/2014/main" id="{CDFDB3CD-02EC-B074-F8AE-3B9FC1AAE768}"/>
              </a:ext>
            </a:extLst>
          </p:cNvPr>
          <p:cNvSpPr>
            <a:spLocks/>
          </p:cNvSpPr>
          <p:nvPr/>
        </p:nvSpPr>
        <p:spPr bwMode="auto">
          <a:xfrm>
            <a:off x="3125852" y="38317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16" name="Rectangle 38">
            <a:extLst>
              <a:ext uri="{FF2B5EF4-FFF2-40B4-BE49-F238E27FC236}">
                <a16:creationId xmlns:a16="http://schemas.microsoft.com/office/drawing/2014/main" id="{BD6426E4-9726-6CE2-6F47-51C49A803DA8}"/>
              </a:ext>
            </a:extLst>
          </p:cNvPr>
          <p:cNvSpPr>
            <a:spLocks/>
          </p:cNvSpPr>
          <p:nvPr/>
        </p:nvSpPr>
        <p:spPr bwMode="auto">
          <a:xfrm>
            <a:off x="1238686" y="4626710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17" name="Rectangle 30">
            <a:extLst>
              <a:ext uri="{FF2B5EF4-FFF2-40B4-BE49-F238E27FC236}">
                <a16:creationId xmlns:a16="http://schemas.microsoft.com/office/drawing/2014/main" id="{DA2FE289-388F-9265-6505-6042A5D28656}"/>
              </a:ext>
            </a:extLst>
          </p:cNvPr>
          <p:cNvSpPr>
            <a:spLocks/>
          </p:cNvSpPr>
          <p:nvPr/>
        </p:nvSpPr>
        <p:spPr bwMode="auto">
          <a:xfrm>
            <a:off x="2511310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19" name="Straight Connector 32">
            <a:extLst>
              <a:ext uri="{FF2B5EF4-FFF2-40B4-BE49-F238E27FC236}">
                <a16:creationId xmlns:a16="http://schemas.microsoft.com/office/drawing/2014/main" id="{D4922C3B-7BB8-72E9-A9BD-8B6041A48395}"/>
              </a:ext>
            </a:extLst>
          </p:cNvPr>
          <p:cNvCxnSpPr>
            <a:cxnSpLocks/>
          </p:cNvCxnSpPr>
          <p:nvPr/>
        </p:nvCxnSpPr>
        <p:spPr>
          <a:xfrm flipV="1">
            <a:off x="3426144" y="4153651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27">
            <a:extLst>
              <a:ext uri="{FF2B5EF4-FFF2-40B4-BE49-F238E27FC236}">
                <a16:creationId xmlns:a16="http://schemas.microsoft.com/office/drawing/2014/main" id="{4D78E9BD-D113-8615-F353-6A9F662166D4}"/>
              </a:ext>
            </a:extLst>
          </p:cNvPr>
          <p:cNvSpPr>
            <a:spLocks/>
          </p:cNvSpPr>
          <p:nvPr/>
        </p:nvSpPr>
        <p:spPr bwMode="auto">
          <a:xfrm>
            <a:off x="3689093" y="385370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21" name="Rectangle 27">
            <a:extLst>
              <a:ext uri="{FF2B5EF4-FFF2-40B4-BE49-F238E27FC236}">
                <a16:creationId xmlns:a16="http://schemas.microsoft.com/office/drawing/2014/main" id="{819F464C-EEA6-BD9C-27BB-06DED2606310}"/>
              </a:ext>
            </a:extLst>
          </p:cNvPr>
          <p:cNvSpPr>
            <a:spLocks/>
          </p:cNvSpPr>
          <p:nvPr/>
        </p:nvSpPr>
        <p:spPr bwMode="auto">
          <a:xfrm>
            <a:off x="4306531" y="385370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cxnSp>
        <p:nvCxnSpPr>
          <p:cNvPr id="129" name="Straight Connector 16">
            <a:extLst>
              <a:ext uri="{FF2B5EF4-FFF2-40B4-BE49-F238E27FC236}">
                <a16:creationId xmlns:a16="http://schemas.microsoft.com/office/drawing/2014/main" id="{D641CE4E-4FE0-6E08-9854-49F60E3E034F}"/>
              </a:ext>
            </a:extLst>
          </p:cNvPr>
          <p:cNvCxnSpPr/>
          <p:nvPr/>
        </p:nvCxnSpPr>
        <p:spPr>
          <a:xfrm>
            <a:off x="8417178" y="4207077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593B8787-B6C1-1748-965E-AFEC1B217D28}"/>
              </a:ext>
            </a:extLst>
          </p:cNvPr>
          <p:cNvCxnSpPr>
            <a:cxnSpLocks/>
          </p:cNvCxnSpPr>
          <p:nvPr/>
        </p:nvCxnSpPr>
        <p:spPr>
          <a:xfrm>
            <a:off x="3305607" y="4161169"/>
            <a:ext cx="0" cy="48264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38">
            <a:extLst>
              <a:ext uri="{FF2B5EF4-FFF2-40B4-BE49-F238E27FC236}">
                <a16:creationId xmlns:a16="http://schemas.microsoft.com/office/drawing/2014/main" id="{18F41EF9-C6DA-6E57-5AF6-6F7AC1C4F943}"/>
              </a:ext>
            </a:extLst>
          </p:cNvPr>
          <p:cNvSpPr>
            <a:spLocks/>
          </p:cNvSpPr>
          <p:nvPr/>
        </p:nvSpPr>
        <p:spPr bwMode="auto">
          <a:xfrm>
            <a:off x="2366355" y="4635260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00F529D-14FC-279D-6F81-AF22A4905EE0}"/>
              </a:ext>
            </a:extLst>
          </p:cNvPr>
          <p:cNvSpPr txBox="1">
            <a:spLocks/>
          </p:cNvSpPr>
          <p:nvPr/>
        </p:nvSpPr>
        <p:spPr>
          <a:xfrm>
            <a:off x="8574858" y="5929794"/>
            <a:ext cx="1887166" cy="663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ES_tradnl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¡El VAE no cambia!</a:t>
            </a:r>
          </a:p>
        </p:txBody>
      </p:sp>
      <p:sp>
        <p:nvSpPr>
          <p:cNvPr id="11" name="Rectangle 43">
            <a:extLst>
              <a:ext uri="{FF2B5EF4-FFF2-40B4-BE49-F238E27FC236}">
                <a16:creationId xmlns:a16="http://schemas.microsoft.com/office/drawing/2014/main" id="{346FD69B-4475-2C1D-2B4D-F465A5BD9D8F}"/>
              </a:ext>
            </a:extLst>
          </p:cNvPr>
          <p:cNvSpPr>
            <a:spLocks/>
          </p:cNvSpPr>
          <p:nvPr/>
        </p:nvSpPr>
        <p:spPr bwMode="auto">
          <a:xfrm>
            <a:off x="7948110" y="2737539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C9F49ECB-D909-9061-E7AA-E0D0D59B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13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10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4120-CFA4-6592-0F5F-E2B3A6F4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C6A9-12F5-C3DB-D632-9A65CCB5A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648E845E-C5D2-AE34-B9A0-D646227472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911844"/>
                  </p:ext>
                </p:extLst>
              </p:nvPr>
            </p:nvGraphicFramePr>
            <p:xfrm>
              <a:off x="920227" y="5275002"/>
              <a:ext cx="6449952" cy="15414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99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499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99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IBF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A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B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VPN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Replicado</m:t>
                                  </m:r>
                                </m:sub>
                              </m:sSub>
                              <m:r>
                                <a:rPr lang="es-ES" sz="1800" b="0" i="0" noProof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_tradnl" sz="18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(10%)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$ 408,77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$ 118,97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VAE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Replicado</m:t>
                                  </m:r>
                                </m:sub>
                              </m:sSub>
                              <m:r>
                                <a:rPr lang="es-ES" sz="1800" b="0" i="0" noProof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_tradnl" sz="18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 (10%)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$ 93,86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$ 27,32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  <m: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Replicado</m:t>
                                  </m:r>
                                </m:sub>
                              </m:sSub>
                              <m:r>
                                <a:rPr lang="es-ES" sz="1800" b="0" i="0" noProof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_tradnl" sz="18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(B – A)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ES" sz="1800" b="0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0,88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 fontAlgn="ctr"/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021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648E845E-C5D2-AE34-B9A0-D646227472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911844"/>
                  </p:ext>
                </p:extLst>
              </p:nvPr>
            </p:nvGraphicFramePr>
            <p:xfrm>
              <a:off x="920227" y="5275002"/>
              <a:ext cx="6449952" cy="15414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99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499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99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IBF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A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B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8" t="-100000" r="-200588" b="-2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$ 408,77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$ 118,97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8" t="-200000" r="-200588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$ 93,86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$ 27,32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8" t="-300000" r="-200588" b="-22581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ES" sz="1800" b="0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0,88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 fontAlgn="ctr"/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021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Rectángulo 29">
            <a:extLst>
              <a:ext uri="{FF2B5EF4-FFF2-40B4-BE49-F238E27FC236}">
                <a16:creationId xmlns:a16="http://schemas.microsoft.com/office/drawing/2014/main" id="{69AB000C-A7C0-D4B3-16B8-38D18966333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7" name="Picture 2" descr="Clientes y aliados | Centro de Evaluación | Uniandes">
            <a:extLst>
              <a:ext uri="{FF2B5EF4-FFF2-40B4-BE49-F238E27FC236}">
                <a16:creationId xmlns:a16="http://schemas.microsoft.com/office/drawing/2014/main" id="{41BD21DB-6E5C-8622-9E34-85C3E4218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ángulo 49">
            <a:extLst>
              <a:ext uri="{FF2B5EF4-FFF2-40B4-BE49-F238E27FC236}">
                <a16:creationId xmlns:a16="http://schemas.microsoft.com/office/drawing/2014/main" id="{4B114116-F59B-D076-64C7-C0EA5DA4976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54EA80-FFD4-32C9-7B99-C4FDC1D1F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41" y="1780034"/>
            <a:ext cx="8972384" cy="6630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Y si hiciéramos análisis marginal con un indicador como B/C.</a:t>
            </a:r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1" name="Straight Arrow Connector 18">
            <a:extLst>
              <a:ext uri="{FF2B5EF4-FFF2-40B4-BE49-F238E27FC236}">
                <a16:creationId xmlns:a16="http://schemas.microsoft.com/office/drawing/2014/main" id="{CC466156-F260-20DF-833C-08DAC5CAB8A0}"/>
              </a:ext>
            </a:extLst>
          </p:cNvPr>
          <p:cNvCxnSpPr/>
          <p:nvPr/>
        </p:nvCxnSpPr>
        <p:spPr>
          <a:xfrm flipV="1">
            <a:off x="9977983" y="3357600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8">
            <a:extLst>
              <a:ext uri="{FF2B5EF4-FFF2-40B4-BE49-F238E27FC236}">
                <a16:creationId xmlns:a16="http://schemas.microsoft.com/office/drawing/2014/main" id="{82F4A8B5-4D56-F61A-CC6D-D502F021C6D7}"/>
              </a:ext>
            </a:extLst>
          </p:cNvPr>
          <p:cNvCxnSpPr/>
          <p:nvPr/>
        </p:nvCxnSpPr>
        <p:spPr>
          <a:xfrm flipV="1">
            <a:off x="9360545" y="3357600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4">
            <a:extLst>
              <a:ext uri="{FF2B5EF4-FFF2-40B4-BE49-F238E27FC236}">
                <a16:creationId xmlns:a16="http://schemas.microsoft.com/office/drawing/2014/main" id="{A1103F0A-D4CD-742A-8997-D05A43BD934F}"/>
              </a:ext>
            </a:extLst>
          </p:cNvPr>
          <p:cNvCxnSpPr/>
          <p:nvPr/>
        </p:nvCxnSpPr>
        <p:spPr>
          <a:xfrm>
            <a:off x="8727362" y="4033380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2">
            <a:extLst>
              <a:ext uri="{FF2B5EF4-FFF2-40B4-BE49-F238E27FC236}">
                <a16:creationId xmlns:a16="http://schemas.microsoft.com/office/drawing/2014/main" id="{CD370BF6-9042-D719-98D9-4AC5F3B07296}"/>
              </a:ext>
            </a:extLst>
          </p:cNvPr>
          <p:cNvSpPr>
            <a:spLocks/>
          </p:cNvSpPr>
          <p:nvPr/>
        </p:nvSpPr>
        <p:spPr bwMode="auto">
          <a:xfrm>
            <a:off x="10310681" y="3698928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1DFA2EBE-4443-B176-D12A-67DF8E7DCA10}"/>
              </a:ext>
            </a:extLst>
          </p:cNvPr>
          <p:cNvSpPr>
            <a:spLocks/>
          </p:cNvSpPr>
          <p:nvPr/>
        </p:nvSpPr>
        <p:spPr bwMode="auto">
          <a:xfrm>
            <a:off x="7812581" y="4925697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6" name="Straight Arrow Connector 18">
            <a:extLst>
              <a:ext uri="{FF2B5EF4-FFF2-40B4-BE49-F238E27FC236}">
                <a16:creationId xmlns:a16="http://schemas.microsoft.com/office/drawing/2014/main" id="{9257211B-DF8D-5F4C-03E1-FD92FC25A0F1}"/>
              </a:ext>
            </a:extLst>
          </p:cNvPr>
          <p:cNvCxnSpPr/>
          <p:nvPr/>
        </p:nvCxnSpPr>
        <p:spPr>
          <a:xfrm flipV="1">
            <a:off x="10617600" y="3362999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0">
            <a:extLst>
              <a:ext uri="{FF2B5EF4-FFF2-40B4-BE49-F238E27FC236}">
                <a16:creationId xmlns:a16="http://schemas.microsoft.com/office/drawing/2014/main" id="{F2BEC3D0-94F5-0029-531F-1CC1F25690CF}"/>
              </a:ext>
            </a:extLst>
          </p:cNvPr>
          <p:cNvSpPr>
            <a:spLocks/>
          </p:cNvSpPr>
          <p:nvPr/>
        </p:nvSpPr>
        <p:spPr bwMode="auto">
          <a:xfrm>
            <a:off x="10310682" y="3028578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C658B314-047D-2DA3-4299-7406CA3AE297}"/>
              </a:ext>
            </a:extLst>
          </p:cNvPr>
          <p:cNvSpPr>
            <a:spLocks/>
          </p:cNvSpPr>
          <p:nvPr/>
        </p:nvSpPr>
        <p:spPr bwMode="auto">
          <a:xfrm>
            <a:off x="9103965" y="3686874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9" name="Rectangle 30">
            <a:extLst>
              <a:ext uri="{FF2B5EF4-FFF2-40B4-BE49-F238E27FC236}">
                <a16:creationId xmlns:a16="http://schemas.microsoft.com/office/drawing/2014/main" id="{35ADA882-1AD2-B930-E327-ED28FD584858}"/>
              </a:ext>
            </a:extLst>
          </p:cNvPr>
          <p:cNvSpPr>
            <a:spLocks/>
          </p:cNvSpPr>
          <p:nvPr/>
        </p:nvSpPr>
        <p:spPr bwMode="auto">
          <a:xfrm>
            <a:off x="9041627" y="3045820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81949ADC-9733-7048-42F0-408B8FFB247A}"/>
              </a:ext>
            </a:extLst>
          </p:cNvPr>
          <p:cNvSpPr>
            <a:spLocks/>
          </p:cNvSpPr>
          <p:nvPr/>
        </p:nvSpPr>
        <p:spPr bwMode="auto">
          <a:xfrm>
            <a:off x="9721403" y="3686874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3807AFBC-1358-E490-9519-BB5C7AA3379B}"/>
              </a:ext>
            </a:extLst>
          </p:cNvPr>
          <p:cNvSpPr>
            <a:spLocks/>
          </p:cNvSpPr>
          <p:nvPr/>
        </p:nvSpPr>
        <p:spPr bwMode="auto">
          <a:xfrm>
            <a:off x="9659065" y="3045820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22" name="Straight Arrow Connector 18">
            <a:extLst>
              <a:ext uri="{FF2B5EF4-FFF2-40B4-BE49-F238E27FC236}">
                <a16:creationId xmlns:a16="http://schemas.microsoft.com/office/drawing/2014/main" id="{99AEA779-9906-66FB-BD63-818E563F2F6A}"/>
              </a:ext>
            </a:extLst>
          </p:cNvPr>
          <p:cNvCxnSpPr/>
          <p:nvPr/>
        </p:nvCxnSpPr>
        <p:spPr>
          <a:xfrm flipV="1">
            <a:off x="4991510" y="328016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8">
            <a:extLst>
              <a:ext uri="{FF2B5EF4-FFF2-40B4-BE49-F238E27FC236}">
                <a16:creationId xmlns:a16="http://schemas.microsoft.com/office/drawing/2014/main" id="{1364C33A-6354-8711-2E12-8B411CECBE59}"/>
              </a:ext>
            </a:extLst>
          </p:cNvPr>
          <p:cNvCxnSpPr/>
          <p:nvPr/>
        </p:nvCxnSpPr>
        <p:spPr>
          <a:xfrm flipV="1">
            <a:off x="4374072" y="328016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30">
            <a:extLst>
              <a:ext uri="{FF2B5EF4-FFF2-40B4-BE49-F238E27FC236}">
                <a16:creationId xmlns:a16="http://schemas.microsoft.com/office/drawing/2014/main" id="{71C01878-BF5C-3691-83F8-113489607D6B}"/>
              </a:ext>
            </a:extLst>
          </p:cNvPr>
          <p:cNvSpPr>
            <a:spLocks/>
          </p:cNvSpPr>
          <p:nvPr/>
        </p:nvSpPr>
        <p:spPr bwMode="auto">
          <a:xfrm>
            <a:off x="4073371" y="296838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25" name="Rectangle 30">
            <a:extLst>
              <a:ext uri="{FF2B5EF4-FFF2-40B4-BE49-F238E27FC236}">
                <a16:creationId xmlns:a16="http://schemas.microsoft.com/office/drawing/2014/main" id="{B3635DDC-E53F-209E-4B39-14F1BC21BDE8}"/>
              </a:ext>
            </a:extLst>
          </p:cNvPr>
          <p:cNvSpPr>
            <a:spLocks/>
          </p:cNvSpPr>
          <p:nvPr/>
        </p:nvSpPr>
        <p:spPr bwMode="auto">
          <a:xfrm>
            <a:off x="4690809" y="296838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5A1E0094-1F27-7CA5-E0C0-53DB2E4F6BC1}"/>
              </a:ext>
            </a:extLst>
          </p:cNvPr>
          <p:cNvCxnSpPr>
            <a:cxnSpLocks/>
          </p:cNvCxnSpPr>
          <p:nvPr/>
        </p:nvCxnSpPr>
        <p:spPr>
          <a:xfrm>
            <a:off x="2488489" y="3949067"/>
            <a:ext cx="0" cy="48264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BD62CC49-B695-AA82-8343-9E24ABB412A9}"/>
              </a:ext>
            </a:extLst>
          </p:cNvPr>
          <p:cNvCxnSpPr/>
          <p:nvPr/>
        </p:nvCxnSpPr>
        <p:spPr>
          <a:xfrm flipV="1">
            <a:off x="3122562" y="3285561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8">
            <a:extLst>
              <a:ext uri="{FF2B5EF4-FFF2-40B4-BE49-F238E27FC236}">
                <a16:creationId xmlns:a16="http://schemas.microsoft.com/office/drawing/2014/main" id="{54AC1FCE-2DE8-6340-BC33-C86F51F12F66}"/>
              </a:ext>
            </a:extLst>
          </p:cNvPr>
          <p:cNvCxnSpPr/>
          <p:nvPr/>
        </p:nvCxnSpPr>
        <p:spPr>
          <a:xfrm flipV="1">
            <a:off x="8075667" y="333313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8">
            <a:extLst>
              <a:ext uri="{FF2B5EF4-FFF2-40B4-BE49-F238E27FC236}">
                <a16:creationId xmlns:a16="http://schemas.microsoft.com/office/drawing/2014/main" id="{BFA63EF1-ED9C-FAF9-997B-8E4647DE6018}"/>
              </a:ext>
            </a:extLst>
          </p:cNvPr>
          <p:cNvCxnSpPr/>
          <p:nvPr/>
        </p:nvCxnSpPr>
        <p:spPr>
          <a:xfrm flipV="1">
            <a:off x="7458229" y="333313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4">
            <a:extLst>
              <a:ext uri="{FF2B5EF4-FFF2-40B4-BE49-F238E27FC236}">
                <a16:creationId xmlns:a16="http://schemas.microsoft.com/office/drawing/2014/main" id="{ABD2EC0F-FFFF-FECF-F8AA-97F15ADB2847}"/>
              </a:ext>
            </a:extLst>
          </p:cNvPr>
          <p:cNvCxnSpPr/>
          <p:nvPr/>
        </p:nvCxnSpPr>
        <p:spPr>
          <a:xfrm>
            <a:off x="6825046" y="3996641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6">
            <a:extLst>
              <a:ext uri="{FF2B5EF4-FFF2-40B4-BE49-F238E27FC236}">
                <a16:creationId xmlns:a16="http://schemas.microsoft.com/office/drawing/2014/main" id="{D9430313-DDE6-A904-2C69-C226063F3FDB}"/>
              </a:ext>
            </a:extLst>
          </p:cNvPr>
          <p:cNvSpPr>
            <a:spLocks/>
          </p:cNvSpPr>
          <p:nvPr/>
        </p:nvSpPr>
        <p:spPr bwMode="auto">
          <a:xfrm flipH="1">
            <a:off x="6739445" y="3653421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60ED1067-82EC-06D8-E5E0-952102033231}"/>
              </a:ext>
            </a:extLst>
          </p:cNvPr>
          <p:cNvSpPr>
            <a:spLocks/>
          </p:cNvSpPr>
          <p:nvPr/>
        </p:nvSpPr>
        <p:spPr bwMode="auto">
          <a:xfrm>
            <a:off x="8563351" y="3662188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6ED6F873-0DEF-3062-1B7D-E8474391CB99}"/>
              </a:ext>
            </a:extLst>
          </p:cNvPr>
          <p:cNvSpPr>
            <a:spLocks/>
          </p:cNvSpPr>
          <p:nvPr/>
        </p:nvSpPr>
        <p:spPr bwMode="auto">
          <a:xfrm>
            <a:off x="5910265" y="488895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36" name="Straight Arrow Connector 21">
            <a:extLst>
              <a:ext uri="{FF2B5EF4-FFF2-40B4-BE49-F238E27FC236}">
                <a16:creationId xmlns:a16="http://schemas.microsoft.com/office/drawing/2014/main" id="{CBC95C06-8DAD-2F34-EC4E-8805D27AD64B}"/>
              </a:ext>
            </a:extLst>
          </p:cNvPr>
          <p:cNvCxnSpPr/>
          <p:nvPr/>
        </p:nvCxnSpPr>
        <p:spPr>
          <a:xfrm>
            <a:off x="1236978" y="3949067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23">
            <a:extLst>
              <a:ext uri="{FF2B5EF4-FFF2-40B4-BE49-F238E27FC236}">
                <a16:creationId xmlns:a16="http://schemas.microsoft.com/office/drawing/2014/main" id="{11C9F124-F6A6-EB7F-ACE9-80F59F395BAC}"/>
              </a:ext>
            </a:extLst>
          </p:cNvPr>
          <p:cNvSpPr>
            <a:spLocks/>
          </p:cNvSpPr>
          <p:nvPr/>
        </p:nvSpPr>
        <p:spPr bwMode="auto">
          <a:xfrm flipH="1">
            <a:off x="1151377" y="3605847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6B62E966-855F-8EF7-006E-8469EEAFC58E}"/>
              </a:ext>
            </a:extLst>
          </p:cNvPr>
          <p:cNvSpPr>
            <a:spLocks/>
          </p:cNvSpPr>
          <p:nvPr/>
        </p:nvSpPr>
        <p:spPr bwMode="auto">
          <a:xfrm>
            <a:off x="1614471" y="360256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F68C45C8-8F0E-72B7-8DF9-C98B86EDA23A}"/>
              </a:ext>
            </a:extLst>
          </p:cNvPr>
          <p:cNvSpPr>
            <a:spLocks/>
          </p:cNvSpPr>
          <p:nvPr/>
        </p:nvSpPr>
        <p:spPr bwMode="auto">
          <a:xfrm>
            <a:off x="282405" y="4792597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41" name="Straight Connector 16">
            <a:extLst>
              <a:ext uri="{FF2B5EF4-FFF2-40B4-BE49-F238E27FC236}">
                <a16:creationId xmlns:a16="http://schemas.microsoft.com/office/drawing/2014/main" id="{4F7AE283-52FC-062B-9996-3AD789CEA346}"/>
              </a:ext>
            </a:extLst>
          </p:cNvPr>
          <p:cNvCxnSpPr/>
          <p:nvPr/>
        </p:nvCxnSpPr>
        <p:spPr>
          <a:xfrm>
            <a:off x="6825046" y="3996642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18">
            <a:extLst>
              <a:ext uri="{FF2B5EF4-FFF2-40B4-BE49-F238E27FC236}">
                <a16:creationId xmlns:a16="http://schemas.microsoft.com/office/drawing/2014/main" id="{460F7C5A-3077-158A-C1F0-2BA2BC29BA1E}"/>
              </a:ext>
            </a:extLst>
          </p:cNvPr>
          <p:cNvCxnSpPr/>
          <p:nvPr/>
        </p:nvCxnSpPr>
        <p:spPr>
          <a:xfrm flipV="1">
            <a:off x="1871051" y="3285561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32">
            <a:extLst>
              <a:ext uri="{FF2B5EF4-FFF2-40B4-BE49-F238E27FC236}">
                <a16:creationId xmlns:a16="http://schemas.microsoft.com/office/drawing/2014/main" id="{76CFD89E-F518-630B-5421-9EE02E5AC68C}"/>
              </a:ext>
            </a:extLst>
          </p:cNvPr>
          <p:cNvCxnSpPr>
            <a:cxnSpLocks/>
          </p:cNvCxnSpPr>
          <p:nvPr/>
        </p:nvCxnSpPr>
        <p:spPr>
          <a:xfrm flipV="1">
            <a:off x="1236979" y="3949066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30">
            <a:extLst>
              <a:ext uri="{FF2B5EF4-FFF2-40B4-BE49-F238E27FC236}">
                <a16:creationId xmlns:a16="http://schemas.microsoft.com/office/drawing/2014/main" id="{63864FEF-93E5-AA3E-6AB8-12C2DD5C16E2}"/>
              </a:ext>
            </a:extLst>
          </p:cNvPr>
          <p:cNvSpPr>
            <a:spLocks/>
          </p:cNvSpPr>
          <p:nvPr/>
        </p:nvSpPr>
        <p:spPr bwMode="auto">
          <a:xfrm>
            <a:off x="1552133" y="2973781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45" name="Rectangle 27">
            <a:extLst>
              <a:ext uri="{FF2B5EF4-FFF2-40B4-BE49-F238E27FC236}">
                <a16:creationId xmlns:a16="http://schemas.microsoft.com/office/drawing/2014/main" id="{82963B66-B5A8-86A5-C431-17BDCE9BB37C}"/>
              </a:ext>
            </a:extLst>
          </p:cNvPr>
          <p:cNvSpPr>
            <a:spLocks/>
          </p:cNvSpPr>
          <p:nvPr/>
        </p:nvSpPr>
        <p:spPr bwMode="auto">
          <a:xfrm>
            <a:off x="2324233" y="360921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46" name="Rectangle 27">
            <a:extLst>
              <a:ext uri="{FF2B5EF4-FFF2-40B4-BE49-F238E27FC236}">
                <a16:creationId xmlns:a16="http://schemas.microsoft.com/office/drawing/2014/main" id="{34A56785-B7C4-21F8-30CD-2C2B92364CE9}"/>
              </a:ext>
            </a:extLst>
          </p:cNvPr>
          <p:cNvSpPr>
            <a:spLocks/>
          </p:cNvSpPr>
          <p:nvPr/>
        </p:nvSpPr>
        <p:spPr bwMode="auto">
          <a:xfrm>
            <a:off x="7201649" y="365013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47" name="Rectangle 30">
            <a:extLst>
              <a:ext uri="{FF2B5EF4-FFF2-40B4-BE49-F238E27FC236}">
                <a16:creationId xmlns:a16="http://schemas.microsoft.com/office/drawing/2014/main" id="{CE782FC1-A77F-6365-3034-6034B5D6405A}"/>
              </a:ext>
            </a:extLst>
          </p:cNvPr>
          <p:cNvSpPr>
            <a:spLocks/>
          </p:cNvSpPr>
          <p:nvPr/>
        </p:nvSpPr>
        <p:spPr bwMode="auto">
          <a:xfrm>
            <a:off x="7139311" y="302135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48" name="Rectangle 27">
            <a:extLst>
              <a:ext uri="{FF2B5EF4-FFF2-40B4-BE49-F238E27FC236}">
                <a16:creationId xmlns:a16="http://schemas.microsoft.com/office/drawing/2014/main" id="{99F0205F-90BA-9710-429F-4213B597F425}"/>
              </a:ext>
            </a:extLst>
          </p:cNvPr>
          <p:cNvSpPr>
            <a:spLocks/>
          </p:cNvSpPr>
          <p:nvPr/>
        </p:nvSpPr>
        <p:spPr bwMode="auto">
          <a:xfrm>
            <a:off x="7819087" y="365013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49" name="Rectangle 30">
            <a:extLst>
              <a:ext uri="{FF2B5EF4-FFF2-40B4-BE49-F238E27FC236}">
                <a16:creationId xmlns:a16="http://schemas.microsoft.com/office/drawing/2014/main" id="{EC5DA5D4-6118-DD28-7250-02A549F57288}"/>
              </a:ext>
            </a:extLst>
          </p:cNvPr>
          <p:cNvSpPr>
            <a:spLocks/>
          </p:cNvSpPr>
          <p:nvPr/>
        </p:nvSpPr>
        <p:spPr bwMode="auto">
          <a:xfrm>
            <a:off x="7756749" y="302135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51" name="Rectangle 43">
            <a:extLst>
              <a:ext uri="{FF2B5EF4-FFF2-40B4-BE49-F238E27FC236}">
                <a16:creationId xmlns:a16="http://schemas.microsoft.com/office/drawing/2014/main" id="{C72D2082-3D9A-689D-054D-A2BA00D28720}"/>
              </a:ext>
            </a:extLst>
          </p:cNvPr>
          <p:cNvSpPr>
            <a:spLocks/>
          </p:cNvSpPr>
          <p:nvPr/>
        </p:nvSpPr>
        <p:spPr bwMode="auto">
          <a:xfrm>
            <a:off x="2441345" y="2494685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6782F286-C766-5B3C-1624-A7224D90B3CD}"/>
              </a:ext>
            </a:extLst>
          </p:cNvPr>
          <p:cNvSpPr>
            <a:spLocks/>
          </p:cNvSpPr>
          <p:nvPr/>
        </p:nvSpPr>
        <p:spPr bwMode="auto">
          <a:xfrm>
            <a:off x="8412051" y="2490615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cxnSp>
        <p:nvCxnSpPr>
          <p:cNvPr id="53" name="Straight Connector 32">
            <a:extLst>
              <a:ext uri="{FF2B5EF4-FFF2-40B4-BE49-F238E27FC236}">
                <a16:creationId xmlns:a16="http://schemas.microsoft.com/office/drawing/2014/main" id="{06981AE2-0F52-01E2-8319-62F8FFDADACE}"/>
              </a:ext>
            </a:extLst>
          </p:cNvPr>
          <p:cNvCxnSpPr>
            <a:cxnSpLocks/>
          </p:cNvCxnSpPr>
          <p:nvPr/>
        </p:nvCxnSpPr>
        <p:spPr>
          <a:xfrm flipV="1">
            <a:off x="2490996" y="3949158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27">
            <a:extLst>
              <a:ext uri="{FF2B5EF4-FFF2-40B4-BE49-F238E27FC236}">
                <a16:creationId xmlns:a16="http://schemas.microsoft.com/office/drawing/2014/main" id="{0562BB2B-89EE-6798-AFDE-910437004FEB}"/>
              </a:ext>
            </a:extLst>
          </p:cNvPr>
          <p:cNvSpPr>
            <a:spLocks/>
          </p:cNvSpPr>
          <p:nvPr/>
        </p:nvSpPr>
        <p:spPr bwMode="auto">
          <a:xfrm>
            <a:off x="2818965" y="362819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55" name="Rectangle 27">
            <a:extLst>
              <a:ext uri="{FF2B5EF4-FFF2-40B4-BE49-F238E27FC236}">
                <a16:creationId xmlns:a16="http://schemas.microsoft.com/office/drawing/2014/main" id="{84624776-FD92-0C8D-8BDA-2FB58F208822}"/>
              </a:ext>
            </a:extLst>
          </p:cNvPr>
          <p:cNvSpPr>
            <a:spLocks/>
          </p:cNvSpPr>
          <p:nvPr/>
        </p:nvSpPr>
        <p:spPr bwMode="auto">
          <a:xfrm>
            <a:off x="3436403" y="362819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56" name="Rectangle 38">
            <a:extLst>
              <a:ext uri="{FF2B5EF4-FFF2-40B4-BE49-F238E27FC236}">
                <a16:creationId xmlns:a16="http://schemas.microsoft.com/office/drawing/2014/main" id="{BE60F66B-4EE8-C660-899B-303DB068BC61}"/>
              </a:ext>
            </a:extLst>
          </p:cNvPr>
          <p:cNvSpPr>
            <a:spLocks/>
          </p:cNvSpPr>
          <p:nvPr/>
        </p:nvSpPr>
        <p:spPr bwMode="auto">
          <a:xfrm>
            <a:off x="1549237" y="442315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57" name="Rectangle 30">
            <a:extLst>
              <a:ext uri="{FF2B5EF4-FFF2-40B4-BE49-F238E27FC236}">
                <a16:creationId xmlns:a16="http://schemas.microsoft.com/office/drawing/2014/main" id="{F2554989-9920-1012-38C4-9B3F6C9B6627}"/>
              </a:ext>
            </a:extLst>
          </p:cNvPr>
          <p:cNvSpPr>
            <a:spLocks/>
          </p:cNvSpPr>
          <p:nvPr/>
        </p:nvSpPr>
        <p:spPr bwMode="auto">
          <a:xfrm>
            <a:off x="2821861" y="2973781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58" name="Straight Connector 32">
            <a:extLst>
              <a:ext uri="{FF2B5EF4-FFF2-40B4-BE49-F238E27FC236}">
                <a16:creationId xmlns:a16="http://schemas.microsoft.com/office/drawing/2014/main" id="{3B1884DA-CA14-93CE-EB32-9EF1A3E08526}"/>
              </a:ext>
            </a:extLst>
          </p:cNvPr>
          <p:cNvCxnSpPr>
            <a:cxnSpLocks/>
          </p:cNvCxnSpPr>
          <p:nvPr/>
        </p:nvCxnSpPr>
        <p:spPr>
          <a:xfrm flipV="1">
            <a:off x="3736695" y="3950099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27">
            <a:extLst>
              <a:ext uri="{FF2B5EF4-FFF2-40B4-BE49-F238E27FC236}">
                <a16:creationId xmlns:a16="http://schemas.microsoft.com/office/drawing/2014/main" id="{81FA9F06-900A-A977-1F42-B9C304078C5D}"/>
              </a:ext>
            </a:extLst>
          </p:cNvPr>
          <p:cNvSpPr>
            <a:spLocks/>
          </p:cNvSpPr>
          <p:nvPr/>
        </p:nvSpPr>
        <p:spPr bwMode="auto">
          <a:xfrm>
            <a:off x="3999644" y="365014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60" name="Rectangle 27">
            <a:extLst>
              <a:ext uri="{FF2B5EF4-FFF2-40B4-BE49-F238E27FC236}">
                <a16:creationId xmlns:a16="http://schemas.microsoft.com/office/drawing/2014/main" id="{11AC2F9E-55DE-1880-D509-A682853F8ACB}"/>
              </a:ext>
            </a:extLst>
          </p:cNvPr>
          <p:cNvSpPr>
            <a:spLocks/>
          </p:cNvSpPr>
          <p:nvPr/>
        </p:nvSpPr>
        <p:spPr bwMode="auto">
          <a:xfrm>
            <a:off x="4617082" y="365014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cxnSp>
        <p:nvCxnSpPr>
          <p:cNvPr id="61" name="Straight Connector 16">
            <a:extLst>
              <a:ext uri="{FF2B5EF4-FFF2-40B4-BE49-F238E27FC236}">
                <a16:creationId xmlns:a16="http://schemas.microsoft.com/office/drawing/2014/main" id="{2516CD5A-E9F2-9120-8E81-551EF43A60C9}"/>
              </a:ext>
            </a:extLst>
          </p:cNvPr>
          <p:cNvCxnSpPr/>
          <p:nvPr/>
        </p:nvCxnSpPr>
        <p:spPr>
          <a:xfrm>
            <a:off x="8727729" y="4003525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21">
            <a:extLst>
              <a:ext uri="{FF2B5EF4-FFF2-40B4-BE49-F238E27FC236}">
                <a16:creationId xmlns:a16="http://schemas.microsoft.com/office/drawing/2014/main" id="{D3154E34-F057-F4AB-4686-9E2AAEE8B75A}"/>
              </a:ext>
            </a:extLst>
          </p:cNvPr>
          <p:cNvCxnSpPr>
            <a:cxnSpLocks/>
          </p:cNvCxnSpPr>
          <p:nvPr/>
        </p:nvCxnSpPr>
        <p:spPr>
          <a:xfrm>
            <a:off x="3616158" y="3957617"/>
            <a:ext cx="0" cy="48264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38">
            <a:extLst>
              <a:ext uri="{FF2B5EF4-FFF2-40B4-BE49-F238E27FC236}">
                <a16:creationId xmlns:a16="http://schemas.microsoft.com/office/drawing/2014/main" id="{42C3237E-ABC0-A8E0-FDE5-7AC9CD8396EB}"/>
              </a:ext>
            </a:extLst>
          </p:cNvPr>
          <p:cNvSpPr>
            <a:spLocks/>
          </p:cNvSpPr>
          <p:nvPr/>
        </p:nvSpPr>
        <p:spPr bwMode="auto">
          <a:xfrm>
            <a:off x="2676906" y="443170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7263F7D-D9A7-8424-4D22-96FD2C42C29F}"/>
              </a:ext>
            </a:extLst>
          </p:cNvPr>
          <p:cNvSpPr txBox="1"/>
          <p:nvPr/>
        </p:nvSpPr>
        <p:spPr>
          <a:xfrm>
            <a:off x="7501399" y="5531755"/>
            <a:ext cx="3542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Se confirma que el proyecto A es más conveniente que el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si se puede replicar</a:t>
            </a: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lang="es-CO" b="1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92F7DC2-113F-FE59-315A-75BCF1C8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61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922" y="2154739"/>
            <a:ext cx="8491499" cy="4166523"/>
          </a:xfrm>
        </p:spPr>
        <p:txBody>
          <a:bodyPr>
            <a:normAutofit/>
          </a:bodyPr>
          <a:lstStyle/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Pese a que el método de replicar es altamente utilizado en la teoría, existe una discusión práctica sobre la validez de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asumir la repetición de un proyecto en el tiempo exactamente bajo las mismas condiciones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_tradnl" sz="1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Normalmente, la utilización de la réplica sería factible en la práctica para proyectos en el </a:t>
            </a:r>
            <a:r>
              <a:rPr lang="es-ES_tradnl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corto plazo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_tradnl" sz="1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el anterior supuesto no es factible, </a:t>
            </a:r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la mejor práctica para comparar las alternativas es utilizar el VPN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si sabemos que la vida útil de los proyectos es distinta.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98E8E07-E1E0-6706-5AE0-E4BF46D58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421" y="3274261"/>
            <a:ext cx="2160566" cy="169932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C5F3D4C-1FF6-513C-CB63-F01594E8D94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50100AF9-C63F-53B7-B0C6-E61CDF832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A611284-11A8-B175-AC2D-69903DE8A3A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Marcador de número de diapositiva 2">
            <a:extLst>
              <a:ext uri="{FF2B5EF4-FFF2-40B4-BE49-F238E27FC236}">
                <a16:creationId xmlns:a16="http://schemas.microsoft.com/office/drawing/2014/main" id="{BA99C6AC-75E3-47E7-5993-69B468C3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8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99" y="1868659"/>
            <a:ext cx="9664945" cy="416652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Caso 3: </a:t>
            </a:r>
            <a:r>
              <a:rPr lang="es-ES_tradnl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Comparación de alternativas mutuamente excluyentes con vidas útiles e inversiones iniciales distintas.</a:t>
            </a:r>
          </a:p>
          <a:p>
            <a:pPr marL="0" indent="0" algn="just">
              <a:buNone/>
            </a:pP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En este caso, se pueden usar los siguientes IBF:</a:t>
            </a:r>
          </a:p>
          <a:p>
            <a:pPr marL="0" indent="0" algn="just">
              <a:buNone/>
            </a:pP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VPN – Sin Réplica*</a:t>
            </a:r>
          </a:p>
          <a:p>
            <a:pPr marL="0" indent="0" algn="ctr">
              <a:buNone/>
            </a:pPr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VPN y VAE – Con Réplica*</a:t>
            </a:r>
          </a:p>
          <a:p>
            <a:pPr marL="0" indent="0" algn="ctr">
              <a:buNone/>
            </a:pPr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Análisis Marginal (Incremental/Diferencial)**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84D23D0-253D-81DB-8E21-3D06CB8A55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9" t="6761" r="5922" b="11983"/>
          <a:stretch/>
        </p:blipFill>
        <p:spPr>
          <a:xfrm>
            <a:off x="8229600" y="3087353"/>
            <a:ext cx="2953264" cy="194394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1C5FDA0-2675-BEDD-2383-310F75B6825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12DA0B2E-01A9-F941-8D2F-B17C450D3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CE70B02-87B7-514D-62BF-C368301B81E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660EC52-585B-F14B-E14A-634AF8009754}"/>
              </a:ext>
            </a:extLst>
          </p:cNvPr>
          <p:cNvSpPr txBox="1"/>
          <p:nvPr/>
        </p:nvSpPr>
        <p:spPr>
          <a:xfrm>
            <a:off x="290512" y="5999386"/>
            <a:ext cx="10892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" sz="1400" dirty="0">
                <a:solidFill>
                  <a:srgbClr val="FF0000"/>
                </a:solidFill>
                <a:latin typeface="Century Gothic" panose="020B0502020202020204" pitchFamily="34" charset="0"/>
              </a:rPr>
              <a:t>*IBF de los FCL de los proyectos.</a:t>
            </a:r>
          </a:p>
          <a:p>
            <a:pPr marL="0" indent="0" algn="just">
              <a:buNone/>
            </a:pPr>
            <a:r>
              <a:rPr lang="es-ES" sz="1400" dirty="0">
                <a:solidFill>
                  <a:srgbClr val="FF0000"/>
                </a:solidFill>
                <a:latin typeface="Century Gothic" panose="020B0502020202020204" pitchFamily="34" charset="0"/>
              </a:rPr>
              <a:t>**Se puede usar todos los indicadores marginales, no olvidar validar que haya un solo cambio de signo en los FCL Marginales para TIR marginal.</a:t>
            </a:r>
            <a:endParaRPr lang="es-ES_tradnl" sz="1400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Marcador de número de diapositiva 2">
            <a:extLst>
              <a:ext uri="{FF2B5EF4-FFF2-40B4-BE49-F238E27FC236}">
                <a16:creationId xmlns:a16="http://schemas.microsoft.com/office/drawing/2014/main" id="{1C0C3D28-36B0-D4D1-6526-9AF29E83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16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01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C60B-E144-DFFF-F3F6-6FCC0084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AFE68-D95C-0756-0E3A-853AFA43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4B2C3EA-00EB-9274-C2B1-D745F327A1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1536A9C7-0B88-A4C0-C94A-7806F4DD415D}"/>
              </a:ext>
            </a:extLst>
          </p:cNvPr>
          <p:cNvSpPr/>
          <p:nvPr/>
        </p:nvSpPr>
        <p:spPr>
          <a:xfrm>
            <a:off x="2806200" y="2772729"/>
            <a:ext cx="8540907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Proyectos Mutuamente Excluyentes.</a:t>
            </a:r>
            <a:endParaRPr lang="es-CO" dirty="0">
              <a:solidFill>
                <a:schemeClr val="bg2">
                  <a:lumMod val="90000"/>
                </a:schemeClr>
              </a:solidFill>
              <a:latin typeface="Century Gothic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	</a:t>
            </a: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1.1. </a:t>
            </a: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Caso 3: distinta vida útil y distinta inversión inicial.</a:t>
            </a:r>
          </a:p>
          <a:p>
            <a:pPr>
              <a:buClr>
                <a:srgbClr val="48BE7A"/>
              </a:buClr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Consolidado Evaluación Proyectos. </a:t>
            </a: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Ejercicios de Práctica.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958F393-A6C1-A55E-3C77-686984F6D6C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82244AB5-4865-747C-BA61-CFDCD5BE1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B1219E7-2961-AA2B-A30F-60152C6626C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4DBDE5D-0C20-633C-FBCC-65DA1B142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17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23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D060-F743-B3EB-FB2F-297378B9A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107FD-2CD4-ED18-A721-C7A7FA91081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F61FCD-8BFE-4BA3-D60C-78F28E60D94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299C5C41-1759-7E76-DE06-7849E1AE4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D414BED-A94D-32B0-1D1F-01E1B204FCE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0B12A214-BED9-B6E3-D5FD-ADEAFDEB6476}"/>
              </a:ext>
            </a:extLst>
          </p:cNvPr>
          <p:cNvGraphicFramePr>
            <a:graphicFrameLocks noGrp="1"/>
          </p:cNvGraphicFramePr>
          <p:nvPr/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/>
                        </a:rPr>
                        <a:t>INDICADORES APROPIADOS</a:t>
                      </a:r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F2A5FCCA-1A60-3E31-7A3D-2E1E10B18FC4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67EB2C87-7939-FB00-B333-A951D0BB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18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E937F4-1D1E-AFF3-8FD5-FF3A8C84ACD7}"/>
              </a:ext>
            </a:extLst>
          </p:cNvPr>
          <p:cNvSpPr/>
          <p:nvPr/>
        </p:nvSpPr>
        <p:spPr>
          <a:xfrm>
            <a:off x="5591908" y="1441938"/>
            <a:ext cx="5576836" cy="5087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7777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7B0FE-CFE3-FF6E-FAFD-4E982716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2847C-EC1D-171E-BD01-17C374A4798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971936-8D8C-190D-C65A-105A96613C1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3B2D6FA1-E0FD-80FA-2B5E-C11F406F8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690C599-B3F0-C2DF-95C2-C68039A6E82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618FD864-7A4D-592C-E4D3-E43C1A3FA332}"/>
              </a:ext>
            </a:extLst>
          </p:cNvPr>
          <p:cNvGraphicFramePr>
            <a:graphicFrameLocks noGrp="1"/>
          </p:cNvGraphicFramePr>
          <p:nvPr/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/>
                        </a:rPr>
                        <a:t>INDICADORES APROPIADOS</a:t>
                      </a:r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210B6AF-5992-A530-48F3-6E161ECA7676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6897E502-593B-9DC0-9FD1-4B701AD9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19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6512D6-484A-8A2D-798A-267E82F1DC9D}"/>
              </a:ext>
            </a:extLst>
          </p:cNvPr>
          <p:cNvSpPr/>
          <p:nvPr/>
        </p:nvSpPr>
        <p:spPr>
          <a:xfrm>
            <a:off x="5591908" y="2004646"/>
            <a:ext cx="5576836" cy="4525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629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0095D-197E-B0E2-C7EC-34B4B064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BD927-CF7B-E66E-FCCB-901A4128E5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334CA94-864E-3120-71E0-B82F11268B6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C85FC1DE-BADB-81F6-25A4-09C099059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DF38139-A360-ABFE-6B5D-DA790C381BA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CA9A45A9-AAD9-A541-8F27-EA76BCA904F0}"/>
              </a:ext>
            </a:extLst>
          </p:cNvPr>
          <p:cNvGraphicFramePr>
            <a:graphicFrameLocks noGrp="1"/>
          </p:cNvGraphicFramePr>
          <p:nvPr/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/>
                        </a:rPr>
                        <a:t>INDICADORES APROPIADOS</a:t>
                      </a:r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CAD5195-5545-6A15-6F33-8D4A165EC033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3F4FDB5A-0405-5F57-C3FC-C1F45C42A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20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F049A2-F2E5-CF7B-C311-8F2800A66FFA}"/>
              </a:ext>
            </a:extLst>
          </p:cNvPr>
          <p:cNvSpPr/>
          <p:nvPr/>
        </p:nvSpPr>
        <p:spPr>
          <a:xfrm>
            <a:off x="5591908" y="2461846"/>
            <a:ext cx="5576836" cy="4067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1624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4FE44-63D3-9F74-D6EE-1B8D76E7F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73C5-7A67-6652-5A49-2055940FB1C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7D4EB5-D067-5FA4-5547-F4414DCE765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C315761F-D640-5023-88F4-B74D28281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F2DFF02-CF94-D02A-CCFB-E9EC62FAC72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743C7547-7487-A889-C633-83FB89F39AA6}"/>
              </a:ext>
            </a:extLst>
          </p:cNvPr>
          <p:cNvGraphicFramePr>
            <a:graphicFrameLocks noGrp="1"/>
          </p:cNvGraphicFramePr>
          <p:nvPr/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/>
                        </a:rPr>
                        <a:t>INDICADORES APROPIADOS</a:t>
                      </a:r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C7E2FC05-F857-0662-46B6-5D4620DE8A39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87CFFE6E-5D9B-6350-FE71-EA242CC7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21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279260-FACB-7E34-D01D-CBA21684E4B7}"/>
              </a:ext>
            </a:extLst>
          </p:cNvPr>
          <p:cNvSpPr/>
          <p:nvPr/>
        </p:nvSpPr>
        <p:spPr>
          <a:xfrm>
            <a:off x="5591908" y="3118338"/>
            <a:ext cx="5576836" cy="3411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4979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ADC1-D551-8CB3-ED95-4C6D19B6F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6DD66-9344-DA55-910D-4ED5BFB2F5A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4E73335-69C3-F11F-72A4-94A0C369B80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3531D154-543E-2247-76BF-0B458B517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80CEA65-FF83-CD7F-99FF-BFB8E213D77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6D595DD0-3C06-10C9-B201-C8388341523D}"/>
              </a:ext>
            </a:extLst>
          </p:cNvPr>
          <p:cNvGraphicFramePr>
            <a:graphicFrameLocks noGrp="1"/>
          </p:cNvGraphicFramePr>
          <p:nvPr/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/>
                        </a:rPr>
                        <a:t>INDICADORES APROPIADOS</a:t>
                      </a:r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4AF96C77-C6A7-DA79-E50E-2071A411E7B1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A286508A-F3C8-E49C-B77A-324E30B94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22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4A0E95-323F-A4B1-45B1-E9EC50657C74}"/>
              </a:ext>
            </a:extLst>
          </p:cNvPr>
          <p:cNvSpPr/>
          <p:nvPr/>
        </p:nvSpPr>
        <p:spPr>
          <a:xfrm>
            <a:off x="5591908" y="3751385"/>
            <a:ext cx="5576836" cy="2778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8429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62773-FD67-792A-8C61-703311EA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CE10A-1793-5E9B-8B36-6636BC4A434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D8B0BD5-FC21-B836-C552-D27656D09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18CDDCD9-A1C6-D4C8-B1D5-4378E501D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672E6C5-9292-C37D-D089-9E90C60203C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CA859136-AF4B-6AED-F7BD-AF6603F26ADF}"/>
              </a:ext>
            </a:extLst>
          </p:cNvPr>
          <p:cNvGraphicFramePr>
            <a:graphicFrameLocks noGrp="1"/>
          </p:cNvGraphicFramePr>
          <p:nvPr/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/>
                        </a:rPr>
                        <a:t>INDICADORES APROPIADOS</a:t>
                      </a:r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A2BC83CE-2960-4E42-7460-69C4A471B688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4C4C9E01-1582-C73B-0DB2-B53A8771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23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C59083-A72D-B8AA-B839-CB5F49591346}"/>
              </a:ext>
            </a:extLst>
          </p:cNvPr>
          <p:cNvSpPr/>
          <p:nvPr/>
        </p:nvSpPr>
        <p:spPr>
          <a:xfrm>
            <a:off x="5591908" y="4325815"/>
            <a:ext cx="5576836" cy="2203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1415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F205E-BBE8-8B49-C1DB-503AE5697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30549-51A6-D930-4911-75D65BFDF7D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60443C-8650-F2FC-4152-51DA3C3DBD3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E05D0597-1C09-B839-A820-757768F2A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82AC075-ADC1-6D0C-5C02-41969F89BD2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29765928-8C4C-9E16-9B8B-26C6C4CB4EBC}"/>
              </a:ext>
            </a:extLst>
          </p:cNvPr>
          <p:cNvGraphicFramePr>
            <a:graphicFrameLocks noGrp="1"/>
          </p:cNvGraphicFramePr>
          <p:nvPr/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/>
                        </a:rPr>
                        <a:t>INDICADORES APROPIADOS</a:t>
                      </a:r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D74BB3D5-9C25-77C4-E832-99A7C69A49B1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E57EBDDF-D72B-87F2-57FC-DCE1DA57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4DFB33-BAAC-AD9E-5E34-3B9FD67E689A}"/>
              </a:ext>
            </a:extLst>
          </p:cNvPr>
          <p:cNvSpPr/>
          <p:nvPr/>
        </p:nvSpPr>
        <p:spPr>
          <a:xfrm>
            <a:off x="5591908" y="4900246"/>
            <a:ext cx="5576836" cy="16295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956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C9157-075B-E49C-D0C4-07F746AD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070C2-6C63-C7C6-D296-0B5E1B17E70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01BE197-3210-AF68-76DA-65B063B1C30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B3D6FD5D-0828-7692-DE83-93AC0CB40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D19DE53-DA49-8D3E-A658-7D8A9495C0B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13DABBE2-166B-B0EF-CC1D-0F664436D2CF}"/>
              </a:ext>
            </a:extLst>
          </p:cNvPr>
          <p:cNvGraphicFramePr>
            <a:graphicFrameLocks noGrp="1"/>
          </p:cNvGraphicFramePr>
          <p:nvPr/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/>
                        </a:rPr>
                        <a:t>INDICADORES APROPIADOS</a:t>
                      </a:r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43B4B85A-DC67-A679-78A8-4461F88A3000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53D90944-346A-0C50-30B5-3049FAA7B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C7A4EE-F412-0637-7B24-0A88AD0D9912}"/>
              </a:ext>
            </a:extLst>
          </p:cNvPr>
          <p:cNvSpPr/>
          <p:nvPr/>
        </p:nvSpPr>
        <p:spPr>
          <a:xfrm>
            <a:off x="5591908" y="5439508"/>
            <a:ext cx="5576836" cy="1090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678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3560F-8A59-8203-482E-CBAD09FB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FA5AD-C318-51F8-B74E-244D2E16DF1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7847C0-463C-C454-417C-94A81B02C11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BF3A9D73-3A60-0766-735C-C1ECC1CFE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CBBE11D-9D96-DDB8-4F8F-36DA22BC7A5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AB270BF7-0F92-1AAE-5F6A-F10929C05B99}"/>
              </a:ext>
            </a:extLst>
          </p:cNvPr>
          <p:cNvGraphicFramePr>
            <a:graphicFrameLocks noGrp="1"/>
          </p:cNvGraphicFramePr>
          <p:nvPr/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/>
                        </a:rPr>
                        <a:t>INDICADORES APROPIADOS</a:t>
                      </a:r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226F38FE-BD73-27B5-2F5F-8D503CA27384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B2144028-2AA4-DDF6-239F-FA164B80E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26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64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4A14-8186-49CE-9EF4-E2E12E9BB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035E-3EC4-2842-A1FF-5CB76C5D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Consolidado DE evaluación de proyectos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CC3FE-F97E-7394-25AA-7A9075E24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43" y="1989939"/>
            <a:ext cx="8839492" cy="416652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¿Si todos los proyectos son NO financieramente viables se debe realizar el menos financieramente viable o ninguno?</a:t>
            </a:r>
            <a:endParaRPr lang="es-ES_tradnl" sz="20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respuesta es… depende: ​</a:t>
            </a:r>
          </a:p>
          <a:p>
            <a:pPr marL="0" indent="0" algn="just">
              <a:buNone/>
            </a:pPr>
            <a:endParaRPr lang="es-ES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se está evaluando proyectos para suplir una necesidad de la compañía debería seleccionarse el menos financieramente viable. ​</a:t>
            </a:r>
          </a:p>
          <a:p>
            <a:pPr algn="just"/>
            <a:endParaRPr lang="es-ES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se están evaluando proyectos, por ejemplo, para una expansión del negocio o que no suplen una necesidad indispensable para la compañía, debería optarse por no realizar ninguno y en dado caso invertir el dinero al costo de oportunidad. </a:t>
            </a: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D2F587B-F168-B083-376B-BF578D9BB80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C5D894F5-D800-7D31-92FE-C41288034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BB8487B-082B-DDDF-2507-63856BF7223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9B3DE6-E2AB-2E02-32C3-943027B5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035" y="2252599"/>
            <a:ext cx="2779409" cy="2186051"/>
          </a:xfrm>
          <a:prstGeom prst="rect">
            <a:avLst/>
          </a:prstGeom>
        </p:spPr>
      </p:pic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3FC93A16-9405-80C8-4B38-5FD69C301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27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96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33655-8A1B-DD1E-5E64-D6BBD10E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5613E-FA2A-A3FE-9137-AF59BAFA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77305125-CFC8-9652-930F-1EA8D8FFE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9AABA314-DADA-DAC1-1C16-2D60013330FA}"/>
              </a:ext>
            </a:extLst>
          </p:cNvPr>
          <p:cNvSpPr/>
          <p:nvPr/>
        </p:nvSpPr>
        <p:spPr>
          <a:xfrm>
            <a:off x="2806200" y="2772729"/>
            <a:ext cx="8540907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Proyectos Mutuamente Excluyentes.</a:t>
            </a:r>
            <a:endParaRPr lang="es-CO" dirty="0">
              <a:solidFill>
                <a:schemeClr val="bg2">
                  <a:lumMod val="90000"/>
                </a:schemeClr>
              </a:solidFill>
              <a:latin typeface="Century Gothic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	</a:t>
            </a: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1.1. </a:t>
            </a: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Caso 3: distinta vida útil y distinta inversión inicial.</a:t>
            </a:r>
          </a:p>
          <a:p>
            <a:pPr>
              <a:buClr>
                <a:srgbClr val="48BE7A"/>
              </a:buClr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Consolidado Evaluación Proyectos</a:t>
            </a: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Ejercicios de Práctica.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AB2480-6FB7-7007-754F-F8B7E586021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6348F1D8-976D-2C34-B439-04F87EB69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5667F19-14A2-09FC-22B4-938FE147AE4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6CD7E2F-4906-08A7-E718-38DAF691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28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25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1D09F-436E-DE99-5B53-57825E73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DF2C-9F05-95D3-E38C-0D508A94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EXCEL DE REPASO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7F0158-80D9-8389-8E81-A75B48760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7446" y="2063994"/>
            <a:ext cx="4383943" cy="435402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CA247-69BD-F614-730F-5AD6B4BB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B81E4-0D64-A63B-0619-B1EC89A53CF1}"/>
              </a:ext>
            </a:extLst>
          </p:cNvPr>
          <p:cNvSpPr txBox="1"/>
          <p:nvPr/>
        </p:nvSpPr>
        <p:spPr>
          <a:xfrm>
            <a:off x="797169" y="3560857"/>
            <a:ext cx="35286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O" sz="2400" dirty="0">
                <a:solidFill>
                  <a:srgbClr val="FF0000"/>
                </a:solidFill>
              </a:rPr>
              <a:t>https://shorturl.at/2EWR9</a:t>
            </a:r>
          </a:p>
        </p:txBody>
      </p:sp>
    </p:spTree>
    <p:extLst>
      <p:ext uri="{BB962C8B-B14F-4D97-AF65-F5344CB8AC3E}">
        <p14:creationId xmlns:p14="http://schemas.microsoft.com/office/powerpoint/2010/main" val="42029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6D65AC0-9490-7BD4-A505-7A775E44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PREGUNTA 1(3 minutos)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071962-D9A0-44BF-8E41-44E605EF11E2}"/>
              </a:ext>
            </a:extLst>
          </p:cNvPr>
          <p:cNvSpPr/>
          <p:nvPr/>
        </p:nvSpPr>
        <p:spPr>
          <a:xfrm>
            <a:off x="737837" y="2061758"/>
            <a:ext cx="4081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Considere los siguientes proyectos: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03F3F41-BAE8-4F68-8BA5-1726BC541219}"/>
              </a:ext>
            </a:extLst>
          </p:cNvPr>
          <p:cNvSpPr/>
          <p:nvPr/>
        </p:nvSpPr>
        <p:spPr>
          <a:xfrm>
            <a:off x="5512293" y="2231035"/>
            <a:ext cx="5866907" cy="2889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7675" algn="just">
              <a:spcBef>
                <a:spcPts val="295"/>
              </a:spcBef>
              <a:spcAft>
                <a:spcPts val="0"/>
              </a:spcAf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Adicionalmente, usted sabe que: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algn="just">
              <a:spcBef>
                <a:spcPts val="45"/>
              </a:spcBef>
              <a:spcAft>
                <a:spcPts val="0"/>
              </a:spcAf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Clr>
                <a:schemeClr val="accent2"/>
              </a:buClr>
              <a:buSzPts val="1200"/>
              <a:buFont typeface="Wingdings" panose="05000000000000000000" pitchFamily="2" charset="2"/>
              <a:buChar char="§"/>
              <a:tabLst>
                <a:tab pos="775335" algn="l"/>
              </a:tabLs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 presupuesto para desarrollar estos proyectos es 250.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555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Wingdings" panose="05000000000000000000" pitchFamily="2" charset="2"/>
              <a:buChar char="§"/>
              <a:tabLst>
                <a:tab pos="775335" algn="l"/>
              </a:tabLs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 y B son mutuamente excluyentes.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555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Wingdings" panose="05000000000000000000" pitchFamily="2" charset="2"/>
              <a:buChar char="§"/>
              <a:tabLst>
                <a:tab pos="775335" algn="l"/>
              </a:tabLs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 depende de A.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55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Wingdings" panose="05000000000000000000" pitchFamily="2" charset="2"/>
              <a:buChar char="§"/>
              <a:tabLst>
                <a:tab pos="775335" algn="l"/>
              </a:tabLs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 es independiente de todos los demás proyectos.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B8F6F460-9457-4601-8FEA-9E2C7D831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282893"/>
              </p:ext>
            </p:extLst>
          </p:nvPr>
        </p:nvGraphicFramePr>
        <p:xfrm>
          <a:off x="866048" y="2776892"/>
          <a:ext cx="3728306" cy="18402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152974">
                  <a:extLst>
                    <a:ext uri="{9D8B030D-6E8A-4147-A177-3AD203B41FA5}">
                      <a16:colId xmlns:a16="http://schemas.microsoft.com/office/drawing/2014/main" val="2963100857"/>
                    </a:ext>
                  </a:extLst>
                </a:gridCol>
                <a:gridCol w="643833">
                  <a:extLst>
                    <a:ext uri="{9D8B030D-6E8A-4147-A177-3AD203B41FA5}">
                      <a16:colId xmlns:a16="http://schemas.microsoft.com/office/drawing/2014/main" val="2047335906"/>
                    </a:ext>
                  </a:extLst>
                </a:gridCol>
                <a:gridCol w="643833">
                  <a:extLst>
                    <a:ext uri="{9D8B030D-6E8A-4147-A177-3AD203B41FA5}">
                      <a16:colId xmlns:a16="http://schemas.microsoft.com/office/drawing/2014/main" val="401487981"/>
                    </a:ext>
                  </a:extLst>
                </a:gridCol>
                <a:gridCol w="643833">
                  <a:extLst>
                    <a:ext uri="{9D8B030D-6E8A-4147-A177-3AD203B41FA5}">
                      <a16:colId xmlns:a16="http://schemas.microsoft.com/office/drawing/2014/main" val="4161176498"/>
                    </a:ext>
                  </a:extLst>
                </a:gridCol>
                <a:gridCol w="643833">
                  <a:extLst>
                    <a:ext uri="{9D8B030D-6E8A-4147-A177-3AD203B41FA5}">
                      <a16:colId xmlns:a16="http://schemas.microsoft.com/office/drawing/2014/main" val="3303937339"/>
                    </a:ext>
                  </a:extLst>
                </a:gridCol>
              </a:tblGrid>
              <a:tr h="368044">
                <a:tc>
                  <a:txBody>
                    <a:bodyPr/>
                    <a:lstStyle/>
                    <a:p>
                      <a:pPr marL="46355" marR="419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Proyecto</a:t>
                      </a:r>
                      <a:endParaRPr lang="es-CO" sz="1600" b="1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  <a:endParaRPr lang="es-CO" sz="1600" b="1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B</a:t>
                      </a:r>
                      <a:endParaRPr lang="es-CO" sz="1600" b="1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C</a:t>
                      </a:r>
                      <a:endParaRPr lang="es-CO" sz="1600" b="1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D</a:t>
                      </a:r>
                      <a:endParaRPr lang="es-CO" sz="1600" b="1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932332"/>
                  </a:ext>
                </a:extLst>
              </a:tr>
              <a:tr h="368044">
                <a:tc>
                  <a:txBody>
                    <a:bodyPr/>
                    <a:lstStyle/>
                    <a:p>
                      <a:pPr marL="45720" marR="419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Inversión</a:t>
                      </a:r>
                      <a:endParaRPr lang="es-CO" sz="16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508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63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762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260" marR="4762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863920"/>
                  </a:ext>
                </a:extLst>
              </a:tr>
              <a:tr h="368044">
                <a:tc>
                  <a:txBody>
                    <a:bodyPr/>
                    <a:lstStyle/>
                    <a:p>
                      <a:pPr marL="46355" marR="419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Vida útil</a:t>
                      </a:r>
                      <a:endParaRPr lang="es-CO" sz="16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es-CO" sz="160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529313"/>
                  </a:ext>
                </a:extLst>
              </a:tr>
              <a:tr h="368044">
                <a:tc>
                  <a:txBody>
                    <a:bodyPr/>
                    <a:lstStyle/>
                    <a:p>
                      <a:pPr marL="46355" marR="419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VPN</a:t>
                      </a:r>
                      <a:endParaRPr lang="es-CO" sz="16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508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-10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63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762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25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932970"/>
                  </a:ext>
                </a:extLst>
              </a:tr>
              <a:tr h="368044">
                <a:tc>
                  <a:txBody>
                    <a:bodyPr/>
                    <a:lstStyle/>
                    <a:p>
                      <a:pPr marL="46355" marR="419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TIR</a:t>
                      </a:r>
                      <a:endParaRPr lang="es-CO" sz="16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508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10%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63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12%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762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25%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8260" marR="4762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13%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51455"/>
                  </a:ext>
                </a:extLst>
              </a:tr>
            </a:tbl>
          </a:graphicData>
        </a:graphic>
      </p:graphicFrame>
      <p:sp>
        <p:nvSpPr>
          <p:cNvPr id="14" name="Rectángulo 13">
            <a:extLst>
              <a:ext uri="{FF2B5EF4-FFF2-40B4-BE49-F238E27FC236}">
                <a16:creationId xmlns:a16="http://schemas.microsoft.com/office/drawing/2014/main" id="{627654E4-6C24-47A1-A98E-7BAEB5062A01}"/>
              </a:ext>
            </a:extLst>
          </p:cNvPr>
          <p:cNvSpPr/>
          <p:nvPr/>
        </p:nvSpPr>
        <p:spPr>
          <a:xfrm>
            <a:off x="3742631" y="5435248"/>
            <a:ext cx="47067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>
              <a:spcBef>
                <a:spcPts val="1380"/>
              </a:spcBef>
              <a:spcAft>
                <a:spcPts val="0"/>
              </a:spcAft>
            </a:pPr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¿Cuál(es) de proyectos elegiría?</a:t>
            </a:r>
            <a:endParaRPr lang="es-CO" sz="2000" b="1" dirty="0">
              <a:solidFill>
                <a:srgbClr val="D7A7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E5C1A8F-B803-4F58-928F-B840512730EA}"/>
              </a:ext>
            </a:extLst>
          </p:cNvPr>
          <p:cNvSpPr/>
          <p:nvPr/>
        </p:nvSpPr>
        <p:spPr>
          <a:xfrm>
            <a:off x="4629092" y="5957728"/>
            <a:ext cx="29338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 algn="ctr">
              <a:spcBef>
                <a:spcPts val="1380"/>
              </a:spcBef>
              <a:spcAft>
                <a:spcPts val="0"/>
              </a:spcAft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Proyectos A, C y D</a:t>
            </a:r>
            <a:endParaRPr lang="es-CO" sz="2000" b="1" dirty="0">
              <a:solidFill>
                <a:srgbClr val="C000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241162-5B17-D9A8-E3D8-EDC030EB206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9E39D1B1-BAE0-AABF-1083-C988591EB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28046BF-D7F3-399A-2FF9-5B78E5EDE45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4B4CD3D7-583C-28DC-C2A7-1E6FD87C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30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02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FEBD6-C3A3-1B07-11D5-AC05EB7CC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D91D9BC-2A13-25F6-83B2-AE575291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PREGUNTA 2 (3 minutos)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CCEDF5-45AE-9CA5-D5E5-85BD27C2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98" y="1989939"/>
            <a:ext cx="7320854" cy="453562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0655605-E030-2494-E581-06025B9C5A0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45B2ABB-4C58-1966-AEEF-5CF14DEDE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56779D2-4625-02F8-96B3-CD26039A77F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4" name="Gráfico 13" descr="Badge Tick1 con relleno sólido">
            <a:extLst>
              <a:ext uri="{FF2B5EF4-FFF2-40B4-BE49-F238E27FC236}">
                <a16:creationId xmlns:a16="http://schemas.microsoft.com/office/drawing/2014/main" id="{D45A56EE-ECCE-963C-90F9-D44575718B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594" y="6194460"/>
            <a:ext cx="253604" cy="253604"/>
          </a:xfrm>
          <a:prstGeom prst="rect">
            <a:avLst/>
          </a:prstGeom>
        </p:spPr>
      </p:pic>
      <p:pic>
        <p:nvPicPr>
          <p:cNvPr id="17" name="Picture 2" descr="Resolución de problemas. 10 consejos para evitar antes de encontrar una  solución - Cepymenews">
            <a:extLst>
              <a:ext uri="{FF2B5EF4-FFF2-40B4-BE49-F238E27FC236}">
                <a16:creationId xmlns:a16="http://schemas.microsoft.com/office/drawing/2014/main" id="{61D5AC5F-A23B-B66A-D95B-B0E9CB78F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119" y="3098353"/>
            <a:ext cx="2860689" cy="152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E527332-416D-5E2E-CBDD-D982B370A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3439" y="2598604"/>
            <a:ext cx="4543776" cy="407774"/>
          </a:xfrm>
          <a:prstGeom prst="rect">
            <a:avLst/>
          </a:prstGeom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092FF2C9-23BE-ADA5-E14E-5AF99FB9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31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2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6D78-F2C7-0993-53BB-F9859F43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23B83DD-B254-5D89-EEB2-B5934623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PREGUNTA 3 (3 minutos)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34FD73B-7D72-62B0-C802-0AE3AE2A2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731" y="1945621"/>
            <a:ext cx="6890176" cy="478280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1C307F8-BB2B-A1FE-07E3-E4245C1840E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B613E0A1-A93E-2916-C05D-5D4A2D371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10C7735-3738-6D6F-AB5E-72AE6C63220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4" name="Gráfico 13" descr="Badge Tick1 con relleno sólido">
            <a:extLst>
              <a:ext uri="{FF2B5EF4-FFF2-40B4-BE49-F238E27FC236}">
                <a16:creationId xmlns:a16="http://schemas.microsoft.com/office/drawing/2014/main" id="{15FC8D42-8523-2EDE-AFA0-945C23605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6457" y="6029042"/>
            <a:ext cx="253604" cy="253604"/>
          </a:xfrm>
          <a:prstGeom prst="rect">
            <a:avLst/>
          </a:prstGeom>
        </p:spPr>
      </p:pic>
      <p:pic>
        <p:nvPicPr>
          <p:cNvPr id="15" name="Picture 2" descr="Tendencias ineficaces a la hora de resolver problemas">
            <a:extLst>
              <a:ext uri="{FF2B5EF4-FFF2-40B4-BE49-F238E27FC236}">
                <a16:creationId xmlns:a16="http://schemas.microsoft.com/office/drawing/2014/main" id="{7975D1EB-6B50-A434-8DCF-3A4D95797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377" y="2656336"/>
            <a:ext cx="2891043" cy="175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577F2B73-7929-0914-F501-786A3EC8E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32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98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82576-93CE-66D7-104B-E477960C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9FDB109-3973-3293-0B05-B2A070224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PREGUNTA 4 (2 minutos)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8ED6D8-214D-774B-B013-F5020003B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58" y="2336202"/>
            <a:ext cx="8630324" cy="346135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BAF327B-696B-0178-1C74-9E614FA0B82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80FC351-D6B0-5A26-889C-6686BEFFB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2CDF26F-1814-2499-9C99-75C4505A4BD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Gráfico 11" descr="Badge Tick1 con relleno sólido">
            <a:extLst>
              <a:ext uri="{FF2B5EF4-FFF2-40B4-BE49-F238E27FC236}">
                <a16:creationId xmlns:a16="http://schemas.microsoft.com/office/drawing/2014/main" id="{957329DE-E8F8-2073-BE33-39DEC297E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192" y="3414486"/>
            <a:ext cx="253604" cy="253604"/>
          </a:xfrm>
          <a:prstGeom prst="rect">
            <a:avLst/>
          </a:prstGeom>
        </p:spPr>
      </p:pic>
      <p:pic>
        <p:nvPicPr>
          <p:cNvPr id="14" name="Picture 2" descr="Aprender a resolver problemas | PressCoaching">
            <a:extLst>
              <a:ext uri="{FF2B5EF4-FFF2-40B4-BE49-F238E27FC236}">
                <a16:creationId xmlns:a16="http://schemas.microsoft.com/office/drawing/2014/main" id="{EB8CA7A3-9865-1202-FE6E-10CEC85E8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781" y="2875311"/>
            <a:ext cx="2423627" cy="180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EEAB4F75-B560-FF13-9458-796E452C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33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7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AF96-80AB-B4C5-CDB6-CB6BE855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F7B02AF-3E85-BB15-76C9-BC18CF35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PREGUNTA 5 (3 minutos)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FA1AE18-E663-015C-F68A-4538206CC44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2896A40-CDE5-BA40-07B2-02D10108A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C9F26B52-B2DC-1CA4-4D0D-FFC63D4323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CD0AA55-B90A-6025-C519-C7C7BB183C05}"/>
              </a:ext>
            </a:extLst>
          </p:cNvPr>
          <p:cNvSpPr txBox="1"/>
          <p:nvPr/>
        </p:nvSpPr>
        <p:spPr>
          <a:xfrm>
            <a:off x="471714" y="2038392"/>
            <a:ext cx="114355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cuenta con la información contemplada en la siguiente tabla. Además, sabe que todos los proyectos se pueden replicar. Tenga en cuenta que la marginalidad se calcula: alternativa de mayor inversión-alternativa de menor inversión.</a:t>
            </a:r>
          </a:p>
          <a:p>
            <a:endParaRPr lang="es-ES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FF0BEB1-AA2A-A9DE-1B01-B80368264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445788"/>
              </p:ext>
            </p:extLst>
          </p:nvPr>
        </p:nvGraphicFramePr>
        <p:xfrm>
          <a:off x="2751762" y="3194774"/>
          <a:ext cx="6688475" cy="1889843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1390782">
                  <a:extLst>
                    <a:ext uri="{9D8B030D-6E8A-4147-A177-3AD203B41FA5}">
                      <a16:colId xmlns:a16="http://schemas.microsoft.com/office/drawing/2014/main" val="3965235369"/>
                    </a:ext>
                  </a:extLst>
                </a:gridCol>
                <a:gridCol w="1181318">
                  <a:extLst>
                    <a:ext uri="{9D8B030D-6E8A-4147-A177-3AD203B41FA5}">
                      <a16:colId xmlns:a16="http://schemas.microsoft.com/office/drawing/2014/main" val="1080841166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212999456"/>
                    </a:ext>
                  </a:extLst>
                </a:gridCol>
                <a:gridCol w="774260">
                  <a:extLst>
                    <a:ext uri="{9D8B030D-6E8A-4147-A177-3AD203B41FA5}">
                      <a16:colId xmlns:a16="http://schemas.microsoft.com/office/drawing/2014/main" val="3989804839"/>
                    </a:ext>
                  </a:extLst>
                </a:gridCol>
                <a:gridCol w="848037">
                  <a:extLst>
                    <a:ext uri="{9D8B030D-6E8A-4147-A177-3AD203B41FA5}">
                      <a16:colId xmlns:a16="http://schemas.microsoft.com/office/drawing/2014/main" val="268575220"/>
                    </a:ext>
                  </a:extLst>
                </a:gridCol>
                <a:gridCol w="848037">
                  <a:extLst>
                    <a:ext uri="{9D8B030D-6E8A-4147-A177-3AD203B41FA5}">
                      <a16:colId xmlns:a16="http://schemas.microsoft.com/office/drawing/2014/main" val="902539313"/>
                    </a:ext>
                  </a:extLst>
                </a:gridCol>
                <a:gridCol w="848037">
                  <a:extLst>
                    <a:ext uri="{9D8B030D-6E8A-4147-A177-3AD203B41FA5}">
                      <a16:colId xmlns:a16="http://schemas.microsoft.com/office/drawing/2014/main" val="2812822645"/>
                    </a:ext>
                  </a:extLst>
                </a:gridCol>
              </a:tblGrid>
              <a:tr h="26645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Alternativa i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Inversión inicial MM COP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Vida Útil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B/C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VAE Replicado Marginal 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800849"/>
                  </a:ext>
                </a:extLst>
              </a:tr>
              <a:tr h="55757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73715"/>
                  </a:ext>
                </a:extLst>
              </a:tr>
              <a:tr h="2664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-65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9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1,3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762542"/>
                  </a:ext>
                </a:extLst>
              </a:tr>
              <a:tr h="2664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-12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1,2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$ 2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196001"/>
                  </a:ext>
                </a:extLst>
              </a:tr>
              <a:tr h="2664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-34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0,9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-$ 2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316015"/>
                  </a:ext>
                </a:extLst>
              </a:tr>
              <a:tr h="2664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-26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1,4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$1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$ 1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-$ 4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061436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9F518DD5-AA67-1A77-0F0D-6B0225DF365E}"/>
              </a:ext>
            </a:extLst>
          </p:cNvPr>
          <p:cNvSpPr/>
          <p:nvPr/>
        </p:nvSpPr>
        <p:spPr>
          <a:xfrm>
            <a:off x="106112" y="5367899"/>
            <a:ext cx="79448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>
              <a:spcBef>
                <a:spcPts val="1380"/>
              </a:spcBef>
              <a:spcAft>
                <a:spcPts val="0"/>
              </a:spcAft>
            </a:pPr>
            <a:r>
              <a:rPr lang="es-ES" sz="2000" b="1" dirty="0">
                <a:solidFill>
                  <a:srgbClr val="D7A7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¿Si los proyectos son independientes, cuál(es) realizaría? </a:t>
            </a:r>
            <a:endParaRPr lang="es-CO" sz="2000" b="1" dirty="0">
              <a:solidFill>
                <a:srgbClr val="D7A7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3ABB27F-1558-D15E-A4E5-228E372E029E}"/>
              </a:ext>
            </a:extLst>
          </p:cNvPr>
          <p:cNvSpPr/>
          <p:nvPr/>
        </p:nvSpPr>
        <p:spPr>
          <a:xfrm>
            <a:off x="7559147" y="5367899"/>
            <a:ext cx="28825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 algn="ctr">
              <a:spcBef>
                <a:spcPts val="1380"/>
              </a:spcBef>
              <a:spcAft>
                <a:spcPts val="0"/>
              </a:spcAft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Proyectos A, B y D</a:t>
            </a:r>
            <a:endParaRPr lang="es-CO" sz="2000" b="1" dirty="0">
              <a:solidFill>
                <a:srgbClr val="C000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4CAB49B-DE93-BB4B-F0A2-CAF5DEC14E07}"/>
              </a:ext>
            </a:extLst>
          </p:cNvPr>
          <p:cNvSpPr/>
          <p:nvPr/>
        </p:nvSpPr>
        <p:spPr>
          <a:xfrm>
            <a:off x="106112" y="5897403"/>
            <a:ext cx="757194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7675" algn="ctr">
              <a:spcBef>
                <a:spcPts val="1380"/>
              </a:spcBef>
              <a:spcAft>
                <a:spcPts val="0"/>
              </a:spcAft>
            </a:pPr>
            <a:r>
              <a:rPr lang="es-ES" sz="2000" b="1" dirty="0">
                <a:solidFill>
                  <a:srgbClr val="D7A7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¿Si los proyectos son mutuamente excluyentes entre sí, qué proyecto(s) realizaría? </a:t>
            </a:r>
            <a:endParaRPr lang="es-CO" sz="2000" b="1" dirty="0">
              <a:solidFill>
                <a:srgbClr val="D7A7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59166FB-1774-4275-1805-502B6DC0D2AB}"/>
              </a:ext>
            </a:extLst>
          </p:cNvPr>
          <p:cNvSpPr/>
          <p:nvPr/>
        </p:nvSpPr>
        <p:spPr>
          <a:xfrm>
            <a:off x="7998368" y="6051291"/>
            <a:ext cx="20040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 algn="ctr">
              <a:spcBef>
                <a:spcPts val="1380"/>
              </a:spcBef>
              <a:spcAft>
                <a:spcPts val="0"/>
              </a:spcAft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Proyecto A</a:t>
            </a:r>
            <a:endParaRPr lang="es-CO" sz="2000" b="1" dirty="0">
              <a:solidFill>
                <a:srgbClr val="C000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C3814249-D390-44D7-22DA-E8C28077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34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85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9B3DBF7-E883-DD2B-88E5-ABF043B8C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687556" cy="826833"/>
          </a:xfrm>
        </p:spPr>
        <p:txBody>
          <a:bodyPr>
            <a:noAutofit/>
          </a:bodyPr>
          <a:lstStyle/>
          <a:p>
            <a:r>
              <a:rPr lang="es-CO" sz="3000" dirty="0">
                <a:latin typeface="Century Gothic"/>
              </a:rPr>
              <a:t>COMPARACIÓN Y SELECCIÓN DE PROYECTOS (</a:t>
            </a:r>
            <a:r>
              <a:rPr lang="es-CO" sz="3000" dirty="0">
                <a:solidFill>
                  <a:srgbClr val="D7A700"/>
                </a:solidFill>
                <a:latin typeface="Century Gothic"/>
              </a:rPr>
              <a:t>PARTE III</a:t>
            </a:r>
            <a:r>
              <a:rPr lang="es-CO" sz="3000" dirty="0">
                <a:latin typeface="Century Gothic"/>
              </a:rPr>
              <a:t>)</a:t>
            </a:r>
            <a:endParaRPr lang="es-CO" sz="3000" dirty="0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C04145-9417-5733-FA85-19EA6E81129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Picture 2" descr="Clientes y aliados | Centro de Evaluación | Uniandes">
            <a:extLst>
              <a:ext uri="{FF2B5EF4-FFF2-40B4-BE49-F238E27FC236}">
                <a16:creationId xmlns:a16="http://schemas.microsoft.com/office/drawing/2014/main" id="{EA63BCA8-BE8D-9E49-890D-C83E92547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BCF233F-4086-FB11-E206-EB428C12F4F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959F89-526B-5024-9DAA-1D04748C6F1F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0023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1884</TotalTime>
  <Words>2908</Words>
  <Application>Microsoft Macintosh PowerPoint</Application>
  <PresentationFormat>Widescreen</PresentationFormat>
  <Paragraphs>770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Calibri</vt:lpstr>
      <vt:lpstr>Cambria Math</vt:lpstr>
      <vt:lpstr>Century Gothic</vt:lpstr>
      <vt:lpstr>Gill Sans MT</vt:lpstr>
      <vt:lpstr>Verdana</vt:lpstr>
      <vt:lpstr>Wingdings</vt:lpstr>
      <vt:lpstr>Wingdings 2</vt:lpstr>
      <vt:lpstr>Dividendo</vt:lpstr>
      <vt:lpstr>COMPARACIÓN Y SELECCIÓN DE PROYECTOS (PARTE III)</vt:lpstr>
      <vt:lpstr>EXCEL DE REPASO</vt:lpstr>
      <vt:lpstr>MENTI</vt:lpstr>
      <vt:lpstr>AGENDA PROPUESTA</vt:lpstr>
      <vt:lpstr>AGENDA PROPUESTA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AGENDA PROPUESTA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Consolidado DE evaluación de proyectos</vt:lpstr>
      <vt:lpstr>AGENDA PROPUESTA</vt:lpstr>
      <vt:lpstr>EXCEL DE REPASO</vt:lpstr>
      <vt:lpstr>PREGUNTA 1(3 minutos)</vt:lpstr>
      <vt:lpstr>PREGUNTA 2 (3 minutos)</vt:lpstr>
      <vt:lpstr>PREGUNTA 3 (3 minutos)</vt:lpstr>
      <vt:lpstr>PREGUNTA 4 (2 minutos)</vt:lpstr>
      <vt:lpstr>PREGUNTA 5 (3 minutos)</vt:lpstr>
      <vt:lpstr>COMPARACIÓN Y SELECCIÓN DE PROYECTOS (PARTE III)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</cp:lastModifiedBy>
  <cp:revision>63</cp:revision>
  <dcterms:created xsi:type="dcterms:W3CDTF">2019-06-20T04:25:04Z</dcterms:created>
  <dcterms:modified xsi:type="dcterms:W3CDTF">2026-10-08T16:53:53Z</dcterms:modified>
</cp:coreProperties>
</file>