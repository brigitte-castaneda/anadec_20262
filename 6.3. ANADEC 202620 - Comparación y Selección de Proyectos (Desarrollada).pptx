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32" r:id="rId1"/>
  </p:sldMasterIdLst>
  <p:notesMasterIdLst>
    <p:notesMasterId r:id="rId28"/>
  </p:notesMasterIdLst>
  <p:handoutMasterIdLst>
    <p:handoutMasterId r:id="rId29"/>
  </p:handoutMasterIdLst>
  <p:sldIdLst>
    <p:sldId id="398" r:id="rId2"/>
    <p:sldId id="462" r:id="rId3"/>
    <p:sldId id="463" r:id="rId4"/>
    <p:sldId id="449" r:id="rId5"/>
    <p:sldId id="453" r:id="rId6"/>
    <p:sldId id="423" r:id="rId7"/>
    <p:sldId id="424" r:id="rId8"/>
    <p:sldId id="425" r:id="rId9"/>
    <p:sldId id="426" r:id="rId10"/>
    <p:sldId id="455" r:id="rId11"/>
    <p:sldId id="261" r:id="rId12"/>
    <p:sldId id="427" r:id="rId13"/>
    <p:sldId id="456" r:id="rId14"/>
    <p:sldId id="457" r:id="rId15"/>
    <p:sldId id="428" r:id="rId16"/>
    <p:sldId id="429" r:id="rId17"/>
    <p:sldId id="454" r:id="rId18"/>
    <p:sldId id="459" r:id="rId19"/>
    <p:sldId id="460" r:id="rId20"/>
    <p:sldId id="458" r:id="rId21"/>
    <p:sldId id="445" r:id="rId22"/>
    <p:sldId id="450" r:id="rId23"/>
    <p:sldId id="451" r:id="rId24"/>
    <p:sldId id="452" r:id="rId25"/>
    <p:sldId id="461" r:id="rId26"/>
    <p:sldId id="403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bastian Joseph Sanchez Oyola" initials="SJSO" lastIdx="1" clrIdx="0">
    <p:extLst>
      <p:ext uri="{19B8F6BF-5375-455C-9EA6-DF929625EA0E}">
        <p15:presenceInfo xmlns:p15="http://schemas.microsoft.com/office/powerpoint/2012/main" userId="Sebastian Joseph Sanchez Oyol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A700"/>
    <a:srgbClr val="002F90"/>
    <a:srgbClr val="33CC33"/>
    <a:srgbClr val="FFF4E6"/>
    <a:srgbClr val="E8F8FA"/>
    <a:srgbClr val="DFFFFF"/>
    <a:srgbClr val="FF6600"/>
    <a:srgbClr val="6666FF"/>
    <a:srgbClr val="FF505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1CDF22-B812-8E46-A164-A151CA0F86C4}" v="3" dt="2026-10-06T18:53:40.2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660B408-B3CF-4A94-85FC-2B1E0A45F4A2}" styleName="Estilo oscuro 2 - Énfasis 1/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Estilo claro 3 - Acento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68" autoAdjust="0"/>
    <p:restoredTop sz="94658"/>
  </p:normalViewPr>
  <p:slideViewPr>
    <p:cSldViewPr snapToGrid="0">
      <p:cViewPr varScale="1">
        <p:scale>
          <a:sx n="78" d="100"/>
          <a:sy n="78" d="100"/>
        </p:scale>
        <p:origin x="192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gitte Castañeda Rodriguez" userId="5c201908-82f6-498c-9281-7eaa96fb17b4" providerId="ADAL" clId="{FA146403-BBA5-5A93-8956-7210BF70CAFE}"/>
    <pc:docChg chg="addSld modSld">
      <pc:chgData name="Brigitte Castañeda Rodriguez" userId="5c201908-82f6-498c-9281-7eaa96fb17b4" providerId="ADAL" clId="{FA146403-BBA5-5A93-8956-7210BF70CAFE}" dt="2026-10-06T18:53:44.589" v="39" actId="1076"/>
      <pc:docMkLst>
        <pc:docMk/>
      </pc:docMkLst>
      <pc:sldChg chg="addSp delSp modSp new mod">
        <pc:chgData name="Brigitte Castañeda Rodriguez" userId="5c201908-82f6-498c-9281-7eaa96fb17b4" providerId="ADAL" clId="{FA146403-BBA5-5A93-8956-7210BF70CAFE}" dt="2026-10-06T18:41:57.735" v="27" actId="14100"/>
        <pc:sldMkLst>
          <pc:docMk/>
          <pc:sldMk cId="1720043484" sldId="462"/>
        </pc:sldMkLst>
        <pc:spChg chg="mod">
          <ac:chgData name="Brigitte Castañeda Rodriguez" userId="5c201908-82f6-498c-9281-7eaa96fb17b4" providerId="ADAL" clId="{FA146403-BBA5-5A93-8956-7210BF70CAFE}" dt="2026-10-06T18:40:27.550" v="17" actId="20577"/>
          <ac:spMkLst>
            <pc:docMk/>
            <pc:sldMk cId="1720043484" sldId="462"/>
            <ac:spMk id="2" creationId="{086F7825-9519-56FC-D75E-257AA6C09CB4}"/>
          </ac:spMkLst>
        </pc:spChg>
        <pc:spChg chg="del">
          <ac:chgData name="Brigitte Castañeda Rodriguez" userId="5c201908-82f6-498c-9281-7eaa96fb17b4" providerId="ADAL" clId="{FA146403-BBA5-5A93-8956-7210BF70CAFE}" dt="2026-10-06T18:40:53.399" v="18"/>
          <ac:spMkLst>
            <pc:docMk/>
            <pc:sldMk cId="1720043484" sldId="462"/>
            <ac:spMk id="3" creationId="{FEC7AC8E-F889-E78D-57AB-34710F099F86}"/>
          </ac:spMkLst>
        </pc:spChg>
        <pc:spChg chg="add mod">
          <ac:chgData name="Brigitte Castañeda Rodriguez" userId="5c201908-82f6-498c-9281-7eaa96fb17b4" providerId="ADAL" clId="{FA146403-BBA5-5A93-8956-7210BF70CAFE}" dt="2026-10-06T18:41:57.735" v="27" actId="14100"/>
          <ac:spMkLst>
            <pc:docMk/>
            <pc:sldMk cId="1720043484" sldId="462"/>
            <ac:spMk id="7" creationId="{1C0BEE2D-404A-9CD0-7ABD-78113BD6DE25}"/>
          </ac:spMkLst>
        </pc:spChg>
        <pc:picChg chg="add mod">
          <ac:chgData name="Brigitte Castañeda Rodriguez" userId="5c201908-82f6-498c-9281-7eaa96fb17b4" providerId="ADAL" clId="{FA146403-BBA5-5A93-8956-7210BF70CAFE}" dt="2026-10-06T18:40:56.369" v="20" actId="1076"/>
          <ac:picMkLst>
            <pc:docMk/>
            <pc:sldMk cId="1720043484" sldId="462"/>
            <ac:picMk id="5" creationId="{D097672E-DADD-9217-6301-8111C184D252}"/>
          </ac:picMkLst>
        </pc:picChg>
      </pc:sldChg>
      <pc:sldChg chg="addSp delSp modSp new mod">
        <pc:chgData name="Brigitte Castañeda Rodriguez" userId="5c201908-82f6-498c-9281-7eaa96fb17b4" providerId="ADAL" clId="{FA146403-BBA5-5A93-8956-7210BF70CAFE}" dt="2026-10-06T18:53:44.589" v="39" actId="1076"/>
        <pc:sldMkLst>
          <pc:docMk/>
          <pc:sldMk cId="4270155669" sldId="463"/>
        </pc:sldMkLst>
        <pc:spChg chg="mod">
          <ac:chgData name="Brigitte Castañeda Rodriguez" userId="5c201908-82f6-498c-9281-7eaa96fb17b4" providerId="ADAL" clId="{FA146403-BBA5-5A93-8956-7210BF70CAFE}" dt="2026-10-06T18:53:30.082" v="34" actId="20577"/>
          <ac:spMkLst>
            <pc:docMk/>
            <pc:sldMk cId="4270155669" sldId="463"/>
            <ac:spMk id="2" creationId="{7B994A7D-F480-F14D-6B36-050FDFC836DB}"/>
          </ac:spMkLst>
        </pc:spChg>
        <pc:spChg chg="del">
          <ac:chgData name="Brigitte Castañeda Rodriguez" userId="5c201908-82f6-498c-9281-7eaa96fb17b4" providerId="ADAL" clId="{FA146403-BBA5-5A93-8956-7210BF70CAFE}" dt="2026-10-06T18:53:27.812" v="29"/>
          <ac:spMkLst>
            <pc:docMk/>
            <pc:sldMk cId="4270155669" sldId="463"/>
            <ac:spMk id="3" creationId="{24235EB1-4187-1C1C-3C4E-F64027DEB25F}"/>
          </ac:spMkLst>
        </pc:spChg>
        <pc:picChg chg="add mod">
          <ac:chgData name="Brigitte Castañeda Rodriguez" userId="5c201908-82f6-498c-9281-7eaa96fb17b4" providerId="ADAL" clId="{FA146403-BBA5-5A93-8956-7210BF70CAFE}" dt="2026-10-06T18:53:43.453" v="37" actId="1076"/>
          <ac:picMkLst>
            <pc:docMk/>
            <pc:sldMk cId="4270155669" sldId="463"/>
            <ac:picMk id="5" creationId="{6B8FB9E9-823E-8CD3-F479-301F3048C87C}"/>
          </ac:picMkLst>
        </pc:picChg>
        <pc:picChg chg="add mod">
          <ac:chgData name="Brigitte Castañeda Rodriguez" userId="5c201908-82f6-498c-9281-7eaa96fb17b4" providerId="ADAL" clId="{FA146403-BBA5-5A93-8956-7210BF70CAFE}" dt="2026-10-06T18:53:44.589" v="39" actId="1076"/>
          <ac:picMkLst>
            <pc:docMk/>
            <pc:sldMk cId="4270155669" sldId="463"/>
            <ac:picMk id="6" creationId="{48828B9E-084E-3C23-E921-CA5849E690A5}"/>
          </ac:picMkLst>
        </pc:picChg>
      </pc:sldChg>
    </pc:docChg>
  </pc:docChgLst>
  <pc:docChgLst>
    <pc:chgData name="Diana Lucila Bohorquez Gomez" userId="S::dl.bohorquez@uniandes.edu.co::a5eb8baf-0f6a-49af-b1ae-2734181cf298" providerId="AD" clId="Web-{12E4A3C8-C579-18D9-D2BA-FF6B04AC8DCC}"/>
    <pc:docChg chg="modSld">
      <pc:chgData name="Diana Lucila Bohorquez Gomez" userId="S::dl.bohorquez@uniandes.edu.co::a5eb8baf-0f6a-49af-b1ae-2734181cf298" providerId="AD" clId="Web-{12E4A3C8-C579-18D9-D2BA-FF6B04AC8DCC}" dt="2026-10-05T13:14:10.196" v="1"/>
      <pc:docMkLst>
        <pc:docMk/>
      </pc:docMkLst>
      <pc:sldChg chg="modSp">
        <pc:chgData name="Diana Lucila Bohorquez Gomez" userId="S::dl.bohorquez@uniandes.edu.co::a5eb8baf-0f6a-49af-b1ae-2734181cf298" providerId="AD" clId="Web-{12E4A3C8-C579-18D9-D2BA-FF6B04AC8DCC}" dt="2026-10-05T13:14:10.196" v="1"/>
        <pc:sldMkLst>
          <pc:docMk/>
          <pc:sldMk cId="2388988279" sldId="459"/>
        </pc:sldMkLst>
        <pc:graphicFrameChg chg="mod modGraphic">
          <ac:chgData name="Diana Lucila Bohorquez Gomez" userId="S::dl.bohorquez@uniandes.edu.co::a5eb8baf-0f6a-49af-b1ae-2734181cf298" providerId="AD" clId="Web-{12E4A3C8-C579-18D9-D2BA-FF6B04AC8DCC}" dt="2026-10-05T13:14:10.196" v="1"/>
          <ac:graphicFrameMkLst>
            <pc:docMk/>
            <pc:sldMk cId="2388988279" sldId="459"/>
            <ac:graphicFrameMk id="9" creationId="{632C3B19-46A3-535E-E26B-E9C0115EF802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7909239-6EB4-4F64-9166-01BA8CB152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s-CO"/>
              <a:t>Profesor Sebastián Joseph Sánchez Oyola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0D4A5E1-CC2B-4E68-93DE-1741C2D8FC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EBC9B1-33DC-462F-829C-1E37E99682B9}" type="datetimeFigureOut">
              <a:rPr lang="es-CO" smtClean="0"/>
              <a:t>6/10/26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6E42B93-8418-4C73-AFC5-AD8733D561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F5AB0F-F981-4352-8DA3-CAD02A4EF5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216A6-D02D-421D-81B5-58C62FCB13E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9424763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s-CO"/>
              <a:t>Profesor Sebastián Joseph Sánchez Oyola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ED2E0-4743-4E03-93B8-12386FF60236}" type="datetimeFigureOut">
              <a:rPr lang="es-CO" smtClean="0"/>
              <a:t>6/10/26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AB8670-524E-4520-AA44-FE672760293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4425867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O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9AFD365D-553E-437E-906F-693C2E6CE28D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755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3018D-1CC0-468E-BE3B-579A148A0691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521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E7F702F-46BE-40AA-9A05-7C69E0403EE7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928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F0D08-E4F7-43DB-810A-34BADF6468F7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176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E1DAC-EC09-4DEA-BBB4-788DDBA09515}" type="datetime1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026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FF582-E74C-4A8A-87B2-214B0CF47F99}" type="datetime1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53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C8AEA-E303-4B9D-B167-0A45CB59E0C2}" type="datetime1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60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EBE2AAB-C9FD-4A72-8C62-A7C81FA189B4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007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9D4CC-5FC5-4711-9ACC-A7971700D612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35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6DF8C-FC0D-41BB-BB53-20BBB44E4230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658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119C4A7-5D51-4E42-9C0C-1785329211C5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775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8027E5A-4482-46C4-A2DC-45BEF00C1E0A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O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O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87877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jpeg"/><Relationship Id="rId4" Type="http://schemas.openxmlformats.org/officeDocument/2006/relationships/image" Target="../media/image1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jpeg"/><Relationship Id="rId4" Type="http://schemas.openxmlformats.org/officeDocument/2006/relationships/image" Target="../media/image12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70868" y="1814732"/>
            <a:ext cx="10687556" cy="826833"/>
          </a:xfrm>
        </p:spPr>
        <p:txBody>
          <a:bodyPr>
            <a:noAutofit/>
          </a:bodyPr>
          <a:lstStyle/>
          <a:p>
            <a:r>
              <a:rPr lang="es-CO" sz="3000" dirty="0">
                <a:latin typeface="Century Gothic"/>
              </a:rPr>
              <a:t>COMPARACIÓN Y SELECCIÓN DE PROYECTOS (</a:t>
            </a:r>
            <a:r>
              <a:rPr lang="es-CO" sz="3000" dirty="0">
                <a:solidFill>
                  <a:srgbClr val="D7A700"/>
                </a:solidFill>
                <a:latin typeface="Century Gothic"/>
              </a:rPr>
              <a:t>PARTE III</a:t>
            </a:r>
            <a:r>
              <a:rPr lang="es-CO" sz="3000" dirty="0">
                <a:latin typeface="Century Gothic"/>
              </a:rPr>
              <a:t>)</a:t>
            </a:r>
            <a:endParaRPr lang="es-CO" sz="3000" dirty="0">
              <a:latin typeface="Century Gothic" panose="020B0502020202020204" pitchFamily="34" charset="0"/>
            </a:endParaRPr>
          </a:p>
        </p:txBody>
      </p:sp>
      <p:pic>
        <p:nvPicPr>
          <p:cNvPr id="12" name="Gráfico 11" descr="Open book contorno">
            <a:extLst>
              <a:ext uri="{FF2B5EF4-FFF2-40B4-BE49-F238E27FC236}">
                <a16:creationId xmlns:a16="http://schemas.microsoft.com/office/drawing/2014/main" id="{52403B49-6EB3-5618-7D88-A91409E36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34957" y="3342889"/>
            <a:ext cx="2695807" cy="2695807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DAD5C9A0-84B6-D7D9-1079-C468AF2B0A5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5" name="Picture 2" descr="Clientes y aliados | Centro de Evaluación | Uniandes">
            <a:extLst>
              <a:ext uri="{FF2B5EF4-FFF2-40B4-BE49-F238E27FC236}">
                <a16:creationId xmlns:a16="http://schemas.microsoft.com/office/drawing/2014/main" id="{E1678139-4461-9349-5DEB-C59837F3E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BA773F3-394D-067A-A8F5-1671AA5AFD9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6CFE1A0-DD4A-5EC2-9193-7C5003ED4DDE}"/>
              </a:ext>
            </a:extLst>
          </p:cNvPr>
          <p:cNvSpPr txBox="1"/>
          <p:nvPr/>
        </p:nvSpPr>
        <p:spPr>
          <a:xfrm>
            <a:off x="1045027" y="3342889"/>
            <a:ext cx="6349598" cy="24929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b="1" u="sng" dirty="0">
                <a:solidFill>
                  <a:schemeClr val="bg1"/>
                </a:solidFill>
                <a:latin typeface="Century Gothic"/>
              </a:rPr>
              <a:t>													</a:t>
            </a:r>
            <a:endParaRPr lang="es-CO" sz="2000" b="1" u="sng" dirty="0">
              <a:solidFill>
                <a:schemeClr val="bg1"/>
              </a:solidFill>
              <a:latin typeface="Century Gothic"/>
            </a:endParaRPr>
          </a:p>
          <a:p>
            <a:endParaRPr lang="es-CO" sz="1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DEPARTAMENTO DE INGENIERÍA INDUSTRIAL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FACULTAD DE INGENIERÍA</a:t>
            </a:r>
          </a:p>
          <a:p>
            <a:r>
              <a:rPr lang="es-CO" sz="1000" b="1" u="sng" dirty="0">
                <a:solidFill>
                  <a:schemeClr val="bg1"/>
                </a:solidFill>
                <a:latin typeface="Century Gothic"/>
              </a:rPr>
              <a:t>													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Curso       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ANÁLISIS DE DECISIONES DE INVERSIÓN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Correo     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cursoanadec@uniandes.edu.co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674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7825-9519-56FC-D75E-257AA6C09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O" dirty="0"/>
              <a:t>EXCEL DE REPASO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97672E-DADD-9217-6301-8111C184D2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57446" y="2063994"/>
            <a:ext cx="4383943" cy="435402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DD0602-85E3-FA2E-EF57-BD549B2A2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0BEE2D-404A-9CD0-7ABD-78113BD6DE25}"/>
              </a:ext>
            </a:extLst>
          </p:cNvPr>
          <p:cNvSpPr txBox="1"/>
          <p:nvPr/>
        </p:nvSpPr>
        <p:spPr>
          <a:xfrm>
            <a:off x="797169" y="3560857"/>
            <a:ext cx="35286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O" sz="2400" dirty="0">
                <a:solidFill>
                  <a:srgbClr val="FF0000"/>
                </a:solidFill>
              </a:rPr>
              <a:t>https://shorturl.at/2EWR9</a:t>
            </a:r>
          </a:p>
        </p:txBody>
      </p:sp>
    </p:spTree>
    <p:extLst>
      <p:ext uri="{BB962C8B-B14F-4D97-AF65-F5344CB8AC3E}">
        <p14:creationId xmlns:p14="http://schemas.microsoft.com/office/powerpoint/2010/main" val="1720043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94A7D-F480-F14D-6B36-050FDFC83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O" dirty="0"/>
              <a:t>MENTI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8FB9E9-823E-8CD3-F479-301F3048C8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12564" y="2277899"/>
            <a:ext cx="3898244" cy="367823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9581E-2EE1-F5A2-91E6-CDB14BEA6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828B9E-084E-3C23-E921-CA5849E69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623" y="2277899"/>
            <a:ext cx="5317206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155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0F651596-1125-43ED-8471-A57EDDF351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8F837980-0A38-47A1-8A30-C7AFF3A98D5A}"/>
              </a:ext>
            </a:extLst>
          </p:cNvPr>
          <p:cNvSpPr/>
          <p:nvPr/>
        </p:nvSpPr>
        <p:spPr>
          <a:xfrm>
            <a:off x="2806200" y="2772729"/>
            <a:ext cx="8540907" cy="2308324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>
                    <a:lumMod val="75000"/>
                  </a:schemeClr>
                </a:solidFill>
                <a:latin typeface="Century Gothic"/>
                <a:cs typeface="Arial"/>
              </a:rPr>
              <a:t>Proyectos Mutuamente Excluyentes.</a:t>
            </a:r>
            <a:endParaRPr lang="es-CO" dirty="0">
              <a:solidFill>
                <a:schemeClr val="accent1">
                  <a:lumMod val="75000"/>
                </a:schemeClr>
              </a:solidFill>
              <a:latin typeface="Century Gothic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  <a:cs typeface="Arial"/>
              </a:rPr>
              <a:t>	</a:t>
            </a:r>
            <a:r>
              <a:rPr lang="es-CO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1.1. </a:t>
            </a:r>
            <a:r>
              <a:rPr lang="es-CO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Caso 3: distinta vida útil y distinta inversión inicial.</a:t>
            </a:r>
          </a:p>
          <a:p>
            <a:pPr>
              <a:buClr>
                <a:srgbClr val="48BE7A"/>
              </a:buClr>
            </a:pPr>
            <a:endParaRPr lang="es-CO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Consolidado Evaluación Proyectos</a:t>
            </a: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endParaRPr lang="es-CO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Ejercicios de Práctica.</a:t>
            </a: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1EBBCEC-05FB-F446-B35D-BFE0B079BA1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7C131E77-E6C7-9CBD-D9DE-11EDF44983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F712DB0F-E569-0A29-C7A4-5EDA9C8A3BCB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2" name="Marcador de número de diapositiva 2">
            <a:extLst>
              <a:ext uri="{FF2B5EF4-FFF2-40B4-BE49-F238E27FC236}">
                <a16:creationId xmlns:a16="http://schemas.microsoft.com/office/drawing/2014/main" id="{2AE86183-F820-25BF-0997-EB230E97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4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4655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EF15F-3C83-37FE-31C0-1E8416195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FE05D0-969D-95EC-9381-26ADC540C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761807AD-F081-35E9-266F-B713FEE26D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55937C94-7B1F-B66E-DE3C-906CF502671C}"/>
              </a:ext>
            </a:extLst>
          </p:cNvPr>
          <p:cNvSpPr/>
          <p:nvPr/>
        </p:nvSpPr>
        <p:spPr>
          <a:xfrm>
            <a:off x="2806200" y="2772729"/>
            <a:ext cx="8540907" cy="2308324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/>
                <a:cs typeface="Arial"/>
              </a:rPr>
              <a:t>Proyectos Mutuamente Excluyentes.</a:t>
            </a:r>
            <a:endParaRPr lang="es-CO" dirty="0">
              <a:solidFill>
                <a:schemeClr val="bg2">
                  <a:lumMod val="90000"/>
                </a:schemeClr>
              </a:solidFill>
              <a:latin typeface="Century Gothic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  <a:cs typeface="Arial"/>
              </a:rPr>
              <a:t>	</a:t>
            </a:r>
            <a:r>
              <a:rPr lang="es-CO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1.1. </a:t>
            </a:r>
            <a:r>
              <a:rPr lang="es-CO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Caso 3: distinta vida útil y distinta inversión inicial.</a:t>
            </a:r>
          </a:p>
          <a:p>
            <a:pPr>
              <a:buClr>
                <a:srgbClr val="48BE7A"/>
              </a:buClr>
            </a:pPr>
            <a:endParaRPr lang="es-CO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 panose="020B0502020202020204" pitchFamily="34" charset="0"/>
                <a:cs typeface="Arial"/>
              </a:rPr>
              <a:t>Consolidado Evaluación Proyectos</a:t>
            </a: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endParaRPr lang="es-CO" dirty="0">
              <a:solidFill>
                <a:schemeClr val="bg2">
                  <a:lumMod val="90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 panose="020B0502020202020204" pitchFamily="34" charset="0"/>
                <a:cs typeface="Arial"/>
              </a:rPr>
              <a:t>Ejercicios de Práctica.</a:t>
            </a: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6788A66-E768-459A-385F-A9016BB1D01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381188BE-39FF-35B1-CA49-ED34037325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37BCD732-721D-C824-759B-C415958BDAD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CFA82E4-F0D6-0095-AEB2-CB4ECF4E0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5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069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7272" y="2944819"/>
            <a:ext cx="2469722" cy="803186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Century Gothic" panose="020B0502020202020204" pitchFamily="34" charset="0"/>
              </a:rPr>
              <a:t>Misma Vida Útil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35641" y="3937321"/>
            <a:ext cx="2088967" cy="1211411"/>
          </a:xfrm>
          <a:prstGeom prst="roundRect">
            <a:avLst/>
          </a:prstGeom>
          <a:solidFill>
            <a:schemeClr val="accent2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Century Gothic" panose="020B0502020202020204" pitchFamily="34" charset="0"/>
              </a:rPr>
              <a:t>Proyectos Mutuamente Excluyentes</a:t>
            </a:r>
          </a:p>
        </p:txBody>
      </p:sp>
      <p:cxnSp>
        <p:nvCxnSpPr>
          <p:cNvPr id="8" name="Curved Connector 7"/>
          <p:cNvCxnSpPr>
            <a:stCxn id="7" idx="0"/>
            <a:endCxn id="6" idx="1"/>
          </p:cNvCxnSpPr>
          <p:nvPr/>
        </p:nvCxnSpPr>
        <p:spPr>
          <a:xfrm rot="5400000" flipH="1" flipV="1">
            <a:off x="3558244" y="2468292"/>
            <a:ext cx="590908" cy="2347148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Curved Connector 8"/>
          <p:cNvCxnSpPr>
            <a:stCxn id="6" idx="3"/>
            <a:endCxn id="10" idx="1"/>
          </p:cNvCxnSpPr>
          <p:nvPr/>
        </p:nvCxnSpPr>
        <p:spPr>
          <a:xfrm flipV="1">
            <a:off x="7496994" y="2527136"/>
            <a:ext cx="886618" cy="819276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83613" y="2188370"/>
            <a:ext cx="2054201" cy="67753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Century Gothic" panose="020B0502020202020204" pitchFamily="34" charset="0"/>
              </a:rPr>
              <a:t>Inversión Inicial Igual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3613" y="3937320"/>
            <a:ext cx="2054201" cy="67753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Century Gothic" panose="020B0502020202020204" pitchFamily="34" charset="0"/>
              </a:rPr>
              <a:t>Inversión Inicial Distinta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7272" y="5465449"/>
            <a:ext cx="2469722" cy="803186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00" dirty="0">
                <a:latin typeface="Century Gothic" panose="020B0502020202020204" pitchFamily="34" charset="0"/>
              </a:rPr>
              <a:t>Distinta Vida Útil</a:t>
            </a:r>
          </a:p>
        </p:txBody>
      </p:sp>
      <p:cxnSp>
        <p:nvCxnSpPr>
          <p:cNvPr id="28" name="Curved Connector 27"/>
          <p:cNvCxnSpPr>
            <a:stCxn id="6" idx="3"/>
            <a:endCxn id="19" idx="1"/>
          </p:cNvCxnSpPr>
          <p:nvPr/>
        </p:nvCxnSpPr>
        <p:spPr>
          <a:xfrm>
            <a:off x="7496994" y="3346412"/>
            <a:ext cx="886618" cy="929674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urved Connector 30"/>
          <p:cNvCxnSpPr>
            <a:stCxn id="7" idx="2"/>
            <a:endCxn id="25" idx="1"/>
          </p:cNvCxnSpPr>
          <p:nvPr/>
        </p:nvCxnSpPr>
        <p:spPr>
          <a:xfrm rot="16200000" flipH="1">
            <a:off x="3494544" y="4334312"/>
            <a:ext cx="718311" cy="2347148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48AE31D-E680-6519-2CA7-D4D2DD81B4CC}"/>
              </a:ext>
            </a:extLst>
          </p:cNvPr>
          <p:cNvSpPr txBox="1"/>
          <p:nvPr/>
        </p:nvSpPr>
        <p:spPr>
          <a:xfrm>
            <a:off x="10556359" y="4091420"/>
            <a:ext cx="11489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Caso 2 </a:t>
            </a:r>
            <a:endParaRPr lang="es-CO" sz="20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818B9FF-B089-2044-49CC-43218CA5645A}"/>
              </a:ext>
            </a:extLst>
          </p:cNvPr>
          <p:cNvSpPr txBox="1"/>
          <p:nvPr/>
        </p:nvSpPr>
        <p:spPr>
          <a:xfrm>
            <a:off x="10510071" y="2358038"/>
            <a:ext cx="11489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Caso 1 </a:t>
            </a:r>
            <a:endParaRPr lang="es-CO" sz="2000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5E885C4-9006-8069-681B-85CDB96D0577}"/>
              </a:ext>
            </a:extLst>
          </p:cNvPr>
          <p:cNvSpPr txBox="1"/>
          <p:nvPr/>
        </p:nvSpPr>
        <p:spPr>
          <a:xfrm>
            <a:off x="7514097" y="5682230"/>
            <a:ext cx="11489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Caso 3 </a:t>
            </a:r>
            <a:endParaRPr lang="es-CO" sz="200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62F2F0F-133C-1573-454B-B3175A099D0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Picture 2" descr="Clientes y aliados | Centro de Evaluación | Uniandes">
            <a:extLst>
              <a:ext uri="{FF2B5EF4-FFF2-40B4-BE49-F238E27FC236}">
                <a16:creationId xmlns:a16="http://schemas.microsoft.com/office/drawing/2014/main" id="{A49B3BC2-07BF-CCB4-003D-47BE2FB1B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ángulo 17">
            <a:extLst>
              <a:ext uri="{FF2B5EF4-FFF2-40B4-BE49-F238E27FC236}">
                <a16:creationId xmlns:a16="http://schemas.microsoft.com/office/drawing/2014/main" id="{F4465351-C5A2-727E-64F4-D7232A1FDE28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C7BDDD4-5B83-31B7-AA8E-CCB14C8FF165}"/>
              </a:ext>
            </a:extLst>
          </p:cNvPr>
          <p:cNvSpPr/>
          <p:nvPr/>
        </p:nvSpPr>
        <p:spPr>
          <a:xfrm>
            <a:off x="7531350" y="5682230"/>
            <a:ext cx="1052508" cy="40011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98F29475-CC73-E7E4-D736-FF34F8A6C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6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982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1998" y="1789614"/>
            <a:ext cx="7933543" cy="436623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Caso 3: </a:t>
            </a:r>
            <a:r>
              <a:rPr lang="es-ES_tradnl" sz="2000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Comparación de alternativas mutuamente excluyentes con vidas útiles e inversiones iniciales distintas.</a:t>
            </a:r>
          </a:p>
          <a:p>
            <a:pPr marL="0" indent="0" algn="ctr">
              <a:buNone/>
            </a:pPr>
            <a:endParaRPr lang="es-ES_tradnl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marL="0" indent="0" algn="ctr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En este caso, se podrá optar por dos alternativas: 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replicar o no replicar el proyecto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.</a:t>
            </a:r>
          </a:p>
          <a:p>
            <a:pPr marL="0" indent="0" algn="ctr">
              <a:buNone/>
            </a:pPr>
            <a:endParaRPr lang="es-ES_tradnl" sz="1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marL="0" indent="0" algn="ctr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Replicar el proyecto implica que este se pueda realizar nuevamente de manera indefinida bajo </a:t>
            </a:r>
            <a:r>
              <a:rPr lang="es-ES_tradnl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las mismas condiciones iniciales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. Es decir que, asumiendo réplica, los proyectos se podrían llevar a una </a:t>
            </a:r>
            <a:r>
              <a:rPr lang="es-ES_tradnl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misma base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 de comparación.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861D6FF-B266-9277-F7C2-4BCD008BFB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018" t="15135" r="11430" b="10238"/>
          <a:stretch/>
        </p:blipFill>
        <p:spPr>
          <a:xfrm>
            <a:off x="8855251" y="2671732"/>
            <a:ext cx="2755557" cy="2730350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A36F6386-32CE-0A5E-653C-84F54B1F364A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50A15B13-F1DE-4385-B666-3DEB535120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8CB7617A-A023-FC24-CE27-013FB7DFBE6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Marcador de número de diapositiva 2">
            <a:extLst>
              <a:ext uri="{FF2B5EF4-FFF2-40B4-BE49-F238E27FC236}">
                <a16:creationId xmlns:a16="http://schemas.microsoft.com/office/drawing/2014/main" id="{47C2FCD4-6070-A5A1-FEF7-6B725AF53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7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149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F308F2AB-E0BC-D3EB-9537-BDE2F08D079D}"/>
              </a:ext>
            </a:extLst>
          </p:cNvPr>
          <p:cNvCxnSpPr/>
          <p:nvPr/>
        </p:nvCxnSpPr>
        <p:spPr>
          <a:xfrm flipV="1">
            <a:off x="8423390" y="3915322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18">
            <a:extLst>
              <a:ext uri="{FF2B5EF4-FFF2-40B4-BE49-F238E27FC236}">
                <a16:creationId xmlns:a16="http://schemas.microsoft.com/office/drawing/2014/main" id="{CC358806-F0A6-96F9-F1D8-8A3CC7E685F4}"/>
              </a:ext>
            </a:extLst>
          </p:cNvPr>
          <p:cNvCxnSpPr/>
          <p:nvPr/>
        </p:nvCxnSpPr>
        <p:spPr>
          <a:xfrm flipV="1">
            <a:off x="7805952" y="3915322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8">
            <a:extLst>
              <a:ext uri="{FF2B5EF4-FFF2-40B4-BE49-F238E27FC236}">
                <a16:creationId xmlns:a16="http://schemas.microsoft.com/office/drawing/2014/main" id="{D80166A8-9038-9E91-D0FA-9277D718515B}"/>
              </a:ext>
            </a:extLst>
          </p:cNvPr>
          <p:cNvCxnSpPr/>
          <p:nvPr/>
        </p:nvCxnSpPr>
        <p:spPr>
          <a:xfrm flipV="1">
            <a:off x="4297506" y="3884418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5026" y="2085093"/>
            <a:ext cx="10018323" cy="66302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Analicemos los siguientes dos potenciales proyectos. Usted debe escoger uno. Su costo de oportunidad es 10%. Suponiendo que 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NO SE PUEDEN 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replicar: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7172769" y="4578828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>
            <a:spLocks/>
          </p:cNvSpPr>
          <p:nvPr/>
        </p:nvSpPr>
        <p:spPr bwMode="auto">
          <a:xfrm flipH="1">
            <a:off x="7087168" y="4235608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13" name="Rectangle 12"/>
          <p:cNvSpPr>
            <a:spLocks/>
          </p:cNvSpPr>
          <p:nvPr/>
        </p:nvSpPr>
        <p:spPr bwMode="auto">
          <a:xfrm>
            <a:off x="8756088" y="4244376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6" name="Rectangle 15"/>
          <p:cNvSpPr>
            <a:spLocks/>
          </p:cNvSpPr>
          <p:nvPr/>
        </p:nvSpPr>
        <p:spPr bwMode="auto">
          <a:xfrm>
            <a:off x="6257988" y="5471145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V="1">
            <a:off x="9063007" y="3920721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>
            <a:spLocks/>
          </p:cNvSpPr>
          <p:nvPr/>
        </p:nvSpPr>
        <p:spPr bwMode="auto">
          <a:xfrm>
            <a:off x="8756088" y="3609339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22" name="Straight Arrow Connector 21"/>
          <p:cNvCxnSpPr/>
          <p:nvPr/>
        </p:nvCxnSpPr>
        <p:spPr>
          <a:xfrm>
            <a:off x="3045995" y="4547924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>
            <a:spLocks/>
          </p:cNvSpPr>
          <p:nvPr/>
        </p:nvSpPr>
        <p:spPr bwMode="auto">
          <a:xfrm flipH="1">
            <a:off x="2960394" y="4204704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28" name="Rectangle 27"/>
          <p:cNvSpPr>
            <a:spLocks/>
          </p:cNvSpPr>
          <p:nvPr/>
        </p:nvSpPr>
        <p:spPr bwMode="auto">
          <a:xfrm>
            <a:off x="3423488" y="4201418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9" name="Rectangle 38"/>
          <p:cNvSpPr>
            <a:spLocks/>
          </p:cNvSpPr>
          <p:nvPr/>
        </p:nvSpPr>
        <p:spPr bwMode="auto">
          <a:xfrm>
            <a:off x="2109733" y="5436955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94809897-1561-66E4-F938-8A32F6FA49C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6" name="Picture 2" descr="Clientes y aliados | Centro de Evaluación | Uniandes">
            <a:extLst>
              <a:ext uri="{FF2B5EF4-FFF2-40B4-BE49-F238E27FC236}">
                <a16:creationId xmlns:a16="http://schemas.microsoft.com/office/drawing/2014/main" id="{92EF2E46-FA1D-9B7A-FB86-FAA3328AF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3A7A709E-05CC-7479-0603-A525611CC9C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7172769" y="4578829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18">
            <a:extLst>
              <a:ext uri="{FF2B5EF4-FFF2-40B4-BE49-F238E27FC236}">
                <a16:creationId xmlns:a16="http://schemas.microsoft.com/office/drawing/2014/main" id="{6CBAE996-632E-627E-B912-F99AAFFB55D9}"/>
              </a:ext>
            </a:extLst>
          </p:cNvPr>
          <p:cNvCxnSpPr/>
          <p:nvPr/>
        </p:nvCxnSpPr>
        <p:spPr>
          <a:xfrm flipV="1">
            <a:off x="3680068" y="3884418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cxnSpLocks/>
          </p:cNvCxnSpPr>
          <p:nvPr/>
        </p:nvCxnSpPr>
        <p:spPr>
          <a:xfrm flipV="1">
            <a:off x="3045996" y="4547923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30">
            <a:extLst>
              <a:ext uri="{FF2B5EF4-FFF2-40B4-BE49-F238E27FC236}">
                <a16:creationId xmlns:a16="http://schemas.microsoft.com/office/drawing/2014/main" id="{2B90C806-9F13-BCE0-18EC-B5825D6429EA}"/>
              </a:ext>
            </a:extLst>
          </p:cNvPr>
          <p:cNvSpPr>
            <a:spLocks/>
          </p:cNvSpPr>
          <p:nvPr/>
        </p:nvSpPr>
        <p:spPr bwMode="auto">
          <a:xfrm>
            <a:off x="3361150" y="3572638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43" name="Rectangle 27">
            <a:extLst>
              <a:ext uri="{FF2B5EF4-FFF2-40B4-BE49-F238E27FC236}">
                <a16:creationId xmlns:a16="http://schemas.microsoft.com/office/drawing/2014/main" id="{AB11D516-6542-30A1-9C0D-5E65A858F8EA}"/>
              </a:ext>
            </a:extLst>
          </p:cNvPr>
          <p:cNvSpPr>
            <a:spLocks/>
          </p:cNvSpPr>
          <p:nvPr/>
        </p:nvSpPr>
        <p:spPr bwMode="auto">
          <a:xfrm>
            <a:off x="4040926" y="4201418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45" name="Rectangle 30">
            <a:extLst>
              <a:ext uri="{FF2B5EF4-FFF2-40B4-BE49-F238E27FC236}">
                <a16:creationId xmlns:a16="http://schemas.microsoft.com/office/drawing/2014/main" id="{894223F2-FD83-9E2B-C97D-393D50D37D38}"/>
              </a:ext>
            </a:extLst>
          </p:cNvPr>
          <p:cNvSpPr>
            <a:spLocks/>
          </p:cNvSpPr>
          <p:nvPr/>
        </p:nvSpPr>
        <p:spPr bwMode="auto">
          <a:xfrm>
            <a:off x="3978588" y="3572638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47" name="Rectangle 27">
            <a:extLst>
              <a:ext uri="{FF2B5EF4-FFF2-40B4-BE49-F238E27FC236}">
                <a16:creationId xmlns:a16="http://schemas.microsoft.com/office/drawing/2014/main" id="{C277E3F5-40E6-6763-91E2-0E9556A70F62}"/>
              </a:ext>
            </a:extLst>
          </p:cNvPr>
          <p:cNvSpPr>
            <a:spLocks/>
          </p:cNvSpPr>
          <p:nvPr/>
        </p:nvSpPr>
        <p:spPr bwMode="auto">
          <a:xfrm>
            <a:off x="7549372" y="4232322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49" name="Rectangle 30">
            <a:extLst>
              <a:ext uri="{FF2B5EF4-FFF2-40B4-BE49-F238E27FC236}">
                <a16:creationId xmlns:a16="http://schemas.microsoft.com/office/drawing/2014/main" id="{FFF478E0-46BF-40D3-76DD-D4182D2F5475}"/>
              </a:ext>
            </a:extLst>
          </p:cNvPr>
          <p:cNvSpPr>
            <a:spLocks/>
          </p:cNvSpPr>
          <p:nvPr/>
        </p:nvSpPr>
        <p:spPr bwMode="auto">
          <a:xfrm>
            <a:off x="7487034" y="3603542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50" name="Rectangle 27">
            <a:extLst>
              <a:ext uri="{FF2B5EF4-FFF2-40B4-BE49-F238E27FC236}">
                <a16:creationId xmlns:a16="http://schemas.microsoft.com/office/drawing/2014/main" id="{69375A6B-CC2D-26BB-B293-2A6A6B4BFA28}"/>
              </a:ext>
            </a:extLst>
          </p:cNvPr>
          <p:cNvSpPr>
            <a:spLocks/>
          </p:cNvSpPr>
          <p:nvPr/>
        </p:nvSpPr>
        <p:spPr bwMode="auto">
          <a:xfrm>
            <a:off x="8166810" y="4232322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51" name="Rectangle 30">
            <a:extLst>
              <a:ext uri="{FF2B5EF4-FFF2-40B4-BE49-F238E27FC236}">
                <a16:creationId xmlns:a16="http://schemas.microsoft.com/office/drawing/2014/main" id="{82CC5A37-541A-48EC-80F0-7E76FF171844}"/>
              </a:ext>
            </a:extLst>
          </p:cNvPr>
          <p:cNvSpPr>
            <a:spLocks/>
          </p:cNvSpPr>
          <p:nvPr/>
        </p:nvSpPr>
        <p:spPr bwMode="auto">
          <a:xfrm>
            <a:off x="8104472" y="3603542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52" name="Rectangle 43">
            <a:extLst>
              <a:ext uri="{FF2B5EF4-FFF2-40B4-BE49-F238E27FC236}">
                <a16:creationId xmlns:a16="http://schemas.microsoft.com/office/drawing/2014/main" id="{830371F0-7D25-2DAD-6215-9B5F2B5F5F9E}"/>
              </a:ext>
            </a:extLst>
          </p:cNvPr>
          <p:cNvSpPr>
            <a:spLocks/>
          </p:cNvSpPr>
          <p:nvPr/>
        </p:nvSpPr>
        <p:spPr bwMode="auto">
          <a:xfrm>
            <a:off x="3134279" y="3053410"/>
            <a:ext cx="16886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A</a:t>
            </a:r>
          </a:p>
        </p:txBody>
      </p:sp>
      <p:sp>
        <p:nvSpPr>
          <p:cNvPr id="53" name="Rectangle 43">
            <a:extLst>
              <a:ext uri="{FF2B5EF4-FFF2-40B4-BE49-F238E27FC236}">
                <a16:creationId xmlns:a16="http://schemas.microsoft.com/office/drawing/2014/main" id="{3910E1C2-5F9D-5C10-CF38-9268CE4092AF}"/>
              </a:ext>
            </a:extLst>
          </p:cNvPr>
          <p:cNvSpPr>
            <a:spLocks/>
          </p:cNvSpPr>
          <p:nvPr/>
        </p:nvSpPr>
        <p:spPr bwMode="auto">
          <a:xfrm>
            <a:off x="7562501" y="3053409"/>
            <a:ext cx="156593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B</a:t>
            </a:r>
          </a:p>
        </p:txBody>
      </p:sp>
      <p:sp>
        <p:nvSpPr>
          <p:cNvPr id="6" name="Marcador de número de diapositiva 2">
            <a:extLst>
              <a:ext uri="{FF2B5EF4-FFF2-40B4-BE49-F238E27FC236}">
                <a16:creationId xmlns:a16="http://schemas.microsoft.com/office/drawing/2014/main" id="{6948D81D-93BC-AADD-9C48-D12AD574B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8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213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436" y="1719022"/>
            <a:ext cx="8972384" cy="66302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Vemos como el VPN y el VAE no nos dan resultados consistentes.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146940"/>
              </p:ext>
            </p:extLst>
          </p:nvPr>
        </p:nvGraphicFramePr>
        <p:xfrm>
          <a:off x="3539487" y="5319858"/>
          <a:ext cx="507365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IBF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A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B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(10%)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$ 10,24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$ 11,74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VAE (10%)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$ 5,90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$ 4,72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6" name="Rectángulo 35">
            <a:extLst>
              <a:ext uri="{FF2B5EF4-FFF2-40B4-BE49-F238E27FC236}">
                <a16:creationId xmlns:a16="http://schemas.microsoft.com/office/drawing/2014/main" id="{1D2FE92C-D129-5BA0-7FD8-3EC9D219614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7" name="Picture 2" descr="Clientes y aliados | Centro de Evaluación | Uniandes">
            <a:extLst>
              <a:ext uri="{FF2B5EF4-FFF2-40B4-BE49-F238E27FC236}">
                <a16:creationId xmlns:a16="http://schemas.microsoft.com/office/drawing/2014/main" id="{169BE077-9786-9A2A-03DE-962665E96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Rectángulo 37">
            <a:extLst>
              <a:ext uri="{FF2B5EF4-FFF2-40B4-BE49-F238E27FC236}">
                <a16:creationId xmlns:a16="http://schemas.microsoft.com/office/drawing/2014/main" id="{E1AE9B5F-F51A-151A-A9DA-9B946F553AC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68" name="Straight Arrow Connector 18">
            <a:extLst>
              <a:ext uri="{FF2B5EF4-FFF2-40B4-BE49-F238E27FC236}">
                <a16:creationId xmlns:a16="http://schemas.microsoft.com/office/drawing/2014/main" id="{A465D4E3-C84F-DFFF-44FE-84D553A5EAC8}"/>
              </a:ext>
            </a:extLst>
          </p:cNvPr>
          <p:cNvCxnSpPr/>
          <p:nvPr/>
        </p:nvCxnSpPr>
        <p:spPr>
          <a:xfrm flipV="1">
            <a:off x="8567164" y="322801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18">
            <a:extLst>
              <a:ext uri="{FF2B5EF4-FFF2-40B4-BE49-F238E27FC236}">
                <a16:creationId xmlns:a16="http://schemas.microsoft.com/office/drawing/2014/main" id="{1E20B450-4BFB-A0DA-0B03-60D641B1EE42}"/>
              </a:ext>
            </a:extLst>
          </p:cNvPr>
          <p:cNvCxnSpPr/>
          <p:nvPr/>
        </p:nvCxnSpPr>
        <p:spPr>
          <a:xfrm flipV="1">
            <a:off x="7949726" y="322801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18">
            <a:extLst>
              <a:ext uri="{FF2B5EF4-FFF2-40B4-BE49-F238E27FC236}">
                <a16:creationId xmlns:a16="http://schemas.microsoft.com/office/drawing/2014/main" id="{CE53A494-D8BA-C137-7682-6B160C0125CF}"/>
              </a:ext>
            </a:extLst>
          </p:cNvPr>
          <p:cNvCxnSpPr/>
          <p:nvPr/>
        </p:nvCxnSpPr>
        <p:spPr>
          <a:xfrm flipV="1">
            <a:off x="4372269" y="326035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4">
            <a:extLst>
              <a:ext uri="{FF2B5EF4-FFF2-40B4-BE49-F238E27FC236}">
                <a16:creationId xmlns:a16="http://schemas.microsoft.com/office/drawing/2014/main" id="{3AD65EB3-41F9-0AC0-CDCE-796296AA6C4D}"/>
              </a:ext>
            </a:extLst>
          </p:cNvPr>
          <p:cNvCxnSpPr/>
          <p:nvPr/>
        </p:nvCxnSpPr>
        <p:spPr>
          <a:xfrm>
            <a:off x="7316543" y="3891521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6">
            <a:extLst>
              <a:ext uri="{FF2B5EF4-FFF2-40B4-BE49-F238E27FC236}">
                <a16:creationId xmlns:a16="http://schemas.microsoft.com/office/drawing/2014/main" id="{8BCA6BFB-BE49-A14F-F879-992D0A67816E}"/>
              </a:ext>
            </a:extLst>
          </p:cNvPr>
          <p:cNvSpPr>
            <a:spLocks/>
          </p:cNvSpPr>
          <p:nvPr/>
        </p:nvSpPr>
        <p:spPr bwMode="auto">
          <a:xfrm flipH="1">
            <a:off x="7230942" y="3548301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73" name="Rectangle 12">
            <a:extLst>
              <a:ext uri="{FF2B5EF4-FFF2-40B4-BE49-F238E27FC236}">
                <a16:creationId xmlns:a16="http://schemas.microsoft.com/office/drawing/2014/main" id="{083B5AB1-1399-B269-0502-FDDE6DB671BA}"/>
              </a:ext>
            </a:extLst>
          </p:cNvPr>
          <p:cNvSpPr>
            <a:spLocks/>
          </p:cNvSpPr>
          <p:nvPr/>
        </p:nvSpPr>
        <p:spPr bwMode="auto">
          <a:xfrm>
            <a:off x="8899862" y="3557069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74" name="Rectangle 15">
            <a:extLst>
              <a:ext uri="{FF2B5EF4-FFF2-40B4-BE49-F238E27FC236}">
                <a16:creationId xmlns:a16="http://schemas.microsoft.com/office/drawing/2014/main" id="{AA3355A5-9170-111A-C8CE-2D00EC87413C}"/>
              </a:ext>
            </a:extLst>
          </p:cNvPr>
          <p:cNvSpPr>
            <a:spLocks/>
          </p:cNvSpPr>
          <p:nvPr/>
        </p:nvSpPr>
        <p:spPr bwMode="auto">
          <a:xfrm>
            <a:off x="6401762" y="4783838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75" name="Straight Arrow Connector 18">
            <a:extLst>
              <a:ext uri="{FF2B5EF4-FFF2-40B4-BE49-F238E27FC236}">
                <a16:creationId xmlns:a16="http://schemas.microsoft.com/office/drawing/2014/main" id="{0873B8B4-6914-5431-FC0F-EADABFDFFBD4}"/>
              </a:ext>
            </a:extLst>
          </p:cNvPr>
          <p:cNvCxnSpPr/>
          <p:nvPr/>
        </p:nvCxnSpPr>
        <p:spPr>
          <a:xfrm flipV="1">
            <a:off x="9206781" y="3233414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20">
            <a:extLst>
              <a:ext uri="{FF2B5EF4-FFF2-40B4-BE49-F238E27FC236}">
                <a16:creationId xmlns:a16="http://schemas.microsoft.com/office/drawing/2014/main" id="{23CA799A-E74D-8546-093E-825FCDB50DDD}"/>
              </a:ext>
            </a:extLst>
          </p:cNvPr>
          <p:cNvSpPr>
            <a:spLocks/>
          </p:cNvSpPr>
          <p:nvPr/>
        </p:nvSpPr>
        <p:spPr bwMode="auto">
          <a:xfrm>
            <a:off x="8899863" y="289899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77" name="Straight Arrow Connector 21">
            <a:extLst>
              <a:ext uri="{FF2B5EF4-FFF2-40B4-BE49-F238E27FC236}">
                <a16:creationId xmlns:a16="http://schemas.microsoft.com/office/drawing/2014/main" id="{680D4F62-AF07-A8F1-CAB9-91AD5B9FFC58}"/>
              </a:ext>
            </a:extLst>
          </p:cNvPr>
          <p:cNvCxnSpPr/>
          <p:nvPr/>
        </p:nvCxnSpPr>
        <p:spPr>
          <a:xfrm>
            <a:off x="3120758" y="3923859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23">
            <a:extLst>
              <a:ext uri="{FF2B5EF4-FFF2-40B4-BE49-F238E27FC236}">
                <a16:creationId xmlns:a16="http://schemas.microsoft.com/office/drawing/2014/main" id="{A774A7F7-71D5-D2CD-CA2E-216DBC04F6DB}"/>
              </a:ext>
            </a:extLst>
          </p:cNvPr>
          <p:cNvSpPr>
            <a:spLocks/>
          </p:cNvSpPr>
          <p:nvPr/>
        </p:nvSpPr>
        <p:spPr bwMode="auto">
          <a:xfrm flipH="1">
            <a:off x="3035157" y="3580639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79" name="Rectangle 27">
            <a:extLst>
              <a:ext uri="{FF2B5EF4-FFF2-40B4-BE49-F238E27FC236}">
                <a16:creationId xmlns:a16="http://schemas.microsoft.com/office/drawing/2014/main" id="{E2D3CB73-A4C8-BF0A-3E03-091DCBA158BC}"/>
              </a:ext>
            </a:extLst>
          </p:cNvPr>
          <p:cNvSpPr>
            <a:spLocks/>
          </p:cNvSpPr>
          <p:nvPr/>
        </p:nvSpPr>
        <p:spPr bwMode="auto">
          <a:xfrm>
            <a:off x="3498251" y="3577353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80" name="Rectangle 38">
            <a:extLst>
              <a:ext uri="{FF2B5EF4-FFF2-40B4-BE49-F238E27FC236}">
                <a16:creationId xmlns:a16="http://schemas.microsoft.com/office/drawing/2014/main" id="{232ED999-4656-88EA-61F8-9A504848CB55}"/>
              </a:ext>
            </a:extLst>
          </p:cNvPr>
          <p:cNvSpPr>
            <a:spLocks/>
          </p:cNvSpPr>
          <p:nvPr/>
        </p:nvSpPr>
        <p:spPr bwMode="auto">
          <a:xfrm>
            <a:off x="2166185" y="4767389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cxnSp>
        <p:nvCxnSpPr>
          <p:cNvPr id="81" name="Straight Connector 16">
            <a:extLst>
              <a:ext uri="{FF2B5EF4-FFF2-40B4-BE49-F238E27FC236}">
                <a16:creationId xmlns:a16="http://schemas.microsoft.com/office/drawing/2014/main" id="{06FE6AFF-B299-7A48-A626-6FC8CB2A6A76}"/>
              </a:ext>
            </a:extLst>
          </p:cNvPr>
          <p:cNvCxnSpPr/>
          <p:nvPr/>
        </p:nvCxnSpPr>
        <p:spPr>
          <a:xfrm>
            <a:off x="7316543" y="3891522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18">
            <a:extLst>
              <a:ext uri="{FF2B5EF4-FFF2-40B4-BE49-F238E27FC236}">
                <a16:creationId xmlns:a16="http://schemas.microsoft.com/office/drawing/2014/main" id="{F9F8A3D9-F726-0723-4B6C-7702F4102364}"/>
              </a:ext>
            </a:extLst>
          </p:cNvPr>
          <p:cNvCxnSpPr/>
          <p:nvPr/>
        </p:nvCxnSpPr>
        <p:spPr>
          <a:xfrm flipV="1">
            <a:off x="3754831" y="326035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32">
            <a:extLst>
              <a:ext uri="{FF2B5EF4-FFF2-40B4-BE49-F238E27FC236}">
                <a16:creationId xmlns:a16="http://schemas.microsoft.com/office/drawing/2014/main" id="{FF9283C0-0EAD-83D3-5CFA-4DAFED1C0AB5}"/>
              </a:ext>
            </a:extLst>
          </p:cNvPr>
          <p:cNvCxnSpPr>
            <a:cxnSpLocks/>
          </p:cNvCxnSpPr>
          <p:nvPr/>
        </p:nvCxnSpPr>
        <p:spPr>
          <a:xfrm flipV="1">
            <a:off x="3120759" y="3923858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30">
            <a:extLst>
              <a:ext uri="{FF2B5EF4-FFF2-40B4-BE49-F238E27FC236}">
                <a16:creationId xmlns:a16="http://schemas.microsoft.com/office/drawing/2014/main" id="{309F5651-0F66-3FDD-0AF9-A5247A0146AD}"/>
              </a:ext>
            </a:extLst>
          </p:cNvPr>
          <p:cNvSpPr>
            <a:spLocks/>
          </p:cNvSpPr>
          <p:nvPr/>
        </p:nvSpPr>
        <p:spPr bwMode="auto">
          <a:xfrm>
            <a:off x="3435913" y="294857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85" name="Rectangle 27">
            <a:extLst>
              <a:ext uri="{FF2B5EF4-FFF2-40B4-BE49-F238E27FC236}">
                <a16:creationId xmlns:a16="http://schemas.microsoft.com/office/drawing/2014/main" id="{2383681E-0736-A3C2-8D6F-AE4963539251}"/>
              </a:ext>
            </a:extLst>
          </p:cNvPr>
          <p:cNvSpPr>
            <a:spLocks/>
          </p:cNvSpPr>
          <p:nvPr/>
        </p:nvSpPr>
        <p:spPr bwMode="auto">
          <a:xfrm>
            <a:off x="4115689" y="3577353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86" name="Rectangle 30">
            <a:extLst>
              <a:ext uri="{FF2B5EF4-FFF2-40B4-BE49-F238E27FC236}">
                <a16:creationId xmlns:a16="http://schemas.microsoft.com/office/drawing/2014/main" id="{B7C7836F-8864-7CF1-C464-2E525795BEFF}"/>
              </a:ext>
            </a:extLst>
          </p:cNvPr>
          <p:cNvSpPr>
            <a:spLocks/>
          </p:cNvSpPr>
          <p:nvPr/>
        </p:nvSpPr>
        <p:spPr bwMode="auto">
          <a:xfrm>
            <a:off x="4053351" y="294857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87" name="Rectangle 27">
            <a:extLst>
              <a:ext uri="{FF2B5EF4-FFF2-40B4-BE49-F238E27FC236}">
                <a16:creationId xmlns:a16="http://schemas.microsoft.com/office/drawing/2014/main" id="{E675D5B0-F970-2702-DAE3-E8373913B720}"/>
              </a:ext>
            </a:extLst>
          </p:cNvPr>
          <p:cNvSpPr>
            <a:spLocks/>
          </p:cNvSpPr>
          <p:nvPr/>
        </p:nvSpPr>
        <p:spPr bwMode="auto">
          <a:xfrm>
            <a:off x="7693146" y="354501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88" name="Rectangle 30">
            <a:extLst>
              <a:ext uri="{FF2B5EF4-FFF2-40B4-BE49-F238E27FC236}">
                <a16:creationId xmlns:a16="http://schemas.microsoft.com/office/drawing/2014/main" id="{428AC85A-7885-E1FA-D9A0-FE854AEF8BA0}"/>
              </a:ext>
            </a:extLst>
          </p:cNvPr>
          <p:cNvSpPr>
            <a:spLocks/>
          </p:cNvSpPr>
          <p:nvPr/>
        </p:nvSpPr>
        <p:spPr bwMode="auto">
          <a:xfrm>
            <a:off x="7630808" y="291623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89" name="Rectangle 27">
            <a:extLst>
              <a:ext uri="{FF2B5EF4-FFF2-40B4-BE49-F238E27FC236}">
                <a16:creationId xmlns:a16="http://schemas.microsoft.com/office/drawing/2014/main" id="{5FA0688D-DBF7-C4BC-C9A0-5DC7CA8846A9}"/>
              </a:ext>
            </a:extLst>
          </p:cNvPr>
          <p:cNvSpPr>
            <a:spLocks/>
          </p:cNvSpPr>
          <p:nvPr/>
        </p:nvSpPr>
        <p:spPr bwMode="auto">
          <a:xfrm>
            <a:off x="8310584" y="354501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90" name="Rectangle 30">
            <a:extLst>
              <a:ext uri="{FF2B5EF4-FFF2-40B4-BE49-F238E27FC236}">
                <a16:creationId xmlns:a16="http://schemas.microsoft.com/office/drawing/2014/main" id="{238E0999-CC42-0A3D-0D77-F51268B97201}"/>
              </a:ext>
            </a:extLst>
          </p:cNvPr>
          <p:cNvSpPr>
            <a:spLocks/>
          </p:cNvSpPr>
          <p:nvPr/>
        </p:nvSpPr>
        <p:spPr bwMode="auto">
          <a:xfrm>
            <a:off x="8248246" y="291623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91" name="Rectangle 43">
            <a:extLst>
              <a:ext uri="{FF2B5EF4-FFF2-40B4-BE49-F238E27FC236}">
                <a16:creationId xmlns:a16="http://schemas.microsoft.com/office/drawing/2014/main" id="{6BF006A9-A227-A190-D3AE-C2E38F60D8C2}"/>
              </a:ext>
            </a:extLst>
          </p:cNvPr>
          <p:cNvSpPr>
            <a:spLocks/>
          </p:cNvSpPr>
          <p:nvPr/>
        </p:nvSpPr>
        <p:spPr bwMode="auto">
          <a:xfrm>
            <a:off x="3120758" y="2439464"/>
            <a:ext cx="16886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A</a:t>
            </a:r>
          </a:p>
        </p:txBody>
      </p:sp>
      <p:sp>
        <p:nvSpPr>
          <p:cNvPr id="92" name="Rectangle 43">
            <a:extLst>
              <a:ext uri="{FF2B5EF4-FFF2-40B4-BE49-F238E27FC236}">
                <a16:creationId xmlns:a16="http://schemas.microsoft.com/office/drawing/2014/main" id="{E0EDD2BF-5298-11A9-5261-BFBADE612CEE}"/>
              </a:ext>
            </a:extLst>
          </p:cNvPr>
          <p:cNvSpPr>
            <a:spLocks/>
          </p:cNvSpPr>
          <p:nvPr/>
        </p:nvSpPr>
        <p:spPr bwMode="auto">
          <a:xfrm>
            <a:off x="7742354" y="2439463"/>
            <a:ext cx="156593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B</a:t>
            </a:r>
          </a:p>
        </p:txBody>
      </p:sp>
      <p:sp>
        <p:nvSpPr>
          <p:cNvPr id="94" name="Rectángulo 93">
            <a:extLst>
              <a:ext uri="{FF2B5EF4-FFF2-40B4-BE49-F238E27FC236}">
                <a16:creationId xmlns:a16="http://schemas.microsoft.com/office/drawing/2014/main" id="{248F7624-D53A-2108-432E-C06D25E54070}"/>
              </a:ext>
            </a:extLst>
          </p:cNvPr>
          <p:cNvSpPr/>
          <p:nvPr/>
        </p:nvSpPr>
        <p:spPr>
          <a:xfrm>
            <a:off x="3438812" y="5630309"/>
            <a:ext cx="1887166" cy="452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6722B5B7-EE69-023E-78B1-851D79D21A67}"/>
              </a:ext>
            </a:extLst>
          </p:cNvPr>
          <p:cNvSpPr/>
          <p:nvPr/>
        </p:nvSpPr>
        <p:spPr>
          <a:xfrm>
            <a:off x="6844504" y="5630309"/>
            <a:ext cx="1887166" cy="452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Marcador de número de diapositiva 2">
            <a:extLst>
              <a:ext uri="{FF2B5EF4-FFF2-40B4-BE49-F238E27FC236}">
                <a16:creationId xmlns:a16="http://schemas.microsoft.com/office/drawing/2014/main" id="{EFA8CD2D-E607-23B0-A097-89ECAF3A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9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151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 animBg="1"/>
      <p:bldP spid="9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0DFA4-258E-0390-EED0-94044A557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1229-6CB5-B880-E29A-6612FF8F9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5F3B8-FEEF-B64E-5B05-4C14B118A2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941" y="1780034"/>
            <a:ext cx="8972384" cy="66302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Y si hiciéramos análisis marginal con un indicador como B/C.</a:t>
            </a:r>
            <a:r>
              <a:rPr lang="es-ES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  <a:endParaRPr lang="es-ES_tradnl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25235CD-2D2A-C3B9-9876-B212F4824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18438"/>
              </p:ext>
            </p:extLst>
          </p:nvPr>
        </p:nvGraphicFramePr>
        <p:xfrm>
          <a:off x="1516525" y="5182485"/>
          <a:ext cx="507365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IBF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A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B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(10%)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$ 10,24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$ 11,74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VAE (10%)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$ 5,90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2000" b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$ 4,72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B/C (B-A)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" sz="20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1,09</a:t>
                      </a:r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CO" sz="20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491353"/>
                  </a:ext>
                </a:extLst>
              </a:tr>
            </a:tbl>
          </a:graphicData>
        </a:graphic>
      </p:graphicFrame>
      <p:sp>
        <p:nvSpPr>
          <p:cNvPr id="36" name="Rectángulo 35">
            <a:extLst>
              <a:ext uri="{FF2B5EF4-FFF2-40B4-BE49-F238E27FC236}">
                <a16:creationId xmlns:a16="http://schemas.microsoft.com/office/drawing/2014/main" id="{66433DBD-A6BB-5431-D8BD-562191A63AB3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7" name="Picture 2" descr="Clientes y aliados | Centro de Evaluación | Uniandes">
            <a:extLst>
              <a:ext uri="{FF2B5EF4-FFF2-40B4-BE49-F238E27FC236}">
                <a16:creationId xmlns:a16="http://schemas.microsoft.com/office/drawing/2014/main" id="{E70C2ECD-B8FB-A26A-2C2F-D059B0F613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Rectángulo 37">
            <a:extLst>
              <a:ext uri="{FF2B5EF4-FFF2-40B4-BE49-F238E27FC236}">
                <a16:creationId xmlns:a16="http://schemas.microsoft.com/office/drawing/2014/main" id="{9A477770-05F3-C4B3-2DDC-E4F784D3AF3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081DCB0-94CE-25B2-5C66-679454A7B6E7}"/>
              </a:ext>
            </a:extLst>
          </p:cNvPr>
          <p:cNvSpPr txBox="1"/>
          <p:nvPr/>
        </p:nvSpPr>
        <p:spPr>
          <a:xfrm>
            <a:off x="7077689" y="5355972"/>
            <a:ext cx="280284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Se confirma que el proyecto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B</a:t>
            </a: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 es más conveniente que el A </a:t>
            </a:r>
            <a:r>
              <a:rPr lang="es-ES" sz="18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si no se puede replicar</a:t>
            </a: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.</a:t>
            </a:r>
            <a:endParaRPr lang="es-CO" b="1" dirty="0"/>
          </a:p>
        </p:txBody>
      </p:sp>
      <p:cxnSp>
        <p:nvCxnSpPr>
          <p:cNvPr id="10" name="Straight Arrow Connector 18">
            <a:extLst>
              <a:ext uri="{FF2B5EF4-FFF2-40B4-BE49-F238E27FC236}">
                <a16:creationId xmlns:a16="http://schemas.microsoft.com/office/drawing/2014/main" id="{09371196-9E94-05EE-3952-D6ABDE4D6390}"/>
              </a:ext>
            </a:extLst>
          </p:cNvPr>
          <p:cNvCxnSpPr/>
          <p:nvPr/>
        </p:nvCxnSpPr>
        <p:spPr>
          <a:xfrm flipV="1">
            <a:off x="8567164" y="322801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8">
            <a:extLst>
              <a:ext uri="{FF2B5EF4-FFF2-40B4-BE49-F238E27FC236}">
                <a16:creationId xmlns:a16="http://schemas.microsoft.com/office/drawing/2014/main" id="{22952E16-C696-EBEA-8F32-BEDDDE702D47}"/>
              </a:ext>
            </a:extLst>
          </p:cNvPr>
          <p:cNvCxnSpPr/>
          <p:nvPr/>
        </p:nvCxnSpPr>
        <p:spPr>
          <a:xfrm flipV="1">
            <a:off x="7949726" y="322801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8">
            <a:extLst>
              <a:ext uri="{FF2B5EF4-FFF2-40B4-BE49-F238E27FC236}">
                <a16:creationId xmlns:a16="http://schemas.microsoft.com/office/drawing/2014/main" id="{676A2BEA-0D89-4ACC-A0D5-CA9BF90433FF}"/>
              </a:ext>
            </a:extLst>
          </p:cNvPr>
          <p:cNvCxnSpPr/>
          <p:nvPr/>
        </p:nvCxnSpPr>
        <p:spPr>
          <a:xfrm flipV="1">
            <a:off x="4372269" y="326035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4">
            <a:extLst>
              <a:ext uri="{FF2B5EF4-FFF2-40B4-BE49-F238E27FC236}">
                <a16:creationId xmlns:a16="http://schemas.microsoft.com/office/drawing/2014/main" id="{431366F9-084D-DAAB-EE66-9F943C5385E8}"/>
              </a:ext>
            </a:extLst>
          </p:cNvPr>
          <p:cNvCxnSpPr/>
          <p:nvPr/>
        </p:nvCxnSpPr>
        <p:spPr>
          <a:xfrm>
            <a:off x="7316543" y="3891521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6">
            <a:extLst>
              <a:ext uri="{FF2B5EF4-FFF2-40B4-BE49-F238E27FC236}">
                <a16:creationId xmlns:a16="http://schemas.microsoft.com/office/drawing/2014/main" id="{8B3C6B05-779B-7FAC-B421-9616B301D005}"/>
              </a:ext>
            </a:extLst>
          </p:cNvPr>
          <p:cNvSpPr>
            <a:spLocks/>
          </p:cNvSpPr>
          <p:nvPr/>
        </p:nvSpPr>
        <p:spPr bwMode="auto">
          <a:xfrm flipH="1">
            <a:off x="7230942" y="3548301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43574D44-75F3-1671-A4B6-6D81D4BF19E7}"/>
              </a:ext>
            </a:extLst>
          </p:cNvPr>
          <p:cNvSpPr>
            <a:spLocks/>
          </p:cNvSpPr>
          <p:nvPr/>
        </p:nvSpPr>
        <p:spPr bwMode="auto">
          <a:xfrm>
            <a:off x="8899862" y="3557069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7F1052-9092-3F3C-815A-2F623552E839}"/>
              </a:ext>
            </a:extLst>
          </p:cNvPr>
          <p:cNvSpPr>
            <a:spLocks/>
          </p:cNvSpPr>
          <p:nvPr/>
        </p:nvSpPr>
        <p:spPr bwMode="auto">
          <a:xfrm>
            <a:off x="6401762" y="4783838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17" name="Straight Arrow Connector 18">
            <a:extLst>
              <a:ext uri="{FF2B5EF4-FFF2-40B4-BE49-F238E27FC236}">
                <a16:creationId xmlns:a16="http://schemas.microsoft.com/office/drawing/2014/main" id="{CE03EBFE-D65D-C977-9553-01D47CD51A76}"/>
              </a:ext>
            </a:extLst>
          </p:cNvPr>
          <p:cNvCxnSpPr/>
          <p:nvPr/>
        </p:nvCxnSpPr>
        <p:spPr>
          <a:xfrm flipV="1">
            <a:off x="9206781" y="3233414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0">
            <a:extLst>
              <a:ext uri="{FF2B5EF4-FFF2-40B4-BE49-F238E27FC236}">
                <a16:creationId xmlns:a16="http://schemas.microsoft.com/office/drawing/2014/main" id="{390CB764-84DE-B0C1-EDBA-3F3C6798AEB1}"/>
              </a:ext>
            </a:extLst>
          </p:cNvPr>
          <p:cNvSpPr>
            <a:spLocks/>
          </p:cNvSpPr>
          <p:nvPr/>
        </p:nvSpPr>
        <p:spPr bwMode="auto">
          <a:xfrm>
            <a:off x="8899863" y="289899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19" name="Straight Arrow Connector 21">
            <a:extLst>
              <a:ext uri="{FF2B5EF4-FFF2-40B4-BE49-F238E27FC236}">
                <a16:creationId xmlns:a16="http://schemas.microsoft.com/office/drawing/2014/main" id="{9ED15FCD-701C-064D-C0BF-8FF867ED856D}"/>
              </a:ext>
            </a:extLst>
          </p:cNvPr>
          <p:cNvCxnSpPr/>
          <p:nvPr/>
        </p:nvCxnSpPr>
        <p:spPr>
          <a:xfrm>
            <a:off x="3120758" y="3923859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3">
            <a:extLst>
              <a:ext uri="{FF2B5EF4-FFF2-40B4-BE49-F238E27FC236}">
                <a16:creationId xmlns:a16="http://schemas.microsoft.com/office/drawing/2014/main" id="{DB94A740-ADF1-6D91-2A15-3D46023D7ED8}"/>
              </a:ext>
            </a:extLst>
          </p:cNvPr>
          <p:cNvSpPr>
            <a:spLocks/>
          </p:cNvSpPr>
          <p:nvPr/>
        </p:nvSpPr>
        <p:spPr bwMode="auto">
          <a:xfrm flipH="1">
            <a:off x="3035157" y="3580639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21" name="Rectangle 27">
            <a:extLst>
              <a:ext uri="{FF2B5EF4-FFF2-40B4-BE49-F238E27FC236}">
                <a16:creationId xmlns:a16="http://schemas.microsoft.com/office/drawing/2014/main" id="{B7318D4E-77B0-B0AE-ACE6-F13FE7DCF2B4}"/>
              </a:ext>
            </a:extLst>
          </p:cNvPr>
          <p:cNvSpPr>
            <a:spLocks/>
          </p:cNvSpPr>
          <p:nvPr/>
        </p:nvSpPr>
        <p:spPr bwMode="auto">
          <a:xfrm>
            <a:off x="3498251" y="3577353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22" name="Rectangle 38">
            <a:extLst>
              <a:ext uri="{FF2B5EF4-FFF2-40B4-BE49-F238E27FC236}">
                <a16:creationId xmlns:a16="http://schemas.microsoft.com/office/drawing/2014/main" id="{0068E024-F53B-82E5-F30B-0F3B4BE49572}"/>
              </a:ext>
            </a:extLst>
          </p:cNvPr>
          <p:cNvSpPr>
            <a:spLocks/>
          </p:cNvSpPr>
          <p:nvPr/>
        </p:nvSpPr>
        <p:spPr bwMode="auto">
          <a:xfrm>
            <a:off x="2166185" y="4767389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cxnSp>
        <p:nvCxnSpPr>
          <p:cNvPr id="23" name="Straight Connector 16">
            <a:extLst>
              <a:ext uri="{FF2B5EF4-FFF2-40B4-BE49-F238E27FC236}">
                <a16:creationId xmlns:a16="http://schemas.microsoft.com/office/drawing/2014/main" id="{CB940DDC-9DBA-9270-E73D-75A7A2E79C2A}"/>
              </a:ext>
            </a:extLst>
          </p:cNvPr>
          <p:cNvCxnSpPr/>
          <p:nvPr/>
        </p:nvCxnSpPr>
        <p:spPr>
          <a:xfrm>
            <a:off x="7316543" y="3891522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18">
            <a:extLst>
              <a:ext uri="{FF2B5EF4-FFF2-40B4-BE49-F238E27FC236}">
                <a16:creationId xmlns:a16="http://schemas.microsoft.com/office/drawing/2014/main" id="{7DC71BEB-0FAF-3C61-6943-A067DB8CBB00}"/>
              </a:ext>
            </a:extLst>
          </p:cNvPr>
          <p:cNvCxnSpPr/>
          <p:nvPr/>
        </p:nvCxnSpPr>
        <p:spPr>
          <a:xfrm flipV="1">
            <a:off x="3754831" y="326035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36638796-64BD-EA43-D862-BA3FDE3716E6}"/>
              </a:ext>
            </a:extLst>
          </p:cNvPr>
          <p:cNvCxnSpPr>
            <a:cxnSpLocks/>
          </p:cNvCxnSpPr>
          <p:nvPr/>
        </p:nvCxnSpPr>
        <p:spPr>
          <a:xfrm flipV="1">
            <a:off x="3120759" y="3923858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BEB06878-06E2-131B-E207-167B4BFAD605}"/>
              </a:ext>
            </a:extLst>
          </p:cNvPr>
          <p:cNvSpPr>
            <a:spLocks/>
          </p:cNvSpPr>
          <p:nvPr/>
        </p:nvSpPr>
        <p:spPr bwMode="auto">
          <a:xfrm>
            <a:off x="3435913" y="294857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27" name="Rectangle 27">
            <a:extLst>
              <a:ext uri="{FF2B5EF4-FFF2-40B4-BE49-F238E27FC236}">
                <a16:creationId xmlns:a16="http://schemas.microsoft.com/office/drawing/2014/main" id="{34B9AEDD-23B1-A1B0-BB8A-610CC746B146}"/>
              </a:ext>
            </a:extLst>
          </p:cNvPr>
          <p:cNvSpPr>
            <a:spLocks/>
          </p:cNvSpPr>
          <p:nvPr/>
        </p:nvSpPr>
        <p:spPr bwMode="auto">
          <a:xfrm>
            <a:off x="4115689" y="3577353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21E771F0-0047-67AF-0FCD-145F759C32D4}"/>
              </a:ext>
            </a:extLst>
          </p:cNvPr>
          <p:cNvSpPr>
            <a:spLocks/>
          </p:cNvSpPr>
          <p:nvPr/>
        </p:nvSpPr>
        <p:spPr bwMode="auto">
          <a:xfrm>
            <a:off x="4053351" y="294857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F5749BF5-5F94-867C-1E26-4758BED918B0}"/>
              </a:ext>
            </a:extLst>
          </p:cNvPr>
          <p:cNvSpPr>
            <a:spLocks/>
          </p:cNvSpPr>
          <p:nvPr/>
        </p:nvSpPr>
        <p:spPr bwMode="auto">
          <a:xfrm>
            <a:off x="7693146" y="354501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0" name="Rectangle 30">
            <a:extLst>
              <a:ext uri="{FF2B5EF4-FFF2-40B4-BE49-F238E27FC236}">
                <a16:creationId xmlns:a16="http://schemas.microsoft.com/office/drawing/2014/main" id="{3BDDE49C-72B8-6244-0F7D-C408D43D9356}"/>
              </a:ext>
            </a:extLst>
          </p:cNvPr>
          <p:cNvSpPr>
            <a:spLocks/>
          </p:cNvSpPr>
          <p:nvPr/>
        </p:nvSpPr>
        <p:spPr bwMode="auto">
          <a:xfrm>
            <a:off x="7630808" y="291623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31" name="Rectangle 27">
            <a:extLst>
              <a:ext uri="{FF2B5EF4-FFF2-40B4-BE49-F238E27FC236}">
                <a16:creationId xmlns:a16="http://schemas.microsoft.com/office/drawing/2014/main" id="{DC2867A4-A383-7BDA-D420-E09D97F710D3}"/>
              </a:ext>
            </a:extLst>
          </p:cNvPr>
          <p:cNvSpPr>
            <a:spLocks/>
          </p:cNvSpPr>
          <p:nvPr/>
        </p:nvSpPr>
        <p:spPr bwMode="auto">
          <a:xfrm>
            <a:off x="8310584" y="354501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3" name="Rectangle 30">
            <a:extLst>
              <a:ext uri="{FF2B5EF4-FFF2-40B4-BE49-F238E27FC236}">
                <a16:creationId xmlns:a16="http://schemas.microsoft.com/office/drawing/2014/main" id="{B0E0E3EE-00D2-E679-9041-C41BFADDFCD9}"/>
              </a:ext>
            </a:extLst>
          </p:cNvPr>
          <p:cNvSpPr>
            <a:spLocks/>
          </p:cNvSpPr>
          <p:nvPr/>
        </p:nvSpPr>
        <p:spPr bwMode="auto">
          <a:xfrm>
            <a:off x="8248246" y="291623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34" name="Rectangle 43">
            <a:extLst>
              <a:ext uri="{FF2B5EF4-FFF2-40B4-BE49-F238E27FC236}">
                <a16:creationId xmlns:a16="http://schemas.microsoft.com/office/drawing/2014/main" id="{806E4C24-7835-CA6D-1317-C2D985AE0C81}"/>
              </a:ext>
            </a:extLst>
          </p:cNvPr>
          <p:cNvSpPr>
            <a:spLocks/>
          </p:cNvSpPr>
          <p:nvPr/>
        </p:nvSpPr>
        <p:spPr bwMode="auto">
          <a:xfrm>
            <a:off x="3120758" y="2439464"/>
            <a:ext cx="16886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A</a:t>
            </a:r>
          </a:p>
        </p:txBody>
      </p:sp>
      <p:sp>
        <p:nvSpPr>
          <p:cNvPr id="35" name="Rectangle 43">
            <a:extLst>
              <a:ext uri="{FF2B5EF4-FFF2-40B4-BE49-F238E27FC236}">
                <a16:creationId xmlns:a16="http://schemas.microsoft.com/office/drawing/2014/main" id="{A729387E-149A-1A8E-F346-178DE0E04301}"/>
              </a:ext>
            </a:extLst>
          </p:cNvPr>
          <p:cNvSpPr>
            <a:spLocks/>
          </p:cNvSpPr>
          <p:nvPr/>
        </p:nvSpPr>
        <p:spPr bwMode="auto">
          <a:xfrm>
            <a:off x="7742354" y="2439463"/>
            <a:ext cx="156593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B</a:t>
            </a:r>
          </a:p>
        </p:txBody>
      </p:sp>
      <p:sp>
        <p:nvSpPr>
          <p:cNvPr id="5" name="Marcador de número de diapositiva 2">
            <a:extLst>
              <a:ext uri="{FF2B5EF4-FFF2-40B4-BE49-F238E27FC236}">
                <a16:creationId xmlns:a16="http://schemas.microsoft.com/office/drawing/2014/main" id="{616723EA-19A2-AF8A-B917-917D9707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10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30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4075" y="1832539"/>
            <a:ext cx="7610476" cy="66302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_tradnl" sz="20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</a:rPr>
              <a:t>Si asumimos que los proyectos </a:t>
            </a:r>
            <a:r>
              <a:rPr lang="es-ES_tradnl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SÍ SE PUEDEN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  <a:r>
              <a:rPr lang="es-ES_tradnl" sz="20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</a:rPr>
              <a:t>replicar.</a:t>
            </a:r>
          </a:p>
        </p:txBody>
      </p:sp>
      <p:sp>
        <p:nvSpPr>
          <p:cNvPr id="13" name="CuadroTexto 12"/>
          <p:cNvSpPr txBox="1"/>
          <p:nvPr/>
        </p:nvSpPr>
        <p:spPr>
          <a:xfrm>
            <a:off x="750152" y="2921197"/>
            <a:ext cx="592503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Clr>
                <a:schemeClr val="accent2"/>
              </a:buClr>
              <a:buFont typeface="+mj-lt"/>
              <a:buAutoNum type="arabicPeriod"/>
            </a:pP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Encontrar una vida útil común: </a:t>
            </a:r>
            <a:r>
              <a:rPr lang="es-CO" sz="2000" b="1" dirty="0">
                <a:solidFill>
                  <a:srgbClr val="00B050"/>
                </a:solidFill>
                <a:latin typeface="Century Gothic" panose="020B0502020202020204" pitchFamily="34" charset="0"/>
              </a:rPr>
              <a:t>Mínimo Común Múltiplo</a:t>
            </a:r>
          </a:p>
          <a:p>
            <a:pPr marL="342900" indent="-342900">
              <a:buAutoNum type="arabicParenR"/>
            </a:pPr>
            <a:endParaRPr lang="es-CO" sz="2000" dirty="0">
              <a:latin typeface="Century Gothic" panose="020B0502020202020204" pitchFamily="34" charset="0"/>
            </a:endParaRPr>
          </a:p>
          <a:p>
            <a:pPr algn="ctr"/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6 años  </a:t>
            </a:r>
          </a:p>
          <a:p>
            <a:pPr algn="ctr"/>
            <a:endParaRPr lang="es-CO" sz="2000" dirty="0">
              <a:solidFill>
                <a:srgbClr val="C00000"/>
              </a:solidFill>
              <a:latin typeface="Century Gothic" panose="020B0502020202020204" pitchFamily="34" charset="0"/>
            </a:endParaRPr>
          </a:p>
          <a:p>
            <a:endParaRPr lang="es-CO" sz="2000" dirty="0">
              <a:latin typeface="Century Gothic" panose="020B0502020202020204" pitchFamily="34" charset="0"/>
            </a:endParaRPr>
          </a:p>
          <a:p>
            <a:endParaRPr lang="es-CO" sz="2000" dirty="0">
              <a:latin typeface="Century Gothic" panose="020B0502020202020204" pitchFamily="34" charset="0"/>
            </a:endParaRPr>
          </a:p>
          <a:p>
            <a:endParaRPr lang="es-CO" sz="2000" dirty="0">
              <a:solidFill>
                <a:srgbClr val="C0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46AB9D7-6911-43C3-895E-BD043A8E9882}"/>
              </a:ext>
            </a:extLst>
          </p:cNvPr>
          <p:cNvSpPr/>
          <p:nvPr/>
        </p:nvSpPr>
        <p:spPr>
          <a:xfrm>
            <a:off x="740705" y="5456718"/>
            <a:ext cx="855021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buClr>
                <a:schemeClr val="accent2"/>
              </a:buClr>
              <a:buFont typeface="+mj-lt"/>
              <a:buAutoNum type="arabicPeriod" startAt="2"/>
            </a:pP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La inversión Inicial vuelve a empezar el último periodo donde acaba el proyecto original.</a:t>
            </a:r>
          </a:p>
        </p:txBody>
      </p:sp>
      <p:pic>
        <p:nvPicPr>
          <p:cNvPr id="1026" name="Picture 2" descr="Icono de ilustración de dibujos animados de bombilla de vector en estilo  cómic | Vector Premium">
            <a:extLst>
              <a:ext uri="{FF2B5EF4-FFF2-40B4-BE49-F238E27FC236}">
                <a16:creationId xmlns:a16="http://schemas.microsoft.com/office/drawing/2014/main" id="{477CAA2A-AF0A-E9C1-840E-7F100F272A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76" t="10422" r="7608" b="10239"/>
          <a:stretch/>
        </p:blipFill>
        <p:spPr bwMode="auto">
          <a:xfrm>
            <a:off x="9476585" y="5311968"/>
            <a:ext cx="1492964" cy="1370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ángulo 33">
            <a:extLst>
              <a:ext uri="{FF2B5EF4-FFF2-40B4-BE49-F238E27FC236}">
                <a16:creationId xmlns:a16="http://schemas.microsoft.com/office/drawing/2014/main" id="{2D3D880B-35FB-B59F-15FA-7BA006B11A1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5" name="Picture 2" descr="Clientes y aliados | Centro de Evaluación | Uniandes">
            <a:extLst>
              <a:ext uri="{FF2B5EF4-FFF2-40B4-BE49-F238E27FC236}">
                <a16:creationId xmlns:a16="http://schemas.microsoft.com/office/drawing/2014/main" id="{286F8693-3F60-3FE5-9B34-C7B5FCB5FB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ángulo 35">
            <a:extLst>
              <a:ext uri="{FF2B5EF4-FFF2-40B4-BE49-F238E27FC236}">
                <a16:creationId xmlns:a16="http://schemas.microsoft.com/office/drawing/2014/main" id="{2DEFE0C2-1A94-74E4-340E-AE7AAC73056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1029" name="Straight Arrow Connector 18">
            <a:extLst>
              <a:ext uri="{FF2B5EF4-FFF2-40B4-BE49-F238E27FC236}">
                <a16:creationId xmlns:a16="http://schemas.microsoft.com/office/drawing/2014/main" id="{4DE22697-62F5-D9F6-CC55-2FC2CC482905}"/>
              </a:ext>
            </a:extLst>
          </p:cNvPr>
          <p:cNvCxnSpPr/>
          <p:nvPr/>
        </p:nvCxnSpPr>
        <p:spPr>
          <a:xfrm flipV="1">
            <a:off x="10994578" y="345697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Straight Arrow Connector 18">
            <a:extLst>
              <a:ext uri="{FF2B5EF4-FFF2-40B4-BE49-F238E27FC236}">
                <a16:creationId xmlns:a16="http://schemas.microsoft.com/office/drawing/2014/main" id="{BAFA4276-2532-00F8-02F9-45D0F213467F}"/>
              </a:ext>
            </a:extLst>
          </p:cNvPr>
          <p:cNvCxnSpPr/>
          <p:nvPr/>
        </p:nvCxnSpPr>
        <p:spPr>
          <a:xfrm flipV="1">
            <a:off x="10377140" y="345697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Arrow Connector 18">
            <a:extLst>
              <a:ext uri="{FF2B5EF4-FFF2-40B4-BE49-F238E27FC236}">
                <a16:creationId xmlns:a16="http://schemas.microsoft.com/office/drawing/2014/main" id="{6E5E7E9E-E9C5-014D-97C5-4D82C12BC6D2}"/>
              </a:ext>
            </a:extLst>
          </p:cNvPr>
          <p:cNvCxnSpPr/>
          <p:nvPr/>
        </p:nvCxnSpPr>
        <p:spPr>
          <a:xfrm flipV="1">
            <a:off x="8646583" y="349456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Straight Arrow Connector 4">
            <a:extLst>
              <a:ext uri="{FF2B5EF4-FFF2-40B4-BE49-F238E27FC236}">
                <a16:creationId xmlns:a16="http://schemas.microsoft.com/office/drawing/2014/main" id="{67034489-1DD6-5684-7534-DF2037470D59}"/>
              </a:ext>
            </a:extLst>
          </p:cNvPr>
          <p:cNvCxnSpPr/>
          <p:nvPr/>
        </p:nvCxnSpPr>
        <p:spPr>
          <a:xfrm>
            <a:off x="9743957" y="4120481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Rectangle 6">
            <a:extLst>
              <a:ext uri="{FF2B5EF4-FFF2-40B4-BE49-F238E27FC236}">
                <a16:creationId xmlns:a16="http://schemas.microsoft.com/office/drawing/2014/main" id="{DBF665F2-0E73-7965-FDA2-4D2A5A715C01}"/>
              </a:ext>
            </a:extLst>
          </p:cNvPr>
          <p:cNvSpPr>
            <a:spLocks/>
          </p:cNvSpPr>
          <p:nvPr/>
        </p:nvSpPr>
        <p:spPr bwMode="auto">
          <a:xfrm flipH="1">
            <a:off x="9658356" y="3777261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1034" name="Rectangle 12">
            <a:extLst>
              <a:ext uri="{FF2B5EF4-FFF2-40B4-BE49-F238E27FC236}">
                <a16:creationId xmlns:a16="http://schemas.microsoft.com/office/drawing/2014/main" id="{7829F40B-0DA5-4021-1B4D-AD40F9962A80}"/>
              </a:ext>
            </a:extLst>
          </p:cNvPr>
          <p:cNvSpPr>
            <a:spLocks/>
          </p:cNvSpPr>
          <p:nvPr/>
        </p:nvSpPr>
        <p:spPr bwMode="auto">
          <a:xfrm>
            <a:off x="11327276" y="3786029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035" name="Rectangle 15">
            <a:extLst>
              <a:ext uri="{FF2B5EF4-FFF2-40B4-BE49-F238E27FC236}">
                <a16:creationId xmlns:a16="http://schemas.microsoft.com/office/drawing/2014/main" id="{44A00CAC-0072-D59A-C0E7-E4E7F8D3B998}"/>
              </a:ext>
            </a:extLst>
          </p:cNvPr>
          <p:cNvSpPr>
            <a:spLocks/>
          </p:cNvSpPr>
          <p:nvPr/>
        </p:nvSpPr>
        <p:spPr bwMode="auto">
          <a:xfrm>
            <a:off x="8829176" y="5012798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1036" name="Straight Arrow Connector 18">
            <a:extLst>
              <a:ext uri="{FF2B5EF4-FFF2-40B4-BE49-F238E27FC236}">
                <a16:creationId xmlns:a16="http://schemas.microsoft.com/office/drawing/2014/main" id="{E390B6A6-8E75-8481-3955-0AB1D78C9A0C}"/>
              </a:ext>
            </a:extLst>
          </p:cNvPr>
          <p:cNvCxnSpPr/>
          <p:nvPr/>
        </p:nvCxnSpPr>
        <p:spPr>
          <a:xfrm flipV="1">
            <a:off x="11634195" y="3462374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7" name="Rectangle 20">
            <a:extLst>
              <a:ext uri="{FF2B5EF4-FFF2-40B4-BE49-F238E27FC236}">
                <a16:creationId xmlns:a16="http://schemas.microsoft.com/office/drawing/2014/main" id="{75A34059-A69C-3DCF-35BC-3BAD5D504B3B}"/>
              </a:ext>
            </a:extLst>
          </p:cNvPr>
          <p:cNvSpPr>
            <a:spLocks/>
          </p:cNvSpPr>
          <p:nvPr/>
        </p:nvSpPr>
        <p:spPr bwMode="auto">
          <a:xfrm>
            <a:off x="11327277" y="312795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1038" name="Straight Arrow Connector 21">
            <a:extLst>
              <a:ext uri="{FF2B5EF4-FFF2-40B4-BE49-F238E27FC236}">
                <a16:creationId xmlns:a16="http://schemas.microsoft.com/office/drawing/2014/main" id="{737B886A-D689-582D-AA85-CB4B4BB3C74C}"/>
              </a:ext>
            </a:extLst>
          </p:cNvPr>
          <p:cNvCxnSpPr/>
          <p:nvPr/>
        </p:nvCxnSpPr>
        <p:spPr>
          <a:xfrm>
            <a:off x="7395072" y="4158071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ectangle 23">
            <a:extLst>
              <a:ext uri="{FF2B5EF4-FFF2-40B4-BE49-F238E27FC236}">
                <a16:creationId xmlns:a16="http://schemas.microsoft.com/office/drawing/2014/main" id="{05AA30A2-8597-E4C6-53B5-BF2FC399D220}"/>
              </a:ext>
            </a:extLst>
          </p:cNvPr>
          <p:cNvSpPr>
            <a:spLocks/>
          </p:cNvSpPr>
          <p:nvPr/>
        </p:nvSpPr>
        <p:spPr bwMode="auto">
          <a:xfrm flipH="1">
            <a:off x="7309471" y="3814851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1040" name="Rectangle 27">
            <a:extLst>
              <a:ext uri="{FF2B5EF4-FFF2-40B4-BE49-F238E27FC236}">
                <a16:creationId xmlns:a16="http://schemas.microsoft.com/office/drawing/2014/main" id="{7FA94465-E29B-7A7D-9B74-D5F5F0450AF3}"/>
              </a:ext>
            </a:extLst>
          </p:cNvPr>
          <p:cNvSpPr>
            <a:spLocks/>
          </p:cNvSpPr>
          <p:nvPr/>
        </p:nvSpPr>
        <p:spPr bwMode="auto">
          <a:xfrm>
            <a:off x="7772565" y="381156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1041" name="Rectangle 38">
            <a:extLst>
              <a:ext uri="{FF2B5EF4-FFF2-40B4-BE49-F238E27FC236}">
                <a16:creationId xmlns:a16="http://schemas.microsoft.com/office/drawing/2014/main" id="{3A6E14F4-2DA8-A3C1-1FA0-48C69E51F3C0}"/>
              </a:ext>
            </a:extLst>
          </p:cNvPr>
          <p:cNvSpPr>
            <a:spLocks/>
          </p:cNvSpPr>
          <p:nvPr/>
        </p:nvSpPr>
        <p:spPr bwMode="auto">
          <a:xfrm>
            <a:off x="6440499" y="5001601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cxnSp>
        <p:nvCxnSpPr>
          <p:cNvPr id="1042" name="Straight Connector 16">
            <a:extLst>
              <a:ext uri="{FF2B5EF4-FFF2-40B4-BE49-F238E27FC236}">
                <a16:creationId xmlns:a16="http://schemas.microsoft.com/office/drawing/2014/main" id="{1D038E6E-24F1-7E3B-B29F-DA2889C11ED0}"/>
              </a:ext>
            </a:extLst>
          </p:cNvPr>
          <p:cNvCxnSpPr/>
          <p:nvPr/>
        </p:nvCxnSpPr>
        <p:spPr>
          <a:xfrm>
            <a:off x="9743957" y="4120482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Straight Arrow Connector 18">
            <a:extLst>
              <a:ext uri="{FF2B5EF4-FFF2-40B4-BE49-F238E27FC236}">
                <a16:creationId xmlns:a16="http://schemas.microsoft.com/office/drawing/2014/main" id="{4F34544E-B4EF-1963-0437-B22223514F51}"/>
              </a:ext>
            </a:extLst>
          </p:cNvPr>
          <p:cNvCxnSpPr/>
          <p:nvPr/>
        </p:nvCxnSpPr>
        <p:spPr>
          <a:xfrm flipV="1">
            <a:off x="8029145" y="349456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Connector 32">
            <a:extLst>
              <a:ext uri="{FF2B5EF4-FFF2-40B4-BE49-F238E27FC236}">
                <a16:creationId xmlns:a16="http://schemas.microsoft.com/office/drawing/2014/main" id="{A803F151-36E4-3121-C50B-B4BD6865A88C}"/>
              </a:ext>
            </a:extLst>
          </p:cNvPr>
          <p:cNvCxnSpPr>
            <a:cxnSpLocks/>
          </p:cNvCxnSpPr>
          <p:nvPr/>
        </p:nvCxnSpPr>
        <p:spPr>
          <a:xfrm flipV="1">
            <a:off x="7395073" y="4158070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Rectangle 30">
            <a:extLst>
              <a:ext uri="{FF2B5EF4-FFF2-40B4-BE49-F238E27FC236}">
                <a16:creationId xmlns:a16="http://schemas.microsoft.com/office/drawing/2014/main" id="{2394F16E-23A7-5CCB-9EB1-34A5AEBB7FA6}"/>
              </a:ext>
            </a:extLst>
          </p:cNvPr>
          <p:cNvSpPr>
            <a:spLocks/>
          </p:cNvSpPr>
          <p:nvPr/>
        </p:nvSpPr>
        <p:spPr bwMode="auto">
          <a:xfrm>
            <a:off x="7710227" y="318278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046" name="Rectangle 27">
            <a:extLst>
              <a:ext uri="{FF2B5EF4-FFF2-40B4-BE49-F238E27FC236}">
                <a16:creationId xmlns:a16="http://schemas.microsoft.com/office/drawing/2014/main" id="{8C2AB0D3-7748-415C-218C-682FCAC86786}"/>
              </a:ext>
            </a:extLst>
          </p:cNvPr>
          <p:cNvSpPr>
            <a:spLocks/>
          </p:cNvSpPr>
          <p:nvPr/>
        </p:nvSpPr>
        <p:spPr bwMode="auto">
          <a:xfrm>
            <a:off x="8390003" y="381156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1047" name="Rectangle 30">
            <a:extLst>
              <a:ext uri="{FF2B5EF4-FFF2-40B4-BE49-F238E27FC236}">
                <a16:creationId xmlns:a16="http://schemas.microsoft.com/office/drawing/2014/main" id="{29640C9F-99D5-B796-D05F-BE3F77C548AD}"/>
              </a:ext>
            </a:extLst>
          </p:cNvPr>
          <p:cNvSpPr>
            <a:spLocks/>
          </p:cNvSpPr>
          <p:nvPr/>
        </p:nvSpPr>
        <p:spPr bwMode="auto">
          <a:xfrm>
            <a:off x="8327665" y="318278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048" name="Rectangle 27">
            <a:extLst>
              <a:ext uri="{FF2B5EF4-FFF2-40B4-BE49-F238E27FC236}">
                <a16:creationId xmlns:a16="http://schemas.microsoft.com/office/drawing/2014/main" id="{1900A49A-52C0-FD27-4C15-CDBF511A5EE7}"/>
              </a:ext>
            </a:extLst>
          </p:cNvPr>
          <p:cNvSpPr>
            <a:spLocks/>
          </p:cNvSpPr>
          <p:nvPr/>
        </p:nvSpPr>
        <p:spPr bwMode="auto">
          <a:xfrm>
            <a:off x="10120560" y="377397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1049" name="Rectangle 30">
            <a:extLst>
              <a:ext uri="{FF2B5EF4-FFF2-40B4-BE49-F238E27FC236}">
                <a16:creationId xmlns:a16="http://schemas.microsoft.com/office/drawing/2014/main" id="{9BF28F8F-EA06-4CCB-FF6F-D36B9E3F3335}"/>
              </a:ext>
            </a:extLst>
          </p:cNvPr>
          <p:cNvSpPr>
            <a:spLocks/>
          </p:cNvSpPr>
          <p:nvPr/>
        </p:nvSpPr>
        <p:spPr bwMode="auto">
          <a:xfrm>
            <a:off x="10058222" y="314519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050" name="Rectangle 27">
            <a:extLst>
              <a:ext uri="{FF2B5EF4-FFF2-40B4-BE49-F238E27FC236}">
                <a16:creationId xmlns:a16="http://schemas.microsoft.com/office/drawing/2014/main" id="{8FF502EA-190A-E718-A2AC-DD2C5A7E73A5}"/>
              </a:ext>
            </a:extLst>
          </p:cNvPr>
          <p:cNvSpPr>
            <a:spLocks/>
          </p:cNvSpPr>
          <p:nvPr/>
        </p:nvSpPr>
        <p:spPr bwMode="auto">
          <a:xfrm>
            <a:off x="10737998" y="377397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1051" name="Rectangle 30">
            <a:extLst>
              <a:ext uri="{FF2B5EF4-FFF2-40B4-BE49-F238E27FC236}">
                <a16:creationId xmlns:a16="http://schemas.microsoft.com/office/drawing/2014/main" id="{B885548A-D93A-8FB6-B4CE-E7ECBD82CF27}"/>
              </a:ext>
            </a:extLst>
          </p:cNvPr>
          <p:cNvSpPr>
            <a:spLocks/>
          </p:cNvSpPr>
          <p:nvPr/>
        </p:nvSpPr>
        <p:spPr bwMode="auto">
          <a:xfrm>
            <a:off x="10675660" y="314519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052" name="Rectangle 43">
            <a:extLst>
              <a:ext uri="{FF2B5EF4-FFF2-40B4-BE49-F238E27FC236}">
                <a16:creationId xmlns:a16="http://schemas.microsoft.com/office/drawing/2014/main" id="{8D722C92-D828-8942-D168-F37EA2AB39A4}"/>
              </a:ext>
            </a:extLst>
          </p:cNvPr>
          <p:cNvSpPr>
            <a:spLocks/>
          </p:cNvSpPr>
          <p:nvPr/>
        </p:nvSpPr>
        <p:spPr bwMode="auto">
          <a:xfrm>
            <a:off x="7395072" y="2673676"/>
            <a:ext cx="16886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A</a:t>
            </a:r>
          </a:p>
        </p:txBody>
      </p:sp>
      <p:sp>
        <p:nvSpPr>
          <p:cNvPr id="1053" name="Rectangle 43">
            <a:extLst>
              <a:ext uri="{FF2B5EF4-FFF2-40B4-BE49-F238E27FC236}">
                <a16:creationId xmlns:a16="http://schemas.microsoft.com/office/drawing/2014/main" id="{00B4261D-450C-D1E2-CBE5-B3E3C6D6CECE}"/>
              </a:ext>
            </a:extLst>
          </p:cNvPr>
          <p:cNvSpPr>
            <a:spLocks/>
          </p:cNvSpPr>
          <p:nvPr/>
        </p:nvSpPr>
        <p:spPr bwMode="auto">
          <a:xfrm>
            <a:off x="10221011" y="2707043"/>
            <a:ext cx="156593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B</a:t>
            </a:r>
          </a:p>
        </p:txBody>
      </p:sp>
      <p:sp>
        <p:nvSpPr>
          <p:cNvPr id="6" name="Marcador de número de diapositiva 2">
            <a:extLst>
              <a:ext uri="{FF2B5EF4-FFF2-40B4-BE49-F238E27FC236}">
                <a16:creationId xmlns:a16="http://schemas.microsoft.com/office/drawing/2014/main" id="{A8A3AEBC-37F4-9ABE-E54E-6534A507B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11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473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0" name="Straight Arrow Connector 18">
            <a:extLst>
              <a:ext uri="{FF2B5EF4-FFF2-40B4-BE49-F238E27FC236}">
                <a16:creationId xmlns:a16="http://schemas.microsoft.com/office/drawing/2014/main" id="{61E0EC4B-AE21-C571-8A5B-FF2112BB560A}"/>
              </a:ext>
            </a:extLst>
          </p:cNvPr>
          <p:cNvCxnSpPr/>
          <p:nvPr/>
        </p:nvCxnSpPr>
        <p:spPr>
          <a:xfrm flipV="1">
            <a:off x="9667432" y="3561924"/>
            <a:ext cx="0" cy="658107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8">
            <a:extLst>
              <a:ext uri="{FF2B5EF4-FFF2-40B4-BE49-F238E27FC236}">
                <a16:creationId xmlns:a16="http://schemas.microsoft.com/office/drawing/2014/main" id="{6B870789-2D3E-A212-71EB-95C466B7ED53}"/>
              </a:ext>
            </a:extLst>
          </p:cNvPr>
          <p:cNvCxnSpPr/>
          <p:nvPr/>
        </p:nvCxnSpPr>
        <p:spPr>
          <a:xfrm flipV="1">
            <a:off x="9049994" y="3561924"/>
            <a:ext cx="0" cy="658107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4">
            <a:extLst>
              <a:ext uri="{FF2B5EF4-FFF2-40B4-BE49-F238E27FC236}">
                <a16:creationId xmlns:a16="http://schemas.microsoft.com/office/drawing/2014/main" id="{A0226EB4-137B-EC72-6690-BE4F6FB54DBA}"/>
              </a:ext>
            </a:extLst>
          </p:cNvPr>
          <p:cNvCxnSpPr/>
          <p:nvPr/>
        </p:nvCxnSpPr>
        <p:spPr>
          <a:xfrm>
            <a:off x="8399558" y="4236932"/>
            <a:ext cx="0" cy="843530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2">
            <a:extLst>
              <a:ext uri="{FF2B5EF4-FFF2-40B4-BE49-F238E27FC236}">
                <a16:creationId xmlns:a16="http://schemas.microsoft.com/office/drawing/2014/main" id="{CCD17573-3BEA-E1C3-7EA8-716EF123B1DF}"/>
              </a:ext>
            </a:extLst>
          </p:cNvPr>
          <p:cNvSpPr>
            <a:spLocks/>
          </p:cNvSpPr>
          <p:nvPr/>
        </p:nvSpPr>
        <p:spPr bwMode="auto">
          <a:xfrm>
            <a:off x="10000130" y="3902480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6</a:t>
            </a:r>
          </a:p>
        </p:txBody>
      </p:sp>
      <p:sp>
        <p:nvSpPr>
          <p:cNvPr id="134" name="Rectangle 15">
            <a:extLst>
              <a:ext uri="{FF2B5EF4-FFF2-40B4-BE49-F238E27FC236}">
                <a16:creationId xmlns:a16="http://schemas.microsoft.com/office/drawing/2014/main" id="{B5FAA806-5376-E432-FB6C-D7BA489ACC89}"/>
              </a:ext>
            </a:extLst>
          </p:cNvPr>
          <p:cNvSpPr>
            <a:spLocks/>
          </p:cNvSpPr>
          <p:nvPr/>
        </p:nvSpPr>
        <p:spPr bwMode="auto">
          <a:xfrm>
            <a:off x="7502030" y="5129249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135" name="Straight Arrow Connector 18">
            <a:extLst>
              <a:ext uri="{FF2B5EF4-FFF2-40B4-BE49-F238E27FC236}">
                <a16:creationId xmlns:a16="http://schemas.microsoft.com/office/drawing/2014/main" id="{DD41FE7D-34B3-5BF4-7302-9CAF1894D229}"/>
              </a:ext>
            </a:extLst>
          </p:cNvPr>
          <p:cNvCxnSpPr/>
          <p:nvPr/>
        </p:nvCxnSpPr>
        <p:spPr>
          <a:xfrm flipV="1">
            <a:off x="10307049" y="3567323"/>
            <a:ext cx="0" cy="658107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20">
            <a:extLst>
              <a:ext uri="{FF2B5EF4-FFF2-40B4-BE49-F238E27FC236}">
                <a16:creationId xmlns:a16="http://schemas.microsoft.com/office/drawing/2014/main" id="{0BB73078-8940-8F1F-D17E-A6FF040A14EF}"/>
              </a:ext>
            </a:extLst>
          </p:cNvPr>
          <p:cNvSpPr>
            <a:spLocks/>
          </p:cNvSpPr>
          <p:nvPr/>
        </p:nvSpPr>
        <p:spPr bwMode="auto">
          <a:xfrm>
            <a:off x="10000131" y="3244404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37" name="Rectangle 27">
            <a:extLst>
              <a:ext uri="{FF2B5EF4-FFF2-40B4-BE49-F238E27FC236}">
                <a16:creationId xmlns:a16="http://schemas.microsoft.com/office/drawing/2014/main" id="{EAE04B1E-14FB-35C5-C6FC-D5CEC818FD23}"/>
              </a:ext>
            </a:extLst>
          </p:cNvPr>
          <p:cNvSpPr>
            <a:spLocks/>
          </p:cNvSpPr>
          <p:nvPr/>
        </p:nvSpPr>
        <p:spPr bwMode="auto">
          <a:xfrm>
            <a:off x="8793414" y="3890426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138" name="Rectangle 30">
            <a:extLst>
              <a:ext uri="{FF2B5EF4-FFF2-40B4-BE49-F238E27FC236}">
                <a16:creationId xmlns:a16="http://schemas.microsoft.com/office/drawing/2014/main" id="{B01209B9-E8DA-8109-A588-741B5A0FDAFE}"/>
              </a:ext>
            </a:extLst>
          </p:cNvPr>
          <p:cNvSpPr>
            <a:spLocks/>
          </p:cNvSpPr>
          <p:nvPr/>
        </p:nvSpPr>
        <p:spPr bwMode="auto">
          <a:xfrm>
            <a:off x="8731076" y="3261646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39" name="Rectangle 27">
            <a:extLst>
              <a:ext uri="{FF2B5EF4-FFF2-40B4-BE49-F238E27FC236}">
                <a16:creationId xmlns:a16="http://schemas.microsoft.com/office/drawing/2014/main" id="{5BCACE22-0108-6832-1340-5247EF44A055}"/>
              </a:ext>
            </a:extLst>
          </p:cNvPr>
          <p:cNvSpPr>
            <a:spLocks/>
          </p:cNvSpPr>
          <p:nvPr/>
        </p:nvSpPr>
        <p:spPr bwMode="auto">
          <a:xfrm>
            <a:off x="9410852" y="3890426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5</a:t>
            </a:r>
          </a:p>
        </p:txBody>
      </p:sp>
      <p:sp>
        <p:nvSpPr>
          <p:cNvPr id="140" name="Rectangle 30">
            <a:extLst>
              <a:ext uri="{FF2B5EF4-FFF2-40B4-BE49-F238E27FC236}">
                <a16:creationId xmlns:a16="http://schemas.microsoft.com/office/drawing/2014/main" id="{DD371DF9-7861-D740-4B11-6256F365BC9C}"/>
              </a:ext>
            </a:extLst>
          </p:cNvPr>
          <p:cNvSpPr>
            <a:spLocks/>
          </p:cNvSpPr>
          <p:nvPr/>
        </p:nvSpPr>
        <p:spPr bwMode="auto">
          <a:xfrm>
            <a:off x="9348514" y="3261646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122" name="Straight Arrow Connector 18">
            <a:extLst>
              <a:ext uri="{FF2B5EF4-FFF2-40B4-BE49-F238E27FC236}">
                <a16:creationId xmlns:a16="http://schemas.microsoft.com/office/drawing/2014/main" id="{7C647BEE-DF33-4290-D96C-3A96D3226429}"/>
              </a:ext>
            </a:extLst>
          </p:cNvPr>
          <p:cNvCxnSpPr/>
          <p:nvPr/>
        </p:nvCxnSpPr>
        <p:spPr>
          <a:xfrm flipV="1">
            <a:off x="4680959" y="3483714"/>
            <a:ext cx="0" cy="658107"/>
          </a:xfrm>
          <a:prstGeom prst="straightConnector1">
            <a:avLst/>
          </a:prstGeom>
          <a:ln w="38100">
            <a:solidFill>
              <a:srgbClr val="002F9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21">
            <a:extLst>
              <a:ext uri="{FF2B5EF4-FFF2-40B4-BE49-F238E27FC236}">
                <a16:creationId xmlns:a16="http://schemas.microsoft.com/office/drawing/2014/main" id="{5C1C583B-5968-7A33-DE20-7054C6C7A893}"/>
              </a:ext>
            </a:extLst>
          </p:cNvPr>
          <p:cNvCxnSpPr/>
          <p:nvPr/>
        </p:nvCxnSpPr>
        <p:spPr>
          <a:xfrm>
            <a:off x="3429448" y="4147220"/>
            <a:ext cx="0" cy="843530"/>
          </a:xfrm>
          <a:prstGeom prst="straightConnector1">
            <a:avLst/>
          </a:prstGeom>
          <a:ln w="38100">
            <a:solidFill>
              <a:srgbClr val="002F9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8">
            <a:extLst>
              <a:ext uri="{FF2B5EF4-FFF2-40B4-BE49-F238E27FC236}">
                <a16:creationId xmlns:a16="http://schemas.microsoft.com/office/drawing/2014/main" id="{52C8251A-D3C9-B243-6F9D-9B286D130932}"/>
              </a:ext>
            </a:extLst>
          </p:cNvPr>
          <p:cNvCxnSpPr/>
          <p:nvPr/>
        </p:nvCxnSpPr>
        <p:spPr>
          <a:xfrm flipV="1">
            <a:off x="4063521" y="3483714"/>
            <a:ext cx="0" cy="658107"/>
          </a:xfrm>
          <a:prstGeom prst="straightConnector1">
            <a:avLst/>
          </a:prstGeom>
          <a:ln w="38100">
            <a:solidFill>
              <a:srgbClr val="002F9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38">
            <a:extLst>
              <a:ext uri="{FF2B5EF4-FFF2-40B4-BE49-F238E27FC236}">
                <a16:creationId xmlns:a16="http://schemas.microsoft.com/office/drawing/2014/main" id="{3AB97C83-9E68-777C-83F7-1AA9C28D4348}"/>
              </a:ext>
            </a:extLst>
          </p:cNvPr>
          <p:cNvSpPr>
            <a:spLocks/>
          </p:cNvSpPr>
          <p:nvPr/>
        </p:nvSpPr>
        <p:spPr bwMode="auto">
          <a:xfrm>
            <a:off x="2493092" y="4990750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sp>
        <p:nvSpPr>
          <p:cNvPr id="127" name="Rectangle 30">
            <a:extLst>
              <a:ext uri="{FF2B5EF4-FFF2-40B4-BE49-F238E27FC236}">
                <a16:creationId xmlns:a16="http://schemas.microsoft.com/office/drawing/2014/main" id="{AFB55D1A-1264-BD36-AAA4-F0A48717A4B1}"/>
              </a:ext>
            </a:extLst>
          </p:cNvPr>
          <p:cNvSpPr>
            <a:spLocks/>
          </p:cNvSpPr>
          <p:nvPr/>
        </p:nvSpPr>
        <p:spPr bwMode="auto">
          <a:xfrm>
            <a:off x="3762820" y="3171934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04165B2F-742C-9873-2F56-66215CAC5C3C}"/>
              </a:ext>
            </a:extLst>
          </p:cNvPr>
          <p:cNvSpPr>
            <a:spLocks/>
          </p:cNvSpPr>
          <p:nvPr/>
        </p:nvSpPr>
        <p:spPr bwMode="auto">
          <a:xfrm>
            <a:off x="4380258" y="3171934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113" name="Straight Arrow Connector 18">
            <a:extLst>
              <a:ext uri="{FF2B5EF4-FFF2-40B4-BE49-F238E27FC236}">
                <a16:creationId xmlns:a16="http://schemas.microsoft.com/office/drawing/2014/main" id="{04E5D020-F7B2-03D4-2E57-6D36CACF28BB}"/>
              </a:ext>
            </a:extLst>
          </p:cNvPr>
          <p:cNvCxnSpPr/>
          <p:nvPr/>
        </p:nvCxnSpPr>
        <p:spPr>
          <a:xfrm flipV="1">
            <a:off x="3429449" y="3489113"/>
            <a:ext cx="0" cy="658107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21">
            <a:extLst>
              <a:ext uri="{FF2B5EF4-FFF2-40B4-BE49-F238E27FC236}">
                <a16:creationId xmlns:a16="http://schemas.microsoft.com/office/drawing/2014/main" id="{6593AD2D-34BA-FA44-C2D2-E197AC4AC3BF}"/>
              </a:ext>
            </a:extLst>
          </p:cNvPr>
          <p:cNvCxnSpPr/>
          <p:nvPr/>
        </p:nvCxnSpPr>
        <p:spPr>
          <a:xfrm>
            <a:off x="2177938" y="4152619"/>
            <a:ext cx="0" cy="843530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8">
            <a:extLst>
              <a:ext uri="{FF2B5EF4-FFF2-40B4-BE49-F238E27FC236}">
                <a16:creationId xmlns:a16="http://schemas.microsoft.com/office/drawing/2014/main" id="{9123D69C-7BCA-ADA3-4C0A-7F8A0BFF9EFF}"/>
              </a:ext>
            </a:extLst>
          </p:cNvPr>
          <p:cNvCxnSpPr/>
          <p:nvPr/>
        </p:nvCxnSpPr>
        <p:spPr>
          <a:xfrm flipV="1">
            <a:off x="2812011" y="3489113"/>
            <a:ext cx="0" cy="658107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97747" y="1916732"/>
            <a:ext cx="7610476" cy="6630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Si asumimos que los proyectos se pueden replicar.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FCC5CC3-102F-8D1F-2AB2-872EC60F5AD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7" name="Picture 2" descr="Clientes y aliados | Centro de Evaluación | Uniandes">
            <a:extLst>
              <a:ext uri="{FF2B5EF4-FFF2-40B4-BE49-F238E27FC236}">
                <a16:creationId xmlns:a16="http://schemas.microsoft.com/office/drawing/2014/main" id="{500C04F4-9C05-4ABB-10AE-AF0184F6E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Rectángulo 49">
            <a:extLst>
              <a:ext uri="{FF2B5EF4-FFF2-40B4-BE49-F238E27FC236}">
                <a16:creationId xmlns:a16="http://schemas.microsoft.com/office/drawing/2014/main" id="{C71555F2-D480-364E-239D-673B42ECA84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85" name="Straight Arrow Connector 18">
            <a:extLst>
              <a:ext uri="{FF2B5EF4-FFF2-40B4-BE49-F238E27FC236}">
                <a16:creationId xmlns:a16="http://schemas.microsoft.com/office/drawing/2014/main" id="{FF609D45-95DF-3000-FF75-EE25364859B1}"/>
              </a:ext>
            </a:extLst>
          </p:cNvPr>
          <p:cNvCxnSpPr/>
          <p:nvPr/>
        </p:nvCxnSpPr>
        <p:spPr>
          <a:xfrm flipV="1">
            <a:off x="7765116" y="3536687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18">
            <a:extLst>
              <a:ext uri="{FF2B5EF4-FFF2-40B4-BE49-F238E27FC236}">
                <a16:creationId xmlns:a16="http://schemas.microsoft.com/office/drawing/2014/main" id="{B0F8E8AF-8733-078A-11B7-8FF88502885F}"/>
              </a:ext>
            </a:extLst>
          </p:cNvPr>
          <p:cNvCxnSpPr/>
          <p:nvPr/>
        </p:nvCxnSpPr>
        <p:spPr>
          <a:xfrm flipV="1">
            <a:off x="7147678" y="3536687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18">
            <a:extLst>
              <a:ext uri="{FF2B5EF4-FFF2-40B4-BE49-F238E27FC236}">
                <a16:creationId xmlns:a16="http://schemas.microsoft.com/office/drawing/2014/main" id="{0969679D-E274-B106-6979-713A46E83600}"/>
              </a:ext>
            </a:extLst>
          </p:cNvPr>
          <p:cNvCxnSpPr/>
          <p:nvPr/>
        </p:nvCxnSpPr>
        <p:spPr>
          <a:xfrm flipV="1">
            <a:off x="2177938" y="348911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4">
            <a:extLst>
              <a:ext uri="{FF2B5EF4-FFF2-40B4-BE49-F238E27FC236}">
                <a16:creationId xmlns:a16="http://schemas.microsoft.com/office/drawing/2014/main" id="{8B32154E-126D-25B3-7FFD-D7845F145521}"/>
              </a:ext>
            </a:extLst>
          </p:cNvPr>
          <p:cNvCxnSpPr/>
          <p:nvPr/>
        </p:nvCxnSpPr>
        <p:spPr>
          <a:xfrm>
            <a:off x="6514495" y="4200193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6">
            <a:extLst>
              <a:ext uri="{FF2B5EF4-FFF2-40B4-BE49-F238E27FC236}">
                <a16:creationId xmlns:a16="http://schemas.microsoft.com/office/drawing/2014/main" id="{0251C8AC-EEBE-0BCF-FFCB-6555BA9F1063}"/>
              </a:ext>
            </a:extLst>
          </p:cNvPr>
          <p:cNvSpPr>
            <a:spLocks/>
          </p:cNvSpPr>
          <p:nvPr/>
        </p:nvSpPr>
        <p:spPr bwMode="auto">
          <a:xfrm flipH="1">
            <a:off x="6428894" y="3856973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90" name="Rectangle 12">
            <a:extLst>
              <a:ext uri="{FF2B5EF4-FFF2-40B4-BE49-F238E27FC236}">
                <a16:creationId xmlns:a16="http://schemas.microsoft.com/office/drawing/2014/main" id="{C9FD3A1E-68E3-0456-D6A8-21B32E54B482}"/>
              </a:ext>
            </a:extLst>
          </p:cNvPr>
          <p:cNvSpPr>
            <a:spLocks/>
          </p:cNvSpPr>
          <p:nvPr/>
        </p:nvSpPr>
        <p:spPr bwMode="auto">
          <a:xfrm>
            <a:off x="8097814" y="386574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91" name="Rectangle 15">
            <a:extLst>
              <a:ext uri="{FF2B5EF4-FFF2-40B4-BE49-F238E27FC236}">
                <a16:creationId xmlns:a16="http://schemas.microsoft.com/office/drawing/2014/main" id="{2A827BEA-E798-4B11-324B-EE684D189CC8}"/>
              </a:ext>
            </a:extLst>
          </p:cNvPr>
          <p:cNvSpPr>
            <a:spLocks/>
          </p:cNvSpPr>
          <p:nvPr/>
        </p:nvSpPr>
        <p:spPr bwMode="auto">
          <a:xfrm>
            <a:off x="5599714" y="5092510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92" name="Straight Arrow Connector 18">
            <a:extLst>
              <a:ext uri="{FF2B5EF4-FFF2-40B4-BE49-F238E27FC236}">
                <a16:creationId xmlns:a16="http://schemas.microsoft.com/office/drawing/2014/main" id="{47C15EBA-1605-58EF-8E9D-B58C55D7E1C2}"/>
              </a:ext>
            </a:extLst>
          </p:cNvPr>
          <p:cNvCxnSpPr/>
          <p:nvPr/>
        </p:nvCxnSpPr>
        <p:spPr>
          <a:xfrm flipV="1">
            <a:off x="8404733" y="3542086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20">
            <a:extLst>
              <a:ext uri="{FF2B5EF4-FFF2-40B4-BE49-F238E27FC236}">
                <a16:creationId xmlns:a16="http://schemas.microsoft.com/office/drawing/2014/main" id="{EAF385D6-17A6-02BB-1100-1B92CD81E284}"/>
              </a:ext>
            </a:extLst>
          </p:cNvPr>
          <p:cNvSpPr>
            <a:spLocks/>
          </p:cNvSpPr>
          <p:nvPr/>
        </p:nvSpPr>
        <p:spPr bwMode="auto">
          <a:xfrm>
            <a:off x="8097815" y="320766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94" name="Straight Arrow Connector 21">
            <a:extLst>
              <a:ext uri="{FF2B5EF4-FFF2-40B4-BE49-F238E27FC236}">
                <a16:creationId xmlns:a16="http://schemas.microsoft.com/office/drawing/2014/main" id="{D64B386B-8CCE-EC70-E0EA-5788EE54173B}"/>
              </a:ext>
            </a:extLst>
          </p:cNvPr>
          <p:cNvCxnSpPr/>
          <p:nvPr/>
        </p:nvCxnSpPr>
        <p:spPr>
          <a:xfrm>
            <a:off x="926427" y="4152619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23">
            <a:extLst>
              <a:ext uri="{FF2B5EF4-FFF2-40B4-BE49-F238E27FC236}">
                <a16:creationId xmlns:a16="http://schemas.microsoft.com/office/drawing/2014/main" id="{BB3BE5AC-18ED-0ED0-2749-62071D91C207}"/>
              </a:ext>
            </a:extLst>
          </p:cNvPr>
          <p:cNvSpPr>
            <a:spLocks/>
          </p:cNvSpPr>
          <p:nvPr/>
        </p:nvSpPr>
        <p:spPr bwMode="auto">
          <a:xfrm flipH="1">
            <a:off x="840826" y="3809399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96" name="Rectangle 27">
            <a:extLst>
              <a:ext uri="{FF2B5EF4-FFF2-40B4-BE49-F238E27FC236}">
                <a16:creationId xmlns:a16="http://schemas.microsoft.com/office/drawing/2014/main" id="{480ED205-7CC3-04CE-FE8A-30ACCF8C0786}"/>
              </a:ext>
            </a:extLst>
          </p:cNvPr>
          <p:cNvSpPr>
            <a:spLocks/>
          </p:cNvSpPr>
          <p:nvPr/>
        </p:nvSpPr>
        <p:spPr bwMode="auto">
          <a:xfrm>
            <a:off x="1303920" y="3806113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97" name="Rectangle 38">
            <a:extLst>
              <a:ext uri="{FF2B5EF4-FFF2-40B4-BE49-F238E27FC236}">
                <a16:creationId xmlns:a16="http://schemas.microsoft.com/office/drawing/2014/main" id="{FD7B2896-5954-878F-3BCC-F6B89BD1B035}"/>
              </a:ext>
            </a:extLst>
          </p:cNvPr>
          <p:cNvSpPr>
            <a:spLocks/>
          </p:cNvSpPr>
          <p:nvPr/>
        </p:nvSpPr>
        <p:spPr bwMode="auto">
          <a:xfrm>
            <a:off x="-28146" y="4996149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cxnSp>
        <p:nvCxnSpPr>
          <p:cNvPr id="98" name="Straight Connector 16">
            <a:extLst>
              <a:ext uri="{FF2B5EF4-FFF2-40B4-BE49-F238E27FC236}">
                <a16:creationId xmlns:a16="http://schemas.microsoft.com/office/drawing/2014/main" id="{22C6A878-55DF-A8C1-EFD9-A1EFF2337704}"/>
              </a:ext>
            </a:extLst>
          </p:cNvPr>
          <p:cNvCxnSpPr/>
          <p:nvPr/>
        </p:nvCxnSpPr>
        <p:spPr>
          <a:xfrm>
            <a:off x="6514495" y="4200194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18">
            <a:extLst>
              <a:ext uri="{FF2B5EF4-FFF2-40B4-BE49-F238E27FC236}">
                <a16:creationId xmlns:a16="http://schemas.microsoft.com/office/drawing/2014/main" id="{17AFF2B1-73A4-B432-3B51-ACF0A69FA64D}"/>
              </a:ext>
            </a:extLst>
          </p:cNvPr>
          <p:cNvCxnSpPr/>
          <p:nvPr/>
        </p:nvCxnSpPr>
        <p:spPr>
          <a:xfrm flipV="1">
            <a:off x="1560500" y="348911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32">
            <a:extLst>
              <a:ext uri="{FF2B5EF4-FFF2-40B4-BE49-F238E27FC236}">
                <a16:creationId xmlns:a16="http://schemas.microsoft.com/office/drawing/2014/main" id="{0A569D01-6C6E-450D-1452-8A1554628E8B}"/>
              </a:ext>
            </a:extLst>
          </p:cNvPr>
          <p:cNvCxnSpPr>
            <a:cxnSpLocks/>
          </p:cNvCxnSpPr>
          <p:nvPr/>
        </p:nvCxnSpPr>
        <p:spPr>
          <a:xfrm flipV="1">
            <a:off x="926428" y="4152618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30">
            <a:extLst>
              <a:ext uri="{FF2B5EF4-FFF2-40B4-BE49-F238E27FC236}">
                <a16:creationId xmlns:a16="http://schemas.microsoft.com/office/drawing/2014/main" id="{A16379FF-2339-42F6-61A2-2FAEB70A2A50}"/>
              </a:ext>
            </a:extLst>
          </p:cNvPr>
          <p:cNvSpPr>
            <a:spLocks/>
          </p:cNvSpPr>
          <p:nvPr/>
        </p:nvSpPr>
        <p:spPr bwMode="auto">
          <a:xfrm>
            <a:off x="1241582" y="317733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02" name="Rectangle 27">
            <a:extLst>
              <a:ext uri="{FF2B5EF4-FFF2-40B4-BE49-F238E27FC236}">
                <a16:creationId xmlns:a16="http://schemas.microsoft.com/office/drawing/2014/main" id="{90F94109-5DD9-58FF-1597-5C9251BF6E1A}"/>
              </a:ext>
            </a:extLst>
          </p:cNvPr>
          <p:cNvSpPr>
            <a:spLocks/>
          </p:cNvSpPr>
          <p:nvPr/>
        </p:nvSpPr>
        <p:spPr bwMode="auto">
          <a:xfrm>
            <a:off x="1921358" y="3806113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103" name="Rectangle 30">
            <a:extLst>
              <a:ext uri="{FF2B5EF4-FFF2-40B4-BE49-F238E27FC236}">
                <a16:creationId xmlns:a16="http://schemas.microsoft.com/office/drawing/2014/main" id="{DC018219-0543-C8FA-8F0E-928053F78CD5}"/>
              </a:ext>
            </a:extLst>
          </p:cNvPr>
          <p:cNvSpPr>
            <a:spLocks/>
          </p:cNvSpPr>
          <p:nvPr/>
        </p:nvSpPr>
        <p:spPr bwMode="auto">
          <a:xfrm>
            <a:off x="1859020" y="317733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04" name="Rectangle 27">
            <a:extLst>
              <a:ext uri="{FF2B5EF4-FFF2-40B4-BE49-F238E27FC236}">
                <a16:creationId xmlns:a16="http://schemas.microsoft.com/office/drawing/2014/main" id="{5751C488-EBC4-31AE-4AED-9B36E895046E}"/>
              </a:ext>
            </a:extLst>
          </p:cNvPr>
          <p:cNvSpPr>
            <a:spLocks/>
          </p:cNvSpPr>
          <p:nvPr/>
        </p:nvSpPr>
        <p:spPr bwMode="auto">
          <a:xfrm>
            <a:off x="6891098" y="3853687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105" name="Rectangle 30">
            <a:extLst>
              <a:ext uri="{FF2B5EF4-FFF2-40B4-BE49-F238E27FC236}">
                <a16:creationId xmlns:a16="http://schemas.microsoft.com/office/drawing/2014/main" id="{ABFC8EB6-D33E-05A2-223A-41BFDB3DE1C5}"/>
              </a:ext>
            </a:extLst>
          </p:cNvPr>
          <p:cNvSpPr>
            <a:spLocks/>
          </p:cNvSpPr>
          <p:nvPr/>
        </p:nvSpPr>
        <p:spPr bwMode="auto">
          <a:xfrm>
            <a:off x="6828760" y="3224907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06" name="Rectangle 27">
            <a:extLst>
              <a:ext uri="{FF2B5EF4-FFF2-40B4-BE49-F238E27FC236}">
                <a16:creationId xmlns:a16="http://schemas.microsoft.com/office/drawing/2014/main" id="{9DEDD907-5D21-7AFC-6C11-E809A37AB658}"/>
              </a:ext>
            </a:extLst>
          </p:cNvPr>
          <p:cNvSpPr>
            <a:spLocks/>
          </p:cNvSpPr>
          <p:nvPr/>
        </p:nvSpPr>
        <p:spPr bwMode="auto">
          <a:xfrm>
            <a:off x="7508536" y="3853687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107" name="Rectangle 30">
            <a:extLst>
              <a:ext uri="{FF2B5EF4-FFF2-40B4-BE49-F238E27FC236}">
                <a16:creationId xmlns:a16="http://schemas.microsoft.com/office/drawing/2014/main" id="{AFA80468-A35F-0BAF-FE29-E6E1D2906A28}"/>
              </a:ext>
            </a:extLst>
          </p:cNvPr>
          <p:cNvSpPr>
            <a:spLocks/>
          </p:cNvSpPr>
          <p:nvPr/>
        </p:nvSpPr>
        <p:spPr bwMode="auto">
          <a:xfrm>
            <a:off x="7446198" y="3224907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08" name="Rectangle 43">
            <a:extLst>
              <a:ext uri="{FF2B5EF4-FFF2-40B4-BE49-F238E27FC236}">
                <a16:creationId xmlns:a16="http://schemas.microsoft.com/office/drawing/2014/main" id="{6777195D-D4C4-53E3-CA84-D8AEAE36B49D}"/>
              </a:ext>
            </a:extLst>
          </p:cNvPr>
          <p:cNvSpPr>
            <a:spLocks/>
          </p:cNvSpPr>
          <p:nvPr/>
        </p:nvSpPr>
        <p:spPr bwMode="auto">
          <a:xfrm>
            <a:off x="2130794" y="2698237"/>
            <a:ext cx="16886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A</a:t>
            </a:r>
          </a:p>
        </p:txBody>
      </p:sp>
      <p:sp>
        <p:nvSpPr>
          <p:cNvPr id="109" name="Rectangle 43">
            <a:extLst>
              <a:ext uri="{FF2B5EF4-FFF2-40B4-BE49-F238E27FC236}">
                <a16:creationId xmlns:a16="http://schemas.microsoft.com/office/drawing/2014/main" id="{AD53D2E8-A6BE-8D7D-3F75-B36BC59F935B}"/>
              </a:ext>
            </a:extLst>
          </p:cNvPr>
          <p:cNvSpPr>
            <a:spLocks/>
          </p:cNvSpPr>
          <p:nvPr/>
        </p:nvSpPr>
        <p:spPr bwMode="auto">
          <a:xfrm>
            <a:off x="7948110" y="2737539"/>
            <a:ext cx="156593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B</a:t>
            </a:r>
          </a:p>
        </p:txBody>
      </p:sp>
      <p:cxnSp>
        <p:nvCxnSpPr>
          <p:cNvPr id="110" name="Straight Connector 32">
            <a:extLst>
              <a:ext uri="{FF2B5EF4-FFF2-40B4-BE49-F238E27FC236}">
                <a16:creationId xmlns:a16="http://schemas.microsoft.com/office/drawing/2014/main" id="{9192E683-55DD-A22D-13DF-50BA616DC4D0}"/>
              </a:ext>
            </a:extLst>
          </p:cNvPr>
          <p:cNvCxnSpPr>
            <a:cxnSpLocks/>
          </p:cNvCxnSpPr>
          <p:nvPr/>
        </p:nvCxnSpPr>
        <p:spPr>
          <a:xfrm flipV="1">
            <a:off x="2180445" y="4152710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27">
            <a:extLst>
              <a:ext uri="{FF2B5EF4-FFF2-40B4-BE49-F238E27FC236}">
                <a16:creationId xmlns:a16="http://schemas.microsoft.com/office/drawing/2014/main" id="{CA40C6CC-BE2F-01D9-C355-B7086A4A8050}"/>
              </a:ext>
            </a:extLst>
          </p:cNvPr>
          <p:cNvSpPr>
            <a:spLocks/>
          </p:cNvSpPr>
          <p:nvPr/>
        </p:nvSpPr>
        <p:spPr bwMode="auto">
          <a:xfrm>
            <a:off x="2508414" y="383175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12" name="Rectangle 27">
            <a:extLst>
              <a:ext uri="{FF2B5EF4-FFF2-40B4-BE49-F238E27FC236}">
                <a16:creationId xmlns:a16="http://schemas.microsoft.com/office/drawing/2014/main" id="{6B23C0D1-2BD5-9A2B-9EC2-872E690E39CF}"/>
              </a:ext>
            </a:extLst>
          </p:cNvPr>
          <p:cNvSpPr>
            <a:spLocks/>
          </p:cNvSpPr>
          <p:nvPr/>
        </p:nvSpPr>
        <p:spPr bwMode="auto">
          <a:xfrm>
            <a:off x="3125852" y="383175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116" name="Rectangle 38">
            <a:extLst>
              <a:ext uri="{FF2B5EF4-FFF2-40B4-BE49-F238E27FC236}">
                <a16:creationId xmlns:a16="http://schemas.microsoft.com/office/drawing/2014/main" id="{DBFBF581-1E3D-2FB6-97E4-5C69C4330621}"/>
              </a:ext>
            </a:extLst>
          </p:cNvPr>
          <p:cNvSpPr>
            <a:spLocks/>
          </p:cNvSpPr>
          <p:nvPr/>
        </p:nvSpPr>
        <p:spPr bwMode="auto">
          <a:xfrm>
            <a:off x="1241582" y="4996149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sp>
        <p:nvSpPr>
          <p:cNvPr id="117" name="Rectangle 30">
            <a:extLst>
              <a:ext uri="{FF2B5EF4-FFF2-40B4-BE49-F238E27FC236}">
                <a16:creationId xmlns:a16="http://schemas.microsoft.com/office/drawing/2014/main" id="{4239DC22-EB05-3E35-7ACD-7758A37AA20E}"/>
              </a:ext>
            </a:extLst>
          </p:cNvPr>
          <p:cNvSpPr>
            <a:spLocks/>
          </p:cNvSpPr>
          <p:nvPr/>
        </p:nvSpPr>
        <p:spPr bwMode="auto">
          <a:xfrm>
            <a:off x="2511310" y="317733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18" name="Rectangle 30">
            <a:extLst>
              <a:ext uri="{FF2B5EF4-FFF2-40B4-BE49-F238E27FC236}">
                <a16:creationId xmlns:a16="http://schemas.microsoft.com/office/drawing/2014/main" id="{212F77A9-ECD8-D4EF-8165-F015C7A65FB0}"/>
              </a:ext>
            </a:extLst>
          </p:cNvPr>
          <p:cNvSpPr>
            <a:spLocks/>
          </p:cNvSpPr>
          <p:nvPr/>
        </p:nvSpPr>
        <p:spPr bwMode="auto">
          <a:xfrm>
            <a:off x="3128748" y="317733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119" name="Straight Connector 32">
            <a:extLst>
              <a:ext uri="{FF2B5EF4-FFF2-40B4-BE49-F238E27FC236}">
                <a16:creationId xmlns:a16="http://schemas.microsoft.com/office/drawing/2014/main" id="{27D7BBF3-D567-E081-2565-769C298847BE}"/>
              </a:ext>
            </a:extLst>
          </p:cNvPr>
          <p:cNvCxnSpPr>
            <a:cxnSpLocks/>
          </p:cNvCxnSpPr>
          <p:nvPr/>
        </p:nvCxnSpPr>
        <p:spPr>
          <a:xfrm flipV="1">
            <a:off x="3426144" y="4153651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27">
            <a:extLst>
              <a:ext uri="{FF2B5EF4-FFF2-40B4-BE49-F238E27FC236}">
                <a16:creationId xmlns:a16="http://schemas.microsoft.com/office/drawing/2014/main" id="{38873733-3D5A-A0D7-2F4A-0A687CF265EF}"/>
              </a:ext>
            </a:extLst>
          </p:cNvPr>
          <p:cNvSpPr>
            <a:spLocks/>
          </p:cNvSpPr>
          <p:nvPr/>
        </p:nvSpPr>
        <p:spPr bwMode="auto">
          <a:xfrm>
            <a:off x="3689093" y="385370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5</a:t>
            </a:r>
          </a:p>
        </p:txBody>
      </p:sp>
      <p:sp>
        <p:nvSpPr>
          <p:cNvPr id="121" name="Rectangle 27">
            <a:extLst>
              <a:ext uri="{FF2B5EF4-FFF2-40B4-BE49-F238E27FC236}">
                <a16:creationId xmlns:a16="http://schemas.microsoft.com/office/drawing/2014/main" id="{E03D4244-3CC2-3589-7E42-DCB4C3E4AB24}"/>
              </a:ext>
            </a:extLst>
          </p:cNvPr>
          <p:cNvSpPr>
            <a:spLocks/>
          </p:cNvSpPr>
          <p:nvPr/>
        </p:nvSpPr>
        <p:spPr bwMode="auto">
          <a:xfrm>
            <a:off x="4306531" y="385370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6</a:t>
            </a:r>
          </a:p>
        </p:txBody>
      </p:sp>
      <p:cxnSp>
        <p:nvCxnSpPr>
          <p:cNvPr id="129" name="Straight Connector 16">
            <a:extLst>
              <a:ext uri="{FF2B5EF4-FFF2-40B4-BE49-F238E27FC236}">
                <a16:creationId xmlns:a16="http://schemas.microsoft.com/office/drawing/2014/main" id="{FD65FB03-50F2-C4E6-4939-0A30C1B4F8DD}"/>
              </a:ext>
            </a:extLst>
          </p:cNvPr>
          <p:cNvCxnSpPr/>
          <p:nvPr/>
        </p:nvCxnSpPr>
        <p:spPr>
          <a:xfrm>
            <a:off x="8417178" y="4207849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Marcador de número de diapositiva 2">
            <a:extLst>
              <a:ext uri="{FF2B5EF4-FFF2-40B4-BE49-F238E27FC236}">
                <a16:creationId xmlns:a16="http://schemas.microsoft.com/office/drawing/2014/main" id="{4114F4CA-11F1-07B4-CBE4-B87D69635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12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1557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  <p:bldP spid="134" grpId="0"/>
      <p:bldP spid="136" grpId="0"/>
      <p:bldP spid="137" grpId="0"/>
      <p:bldP spid="138" grpId="0"/>
      <p:bldP spid="139" grpId="0"/>
      <p:bldP spid="140" grpId="0"/>
      <p:bldP spid="126" grpId="0"/>
      <p:bldP spid="127" grpId="0"/>
      <p:bldP spid="128" grpId="0"/>
      <p:bldP spid="111" grpId="0"/>
      <p:bldP spid="112" grpId="0"/>
      <p:bldP spid="116" grpId="0"/>
      <p:bldP spid="117" grpId="0"/>
      <p:bldP spid="118" grpId="0"/>
      <p:bldP spid="120" grpId="0"/>
      <p:bldP spid="1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04F8A-1591-3505-F275-4EA8F4F8B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0" name="Straight Arrow Connector 18">
            <a:extLst>
              <a:ext uri="{FF2B5EF4-FFF2-40B4-BE49-F238E27FC236}">
                <a16:creationId xmlns:a16="http://schemas.microsoft.com/office/drawing/2014/main" id="{82D6267E-A27D-A721-20A6-855C69F279E5}"/>
              </a:ext>
            </a:extLst>
          </p:cNvPr>
          <p:cNvCxnSpPr/>
          <p:nvPr/>
        </p:nvCxnSpPr>
        <p:spPr>
          <a:xfrm flipV="1">
            <a:off x="9667432" y="3561152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8">
            <a:extLst>
              <a:ext uri="{FF2B5EF4-FFF2-40B4-BE49-F238E27FC236}">
                <a16:creationId xmlns:a16="http://schemas.microsoft.com/office/drawing/2014/main" id="{FCC3A39A-F0F1-B9FC-5B45-2DE492746CC6}"/>
              </a:ext>
            </a:extLst>
          </p:cNvPr>
          <p:cNvCxnSpPr/>
          <p:nvPr/>
        </p:nvCxnSpPr>
        <p:spPr>
          <a:xfrm flipV="1">
            <a:off x="9049994" y="3561152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4">
            <a:extLst>
              <a:ext uri="{FF2B5EF4-FFF2-40B4-BE49-F238E27FC236}">
                <a16:creationId xmlns:a16="http://schemas.microsoft.com/office/drawing/2014/main" id="{62E47263-11E8-4BE1-D639-437DD3EE9D66}"/>
              </a:ext>
            </a:extLst>
          </p:cNvPr>
          <p:cNvCxnSpPr>
            <a:cxnSpLocks/>
          </p:cNvCxnSpPr>
          <p:nvPr/>
        </p:nvCxnSpPr>
        <p:spPr>
          <a:xfrm>
            <a:off x="8416811" y="4236932"/>
            <a:ext cx="367" cy="581811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2">
            <a:extLst>
              <a:ext uri="{FF2B5EF4-FFF2-40B4-BE49-F238E27FC236}">
                <a16:creationId xmlns:a16="http://schemas.microsoft.com/office/drawing/2014/main" id="{F74C20C7-4F01-1389-6FA7-678FB791B157}"/>
              </a:ext>
            </a:extLst>
          </p:cNvPr>
          <p:cNvSpPr>
            <a:spLocks/>
          </p:cNvSpPr>
          <p:nvPr/>
        </p:nvSpPr>
        <p:spPr bwMode="auto">
          <a:xfrm>
            <a:off x="10000130" y="3902480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6</a:t>
            </a:r>
          </a:p>
        </p:txBody>
      </p:sp>
      <p:sp>
        <p:nvSpPr>
          <p:cNvPr id="134" name="Rectangle 15">
            <a:extLst>
              <a:ext uri="{FF2B5EF4-FFF2-40B4-BE49-F238E27FC236}">
                <a16:creationId xmlns:a16="http://schemas.microsoft.com/office/drawing/2014/main" id="{37E661EE-7D6F-50F1-9996-FDE25E49BC4D}"/>
              </a:ext>
            </a:extLst>
          </p:cNvPr>
          <p:cNvSpPr>
            <a:spLocks/>
          </p:cNvSpPr>
          <p:nvPr/>
        </p:nvSpPr>
        <p:spPr bwMode="auto">
          <a:xfrm>
            <a:off x="7486880" y="4825128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135" name="Straight Arrow Connector 18">
            <a:extLst>
              <a:ext uri="{FF2B5EF4-FFF2-40B4-BE49-F238E27FC236}">
                <a16:creationId xmlns:a16="http://schemas.microsoft.com/office/drawing/2014/main" id="{FC996601-AFE8-B195-4D10-A84E5E730F40}"/>
              </a:ext>
            </a:extLst>
          </p:cNvPr>
          <p:cNvCxnSpPr/>
          <p:nvPr/>
        </p:nvCxnSpPr>
        <p:spPr>
          <a:xfrm flipV="1">
            <a:off x="10307049" y="3566551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20">
            <a:extLst>
              <a:ext uri="{FF2B5EF4-FFF2-40B4-BE49-F238E27FC236}">
                <a16:creationId xmlns:a16="http://schemas.microsoft.com/office/drawing/2014/main" id="{07641241-39A5-DBEA-32D8-108BFCB93765}"/>
              </a:ext>
            </a:extLst>
          </p:cNvPr>
          <p:cNvSpPr>
            <a:spLocks/>
          </p:cNvSpPr>
          <p:nvPr/>
        </p:nvSpPr>
        <p:spPr bwMode="auto">
          <a:xfrm>
            <a:off x="10000131" y="3232130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37" name="Rectangle 27">
            <a:extLst>
              <a:ext uri="{FF2B5EF4-FFF2-40B4-BE49-F238E27FC236}">
                <a16:creationId xmlns:a16="http://schemas.microsoft.com/office/drawing/2014/main" id="{DC611EF9-654F-2B8C-0B37-C5BD84EF08BF}"/>
              </a:ext>
            </a:extLst>
          </p:cNvPr>
          <p:cNvSpPr>
            <a:spLocks/>
          </p:cNvSpPr>
          <p:nvPr/>
        </p:nvSpPr>
        <p:spPr bwMode="auto">
          <a:xfrm>
            <a:off x="8793414" y="3890426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138" name="Rectangle 30">
            <a:extLst>
              <a:ext uri="{FF2B5EF4-FFF2-40B4-BE49-F238E27FC236}">
                <a16:creationId xmlns:a16="http://schemas.microsoft.com/office/drawing/2014/main" id="{C3ED34AB-29C7-E29E-78DB-EB74D743223C}"/>
              </a:ext>
            </a:extLst>
          </p:cNvPr>
          <p:cNvSpPr>
            <a:spLocks/>
          </p:cNvSpPr>
          <p:nvPr/>
        </p:nvSpPr>
        <p:spPr bwMode="auto">
          <a:xfrm>
            <a:off x="8731076" y="3249372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39" name="Rectangle 27">
            <a:extLst>
              <a:ext uri="{FF2B5EF4-FFF2-40B4-BE49-F238E27FC236}">
                <a16:creationId xmlns:a16="http://schemas.microsoft.com/office/drawing/2014/main" id="{393135BD-5434-8634-1BDB-4D7E265D4023}"/>
              </a:ext>
            </a:extLst>
          </p:cNvPr>
          <p:cNvSpPr>
            <a:spLocks/>
          </p:cNvSpPr>
          <p:nvPr/>
        </p:nvSpPr>
        <p:spPr bwMode="auto">
          <a:xfrm>
            <a:off x="9410852" y="3890426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5</a:t>
            </a:r>
          </a:p>
        </p:txBody>
      </p:sp>
      <p:sp>
        <p:nvSpPr>
          <p:cNvPr id="140" name="Rectangle 30">
            <a:extLst>
              <a:ext uri="{FF2B5EF4-FFF2-40B4-BE49-F238E27FC236}">
                <a16:creationId xmlns:a16="http://schemas.microsoft.com/office/drawing/2014/main" id="{E67D084C-39F3-4F4E-D8F8-2021414129FE}"/>
              </a:ext>
            </a:extLst>
          </p:cNvPr>
          <p:cNvSpPr>
            <a:spLocks/>
          </p:cNvSpPr>
          <p:nvPr/>
        </p:nvSpPr>
        <p:spPr bwMode="auto">
          <a:xfrm>
            <a:off x="9348514" y="3249372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122" name="Straight Arrow Connector 18">
            <a:extLst>
              <a:ext uri="{FF2B5EF4-FFF2-40B4-BE49-F238E27FC236}">
                <a16:creationId xmlns:a16="http://schemas.microsoft.com/office/drawing/2014/main" id="{02FEC25B-A7C3-3E5D-F5E4-AA9DE3EAC3AD}"/>
              </a:ext>
            </a:extLst>
          </p:cNvPr>
          <p:cNvCxnSpPr/>
          <p:nvPr/>
        </p:nvCxnSpPr>
        <p:spPr>
          <a:xfrm flipV="1">
            <a:off x="4680959" y="3483714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8">
            <a:extLst>
              <a:ext uri="{FF2B5EF4-FFF2-40B4-BE49-F238E27FC236}">
                <a16:creationId xmlns:a16="http://schemas.microsoft.com/office/drawing/2014/main" id="{88D1DBED-4F0A-D00A-BBE0-C9CDD6C92922}"/>
              </a:ext>
            </a:extLst>
          </p:cNvPr>
          <p:cNvCxnSpPr/>
          <p:nvPr/>
        </p:nvCxnSpPr>
        <p:spPr>
          <a:xfrm flipV="1">
            <a:off x="4063521" y="3483714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ctangle 30">
            <a:extLst>
              <a:ext uri="{FF2B5EF4-FFF2-40B4-BE49-F238E27FC236}">
                <a16:creationId xmlns:a16="http://schemas.microsoft.com/office/drawing/2014/main" id="{23713BFD-7C95-F0E3-BB1D-E279BCD2FACE}"/>
              </a:ext>
            </a:extLst>
          </p:cNvPr>
          <p:cNvSpPr>
            <a:spLocks/>
          </p:cNvSpPr>
          <p:nvPr/>
        </p:nvSpPr>
        <p:spPr bwMode="auto">
          <a:xfrm>
            <a:off x="3762820" y="3171934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53D11820-35FC-9320-03FF-C21C4CD27068}"/>
              </a:ext>
            </a:extLst>
          </p:cNvPr>
          <p:cNvSpPr>
            <a:spLocks/>
          </p:cNvSpPr>
          <p:nvPr/>
        </p:nvSpPr>
        <p:spPr bwMode="auto">
          <a:xfrm>
            <a:off x="4380258" y="3171934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114" name="Straight Arrow Connector 21">
            <a:extLst>
              <a:ext uri="{FF2B5EF4-FFF2-40B4-BE49-F238E27FC236}">
                <a16:creationId xmlns:a16="http://schemas.microsoft.com/office/drawing/2014/main" id="{369B95E1-8332-7857-82CD-E391D3C135F8}"/>
              </a:ext>
            </a:extLst>
          </p:cNvPr>
          <p:cNvCxnSpPr>
            <a:cxnSpLocks/>
          </p:cNvCxnSpPr>
          <p:nvPr/>
        </p:nvCxnSpPr>
        <p:spPr>
          <a:xfrm>
            <a:off x="2177938" y="4152619"/>
            <a:ext cx="0" cy="482641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8">
            <a:extLst>
              <a:ext uri="{FF2B5EF4-FFF2-40B4-BE49-F238E27FC236}">
                <a16:creationId xmlns:a16="http://schemas.microsoft.com/office/drawing/2014/main" id="{D8AD6C3D-1013-698D-BE6A-C2B45334DF62}"/>
              </a:ext>
            </a:extLst>
          </p:cNvPr>
          <p:cNvCxnSpPr/>
          <p:nvPr/>
        </p:nvCxnSpPr>
        <p:spPr>
          <a:xfrm flipV="1">
            <a:off x="2812011" y="348911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6D442D4-2F60-9DB3-BF25-62146158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EAAB5-7B05-6D07-EB41-862B8307F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7747" y="1916732"/>
            <a:ext cx="7610476" cy="66302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Si asumimos que los proyectos se pueden replicar.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16FFE96E-A4CB-9ECF-5089-3079497DA1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9785944"/>
                  </p:ext>
                </p:extLst>
              </p:nvPr>
            </p:nvGraphicFramePr>
            <p:xfrm>
              <a:off x="1805796" y="5511490"/>
              <a:ext cx="6660903" cy="11512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2030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22030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22030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IBF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A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B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VPN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Replicado</m:t>
                                  </m:r>
                                </m:sub>
                              </m:sSub>
                              <m:r>
                                <a:rPr lang="es-ES" sz="1800" b="0" i="0" noProof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s-ES_tradnl" sz="18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(10%)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$ 25,70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$ 20,56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VAE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Replicado</m:t>
                                  </m:r>
                                </m:sub>
                              </m:sSub>
                              <m:r>
                                <a:rPr lang="es-ES" sz="1800" b="0" i="0" noProof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s-ES_tradnl" sz="18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 (10%)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$ 5,90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$ 4,72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16FFE96E-A4CB-9ECF-5089-3079497DA1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9785944"/>
                  </p:ext>
                </p:extLst>
              </p:nvPr>
            </p:nvGraphicFramePr>
            <p:xfrm>
              <a:off x="1805796" y="5511490"/>
              <a:ext cx="6660903" cy="11512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2030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22030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22030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IBF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A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B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90208">
                    <a:tc>
                      <a:txBody>
                        <a:bodyPr/>
                        <a:lstStyle/>
                        <a:p>
                          <a:endParaRPr lang="en-CO"/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143" t="-100000" r="-201714" b="-1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$ 25,70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$ 20,56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90208">
                    <a:tc>
                      <a:txBody>
                        <a:bodyPr/>
                        <a:lstStyle/>
                        <a:p>
                          <a:endParaRPr lang="en-CO"/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143" t="-200000" r="-201714" b="-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$ 5,90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$ 4,72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1" name="Rectángulo 80">
            <a:extLst>
              <a:ext uri="{FF2B5EF4-FFF2-40B4-BE49-F238E27FC236}">
                <a16:creationId xmlns:a16="http://schemas.microsoft.com/office/drawing/2014/main" id="{7479D697-8F64-7255-329C-29E95460290F}"/>
              </a:ext>
            </a:extLst>
          </p:cNvPr>
          <p:cNvSpPr/>
          <p:nvPr/>
        </p:nvSpPr>
        <p:spPr>
          <a:xfrm>
            <a:off x="1805797" y="5511490"/>
            <a:ext cx="4494992" cy="117049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D1D072E-CEA2-351C-2500-E84EDBFFEBFC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7" name="Picture 2" descr="Clientes y aliados | Centro de Evaluación | Uniandes">
            <a:extLst>
              <a:ext uri="{FF2B5EF4-FFF2-40B4-BE49-F238E27FC236}">
                <a16:creationId xmlns:a16="http://schemas.microsoft.com/office/drawing/2014/main" id="{14469AED-B43B-820E-4DD0-DCB68EC16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Rectángulo 49">
            <a:extLst>
              <a:ext uri="{FF2B5EF4-FFF2-40B4-BE49-F238E27FC236}">
                <a16:creationId xmlns:a16="http://schemas.microsoft.com/office/drawing/2014/main" id="{9A2D1051-BA4E-76E3-C108-25583EEBA2FB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85" name="Straight Arrow Connector 18">
            <a:extLst>
              <a:ext uri="{FF2B5EF4-FFF2-40B4-BE49-F238E27FC236}">
                <a16:creationId xmlns:a16="http://schemas.microsoft.com/office/drawing/2014/main" id="{10C42EDE-8E0A-D5C6-E07E-97E418344624}"/>
              </a:ext>
            </a:extLst>
          </p:cNvPr>
          <p:cNvCxnSpPr/>
          <p:nvPr/>
        </p:nvCxnSpPr>
        <p:spPr>
          <a:xfrm flipV="1">
            <a:off x="7765116" y="3536687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18">
            <a:extLst>
              <a:ext uri="{FF2B5EF4-FFF2-40B4-BE49-F238E27FC236}">
                <a16:creationId xmlns:a16="http://schemas.microsoft.com/office/drawing/2014/main" id="{AD924F2A-9085-74C1-7149-E3CD0FFF1DA9}"/>
              </a:ext>
            </a:extLst>
          </p:cNvPr>
          <p:cNvCxnSpPr/>
          <p:nvPr/>
        </p:nvCxnSpPr>
        <p:spPr>
          <a:xfrm flipV="1">
            <a:off x="7147678" y="3536687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4">
            <a:extLst>
              <a:ext uri="{FF2B5EF4-FFF2-40B4-BE49-F238E27FC236}">
                <a16:creationId xmlns:a16="http://schemas.microsoft.com/office/drawing/2014/main" id="{E6F95E1B-9D91-1463-F432-BF9877FF71C0}"/>
              </a:ext>
            </a:extLst>
          </p:cNvPr>
          <p:cNvCxnSpPr/>
          <p:nvPr/>
        </p:nvCxnSpPr>
        <p:spPr>
          <a:xfrm>
            <a:off x="6514495" y="4200193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6">
            <a:extLst>
              <a:ext uri="{FF2B5EF4-FFF2-40B4-BE49-F238E27FC236}">
                <a16:creationId xmlns:a16="http://schemas.microsoft.com/office/drawing/2014/main" id="{5FFEDC35-30CB-5CCC-B047-301F5BBE8FBD}"/>
              </a:ext>
            </a:extLst>
          </p:cNvPr>
          <p:cNvSpPr>
            <a:spLocks/>
          </p:cNvSpPr>
          <p:nvPr/>
        </p:nvSpPr>
        <p:spPr bwMode="auto">
          <a:xfrm flipH="1">
            <a:off x="6428894" y="3856973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90" name="Rectangle 12">
            <a:extLst>
              <a:ext uri="{FF2B5EF4-FFF2-40B4-BE49-F238E27FC236}">
                <a16:creationId xmlns:a16="http://schemas.microsoft.com/office/drawing/2014/main" id="{BB3F2A2B-E127-0A9E-6B26-13FDE674F495}"/>
              </a:ext>
            </a:extLst>
          </p:cNvPr>
          <p:cNvSpPr>
            <a:spLocks/>
          </p:cNvSpPr>
          <p:nvPr/>
        </p:nvSpPr>
        <p:spPr bwMode="auto">
          <a:xfrm>
            <a:off x="8252800" y="3865740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91" name="Rectangle 15">
            <a:extLst>
              <a:ext uri="{FF2B5EF4-FFF2-40B4-BE49-F238E27FC236}">
                <a16:creationId xmlns:a16="http://schemas.microsoft.com/office/drawing/2014/main" id="{78F97F41-636B-2AA4-A832-A543DCE6E287}"/>
              </a:ext>
            </a:extLst>
          </p:cNvPr>
          <p:cNvSpPr>
            <a:spLocks/>
          </p:cNvSpPr>
          <p:nvPr/>
        </p:nvSpPr>
        <p:spPr bwMode="auto">
          <a:xfrm>
            <a:off x="5599714" y="5092510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94" name="Straight Arrow Connector 21">
            <a:extLst>
              <a:ext uri="{FF2B5EF4-FFF2-40B4-BE49-F238E27FC236}">
                <a16:creationId xmlns:a16="http://schemas.microsoft.com/office/drawing/2014/main" id="{808E604F-9CB8-1461-1855-4E606FF0BEFA}"/>
              </a:ext>
            </a:extLst>
          </p:cNvPr>
          <p:cNvCxnSpPr/>
          <p:nvPr/>
        </p:nvCxnSpPr>
        <p:spPr>
          <a:xfrm>
            <a:off x="926427" y="4152619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23">
            <a:extLst>
              <a:ext uri="{FF2B5EF4-FFF2-40B4-BE49-F238E27FC236}">
                <a16:creationId xmlns:a16="http://schemas.microsoft.com/office/drawing/2014/main" id="{A9B2D6C1-083F-7EE2-18F9-A88ECBFACBF5}"/>
              </a:ext>
            </a:extLst>
          </p:cNvPr>
          <p:cNvSpPr>
            <a:spLocks/>
          </p:cNvSpPr>
          <p:nvPr/>
        </p:nvSpPr>
        <p:spPr bwMode="auto">
          <a:xfrm flipH="1">
            <a:off x="840826" y="3809399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96" name="Rectangle 27">
            <a:extLst>
              <a:ext uri="{FF2B5EF4-FFF2-40B4-BE49-F238E27FC236}">
                <a16:creationId xmlns:a16="http://schemas.microsoft.com/office/drawing/2014/main" id="{B1CA2C21-CCE4-8EEE-E2F4-25C86B2509F5}"/>
              </a:ext>
            </a:extLst>
          </p:cNvPr>
          <p:cNvSpPr>
            <a:spLocks/>
          </p:cNvSpPr>
          <p:nvPr/>
        </p:nvSpPr>
        <p:spPr bwMode="auto">
          <a:xfrm>
            <a:off x="1303920" y="3806113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97" name="Rectangle 38">
            <a:extLst>
              <a:ext uri="{FF2B5EF4-FFF2-40B4-BE49-F238E27FC236}">
                <a16:creationId xmlns:a16="http://schemas.microsoft.com/office/drawing/2014/main" id="{05F4B72A-985D-9773-D8BE-CE4C11450324}"/>
              </a:ext>
            </a:extLst>
          </p:cNvPr>
          <p:cNvSpPr>
            <a:spLocks/>
          </p:cNvSpPr>
          <p:nvPr/>
        </p:nvSpPr>
        <p:spPr bwMode="auto">
          <a:xfrm>
            <a:off x="-28146" y="4996149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cxnSp>
        <p:nvCxnSpPr>
          <p:cNvPr id="98" name="Straight Connector 16">
            <a:extLst>
              <a:ext uri="{FF2B5EF4-FFF2-40B4-BE49-F238E27FC236}">
                <a16:creationId xmlns:a16="http://schemas.microsoft.com/office/drawing/2014/main" id="{0B89AC10-4E66-DE95-3688-A86DD4294C98}"/>
              </a:ext>
            </a:extLst>
          </p:cNvPr>
          <p:cNvCxnSpPr/>
          <p:nvPr/>
        </p:nvCxnSpPr>
        <p:spPr>
          <a:xfrm>
            <a:off x="6514495" y="4200194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18">
            <a:extLst>
              <a:ext uri="{FF2B5EF4-FFF2-40B4-BE49-F238E27FC236}">
                <a16:creationId xmlns:a16="http://schemas.microsoft.com/office/drawing/2014/main" id="{7BC228C9-27E0-6C8C-D5B8-4B878A2C67C8}"/>
              </a:ext>
            </a:extLst>
          </p:cNvPr>
          <p:cNvCxnSpPr/>
          <p:nvPr/>
        </p:nvCxnSpPr>
        <p:spPr>
          <a:xfrm flipV="1">
            <a:off x="1560500" y="3489113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32">
            <a:extLst>
              <a:ext uri="{FF2B5EF4-FFF2-40B4-BE49-F238E27FC236}">
                <a16:creationId xmlns:a16="http://schemas.microsoft.com/office/drawing/2014/main" id="{078EFCF8-375A-3F17-EBEA-E4F0D00BB513}"/>
              </a:ext>
            </a:extLst>
          </p:cNvPr>
          <p:cNvCxnSpPr>
            <a:cxnSpLocks/>
          </p:cNvCxnSpPr>
          <p:nvPr/>
        </p:nvCxnSpPr>
        <p:spPr>
          <a:xfrm flipV="1">
            <a:off x="926428" y="4152618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30">
            <a:extLst>
              <a:ext uri="{FF2B5EF4-FFF2-40B4-BE49-F238E27FC236}">
                <a16:creationId xmlns:a16="http://schemas.microsoft.com/office/drawing/2014/main" id="{23FDCC18-568F-1738-DC31-158975378131}"/>
              </a:ext>
            </a:extLst>
          </p:cNvPr>
          <p:cNvSpPr>
            <a:spLocks/>
          </p:cNvSpPr>
          <p:nvPr/>
        </p:nvSpPr>
        <p:spPr bwMode="auto">
          <a:xfrm>
            <a:off x="1241582" y="317733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102" name="Rectangle 27">
            <a:extLst>
              <a:ext uri="{FF2B5EF4-FFF2-40B4-BE49-F238E27FC236}">
                <a16:creationId xmlns:a16="http://schemas.microsoft.com/office/drawing/2014/main" id="{74869FDE-5E54-D3CF-3759-DC65AD9B518B}"/>
              </a:ext>
            </a:extLst>
          </p:cNvPr>
          <p:cNvSpPr>
            <a:spLocks/>
          </p:cNvSpPr>
          <p:nvPr/>
        </p:nvSpPr>
        <p:spPr bwMode="auto">
          <a:xfrm>
            <a:off x="2013682" y="3812767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104" name="Rectangle 27">
            <a:extLst>
              <a:ext uri="{FF2B5EF4-FFF2-40B4-BE49-F238E27FC236}">
                <a16:creationId xmlns:a16="http://schemas.microsoft.com/office/drawing/2014/main" id="{BDC94589-9AF9-31AA-911E-6575171C16E3}"/>
              </a:ext>
            </a:extLst>
          </p:cNvPr>
          <p:cNvSpPr>
            <a:spLocks/>
          </p:cNvSpPr>
          <p:nvPr/>
        </p:nvSpPr>
        <p:spPr bwMode="auto">
          <a:xfrm>
            <a:off x="6891098" y="3853687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105" name="Rectangle 30">
            <a:extLst>
              <a:ext uri="{FF2B5EF4-FFF2-40B4-BE49-F238E27FC236}">
                <a16:creationId xmlns:a16="http://schemas.microsoft.com/office/drawing/2014/main" id="{7E534665-4829-5857-C2DF-43534416BB4A}"/>
              </a:ext>
            </a:extLst>
          </p:cNvPr>
          <p:cNvSpPr>
            <a:spLocks/>
          </p:cNvSpPr>
          <p:nvPr/>
        </p:nvSpPr>
        <p:spPr bwMode="auto">
          <a:xfrm>
            <a:off x="6828760" y="3224907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06" name="Rectangle 27">
            <a:extLst>
              <a:ext uri="{FF2B5EF4-FFF2-40B4-BE49-F238E27FC236}">
                <a16:creationId xmlns:a16="http://schemas.microsoft.com/office/drawing/2014/main" id="{3082B339-3BF4-C950-1A4A-1EDA1C0684E0}"/>
              </a:ext>
            </a:extLst>
          </p:cNvPr>
          <p:cNvSpPr>
            <a:spLocks/>
          </p:cNvSpPr>
          <p:nvPr/>
        </p:nvSpPr>
        <p:spPr bwMode="auto">
          <a:xfrm>
            <a:off x="7508536" y="3853687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107" name="Rectangle 30">
            <a:extLst>
              <a:ext uri="{FF2B5EF4-FFF2-40B4-BE49-F238E27FC236}">
                <a16:creationId xmlns:a16="http://schemas.microsoft.com/office/drawing/2014/main" id="{55244111-0FF5-1933-44B7-B74A27710559}"/>
              </a:ext>
            </a:extLst>
          </p:cNvPr>
          <p:cNvSpPr>
            <a:spLocks/>
          </p:cNvSpPr>
          <p:nvPr/>
        </p:nvSpPr>
        <p:spPr bwMode="auto">
          <a:xfrm>
            <a:off x="7446198" y="3224907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08" name="Rectangle 43">
            <a:extLst>
              <a:ext uri="{FF2B5EF4-FFF2-40B4-BE49-F238E27FC236}">
                <a16:creationId xmlns:a16="http://schemas.microsoft.com/office/drawing/2014/main" id="{5DB277B8-E2DB-CC3B-6D05-D75FE3D67400}"/>
              </a:ext>
            </a:extLst>
          </p:cNvPr>
          <p:cNvSpPr>
            <a:spLocks/>
          </p:cNvSpPr>
          <p:nvPr/>
        </p:nvSpPr>
        <p:spPr bwMode="auto">
          <a:xfrm>
            <a:off x="2130794" y="2698237"/>
            <a:ext cx="16886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A</a:t>
            </a:r>
          </a:p>
        </p:txBody>
      </p:sp>
      <p:cxnSp>
        <p:nvCxnSpPr>
          <p:cNvPr id="110" name="Straight Connector 32">
            <a:extLst>
              <a:ext uri="{FF2B5EF4-FFF2-40B4-BE49-F238E27FC236}">
                <a16:creationId xmlns:a16="http://schemas.microsoft.com/office/drawing/2014/main" id="{0505E7F4-983E-7B7A-938A-45D0889C5416}"/>
              </a:ext>
            </a:extLst>
          </p:cNvPr>
          <p:cNvCxnSpPr>
            <a:cxnSpLocks/>
          </p:cNvCxnSpPr>
          <p:nvPr/>
        </p:nvCxnSpPr>
        <p:spPr>
          <a:xfrm flipV="1">
            <a:off x="2180445" y="4152710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27">
            <a:extLst>
              <a:ext uri="{FF2B5EF4-FFF2-40B4-BE49-F238E27FC236}">
                <a16:creationId xmlns:a16="http://schemas.microsoft.com/office/drawing/2014/main" id="{880C045E-8AFD-A0EA-ECDF-C8D4B9A3AB32}"/>
              </a:ext>
            </a:extLst>
          </p:cNvPr>
          <p:cNvSpPr>
            <a:spLocks/>
          </p:cNvSpPr>
          <p:nvPr/>
        </p:nvSpPr>
        <p:spPr bwMode="auto">
          <a:xfrm>
            <a:off x="2508414" y="383175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12" name="Rectangle 27">
            <a:extLst>
              <a:ext uri="{FF2B5EF4-FFF2-40B4-BE49-F238E27FC236}">
                <a16:creationId xmlns:a16="http://schemas.microsoft.com/office/drawing/2014/main" id="{CDFDB3CD-02EC-B074-F8AE-3B9FC1AAE768}"/>
              </a:ext>
            </a:extLst>
          </p:cNvPr>
          <p:cNvSpPr>
            <a:spLocks/>
          </p:cNvSpPr>
          <p:nvPr/>
        </p:nvSpPr>
        <p:spPr bwMode="auto">
          <a:xfrm>
            <a:off x="3125852" y="383175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116" name="Rectangle 38">
            <a:extLst>
              <a:ext uri="{FF2B5EF4-FFF2-40B4-BE49-F238E27FC236}">
                <a16:creationId xmlns:a16="http://schemas.microsoft.com/office/drawing/2014/main" id="{BD6426E4-9726-6CE2-6F47-51C49A803DA8}"/>
              </a:ext>
            </a:extLst>
          </p:cNvPr>
          <p:cNvSpPr>
            <a:spLocks/>
          </p:cNvSpPr>
          <p:nvPr/>
        </p:nvSpPr>
        <p:spPr bwMode="auto">
          <a:xfrm>
            <a:off x="1238686" y="4626710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17" name="Rectangle 30">
            <a:extLst>
              <a:ext uri="{FF2B5EF4-FFF2-40B4-BE49-F238E27FC236}">
                <a16:creationId xmlns:a16="http://schemas.microsoft.com/office/drawing/2014/main" id="{DA2FE289-388F-9265-6505-6042A5D28656}"/>
              </a:ext>
            </a:extLst>
          </p:cNvPr>
          <p:cNvSpPr>
            <a:spLocks/>
          </p:cNvSpPr>
          <p:nvPr/>
        </p:nvSpPr>
        <p:spPr bwMode="auto">
          <a:xfrm>
            <a:off x="2511310" y="3177333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119" name="Straight Connector 32">
            <a:extLst>
              <a:ext uri="{FF2B5EF4-FFF2-40B4-BE49-F238E27FC236}">
                <a16:creationId xmlns:a16="http://schemas.microsoft.com/office/drawing/2014/main" id="{D4922C3B-7BB8-72E9-A9BD-8B6041A48395}"/>
              </a:ext>
            </a:extLst>
          </p:cNvPr>
          <p:cNvCxnSpPr>
            <a:cxnSpLocks/>
          </p:cNvCxnSpPr>
          <p:nvPr/>
        </p:nvCxnSpPr>
        <p:spPr>
          <a:xfrm flipV="1">
            <a:off x="3426144" y="4153651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27">
            <a:extLst>
              <a:ext uri="{FF2B5EF4-FFF2-40B4-BE49-F238E27FC236}">
                <a16:creationId xmlns:a16="http://schemas.microsoft.com/office/drawing/2014/main" id="{4D78E9BD-D113-8615-F353-6A9F662166D4}"/>
              </a:ext>
            </a:extLst>
          </p:cNvPr>
          <p:cNvSpPr>
            <a:spLocks/>
          </p:cNvSpPr>
          <p:nvPr/>
        </p:nvSpPr>
        <p:spPr bwMode="auto">
          <a:xfrm>
            <a:off x="3689093" y="385370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5</a:t>
            </a:r>
          </a:p>
        </p:txBody>
      </p:sp>
      <p:sp>
        <p:nvSpPr>
          <p:cNvPr id="121" name="Rectangle 27">
            <a:extLst>
              <a:ext uri="{FF2B5EF4-FFF2-40B4-BE49-F238E27FC236}">
                <a16:creationId xmlns:a16="http://schemas.microsoft.com/office/drawing/2014/main" id="{819F464C-EEA6-BD9C-27BB-06DED2606310}"/>
              </a:ext>
            </a:extLst>
          </p:cNvPr>
          <p:cNvSpPr>
            <a:spLocks/>
          </p:cNvSpPr>
          <p:nvPr/>
        </p:nvSpPr>
        <p:spPr bwMode="auto">
          <a:xfrm>
            <a:off x="4306531" y="385370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6</a:t>
            </a:r>
          </a:p>
        </p:txBody>
      </p:sp>
      <p:cxnSp>
        <p:nvCxnSpPr>
          <p:cNvPr id="129" name="Straight Connector 16">
            <a:extLst>
              <a:ext uri="{FF2B5EF4-FFF2-40B4-BE49-F238E27FC236}">
                <a16:creationId xmlns:a16="http://schemas.microsoft.com/office/drawing/2014/main" id="{D641CE4E-4FE0-6E08-9854-49F60E3E034F}"/>
              </a:ext>
            </a:extLst>
          </p:cNvPr>
          <p:cNvCxnSpPr/>
          <p:nvPr/>
        </p:nvCxnSpPr>
        <p:spPr>
          <a:xfrm>
            <a:off x="8417178" y="4207077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21">
            <a:extLst>
              <a:ext uri="{FF2B5EF4-FFF2-40B4-BE49-F238E27FC236}">
                <a16:creationId xmlns:a16="http://schemas.microsoft.com/office/drawing/2014/main" id="{593B8787-B6C1-1748-965E-AFEC1B217D28}"/>
              </a:ext>
            </a:extLst>
          </p:cNvPr>
          <p:cNvCxnSpPr>
            <a:cxnSpLocks/>
          </p:cNvCxnSpPr>
          <p:nvPr/>
        </p:nvCxnSpPr>
        <p:spPr>
          <a:xfrm>
            <a:off x="3305607" y="4161169"/>
            <a:ext cx="0" cy="482641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38">
            <a:extLst>
              <a:ext uri="{FF2B5EF4-FFF2-40B4-BE49-F238E27FC236}">
                <a16:creationId xmlns:a16="http://schemas.microsoft.com/office/drawing/2014/main" id="{18F41EF9-C6DA-6E57-5AF6-6F7AC1C4F943}"/>
              </a:ext>
            </a:extLst>
          </p:cNvPr>
          <p:cNvSpPr>
            <a:spLocks/>
          </p:cNvSpPr>
          <p:nvPr/>
        </p:nvSpPr>
        <p:spPr bwMode="auto">
          <a:xfrm>
            <a:off x="2366355" y="4635260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00F529D-14FC-279D-6F81-AF22A4905EE0}"/>
              </a:ext>
            </a:extLst>
          </p:cNvPr>
          <p:cNvSpPr txBox="1">
            <a:spLocks/>
          </p:cNvSpPr>
          <p:nvPr/>
        </p:nvSpPr>
        <p:spPr>
          <a:xfrm>
            <a:off x="8574858" y="5929794"/>
            <a:ext cx="1887166" cy="6630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s-ES_tradnl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¡El VAE no cambia!</a:t>
            </a:r>
          </a:p>
        </p:txBody>
      </p:sp>
      <p:sp>
        <p:nvSpPr>
          <p:cNvPr id="11" name="Rectangle 43">
            <a:extLst>
              <a:ext uri="{FF2B5EF4-FFF2-40B4-BE49-F238E27FC236}">
                <a16:creationId xmlns:a16="http://schemas.microsoft.com/office/drawing/2014/main" id="{346FD69B-4475-2C1D-2B4D-F465A5BD9D8F}"/>
              </a:ext>
            </a:extLst>
          </p:cNvPr>
          <p:cNvSpPr>
            <a:spLocks/>
          </p:cNvSpPr>
          <p:nvPr/>
        </p:nvSpPr>
        <p:spPr bwMode="auto">
          <a:xfrm>
            <a:off x="7948110" y="2737539"/>
            <a:ext cx="156593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B</a:t>
            </a:r>
          </a:p>
        </p:txBody>
      </p:sp>
      <p:sp>
        <p:nvSpPr>
          <p:cNvPr id="5" name="Marcador de número de diapositiva 2">
            <a:extLst>
              <a:ext uri="{FF2B5EF4-FFF2-40B4-BE49-F238E27FC236}">
                <a16:creationId xmlns:a16="http://schemas.microsoft.com/office/drawing/2014/main" id="{C9F49ECB-D909-9061-E7AA-E0D0D59B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13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101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4120-CFA4-6592-0F5F-E2B3A6F4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C6A9-12F5-C3DB-D632-9A65CCB5A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648E845E-C5D2-AE34-B9A0-D646227472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2911844"/>
                  </p:ext>
                </p:extLst>
              </p:nvPr>
            </p:nvGraphicFramePr>
            <p:xfrm>
              <a:off x="920227" y="5275002"/>
              <a:ext cx="6449952" cy="154146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4998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4998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1499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IBF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A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B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VPN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Replicado</m:t>
                                  </m:r>
                                </m:sub>
                              </m:sSub>
                              <m:r>
                                <a:rPr lang="es-ES" sz="1800" b="0" i="0" noProof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s-ES_tradnl" sz="18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(10%)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$ 408,77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$ 118,97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VAE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Replicado</m:t>
                                  </m:r>
                                </m:sub>
                              </m:sSub>
                              <m:r>
                                <a:rPr lang="es-ES" sz="1800" b="0" i="0" noProof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s-ES_tradnl" sz="18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 (10%)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$ 93,86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$ 27,32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s-ES" sz="1800" b="0" i="0" noProof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Replicado</m:t>
                                  </m:r>
                                </m:sub>
                              </m:sSub>
                              <m:r>
                                <a:rPr lang="es-ES" sz="1800" b="0" i="0" noProof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s-ES_tradnl" sz="18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(B – A)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ES" sz="1800" b="0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0,88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rtl="0" fontAlgn="ctr"/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602136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648E845E-C5D2-AE34-B9A0-D6462274722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2911844"/>
                  </p:ext>
                </p:extLst>
              </p:nvPr>
            </p:nvGraphicFramePr>
            <p:xfrm>
              <a:off x="920227" y="5275002"/>
              <a:ext cx="6449952" cy="154146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4998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49984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14998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IBF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A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800" noProof="0" dirty="0">
                              <a:latin typeface="Century Gothic" panose="020B0502020202020204" pitchFamily="34" charset="0"/>
                            </a:rPr>
                            <a:t>B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90208">
                    <a:tc>
                      <a:txBody>
                        <a:bodyPr/>
                        <a:lstStyle/>
                        <a:p>
                          <a:endParaRPr lang="en-CO"/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8" t="-100000" r="-200588" b="-2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$ 408,77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$ 118,97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90208">
                    <a:tc>
                      <a:txBody>
                        <a:bodyPr/>
                        <a:lstStyle/>
                        <a:p>
                          <a:endParaRPr lang="en-CO"/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8" t="-200000" r="-200588" b="-1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$ 93,86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CO" sz="1800" b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$ 27,32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90208">
                    <a:tc>
                      <a:txBody>
                        <a:bodyPr/>
                        <a:lstStyle/>
                        <a:p>
                          <a:endParaRPr lang="en-CO"/>
                        </a:p>
                      </a:txBody>
                      <a:tcPr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8" t="-300000" r="-200588" b="-22581"/>
                          </a:stretch>
                        </a:blip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s-ES" sz="1800" b="0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0,88</a:t>
                          </a:r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 rtl="0" fontAlgn="ctr"/>
                          <a:endParaRPr lang="es-CO" sz="1800" b="0" i="0" u="none" strike="noStrike" dirty="0">
                            <a:solidFill>
                              <a:schemeClr val="accent1"/>
                            </a:solidFill>
                            <a:effectLst/>
                            <a:latin typeface="Century Gothic" panose="020B0502020202020204" pitchFamily="34" charset="0"/>
                          </a:endParaRPr>
                        </a:p>
                      </a:txBody>
                      <a:tcPr marL="12700" marR="12700" marT="12700" marB="0" anchor="ctr">
                        <a:lnL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602136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Rectángulo 29">
            <a:extLst>
              <a:ext uri="{FF2B5EF4-FFF2-40B4-BE49-F238E27FC236}">
                <a16:creationId xmlns:a16="http://schemas.microsoft.com/office/drawing/2014/main" id="{69AB000C-A7C0-D4B3-16B8-38D18966333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7" name="Picture 2" descr="Clientes y aliados | Centro de Evaluación | Uniandes">
            <a:extLst>
              <a:ext uri="{FF2B5EF4-FFF2-40B4-BE49-F238E27FC236}">
                <a16:creationId xmlns:a16="http://schemas.microsoft.com/office/drawing/2014/main" id="{41BD21DB-6E5C-8622-9E34-85C3E42181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Rectángulo 49">
            <a:extLst>
              <a:ext uri="{FF2B5EF4-FFF2-40B4-BE49-F238E27FC236}">
                <a16:creationId xmlns:a16="http://schemas.microsoft.com/office/drawing/2014/main" id="{4B114116-F59B-D076-64C7-C0EA5DA4976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754EA80-FFD4-32C9-7B99-C4FDC1D1F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941" y="1780034"/>
            <a:ext cx="8972384" cy="66302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Y si hiciéramos análisis marginal con un indicador como B/C.</a:t>
            </a:r>
            <a:r>
              <a:rPr lang="es-ES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  <a:endParaRPr lang="es-ES_tradnl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11" name="Straight Arrow Connector 18">
            <a:extLst>
              <a:ext uri="{FF2B5EF4-FFF2-40B4-BE49-F238E27FC236}">
                <a16:creationId xmlns:a16="http://schemas.microsoft.com/office/drawing/2014/main" id="{CC466156-F260-20DF-833C-08DAC5CAB8A0}"/>
              </a:ext>
            </a:extLst>
          </p:cNvPr>
          <p:cNvCxnSpPr/>
          <p:nvPr/>
        </p:nvCxnSpPr>
        <p:spPr>
          <a:xfrm flipV="1">
            <a:off x="9977983" y="3357600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8">
            <a:extLst>
              <a:ext uri="{FF2B5EF4-FFF2-40B4-BE49-F238E27FC236}">
                <a16:creationId xmlns:a16="http://schemas.microsoft.com/office/drawing/2014/main" id="{82F4A8B5-4D56-F61A-CC6D-D502F021C6D7}"/>
              </a:ext>
            </a:extLst>
          </p:cNvPr>
          <p:cNvCxnSpPr/>
          <p:nvPr/>
        </p:nvCxnSpPr>
        <p:spPr>
          <a:xfrm flipV="1">
            <a:off x="9360545" y="3357600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4">
            <a:extLst>
              <a:ext uri="{FF2B5EF4-FFF2-40B4-BE49-F238E27FC236}">
                <a16:creationId xmlns:a16="http://schemas.microsoft.com/office/drawing/2014/main" id="{A1103F0A-D4CD-742A-8997-D05A43BD934F}"/>
              </a:ext>
            </a:extLst>
          </p:cNvPr>
          <p:cNvCxnSpPr/>
          <p:nvPr/>
        </p:nvCxnSpPr>
        <p:spPr>
          <a:xfrm>
            <a:off x="8727362" y="4033380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2">
            <a:extLst>
              <a:ext uri="{FF2B5EF4-FFF2-40B4-BE49-F238E27FC236}">
                <a16:creationId xmlns:a16="http://schemas.microsoft.com/office/drawing/2014/main" id="{CD370BF6-9042-D719-98D9-4AC5F3B07296}"/>
              </a:ext>
            </a:extLst>
          </p:cNvPr>
          <p:cNvSpPr>
            <a:spLocks/>
          </p:cNvSpPr>
          <p:nvPr/>
        </p:nvSpPr>
        <p:spPr bwMode="auto">
          <a:xfrm>
            <a:off x="10310681" y="3698928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6</a:t>
            </a:r>
          </a:p>
        </p:txBody>
      </p:sp>
      <p:sp>
        <p:nvSpPr>
          <p:cNvPr id="15" name="Rectangle 15">
            <a:extLst>
              <a:ext uri="{FF2B5EF4-FFF2-40B4-BE49-F238E27FC236}">
                <a16:creationId xmlns:a16="http://schemas.microsoft.com/office/drawing/2014/main" id="{1DFA2EBE-4443-B176-D12A-67DF8E7DCA10}"/>
              </a:ext>
            </a:extLst>
          </p:cNvPr>
          <p:cNvSpPr>
            <a:spLocks/>
          </p:cNvSpPr>
          <p:nvPr/>
        </p:nvSpPr>
        <p:spPr bwMode="auto">
          <a:xfrm>
            <a:off x="7812581" y="4925697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16" name="Straight Arrow Connector 18">
            <a:extLst>
              <a:ext uri="{FF2B5EF4-FFF2-40B4-BE49-F238E27FC236}">
                <a16:creationId xmlns:a16="http://schemas.microsoft.com/office/drawing/2014/main" id="{9257211B-DF8D-5F4C-03E1-FD92FC25A0F1}"/>
              </a:ext>
            </a:extLst>
          </p:cNvPr>
          <p:cNvCxnSpPr/>
          <p:nvPr/>
        </p:nvCxnSpPr>
        <p:spPr>
          <a:xfrm flipV="1">
            <a:off x="10617600" y="3362999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20">
            <a:extLst>
              <a:ext uri="{FF2B5EF4-FFF2-40B4-BE49-F238E27FC236}">
                <a16:creationId xmlns:a16="http://schemas.microsoft.com/office/drawing/2014/main" id="{F2BEC3D0-94F5-0029-531F-1CC1F25690CF}"/>
              </a:ext>
            </a:extLst>
          </p:cNvPr>
          <p:cNvSpPr>
            <a:spLocks/>
          </p:cNvSpPr>
          <p:nvPr/>
        </p:nvSpPr>
        <p:spPr bwMode="auto">
          <a:xfrm>
            <a:off x="10310682" y="3028578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18" name="Rectangle 27">
            <a:extLst>
              <a:ext uri="{FF2B5EF4-FFF2-40B4-BE49-F238E27FC236}">
                <a16:creationId xmlns:a16="http://schemas.microsoft.com/office/drawing/2014/main" id="{C658B314-047D-2DA3-4299-7406CA3AE297}"/>
              </a:ext>
            </a:extLst>
          </p:cNvPr>
          <p:cNvSpPr>
            <a:spLocks/>
          </p:cNvSpPr>
          <p:nvPr/>
        </p:nvSpPr>
        <p:spPr bwMode="auto">
          <a:xfrm>
            <a:off x="9103965" y="3686874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19" name="Rectangle 30">
            <a:extLst>
              <a:ext uri="{FF2B5EF4-FFF2-40B4-BE49-F238E27FC236}">
                <a16:creationId xmlns:a16="http://schemas.microsoft.com/office/drawing/2014/main" id="{35ADA882-1AD2-B930-E327-ED28FD584858}"/>
              </a:ext>
            </a:extLst>
          </p:cNvPr>
          <p:cNvSpPr>
            <a:spLocks/>
          </p:cNvSpPr>
          <p:nvPr/>
        </p:nvSpPr>
        <p:spPr bwMode="auto">
          <a:xfrm>
            <a:off x="9041627" y="3045820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20" name="Rectangle 27">
            <a:extLst>
              <a:ext uri="{FF2B5EF4-FFF2-40B4-BE49-F238E27FC236}">
                <a16:creationId xmlns:a16="http://schemas.microsoft.com/office/drawing/2014/main" id="{81949ADC-9733-7048-42F0-408B8FFB247A}"/>
              </a:ext>
            </a:extLst>
          </p:cNvPr>
          <p:cNvSpPr>
            <a:spLocks/>
          </p:cNvSpPr>
          <p:nvPr/>
        </p:nvSpPr>
        <p:spPr bwMode="auto">
          <a:xfrm>
            <a:off x="9721403" y="3686874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5</a:t>
            </a:r>
          </a:p>
        </p:txBody>
      </p:sp>
      <p:sp>
        <p:nvSpPr>
          <p:cNvPr id="21" name="Rectangle 30">
            <a:extLst>
              <a:ext uri="{FF2B5EF4-FFF2-40B4-BE49-F238E27FC236}">
                <a16:creationId xmlns:a16="http://schemas.microsoft.com/office/drawing/2014/main" id="{3807AFBC-1358-E490-9519-BB5C7AA3379B}"/>
              </a:ext>
            </a:extLst>
          </p:cNvPr>
          <p:cNvSpPr>
            <a:spLocks/>
          </p:cNvSpPr>
          <p:nvPr/>
        </p:nvSpPr>
        <p:spPr bwMode="auto">
          <a:xfrm>
            <a:off x="9659065" y="3045820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cxnSp>
        <p:nvCxnSpPr>
          <p:cNvPr id="22" name="Straight Arrow Connector 18">
            <a:extLst>
              <a:ext uri="{FF2B5EF4-FFF2-40B4-BE49-F238E27FC236}">
                <a16:creationId xmlns:a16="http://schemas.microsoft.com/office/drawing/2014/main" id="{99AEA779-9906-66FB-BD63-818E563F2F6A}"/>
              </a:ext>
            </a:extLst>
          </p:cNvPr>
          <p:cNvCxnSpPr/>
          <p:nvPr/>
        </p:nvCxnSpPr>
        <p:spPr>
          <a:xfrm flipV="1">
            <a:off x="4991510" y="3280162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18">
            <a:extLst>
              <a:ext uri="{FF2B5EF4-FFF2-40B4-BE49-F238E27FC236}">
                <a16:creationId xmlns:a16="http://schemas.microsoft.com/office/drawing/2014/main" id="{1364C33A-6354-8711-2E12-8B411CECBE59}"/>
              </a:ext>
            </a:extLst>
          </p:cNvPr>
          <p:cNvCxnSpPr/>
          <p:nvPr/>
        </p:nvCxnSpPr>
        <p:spPr>
          <a:xfrm flipV="1">
            <a:off x="4374072" y="3280162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30">
            <a:extLst>
              <a:ext uri="{FF2B5EF4-FFF2-40B4-BE49-F238E27FC236}">
                <a16:creationId xmlns:a16="http://schemas.microsoft.com/office/drawing/2014/main" id="{71C01878-BF5C-3691-83F8-113489607D6B}"/>
              </a:ext>
            </a:extLst>
          </p:cNvPr>
          <p:cNvSpPr>
            <a:spLocks/>
          </p:cNvSpPr>
          <p:nvPr/>
        </p:nvSpPr>
        <p:spPr bwMode="auto">
          <a:xfrm>
            <a:off x="4073371" y="2968382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25" name="Rectangle 30">
            <a:extLst>
              <a:ext uri="{FF2B5EF4-FFF2-40B4-BE49-F238E27FC236}">
                <a16:creationId xmlns:a16="http://schemas.microsoft.com/office/drawing/2014/main" id="{B3635DDC-E53F-209E-4B39-14F1BC21BDE8}"/>
              </a:ext>
            </a:extLst>
          </p:cNvPr>
          <p:cNvSpPr>
            <a:spLocks/>
          </p:cNvSpPr>
          <p:nvPr/>
        </p:nvSpPr>
        <p:spPr bwMode="auto">
          <a:xfrm>
            <a:off x="4690809" y="2968382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26" name="Straight Arrow Connector 21">
            <a:extLst>
              <a:ext uri="{FF2B5EF4-FFF2-40B4-BE49-F238E27FC236}">
                <a16:creationId xmlns:a16="http://schemas.microsoft.com/office/drawing/2014/main" id="{5A1E0094-1F27-7CA5-E0C0-53DB2E4F6BC1}"/>
              </a:ext>
            </a:extLst>
          </p:cNvPr>
          <p:cNvCxnSpPr>
            <a:cxnSpLocks/>
          </p:cNvCxnSpPr>
          <p:nvPr/>
        </p:nvCxnSpPr>
        <p:spPr>
          <a:xfrm>
            <a:off x="2488489" y="3949067"/>
            <a:ext cx="0" cy="482641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18">
            <a:extLst>
              <a:ext uri="{FF2B5EF4-FFF2-40B4-BE49-F238E27FC236}">
                <a16:creationId xmlns:a16="http://schemas.microsoft.com/office/drawing/2014/main" id="{BD62CC49-B695-AA82-8343-9E24ABB412A9}"/>
              </a:ext>
            </a:extLst>
          </p:cNvPr>
          <p:cNvCxnSpPr/>
          <p:nvPr/>
        </p:nvCxnSpPr>
        <p:spPr>
          <a:xfrm flipV="1">
            <a:off x="3122562" y="3285561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18">
            <a:extLst>
              <a:ext uri="{FF2B5EF4-FFF2-40B4-BE49-F238E27FC236}">
                <a16:creationId xmlns:a16="http://schemas.microsoft.com/office/drawing/2014/main" id="{54AC1FCE-2DE8-6340-BC33-C86F51F12F66}"/>
              </a:ext>
            </a:extLst>
          </p:cNvPr>
          <p:cNvCxnSpPr/>
          <p:nvPr/>
        </p:nvCxnSpPr>
        <p:spPr>
          <a:xfrm flipV="1">
            <a:off x="8075667" y="333313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18">
            <a:extLst>
              <a:ext uri="{FF2B5EF4-FFF2-40B4-BE49-F238E27FC236}">
                <a16:creationId xmlns:a16="http://schemas.microsoft.com/office/drawing/2014/main" id="{BFA63EF1-ED9C-FAF9-997B-8E4647DE6018}"/>
              </a:ext>
            </a:extLst>
          </p:cNvPr>
          <p:cNvCxnSpPr/>
          <p:nvPr/>
        </p:nvCxnSpPr>
        <p:spPr>
          <a:xfrm flipV="1">
            <a:off x="7458229" y="3333135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">
            <a:extLst>
              <a:ext uri="{FF2B5EF4-FFF2-40B4-BE49-F238E27FC236}">
                <a16:creationId xmlns:a16="http://schemas.microsoft.com/office/drawing/2014/main" id="{ABD2EC0F-FFFF-FECF-F8AA-97F15ADB2847}"/>
              </a:ext>
            </a:extLst>
          </p:cNvPr>
          <p:cNvCxnSpPr/>
          <p:nvPr/>
        </p:nvCxnSpPr>
        <p:spPr>
          <a:xfrm>
            <a:off x="6825046" y="3996641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6">
            <a:extLst>
              <a:ext uri="{FF2B5EF4-FFF2-40B4-BE49-F238E27FC236}">
                <a16:creationId xmlns:a16="http://schemas.microsoft.com/office/drawing/2014/main" id="{D9430313-DDE6-A904-2C69-C226063F3FDB}"/>
              </a:ext>
            </a:extLst>
          </p:cNvPr>
          <p:cNvSpPr>
            <a:spLocks/>
          </p:cNvSpPr>
          <p:nvPr/>
        </p:nvSpPr>
        <p:spPr bwMode="auto">
          <a:xfrm flipH="1">
            <a:off x="6739445" y="3653421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34" name="Rectangle 12">
            <a:extLst>
              <a:ext uri="{FF2B5EF4-FFF2-40B4-BE49-F238E27FC236}">
                <a16:creationId xmlns:a16="http://schemas.microsoft.com/office/drawing/2014/main" id="{60ED1067-82EC-06D8-E5E0-952102033231}"/>
              </a:ext>
            </a:extLst>
          </p:cNvPr>
          <p:cNvSpPr>
            <a:spLocks/>
          </p:cNvSpPr>
          <p:nvPr/>
        </p:nvSpPr>
        <p:spPr bwMode="auto">
          <a:xfrm>
            <a:off x="8563351" y="3662188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5" name="Rectangle 15">
            <a:extLst>
              <a:ext uri="{FF2B5EF4-FFF2-40B4-BE49-F238E27FC236}">
                <a16:creationId xmlns:a16="http://schemas.microsoft.com/office/drawing/2014/main" id="{6ED6F873-0DEF-3062-1B7D-E8474391CB99}"/>
              </a:ext>
            </a:extLst>
          </p:cNvPr>
          <p:cNvSpPr>
            <a:spLocks/>
          </p:cNvSpPr>
          <p:nvPr/>
        </p:nvSpPr>
        <p:spPr bwMode="auto">
          <a:xfrm>
            <a:off x="5910265" y="4888958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38</a:t>
            </a:r>
          </a:p>
        </p:txBody>
      </p:sp>
      <p:cxnSp>
        <p:nvCxnSpPr>
          <p:cNvPr id="36" name="Straight Arrow Connector 21">
            <a:extLst>
              <a:ext uri="{FF2B5EF4-FFF2-40B4-BE49-F238E27FC236}">
                <a16:creationId xmlns:a16="http://schemas.microsoft.com/office/drawing/2014/main" id="{CBC95C06-8DAD-2F34-EC4E-8805D27AD64B}"/>
              </a:ext>
            </a:extLst>
          </p:cNvPr>
          <p:cNvCxnSpPr/>
          <p:nvPr/>
        </p:nvCxnSpPr>
        <p:spPr>
          <a:xfrm>
            <a:off x="1236978" y="3949067"/>
            <a:ext cx="0" cy="84353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23">
            <a:extLst>
              <a:ext uri="{FF2B5EF4-FFF2-40B4-BE49-F238E27FC236}">
                <a16:creationId xmlns:a16="http://schemas.microsoft.com/office/drawing/2014/main" id="{11C9F124-F6A6-EB7F-ACE9-80F59F395BAC}"/>
              </a:ext>
            </a:extLst>
          </p:cNvPr>
          <p:cNvSpPr>
            <a:spLocks/>
          </p:cNvSpPr>
          <p:nvPr/>
        </p:nvSpPr>
        <p:spPr bwMode="auto">
          <a:xfrm flipH="1">
            <a:off x="1151377" y="3605847"/>
            <a:ext cx="1317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0</a:t>
            </a:r>
          </a:p>
        </p:txBody>
      </p:sp>
      <p:sp>
        <p:nvSpPr>
          <p:cNvPr id="39" name="Rectangle 27">
            <a:extLst>
              <a:ext uri="{FF2B5EF4-FFF2-40B4-BE49-F238E27FC236}">
                <a16:creationId xmlns:a16="http://schemas.microsoft.com/office/drawing/2014/main" id="{6B62E966-855F-8EF7-006E-8469EEAFC58E}"/>
              </a:ext>
            </a:extLst>
          </p:cNvPr>
          <p:cNvSpPr>
            <a:spLocks/>
          </p:cNvSpPr>
          <p:nvPr/>
        </p:nvSpPr>
        <p:spPr bwMode="auto">
          <a:xfrm>
            <a:off x="1614471" y="3602561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68C45C8-8F0E-72B7-8DF9-C98B86EDA23A}"/>
              </a:ext>
            </a:extLst>
          </p:cNvPr>
          <p:cNvSpPr>
            <a:spLocks/>
          </p:cNvSpPr>
          <p:nvPr/>
        </p:nvSpPr>
        <p:spPr bwMode="auto">
          <a:xfrm>
            <a:off x="282405" y="4792597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21</a:t>
            </a:r>
          </a:p>
        </p:txBody>
      </p:sp>
      <p:cxnSp>
        <p:nvCxnSpPr>
          <p:cNvPr id="41" name="Straight Connector 16">
            <a:extLst>
              <a:ext uri="{FF2B5EF4-FFF2-40B4-BE49-F238E27FC236}">
                <a16:creationId xmlns:a16="http://schemas.microsoft.com/office/drawing/2014/main" id="{4F7AE283-52FC-062B-9996-3AD789CEA346}"/>
              </a:ext>
            </a:extLst>
          </p:cNvPr>
          <p:cNvCxnSpPr/>
          <p:nvPr/>
        </p:nvCxnSpPr>
        <p:spPr>
          <a:xfrm>
            <a:off x="6825046" y="3996642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18">
            <a:extLst>
              <a:ext uri="{FF2B5EF4-FFF2-40B4-BE49-F238E27FC236}">
                <a16:creationId xmlns:a16="http://schemas.microsoft.com/office/drawing/2014/main" id="{460F7C5A-3077-158A-C1F0-2BA2BC29BA1E}"/>
              </a:ext>
            </a:extLst>
          </p:cNvPr>
          <p:cNvCxnSpPr/>
          <p:nvPr/>
        </p:nvCxnSpPr>
        <p:spPr>
          <a:xfrm flipV="1">
            <a:off x="1871051" y="3285561"/>
            <a:ext cx="0" cy="658107"/>
          </a:xfrm>
          <a:prstGeom prst="straightConnector1">
            <a:avLst/>
          </a:prstGeom>
          <a:ln w="38100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76CFD89E-F518-630B-5421-9EE02E5AC68C}"/>
              </a:ext>
            </a:extLst>
          </p:cNvPr>
          <p:cNvCxnSpPr>
            <a:cxnSpLocks/>
          </p:cNvCxnSpPr>
          <p:nvPr/>
        </p:nvCxnSpPr>
        <p:spPr>
          <a:xfrm flipV="1">
            <a:off x="1236979" y="3949066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30">
            <a:extLst>
              <a:ext uri="{FF2B5EF4-FFF2-40B4-BE49-F238E27FC236}">
                <a16:creationId xmlns:a16="http://schemas.microsoft.com/office/drawing/2014/main" id="{63864FEF-93E5-AA3E-6AB8-12C2DD5C16E2}"/>
              </a:ext>
            </a:extLst>
          </p:cNvPr>
          <p:cNvSpPr>
            <a:spLocks/>
          </p:cNvSpPr>
          <p:nvPr/>
        </p:nvSpPr>
        <p:spPr bwMode="auto">
          <a:xfrm>
            <a:off x="1552133" y="2973781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sp>
        <p:nvSpPr>
          <p:cNvPr id="45" name="Rectangle 27">
            <a:extLst>
              <a:ext uri="{FF2B5EF4-FFF2-40B4-BE49-F238E27FC236}">
                <a16:creationId xmlns:a16="http://schemas.microsoft.com/office/drawing/2014/main" id="{82963B66-B5A8-86A5-C431-17BDCE9BB37C}"/>
              </a:ext>
            </a:extLst>
          </p:cNvPr>
          <p:cNvSpPr>
            <a:spLocks/>
          </p:cNvSpPr>
          <p:nvPr/>
        </p:nvSpPr>
        <p:spPr bwMode="auto">
          <a:xfrm>
            <a:off x="2324233" y="360921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46" name="Rectangle 27">
            <a:extLst>
              <a:ext uri="{FF2B5EF4-FFF2-40B4-BE49-F238E27FC236}">
                <a16:creationId xmlns:a16="http://schemas.microsoft.com/office/drawing/2014/main" id="{34A56785-B7C4-21F8-30CD-2C2B92364CE9}"/>
              </a:ext>
            </a:extLst>
          </p:cNvPr>
          <p:cNvSpPr>
            <a:spLocks/>
          </p:cNvSpPr>
          <p:nvPr/>
        </p:nvSpPr>
        <p:spPr bwMode="auto">
          <a:xfrm>
            <a:off x="7201649" y="365013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47" name="Rectangle 30">
            <a:extLst>
              <a:ext uri="{FF2B5EF4-FFF2-40B4-BE49-F238E27FC236}">
                <a16:creationId xmlns:a16="http://schemas.microsoft.com/office/drawing/2014/main" id="{CE782FC1-A77F-6365-3034-6034B5D6405A}"/>
              </a:ext>
            </a:extLst>
          </p:cNvPr>
          <p:cNvSpPr>
            <a:spLocks/>
          </p:cNvSpPr>
          <p:nvPr/>
        </p:nvSpPr>
        <p:spPr bwMode="auto">
          <a:xfrm>
            <a:off x="7139311" y="302135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48" name="Rectangle 27">
            <a:extLst>
              <a:ext uri="{FF2B5EF4-FFF2-40B4-BE49-F238E27FC236}">
                <a16:creationId xmlns:a16="http://schemas.microsoft.com/office/drawing/2014/main" id="{99F0205F-90BA-9710-429F-4213B597F425}"/>
              </a:ext>
            </a:extLst>
          </p:cNvPr>
          <p:cNvSpPr>
            <a:spLocks/>
          </p:cNvSpPr>
          <p:nvPr/>
        </p:nvSpPr>
        <p:spPr bwMode="auto">
          <a:xfrm>
            <a:off x="7819087" y="3650135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49" name="Rectangle 30">
            <a:extLst>
              <a:ext uri="{FF2B5EF4-FFF2-40B4-BE49-F238E27FC236}">
                <a16:creationId xmlns:a16="http://schemas.microsoft.com/office/drawing/2014/main" id="{EC5DA5D4-6118-DD28-7250-02A549F57288}"/>
              </a:ext>
            </a:extLst>
          </p:cNvPr>
          <p:cNvSpPr>
            <a:spLocks/>
          </p:cNvSpPr>
          <p:nvPr/>
        </p:nvSpPr>
        <p:spPr bwMode="auto">
          <a:xfrm>
            <a:off x="7756749" y="3021355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20</a:t>
            </a:r>
          </a:p>
        </p:txBody>
      </p:sp>
      <p:sp>
        <p:nvSpPr>
          <p:cNvPr id="51" name="Rectangle 43">
            <a:extLst>
              <a:ext uri="{FF2B5EF4-FFF2-40B4-BE49-F238E27FC236}">
                <a16:creationId xmlns:a16="http://schemas.microsoft.com/office/drawing/2014/main" id="{C72D2082-3D9A-689D-054D-A2BA00D28720}"/>
              </a:ext>
            </a:extLst>
          </p:cNvPr>
          <p:cNvSpPr>
            <a:spLocks/>
          </p:cNvSpPr>
          <p:nvPr/>
        </p:nvSpPr>
        <p:spPr bwMode="auto">
          <a:xfrm>
            <a:off x="2441345" y="2494685"/>
            <a:ext cx="16886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A</a:t>
            </a:r>
          </a:p>
        </p:txBody>
      </p:sp>
      <p:sp>
        <p:nvSpPr>
          <p:cNvPr id="52" name="Rectangle 43">
            <a:extLst>
              <a:ext uri="{FF2B5EF4-FFF2-40B4-BE49-F238E27FC236}">
                <a16:creationId xmlns:a16="http://schemas.microsoft.com/office/drawing/2014/main" id="{6782F286-C766-5B3C-1624-A7224D90B3CD}"/>
              </a:ext>
            </a:extLst>
          </p:cNvPr>
          <p:cNvSpPr>
            <a:spLocks/>
          </p:cNvSpPr>
          <p:nvPr/>
        </p:nvSpPr>
        <p:spPr bwMode="auto">
          <a:xfrm>
            <a:off x="8412051" y="2490615"/>
            <a:ext cx="156593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000" b="1" dirty="0">
                <a:latin typeface="Century Gothic" panose="020B0502020202020204" pitchFamily="34" charset="0"/>
              </a:rPr>
              <a:t>PROYECTO B</a:t>
            </a:r>
          </a:p>
        </p:txBody>
      </p:sp>
      <p:cxnSp>
        <p:nvCxnSpPr>
          <p:cNvPr id="53" name="Straight Connector 32">
            <a:extLst>
              <a:ext uri="{FF2B5EF4-FFF2-40B4-BE49-F238E27FC236}">
                <a16:creationId xmlns:a16="http://schemas.microsoft.com/office/drawing/2014/main" id="{06981AE2-0F52-01E2-8319-62F8FFDADACE}"/>
              </a:ext>
            </a:extLst>
          </p:cNvPr>
          <p:cNvCxnSpPr>
            <a:cxnSpLocks/>
          </p:cNvCxnSpPr>
          <p:nvPr/>
        </p:nvCxnSpPr>
        <p:spPr>
          <a:xfrm flipV="1">
            <a:off x="2490996" y="3949158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7">
            <a:extLst>
              <a:ext uri="{FF2B5EF4-FFF2-40B4-BE49-F238E27FC236}">
                <a16:creationId xmlns:a16="http://schemas.microsoft.com/office/drawing/2014/main" id="{0562BB2B-89EE-6798-AFDE-910437004FEB}"/>
              </a:ext>
            </a:extLst>
          </p:cNvPr>
          <p:cNvSpPr>
            <a:spLocks/>
          </p:cNvSpPr>
          <p:nvPr/>
        </p:nvSpPr>
        <p:spPr bwMode="auto">
          <a:xfrm>
            <a:off x="2818965" y="3628199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55" name="Rectangle 27">
            <a:extLst>
              <a:ext uri="{FF2B5EF4-FFF2-40B4-BE49-F238E27FC236}">
                <a16:creationId xmlns:a16="http://schemas.microsoft.com/office/drawing/2014/main" id="{84624776-FD92-0C8D-8BDA-2FB58F208822}"/>
              </a:ext>
            </a:extLst>
          </p:cNvPr>
          <p:cNvSpPr>
            <a:spLocks/>
          </p:cNvSpPr>
          <p:nvPr/>
        </p:nvSpPr>
        <p:spPr bwMode="auto">
          <a:xfrm>
            <a:off x="3436403" y="3628199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56" name="Rectangle 38">
            <a:extLst>
              <a:ext uri="{FF2B5EF4-FFF2-40B4-BE49-F238E27FC236}">
                <a16:creationId xmlns:a16="http://schemas.microsoft.com/office/drawing/2014/main" id="{BE60F66B-4EE8-C660-899B-303DB068BC61}"/>
              </a:ext>
            </a:extLst>
          </p:cNvPr>
          <p:cNvSpPr>
            <a:spLocks/>
          </p:cNvSpPr>
          <p:nvPr/>
        </p:nvSpPr>
        <p:spPr bwMode="auto">
          <a:xfrm>
            <a:off x="1549237" y="4423158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57" name="Rectangle 30">
            <a:extLst>
              <a:ext uri="{FF2B5EF4-FFF2-40B4-BE49-F238E27FC236}">
                <a16:creationId xmlns:a16="http://schemas.microsoft.com/office/drawing/2014/main" id="{F2554989-9920-1012-38C4-9B3F6C9B6627}"/>
              </a:ext>
            </a:extLst>
          </p:cNvPr>
          <p:cNvSpPr>
            <a:spLocks/>
          </p:cNvSpPr>
          <p:nvPr/>
        </p:nvSpPr>
        <p:spPr bwMode="auto">
          <a:xfrm>
            <a:off x="2821861" y="2973781"/>
            <a:ext cx="6387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18</a:t>
            </a:r>
          </a:p>
        </p:txBody>
      </p:sp>
      <p:cxnSp>
        <p:nvCxnSpPr>
          <p:cNvPr id="58" name="Straight Connector 32">
            <a:extLst>
              <a:ext uri="{FF2B5EF4-FFF2-40B4-BE49-F238E27FC236}">
                <a16:creationId xmlns:a16="http://schemas.microsoft.com/office/drawing/2014/main" id="{3B1884DA-CA14-93CE-EB32-9EF1A3E08526}"/>
              </a:ext>
            </a:extLst>
          </p:cNvPr>
          <p:cNvCxnSpPr>
            <a:cxnSpLocks/>
          </p:cNvCxnSpPr>
          <p:nvPr/>
        </p:nvCxnSpPr>
        <p:spPr>
          <a:xfrm flipV="1">
            <a:off x="3736695" y="3950099"/>
            <a:ext cx="1251510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27">
            <a:extLst>
              <a:ext uri="{FF2B5EF4-FFF2-40B4-BE49-F238E27FC236}">
                <a16:creationId xmlns:a16="http://schemas.microsoft.com/office/drawing/2014/main" id="{81FA9F06-900A-A977-1F42-B9C304078C5D}"/>
              </a:ext>
            </a:extLst>
          </p:cNvPr>
          <p:cNvSpPr>
            <a:spLocks/>
          </p:cNvSpPr>
          <p:nvPr/>
        </p:nvSpPr>
        <p:spPr bwMode="auto">
          <a:xfrm>
            <a:off x="3999644" y="3650149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5</a:t>
            </a:r>
          </a:p>
        </p:txBody>
      </p:sp>
      <p:sp>
        <p:nvSpPr>
          <p:cNvPr id="60" name="Rectangle 27">
            <a:extLst>
              <a:ext uri="{FF2B5EF4-FFF2-40B4-BE49-F238E27FC236}">
                <a16:creationId xmlns:a16="http://schemas.microsoft.com/office/drawing/2014/main" id="{11AC2F9E-55DE-1880-D509-A682853F8ACB}"/>
              </a:ext>
            </a:extLst>
          </p:cNvPr>
          <p:cNvSpPr>
            <a:spLocks/>
          </p:cNvSpPr>
          <p:nvPr/>
        </p:nvSpPr>
        <p:spPr bwMode="auto">
          <a:xfrm>
            <a:off x="4617082" y="3650149"/>
            <a:ext cx="33706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Century Gothic" panose="020B0502020202020204" pitchFamily="34" charset="0"/>
              </a:rPr>
              <a:t>6</a:t>
            </a:r>
          </a:p>
        </p:txBody>
      </p:sp>
      <p:cxnSp>
        <p:nvCxnSpPr>
          <p:cNvPr id="61" name="Straight Connector 16">
            <a:extLst>
              <a:ext uri="{FF2B5EF4-FFF2-40B4-BE49-F238E27FC236}">
                <a16:creationId xmlns:a16="http://schemas.microsoft.com/office/drawing/2014/main" id="{2516CD5A-E9F2-9120-8E81-551EF43A60C9}"/>
              </a:ext>
            </a:extLst>
          </p:cNvPr>
          <p:cNvCxnSpPr/>
          <p:nvPr/>
        </p:nvCxnSpPr>
        <p:spPr>
          <a:xfrm>
            <a:off x="8727729" y="4003525"/>
            <a:ext cx="1890238" cy="125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21">
            <a:extLst>
              <a:ext uri="{FF2B5EF4-FFF2-40B4-BE49-F238E27FC236}">
                <a16:creationId xmlns:a16="http://schemas.microsoft.com/office/drawing/2014/main" id="{D3154E34-F057-F4AB-4686-9E2AAEE8B75A}"/>
              </a:ext>
            </a:extLst>
          </p:cNvPr>
          <p:cNvCxnSpPr>
            <a:cxnSpLocks/>
          </p:cNvCxnSpPr>
          <p:nvPr/>
        </p:nvCxnSpPr>
        <p:spPr>
          <a:xfrm>
            <a:off x="3616158" y="3957617"/>
            <a:ext cx="0" cy="482641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38">
            <a:extLst>
              <a:ext uri="{FF2B5EF4-FFF2-40B4-BE49-F238E27FC236}">
                <a16:creationId xmlns:a16="http://schemas.microsoft.com/office/drawing/2014/main" id="{42C3237E-ABC0-A8E0-FDE5-7AC9CD8396EB}"/>
              </a:ext>
            </a:extLst>
          </p:cNvPr>
          <p:cNvSpPr>
            <a:spLocks/>
          </p:cNvSpPr>
          <p:nvPr/>
        </p:nvSpPr>
        <p:spPr bwMode="auto">
          <a:xfrm>
            <a:off x="2676906" y="4431708"/>
            <a:ext cx="188716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57263F7D-D9A7-8424-4D22-96FD2C42C29F}"/>
              </a:ext>
            </a:extLst>
          </p:cNvPr>
          <p:cNvSpPr txBox="1"/>
          <p:nvPr/>
        </p:nvSpPr>
        <p:spPr>
          <a:xfrm>
            <a:off x="7501399" y="5531755"/>
            <a:ext cx="35421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Se confirma que el proyecto A es más conveniente que el </a:t>
            </a:r>
            <a:r>
              <a:rPr lang="es-ES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B </a:t>
            </a:r>
            <a:r>
              <a:rPr lang="es-ES" b="1" dirty="0">
                <a:solidFill>
                  <a:srgbClr val="D7A700"/>
                </a:solidFill>
                <a:latin typeface="Century Gothic" panose="020B0502020202020204" pitchFamily="34" charset="0"/>
              </a:rPr>
              <a:t>si se puede replicar</a:t>
            </a:r>
            <a:r>
              <a:rPr lang="es-ES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.</a:t>
            </a:r>
            <a:endParaRPr lang="es-CO" b="1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2F7DC2-113F-FE59-315A-75BCF1C81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14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618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4922" y="2154739"/>
            <a:ext cx="8491499" cy="4166523"/>
          </a:xfrm>
        </p:spPr>
        <p:txBody>
          <a:bodyPr>
            <a:normAutofit/>
          </a:bodyPr>
          <a:lstStyle/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Pese a que el método de replicar es altamente utilizado en la teoría, existe una discusión práctica sobre la validez de 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asumir la repetición de un proyecto en el tiempo exactamente bajo las mismas condiciones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.</a:t>
            </a:r>
          </a:p>
          <a:p>
            <a:pPr algn="just"/>
            <a:endParaRPr lang="es-ES_tradnl" sz="1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Normalmente, la utilización de la réplica sería factible en la práctica para proyectos en el </a:t>
            </a:r>
            <a:r>
              <a:rPr lang="es-ES_tradnl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corto plazo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.</a:t>
            </a:r>
          </a:p>
          <a:p>
            <a:pPr algn="just"/>
            <a:endParaRPr lang="es-ES_tradnl" sz="1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Si el anterior supuesto no es factible, </a:t>
            </a:r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la mejor práctica para comparar las alternativas es utilizar el VPN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, si sabemos que la vida útil de los proyectos es distinta.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98E8E07-E1E0-6706-5AE0-E4BF46D58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421" y="3274261"/>
            <a:ext cx="2160566" cy="1699321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BC5F3D4C-1FF6-513C-CB63-F01594E8D94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50100AF9-C63F-53B7-B0C6-E61CDF832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DA611284-11A8-B175-AC2D-69903DE8A3A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Marcador de número de diapositiva 2">
            <a:extLst>
              <a:ext uri="{FF2B5EF4-FFF2-40B4-BE49-F238E27FC236}">
                <a16:creationId xmlns:a16="http://schemas.microsoft.com/office/drawing/2014/main" id="{BA99C6AC-75E3-47E7-5993-69B468C3F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15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68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Mutuamente Excluyentes – CASO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1399" y="1868659"/>
            <a:ext cx="9664945" cy="416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Caso 3: </a:t>
            </a:r>
            <a:r>
              <a:rPr lang="es-ES_tradnl" sz="2000" b="1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</a:rPr>
              <a:t>Comparación de alternativas mutuamente excluyentes con vidas útiles e inversiones iniciales distintas.</a:t>
            </a:r>
          </a:p>
          <a:p>
            <a:pPr marL="0" indent="0" algn="just">
              <a:buNone/>
            </a:pPr>
            <a:endParaRPr lang="es-ES_tradnl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marL="0" indent="0" algn="just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En este caso, se pueden usar los siguientes IBF:</a:t>
            </a:r>
          </a:p>
          <a:p>
            <a:pPr marL="0" indent="0" algn="just">
              <a:buNone/>
            </a:pPr>
            <a:endParaRPr lang="es-ES_tradnl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marL="0" indent="0" algn="ctr">
              <a:buNone/>
            </a:pPr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VPN – Sin Réplica*</a:t>
            </a:r>
          </a:p>
          <a:p>
            <a:pPr marL="0" indent="0" algn="ctr">
              <a:buNone/>
            </a:pPr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VPN y VAE – Con Réplica*</a:t>
            </a:r>
          </a:p>
          <a:p>
            <a:pPr marL="0" indent="0" algn="ctr">
              <a:buNone/>
            </a:pPr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</a:rPr>
              <a:t>Análisis Marginal (Incremental/Diferencial)**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84D23D0-253D-81DB-8E21-3D06CB8A55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889" t="6761" r="5922" b="11983"/>
          <a:stretch/>
        </p:blipFill>
        <p:spPr>
          <a:xfrm>
            <a:off x="8229600" y="3087353"/>
            <a:ext cx="2953264" cy="1943945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01C5FDA0-2675-BEDD-2383-310F75B6825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12DA0B2E-01A9-F941-8D2F-B17C450D3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CE70B02-87B7-514D-62BF-C368301B81E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660EC52-585B-F14B-E14A-634AF8009754}"/>
              </a:ext>
            </a:extLst>
          </p:cNvPr>
          <p:cNvSpPr txBox="1"/>
          <p:nvPr/>
        </p:nvSpPr>
        <p:spPr>
          <a:xfrm>
            <a:off x="290512" y="5999386"/>
            <a:ext cx="108923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s-ES" sz="1400" dirty="0">
                <a:solidFill>
                  <a:srgbClr val="FF0000"/>
                </a:solidFill>
                <a:latin typeface="Century Gothic" panose="020B0502020202020204" pitchFamily="34" charset="0"/>
              </a:rPr>
              <a:t>*IBF de los FCL de los proyectos.</a:t>
            </a:r>
          </a:p>
          <a:p>
            <a:pPr marL="0" indent="0" algn="just">
              <a:buNone/>
            </a:pPr>
            <a:r>
              <a:rPr lang="es-ES" sz="1400" dirty="0">
                <a:solidFill>
                  <a:srgbClr val="FF0000"/>
                </a:solidFill>
                <a:latin typeface="Century Gothic" panose="020B0502020202020204" pitchFamily="34" charset="0"/>
              </a:rPr>
              <a:t>**Se puede usar todos los indicadores marginales, no olvidar validar que haya un solo cambio de signo en los FCL Marginales para TIR marginal.</a:t>
            </a:r>
            <a:endParaRPr lang="es-ES_tradnl" sz="1400" dirty="0">
              <a:solidFill>
                <a:srgbClr val="FF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Marcador de número de diapositiva 2">
            <a:extLst>
              <a:ext uri="{FF2B5EF4-FFF2-40B4-BE49-F238E27FC236}">
                <a16:creationId xmlns:a16="http://schemas.microsoft.com/office/drawing/2014/main" id="{1C0C3D28-36B0-D4D1-6526-9AF29E835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16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201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EC60B-E144-DFFF-F3F6-6FCC0084A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CAFE68-D95C-0756-0E3A-853AFA432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04B2C3EA-00EB-9274-C2B1-D745F327A1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1536A9C7-0B88-A4C0-C94A-7806F4DD415D}"/>
              </a:ext>
            </a:extLst>
          </p:cNvPr>
          <p:cNvSpPr/>
          <p:nvPr/>
        </p:nvSpPr>
        <p:spPr>
          <a:xfrm>
            <a:off x="2806200" y="2772729"/>
            <a:ext cx="8540907" cy="2308324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/>
                <a:cs typeface="Arial"/>
              </a:rPr>
              <a:t>Proyectos Mutuamente Excluyentes.</a:t>
            </a:r>
            <a:endParaRPr lang="es-CO" dirty="0">
              <a:solidFill>
                <a:schemeClr val="bg2">
                  <a:lumMod val="90000"/>
                </a:schemeClr>
              </a:solidFill>
              <a:latin typeface="Century Gothic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  <a:cs typeface="Arial"/>
              </a:rPr>
              <a:t>	</a:t>
            </a:r>
            <a:r>
              <a:rPr lang="es-CO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1.1. </a:t>
            </a: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 panose="020B0502020202020204" pitchFamily="34" charset="0"/>
                <a:cs typeface="Arial"/>
              </a:rPr>
              <a:t>Caso 3: distinta vida útil y distinta inversión inicial.</a:t>
            </a:r>
          </a:p>
          <a:p>
            <a:pPr>
              <a:buClr>
                <a:srgbClr val="48BE7A"/>
              </a:buClr>
            </a:pPr>
            <a:endParaRPr lang="es-CO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Consolidado Evaluación Proyectos. </a:t>
            </a: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endParaRPr lang="es-CO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 panose="020B0502020202020204" pitchFamily="34" charset="0"/>
                <a:cs typeface="Arial"/>
              </a:rPr>
              <a:t>Ejercicios de Práctica.</a:t>
            </a: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958F393-A6C1-A55E-3C77-686984F6D6C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82244AB5-4865-747C-BA61-CFDCD5BE1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EB1219E7-2961-AA2B-A30F-60152C6626C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A4DBDE5D-0C20-633C-FBCC-65DA1B142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17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23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A671C-2BF7-4B39-9295-3B6812B42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B7F09-2AA5-E3EA-2519-21D2882EAE3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20915" y="522103"/>
            <a:ext cx="9664700" cy="58102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Resumen de los tipos de proyectos y casos analizados: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98D63D4-7748-2418-CE8C-A32DED3E320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B5827226-0D2D-2E44-3A2D-1A91F977D4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AD56D0C0-E519-1720-D462-65E1FEFB7A3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9" name="Table 31">
            <a:extLst>
              <a:ext uri="{FF2B5EF4-FFF2-40B4-BE49-F238E27FC236}">
                <a16:creationId xmlns:a16="http://schemas.microsoft.com/office/drawing/2014/main" id="{632C3B19-46A3-535E-E26B-E9C0115EF8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2269014"/>
              </p:ext>
            </p:extLst>
          </p:nvPr>
        </p:nvGraphicFramePr>
        <p:xfrm>
          <a:off x="420915" y="1057121"/>
          <a:ext cx="10747829" cy="5472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9654">
                  <a:extLst>
                    <a:ext uri="{9D8B030D-6E8A-4147-A177-3AD203B41FA5}">
                      <a16:colId xmlns:a16="http://schemas.microsoft.com/office/drawing/2014/main" val="1633036186"/>
                    </a:ext>
                  </a:extLst>
                </a:gridCol>
                <a:gridCol w="1662022">
                  <a:extLst>
                    <a:ext uri="{9D8B030D-6E8A-4147-A177-3AD203B41FA5}">
                      <a16:colId xmlns:a16="http://schemas.microsoft.com/office/drawing/2014/main" val="467730225"/>
                    </a:ext>
                  </a:extLst>
                </a:gridCol>
                <a:gridCol w="5607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TIPO DE PROYECTO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/>
                        </a:rPr>
                        <a:t>INDICADORES APROPIADOS</a:t>
                      </a:r>
                      <a:endParaRPr lang="es-ES_tradnl" sz="1800" noProof="0" dirty="0"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Independiente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Sin restricción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</a:t>
                      </a:r>
                      <a:r>
                        <a:rPr lang="es-CO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PN          B/C </a:t>
                      </a:r>
                    </a:p>
                    <a:p>
                      <a:pPr algn="ctr" rtl="0" fontAlgn="ctr"/>
                      <a:r>
                        <a:rPr lang="es-CO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TVR     VAE      TIR* </a:t>
                      </a: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52">
                <a:tc v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Con restricción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Dependerá del caso en el que nos encontremos.</a:t>
                      </a:r>
                      <a:endParaRPr lang="es-CO" sz="18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75529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Dependientes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Si se tiene el detalle de los FCL de cada proyecto</a:t>
                      </a:r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</a:t>
                      </a:r>
                      <a:r>
                        <a:rPr lang="es-CO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PN          B/C </a:t>
                      </a:r>
                    </a:p>
                    <a:p>
                      <a:pPr algn="ctr" rtl="0" fontAlgn="ctr"/>
                      <a:r>
                        <a:rPr lang="es-CO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TVR     VAE      TIR* </a:t>
                      </a: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Si solo se tienen los IBF de cada proyecto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VPN          VAE</a:t>
                      </a:r>
                      <a:endParaRPr lang="es-CO" sz="18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602136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Mutuamente Excluyentes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Caso 1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</a:t>
                      </a:r>
                      <a:r>
                        <a:rPr lang="es-CO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PN          B/C </a:t>
                      </a:r>
                    </a:p>
                    <a:p>
                      <a:pPr algn="ctr" rtl="0" fontAlgn="ctr"/>
                      <a:r>
                        <a:rPr lang="es-CO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TVR          VAE </a:t>
                      </a: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880968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Caso 2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VPN          VAE</a:t>
                      </a:r>
                    </a:p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Análisis Marginal (Todos los IBF*)</a:t>
                      </a:r>
                      <a:endParaRPr lang="es-CO" sz="18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6215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Caso 3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Sin Réplica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VPN </a:t>
                      </a:r>
                    </a:p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Análisis Marginal (Todos los IBF*)</a:t>
                      </a:r>
                      <a:endParaRPr lang="es-CO" sz="18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69514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Con Réplica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VPN Replicado</a:t>
                      </a:r>
                    </a:p>
                    <a:p>
                      <a:pPr algn="ctr" rtl="0" fontAlgn="ctr"/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VAE Replicado</a:t>
                      </a:r>
                    </a:p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Análisis Marginal De los Flujos Replicados (Todos los IBF*)</a:t>
                      </a:r>
                      <a:endParaRPr lang="es-CO" sz="1800" b="0" i="0" u="none" strike="noStrike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12700" marR="12700" marT="1270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790634"/>
                  </a:ext>
                </a:extLst>
              </a:tr>
            </a:tbl>
          </a:graphicData>
        </a:graphic>
      </p:graphicFrame>
      <p:sp>
        <p:nvSpPr>
          <p:cNvPr id="14" name="CuadroTexto 13">
            <a:extLst>
              <a:ext uri="{FF2B5EF4-FFF2-40B4-BE49-F238E27FC236}">
                <a16:creationId xmlns:a16="http://schemas.microsoft.com/office/drawing/2014/main" id="{68CF82E9-FD68-8314-8615-73402E7B87E4}"/>
              </a:ext>
            </a:extLst>
          </p:cNvPr>
          <p:cNvSpPr txBox="1"/>
          <p:nvPr/>
        </p:nvSpPr>
        <p:spPr>
          <a:xfrm>
            <a:off x="0" y="6605274"/>
            <a:ext cx="750388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900" dirty="0">
                <a:solidFill>
                  <a:srgbClr val="FF0000"/>
                </a:solidFill>
                <a:latin typeface="Century Gothic" panose="020B0502020202020204" pitchFamily="34" charset="0"/>
              </a:rPr>
              <a:t>*No olvidar validar que haya un solo cambio de signo en los FCL.</a:t>
            </a:r>
            <a:endParaRPr lang="es-CO" sz="900" dirty="0">
              <a:solidFill>
                <a:srgbClr val="FF0000"/>
              </a:solidFill>
            </a:endParaRPr>
          </a:p>
        </p:txBody>
      </p:sp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BC201E1F-119E-F0AA-D1E0-0D2011572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18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98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54A14-8186-49CE-9EF4-E2E12E9BB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5035E-3EC4-2842-A1FF-5CB76C5D5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Consolidado DE evaluación de proyectos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CC3FE-F97E-7394-25AA-7A9075E24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43" y="1989939"/>
            <a:ext cx="8839492" cy="416652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s-ES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¿Si todos los proyectos son NO financieramente viables se debe realizar el menos financieramente viable o ninguno?</a:t>
            </a:r>
            <a:endParaRPr lang="es-ES_tradnl" sz="2000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  <a:p>
            <a:pPr marL="0" indent="0" algn="just">
              <a:buNone/>
            </a:pPr>
            <a:endParaRPr lang="es-ES_tradnl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marL="0" indent="0" algn="just">
              <a:buNone/>
            </a:pPr>
            <a:r>
              <a:rPr lang="es-ES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La respuesta es… depende: ​</a:t>
            </a:r>
          </a:p>
          <a:p>
            <a:pPr marL="0" indent="0" algn="just">
              <a:buNone/>
            </a:pPr>
            <a:endParaRPr lang="es-ES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algn="just"/>
            <a:r>
              <a:rPr lang="es-ES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Si se está evaluando proyectos para suplir una necesidad de la compañía debería seleccionarse el menos financieramente viable. ​</a:t>
            </a:r>
          </a:p>
          <a:p>
            <a:pPr algn="just"/>
            <a:endParaRPr lang="es-ES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  <a:p>
            <a:pPr algn="just"/>
            <a:r>
              <a:rPr lang="es-ES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Si se están evaluando proyectos, por ejemplo, para una expansión del negocio o que no suplen una necesidad indispensable para la compañía, debería optarse por no realizar ninguno y en dado caso invertir el dinero al costo de oportunidad. </a:t>
            </a:r>
            <a:endParaRPr lang="es-ES_tradnl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D2F587B-F168-B083-376B-BF578D9BB80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C5D894F5-D800-7D31-92FE-C41288034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EBB8487B-082B-DDDF-2507-63856BF7223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9B3DE6-E2AB-2E02-32C3-943027B50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035" y="2252599"/>
            <a:ext cx="2779409" cy="2186051"/>
          </a:xfrm>
          <a:prstGeom prst="rect">
            <a:avLst/>
          </a:prstGeom>
        </p:spPr>
      </p:pic>
      <p:sp>
        <p:nvSpPr>
          <p:cNvPr id="6" name="Marcador de número de diapositiva 2">
            <a:extLst>
              <a:ext uri="{FF2B5EF4-FFF2-40B4-BE49-F238E27FC236}">
                <a16:creationId xmlns:a16="http://schemas.microsoft.com/office/drawing/2014/main" id="{3FC93A16-9405-80C8-4B38-5FD69C301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19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9961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33655-8A1B-DD1E-5E64-D6BBD10E4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5613E-FA2A-A3FE-9137-AF59BAFA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77305125-CFC8-9652-930F-1EA8D8FFEE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9AABA314-DADA-DAC1-1C16-2D60013330FA}"/>
              </a:ext>
            </a:extLst>
          </p:cNvPr>
          <p:cNvSpPr/>
          <p:nvPr/>
        </p:nvSpPr>
        <p:spPr>
          <a:xfrm>
            <a:off x="2806200" y="2772729"/>
            <a:ext cx="8540907" cy="2308324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/>
                <a:cs typeface="Arial"/>
              </a:rPr>
              <a:t>Proyectos Mutuamente Excluyentes.</a:t>
            </a:r>
            <a:endParaRPr lang="es-CO" dirty="0">
              <a:solidFill>
                <a:schemeClr val="bg2">
                  <a:lumMod val="90000"/>
                </a:schemeClr>
              </a:solidFill>
              <a:latin typeface="Century Gothic"/>
            </a:endParaRPr>
          </a:p>
          <a:p>
            <a:pPr marL="342900" indent="-342900">
              <a:buClr>
                <a:srgbClr val="48BE7A"/>
              </a:buClr>
              <a:buFontTx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  <a:cs typeface="Arial"/>
              </a:rPr>
              <a:t>	</a:t>
            </a:r>
            <a:r>
              <a:rPr lang="es-CO" dirty="0">
                <a:solidFill>
                  <a:schemeClr val="accent3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1.1. </a:t>
            </a: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 panose="020B0502020202020204" pitchFamily="34" charset="0"/>
                <a:cs typeface="Arial"/>
              </a:rPr>
              <a:t>Caso 3: distinta vida útil y distinta inversión inicial.</a:t>
            </a:r>
          </a:p>
          <a:p>
            <a:pPr>
              <a:buClr>
                <a:srgbClr val="48BE7A"/>
              </a:buClr>
            </a:pPr>
            <a:endParaRPr lang="es-CO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bg2">
                    <a:lumMod val="90000"/>
                  </a:schemeClr>
                </a:solidFill>
                <a:latin typeface="Century Gothic" panose="020B0502020202020204" pitchFamily="34" charset="0"/>
                <a:cs typeface="Arial"/>
              </a:rPr>
              <a:t>Consolidado Evaluación Proyectos</a:t>
            </a: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endParaRPr lang="es-CO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Font typeface="+mj-lt"/>
              <a:buAutoNum type="arabicPeriod" startAt="2"/>
            </a:pPr>
            <a:r>
              <a:rPr lang="es-CO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  <a:cs typeface="Arial"/>
              </a:rPr>
              <a:t>Ejercicios de Práctica.</a:t>
            </a: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5AB2480-6FB7-7007-754F-F8B7E586021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6348F1D8-976D-2C34-B439-04F87EB69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45667F19-14A2-09FC-22B4-938FE147AE4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06CD7E2F-4906-08A7-E718-38DAF6913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20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8255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6D65AC0-9490-7BD4-A505-7A775E44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PREGUNTA 1(3 minutos)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E071962-D9A0-44BF-8E41-44E605EF11E2}"/>
              </a:ext>
            </a:extLst>
          </p:cNvPr>
          <p:cNvSpPr/>
          <p:nvPr/>
        </p:nvSpPr>
        <p:spPr>
          <a:xfrm>
            <a:off x="737837" y="2061758"/>
            <a:ext cx="40815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Considere los siguientes proyectos:</a:t>
            </a: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03F3F41-BAE8-4F68-8BA5-1726BC541219}"/>
              </a:ext>
            </a:extLst>
          </p:cNvPr>
          <p:cNvSpPr/>
          <p:nvPr/>
        </p:nvSpPr>
        <p:spPr>
          <a:xfrm>
            <a:off x="5512293" y="2231035"/>
            <a:ext cx="5866907" cy="28891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47675" algn="just">
              <a:spcBef>
                <a:spcPts val="295"/>
              </a:spcBef>
              <a:spcAft>
                <a:spcPts val="0"/>
              </a:spcAft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Adicionalmente, usted sabe que:</a:t>
            </a:r>
            <a:endParaRPr lang="es-CO" sz="2000" dirty="0">
              <a:solidFill>
                <a:schemeClr val="accent1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  <a:p>
            <a:pPr algn="just">
              <a:spcBef>
                <a:spcPts val="45"/>
              </a:spcBef>
              <a:spcAft>
                <a:spcPts val="0"/>
              </a:spcAft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s-CO" sz="2000" dirty="0">
              <a:solidFill>
                <a:schemeClr val="accent1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  <a:p>
            <a:pPr marL="342900" lvl="0" indent="-342900" algn="just">
              <a:lnSpc>
                <a:spcPct val="107000"/>
              </a:lnSpc>
              <a:spcAft>
                <a:spcPts val="0"/>
              </a:spcAft>
              <a:buClr>
                <a:schemeClr val="accent2"/>
              </a:buClr>
              <a:buSzPts val="1200"/>
              <a:buFont typeface="Wingdings" panose="05000000000000000000" pitchFamily="2" charset="2"/>
              <a:buChar char="§"/>
              <a:tabLst>
                <a:tab pos="775335" algn="l"/>
              </a:tabLst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 presupuesto para desarrollar estos proyectos es 250.</a:t>
            </a:r>
            <a:endParaRPr lang="es-CO" sz="2000" dirty="0">
              <a:solidFill>
                <a:schemeClr val="accent1"/>
              </a:solidFill>
              <a:latin typeface="Century Gothic" panose="020B0502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Bef>
                <a:spcPts val="555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Wingdings" panose="05000000000000000000" pitchFamily="2" charset="2"/>
              <a:buChar char="§"/>
              <a:tabLst>
                <a:tab pos="775335" algn="l"/>
              </a:tabLst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 y B son mutuamente excluyentes.</a:t>
            </a:r>
            <a:endParaRPr lang="es-CO" sz="2000" dirty="0">
              <a:solidFill>
                <a:schemeClr val="accent1"/>
              </a:solidFill>
              <a:latin typeface="Century Gothic" panose="020B0502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Bef>
                <a:spcPts val="555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Wingdings" panose="05000000000000000000" pitchFamily="2" charset="2"/>
              <a:buChar char="§"/>
              <a:tabLst>
                <a:tab pos="775335" algn="l"/>
              </a:tabLst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 depende de A.</a:t>
            </a:r>
            <a:endParaRPr lang="es-CO" sz="2000" dirty="0">
              <a:solidFill>
                <a:schemeClr val="accent1"/>
              </a:solidFill>
              <a:latin typeface="Century Gothic" panose="020B0502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Bef>
                <a:spcPts val="55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Wingdings" panose="05000000000000000000" pitchFamily="2" charset="2"/>
              <a:buChar char="§"/>
              <a:tabLst>
                <a:tab pos="775335" algn="l"/>
              </a:tabLst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 es independiente de todos los demás proyectos.</a:t>
            </a:r>
            <a:endParaRPr lang="es-CO" sz="2000" dirty="0">
              <a:solidFill>
                <a:schemeClr val="accent1"/>
              </a:solidFill>
              <a:latin typeface="Century Gothic" panose="020B0502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Tabla 12">
            <a:extLst>
              <a:ext uri="{FF2B5EF4-FFF2-40B4-BE49-F238E27FC236}">
                <a16:creationId xmlns:a16="http://schemas.microsoft.com/office/drawing/2014/main" id="{B8F6F460-9457-4601-8FEA-9E2C7D8319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282893"/>
              </p:ext>
            </p:extLst>
          </p:nvPr>
        </p:nvGraphicFramePr>
        <p:xfrm>
          <a:off x="866048" y="2776892"/>
          <a:ext cx="3728306" cy="184022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{5940675A-B579-460E-94D1-54222C63F5DA}</a:tableStyleId>
              </a:tblPr>
              <a:tblGrid>
                <a:gridCol w="1152974">
                  <a:extLst>
                    <a:ext uri="{9D8B030D-6E8A-4147-A177-3AD203B41FA5}">
                      <a16:colId xmlns:a16="http://schemas.microsoft.com/office/drawing/2014/main" val="2963100857"/>
                    </a:ext>
                  </a:extLst>
                </a:gridCol>
                <a:gridCol w="643833">
                  <a:extLst>
                    <a:ext uri="{9D8B030D-6E8A-4147-A177-3AD203B41FA5}">
                      <a16:colId xmlns:a16="http://schemas.microsoft.com/office/drawing/2014/main" val="2047335906"/>
                    </a:ext>
                  </a:extLst>
                </a:gridCol>
                <a:gridCol w="643833">
                  <a:extLst>
                    <a:ext uri="{9D8B030D-6E8A-4147-A177-3AD203B41FA5}">
                      <a16:colId xmlns:a16="http://schemas.microsoft.com/office/drawing/2014/main" val="401487981"/>
                    </a:ext>
                  </a:extLst>
                </a:gridCol>
                <a:gridCol w="643833">
                  <a:extLst>
                    <a:ext uri="{9D8B030D-6E8A-4147-A177-3AD203B41FA5}">
                      <a16:colId xmlns:a16="http://schemas.microsoft.com/office/drawing/2014/main" val="4161176498"/>
                    </a:ext>
                  </a:extLst>
                </a:gridCol>
                <a:gridCol w="643833">
                  <a:extLst>
                    <a:ext uri="{9D8B030D-6E8A-4147-A177-3AD203B41FA5}">
                      <a16:colId xmlns:a16="http://schemas.microsoft.com/office/drawing/2014/main" val="3303937339"/>
                    </a:ext>
                  </a:extLst>
                </a:gridCol>
              </a:tblGrid>
              <a:tr h="368044">
                <a:tc>
                  <a:txBody>
                    <a:bodyPr/>
                    <a:lstStyle/>
                    <a:p>
                      <a:pPr marL="46355" marR="4191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b="1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Proyecto</a:t>
                      </a:r>
                      <a:endParaRPr lang="es-CO" sz="1600" b="1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b="1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A</a:t>
                      </a:r>
                      <a:endParaRPr lang="es-CO" sz="1600" b="1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b="1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B</a:t>
                      </a:r>
                      <a:endParaRPr lang="es-CO" sz="1600" b="1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b="1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C</a:t>
                      </a:r>
                      <a:endParaRPr lang="es-CO" sz="1600" b="1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b="1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D</a:t>
                      </a:r>
                      <a:endParaRPr lang="es-CO" sz="1600" b="1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2932332"/>
                  </a:ext>
                </a:extLst>
              </a:tr>
              <a:tr h="368044">
                <a:tc>
                  <a:txBody>
                    <a:bodyPr/>
                    <a:lstStyle/>
                    <a:p>
                      <a:pPr marL="45720" marR="4191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entury Gothic" panose="020B0502020202020204" pitchFamily="34" charset="0"/>
                        </a:rPr>
                        <a:t>Inversión</a:t>
                      </a:r>
                      <a:endParaRPr lang="es-CO" sz="1600" dirty="0">
                        <a:solidFill>
                          <a:schemeClr val="accent3">
                            <a:lumMod val="50000"/>
                          </a:schemeClr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508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100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635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100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762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50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48260" marR="4762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50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863920"/>
                  </a:ext>
                </a:extLst>
              </a:tr>
              <a:tr h="368044">
                <a:tc>
                  <a:txBody>
                    <a:bodyPr/>
                    <a:lstStyle/>
                    <a:p>
                      <a:pPr marL="46355" marR="4191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entury Gothic" panose="020B0502020202020204" pitchFamily="34" charset="0"/>
                        </a:rPr>
                        <a:t>Vida útil</a:t>
                      </a:r>
                      <a:endParaRPr lang="es-CO" sz="1600" dirty="0">
                        <a:solidFill>
                          <a:schemeClr val="accent3">
                            <a:lumMod val="50000"/>
                          </a:schemeClr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3</a:t>
                      </a:r>
                      <a:endParaRPr lang="es-CO" sz="160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529313"/>
                  </a:ext>
                </a:extLst>
              </a:tr>
              <a:tr h="368044">
                <a:tc>
                  <a:txBody>
                    <a:bodyPr/>
                    <a:lstStyle/>
                    <a:p>
                      <a:pPr marL="46355" marR="4191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entury Gothic" panose="020B0502020202020204" pitchFamily="34" charset="0"/>
                        </a:rPr>
                        <a:t>VPN</a:t>
                      </a:r>
                      <a:endParaRPr lang="es-CO" sz="1600" dirty="0">
                        <a:solidFill>
                          <a:schemeClr val="accent3">
                            <a:lumMod val="50000"/>
                          </a:schemeClr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508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-10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635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10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762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25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5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932970"/>
                  </a:ext>
                </a:extLst>
              </a:tr>
              <a:tr h="368044">
                <a:tc>
                  <a:txBody>
                    <a:bodyPr/>
                    <a:lstStyle/>
                    <a:p>
                      <a:pPr marL="46355" marR="4191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latin typeface="Century Gothic" panose="020B0502020202020204" pitchFamily="34" charset="0"/>
                        </a:rPr>
                        <a:t>TIR</a:t>
                      </a:r>
                      <a:endParaRPr lang="es-CO" sz="1600" dirty="0">
                        <a:solidFill>
                          <a:schemeClr val="accent3">
                            <a:lumMod val="50000"/>
                          </a:schemeClr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508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10%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635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12%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8895" marR="4762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25%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8260" marR="47625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13%</a:t>
                      </a:r>
                      <a:endParaRPr lang="es-CO" sz="1600" dirty="0">
                        <a:solidFill>
                          <a:schemeClr val="accent1"/>
                        </a:solidFill>
                        <a:effectLst/>
                        <a:latin typeface="Century Gothic" panose="020B0502020202020204" pitchFamily="34" charset="0"/>
                        <a:ea typeface="Georgia" panose="02040502050405020303" pitchFamily="18" charset="0"/>
                        <a:cs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451455"/>
                  </a:ext>
                </a:extLst>
              </a:tr>
            </a:tbl>
          </a:graphicData>
        </a:graphic>
      </p:graphicFrame>
      <p:sp>
        <p:nvSpPr>
          <p:cNvPr id="14" name="Rectángulo 13">
            <a:extLst>
              <a:ext uri="{FF2B5EF4-FFF2-40B4-BE49-F238E27FC236}">
                <a16:creationId xmlns:a16="http://schemas.microsoft.com/office/drawing/2014/main" id="{627654E4-6C24-47A1-A98E-7BAEB5062A01}"/>
              </a:ext>
            </a:extLst>
          </p:cNvPr>
          <p:cNvSpPr/>
          <p:nvPr/>
        </p:nvSpPr>
        <p:spPr>
          <a:xfrm>
            <a:off x="3742631" y="5435248"/>
            <a:ext cx="470673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47675">
              <a:spcBef>
                <a:spcPts val="1380"/>
              </a:spcBef>
              <a:spcAft>
                <a:spcPts val="0"/>
              </a:spcAft>
            </a:pPr>
            <a:r>
              <a:rPr lang="es-ES_tradnl" sz="2000" b="1" dirty="0">
                <a:solidFill>
                  <a:srgbClr val="D7A7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¿Cuál(es) de proyectos elegiría?</a:t>
            </a:r>
            <a:endParaRPr lang="es-CO" sz="2000" b="1" dirty="0">
              <a:solidFill>
                <a:srgbClr val="D7A700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E5C1A8F-B803-4F58-928F-B840512730EA}"/>
              </a:ext>
            </a:extLst>
          </p:cNvPr>
          <p:cNvSpPr/>
          <p:nvPr/>
        </p:nvSpPr>
        <p:spPr>
          <a:xfrm>
            <a:off x="4629092" y="5957728"/>
            <a:ext cx="29338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47675" algn="ctr">
              <a:spcBef>
                <a:spcPts val="1380"/>
              </a:spcBef>
              <a:spcAft>
                <a:spcPts val="0"/>
              </a:spcAft>
            </a:pP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Proyectos A, C y D</a:t>
            </a:r>
            <a:endParaRPr lang="es-CO" sz="2000" b="1" dirty="0">
              <a:solidFill>
                <a:srgbClr val="C00000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4241162-5B17-D9A8-E3D8-EDC030EB206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9E39D1B1-BAE0-AABF-1083-C988591EB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928046BF-D7F3-399A-2FF9-5B78E5EDE45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4B4CD3D7-583C-28DC-C2A7-1E6FD87C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21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6020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FEBD6-C3A3-1B07-11D5-AC05EB7CC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D91D9BC-2A13-25F6-83B2-AE5752914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PREGUNTA 2 (3 minutos)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6CCEDF5-45AE-9CA5-D5E5-85BD27C20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98" y="1989939"/>
            <a:ext cx="7320854" cy="4535626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0655605-E030-2494-E581-06025B9C5A0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D45B2ABB-4C58-1966-AEEF-5CF14DEDE4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656779D2-4625-02F8-96B3-CD26039A77F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4" name="Gráfico 13" descr="Badge Tick1 con relleno sólido">
            <a:extLst>
              <a:ext uri="{FF2B5EF4-FFF2-40B4-BE49-F238E27FC236}">
                <a16:creationId xmlns:a16="http://schemas.microsoft.com/office/drawing/2014/main" id="{D45A56EE-ECCE-963C-90F9-D44575718B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3594" y="6194460"/>
            <a:ext cx="253604" cy="253604"/>
          </a:xfrm>
          <a:prstGeom prst="rect">
            <a:avLst/>
          </a:prstGeom>
        </p:spPr>
      </p:pic>
      <p:pic>
        <p:nvPicPr>
          <p:cNvPr id="17" name="Picture 2" descr="Resolución de problemas. 10 consejos para evitar antes de encontrar una  solución - Cepymenews">
            <a:extLst>
              <a:ext uri="{FF2B5EF4-FFF2-40B4-BE49-F238E27FC236}">
                <a16:creationId xmlns:a16="http://schemas.microsoft.com/office/drawing/2014/main" id="{61D5AC5F-A23B-B66A-D95B-B0E9CB78F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0119" y="3098353"/>
            <a:ext cx="2860689" cy="1521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E527332-416D-5E2E-CBDD-D982B370A7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3439" y="2598604"/>
            <a:ext cx="4543776" cy="407774"/>
          </a:xfrm>
          <a:prstGeom prst="rect">
            <a:avLst/>
          </a:prstGeom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092FF2C9-23BE-ADA5-E14E-5AF99FB97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22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72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56D78-F2C7-0993-53BB-F9859F43F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23B83DD-B254-5D89-EEB2-B5934623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PREGUNTA 3 (3 minutos)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434FD73B-7D72-62B0-C802-0AE3AE2A2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731" y="1945621"/>
            <a:ext cx="6890176" cy="4782809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C1C307F8-BB2B-A1FE-07E3-E4245C1840E6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B613E0A1-A93E-2916-C05D-5D4A2D371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610C7735-3738-6D6F-AB5E-72AE6C63220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4" name="Gráfico 13" descr="Badge Tick1 con relleno sólido">
            <a:extLst>
              <a:ext uri="{FF2B5EF4-FFF2-40B4-BE49-F238E27FC236}">
                <a16:creationId xmlns:a16="http://schemas.microsoft.com/office/drawing/2014/main" id="{15FC8D42-8523-2EDE-AFA0-945C236059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16457" y="6029042"/>
            <a:ext cx="253604" cy="253604"/>
          </a:xfrm>
          <a:prstGeom prst="rect">
            <a:avLst/>
          </a:prstGeom>
        </p:spPr>
      </p:pic>
      <p:pic>
        <p:nvPicPr>
          <p:cNvPr id="15" name="Picture 2" descr="Tendencias ineficaces a la hora de resolver problemas">
            <a:extLst>
              <a:ext uri="{FF2B5EF4-FFF2-40B4-BE49-F238E27FC236}">
                <a16:creationId xmlns:a16="http://schemas.microsoft.com/office/drawing/2014/main" id="{7975D1EB-6B50-A434-8DCF-3A4D957977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5377" y="2656336"/>
            <a:ext cx="2891043" cy="175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577F2B73-7929-0914-F501-786A3EC8E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23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5983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2576-93CE-66D7-104B-E477960C8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89FDB109-3973-3293-0B05-B2A070224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PREGUNTA 4 (2 minutos)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E8ED6D8-214D-774B-B013-F5020003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58" y="2336202"/>
            <a:ext cx="8630324" cy="3461359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EBAF327B-696B-0178-1C74-9E614FA0B82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E80FC351-D6B0-5A26-889C-6686BEFFB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52CDF26F-1814-2499-9C99-75C4505A4BD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2" name="Gráfico 11" descr="Badge Tick1 con relleno sólido">
            <a:extLst>
              <a:ext uri="{FF2B5EF4-FFF2-40B4-BE49-F238E27FC236}">
                <a16:creationId xmlns:a16="http://schemas.microsoft.com/office/drawing/2014/main" id="{957329DE-E8F8-2073-BE33-39DEC297E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1192" y="3414486"/>
            <a:ext cx="253604" cy="253604"/>
          </a:xfrm>
          <a:prstGeom prst="rect">
            <a:avLst/>
          </a:prstGeom>
        </p:spPr>
      </p:pic>
      <p:pic>
        <p:nvPicPr>
          <p:cNvPr id="14" name="Picture 2" descr="Aprender a resolver problemas | PressCoaching">
            <a:extLst>
              <a:ext uri="{FF2B5EF4-FFF2-40B4-BE49-F238E27FC236}">
                <a16:creationId xmlns:a16="http://schemas.microsoft.com/office/drawing/2014/main" id="{EB8CA7A3-9865-1202-FE6E-10CEC85E8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5781" y="2875311"/>
            <a:ext cx="2423627" cy="180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EEAB4F75-B560-FF13-9458-796E452CB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24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73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1AF96-80AB-B4C5-CDB6-CB6BE8558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F7B02AF-3E85-BB15-76C9-BC18CF35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PREGUNTA 5 (3 minutos)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FA1AE18-E663-015C-F68A-4538206CC44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D2896A40-CDE5-BA40-07B2-02D10108A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C9F26B52-B2DC-1CA4-4D0D-FFC63D43234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CD0AA55-B90A-6025-C519-C7C7BB183C05}"/>
              </a:ext>
            </a:extLst>
          </p:cNvPr>
          <p:cNvSpPr txBox="1"/>
          <p:nvPr/>
        </p:nvSpPr>
        <p:spPr>
          <a:xfrm>
            <a:off x="471714" y="2038392"/>
            <a:ext cx="114355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Usted cuenta con la información contemplada en la siguiente tabla. Además, sabe que todos los proyectos se pueden replicar. Tenga en cuenta que la marginalidad se calcula: alternativa de mayor inversión-alternativa de menor inversión.</a:t>
            </a:r>
          </a:p>
          <a:p>
            <a:endParaRPr lang="es-ES" sz="20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1FF0BEB1-AA2A-A9DE-1B01-B80368264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445788"/>
              </p:ext>
            </p:extLst>
          </p:nvPr>
        </p:nvGraphicFramePr>
        <p:xfrm>
          <a:off x="2751762" y="3194774"/>
          <a:ext cx="6688475" cy="1889843"/>
        </p:xfrm>
        <a:graphic>
          <a:graphicData uri="http://schemas.openxmlformats.org/drawingml/2006/table">
            <a:tbl>
              <a:tblPr firstRow="1" firstCol="1" bandRow="1">
                <a:tableStyleId>{1FECB4D8-DB02-4DC6-A0A2-4F2EBAE1DC90}</a:tableStyleId>
              </a:tblPr>
              <a:tblGrid>
                <a:gridCol w="1390782">
                  <a:extLst>
                    <a:ext uri="{9D8B030D-6E8A-4147-A177-3AD203B41FA5}">
                      <a16:colId xmlns:a16="http://schemas.microsoft.com/office/drawing/2014/main" val="3965235369"/>
                    </a:ext>
                  </a:extLst>
                </a:gridCol>
                <a:gridCol w="1181318">
                  <a:extLst>
                    <a:ext uri="{9D8B030D-6E8A-4147-A177-3AD203B41FA5}">
                      <a16:colId xmlns:a16="http://schemas.microsoft.com/office/drawing/2014/main" val="1080841166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212999456"/>
                    </a:ext>
                  </a:extLst>
                </a:gridCol>
                <a:gridCol w="774260">
                  <a:extLst>
                    <a:ext uri="{9D8B030D-6E8A-4147-A177-3AD203B41FA5}">
                      <a16:colId xmlns:a16="http://schemas.microsoft.com/office/drawing/2014/main" val="3989804839"/>
                    </a:ext>
                  </a:extLst>
                </a:gridCol>
                <a:gridCol w="848037">
                  <a:extLst>
                    <a:ext uri="{9D8B030D-6E8A-4147-A177-3AD203B41FA5}">
                      <a16:colId xmlns:a16="http://schemas.microsoft.com/office/drawing/2014/main" val="268575220"/>
                    </a:ext>
                  </a:extLst>
                </a:gridCol>
                <a:gridCol w="848037">
                  <a:extLst>
                    <a:ext uri="{9D8B030D-6E8A-4147-A177-3AD203B41FA5}">
                      <a16:colId xmlns:a16="http://schemas.microsoft.com/office/drawing/2014/main" val="902539313"/>
                    </a:ext>
                  </a:extLst>
                </a:gridCol>
                <a:gridCol w="848037">
                  <a:extLst>
                    <a:ext uri="{9D8B030D-6E8A-4147-A177-3AD203B41FA5}">
                      <a16:colId xmlns:a16="http://schemas.microsoft.com/office/drawing/2014/main" val="2812822645"/>
                    </a:ext>
                  </a:extLst>
                </a:gridCol>
              </a:tblGrid>
              <a:tr h="266453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Alternativa i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Inversión inicial MM COP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Vida Útil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B/C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VAE Replicado Marginal 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3800849"/>
                  </a:ext>
                </a:extLst>
              </a:tr>
              <a:tr h="557578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b="1" dirty="0">
                          <a:solidFill>
                            <a:schemeClr val="bg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b="1" dirty="0">
                          <a:solidFill>
                            <a:schemeClr val="bg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B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b="1" dirty="0">
                          <a:solidFill>
                            <a:schemeClr val="bg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C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73715"/>
                  </a:ext>
                </a:extLst>
              </a:tr>
              <a:tr h="26645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-65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9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1,3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 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 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 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9762542"/>
                  </a:ext>
                </a:extLst>
              </a:tr>
              <a:tr h="26645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B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-12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3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1,2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$ 2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 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 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96001"/>
                  </a:ext>
                </a:extLst>
              </a:tr>
              <a:tr h="26645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C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-34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3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0,9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 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-$ 2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 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316015"/>
                  </a:ext>
                </a:extLst>
              </a:tr>
              <a:tr h="26645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D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-26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6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1,4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$1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$ 1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O" sz="1400" dirty="0"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-$ 4</a:t>
                      </a:r>
                    </a:p>
                  </a:txBody>
                  <a:tcPr marL="44450" marR="44450" marT="0" marB="0" anchor="ctr">
                    <a:lnL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061436"/>
                  </a:ext>
                </a:extLst>
              </a:tr>
            </a:tbl>
          </a:graphicData>
        </a:graphic>
      </p:graphicFrame>
      <p:sp>
        <p:nvSpPr>
          <p:cNvPr id="11" name="Rectángulo 10">
            <a:extLst>
              <a:ext uri="{FF2B5EF4-FFF2-40B4-BE49-F238E27FC236}">
                <a16:creationId xmlns:a16="http://schemas.microsoft.com/office/drawing/2014/main" id="{9F518DD5-AA67-1A77-0F0D-6B0225DF365E}"/>
              </a:ext>
            </a:extLst>
          </p:cNvPr>
          <p:cNvSpPr/>
          <p:nvPr/>
        </p:nvSpPr>
        <p:spPr>
          <a:xfrm>
            <a:off x="106112" y="5367899"/>
            <a:ext cx="794480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47675">
              <a:spcBef>
                <a:spcPts val="1380"/>
              </a:spcBef>
              <a:spcAft>
                <a:spcPts val="0"/>
              </a:spcAft>
            </a:pPr>
            <a:r>
              <a:rPr lang="es-ES" sz="2000" b="1" dirty="0">
                <a:solidFill>
                  <a:srgbClr val="D7A7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¿Si los proyectos son independientes, cuál(es) realizaría? </a:t>
            </a:r>
            <a:endParaRPr lang="es-CO" sz="2000" b="1" dirty="0">
              <a:solidFill>
                <a:srgbClr val="D7A700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3ABB27F-1558-D15E-A4E5-228E372E029E}"/>
              </a:ext>
            </a:extLst>
          </p:cNvPr>
          <p:cNvSpPr/>
          <p:nvPr/>
        </p:nvSpPr>
        <p:spPr>
          <a:xfrm>
            <a:off x="7559147" y="5367899"/>
            <a:ext cx="288252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47675" algn="ctr">
              <a:spcBef>
                <a:spcPts val="1380"/>
              </a:spcBef>
              <a:spcAft>
                <a:spcPts val="0"/>
              </a:spcAft>
            </a:pP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Proyectos A, B y D</a:t>
            </a:r>
            <a:endParaRPr lang="es-CO" sz="2000" b="1" dirty="0">
              <a:solidFill>
                <a:srgbClr val="C00000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4CAB49B-DE93-BB4B-F0A2-CAF5DEC14E07}"/>
              </a:ext>
            </a:extLst>
          </p:cNvPr>
          <p:cNvSpPr/>
          <p:nvPr/>
        </p:nvSpPr>
        <p:spPr>
          <a:xfrm>
            <a:off x="106112" y="5897403"/>
            <a:ext cx="757194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47675" algn="ctr">
              <a:spcBef>
                <a:spcPts val="1380"/>
              </a:spcBef>
              <a:spcAft>
                <a:spcPts val="0"/>
              </a:spcAft>
            </a:pPr>
            <a:r>
              <a:rPr lang="es-ES" sz="2000" b="1" dirty="0">
                <a:solidFill>
                  <a:srgbClr val="D7A7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¿Si los proyectos son mutuamente excluyentes entre sí, qué proyecto(s) realizaría? </a:t>
            </a:r>
            <a:endParaRPr lang="es-CO" sz="2000" b="1" dirty="0">
              <a:solidFill>
                <a:srgbClr val="D7A700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59166FB-1774-4275-1805-502B6DC0D2AB}"/>
              </a:ext>
            </a:extLst>
          </p:cNvPr>
          <p:cNvSpPr/>
          <p:nvPr/>
        </p:nvSpPr>
        <p:spPr>
          <a:xfrm>
            <a:off x="7998368" y="6051291"/>
            <a:ext cx="20040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47675" algn="ctr">
              <a:spcBef>
                <a:spcPts val="1380"/>
              </a:spcBef>
              <a:spcAft>
                <a:spcPts val="0"/>
              </a:spcAft>
            </a:pP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Proyecto A</a:t>
            </a:r>
            <a:endParaRPr lang="es-CO" sz="2000" b="1" dirty="0">
              <a:solidFill>
                <a:srgbClr val="C00000"/>
              </a:solidFill>
              <a:latin typeface="Century Gothic" panose="020B0502020202020204" pitchFamily="34" charset="0"/>
              <a:ea typeface="Georgia" panose="02040502050405020303" pitchFamily="18" charset="0"/>
              <a:cs typeface="Georgia" panose="02040502050405020303" pitchFamily="18" charset="0"/>
            </a:endParaRPr>
          </a:p>
        </p:txBody>
      </p:sp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C3814249-D390-44D7-22DA-E8C28077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</p:spPr>
        <p:txBody>
          <a:bodyPr/>
          <a:lstStyle/>
          <a:p>
            <a:fld id="{D57F1E4F-1CFF-5643-939E-217C01CDF565}" type="slidenum">
              <a:rPr lang="en-US" sz="2000" b="1" smtClean="0">
                <a:latin typeface="Century Gothic" panose="020B0502020202020204" pitchFamily="34" charset="0"/>
              </a:rPr>
              <a:pPr/>
              <a:t>25</a:t>
            </a:fld>
            <a:endParaRPr lang="en-US" sz="20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85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1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 descr="Open book contorno">
            <a:extLst>
              <a:ext uri="{FF2B5EF4-FFF2-40B4-BE49-F238E27FC236}">
                <a16:creationId xmlns:a16="http://schemas.microsoft.com/office/drawing/2014/main" id="{52403B49-6EB3-5618-7D88-A91409E36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34957" y="3342889"/>
            <a:ext cx="2695807" cy="2695807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19B3DBF7-E883-DD2B-88E5-ABF043B8C7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0868" y="1814732"/>
            <a:ext cx="10687556" cy="826833"/>
          </a:xfrm>
        </p:spPr>
        <p:txBody>
          <a:bodyPr>
            <a:noAutofit/>
          </a:bodyPr>
          <a:lstStyle/>
          <a:p>
            <a:r>
              <a:rPr lang="es-CO" sz="3000" dirty="0">
                <a:latin typeface="Century Gothic"/>
              </a:rPr>
              <a:t>COMPARACIÓN Y SELECCIÓN DE PROYECTOS (</a:t>
            </a:r>
            <a:r>
              <a:rPr lang="es-CO" sz="3000" dirty="0">
                <a:solidFill>
                  <a:srgbClr val="D7A700"/>
                </a:solidFill>
                <a:latin typeface="Century Gothic"/>
              </a:rPr>
              <a:t>PARTE III</a:t>
            </a:r>
            <a:r>
              <a:rPr lang="es-CO" sz="3000" dirty="0">
                <a:latin typeface="Century Gothic"/>
              </a:rPr>
              <a:t>)</a:t>
            </a:r>
            <a:endParaRPr lang="es-CO" sz="3000" dirty="0">
              <a:latin typeface="Century Gothic" panose="020B0502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3C04145-9417-5733-FA85-19EA6E81129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4" name="Picture 2" descr="Clientes y aliados | Centro de Evaluación | Uniandes">
            <a:extLst>
              <a:ext uri="{FF2B5EF4-FFF2-40B4-BE49-F238E27FC236}">
                <a16:creationId xmlns:a16="http://schemas.microsoft.com/office/drawing/2014/main" id="{EA63BCA8-BE8D-9E49-890D-C83E92547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3BCF233F-4086-FB11-E206-EB428C12F4F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3959F89-526B-5024-9DAA-1D04748C6F1F}"/>
              </a:ext>
            </a:extLst>
          </p:cNvPr>
          <p:cNvSpPr txBox="1"/>
          <p:nvPr/>
        </p:nvSpPr>
        <p:spPr>
          <a:xfrm>
            <a:off x="1045027" y="3342889"/>
            <a:ext cx="6349598" cy="24929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b="1" u="sng" dirty="0">
                <a:solidFill>
                  <a:schemeClr val="bg1"/>
                </a:solidFill>
                <a:latin typeface="Century Gothic"/>
              </a:rPr>
              <a:t>													</a:t>
            </a:r>
            <a:endParaRPr lang="es-CO" sz="2000" b="1" u="sng" dirty="0">
              <a:solidFill>
                <a:schemeClr val="bg1"/>
              </a:solidFill>
              <a:latin typeface="Century Gothic"/>
            </a:endParaRPr>
          </a:p>
          <a:p>
            <a:endParaRPr lang="es-CO" sz="1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DEPARTAMENTO DE INGENIERÍA INDUSTRIAL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FACULTAD DE INGENIERÍA</a:t>
            </a:r>
          </a:p>
          <a:p>
            <a:r>
              <a:rPr lang="es-CO" sz="1000" b="1" u="sng" dirty="0">
                <a:solidFill>
                  <a:schemeClr val="bg1"/>
                </a:solidFill>
                <a:latin typeface="Century Gothic"/>
              </a:rPr>
              <a:t>													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Curso       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ANÁLISIS DE DECISIONES DE INVERSIÓN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Correo     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cursoanadec@uniandes.edu.co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00231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o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o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o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1879</TotalTime>
  <Words>1721</Words>
  <Application>Microsoft Macintosh PowerPoint</Application>
  <PresentationFormat>Widescreen</PresentationFormat>
  <Paragraphs>495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Calibri</vt:lpstr>
      <vt:lpstr>Cambria Math</vt:lpstr>
      <vt:lpstr>Century Gothic</vt:lpstr>
      <vt:lpstr>Gill Sans MT</vt:lpstr>
      <vt:lpstr>Verdana</vt:lpstr>
      <vt:lpstr>Wingdings</vt:lpstr>
      <vt:lpstr>Wingdings 2</vt:lpstr>
      <vt:lpstr>Dividendo</vt:lpstr>
      <vt:lpstr>COMPARACIÓN Y SELECCIÓN DE PROYECTOS (PARTE III)</vt:lpstr>
      <vt:lpstr>EXCEL DE REPASO</vt:lpstr>
      <vt:lpstr>MENTI</vt:lpstr>
      <vt:lpstr>AGENDA PROPUESTA</vt:lpstr>
      <vt:lpstr>AGENDA PROPUESTA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Proyectos Mutuamente Excluyentes – CASO 3</vt:lpstr>
      <vt:lpstr>AGENDA PROPUESTA</vt:lpstr>
      <vt:lpstr>PowerPoint Presentation</vt:lpstr>
      <vt:lpstr>Consolidado DE evaluación de proyectos</vt:lpstr>
      <vt:lpstr>AGENDA PROPUESTA</vt:lpstr>
      <vt:lpstr>PREGUNTA 1(3 minutos)</vt:lpstr>
      <vt:lpstr>PREGUNTA 2 (3 minutos)</vt:lpstr>
      <vt:lpstr>PREGUNTA 3 (3 minutos)</vt:lpstr>
      <vt:lpstr>PREGUNTA 4 (2 minutos)</vt:lpstr>
      <vt:lpstr>PREGUNTA 5 (3 minutos)</vt:lpstr>
      <vt:lpstr>COMPARACIÓN Y SELECCIÓN DE PROYECTOS (PARTE III)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DESDE UNA ÓPTICA ECONOMÉTRICA DE LA PREVISIBILIDAD DE LAS VARIACIONES DEL TRÁFICO DEL CORREDOR BOGOTÁ – PUERTO GAITÁN TENIENDO EN CUENTA EL COMPORTAMIENTO HISTÓRICO DEL TRÁFICO Y DEL PRECIO DEL PETRÓLEO WTI</dc:title>
  <dc:creator>Sebastian Joseph Sanchez Oyola</dc:creator>
  <cp:lastModifiedBy>Brigitte Castañeda</cp:lastModifiedBy>
  <cp:revision>63</cp:revision>
  <dcterms:created xsi:type="dcterms:W3CDTF">2019-06-20T04:25:04Z</dcterms:created>
  <dcterms:modified xsi:type="dcterms:W3CDTF">2026-10-06T18:53:45Z</dcterms:modified>
</cp:coreProperties>
</file>