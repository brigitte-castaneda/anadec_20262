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59"/>
  </p:notesMasterIdLst>
  <p:handoutMasterIdLst>
    <p:handoutMasterId r:id="rId60"/>
  </p:handoutMasterIdLst>
  <p:sldIdLst>
    <p:sldId id="398" r:id="rId2"/>
    <p:sldId id="354" r:id="rId3"/>
    <p:sldId id="537" r:id="rId4"/>
    <p:sldId id="548" r:id="rId5"/>
    <p:sldId id="507" r:id="rId6"/>
    <p:sldId id="508" r:id="rId7"/>
    <p:sldId id="509" r:id="rId8"/>
    <p:sldId id="510" r:id="rId9"/>
    <p:sldId id="539" r:id="rId10"/>
    <p:sldId id="623" r:id="rId11"/>
    <p:sldId id="624" r:id="rId12"/>
    <p:sldId id="511" r:id="rId13"/>
    <p:sldId id="526" r:id="rId14"/>
    <p:sldId id="542" r:id="rId15"/>
    <p:sldId id="514" r:id="rId16"/>
    <p:sldId id="543" r:id="rId17"/>
    <p:sldId id="516" r:id="rId18"/>
    <p:sldId id="517" r:id="rId19"/>
    <p:sldId id="547" r:id="rId20"/>
    <p:sldId id="518" r:id="rId21"/>
    <p:sldId id="544" r:id="rId22"/>
    <p:sldId id="520" r:id="rId23"/>
    <p:sldId id="538" r:id="rId24"/>
    <p:sldId id="521" r:id="rId25"/>
    <p:sldId id="622" r:id="rId26"/>
    <p:sldId id="523" r:id="rId27"/>
    <p:sldId id="530" r:id="rId28"/>
    <p:sldId id="536" r:id="rId29"/>
    <p:sldId id="524" r:id="rId30"/>
    <p:sldId id="550" r:id="rId31"/>
    <p:sldId id="549" r:id="rId32"/>
    <p:sldId id="551" r:id="rId33"/>
    <p:sldId id="552" r:id="rId34"/>
    <p:sldId id="605" r:id="rId35"/>
    <p:sldId id="606" r:id="rId36"/>
    <p:sldId id="607" r:id="rId37"/>
    <p:sldId id="608" r:id="rId38"/>
    <p:sldId id="609" r:id="rId39"/>
    <p:sldId id="610" r:id="rId40"/>
    <p:sldId id="611" r:id="rId41"/>
    <p:sldId id="612" r:id="rId42"/>
    <p:sldId id="613" r:id="rId43"/>
    <p:sldId id="614" r:id="rId44"/>
    <p:sldId id="615" r:id="rId45"/>
    <p:sldId id="616" r:id="rId46"/>
    <p:sldId id="617" r:id="rId47"/>
    <p:sldId id="618" r:id="rId48"/>
    <p:sldId id="619" r:id="rId49"/>
    <p:sldId id="620" r:id="rId50"/>
    <p:sldId id="621" r:id="rId51"/>
    <p:sldId id="625" r:id="rId52"/>
    <p:sldId id="626" r:id="rId53"/>
    <p:sldId id="628" r:id="rId54"/>
    <p:sldId id="629" r:id="rId55"/>
    <p:sldId id="630" r:id="rId56"/>
    <p:sldId id="631" r:id="rId57"/>
    <p:sldId id="403"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2E8151"/>
    <a:srgbClr val="D7A700"/>
    <a:srgbClr val="FFF4E6"/>
    <a:srgbClr val="002F90"/>
    <a:srgbClr val="E8F8FA"/>
    <a:srgbClr val="DFFFFF"/>
    <a:srgbClr val="FF6600"/>
    <a:srgbClr val="33CC33"/>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94EF6-E6B2-5C4F-34C7-CA84B2F174A0}" v="7" dt="2026-02-26T23:42:01.833"/>
    <p1510:client id="{38DF77A2-8226-83FC-1401-D0E00F2B4078}" v="2" dt="2026-02-25T19:33:26.72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3969" autoAdjust="0"/>
  </p:normalViewPr>
  <p:slideViewPr>
    <p:cSldViewPr snapToGrid="0">
      <p:cViewPr varScale="1">
        <p:scale>
          <a:sx n="111" d="100"/>
          <a:sy n="111" d="100"/>
        </p:scale>
        <p:origin x="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Lourdes Abrego Perez" userId="S::al.abrego@uniandes.edu.co::0c27e0bc-3fc6-4b34-aec5-cf417a54c581" providerId="AD" clId="Web-{38DF77A2-8226-83FC-1401-D0E00F2B4078}"/>
    <pc:docChg chg="modSld">
      <pc:chgData name="Adriana Lourdes Abrego Perez" userId="S::al.abrego@uniandes.edu.co::0c27e0bc-3fc6-4b34-aec5-cf417a54c581" providerId="AD" clId="Web-{38DF77A2-8226-83FC-1401-D0E00F2B4078}" dt="2026-02-25T19:33:26.725" v="1" actId="1076"/>
      <pc:docMkLst>
        <pc:docMk/>
      </pc:docMkLst>
      <pc:sldChg chg="modSp">
        <pc:chgData name="Adriana Lourdes Abrego Perez" userId="S::al.abrego@uniandes.edu.co::0c27e0bc-3fc6-4b34-aec5-cf417a54c581" providerId="AD" clId="Web-{38DF77A2-8226-83FC-1401-D0E00F2B4078}" dt="2026-02-25T19:33:26.725" v="1" actId="1076"/>
        <pc:sldMkLst>
          <pc:docMk/>
          <pc:sldMk cId="1560164697" sldId="622"/>
        </pc:sldMkLst>
        <pc:picChg chg="mod">
          <ac:chgData name="Adriana Lourdes Abrego Perez" userId="S::al.abrego@uniandes.edu.co::0c27e0bc-3fc6-4b34-aec5-cf417a54c581" providerId="AD" clId="Web-{38DF77A2-8226-83FC-1401-D0E00F2B4078}" dt="2026-02-25T19:33:26.725" v="1" actId="1076"/>
          <ac:picMkLst>
            <pc:docMk/>
            <pc:sldMk cId="1560164697" sldId="622"/>
            <ac:picMk id="18" creationId="{69689DD2-9570-829B-F133-3DF57E96DE55}"/>
          </ac:picMkLst>
        </pc:picChg>
      </pc:sldChg>
    </pc:docChg>
  </pc:docChgLst>
  <pc:docChgLst>
    <pc:chgData name="Pedro Ruiz Vasquez" userId="S::p.ruizv@uniandes.edu.co::b9ac515f-a907-4e47-a2f2-146fecab7773" providerId="AD" clId="Web-{35D94EF6-E6B2-5C4F-34C7-CA84B2F174A0}"/>
    <pc:docChg chg="modSld">
      <pc:chgData name="Pedro Ruiz Vasquez" userId="S::p.ruizv@uniandes.edu.co::b9ac515f-a907-4e47-a2f2-146fecab7773" providerId="AD" clId="Web-{35D94EF6-E6B2-5C4F-34C7-CA84B2F174A0}" dt="2026-02-26T23:42:01.833" v="6" actId="20577"/>
      <pc:docMkLst>
        <pc:docMk/>
      </pc:docMkLst>
      <pc:sldChg chg="modSp">
        <pc:chgData name="Pedro Ruiz Vasquez" userId="S::p.ruizv@uniandes.edu.co::b9ac515f-a907-4e47-a2f2-146fecab7773" providerId="AD" clId="Web-{35D94EF6-E6B2-5C4F-34C7-CA84B2F174A0}" dt="2026-02-26T23:41:09.500" v="3" actId="20577"/>
        <pc:sldMkLst>
          <pc:docMk/>
          <pc:sldMk cId="1392755856" sldId="549"/>
        </pc:sldMkLst>
        <pc:spChg chg="mod">
          <ac:chgData name="Pedro Ruiz Vasquez" userId="S::p.ruizv@uniandes.edu.co::b9ac515f-a907-4e47-a2f2-146fecab7773" providerId="AD" clId="Web-{35D94EF6-E6B2-5C4F-34C7-CA84B2F174A0}" dt="2026-02-26T23:41:09.500" v="3" actId="20577"/>
          <ac:spMkLst>
            <pc:docMk/>
            <pc:sldMk cId="1392755856" sldId="549"/>
            <ac:spMk id="16" creationId="{EF954A61-6F8E-AEBA-D62B-B4404922737F}"/>
          </ac:spMkLst>
        </pc:spChg>
      </pc:sldChg>
      <pc:sldChg chg="modSp">
        <pc:chgData name="Pedro Ruiz Vasquez" userId="S::p.ruizv@uniandes.edu.co::b9ac515f-a907-4e47-a2f2-146fecab7773" providerId="AD" clId="Web-{35D94EF6-E6B2-5C4F-34C7-CA84B2F174A0}" dt="2026-02-26T23:41:55.911" v="5" actId="20577"/>
        <pc:sldMkLst>
          <pc:docMk/>
          <pc:sldMk cId="2264804368" sldId="619"/>
        </pc:sldMkLst>
        <pc:spChg chg="mod">
          <ac:chgData name="Pedro Ruiz Vasquez" userId="S::p.ruizv@uniandes.edu.co::b9ac515f-a907-4e47-a2f2-146fecab7773" providerId="AD" clId="Web-{35D94EF6-E6B2-5C4F-34C7-CA84B2F174A0}" dt="2026-02-26T23:41:55.911" v="5" actId="20577"/>
          <ac:spMkLst>
            <pc:docMk/>
            <pc:sldMk cId="2264804368" sldId="619"/>
            <ac:spMk id="15" creationId="{76FBE78A-9AA7-3FDC-17FE-B108EA275F01}"/>
          </ac:spMkLst>
        </pc:spChg>
      </pc:sldChg>
      <pc:sldChg chg="modSp">
        <pc:chgData name="Pedro Ruiz Vasquez" userId="S::p.ruizv@uniandes.edu.co::b9ac515f-a907-4e47-a2f2-146fecab7773" providerId="AD" clId="Web-{35D94EF6-E6B2-5C4F-34C7-CA84B2F174A0}" dt="2026-02-26T23:42:01.833" v="6" actId="20577"/>
        <pc:sldMkLst>
          <pc:docMk/>
          <pc:sldMk cId="3432507145" sldId="621"/>
        </pc:sldMkLst>
        <pc:spChg chg="mod">
          <ac:chgData name="Pedro Ruiz Vasquez" userId="S::p.ruizv@uniandes.edu.co::b9ac515f-a907-4e47-a2f2-146fecab7773" providerId="AD" clId="Web-{35D94EF6-E6B2-5C4F-34C7-CA84B2F174A0}" dt="2026-02-26T23:42:01.833" v="6" actId="20577"/>
          <ac:spMkLst>
            <pc:docMk/>
            <pc:sldMk cId="3432507145" sldId="621"/>
            <ac:spMk id="15" creationId="{6379F47B-EC9F-9CE8-3810-621FF9CFB2F7}"/>
          </ac:spMkLst>
        </pc:spChg>
      </pc:sldChg>
    </pc:docChg>
  </pc:docChgLst>
  <pc:docChgLst>
    <pc:chgData name="Pedro Ruiz Vasquez" userId="S::p.ruizv@uniandes.edu.co::b9ac515f-a907-4e47-a2f2-146fecab7773" providerId="AD" clId="Web-{01DA4537-4DAB-107B-7519-3C4D855B1192}"/>
    <pc:docChg chg="modSld">
      <pc:chgData name="Pedro Ruiz Vasquez" userId="S::p.ruizv@uniandes.edu.co::b9ac515f-a907-4e47-a2f2-146fecab7773" providerId="AD" clId="Web-{01DA4537-4DAB-107B-7519-3C4D855B1192}" dt="2026-02-17T23:04:06.379" v="11" actId="20577"/>
      <pc:docMkLst>
        <pc:docMk/>
      </pc:docMkLst>
      <pc:sldChg chg="modSp">
        <pc:chgData name="Pedro Ruiz Vasquez" userId="S::p.ruizv@uniandes.edu.co::b9ac515f-a907-4e47-a2f2-146fecab7773" providerId="AD" clId="Web-{01DA4537-4DAB-107B-7519-3C4D855B1192}" dt="2026-02-17T23:03:20.985" v="8" actId="20577"/>
        <pc:sldMkLst>
          <pc:docMk/>
          <pc:sldMk cId="2495310034" sldId="548"/>
        </pc:sldMkLst>
        <pc:spChg chg="mod">
          <ac:chgData name="Pedro Ruiz Vasquez" userId="S::p.ruizv@uniandes.edu.co::b9ac515f-a907-4e47-a2f2-146fecab7773" providerId="AD" clId="Web-{01DA4537-4DAB-107B-7519-3C4D855B1192}" dt="2026-02-17T23:03:20.985" v="8" actId="20577"/>
          <ac:spMkLst>
            <pc:docMk/>
            <pc:sldMk cId="2495310034" sldId="548"/>
            <ac:spMk id="33" creationId="{6CC3001B-BB06-D7AD-4596-39174C7802A1}"/>
          </ac:spMkLst>
        </pc:spChg>
      </pc:sldChg>
      <pc:sldChg chg="modSp">
        <pc:chgData name="Pedro Ruiz Vasquez" userId="S::p.ruizv@uniandes.edu.co::b9ac515f-a907-4e47-a2f2-146fecab7773" providerId="AD" clId="Web-{01DA4537-4DAB-107B-7519-3C4D855B1192}" dt="2026-02-17T23:03:34.565" v="9" actId="20577"/>
        <pc:sldMkLst>
          <pc:docMk/>
          <pc:sldMk cId="1392755856" sldId="549"/>
        </pc:sldMkLst>
        <pc:spChg chg="mod">
          <ac:chgData name="Pedro Ruiz Vasquez" userId="S::p.ruizv@uniandes.edu.co::b9ac515f-a907-4e47-a2f2-146fecab7773" providerId="AD" clId="Web-{01DA4537-4DAB-107B-7519-3C4D855B1192}" dt="2026-02-17T23:03:34.565" v="9" actId="20577"/>
          <ac:spMkLst>
            <pc:docMk/>
            <pc:sldMk cId="1392755856" sldId="549"/>
            <ac:spMk id="16" creationId="{EF954A61-6F8E-AEBA-D62B-B4404922737F}"/>
          </ac:spMkLst>
        </pc:spChg>
      </pc:sldChg>
      <pc:sldChg chg="modSp">
        <pc:chgData name="Pedro Ruiz Vasquez" userId="S::p.ruizv@uniandes.edu.co::b9ac515f-a907-4e47-a2f2-146fecab7773" providerId="AD" clId="Web-{01DA4537-4DAB-107B-7519-3C4D855B1192}" dt="2026-02-17T23:03:44.222" v="10" actId="20577"/>
        <pc:sldMkLst>
          <pc:docMk/>
          <pc:sldMk cId="2264804368" sldId="619"/>
        </pc:sldMkLst>
        <pc:spChg chg="mod">
          <ac:chgData name="Pedro Ruiz Vasquez" userId="S::p.ruizv@uniandes.edu.co::b9ac515f-a907-4e47-a2f2-146fecab7773" providerId="AD" clId="Web-{01DA4537-4DAB-107B-7519-3C4D855B1192}" dt="2026-02-17T23:03:44.222" v="10" actId="20577"/>
          <ac:spMkLst>
            <pc:docMk/>
            <pc:sldMk cId="2264804368" sldId="619"/>
            <ac:spMk id="15" creationId="{76FBE78A-9AA7-3FDC-17FE-B108EA275F01}"/>
          </ac:spMkLst>
        </pc:spChg>
      </pc:sldChg>
      <pc:sldChg chg="modSp">
        <pc:chgData name="Pedro Ruiz Vasquez" userId="S::p.ruizv@uniandes.edu.co::b9ac515f-a907-4e47-a2f2-146fecab7773" providerId="AD" clId="Web-{01DA4537-4DAB-107B-7519-3C4D855B1192}" dt="2026-02-17T23:04:06.379" v="11" actId="20577"/>
        <pc:sldMkLst>
          <pc:docMk/>
          <pc:sldMk cId="3432507145" sldId="621"/>
        </pc:sldMkLst>
        <pc:spChg chg="mod">
          <ac:chgData name="Pedro Ruiz Vasquez" userId="S::p.ruizv@uniandes.edu.co::b9ac515f-a907-4e47-a2f2-146fecab7773" providerId="AD" clId="Web-{01DA4537-4DAB-107B-7519-3C4D855B1192}" dt="2026-02-17T23:04:06.379" v="11" actId="20577"/>
          <ac:spMkLst>
            <pc:docMk/>
            <pc:sldMk cId="3432507145" sldId="621"/>
            <ac:spMk id="15" creationId="{6379F47B-EC9F-9CE8-3810-621FF9CFB2F7}"/>
          </ac:spMkLst>
        </pc:spChg>
      </pc:sldChg>
    </pc:docChg>
  </pc:docChgLst>
  <pc:docChgLst>
    <pc:chgData name="Pedro Ruiz Vasquez" userId="b9ac515f-a907-4e47-a2f2-146fecab7773" providerId="ADAL" clId="{56A0C440-5C1A-4EB2-911C-33352D869E1C}"/>
    <pc:docChg chg="undo custSel addSld delSld modSld">
      <pc:chgData name="Pedro Ruiz Vasquez" userId="b9ac515f-a907-4e47-a2f2-146fecab7773" providerId="ADAL" clId="{56A0C440-5C1A-4EB2-911C-33352D869E1C}" dt="2026-02-22T23:51:06.959" v="1683" actId="1076"/>
      <pc:docMkLst>
        <pc:docMk/>
      </pc:docMkLst>
      <pc:sldChg chg="modSp mod">
        <pc:chgData name="Pedro Ruiz Vasquez" userId="b9ac515f-a907-4e47-a2f2-146fecab7773" providerId="ADAL" clId="{56A0C440-5C1A-4EB2-911C-33352D869E1C}" dt="2026-02-22T23:45:27.822" v="1220" actId="20577"/>
        <pc:sldMkLst>
          <pc:docMk/>
          <pc:sldMk cId="3512443484" sldId="508"/>
        </pc:sldMkLst>
        <pc:graphicFrameChg chg="modGraphic">
          <ac:chgData name="Pedro Ruiz Vasquez" userId="b9ac515f-a907-4e47-a2f2-146fecab7773" providerId="ADAL" clId="{56A0C440-5C1A-4EB2-911C-33352D869E1C}" dt="2026-02-22T23:45:27.822" v="1220" actId="20577"/>
          <ac:graphicFrameMkLst>
            <pc:docMk/>
            <pc:sldMk cId="3512443484" sldId="508"/>
            <ac:graphicFrameMk id="11" creationId="{00000000-0000-0000-0000-000000000000}"/>
          </ac:graphicFrameMkLst>
        </pc:graphicFrameChg>
      </pc:sldChg>
      <pc:sldChg chg="modSp mod">
        <pc:chgData name="Pedro Ruiz Vasquez" userId="b9ac515f-a907-4e47-a2f2-146fecab7773" providerId="ADAL" clId="{56A0C440-5C1A-4EB2-911C-33352D869E1C}" dt="2026-02-22T23:46:17.262" v="1301" actId="20577"/>
        <pc:sldMkLst>
          <pc:docMk/>
          <pc:sldMk cId="1766451685" sldId="510"/>
        </pc:sldMkLst>
        <pc:graphicFrameChg chg="modGraphic">
          <ac:chgData name="Pedro Ruiz Vasquez" userId="b9ac515f-a907-4e47-a2f2-146fecab7773" providerId="ADAL" clId="{56A0C440-5C1A-4EB2-911C-33352D869E1C}" dt="2026-02-22T23:45:39.495" v="1229" actId="20577"/>
          <ac:graphicFrameMkLst>
            <pc:docMk/>
            <pc:sldMk cId="1766451685" sldId="510"/>
            <ac:graphicFrameMk id="5" creationId="{00000000-0000-0000-0000-000000000000}"/>
          </ac:graphicFrameMkLst>
        </pc:graphicFrameChg>
        <pc:graphicFrameChg chg="modGraphic">
          <ac:chgData name="Pedro Ruiz Vasquez" userId="b9ac515f-a907-4e47-a2f2-146fecab7773" providerId="ADAL" clId="{56A0C440-5C1A-4EB2-911C-33352D869E1C}" dt="2026-02-22T23:45:44.205" v="1238" actId="20577"/>
          <ac:graphicFrameMkLst>
            <pc:docMk/>
            <pc:sldMk cId="1766451685" sldId="510"/>
            <ac:graphicFrameMk id="24" creationId="{00000000-0000-0000-0000-000000000000}"/>
          </ac:graphicFrameMkLst>
        </pc:graphicFrameChg>
        <pc:graphicFrameChg chg="modGraphic">
          <ac:chgData name="Pedro Ruiz Vasquez" userId="b9ac515f-a907-4e47-a2f2-146fecab7773" providerId="ADAL" clId="{56A0C440-5C1A-4EB2-911C-33352D869E1C}" dt="2026-02-22T23:46:17.262" v="1301" actId="20577"/>
          <ac:graphicFrameMkLst>
            <pc:docMk/>
            <pc:sldMk cId="1766451685" sldId="510"/>
            <ac:graphicFrameMk id="25" creationId="{00000000-0000-0000-0000-000000000000}"/>
          </ac:graphicFrameMkLst>
        </pc:graphicFrameChg>
      </pc:sldChg>
      <pc:sldChg chg="modSp mod">
        <pc:chgData name="Pedro Ruiz Vasquez" userId="b9ac515f-a907-4e47-a2f2-146fecab7773" providerId="ADAL" clId="{56A0C440-5C1A-4EB2-911C-33352D869E1C}" dt="2026-02-22T23:48:27.358" v="1601" actId="1076"/>
        <pc:sldMkLst>
          <pc:docMk/>
          <pc:sldMk cId="634421522" sldId="518"/>
        </pc:sldMkLst>
        <pc:spChg chg="mod">
          <ac:chgData name="Pedro Ruiz Vasquez" userId="b9ac515f-a907-4e47-a2f2-146fecab7773" providerId="ADAL" clId="{56A0C440-5C1A-4EB2-911C-33352D869E1C}" dt="2026-02-22T23:48:14.925" v="1548" actId="1076"/>
          <ac:spMkLst>
            <pc:docMk/>
            <pc:sldMk cId="634421522" sldId="518"/>
            <ac:spMk id="12" creationId="{3623FAFD-35AA-8EAE-0E0D-5452AA30CC67}"/>
          </ac:spMkLst>
        </pc:spChg>
        <pc:spChg chg="mod">
          <ac:chgData name="Pedro Ruiz Vasquez" userId="b9ac515f-a907-4e47-a2f2-146fecab7773" providerId="ADAL" clId="{56A0C440-5C1A-4EB2-911C-33352D869E1C}" dt="2026-02-22T23:48:27.358" v="1601" actId="1076"/>
          <ac:spMkLst>
            <pc:docMk/>
            <pc:sldMk cId="634421522" sldId="518"/>
            <ac:spMk id="13" creationId="{38271520-704E-2EE5-6805-80720A4144CA}"/>
          </ac:spMkLst>
        </pc:spChg>
        <pc:graphicFrameChg chg="modGraphic">
          <ac:chgData name="Pedro Ruiz Vasquez" userId="b9ac515f-a907-4e47-a2f2-146fecab7773" providerId="ADAL" clId="{56A0C440-5C1A-4EB2-911C-33352D869E1C}" dt="2026-02-22T23:48:12.599" v="1547" actId="20577"/>
          <ac:graphicFrameMkLst>
            <pc:docMk/>
            <pc:sldMk cId="634421522" sldId="518"/>
            <ac:graphicFrameMk id="5" creationId="{00000000-0000-0000-0000-000000000000}"/>
          </ac:graphicFrameMkLst>
        </pc:graphicFrameChg>
        <pc:graphicFrameChg chg="modGraphic">
          <ac:chgData name="Pedro Ruiz Vasquez" userId="b9ac515f-a907-4e47-a2f2-146fecab7773" providerId="ADAL" clId="{56A0C440-5C1A-4EB2-911C-33352D869E1C}" dt="2026-02-22T23:48:24.507" v="1600" actId="20577"/>
          <ac:graphicFrameMkLst>
            <pc:docMk/>
            <pc:sldMk cId="634421522" sldId="518"/>
            <ac:graphicFrameMk id="6" creationId="{00000000-0000-0000-0000-000000000000}"/>
          </ac:graphicFrameMkLst>
        </pc:graphicFrameChg>
      </pc:sldChg>
      <pc:sldChg chg="modSp mod">
        <pc:chgData name="Pedro Ruiz Vasquez" userId="b9ac515f-a907-4e47-a2f2-146fecab7773" providerId="ADAL" clId="{56A0C440-5C1A-4EB2-911C-33352D869E1C}" dt="2026-02-22T23:46:54.776" v="1405" actId="20577"/>
        <pc:sldMkLst>
          <pc:docMk/>
          <pc:sldMk cId="440872514" sldId="526"/>
        </pc:sldMkLst>
        <pc:graphicFrameChg chg="modGraphic">
          <ac:chgData name="Pedro Ruiz Vasquez" userId="b9ac515f-a907-4e47-a2f2-146fecab7773" providerId="ADAL" clId="{56A0C440-5C1A-4EB2-911C-33352D869E1C}" dt="2026-02-22T23:46:51.847" v="1394" actId="20577"/>
          <ac:graphicFrameMkLst>
            <pc:docMk/>
            <pc:sldMk cId="440872514" sldId="526"/>
            <ac:graphicFrameMk id="8" creationId="{00000000-0000-0000-0000-000000000000}"/>
          </ac:graphicFrameMkLst>
        </pc:graphicFrameChg>
        <pc:graphicFrameChg chg="modGraphic">
          <ac:chgData name="Pedro Ruiz Vasquez" userId="b9ac515f-a907-4e47-a2f2-146fecab7773" providerId="ADAL" clId="{56A0C440-5C1A-4EB2-911C-33352D869E1C}" dt="2026-02-22T23:46:54.776" v="1405" actId="20577"/>
          <ac:graphicFrameMkLst>
            <pc:docMk/>
            <pc:sldMk cId="440872514" sldId="526"/>
            <ac:graphicFrameMk id="9" creationId="{00000000-0000-0000-0000-000000000000}"/>
          </ac:graphicFrameMkLst>
        </pc:graphicFrameChg>
      </pc:sldChg>
      <pc:sldChg chg="modSp mod">
        <pc:chgData name="Pedro Ruiz Vasquez" userId="b9ac515f-a907-4e47-a2f2-146fecab7773" providerId="ADAL" clId="{56A0C440-5C1A-4EB2-911C-33352D869E1C}" dt="2026-02-22T23:46:21.270" v="1312" actId="20577"/>
        <pc:sldMkLst>
          <pc:docMk/>
          <pc:sldMk cId="3960004962" sldId="539"/>
        </pc:sldMkLst>
        <pc:graphicFrameChg chg="modGraphic">
          <ac:chgData name="Pedro Ruiz Vasquez" userId="b9ac515f-a907-4e47-a2f2-146fecab7773" providerId="ADAL" clId="{56A0C440-5C1A-4EB2-911C-33352D869E1C}" dt="2026-02-22T23:45:53.083" v="1256" actId="20577"/>
          <ac:graphicFrameMkLst>
            <pc:docMk/>
            <pc:sldMk cId="3960004962" sldId="539"/>
            <ac:graphicFrameMk id="10" creationId="{438F88FC-B861-0C5E-EB05-53C42A3251F6}"/>
          </ac:graphicFrameMkLst>
        </pc:graphicFrameChg>
        <pc:graphicFrameChg chg="modGraphic">
          <ac:chgData name="Pedro Ruiz Vasquez" userId="b9ac515f-a907-4e47-a2f2-146fecab7773" providerId="ADAL" clId="{56A0C440-5C1A-4EB2-911C-33352D869E1C}" dt="2026-02-22T23:45:49.956" v="1247" actId="20577"/>
          <ac:graphicFrameMkLst>
            <pc:docMk/>
            <pc:sldMk cId="3960004962" sldId="539"/>
            <ac:graphicFrameMk id="11" creationId="{E8180F2C-5C93-A2A5-8930-1059ED854862}"/>
          </ac:graphicFrameMkLst>
        </pc:graphicFrameChg>
        <pc:graphicFrameChg chg="modGraphic">
          <ac:chgData name="Pedro Ruiz Vasquez" userId="b9ac515f-a907-4e47-a2f2-146fecab7773" providerId="ADAL" clId="{56A0C440-5C1A-4EB2-911C-33352D869E1C}" dt="2026-02-22T23:46:21.270" v="1312" actId="20577"/>
          <ac:graphicFrameMkLst>
            <pc:docMk/>
            <pc:sldMk cId="3960004962" sldId="539"/>
            <ac:graphicFrameMk id="25" creationId="{00000000-0000-0000-0000-000000000000}"/>
          </ac:graphicFrameMkLst>
        </pc:graphicFrameChg>
      </pc:sldChg>
      <pc:sldChg chg="modSp mod">
        <pc:chgData name="Pedro Ruiz Vasquez" userId="b9ac515f-a907-4e47-a2f2-146fecab7773" providerId="ADAL" clId="{56A0C440-5C1A-4EB2-911C-33352D869E1C}" dt="2026-02-22T23:47:06.920" v="1439" actId="20577"/>
        <pc:sldMkLst>
          <pc:docMk/>
          <pc:sldMk cId="2293912694" sldId="542"/>
        </pc:sldMkLst>
        <pc:graphicFrameChg chg="modGraphic">
          <ac:chgData name="Pedro Ruiz Vasquez" userId="b9ac515f-a907-4e47-a2f2-146fecab7773" providerId="ADAL" clId="{56A0C440-5C1A-4EB2-911C-33352D869E1C}" dt="2026-02-22T23:47:02.913" v="1428" actId="20577"/>
          <ac:graphicFrameMkLst>
            <pc:docMk/>
            <pc:sldMk cId="2293912694" sldId="542"/>
            <ac:graphicFrameMk id="8" creationId="{00000000-0000-0000-0000-000000000000}"/>
          </ac:graphicFrameMkLst>
        </pc:graphicFrameChg>
        <pc:graphicFrameChg chg="modGraphic">
          <ac:chgData name="Pedro Ruiz Vasquez" userId="b9ac515f-a907-4e47-a2f2-146fecab7773" providerId="ADAL" clId="{56A0C440-5C1A-4EB2-911C-33352D869E1C}" dt="2026-02-22T23:47:06.920" v="1439" actId="20577"/>
          <ac:graphicFrameMkLst>
            <pc:docMk/>
            <pc:sldMk cId="2293912694" sldId="542"/>
            <ac:graphicFrameMk id="9" creationId="{00000000-0000-0000-0000-000000000000}"/>
          </ac:graphicFrameMkLst>
        </pc:graphicFrameChg>
      </pc:sldChg>
      <pc:sldChg chg="modSp mod">
        <pc:chgData name="Pedro Ruiz Vasquez" userId="b9ac515f-a907-4e47-a2f2-146fecab7773" providerId="ADAL" clId="{56A0C440-5C1A-4EB2-911C-33352D869E1C}" dt="2026-02-22T23:47:27.807" v="1475" actId="20577"/>
        <pc:sldMkLst>
          <pc:docMk/>
          <pc:sldMk cId="2267083930" sldId="543"/>
        </pc:sldMkLst>
        <pc:graphicFrameChg chg="modGraphic">
          <ac:chgData name="Pedro Ruiz Vasquez" userId="b9ac515f-a907-4e47-a2f2-146fecab7773" providerId="ADAL" clId="{56A0C440-5C1A-4EB2-911C-33352D869E1C}" dt="2026-02-22T23:47:16.394" v="1462" actId="20577"/>
          <ac:graphicFrameMkLst>
            <pc:docMk/>
            <pc:sldMk cId="2267083930" sldId="543"/>
            <ac:graphicFrameMk id="8" creationId="{00000000-0000-0000-0000-000000000000}"/>
          </ac:graphicFrameMkLst>
        </pc:graphicFrameChg>
        <pc:graphicFrameChg chg="modGraphic">
          <ac:chgData name="Pedro Ruiz Vasquez" userId="b9ac515f-a907-4e47-a2f2-146fecab7773" providerId="ADAL" clId="{56A0C440-5C1A-4EB2-911C-33352D869E1C}" dt="2026-02-22T23:47:27.807" v="1475" actId="20577"/>
          <ac:graphicFrameMkLst>
            <pc:docMk/>
            <pc:sldMk cId="2267083930" sldId="543"/>
            <ac:graphicFrameMk id="9" creationId="{00000000-0000-0000-0000-000000000000}"/>
          </ac:graphicFrameMkLst>
        </pc:graphicFrameChg>
        <pc:picChg chg="mod">
          <ac:chgData name="Pedro Ruiz Vasquez" userId="b9ac515f-a907-4e47-a2f2-146fecab7773" providerId="ADAL" clId="{56A0C440-5C1A-4EB2-911C-33352D869E1C}" dt="2026-02-22T23:47:23.543" v="1464" actId="1076"/>
          <ac:picMkLst>
            <pc:docMk/>
            <pc:sldMk cId="2267083930" sldId="543"/>
            <ac:picMk id="12" creationId="{F4797212-20C0-3939-B03C-71CC86FF1026}"/>
          </ac:picMkLst>
        </pc:picChg>
      </pc:sldChg>
      <pc:sldChg chg="modSp mod">
        <pc:chgData name="Pedro Ruiz Vasquez" userId="b9ac515f-a907-4e47-a2f2-146fecab7773" providerId="ADAL" clId="{56A0C440-5C1A-4EB2-911C-33352D869E1C}" dt="2026-02-22T23:47:54.416" v="1525" actId="20577"/>
        <pc:sldMkLst>
          <pc:docMk/>
          <pc:sldMk cId="3690464068" sldId="547"/>
        </pc:sldMkLst>
        <pc:spChg chg="mod">
          <ac:chgData name="Pedro Ruiz Vasquez" userId="b9ac515f-a907-4e47-a2f2-146fecab7773" providerId="ADAL" clId="{56A0C440-5C1A-4EB2-911C-33352D869E1C}" dt="2026-02-22T23:47:39.449" v="1486" actId="1076"/>
          <ac:spMkLst>
            <pc:docMk/>
            <pc:sldMk cId="3690464068" sldId="547"/>
            <ac:spMk id="13" creationId="{DA131AA2-7CCD-CF99-7B59-BDE688138EC2}"/>
          </ac:spMkLst>
        </pc:spChg>
        <pc:spChg chg="mod">
          <ac:chgData name="Pedro Ruiz Vasquez" userId="b9ac515f-a907-4e47-a2f2-146fecab7773" providerId="ADAL" clId="{56A0C440-5C1A-4EB2-911C-33352D869E1C}" dt="2026-02-22T23:47:43.758" v="1487" actId="1076"/>
          <ac:spMkLst>
            <pc:docMk/>
            <pc:sldMk cId="3690464068" sldId="547"/>
            <ac:spMk id="14" creationId="{0A5169F8-8234-1BDD-61A3-87446AB81345}"/>
          </ac:spMkLst>
        </pc:spChg>
        <pc:graphicFrameChg chg="modGraphic">
          <ac:chgData name="Pedro Ruiz Vasquez" userId="b9ac515f-a907-4e47-a2f2-146fecab7773" providerId="ADAL" clId="{56A0C440-5C1A-4EB2-911C-33352D869E1C}" dt="2026-02-22T23:47:50.795" v="1512" actId="20577"/>
          <ac:graphicFrameMkLst>
            <pc:docMk/>
            <pc:sldMk cId="3690464068" sldId="547"/>
            <ac:graphicFrameMk id="8" creationId="{E5C2E2F1-C7F6-05A4-0FCA-CDA2E5934037}"/>
          </ac:graphicFrameMkLst>
        </pc:graphicFrameChg>
        <pc:graphicFrameChg chg="modGraphic">
          <ac:chgData name="Pedro Ruiz Vasquez" userId="b9ac515f-a907-4e47-a2f2-146fecab7773" providerId="ADAL" clId="{56A0C440-5C1A-4EB2-911C-33352D869E1C}" dt="2026-02-22T23:47:54.416" v="1525" actId="20577"/>
          <ac:graphicFrameMkLst>
            <pc:docMk/>
            <pc:sldMk cId="3690464068" sldId="547"/>
            <ac:graphicFrameMk id="9" creationId="{576323EF-CD65-EF0D-D6E3-12E3F79D2EB3}"/>
          </ac:graphicFrameMkLst>
        </pc:graphicFrameChg>
        <pc:graphicFrameChg chg="modGraphic">
          <ac:chgData name="Pedro Ruiz Vasquez" userId="b9ac515f-a907-4e47-a2f2-146fecab7773" providerId="ADAL" clId="{56A0C440-5C1A-4EB2-911C-33352D869E1C}" dt="2026-02-22T23:47:36.868" v="1485" actId="20577"/>
          <ac:graphicFrameMkLst>
            <pc:docMk/>
            <pc:sldMk cId="3690464068" sldId="547"/>
            <ac:graphicFrameMk id="11" creationId="{36AB3342-12CB-1B21-9D48-38BDBCC0DDBD}"/>
          </ac:graphicFrameMkLst>
        </pc:graphicFrameChg>
      </pc:sldChg>
      <pc:sldChg chg="modSp mod">
        <pc:chgData name="Pedro Ruiz Vasquez" userId="b9ac515f-a907-4e47-a2f2-146fecab7773" providerId="ADAL" clId="{56A0C440-5C1A-4EB2-911C-33352D869E1C}" dt="2026-02-22T23:48:53.837" v="1645" actId="20577"/>
        <pc:sldMkLst>
          <pc:docMk/>
          <pc:sldMk cId="3683885915" sldId="605"/>
        </pc:sldMkLst>
        <pc:graphicFrameChg chg="modGraphic">
          <ac:chgData name="Pedro Ruiz Vasquez" userId="b9ac515f-a907-4e47-a2f2-146fecab7773" providerId="ADAL" clId="{56A0C440-5C1A-4EB2-911C-33352D869E1C}" dt="2026-02-22T23:48:53.837" v="1645" actId="20577"/>
          <ac:graphicFrameMkLst>
            <pc:docMk/>
            <pc:sldMk cId="3683885915" sldId="605"/>
            <ac:graphicFrameMk id="15" creationId="{DCBD9540-6F63-24DA-324A-98A005ECAE8A}"/>
          </ac:graphicFrameMkLst>
        </pc:graphicFrameChg>
        <pc:graphicFrameChg chg="modGraphic">
          <ac:chgData name="Pedro Ruiz Vasquez" userId="b9ac515f-a907-4e47-a2f2-146fecab7773" providerId="ADAL" clId="{56A0C440-5C1A-4EB2-911C-33352D869E1C}" dt="2026-02-22T23:48:48.421" v="1623" actId="20577"/>
          <ac:graphicFrameMkLst>
            <pc:docMk/>
            <pc:sldMk cId="3683885915" sldId="605"/>
            <ac:graphicFrameMk id="16" creationId="{45EC6A31-EB13-76EB-C9F1-7124B0B1EB6B}"/>
          </ac:graphicFrameMkLst>
        </pc:graphicFrameChg>
      </pc:sldChg>
      <pc:sldChg chg="modSp mod">
        <pc:chgData name="Pedro Ruiz Vasquez" userId="b9ac515f-a907-4e47-a2f2-146fecab7773" providerId="ADAL" clId="{56A0C440-5C1A-4EB2-911C-33352D869E1C}" dt="2026-02-22T23:49:05.065" v="1668"/>
        <pc:sldMkLst>
          <pc:docMk/>
          <pc:sldMk cId="4154464252" sldId="606"/>
        </pc:sldMkLst>
        <pc:graphicFrameChg chg="mod">
          <ac:chgData name="Pedro Ruiz Vasquez" userId="b9ac515f-a907-4e47-a2f2-146fecab7773" providerId="ADAL" clId="{56A0C440-5C1A-4EB2-911C-33352D869E1C}" dt="2026-02-22T23:49:05.065" v="1668"/>
          <ac:graphicFrameMkLst>
            <pc:docMk/>
            <pc:sldMk cId="4154464252" sldId="606"/>
            <ac:graphicFrameMk id="15" creationId="{6D8CC0B3-4F93-221F-1E7A-8F826662B468}"/>
          </ac:graphicFrameMkLst>
        </pc:graphicFrameChg>
        <pc:graphicFrameChg chg="modGraphic">
          <ac:chgData name="Pedro Ruiz Vasquez" userId="b9ac515f-a907-4e47-a2f2-146fecab7773" providerId="ADAL" clId="{56A0C440-5C1A-4EB2-911C-33352D869E1C}" dt="2026-02-22T23:49:01.735" v="1667" actId="20577"/>
          <ac:graphicFrameMkLst>
            <pc:docMk/>
            <pc:sldMk cId="4154464252" sldId="606"/>
            <ac:graphicFrameMk id="16" creationId="{7A59C19E-C6EA-7468-2D76-C1730E5AD2DB}"/>
          </ac:graphicFrameMkLst>
        </pc:graphicFrameChg>
      </pc:sldChg>
      <pc:sldChg chg="modSp">
        <pc:chgData name="Pedro Ruiz Vasquez" userId="b9ac515f-a907-4e47-a2f2-146fecab7773" providerId="ADAL" clId="{56A0C440-5C1A-4EB2-911C-33352D869E1C}" dt="2026-02-22T23:49:09.296" v="1670"/>
        <pc:sldMkLst>
          <pc:docMk/>
          <pc:sldMk cId="2338334277" sldId="607"/>
        </pc:sldMkLst>
        <pc:graphicFrameChg chg="mod">
          <ac:chgData name="Pedro Ruiz Vasquez" userId="b9ac515f-a907-4e47-a2f2-146fecab7773" providerId="ADAL" clId="{56A0C440-5C1A-4EB2-911C-33352D869E1C}" dt="2026-02-22T23:49:09.296" v="1670"/>
          <ac:graphicFrameMkLst>
            <pc:docMk/>
            <pc:sldMk cId="2338334277" sldId="607"/>
            <ac:graphicFrameMk id="15" creationId="{CF8F0F1B-A30A-3F18-6D3E-CE160BAF999F}"/>
          </ac:graphicFrameMkLst>
        </pc:graphicFrameChg>
        <pc:graphicFrameChg chg="mod">
          <ac:chgData name="Pedro Ruiz Vasquez" userId="b9ac515f-a907-4e47-a2f2-146fecab7773" providerId="ADAL" clId="{56A0C440-5C1A-4EB2-911C-33352D869E1C}" dt="2026-02-22T23:49:07.779" v="1669"/>
          <ac:graphicFrameMkLst>
            <pc:docMk/>
            <pc:sldMk cId="2338334277" sldId="607"/>
            <ac:graphicFrameMk id="16" creationId="{157D4D8E-DF15-9E28-E2D1-D5D09AB03746}"/>
          </ac:graphicFrameMkLst>
        </pc:graphicFrameChg>
      </pc:sldChg>
      <pc:sldChg chg="modSp">
        <pc:chgData name="Pedro Ruiz Vasquez" userId="b9ac515f-a907-4e47-a2f2-146fecab7773" providerId="ADAL" clId="{56A0C440-5C1A-4EB2-911C-33352D869E1C}" dt="2026-02-22T23:49:14.456" v="1672"/>
        <pc:sldMkLst>
          <pc:docMk/>
          <pc:sldMk cId="2713310569" sldId="608"/>
        </pc:sldMkLst>
        <pc:graphicFrameChg chg="mod">
          <ac:chgData name="Pedro Ruiz Vasquez" userId="b9ac515f-a907-4e47-a2f2-146fecab7773" providerId="ADAL" clId="{56A0C440-5C1A-4EB2-911C-33352D869E1C}" dt="2026-02-22T23:49:14.456" v="1672"/>
          <ac:graphicFrameMkLst>
            <pc:docMk/>
            <pc:sldMk cId="2713310569" sldId="608"/>
            <ac:graphicFrameMk id="15" creationId="{94FD938A-1AA2-8705-BBF8-58B198954214}"/>
          </ac:graphicFrameMkLst>
        </pc:graphicFrameChg>
        <pc:graphicFrameChg chg="mod">
          <ac:chgData name="Pedro Ruiz Vasquez" userId="b9ac515f-a907-4e47-a2f2-146fecab7773" providerId="ADAL" clId="{56A0C440-5C1A-4EB2-911C-33352D869E1C}" dt="2026-02-22T23:49:12.833" v="1671"/>
          <ac:graphicFrameMkLst>
            <pc:docMk/>
            <pc:sldMk cId="2713310569" sldId="608"/>
            <ac:graphicFrameMk id="16" creationId="{69D8254B-FB56-C1AF-3FBC-2255EFE251D1}"/>
          </ac:graphicFrameMkLst>
        </pc:graphicFrameChg>
      </pc:sldChg>
      <pc:sldChg chg="modSp">
        <pc:chgData name="Pedro Ruiz Vasquez" userId="b9ac515f-a907-4e47-a2f2-146fecab7773" providerId="ADAL" clId="{56A0C440-5C1A-4EB2-911C-33352D869E1C}" dt="2026-02-22T23:49:18.747" v="1674"/>
        <pc:sldMkLst>
          <pc:docMk/>
          <pc:sldMk cId="2256025985" sldId="609"/>
        </pc:sldMkLst>
        <pc:graphicFrameChg chg="mod">
          <ac:chgData name="Pedro Ruiz Vasquez" userId="b9ac515f-a907-4e47-a2f2-146fecab7773" providerId="ADAL" clId="{56A0C440-5C1A-4EB2-911C-33352D869E1C}" dt="2026-02-22T23:49:18.747" v="1674"/>
          <ac:graphicFrameMkLst>
            <pc:docMk/>
            <pc:sldMk cId="2256025985" sldId="609"/>
            <ac:graphicFrameMk id="6" creationId="{7F2AB43A-E9D5-D281-9E71-B31F16192A6C}"/>
          </ac:graphicFrameMkLst>
        </pc:graphicFrameChg>
        <pc:graphicFrameChg chg="mod">
          <ac:chgData name="Pedro Ruiz Vasquez" userId="b9ac515f-a907-4e47-a2f2-146fecab7773" providerId="ADAL" clId="{56A0C440-5C1A-4EB2-911C-33352D869E1C}" dt="2026-02-22T23:49:17.482" v="1673"/>
          <ac:graphicFrameMkLst>
            <pc:docMk/>
            <pc:sldMk cId="2256025985" sldId="609"/>
            <ac:graphicFrameMk id="7" creationId="{6A0BB2DE-8AE3-9E14-1C3A-796FB87AE3EC}"/>
          </ac:graphicFrameMkLst>
        </pc:graphicFrameChg>
      </pc:sldChg>
      <pc:sldChg chg="modSp mod">
        <pc:chgData name="Pedro Ruiz Vasquez" userId="b9ac515f-a907-4e47-a2f2-146fecab7773" providerId="ADAL" clId="{56A0C440-5C1A-4EB2-911C-33352D869E1C}" dt="2026-02-22T23:49:37.219" v="1676" actId="2165"/>
        <pc:sldMkLst>
          <pc:docMk/>
          <pc:sldMk cId="658625537" sldId="611"/>
        </pc:sldMkLst>
        <pc:graphicFrameChg chg="modGraphic">
          <ac:chgData name="Pedro Ruiz Vasquez" userId="b9ac515f-a907-4e47-a2f2-146fecab7773" providerId="ADAL" clId="{56A0C440-5C1A-4EB2-911C-33352D869E1C}" dt="2026-02-22T23:49:37.219" v="1676" actId="2165"/>
          <ac:graphicFrameMkLst>
            <pc:docMk/>
            <pc:sldMk cId="658625537" sldId="611"/>
            <ac:graphicFrameMk id="6" creationId="{289AB005-F80A-7D10-779D-F757DCD06D64}"/>
          </ac:graphicFrameMkLst>
        </pc:graphicFrameChg>
      </pc:sldChg>
      <pc:sldChg chg="modSp mod">
        <pc:chgData name="Pedro Ruiz Vasquez" userId="b9ac515f-a907-4e47-a2f2-146fecab7773" providerId="ADAL" clId="{56A0C440-5C1A-4EB2-911C-33352D869E1C}" dt="2026-02-22T23:49:44.069" v="1677" actId="2165"/>
        <pc:sldMkLst>
          <pc:docMk/>
          <pc:sldMk cId="1036259101" sldId="612"/>
        </pc:sldMkLst>
        <pc:graphicFrameChg chg="modGraphic">
          <ac:chgData name="Pedro Ruiz Vasquez" userId="b9ac515f-a907-4e47-a2f2-146fecab7773" providerId="ADAL" clId="{56A0C440-5C1A-4EB2-911C-33352D869E1C}" dt="2026-02-22T23:49:44.069" v="1677" actId="2165"/>
          <ac:graphicFrameMkLst>
            <pc:docMk/>
            <pc:sldMk cId="1036259101" sldId="612"/>
            <ac:graphicFrameMk id="6" creationId="{A081DBD7-485F-4A62-E3E2-7B6A65B90683}"/>
          </ac:graphicFrameMkLst>
        </pc:graphicFrameChg>
      </pc:sldChg>
      <pc:sldChg chg="modSp mod">
        <pc:chgData name="Pedro Ruiz Vasquez" userId="b9ac515f-a907-4e47-a2f2-146fecab7773" providerId="ADAL" clId="{56A0C440-5C1A-4EB2-911C-33352D869E1C}" dt="2026-02-22T23:50:46.409" v="1680" actId="1076"/>
        <pc:sldMkLst>
          <pc:docMk/>
          <pc:sldMk cId="1807970305" sldId="618"/>
        </pc:sldMkLst>
        <pc:spChg chg="mod">
          <ac:chgData name="Pedro Ruiz Vasquez" userId="b9ac515f-a907-4e47-a2f2-146fecab7773" providerId="ADAL" clId="{56A0C440-5C1A-4EB2-911C-33352D869E1C}" dt="2026-02-22T23:50:46.409" v="1680" actId="1076"/>
          <ac:spMkLst>
            <pc:docMk/>
            <pc:sldMk cId="1807970305" sldId="618"/>
            <ac:spMk id="7" creationId="{DA0A06C6-7662-D359-D01D-A046373F0618}"/>
          </ac:spMkLst>
        </pc:spChg>
        <pc:graphicFrameChg chg="mod modGraphic">
          <ac:chgData name="Pedro Ruiz Vasquez" userId="b9ac515f-a907-4e47-a2f2-146fecab7773" providerId="ADAL" clId="{56A0C440-5C1A-4EB2-911C-33352D869E1C}" dt="2026-02-22T23:50:39.909" v="1679" actId="1076"/>
          <ac:graphicFrameMkLst>
            <pc:docMk/>
            <pc:sldMk cId="1807970305" sldId="618"/>
            <ac:graphicFrameMk id="6" creationId="{0667B98D-7A3A-839A-D6EB-E90F94BFC446}"/>
          </ac:graphicFrameMkLst>
        </pc:graphicFrameChg>
      </pc:sldChg>
      <pc:sldChg chg="modSp mod">
        <pc:chgData name="Pedro Ruiz Vasquez" userId="b9ac515f-a907-4e47-a2f2-146fecab7773" providerId="ADAL" clId="{56A0C440-5C1A-4EB2-911C-33352D869E1C}" dt="2026-02-22T23:51:06.959" v="1683" actId="1076"/>
        <pc:sldMkLst>
          <pc:docMk/>
          <pc:sldMk cId="1997551708" sldId="620"/>
        </pc:sldMkLst>
        <pc:spChg chg="mod">
          <ac:chgData name="Pedro Ruiz Vasquez" userId="b9ac515f-a907-4e47-a2f2-146fecab7773" providerId="ADAL" clId="{56A0C440-5C1A-4EB2-911C-33352D869E1C}" dt="2026-02-22T23:51:06.959" v="1683" actId="1076"/>
          <ac:spMkLst>
            <pc:docMk/>
            <pc:sldMk cId="1997551708" sldId="620"/>
            <ac:spMk id="7" creationId="{C0A7A970-69D4-26E4-D1BC-A55F795266E3}"/>
          </ac:spMkLst>
        </pc:spChg>
        <pc:graphicFrameChg chg="mod modGraphic">
          <ac:chgData name="Pedro Ruiz Vasquez" userId="b9ac515f-a907-4e47-a2f2-146fecab7773" providerId="ADAL" clId="{56A0C440-5C1A-4EB2-911C-33352D869E1C}" dt="2026-02-22T23:51:04.267" v="1682" actId="1076"/>
          <ac:graphicFrameMkLst>
            <pc:docMk/>
            <pc:sldMk cId="1997551708" sldId="620"/>
            <ac:graphicFrameMk id="6" creationId="{C7D8B96A-A9B9-C0A5-7F51-3CEF6E50E312}"/>
          </ac:graphicFrameMkLst>
        </pc:graphicFrameChg>
      </pc:sldChg>
      <pc:sldChg chg="modSp add mod">
        <pc:chgData name="Pedro Ruiz Vasquez" userId="b9ac515f-a907-4e47-a2f2-146fecab7773" providerId="ADAL" clId="{56A0C440-5C1A-4EB2-911C-33352D869E1C}" dt="2026-02-22T23:46:25.328" v="1323" actId="20577"/>
        <pc:sldMkLst>
          <pc:docMk/>
          <pc:sldMk cId="3268494852" sldId="623"/>
        </pc:sldMkLst>
        <pc:graphicFrameChg chg="modGraphic">
          <ac:chgData name="Pedro Ruiz Vasquez" userId="b9ac515f-a907-4e47-a2f2-146fecab7773" providerId="ADAL" clId="{56A0C440-5C1A-4EB2-911C-33352D869E1C}" dt="2026-02-22T23:46:07.242" v="1281" actId="20577"/>
          <ac:graphicFrameMkLst>
            <pc:docMk/>
            <pc:sldMk cId="3268494852" sldId="623"/>
            <ac:graphicFrameMk id="10" creationId="{D7296489-470A-7E28-BF79-B5653CC83FF6}"/>
          </ac:graphicFrameMkLst>
        </pc:graphicFrameChg>
        <pc:graphicFrameChg chg="modGraphic">
          <ac:chgData name="Pedro Ruiz Vasquez" userId="b9ac515f-a907-4e47-a2f2-146fecab7773" providerId="ADAL" clId="{56A0C440-5C1A-4EB2-911C-33352D869E1C}" dt="2026-02-22T23:46:11.821" v="1290" actId="20577"/>
          <ac:graphicFrameMkLst>
            <pc:docMk/>
            <pc:sldMk cId="3268494852" sldId="623"/>
            <ac:graphicFrameMk id="11" creationId="{1C9EAEC3-EB9E-4E46-FDD1-0A07E704ED40}"/>
          </ac:graphicFrameMkLst>
        </pc:graphicFrameChg>
        <pc:graphicFrameChg chg="modGraphic">
          <ac:chgData name="Pedro Ruiz Vasquez" userId="b9ac515f-a907-4e47-a2f2-146fecab7773" providerId="ADAL" clId="{56A0C440-5C1A-4EB2-911C-33352D869E1C}" dt="2026-02-22T23:46:25.328" v="1323" actId="20577"/>
          <ac:graphicFrameMkLst>
            <pc:docMk/>
            <pc:sldMk cId="3268494852" sldId="623"/>
            <ac:graphicFrameMk id="25" creationId="{00000000-0000-0000-0000-000000000000}"/>
          </ac:graphicFrameMkLst>
        </pc:graphicFrameChg>
      </pc:sldChg>
      <pc:sldChg chg="modSp add mod">
        <pc:chgData name="Pedro Ruiz Vasquez" userId="b9ac515f-a907-4e47-a2f2-146fecab7773" providerId="ADAL" clId="{56A0C440-5C1A-4EB2-911C-33352D869E1C}" dt="2026-02-22T23:46:40.027" v="1363" actId="20577"/>
        <pc:sldMkLst>
          <pc:docMk/>
          <pc:sldMk cId="475840723" sldId="624"/>
        </pc:sldMkLst>
        <pc:graphicFrameChg chg="modGraphic">
          <ac:chgData name="Pedro Ruiz Vasquez" userId="b9ac515f-a907-4e47-a2f2-146fecab7773" providerId="ADAL" clId="{56A0C440-5C1A-4EB2-911C-33352D869E1C}" dt="2026-02-22T23:46:37.317" v="1354" actId="20577"/>
          <ac:graphicFrameMkLst>
            <pc:docMk/>
            <pc:sldMk cId="475840723" sldId="624"/>
            <ac:graphicFrameMk id="10" creationId="{B593BCF5-B22D-F919-1D7E-A7B92742E210}"/>
          </ac:graphicFrameMkLst>
        </pc:graphicFrameChg>
        <pc:graphicFrameChg chg="modGraphic">
          <ac:chgData name="Pedro Ruiz Vasquez" userId="b9ac515f-a907-4e47-a2f2-146fecab7773" providerId="ADAL" clId="{56A0C440-5C1A-4EB2-911C-33352D869E1C}" dt="2026-02-22T23:46:40.027" v="1363" actId="20577"/>
          <ac:graphicFrameMkLst>
            <pc:docMk/>
            <pc:sldMk cId="475840723" sldId="624"/>
            <ac:graphicFrameMk id="11" creationId="{D5B30439-13C1-7E4C-0AE3-639A406F2B82}"/>
          </ac:graphicFrameMkLst>
        </pc:graphicFrameChg>
        <pc:graphicFrameChg chg="modGraphic">
          <ac:chgData name="Pedro Ruiz Vasquez" userId="b9ac515f-a907-4e47-a2f2-146fecab7773" providerId="ADAL" clId="{56A0C440-5C1A-4EB2-911C-33352D869E1C}" dt="2026-02-22T23:46:31.135" v="1334" actId="20577"/>
          <ac:graphicFrameMkLst>
            <pc:docMk/>
            <pc:sldMk cId="475840723" sldId="624"/>
            <ac:graphicFrameMk id="25" creationId="{5787F111-B122-955D-09FA-DFB693BDA80E}"/>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7/09/2026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‹Nº›</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7/09/2026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‹Nº›</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133228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011098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7D158-C3F9-4738-2D30-A9CB7E743C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EF0DA1-B473-3FA6-7351-2D4AEE9560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F85A51-6B95-C849-4E2E-45113126C3EB}"/>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099267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32</a:t>
            </a:fld>
            <a:endParaRPr lang="en-US"/>
          </a:p>
        </p:txBody>
      </p:sp>
    </p:spTree>
    <p:extLst>
      <p:ext uri="{BB962C8B-B14F-4D97-AF65-F5344CB8AC3E}">
        <p14:creationId xmlns:p14="http://schemas.microsoft.com/office/powerpoint/2010/main" val="1143841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48D12-ADC8-BA0E-6A52-128E938DB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6C775-CDEF-E3FB-846B-45E1AA30E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019E7-67AA-589C-54B4-87AF8B77B9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AE4E25-E569-B1AB-6EAB-333EE5EF25B1}"/>
              </a:ext>
            </a:extLst>
          </p:cNvPr>
          <p:cNvSpPr>
            <a:spLocks noGrp="1"/>
          </p:cNvSpPr>
          <p:nvPr>
            <p:ph type="sldNum" sz="quarter" idx="10"/>
          </p:nvPr>
        </p:nvSpPr>
        <p:spPr/>
        <p:txBody>
          <a:bodyPr/>
          <a:lstStyle/>
          <a:p>
            <a:fld id="{602C4E94-3DB4-C84A-925E-628A397D8BB4}" type="slidenum">
              <a:rPr lang="en-US" smtClean="0"/>
              <a:t>33</a:t>
            </a:fld>
            <a:endParaRPr lang="en-US"/>
          </a:p>
        </p:txBody>
      </p:sp>
    </p:spTree>
    <p:extLst>
      <p:ext uri="{BB962C8B-B14F-4D97-AF65-F5344CB8AC3E}">
        <p14:creationId xmlns:p14="http://schemas.microsoft.com/office/powerpoint/2010/main" val="133089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9/7/2026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1824395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219644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2425561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534715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1373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80357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463711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1069617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504337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563417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9/7/2026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230543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9/7/2026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906557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20.emf"/></Relationships>
</file>

<file path=ppt/slides/_rels/slide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841514FB-4664-B956-D5FF-8848136CE24E}"/>
              </a:ext>
            </a:extLst>
          </p:cNvPr>
          <p:cNvSpPr>
            <a:spLocks noGrp="1"/>
          </p:cNvSpPr>
          <p:nvPr>
            <p:ph type="ctrTitle"/>
          </p:nvPr>
        </p:nvSpPr>
        <p:spPr>
          <a:xfrm>
            <a:off x="470868" y="1814732"/>
            <a:ext cx="11266506" cy="826833"/>
          </a:xfrm>
        </p:spPr>
        <p:txBody>
          <a:bodyPr>
            <a:noAutofit/>
          </a:bodyPr>
          <a:lstStyle/>
          <a:p>
            <a:r>
              <a:rPr lang="es-CO" sz="3200" dirty="0">
                <a:latin typeface="Century Gothic"/>
                <a:ea typeface="+mj-lt"/>
                <a:cs typeface="+mj-lt"/>
              </a:rPr>
              <a:t>LA CONSTRUCCIÓN DEL FLUJO DE CAJA LIBRE DE un PROYECTO (</a:t>
            </a:r>
            <a:r>
              <a:rPr lang="es-CO" sz="3200" dirty="0" err="1">
                <a:solidFill>
                  <a:srgbClr val="D7A700"/>
                </a:solidFill>
                <a:latin typeface="Century Gothic"/>
                <a:ea typeface="+mj-lt"/>
                <a:cs typeface="+mj-lt"/>
              </a:rPr>
              <a:t>PaRTE</a:t>
            </a:r>
            <a:r>
              <a:rPr lang="es-CO" sz="3200" dirty="0">
                <a:solidFill>
                  <a:srgbClr val="D7A700"/>
                </a:solidFill>
                <a:latin typeface="Century Gothic"/>
                <a:ea typeface="+mj-lt"/>
                <a:cs typeface="+mj-lt"/>
              </a:rPr>
              <a:t> III</a:t>
            </a:r>
            <a:r>
              <a:rPr lang="es-CO" sz="3200" dirty="0">
                <a:latin typeface="Century Gothic"/>
                <a:ea typeface="+mj-lt"/>
                <a:cs typeface="+mj-lt"/>
              </a:rPr>
              <a:t>)</a:t>
            </a:r>
            <a:endParaRPr lang="es-ES" dirty="0">
              <a:latin typeface="Century Gothic"/>
            </a:endParaRPr>
          </a:p>
        </p:txBody>
      </p:sp>
      <p:sp>
        <p:nvSpPr>
          <p:cNvPr id="2" name="CuadroTexto 1">
            <a:extLst>
              <a:ext uri="{FF2B5EF4-FFF2-40B4-BE49-F238E27FC236}">
                <a16:creationId xmlns:a16="http://schemas.microsoft.com/office/drawing/2014/main" id="{F9A1A25C-32E5-4275-39EE-43C4C11A3746}"/>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3" name="Rectángulo 2">
            <a:extLst>
              <a:ext uri="{FF2B5EF4-FFF2-40B4-BE49-F238E27FC236}">
                <a16:creationId xmlns:a16="http://schemas.microsoft.com/office/drawing/2014/main" id="{2959506E-564A-1C7E-EF85-5BED9CB2F37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2</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046988"/>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Capital de Trabajo en el Estado de la Situación Financiera y en el Estado de Resultados.</a:t>
            </a:r>
            <a:endParaRPr lang="es-ES" sz="1600" dirty="0">
              <a:solidFill>
                <a:schemeClr val="accent1"/>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ES" sz="1600" dirty="0">
                <a:solidFill>
                  <a:schemeClr val="accent1"/>
                </a:solidFill>
                <a:latin typeface="Century Gothic"/>
                <a:cs typeface="Arial"/>
              </a:rPr>
              <a:t>Variación de PPE e Intangibles </a:t>
            </a:r>
            <a:r>
              <a:rPr lang="es-CO" sz="1600" dirty="0">
                <a:solidFill>
                  <a:schemeClr val="accent1"/>
                </a:solidFill>
                <a:latin typeface="Century Gothic"/>
                <a:cs typeface="Arial"/>
              </a:rPr>
              <a:t>(CAPEX).</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Impuesto Ocasional.</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Valor Terminal. </a:t>
            </a:r>
            <a:endParaRPr lang="es-CO" sz="1600" dirty="0">
              <a:solidFill>
                <a:schemeClr val="accent1"/>
              </a:solidFill>
              <a:latin typeface="Century Gothic"/>
            </a:endParaRPr>
          </a:p>
          <a:p>
            <a:pPr algn="just">
              <a:buClr>
                <a:srgbClr val="48BE7A"/>
              </a:buClr>
            </a:pPr>
            <a:endParaRPr lang="es-CO" sz="1600" dirty="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74B4FC1-E2E1-0CA9-DF73-5952722BA5B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3</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78565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Capital de Trabajo en el Estado de la Situación Financiera y en el Estado de Resultados.</a:t>
            </a:r>
            <a:endParaRPr lang="es-ES" sz="1600" dirty="0">
              <a:solidFill>
                <a:schemeClr val="accent1"/>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r>
              <a:rPr lang="es-ES" sz="1600" dirty="0">
                <a:solidFill>
                  <a:schemeClr val="bg2">
                    <a:lumMod val="90000"/>
                  </a:schemeClr>
                </a:solidFill>
                <a:latin typeface="Century Gothic"/>
                <a:cs typeface="Arial"/>
              </a:rPr>
              <a:t>Variación de PPE e Intangibles (CAPEX).</a:t>
            </a:r>
          </a:p>
          <a:p>
            <a:pPr marL="342900" indent="-342900" algn="just">
              <a:buClr>
                <a:srgbClr val="48BE7A"/>
              </a:buClr>
              <a:buFontTx/>
              <a:buAutoNum type="arabicPeriod"/>
            </a:pPr>
            <a:endParaRPr lang="es-ES" sz="1600" dirty="0">
              <a:solidFill>
                <a:schemeClr val="bg2">
                  <a:lumMod val="90000"/>
                </a:schemeClr>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Impuesto Ocasional.</a:t>
            </a:r>
          </a:p>
          <a:p>
            <a:pPr marL="342900" indent="-342900" algn="just">
              <a:buClr>
                <a:srgbClr val="48BE7A"/>
              </a:buClr>
              <a:buFontTx/>
              <a:buAutoNum type="arabicPeriod"/>
            </a:pP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Valor Terminal. </a:t>
            </a:r>
          </a:p>
          <a:p>
            <a:pPr marL="342900" indent="-342900" algn="just">
              <a:buClr>
                <a:srgbClr val="48BE7A"/>
              </a:buClr>
              <a:buFontTx/>
              <a:buAutoNum type="arabicPeriod"/>
            </a:pPr>
            <a:endParaRPr lang="es-CO" sz="1600" dirty="0">
              <a:solidFill>
                <a:schemeClr val="bg2">
                  <a:lumMod val="90000"/>
                </a:schemeClr>
              </a:solidFill>
              <a:latin typeface="Century Gothic"/>
            </a:endParaRPr>
          </a:p>
          <a:p>
            <a:pPr algn="just">
              <a:buClr>
                <a:srgbClr val="48BE7A"/>
              </a:buClr>
            </a:pPr>
            <a:endParaRPr lang="es-CO" sz="1600" dirty="0">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sz="1600" dirty="0">
              <a:solidFill>
                <a:schemeClr val="accent1"/>
              </a:solidFill>
              <a:latin typeface="Century Gothic" panose="020B0502020202020204" pitchFamily="34" charset="0"/>
              <a:cs typeface="Arial"/>
            </a:endParaRPr>
          </a:p>
          <a:p>
            <a:pPr algn="just">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9EA739B-5A00-9FA7-0F5E-B12AE6C4FF3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7020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F000-415D-183B-9273-B657C5A5C5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55FDC6-E013-3B6F-EAD8-FFB8B7FAA99B}"/>
              </a:ext>
            </a:extLst>
          </p:cNvPr>
          <p:cNvSpPr>
            <a:spLocks noGrp="1"/>
          </p:cNvSpPr>
          <p:nvPr>
            <p:ph type="title"/>
          </p:nvPr>
        </p:nvSpPr>
        <p:spPr/>
        <p:txBody>
          <a:bodyPr/>
          <a:lstStyle/>
          <a:p>
            <a:r>
              <a:rPr lang="es-ES" dirty="0">
                <a:latin typeface="Century Gothic"/>
              </a:rPr>
              <a:t>Capital de Trabajo (WC)</a:t>
            </a:r>
          </a:p>
        </p:txBody>
      </p:sp>
      <p:sp>
        <p:nvSpPr>
          <p:cNvPr id="4" name="Marcador de número de diapositiva 3">
            <a:extLst>
              <a:ext uri="{FF2B5EF4-FFF2-40B4-BE49-F238E27FC236}">
                <a16:creationId xmlns:a16="http://schemas.microsoft.com/office/drawing/2014/main" id="{76C5C04D-2BEA-E702-2CA9-B9947BD2C059}"/>
              </a:ext>
            </a:extLst>
          </p:cNvPr>
          <p:cNvSpPr>
            <a:spLocks noGrp="1"/>
          </p:cNvSpPr>
          <p:nvPr>
            <p:ph type="sldNum" sz="quarter" idx="12"/>
          </p:nvPr>
        </p:nvSpPr>
        <p:spPr/>
        <p:txBody>
          <a:bodyPr/>
          <a:lstStyle/>
          <a:p>
            <a:fld id="{5E3E23BA-6E79-2442-BA73-D218A5E297C3}" type="slidenum">
              <a:rPr lang="en-US" smtClean="0"/>
              <a:t>4</a:t>
            </a:fld>
            <a:endParaRPr lang="en-US"/>
          </a:p>
        </p:txBody>
      </p:sp>
      <p:sp>
        <p:nvSpPr>
          <p:cNvPr id="3" name="Rectángulo 2">
            <a:extLst>
              <a:ext uri="{FF2B5EF4-FFF2-40B4-BE49-F238E27FC236}">
                <a16:creationId xmlns:a16="http://schemas.microsoft.com/office/drawing/2014/main" id="{5ACD2E70-0ECD-A960-D1CA-B59B0BFA6E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F30F73D-20AB-34D1-0A72-FEA22B817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E743559-44E6-2047-3FA8-9E714B40A1F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pSp>
        <p:nvGrpSpPr>
          <p:cNvPr id="28" name="Grupo 27">
            <a:extLst>
              <a:ext uri="{FF2B5EF4-FFF2-40B4-BE49-F238E27FC236}">
                <a16:creationId xmlns:a16="http://schemas.microsoft.com/office/drawing/2014/main" id="{472741F0-7562-9C0D-0A58-DD64FA6C6F85}"/>
              </a:ext>
            </a:extLst>
          </p:cNvPr>
          <p:cNvGrpSpPr/>
          <p:nvPr/>
        </p:nvGrpSpPr>
        <p:grpSpPr>
          <a:xfrm>
            <a:off x="3224719" y="1905759"/>
            <a:ext cx="6015174" cy="2206595"/>
            <a:chOff x="1804678" y="1905759"/>
            <a:chExt cx="5403850" cy="2206595"/>
          </a:xfrm>
        </p:grpSpPr>
        <p:sp>
          <p:nvSpPr>
            <p:cNvPr id="29" name="AutoShape 12">
              <a:extLst>
                <a:ext uri="{FF2B5EF4-FFF2-40B4-BE49-F238E27FC236}">
                  <a16:creationId xmlns:a16="http://schemas.microsoft.com/office/drawing/2014/main" id="{A7AAECFE-6E7A-DE11-5584-6C6D8E852BC2}"/>
                </a:ext>
              </a:extLst>
            </p:cNvPr>
            <p:cNvSpPr>
              <a:spLocks/>
            </p:cNvSpPr>
            <p:nvPr/>
          </p:nvSpPr>
          <p:spPr bwMode="auto">
            <a:xfrm>
              <a:off x="1804678" y="1905759"/>
              <a:ext cx="5403850"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lnSpc>
                  <a:spcPct val="120000"/>
                </a:lnSpc>
              </a:pPr>
              <a:endParaRPr lang="es-ES" sz="900" dirty="0">
                <a:cs typeface="Arial" charset="0"/>
                <a:sym typeface="Arial" charset="0"/>
              </a:endParaRPr>
            </a:p>
            <a:p>
              <a:pPr lvl="1">
                <a:lnSpc>
                  <a:spcPct val="120000"/>
                </a:lnSpc>
              </a:pPr>
              <a:r>
                <a:rPr lang="es-ES" sz="2000" dirty="0">
                  <a:cs typeface="Arial" charset="0"/>
                  <a:sym typeface="Arial" charset="0"/>
                </a:rPr>
                <a:t>(+) Ingresos</a:t>
              </a:r>
            </a:p>
            <a:p>
              <a:pPr lvl="1">
                <a:lnSpc>
                  <a:spcPct val="120000"/>
                </a:lnSpc>
              </a:pPr>
              <a:r>
                <a:rPr lang="es-ES" sz="2000" dirty="0">
                  <a:cs typeface="Arial" charset="0"/>
                  <a:sym typeface="Arial" charset="0"/>
                </a:rPr>
                <a:t>(-)  Costos de Venta</a:t>
              </a:r>
            </a:p>
            <a:p>
              <a:pPr lvl="1">
                <a:lnSpc>
                  <a:spcPct val="120000"/>
                </a:lnSpc>
              </a:pPr>
              <a:endParaRPr lang="es-ES" sz="400" b="1" dirty="0">
                <a:solidFill>
                  <a:srgbClr val="C00000"/>
                </a:solidFill>
                <a:cs typeface="Arial" charset="0"/>
                <a:sym typeface="Arial" charset="0"/>
              </a:endParaRPr>
            </a:p>
            <a:p>
              <a:pPr lvl="1">
                <a:lnSpc>
                  <a:spcPct val="120000"/>
                </a:lnSpc>
              </a:pPr>
              <a:r>
                <a:rPr lang="es-ES" sz="2000" b="1" dirty="0">
                  <a:solidFill>
                    <a:srgbClr val="C00000"/>
                  </a:solidFill>
                  <a:cs typeface="Arial" charset="0"/>
                  <a:sym typeface="Arial" charset="0"/>
                </a:rPr>
                <a:t>      Utilidad Bruta</a:t>
              </a:r>
            </a:p>
            <a:p>
              <a:pPr lvl="1">
                <a:lnSpc>
                  <a:spcPct val="120000"/>
                </a:lnSpc>
              </a:pPr>
              <a:r>
                <a:rPr lang="es-ES" sz="2000" dirty="0">
                  <a:cs typeface="Arial" charset="0"/>
                  <a:sym typeface="Arial" charset="0"/>
                </a:rPr>
                <a:t>(-)  Gastos AOM</a:t>
              </a:r>
            </a:p>
            <a:p>
              <a:pPr lvl="1">
                <a:lnSpc>
                  <a:spcPct val="120000"/>
                </a:lnSpc>
              </a:pPr>
              <a:r>
                <a:rPr lang="es-ES" sz="2000" dirty="0">
                  <a:cs typeface="Arial" charset="0"/>
                  <a:sym typeface="Arial" charset="0"/>
                </a:rPr>
                <a:t>(-)  Depreciaciones &amp; Amortizaciones</a:t>
              </a:r>
            </a:p>
            <a:p>
              <a:pPr lvl="1">
                <a:lnSpc>
                  <a:spcPct val="120000"/>
                </a:lnSpc>
              </a:pPr>
              <a:r>
                <a:rPr lang="es-ES" sz="2000" b="1" dirty="0">
                  <a:solidFill>
                    <a:srgbClr val="C00000"/>
                  </a:solidFill>
                  <a:cs typeface="Arial" charset="0"/>
                  <a:sym typeface="Arial" charset="0"/>
                </a:rPr>
                <a:t>      EBIT (UAII)</a:t>
              </a:r>
              <a:endParaRPr lang="es-ES" sz="2000" dirty="0">
                <a:solidFill>
                  <a:srgbClr val="C00000"/>
                </a:solidFill>
                <a:cs typeface="Arial" charset="0"/>
                <a:sym typeface="Arial" charset="0"/>
              </a:endParaRPr>
            </a:p>
            <a:p>
              <a:pPr lvl="1">
                <a:lnSpc>
                  <a:spcPct val="120000"/>
                </a:lnSpc>
              </a:pPr>
              <a:endParaRPr lang="es-ES" sz="2000" dirty="0">
                <a:cs typeface="Arial" charset="0"/>
                <a:sym typeface="Arial" charset="0"/>
              </a:endParaRPr>
            </a:p>
          </p:txBody>
        </p:sp>
        <p:sp>
          <p:nvSpPr>
            <p:cNvPr id="30" name="Line 14">
              <a:extLst>
                <a:ext uri="{FF2B5EF4-FFF2-40B4-BE49-F238E27FC236}">
                  <a16:creationId xmlns:a16="http://schemas.microsoft.com/office/drawing/2014/main" id="{25C2D3C5-1591-E6F9-FE29-E68EBE5FD9A1}"/>
                </a:ext>
              </a:extLst>
            </p:cNvPr>
            <p:cNvSpPr>
              <a:spLocks noChangeShapeType="1"/>
            </p:cNvSpPr>
            <p:nvPr/>
          </p:nvSpPr>
          <p:spPr bwMode="auto">
            <a:xfrm flipV="1">
              <a:off x="2284104" y="2843228"/>
              <a:ext cx="3640132" cy="44285"/>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sp>
          <p:nvSpPr>
            <p:cNvPr id="31" name="Line 15">
              <a:extLst>
                <a:ext uri="{FF2B5EF4-FFF2-40B4-BE49-F238E27FC236}">
                  <a16:creationId xmlns:a16="http://schemas.microsoft.com/office/drawing/2014/main" id="{7571B47F-DC78-2B7A-B2D3-F13521DFF0FD}"/>
                </a:ext>
              </a:extLst>
            </p:cNvPr>
            <p:cNvSpPr>
              <a:spLocks noChangeShapeType="1"/>
            </p:cNvSpPr>
            <p:nvPr/>
          </p:nvSpPr>
          <p:spPr bwMode="auto">
            <a:xfrm flipV="1">
              <a:off x="2320446" y="4011003"/>
              <a:ext cx="3602032" cy="2594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grpSp>
      <p:grpSp>
        <p:nvGrpSpPr>
          <p:cNvPr id="32" name="Grupo 31">
            <a:extLst>
              <a:ext uri="{FF2B5EF4-FFF2-40B4-BE49-F238E27FC236}">
                <a16:creationId xmlns:a16="http://schemas.microsoft.com/office/drawing/2014/main" id="{A45E4D7C-1BB4-320F-A4BC-165D4CCA0E97}"/>
              </a:ext>
            </a:extLst>
          </p:cNvPr>
          <p:cNvGrpSpPr/>
          <p:nvPr/>
        </p:nvGrpSpPr>
        <p:grpSpPr>
          <a:xfrm>
            <a:off x="3570563" y="3988180"/>
            <a:ext cx="5770018" cy="2365953"/>
            <a:chOff x="2150522" y="3988180"/>
            <a:chExt cx="5770018" cy="2365953"/>
          </a:xfrm>
        </p:grpSpPr>
        <p:sp>
          <p:nvSpPr>
            <p:cNvPr id="33" name="AutoShape 1">
              <a:extLst>
                <a:ext uri="{FF2B5EF4-FFF2-40B4-BE49-F238E27FC236}">
                  <a16:creationId xmlns:a16="http://schemas.microsoft.com/office/drawing/2014/main" id="{6CC3001B-BB06-D7AD-4596-39174C7802A1}"/>
                </a:ext>
              </a:extLst>
            </p:cNvPr>
            <p:cNvSpPr>
              <a:spLocks/>
            </p:cNvSpPr>
            <p:nvPr/>
          </p:nvSpPr>
          <p:spPr bwMode="auto">
            <a:xfrm>
              <a:off x="2150522" y="3988180"/>
              <a:ext cx="5770018"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nchor="t"/>
            <a:lstStyle/>
            <a:p>
              <a:pPr lvl="1"/>
              <a:endParaRPr lang="es-ES" sz="300" dirty="0">
                <a:solidFill>
                  <a:schemeClr val="accent1"/>
                </a:solidFill>
                <a:cs typeface="Arial" charset="0"/>
                <a:sym typeface="Arial" charset="0"/>
              </a:endParaRPr>
            </a:p>
            <a:p>
              <a:r>
                <a:rPr lang="es-ES" sz="2000" dirty="0">
                  <a:cs typeface="Arial" charset="0"/>
                  <a:sym typeface="Arial" charset="0"/>
                </a:rPr>
                <a:t>     </a:t>
              </a:r>
            </a:p>
            <a:p>
              <a:r>
                <a:rPr lang="es-ES" sz="2000" dirty="0">
                  <a:cs typeface="Arial" charset="0"/>
                  <a:sym typeface="Arial" charset="0"/>
                </a:rPr>
                <a:t>       (+) Depreciaciones &amp; Amortizaciones</a:t>
              </a:r>
            </a:p>
            <a:p>
              <a:endParaRPr lang="es-ES" sz="100" dirty="0">
                <a:solidFill>
                  <a:schemeClr val="accent1"/>
                </a:solidFill>
                <a:cs typeface="Arial" charset="0"/>
                <a:sym typeface="Arial" charset="0"/>
              </a:endParaRPr>
            </a:p>
            <a:p>
              <a:r>
                <a:rPr lang="es-ES" sz="2000" dirty="0">
                  <a:solidFill>
                    <a:schemeClr val="accent1"/>
                  </a:solidFill>
                  <a:cs typeface="Arial" charset="0"/>
                  <a:sym typeface="Arial" charset="0"/>
                </a:rPr>
                <a:t>        </a:t>
              </a:r>
              <a:r>
                <a:rPr lang="es-ES" sz="2000" b="1" dirty="0">
                  <a:solidFill>
                    <a:srgbClr val="C00000"/>
                  </a:solidFill>
                  <a:cs typeface="Arial" charset="0"/>
                  <a:sym typeface="Arial" charset="0"/>
                </a:rPr>
                <a:t>EBITDA</a:t>
              </a:r>
              <a:endParaRPr lang="es-ES" sz="2000" dirty="0">
                <a:solidFill>
                  <a:srgbClr val="C00000"/>
                </a:solidFill>
                <a:cs typeface="Arial" charset="0"/>
                <a:sym typeface="Arial" charset="0"/>
              </a:endParaRPr>
            </a:p>
            <a:p>
              <a:endParaRPr lang="es-ES" sz="400" dirty="0">
                <a:cs typeface="Arial" charset="0"/>
                <a:sym typeface="Arial" charset="0"/>
              </a:endParaRPr>
            </a:p>
            <a:p>
              <a:r>
                <a:rPr lang="es-ES" sz="2000" dirty="0">
                  <a:cs typeface="Arial" charset="0"/>
                  <a:sym typeface="Arial" charset="0"/>
                </a:rPr>
                <a:t>       (-)  Variación en WK</a:t>
              </a:r>
            </a:p>
            <a:p>
              <a:r>
                <a:rPr lang="es-ES" sz="2000" dirty="0">
                  <a:cs typeface="Arial" charset="0"/>
                  <a:sym typeface="Arial" charset="0"/>
                </a:rPr>
                <a:t>       (-)  Variación de PPE e Intangibles (CAPEX)</a:t>
              </a:r>
            </a:p>
            <a:p>
              <a:r>
                <a:rPr lang="es-ES" sz="2000" dirty="0">
                  <a:cs typeface="Arial"/>
                  <a:sym typeface="Arial" charset="0"/>
                </a:rPr>
                <a:t>       (-)  Impuesto Operacional (EBIT • Tasa Imp)</a:t>
              </a:r>
              <a:br>
                <a:rPr lang="es-ES" sz="2000" dirty="0">
                  <a:cs typeface="Arial" charset="0"/>
                </a:rPr>
              </a:br>
              <a:r>
                <a:rPr lang="es-ES" sz="2000">
                  <a:cs typeface="Arial"/>
                  <a:sym typeface="Arial" charset="0"/>
                </a:rPr>
                <a:t>       (-)  Impuesto por Ganancia/Pérdida Ocasional</a:t>
              </a:r>
              <a:endParaRPr lang="es-ES" sz="2000">
                <a:cs typeface="Arial"/>
              </a:endParaRPr>
            </a:p>
            <a:p>
              <a:endParaRPr lang="es-ES" sz="900" dirty="0">
                <a:solidFill>
                  <a:schemeClr val="accent1"/>
                </a:solidFill>
                <a:cs typeface="Arial" charset="0"/>
                <a:sym typeface="Arial" charset="0"/>
              </a:endParaRPr>
            </a:p>
            <a:p>
              <a:r>
                <a:rPr lang="es-ES" sz="2000" b="1" dirty="0">
                  <a:solidFill>
                    <a:schemeClr val="accent1"/>
                  </a:solidFill>
                  <a:cs typeface="Arial" charset="0"/>
                  <a:sym typeface="Arial" charset="0"/>
                </a:rPr>
                <a:t>        </a:t>
              </a:r>
              <a:r>
                <a:rPr lang="es-ES" sz="2000" b="1" dirty="0">
                  <a:solidFill>
                    <a:srgbClr val="C00000"/>
                  </a:solidFill>
                  <a:cs typeface="Arial" charset="0"/>
                  <a:sym typeface="Arial" charset="0"/>
                </a:rPr>
                <a:t>Flujo de Caja Libre (FCL)</a:t>
              </a:r>
            </a:p>
          </p:txBody>
        </p:sp>
        <p:sp>
          <p:nvSpPr>
            <p:cNvPr id="34" name="Line 2">
              <a:extLst>
                <a:ext uri="{FF2B5EF4-FFF2-40B4-BE49-F238E27FC236}">
                  <a16:creationId xmlns:a16="http://schemas.microsoft.com/office/drawing/2014/main" id="{84A29AB8-2C22-B2DF-D0D6-DE8C443D1CF9}"/>
                </a:ext>
              </a:extLst>
            </p:cNvPr>
            <p:cNvSpPr>
              <a:spLocks noChangeShapeType="1"/>
            </p:cNvSpPr>
            <p:nvPr/>
          </p:nvSpPr>
          <p:spPr bwMode="auto">
            <a:xfrm flipV="1">
              <a:off x="2407281" y="5037125"/>
              <a:ext cx="398103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sp>
          <p:nvSpPr>
            <p:cNvPr id="35" name="Line 3">
              <a:extLst>
                <a:ext uri="{FF2B5EF4-FFF2-40B4-BE49-F238E27FC236}">
                  <a16:creationId xmlns:a16="http://schemas.microsoft.com/office/drawing/2014/main" id="{B63F1552-4060-FEE8-B274-E0456C52687E}"/>
                </a:ext>
              </a:extLst>
            </p:cNvPr>
            <p:cNvSpPr>
              <a:spLocks noChangeShapeType="1"/>
            </p:cNvSpPr>
            <p:nvPr/>
          </p:nvSpPr>
          <p:spPr bwMode="auto">
            <a:xfrm>
              <a:off x="2384111" y="6341435"/>
              <a:ext cx="400420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grpSp>
      <p:sp>
        <p:nvSpPr>
          <p:cNvPr id="36" name="Abrir llave 35">
            <a:extLst>
              <a:ext uri="{FF2B5EF4-FFF2-40B4-BE49-F238E27FC236}">
                <a16:creationId xmlns:a16="http://schemas.microsoft.com/office/drawing/2014/main" id="{F71FECF8-BE5A-AE64-D128-FB4F551FA0A1}"/>
              </a:ext>
            </a:extLst>
          </p:cNvPr>
          <p:cNvSpPr/>
          <p:nvPr/>
        </p:nvSpPr>
        <p:spPr>
          <a:xfrm>
            <a:off x="3498789" y="2219217"/>
            <a:ext cx="205356" cy="2160079"/>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37" name="CuadroTexto 36">
            <a:extLst>
              <a:ext uri="{FF2B5EF4-FFF2-40B4-BE49-F238E27FC236}">
                <a16:creationId xmlns:a16="http://schemas.microsoft.com/office/drawing/2014/main" id="{E592ACF2-F9B3-7052-0EF6-AF85C0587243}"/>
              </a:ext>
            </a:extLst>
          </p:cNvPr>
          <p:cNvSpPr txBox="1"/>
          <p:nvPr/>
        </p:nvSpPr>
        <p:spPr>
          <a:xfrm>
            <a:off x="1547364" y="2821557"/>
            <a:ext cx="2005888" cy="646331"/>
          </a:xfrm>
          <a:prstGeom prst="rect">
            <a:avLst/>
          </a:prstGeom>
          <a:noFill/>
        </p:spPr>
        <p:txBody>
          <a:bodyPr wrap="square" rtlCol="0">
            <a:spAutoFit/>
          </a:bodyPr>
          <a:lstStyle/>
          <a:p>
            <a:pPr algn="ctr"/>
            <a:r>
              <a:rPr lang="es-CO" b="1" dirty="0">
                <a:solidFill>
                  <a:schemeClr val="accent1"/>
                </a:solidFill>
                <a:latin typeface="Century Gothic"/>
              </a:rPr>
              <a:t>Estado de Resultados</a:t>
            </a:r>
          </a:p>
        </p:txBody>
      </p:sp>
      <p:sp>
        <p:nvSpPr>
          <p:cNvPr id="38" name="Abrir llave 37">
            <a:extLst>
              <a:ext uri="{FF2B5EF4-FFF2-40B4-BE49-F238E27FC236}">
                <a16:creationId xmlns:a16="http://schemas.microsoft.com/office/drawing/2014/main" id="{B00CC01B-F171-7161-DA0A-4F3289335AFC}"/>
              </a:ext>
            </a:extLst>
          </p:cNvPr>
          <p:cNvSpPr/>
          <p:nvPr/>
        </p:nvSpPr>
        <p:spPr>
          <a:xfrm>
            <a:off x="3485047" y="4438510"/>
            <a:ext cx="219098" cy="1971644"/>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39" name="CuadroTexto 38">
            <a:extLst>
              <a:ext uri="{FF2B5EF4-FFF2-40B4-BE49-F238E27FC236}">
                <a16:creationId xmlns:a16="http://schemas.microsoft.com/office/drawing/2014/main" id="{E34EB798-A84F-443C-19C4-091A15291978}"/>
              </a:ext>
            </a:extLst>
          </p:cNvPr>
          <p:cNvSpPr txBox="1"/>
          <p:nvPr/>
        </p:nvSpPr>
        <p:spPr>
          <a:xfrm>
            <a:off x="1547364" y="5127274"/>
            <a:ext cx="2005888" cy="646331"/>
          </a:xfrm>
          <a:prstGeom prst="rect">
            <a:avLst/>
          </a:prstGeom>
          <a:noFill/>
        </p:spPr>
        <p:txBody>
          <a:bodyPr wrap="square" rtlCol="0">
            <a:spAutoFit/>
          </a:bodyPr>
          <a:lstStyle/>
          <a:p>
            <a:pPr algn="ctr"/>
            <a:r>
              <a:rPr lang="es-CO" b="1" dirty="0">
                <a:solidFill>
                  <a:schemeClr val="accent1"/>
                </a:solidFill>
                <a:latin typeface="Century Gothic"/>
              </a:rPr>
              <a:t>Flujo de Caja Libre</a:t>
            </a:r>
          </a:p>
        </p:txBody>
      </p:sp>
      <p:grpSp>
        <p:nvGrpSpPr>
          <p:cNvPr id="40" name="Group 4">
            <a:extLst>
              <a:ext uri="{FF2B5EF4-FFF2-40B4-BE49-F238E27FC236}">
                <a16:creationId xmlns:a16="http://schemas.microsoft.com/office/drawing/2014/main" id="{BA82AB43-A4AD-13BA-C585-386787EE0EB0}"/>
              </a:ext>
            </a:extLst>
          </p:cNvPr>
          <p:cNvGrpSpPr>
            <a:grpSpLocks/>
          </p:cNvGrpSpPr>
          <p:nvPr/>
        </p:nvGrpSpPr>
        <p:grpSpPr bwMode="auto">
          <a:xfrm>
            <a:off x="7535336" y="4932256"/>
            <a:ext cx="4371807" cy="747513"/>
            <a:chOff x="-656022" y="-417449"/>
            <a:chExt cx="2669272" cy="748191"/>
          </a:xfrm>
        </p:grpSpPr>
        <p:sp>
          <p:nvSpPr>
            <p:cNvPr id="41" name="AutoShape 5">
              <a:extLst>
                <a:ext uri="{FF2B5EF4-FFF2-40B4-BE49-F238E27FC236}">
                  <a16:creationId xmlns:a16="http://schemas.microsoft.com/office/drawing/2014/main" id="{2CED997B-1E8D-4F64-004F-B234181C0157}"/>
                </a:ext>
              </a:extLst>
            </p:cNvPr>
            <p:cNvSpPr>
              <a:spLocks/>
            </p:cNvSpPr>
            <p:nvPr/>
          </p:nvSpPr>
          <p:spPr bwMode="auto">
            <a:xfrm>
              <a:off x="441389" y="-417449"/>
              <a:ext cx="1571861" cy="7481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400" b="1" dirty="0">
                <a:solidFill>
                  <a:srgbClr val="404040"/>
                </a:solidFill>
              </a:endParaRPr>
            </a:p>
          </p:txBody>
        </p:sp>
        <p:sp>
          <p:nvSpPr>
            <p:cNvPr id="42" name="Line 6">
              <a:extLst>
                <a:ext uri="{FF2B5EF4-FFF2-40B4-BE49-F238E27FC236}">
                  <a16:creationId xmlns:a16="http://schemas.microsoft.com/office/drawing/2014/main" id="{3AD54A18-D30F-B644-2F28-845A27991A6F}"/>
                </a:ext>
              </a:extLst>
            </p:cNvPr>
            <p:cNvSpPr>
              <a:spLocks noChangeShapeType="1"/>
            </p:cNvSpPr>
            <p:nvPr/>
          </p:nvSpPr>
          <p:spPr bwMode="auto">
            <a:xfrm flipH="1">
              <a:off x="-656022" y="-99609"/>
              <a:ext cx="1077524" cy="12710"/>
            </a:xfrm>
            <a:prstGeom prst="line">
              <a:avLst/>
            </a:prstGeom>
            <a:noFill/>
            <a:ln w="25400" cap="flat" cmpd="sng">
              <a:solidFill>
                <a:srgbClr val="718841"/>
              </a:solidFill>
              <a:prstDash val="solid"/>
              <a:round/>
              <a:headEnd type="triangle" w="med" len="med"/>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600" dirty="0">
                <a:latin typeface="Helvetica" charset="0"/>
                <a:cs typeface="Helvetica" charset="0"/>
                <a:sym typeface="Helvetica" charset="0"/>
              </a:endParaRPr>
            </a:p>
          </p:txBody>
        </p:sp>
        <p:sp>
          <p:nvSpPr>
            <p:cNvPr id="43" name="AutoShape 7">
              <a:extLst>
                <a:ext uri="{FF2B5EF4-FFF2-40B4-BE49-F238E27FC236}">
                  <a16:creationId xmlns:a16="http://schemas.microsoft.com/office/drawing/2014/main" id="{7B9DED5D-F300-07C8-46FE-9896602B2F07}"/>
                </a:ext>
              </a:extLst>
            </p:cNvPr>
            <p:cNvSpPr>
              <a:spLocks/>
            </p:cNvSpPr>
            <p:nvPr/>
          </p:nvSpPr>
          <p:spPr bwMode="auto">
            <a:xfrm>
              <a:off x="421502" y="-417449"/>
              <a:ext cx="1571862" cy="7481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CO" sz="1400" b="1" dirty="0">
                  <a:solidFill>
                    <a:srgbClr val="404040"/>
                  </a:solidFill>
                </a:rPr>
                <a:t>Ajusta el principio de causación para que refleje el principio de caja.</a:t>
              </a:r>
            </a:p>
          </p:txBody>
        </p:sp>
      </p:grpSp>
    </p:spTree>
    <p:extLst>
      <p:ext uri="{BB962C8B-B14F-4D97-AF65-F5344CB8AC3E}">
        <p14:creationId xmlns:p14="http://schemas.microsoft.com/office/powerpoint/2010/main" val="249531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902257" y="2394815"/>
            <a:ext cx="7893284" cy="3311278"/>
          </a:xfrm>
        </p:spPr>
        <p:txBody>
          <a:bodyPr>
            <a:normAutofit/>
          </a:bodyPr>
          <a:lstStyle/>
          <a:p>
            <a:pPr marL="0" indent="0" algn="ctr">
              <a:buNone/>
            </a:pPr>
            <a:r>
              <a:rPr lang="es-ES" dirty="0">
                <a:solidFill>
                  <a:schemeClr val="accent1"/>
                </a:solidFill>
                <a:latin typeface="Century Gothic"/>
              </a:rPr>
              <a:t>Recordemos que el Estado de Resultados se fundamenta en el </a:t>
            </a:r>
            <a:r>
              <a:rPr lang="es-ES" b="1" dirty="0">
                <a:solidFill>
                  <a:srgbClr val="C00000"/>
                </a:solidFill>
                <a:latin typeface="Century Gothic"/>
              </a:rPr>
              <a:t>principio de causación</a:t>
            </a:r>
            <a:r>
              <a:rPr lang="es-ES" dirty="0">
                <a:solidFill>
                  <a:schemeClr val="accent1"/>
                </a:solidFill>
                <a:latin typeface="Century Gothic"/>
              </a:rPr>
              <a:t>.</a:t>
            </a:r>
          </a:p>
          <a:p>
            <a:pPr marL="0" indent="0" algn="ctr">
              <a:buNone/>
            </a:pPr>
            <a:endParaRPr lang="es-ES" dirty="0">
              <a:solidFill>
                <a:schemeClr val="accent1"/>
              </a:solidFill>
              <a:latin typeface="Century Gothic"/>
            </a:endParaRPr>
          </a:p>
          <a:p>
            <a:pPr marL="0" indent="0" algn="ctr">
              <a:buNone/>
            </a:pPr>
            <a:r>
              <a:rPr lang="es-ES" dirty="0">
                <a:solidFill>
                  <a:schemeClr val="accent1"/>
                </a:solidFill>
                <a:latin typeface="Century Gothic"/>
              </a:rPr>
              <a:t>¿Cómo podemos corregir estos efectos? ¿Dónde podremos encontrar la información necesaria para realizar esa corrección?</a:t>
            </a:r>
          </a:p>
          <a:p>
            <a:pPr marL="0" indent="0" algn="ctr">
              <a:buNone/>
            </a:pPr>
            <a:endParaRPr lang="es-ES" dirty="0">
              <a:solidFill>
                <a:schemeClr val="accent1"/>
              </a:solidFill>
              <a:latin typeface="Century Gothic"/>
            </a:endParaRPr>
          </a:p>
          <a:p>
            <a:pPr marL="0" indent="0" algn="ctr">
              <a:buNone/>
            </a:pPr>
            <a:r>
              <a:rPr lang="es-ES" dirty="0">
                <a:solidFill>
                  <a:schemeClr val="accent1"/>
                </a:solidFill>
                <a:latin typeface="Century Gothic"/>
              </a:rPr>
              <a:t>Veamos un ejemplo para entender esto.</a:t>
            </a: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5</a:t>
            </a:fld>
            <a:endParaRPr lang="en-US" sz="1800" dirty="0"/>
          </a:p>
        </p:txBody>
      </p:sp>
      <p:sp>
        <p:nvSpPr>
          <p:cNvPr id="6" name="Rectángulo 5">
            <a:extLst>
              <a:ext uri="{FF2B5EF4-FFF2-40B4-BE49-F238E27FC236}">
                <a16:creationId xmlns:a16="http://schemas.microsoft.com/office/drawing/2014/main" id="{44435921-3282-664F-0FE5-026B8A3A8E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B5B5528-3F99-4F3B-A0AC-6CFD0054B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6843B1C-36A8-92EF-3F6D-91A35C947D57}"/>
              </a:ext>
            </a:extLst>
          </p:cNvPr>
          <p:cNvPicPr>
            <a:picLocks noChangeAspect="1"/>
          </p:cNvPicPr>
          <p:nvPr/>
        </p:nvPicPr>
        <p:blipFill>
          <a:blip r:embed="rId3"/>
          <a:stretch>
            <a:fillRect/>
          </a:stretch>
        </p:blipFill>
        <p:spPr>
          <a:xfrm>
            <a:off x="8686800" y="3259465"/>
            <a:ext cx="2924008" cy="1882580"/>
          </a:xfrm>
          <a:prstGeom prst="rect">
            <a:avLst/>
          </a:prstGeom>
        </p:spPr>
      </p:pic>
      <p:sp>
        <p:nvSpPr>
          <p:cNvPr id="5" name="Rectángulo 4">
            <a:extLst>
              <a:ext uri="{FF2B5EF4-FFF2-40B4-BE49-F238E27FC236}">
                <a16:creationId xmlns:a16="http://schemas.microsoft.com/office/drawing/2014/main" id="{CC84CE04-7E07-6D92-C8BA-FC362A55141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011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19" name="Marcador de contenido 2"/>
          <p:cNvSpPr>
            <a:spLocks noGrp="1"/>
          </p:cNvSpPr>
          <p:nvPr>
            <p:ph idx="1"/>
          </p:nvPr>
        </p:nvSpPr>
        <p:spPr>
          <a:xfrm>
            <a:off x="1045026" y="2271743"/>
            <a:ext cx="10119676" cy="862545"/>
          </a:xfrm>
        </p:spPr>
        <p:txBody>
          <a:bodyPr>
            <a:normAutofit/>
          </a:bodyPr>
          <a:lstStyle/>
          <a:p>
            <a:pPr marL="0" indent="0" algn="ctr">
              <a:buNone/>
            </a:pPr>
            <a:r>
              <a:rPr lang="es-ES" dirty="0">
                <a:solidFill>
                  <a:schemeClr val="accent1"/>
                </a:solidFill>
                <a:latin typeface="Century Gothic" panose="020B0502020202020204" pitchFamily="34" charset="0"/>
              </a:rPr>
              <a:t>Al inicio del año 0, el Estado de Situación Financiera de una compañía es el siguiente: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a:t>
            </a:fld>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3023429322"/>
              </p:ext>
            </p:extLst>
          </p:nvPr>
        </p:nvGraphicFramePr>
        <p:xfrm>
          <a:off x="3793755" y="3429000"/>
          <a:ext cx="3916942" cy="2494280"/>
        </p:xfrm>
        <a:graphic>
          <a:graphicData uri="http://schemas.openxmlformats.org/drawingml/2006/table">
            <a:tbl>
              <a:tblPr firstRow="1" bandRow="1">
                <a:tableStyleId>{2D5ABB26-0587-4C30-8999-92F81FD0307C}</a:tableStyleId>
              </a:tblPr>
              <a:tblGrid>
                <a:gridCol w="1133845">
                  <a:extLst>
                    <a:ext uri="{9D8B030D-6E8A-4147-A177-3AD203B41FA5}">
                      <a16:colId xmlns:a16="http://schemas.microsoft.com/office/drawing/2014/main" val="20000"/>
                    </a:ext>
                  </a:extLst>
                </a:gridCol>
                <a:gridCol w="446273">
                  <a:extLst>
                    <a:ext uri="{9D8B030D-6E8A-4147-A177-3AD203B41FA5}">
                      <a16:colId xmlns:a16="http://schemas.microsoft.com/office/drawing/2014/main" val="20001"/>
                    </a:ext>
                  </a:extLst>
                </a:gridCol>
                <a:gridCol w="268124">
                  <a:extLst>
                    <a:ext uri="{9D8B030D-6E8A-4147-A177-3AD203B41FA5}">
                      <a16:colId xmlns:a16="http://schemas.microsoft.com/office/drawing/2014/main" val="20002"/>
                    </a:ext>
                  </a:extLst>
                </a:gridCol>
                <a:gridCol w="1408708">
                  <a:extLst>
                    <a:ext uri="{9D8B030D-6E8A-4147-A177-3AD203B41FA5}">
                      <a16:colId xmlns:a16="http://schemas.microsoft.com/office/drawing/2014/main" val="20003"/>
                    </a:ext>
                  </a:extLst>
                </a:gridCol>
                <a:gridCol w="659992">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panose="020B0502020202020204" pitchFamily="34" charset="0"/>
                        </a:rPr>
                        <a:t>Estado de Situación Financiera</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panose="020B0502020202020204" pitchFamily="34" charset="0"/>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2DC76061-C663-280C-DB72-CE2D748DB9A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7DAFCCD2-67EE-FABB-4E60-33A3C36EA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F660763D-FA84-33D3-BBA7-6BFF599A31C5}"/>
              </a:ext>
            </a:extLst>
          </p:cNvPr>
          <p:cNvPicPr>
            <a:picLocks noChangeAspect="1"/>
          </p:cNvPicPr>
          <p:nvPr/>
        </p:nvPicPr>
        <p:blipFill>
          <a:blip r:embed="rId3"/>
          <a:stretch>
            <a:fillRect/>
          </a:stretch>
        </p:blipFill>
        <p:spPr>
          <a:xfrm>
            <a:off x="8009121" y="3690075"/>
            <a:ext cx="2625165" cy="1806644"/>
          </a:xfrm>
          <a:prstGeom prst="rect">
            <a:avLst/>
          </a:prstGeom>
        </p:spPr>
      </p:pic>
      <p:sp>
        <p:nvSpPr>
          <p:cNvPr id="6" name="Rectángulo 5">
            <a:extLst>
              <a:ext uri="{FF2B5EF4-FFF2-40B4-BE49-F238E27FC236}">
                <a16:creationId xmlns:a16="http://schemas.microsoft.com/office/drawing/2014/main" id="{824413E6-31B2-1518-518F-6A79649A0C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12443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886975" y="2180407"/>
            <a:ext cx="10418049" cy="3311278"/>
          </a:xfrm>
        </p:spPr>
        <p:txBody>
          <a:bodyPr>
            <a:normAutofit/>
          </a:bodyPr>
          <a:lstStyle/>
          <a:p>
            <a:pPr marL="0" indent="0" algn="just">
              <a:buNone/>
            </a:pPr>
            <a:r>
              <a:rPr lang="es-ES" dirty="0">
                <a:solidFill>
                  <a:schemeClr val="accent1"/>
                </a:solidFill>
                <a:latin typeface="Century Gothic"/>
              </a:rPr>
              <a:t>Suponga que la compañía tiene ingresos en el año 1 por 100 millones de pesos. De dichos ingresos, 30 millones se efectúan a crédito. ¿Cómo se registra esa transacción?</a:t>
            </a:r>
          </a:p>
          <a:p>
            <a:pPr marL="0" indent="0" algn="just">
              <a:buNone/>
            </a:pPr>
            <a:endParaRPr lang="es-ES" dirty="0">
              <a:solidFill>
                <a:schemeClr val="accent1"/>
              </a:solidFill>
              <a:latin typeface="Century Gothic"/>
            </a:endParaRPr>
          </a:p>
          <a:p>
            <a:pPr marL="457200" indent="-457200" algn="just">
              <a:buFont typeface="+mj-lt"/>
              <a:buAutoNum type="arabicPeriod"/>
            </a:pPr>
            <a:r>
              <a:rPr lang="es-ES" dirty="0">
                <a:solidFill>
                  <a:schemeClr val="accent1"/>
                </a:solidFill>
                <a:latin typeface="Century Gothic"/>
              </a:rPr>
              <a:t>Por un lado, se registran 100 millones de ingreso en el Estado de Resultados.</a:t>
            </a:r>
          </a:p>
          <a:p>
            <a:pPr marL="457200" indent="-457200" algn="just">
              <a:buFont typeface="+mj-lt"/>
              <a:buAutoNum type="arabicPeriod"/>
            </a:pPr>
            <a:r>
              <a:rPr lang="es-ES" dirty="0">
                <a:solidFill>
                  <a:schemeClr val="accent1"/>
                </a:solidFill>
                <a:latin typeface="Century Gothic"/>
              </a:rPr>
              <a:t>Por otro lado, se registran 70 millones de ingreso en la caja de la compañía y 30 millones como una cuenta por cobrar.</a:t>
            </a:r>
          </a:p>
          <a:p>
            <a:pPr marL="457200" indent="-457200" algn="just">
              <a:buFont typeface="+mj-lt"/>
              <a:buAutoNum type="arabicPeriod"/>
            </a:pPr>
            <a:endParaRPr lang="es-ES" dirty="0">
              <a:solidFill>
                <a:schemeClr val="accent1"/>
              </a:solidFill>
              <a:latin typeface="Century Gothic"/>
            </a:endParaRPr>
          </a:p>
          <a:p>
            <a:pPr marL="0" indent="0" algn="just">
              <a:buNone/>
            </a:pPr>
            <a:r>
              <a:rPr lang="es-ES" dirty="0">
                <a:solidFill>
                  <a:schemeClr val="accent1"/>
                </a:solidFill>
                <a:latin typeface="Century Gothic"/>
              </a:rPr>
              <a:t>Veámoslo en el </a:t>
            </a:r>
            <a:r>
              <a:rPr lang="es-ES" b="1" dirty="0">
                <a:solidFill>
                  <a:srgbClr val="C00000"/>
                </a:solidFill>
                <a:latin typeface="Century Gothic"/>
              </a:rPr>
              <a:t>Estado de Situación Financiera</a:t>
            </a:r>
            <a:r>
              <a:rPr lang="es-ES" dirty="0">
                <a:solidFill>
                  <a:schemeClr val="accent1"/>
                </a:solidFill>
                <a:latin typeface="Century Gothic"/>
              </a:rPr>
              <a:t>.</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a:t>
            </a:fld>
            <a:endParaRPr lang="en-US"/>
          </a:p>
        </p:txBody>
      </p:sp>
      <p:sp>
        <p:nvSpPr>
          <p:cNvPr id="6" name="Rectángulo 5">
            <a:extLst>
              <a:ext uri="{FF2B5EF4-FFF2-40B4-BE49-F238E27FC236}">
                <a16:creationId xmlns:a16="http://schemas.microsoft.com/office/drawing/2014/main" id="{59D866DC-D403-C24C-DC1B-A408BBD850F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6B8B1338-AD79-BC75-06D4-C23903FD65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B9EFACDA-C0BE-953A-0003-4BA16425339F}"/>
              </a:ext>
            </a:extLst>
          </p:cNvPr>
          <p:cNvPicPr>
            <a:picLocks noChangeAspect="1"/>
          </p:cNvPicPr>
          <p:nvPr/>
        </p:nvPicPr>
        <p:blipFill>
          <a:blip r:embed="rId3"/>
          <a:stretch>
            <a:fillRect/>
          </a:stretch>
        </p:blipFill>
        <p:spPr>
          <a:xfrm>
            <a:off x="8009121" y="4502248"/>
            <a:ext cx="2367760" cy="1453888"/>
          </a:xfrm>
          <a:prstGeom prst="rect">
            <a:avLst/>
          </a:prstGeom>
        </p:spPr>
      </p:pic>
      <p:sp>
        <p:nvSpPr>
          <p:cNvPr id="5" name="Rectángulo 4">
            <a:extLst>
              <a:ext uri="{FF2B5EF4-FFF2-40B4-BE49-F238E27FC236}">
                <a16:creationId xmlns:a16="http://schemas.microsoft.com/office/drawing/2014/main" id="{C9591A39-ACCD-0C9F-AA07-04F8C25352D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3502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latin typeface="Century Gothic"/>
              </a:rPr>
              <a:t>Capital de Trabajo (WC)</a:t>
            </a:r>
          </a:p>
        </p:txBody>
      </p:sp>
      <p:sp>
        <p:nvSpPr>
          <p:cNvPr id="19" name="Marcador de contenido 2"/>
          <p:cNvSpPr>
            <a:spLocks noGrp="1"/>
          </p:cNvSpPr>
          <p:nvPr>
            <p:ph idx="1"/>
          </p:nvPr>
        </p:nvSpPr>
        <p:spPr>
          <a:xfrm>
            <a:off x="922913" y="2314035"/>
            <a:ext cx="10651681" cy="862545"/>
          </a:xfrm>
        </p:spPr>
        <p:txBody>
          <a:bodyPr>
            <a:normAutofit/>
          </a:bodyPr>
          <a:lstStyle/>
          <a:p>
            <a:pPr marL="0" indent="0" algn="ctr">
              <a:buNone/>
            </a:pPr>
            <a:r>
              <a:rPr lang="es-CO" dirty="0">
                <a:solidFill>
                  <a:schemeClr val="accent1"/>
                </a:solidFill>
                <a:latin typeface="Century Gothic"/>
              </a:rPr>
              <a:t>Después del año 1, el Estado de Situación Financiera y el Estado de Resultados quedan así:</a:t>
            </a:r>
          </a:p>
        </p:txBody>
      </p:sp>
      <p:sp>
        <p:nvSpPr>
          <p:cNvPr id="4" name="Marcador de número de diapositiva 3"/>
          <p:cNvSpPr>
            <a:spLocks noGrp="1"/>
          </p:cNvSpPr>
          <p:nvPr>
            <p:ph type="sldNum" sz="quarter" idx="12"/>
          </p:nvPr>
        </p:nvSpPr>
        <p:spPr/>
        <p:txBody>
          <a:bodyPr/>
          <a:lstStyle/>
          <a:p>
            <a:fld id="{5E3E23BA-6E79-2442-BA73-D218A5E297C3}" type="slidenum">
              <a:rPr lang="es-CO" smtClean="0"/>
              <a:t>8</a:t>
            </a:fld>
            <a:endParaRPr lang="es-CO"/>
          </a:p>
        </p:txBody>
      </p:sp>
      <p:sp>
        <p:nvSpPr>
          <p:cNvPr id="14" name="Marcador de contenido 2"/>
          <p:cNvSpPr txBox="1">
            <a:spLocks/>
          </p:cNvSpPr>
          <p:nvPr/>
        </p:nvSpPr>
        <p:spPr>
          <a:xfrm>
            <a:off x="1003896" y="5925597"/>
            <a:ext cx="10265191" cy="426203"/>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CO" sz="1200" b="1" dirty="0">
                <a:solidFill>
                  <a:srgbClr val="C00000"/>
                </a:solidFill>
                <a:latin typeface="Century Gothic"/>
              </a:rPr>
              <a:t>Para simplicidad de este ejercicio, se asume que no hay otros ingresos y que tampoco hay costos ni impuestos. Recuerden que este es un GRAN supuesto y el ejercicio es sólo para ilustrar un aspecto específico del Estado de Resultados.</a:t>
            </a:r>
          </a:p>
        </p:txBody>
      </p:sp>
      <p:graphicFrame>
        <p:nvGraphicFramePr>
          <p:cNvPr id="5" name="Table 4"/>
          <p:cNvGraphicFramePr>
            <a:graphicFrameLocks noGrp="1"/>
          </p:cNvGraphicFramePr>
          <p:nvPr>
            <p:extLst>
              <p:ext uri="{D42A27DB-BD31-4B8C-83A1-F6EECF244321}">
                <p14:modId xmlns:p14="http://schemas.microsoft.com/office/powerpoint/2010/main" val="1175963100"/>
              </p:ext>
            </p:extLst>
          </p:nvPr>
        </p:nvGraphicFramePr>
        <p:xfrm>
          <a:off x="4890302" y="3361419"/>
          <a:ext cx="3728970" cy="2494280"/>
        </p:xfrm>
        <a:graphic>
          <a:graphicData uri="http://schemas.openxmlformats.org/drawingml/2006/table">
            <a:tbl>
              <a:tblPr firstRow="1" bandRow="1">
                <a:tableStyleId>{2D5ABB26-0587-4C30-8999-92F81FD0307C}</a:tableStyleId>
              </a:tblPr>
              <a:tblGrid>
                <a:gridCol w="1174115">
                  <a:extLst>
                    <a:ext uri="{9D8B030D-6E8A-4147-A177-3AD203B41FA5}">
                      <a16:colId xmlns:a16="http://schemas.microsoft.com/office/drawing/2014/main" val="20000"/>
                    </a:ext>
                  </a:extLst>
                </a:gridCol>
                <a:gridCol w="330174">
                  <a:extLst>
                    <a:ext uri="{9D8B030D-6E8A-4147-A177-3AD203B41FA5}">
                      <a16:colId xmlns:a16="http://schemas.microsoft.com/office/drawing/2014/main" val="20001"/>
                    </a:ext>
                  </a:extLst>
                </a:gridCol>
                <a:gridCol w="420371">
                  <a:extLst>
                    <a:ext uri="{9D8B030D-6E8A-4147-A177-3AD203B41FA5}">
                      <a16:colId xmlns:a16="http://schemas.microsoft.com/office/drawing/2014/main" val="20002"/>
                    </a:ext>
                  </a:extLst>
                </a:gridCol>
                <a:gridCol w="1346905">
                  <a:extLst>
                    <a:ext uri="{9D8B030D-6E8A-4147-A177-3AD203B41FA5}">
                      <a16:colId xmlns:a16="http://schemas.microsoft.com/office/drawing/2014/main" val="20003"/>
                    </a:ext>
                  </a:extLst>
                </a:gridCol>
                <a:gridCol w="457405">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898352869"/>
              </p:ext>
            </p:extLst>
          </p:nvPr>
        </p:nvGraphicFramePr>
        <p:xfrm>
          <a:off x="1003896" y="3352453"/>
          <a:ext cx="3728970" cy="2494280"/>
        </p:xfrm>
        <a:graphic>
          <a:graphicData uri="http://schemas.openxmlformats.org/drawingml/2006/table">
            <a:tbl>
              <a:tblPr firstRow="1" bandRow="1">
                <a:tableStyleId>{2D5ABB26-0587-4C30-8999-92F81FD0307C}</a:tableStyleId>
              </a:tblPr>
              <a:tblGrid>
                <a:gridCol w="1160632">
                  <a:extLst>
                    <a:ext uri="{9D8B030D-6E8A-4147-A177-3AD203B41FA5}">
                      <a16:colId xmlns:a16="http://schemas.microsoft.com/office/drawing/2014/main" val="20000"/>
                    </a:ext>
                  </a:extLst>
                </a:gridCol>
                <a:gridCol w="343658">
                  <a:extLst>
                    <a:ext uri="{9D8B030D-6E8A-4147-A177-3AD203B41FA5}">
                      <a16:colId xmlns:a16="http://schemas.microsoft.com/office/drawing/2014/main" val="20001"/>
                    </a:ext>
                  </a:extLst>
                </a:gridCol>
                <a:gridCol w="255257">
                  <a:extLst>
                    <a:ext uri="{9D8B030D-6E8A-4147-A177-3AD203B41FA5}">
                      <a16:colId xmlns:a16="http://schemas.microsoft.com/office/drawing/2014/main" val="20002"/>
                    </a:ext>
                  </a:extLst>
                </a:gridCol>
                <a:gridCol w="1341104">
                  <a:extLst>
                    <a:ext uri="{9D8B030D-6E8A-4147-A177-3AD203B41FA5}">
                      <a16:colId xmlns:a16="http://schemas.microsoft.com/office/drawing/2014/main" val="20003"/>
                    </a:ext>
                  </a:extLst>
                </a:gridCol>
                <a:gridCol w="62831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0</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2982799505"/>
              </p:ext>
            </p:extLst>
          </p:nvPr>
        </p:nvGraphicFramePr>
        <p:xfrm>
          <a:off x="8789404" y="3361419"/>
          <a:ext cx="2821404" cy="2225040"/>
        </p:xfrm>
        <a:graphic>
          <a:graphicData uri="http://schemas.openxmlformats.org/drawingml/2006/table">
            <a:tbl>
              <a:tblPr firstRow="1" bandRow="1">
                <a:tableStyleId>{2D5ABB26-0587-4C30-8999-92F81FD0307C}</a:tableStyleId>
              </a:tblPr>
              <a:tblGrid>
                <a:gridCol w="1921272">
                  <a:extLst>
                    <a:ext uri="{9D8B030D-6E8A-4147-A177-3AD203B41FA5}">
                      <a16:colId xmlns:a16="http://schemas.microsoft.com/office/drawing/2014/main" val="20000"/>
                    </a:ext>
                  </a:extLst>
                </a:gridCol>
                <a:gridCol w="900132">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a:rPr>
                        <a:t>Estado de Resultados </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95CCF0D2-32E1-5530-98BF-004F8B2797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37EE37B-63DD-A290-F58F-AB74999FC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6914BCD2-565E-FA18-4A40-D69A3198109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6645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latin typeface="Century Gothic"/>
              </a:rPr>
              <a:t>Capital de Trabajo (WC)</a:t>
            </a:r>
          </a:p>
        </p:txBody>
      </p:sp>
      <p:sp>
        <p:nvSpPr>
          <p:cNvPr id="19" name="Marcador de contenido 2"/>
          <p:cNvSpPr>
            <a:spLocks noGrp="1"/>
          </p:cNvSpPr>
          <p:nvPr>
            <p:ph idx="1"/>
          </p:nvPr>
        </p:nvSpPr>
        <p:spPr>
          <a:xfrm>
            <a:off x="922913" y="2314035"/>
            <a:ext cx="10651681" cy="862545"/>
          </a:xfrm>
        </p:spPr>
        <p:txBody>
          <a:bodyPr>
            <a:normAutofit/>
          </a:bodyPr>
          <a:lstStyle/>
          <a:p>
            <a:pPr marL="0" indent="0" algn="ctr">
              <a:buNone/>
            </a:pPr>
            <a:r>
              <a:rPr lang="es-CO" dirty="0">
                <a:solidFill>
                  <a:schemeClr val="accent1"/>
                </a:solidFill>
                <a:latin typeface="Century Gothic"/>
              </a:rPr>
              <a:t>Después del año 1, el Estado de Situación Financiera y el Estado de Resultados quedan así:</a:t>
            </a:r>
          </a:p>
        </p:txBody>
      </p:sp>
      <p:sp>
        <p:nvSpPr>
          <p:cNvPr id="4" name="Marcador de número de diapositiva 3"/>
          <p:cNvSpPr>
            <a:spLocks noGrp="1"/>
          </p:cNvSpPr>
          <p:nvPr>
            <p:ph type="sldNum" sz="quarter" idx="12"/>
          </p:nvPr>
        </p:nvSpPr>
        <p:spPr/>
        <p:txBody>
          <a:bodyPr/>
          <a:lstStyle/>
          <a:p>
            <a:fld id="{5E3E23BA-6E79-2442-BA73-D218A5E297C3}" type="slidenum">
              <a:rPr lang="es-CO" smtClean="0"/>
              <a:t>9</a:t>
            </a:fld>
            <a:endParaRPr lang="es-CO"/>
          </a:p>
        </p:txBody>
      </p:sp>
      <p:sp>
        <p:nvSpPr>
          <p:cNvPr id="14" name="Marcador de contenido 2"/>
          <p:cNvSpPr txBox="1">
            <a:spLocks/>
          </p:cNvSpPr>
          <p:nvPr/>
        </p:nvSpPr>
        <p:spPr>
          <a:xfrm>
            <a:off x="1003896" y="5925597"/>
            <a:ext cx="10265191" cy="426203"/>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CO" sz="1200" b="1" dirty="0">
                <a:solidFill>
                  <a:srgbClr val="C00000"/>
                </a:solidFill>
                <a:latin typeface="Century Gothic"/>
              </a:rPr>
              <a:t>Para simplicidad de este ejercicio, se asume que no hay otros ingresos y que tampoco hay costos ni impuestos. Recuerden que este es un GRAN supuesto y el ejercicio es sólo para ilustrar un aspecto específico del Estado de Resultados.</a:t>
            </a:r>
          </a:p>
        </p:txBody>
      </p:sp>
      <p:graphicFrame>
        <p:nvGraphicFramePr>
          <p:cNvPr id="25" name="Table 24"/>
          <p:cNvGraphicFramePr>
            <a:graphicFrameLocks noGrp="1"/>
          </p:cNvGraphicFramePr>
          <p:nvPr>
            <p:extLst>
              <p:ext uri="{D42A27DB-BD31-4B8C-83A1-F6EECF244321}">
                <p14:modId xmlns:p14="http://schemas.microsoft.com/office/powerpoint/2010/main" val="3411208138"/>
              </p:ext>
            </p:extLst>
          </p:nvPr>
        </p:nvGraphicFramePr>
        <p:xfrm>
          <a:off x="8789404" y="3361419"/>
          <a:ext cx="2821404" cy="2225040"/>
        </p:xfrm>
        <a:graphic>
          <a:graphicData uri="http://schemas.openxmlformats.org/drawingml/2006/table">
            <a:tbl>
              <a:tblPr firstRow="1" bandRow="1">
                <a:tableStyleId>{2D5ABB26-0587-4C30-8999-92F81FD0307C}</a:tableStyleId>
              </a:tblPr>
              <a:tblGrid>
                <a:gridCol w="1921272">
                  <a:extLst>
                    <a:ext uri="{9D8B030D-6E8A-4147-A177-3AD203B41FA5}">
                      <a16:colId xmlns:a16="http://schemas.microsoft.com/office/drawing/2014/main" val="20000"/>
                    </a:ext>
                  </a:extLst>
                </a:gridCol>
                <a:gridCol w="900132">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a:rPr>
                        <a:t>Estado de Resultados </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95CCF0D2-32E1-5530-98BF-004F8B2797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37EE37B-63DD-A290-F58F-AB74999FC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D98E3A5-468C-4A39-E1FF-C91421045B6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0" name="Table 4">
            <a:extLst>
              <a:ext uri="{FF2B5EF4-FFF2-40B4-BE49-F238E27FC236}">
                <a16:creationId xmlns:a16="http://schemas.microsoft.com/office/drawing/2014/main" id="{438F88FC-B861-0C5E-EB05-53C42A3251F6}"/>
              </a:ext>
            </a:extLst>
          </p:cNvPr>
          <p:cNvGraphicFramePr>
            <a:graphicFrameLocks noGrp="1"/>
          </p:cNvGraphicFramePr>
          <p:nvPr>
            <p:extLst>
              <p:ext uri="{D42A27DB-BD31-4B8C-83A1-F6EECF244321}">
                <p14:modId xmlns:p14="http://schemas.microsoft.com/office/powerpoint/2010/main" val="48292595"/>
              </p:ext>
            </p:extLst>
          </p:nvPr>
        </p:nvGraphicFramePr>
        <p:xfrm>
          <a:off x="4890302" y="3361419"/>
          <a:ext cx="3703572" cy="2494280"/>
        </p:xfrm>
        <a:graphic>
          <a:graphicData uri="http://schemas.openxmlformats.org/drawingml/2006/table">
            <a:tbl>
              <a:tblPr firstRow="1" bandRow="1">
                <a:tableStyleId>{2D5ABB26-0587-4C30-8999-92F81FD0307C}</a:tableStyleId>
              </a:tblPr>
              <a:tblGrid>
                <a:gridCol w="1166118">
                  <a:extLst>
                    <a:ext uri="{9D8B030D-6E8A-4147-A177-3AD203B41FA5}">
                      <a16:colId xmlns:a16="http://schemas.microsoft.com/office/drawing/2014/main" val="20000"/>
                    </a:ext>
                  </a:extLst>
                </a:gridCol>
                <a:gridCol w="327926">
                  <a:extLst>
                    <a:ext uri="{9D8B030D-6E8A-4147-A177-3AD203B41FA5}">
                      <a16:colId xmlns:a16="http://schemas.microsoft.com/office/drawing/2014/main" val="20001"/>
                    </a:ext>
                  </a:extLst>
                </a:gridCol>
                <a:gridCol w="417508">
                  <a:extLst>
                    <a:ext uri="{9D8B030D-6E8A-4147-A177-3AD203B41FA5}">
                      <a16:colId xmlns:a16="http://schemas.microsoft.com/office/drawing/2014/main" val="20002"/>
                    </a:ext>
                  </a:extLst>
                </a:gridCol>
                <a:gridCol w="1334613">
                  <a:extLst>
                    <a:ext uri="{9D8B030D-6E8A-4147-A177-3AD203B41FA5}">
                      <a16:colId xmlns:a16="http://schemas.microsoft.com/office/drawing/2014/main" val="20003"/>
                    </a:ext>
                  </a:extLst>
                </a:gridCol>
                <a:gridCol w="457407">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1" name="Table 23">
            <a:extLst>
              <a:ext uri="{FF2B5EF4-FFF2-40B4-BE49-F238E27FC236}">
                <a16:creationId xmlns:a16="http://schemas.microsoft.com/office/drawing/2014/main" id="{E8180F2C-5C93-A2A5-8930-1059ED854862}"/>
              </a:ext>
            </a:extLst>
          </p:cNvPr>
          <p:cNvGraphicFramePr>
            <a:graphicFrameLocks noGrp="1"/>
          </p:cNvGraphicFramePr>
          <p:nvPr>
            <p:extLst>
              <p:ext uri="{D42A27DB-BD31-4B8C-83A1-F6EECF244321}">
                <p14:modId xmlns:p14="http://schemas.microsoft.com/office/powerpoint/2010/main" val="1325854118"/>
              </p:ext>
            </p:extLst>
          </p:nvPr>
        </p:nvGraphicFramePr>
        <p:xfrm>
          <a:off x="1003896" y="3352453"/>
          <a:ext cx="3703571" cy="2494280"/>
        </p:xfrm>
        <a:graphic>
          <a:graphicData uri="http://schemas.openxmlformats.org/drawingml/2006/table">
            <a:tbl>
              <a:tblPr firstRow="1" bandRow="1">
                <a:tableStyleId>{2D5ABB26-0587-4C30-8999-92F81FD0307C}</a:tableStyleId>
              </a:tblPr>
              <a:tblGrid>
                <a:gridCol w="1152726">
                  <a:extLst>
                    <a:ext uri="{9D8B030D-6E8A-4147-A177-3AD203B41FA5}">
                      <a16:colId xmlns:a16="http://schemas.microsoft.com/office/drawing/2014/main" val="20000"/>
                    </a:ext>
                  </a:extLst>
                </a:gridCol>
                <a:gridCol w="341318">
                  <a:extLst>
                    <a:ext uri="{9D8B030D-6E8A-4147-A177-3AD203B41FA5}">
                      <a16:colId xmlns:a16="http://schemas.microsoft.com/office/drawing/2014/main" val="20001"/>
                    </a:ext>
                  </a:extLst>
                </a:gridCol>
                <a:gridCol w="253519">
                  <a:extLst>
                    <a:ext uri="{9D8B030D-6E8A-4147-A177-3AD203B41FA5}">
                      <a16:colId xmlns:a16="http://schemas.microsoft.com/office/drawing/2014/main" val="20002"/>
                    </a:ext>
                  </a:extLst>
                </a:gridCol>
                <a:gridCol w="1331969">
                  <a:extLst>
                    <a:ext uri="{9D8B030D-6E8A-4147-A177-3AD203B41FA5}">
                      <a16:colId xmlns:a16="http://schemas.microsoft.com/office/drawing/2014/main" val="20003"/>
                    </a:ext>
                  </a:extLst>
                </a:gridCol>
                <a:gridCol w="62403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0</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6000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latin typeface="Century Gothic"/>
              </a:rPr>
              <a:t>Capital de Trabajo (WC)</a:t>
            </a:r>
          </a:p>
        </p:txBody>
      </p:sp>
      <p:sp>
        <p:nvSpPr>
          <p:cNvPr id="19" name="Marcador de contenido 2"/>
          <p:cNvSpPr>
            <a:spLocks noGrp="1"/>
          </p:cNvSpPr>
          <p:nvPr>
            <p:ph idx="1"/>
          </p:nvPr>
        </p:nvSpPr>
        <p:spPr>
          <a:xfrm>
            <a:off x="922913" y="2314035"/>
            <a:ext cx="10651681" cy="862545"/>
          </a:xfrm>
        </p:spPr>
        <p:txBody>
          <a:bodyPr>
            <a:normAutofit/>
          </a:bodyPr>
          <a:lstStyle/>
          <a:p>
            <a:pPr marL="0" indent="0" algn="ctr">
              <a:buNone/>
            </a:pPr>
            <a:r>
              <a:rPr lang="es-CO" dirty="0">
                <a:solidFill>
                  <a:schemeClr val="accent1"/>
                </a:solidFill>
                <a:latin typeface="Century Gothic"/>
              </a:rPr>
              <a:t>Después del año 1, el Estado de Situación Financiera y el Estado de Resultados quedan así:</a:t>
            </a:r>
          </a:p>
        </p:txBody>
      </p:sp>
      <p:sp>
        <p:nvSpPr>
          <p:cNvPr id="4" name="Marcador de número de diapositiva 3"/>
          <p:cNvSpPr>
            <a:spLocks noGrp="1"/>
          </p:cNvSpPr>
          <p:nvPr>
            <p:ph type="sldNum" sz="quarter" idx="12"/>
          </p:nvPr>
        </p:nvSpPr>
        <p:spPr/>
        <p:txBody>
          <a:bodyPr/>
          <a:lstStyle/>
          <a:p>
            <a:fld id="{5E3E23BA-6E79-2442-BA73-D218A5E297C3}" type="slidenum">
              <a:rPr lang="es-CO" smtClean="0"/>
              <a:t>10</a:t>
            </a:fld>
            <a:endParaRPr lang="es-CO"/>
          </a:p>
        </p:txBody>
      </p:sp>
      <p:sp>
        <p:nvSpPr>
          <p:cNvPr id="14" name="Marcador de contenido 2"/>
          <p:cNvSpPr txBox="1">
            <a:spLocks/>
          </p:cNvSpPr>
          <p:nvPr/>
        </p:nvSpPr>
        <p:spPr>
          <a:xfrm>
            <a:off x="1003896" y="5925597"/>
            <a:ext cx="10265191" cy="426203"/>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CO" sz="1200" b="1" dirty="0">
                <a:solidFill>
                  <a:srgbClr val="C00000"/>
                </a:solidFill>
                <a:latin typeface="Century Gothic"/>
              </a:rPr>
              <a:t>Para simplicidad de este ejercicio, se asume que no hay otros ingresos y que tampoco hay costos ni impuestos. Recuerden que este es un GRAN supuesto y el ejercicio es sólo para ilustrar un aspecto específico del Estado de Resultados.</a:t>
            </a:r>
          </a:p>
        </p:txBody>
      </p:sp>
      <p:graphicFrame>
        <p:nvGraphicFramePr>
          <p:cNvPr id="25" name="Table 24"/>
          <p:cNvGraphicFramePr>
            <a:graphicFrameLocks noGrp="1"/>
          </p:cNvGraphicFramePr>
          <p:nvPr>
            <p:extLst>
              <p:ext uri="{D42A27DB-BD31-4B8C-83A1-F6EECF244321}">
                <p14:modId xmlns:p14="http://schemas.microsoft.com/office/powerpoint/2010/main" val="416078369"/>
              </p:ext>
            </p:extLst>
          </p:nvPr>
        </p:nvGraphicFramePr>
        <p:xfrm>
          <a:off x="8789404" y="3310617"/>
          <a:ext cx="2821404" cy="2225040"/>
        </p:xfrm>
        <a:graphic>
          <a:graphicData uri="http://schemas.openxmlformats.org/drawingml/2006/table">
            <a:tbl>
              <a:tblPr firstRow="1" bandRow="1">
                <a:tableStyleId>{2D5ABB26-0587-4C30-8999-92F81FD0307C}</a:tableStyleId>
              </a:tblPr>
              <a:tblGrid>
                <a:gridCol w="1921272">
                  <a:extLst>
                    <a:ext uri="{9D8B030D-6E8A-4147-A177-3AD203B41FA5}">
                      <a16:colId xmlns:a16="http://schemas.microsoft.com/office/drawing/2014/main" val="20000"/>
                    </a:ext>
                  </a:extLst>
                </a:gridCol>
                <a:gridCol w="900132">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a:rPr>
                        <a:t>Estado de Resultados </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95CCF0D2-32E1-5530-98BF-004F8B2797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37EE37B-63DD-A290-F58F-AB74999FC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34A1DFA-6A65-2B6D-27D1-469141BC6D0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0" name="Table 4">
            <a:extLst>
              <a:ext uri="{FF2B5EF4-FFF2-40B4-BE49-F238E27FC236}">
                <a16:creationId xmlns:a16="http://schemas.microsoft.com/office/drawing/2014/main" id="{D7296489-470A-7E28-BF79-B5653CC83FF6}"/>
              </a:ext>
            </a:extLst>
          </p:cNvPr>
          <p:cNvGraphicFramePr>
            <a:graphicFrameLocks noGrp="1"/>
          </p:cNvGraphicFramePr>
          <p:nvPr>
            <p:extLst>
              <p:ext uri="{D42A27DB-BD31-4B8C-83A1-F6EECF244321}">
                <p14:modId xmlns:p14="http://schemas.microsoft.com/office/powerpoint/2010/main" val="4195161686"/>
              </p:ext>
            </p:extLst>
          </p:nvPr>
        </p:nvGraphicFramePr>
        <p:xfrm>
          <a:off x="4560095" y="3310617"/>
          <a:ext cx="4118237" cy="2225040"/>
        </p:xfrm>
        <a:graphic>
          <a:graphicData uri="http://schemas.openxmlformats.org/drawingml/2006/table">
            <a:tbl>
              <a:tblPr firstRow="1" bandRow="1">
                <a:tableStyleId>{2D5ABB26-0587-4C30-8999-92F81FD0307C}</a:tableStyleId>
              </a:tblPr>
              <a:tblGrid>
                <a:gridCol w="1296680">
                  <a:extLst>
                    <a:ext uri="{9D8B030D-6E8A-4147-A177-3AD203B41FA5}">
                      <a16:colId xmlns:a16="http://schemas.microsoft.com/office/drawing/2014/main" val="20000"/>
                    </a:ext>
                  </a:extLst>
                </a:gridCol>
                <a:gridCol w="364642">
                  <a:extLst>
                    <a:ext uri="{9D8B030D-6E8A-4147-A177-3AD203B41FA5}">
                      <a16:colId xmlns:a16="http://schemas.microsoft.com/office/drawing/2014/main" val="20001"/>
                    </a:ext>
                  </a:extLst>
                </a:gridCol>
                <a:gridCol w="464253">
                  <a:extLst>
                    <a:ext uri="{9D8B030D-6E8A-4147-A177-3AD203B41FA5}">
                      <a16:colId xmlns:a16="http://schemas.microsoft.com/office/drawing/2014/main" val="20002"/>
                    </a:ext>
                  </a:extLst>
                </a:gridCol>
                <a:gridCol w="1366130">
                  <a:extLst>
                    <a:ext uri="{9D8B030D-6E8A-4147-A177-3AD203B41FA5}">
                      <a16:colId xmlns:a16="http://schemas.microsoft.com/office/drawing/2014/main" val="20003"/>
                    </a:ext>
                  </a:extLst>
                </a:gridCol>
                <a:gridCol w="626532">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170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gridSpan="2">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U. Periodo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1" name="Table 23">
            <a:extLst>
              <a:ext uri="{FF2B5EF4-FFF2-40B4-BE49-F238E27FC236}">
                <a16:creationId xmlns:a16="http://schemas.microsoft.com/office/drawing/2014/main" id="{1C9EAEC3-EB9E-4E46-FDD1-0A07E704ED40}"/>
              </a:ext>
            </a:extLst>
          </p:cNvPr>
          <p:cNvGraphicFramePr>
            <a:graphicFrameLocks noGrp="1"/>
          </p:cNvGraphicFramePr>
          <p:nvPr>
            <p:extLst>
              <p:ext uri="{D42A27DB-BD31-4B8C-83A1-F6EECF244321}">
                <p14:modId xmlns:p14="http://schemas.microsoft.com/office/powerpoint/2010/main" val="2935708474"/>
              </p:ext>
            </p:extLst>
          </p:nvPr>
        </p:nvGraphicFramePr>
        <p:xfrm>
          <a:off x="690626" y="3327052"/>
          <a:ext cx="3745903" cy="2494280"/>
        </p:xfrm>
        <a:graphic>
          <a:graphicData uri="http://schemas.openxmlformats.org/drawingml/2006/table">
            <a:tbl>
              <a:tblPr firstRow="1" bandRow="1">
                <a:tableStyleId>{2D5ABB26-0587-4C30-8999-92F81FD0307C}</a:tableStyleId>
              </a:tblPr>
              <a:tblGrid>
                <a:gridCol w="1165902">
                  <a:extLst>
                    <a:ext uri="{9D8B030D-6E8A-4147-A177-3AD203B41FA5}">
                      <a16:colId xmlns:a16="http://schemas.microsoft.com/office/drawing/2014/main" val="20000"/>
                    </a:ext>
                  </a:extLst>
                </a:gridCol>
                <a:gridCol w="345219">
                  <a:extLst>
                    <a:ext uri="{9D8B030D-6E8A-4147-A177-3AD203B41FA5}">
                      <a16:colId xmlns:a16="http://schemas.microsoft.com/office/drawing/2014/main" val="20001"/>
                    </a:ext>
                  </a:extLst>
                </a:gridCol>
                <a:gridCol w="256416">
                  <a:extLst>
                    <a:ext uri="{9D8B030D-6E8A-4147-A177-3AD203B41FA5}">
                      <a16:colId xmlns:a16="http://schemas.microsoft.com/office/drawing/2014/main" val="20002"/>
                    </a:ext>
                  </a:extLst>
                </a:gridCol>
                <a:gridCol w="1347194">
                  <a:extLst>
                    <a:ext uri="{9D8B030D-6E8A-4147-A177-3AD203B41FA5}">
                      <a16:colId xmlns:a16="http://schemas.microsoft.com/office/drawing/2014/main" val="20003"/>
                    </a:ext>
                  </a:extLst>
                </a:gridCol>
                <a:gridCol w="631172">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0</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6849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122B7-1849-F79C-9D17-FC458CF2E1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FA2871-B374-BB1D-DC7E-78D80F0A44A2}"/>
              </a:ext>
            </a:extLst>
          </p:cNvPr>
          <p:cNvSpPr>
            <a:spLocks noGrp="1"/>
          </p:cNvSpPr>
          <p:nvPr>
            <p:ph type="title"/>
          </p:nvPr>
        </p:nvSpPr>
        <p:spPr/>
        <p:txBody>
          <a:bodyPr/>
          <a:lstStyle/>
          <a:p>
            <a:r>
              <a:rPr lang="es-CO">
                <a:latin typeface="Century Gothic"/>
              </a:rPr>
              <a:t>Capital de Trabajo (WC)</a:t>
            </a:r>
          </a:p>
        </p:txBody>
      </p:sp>
      <p:sp>
        <p:nvSpPr>
          <p:cNvPr id="19" name="Marcador de contenido 2">
            <a:extLst>
              <a:ext uri="{FF2B5EF4-FFF2-40B4-BE49-F238E27FC236}">
                <a16:creationId xmlns:a16="http://schemas.microsoft.com/office/drawing/2014/main" id="{F84D873E-AE61-D50B-E65F-9C9B86BC4C39}"/>
              </a:ext>
            </a:extLst>
          </p:cNvPr>
          <p:cNvSpPr>
            <a:spLocks noGrp="1"/>
          </p:cNvSpPr>
          <p:nvPr>
            <p:ph idx="1"/>
          </p:nvPr>
        </p:nvSpPr>
        <p:spPr>
          <a:xfrm>
            <a:off x="922913" y="2314035"/>
            <a:ext cx="10651681" cy="862545"/>
          </a:xfrm>
        </p:spPr>
        <p:txBody>
          <a:bodyPr>
            <a:normAutofit/>
          </a:bodyPr>
          <a:lstStyle/>
          <a:p>
            <a:pPr marL="0" indent="0" algn="ctr">
              <a:buNone/>
            </a:pPr>
            <a:r>
              <a:rPr lang="es-CO" dirty="0">
                <a:solidFill>
                  <a:schemeClr val="accent1"/>
                </a:solidFill>
                <a:latin typeface="Century Gothic"/>
              </a:rPr>
              <a:t>Después del año 1, el Estado de Situación Financiera y el Estado de Resultados quedan así:</a:t>
            </a:r>
          </a:p>
        </p:txBody>
      </p:sp>
      <p:sp>
        <p:nvSpPr>
          <p:cNvPr id="4" name="Marcador de número de diapositiva 3">
            <a:extLst>
              <a:ext uri="{FF2B5EF4-FFF2-40B4-BE49-F238E27FC236}">
                <a16:creationId xmlns:a16="http://schemas.microsoft.com/office/drawing/2014/main" id="{B3338BD8-2DCE-0ED6-B3DD-EF0FF870786E}"/>
              </a:ext>
            </a:extLst>
          </p:cNvPr>
          <p:cNvSpPr>
            <a:spLocks noGrp="1"/>
          </p:cNvSpPr>
          <p:nvPr>
            <p:ph type="sldNum" sz="quarter" idx="12"/>
          </p:nvPr>
        </p:nvSpPr>
        <p:spPr/>
        <p:txBody>
          <a:bodyPr/>
          <a:lstStyle/>
          <a:p>
            <a:fld id="{5E3E23BA-6E79-2442-BA73-D218A5E297C3}" type="slidenum">
              <a:rPr lang="es-CO" smtClean="0"/>
              <a:t>11</a:t>
            </a:fld>
            <a:endParaRPr lang="es-CO"/>
          </a:p>
        </p:txBody>
      </p:sp>
      <p:sp>
        <p:nvSpPr>
          <p:cNvPr id="14" name="Marcador de contenido 2">
            <a:extLst>
              <a:ext uri="{FF2B5EF4-FFF2-40B4-BE49-F238E27FC236}">
                <a16:creationId xmlns:a16="http://schemas.microsoft.com/office/drawing/2014/main" id="{D4D597EE-E05D-F4B6-4797-061B66B6722D}"/>
              </a:ext>
            </a:extLst>
          </p:cNvPr>
          <p:cNvSpPr txBox="1">
            <a:spLocks/>
          </p:cNvSpPr>
          <p:nvPr/>
        </p:nvSpPr>
        <p:spPr>
          <a:xfrm>
            <a:off x="1003896" y="5925597"/>
            <a:ext cx="10265191" cy="426203"/>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CO" sz="1200" b="1" dirty="0">
                <a:solidFill>
                  <a:srgbClr val="C00000"/>
                </a:solidFill>
                <a:latin typeface="Century Gothic"/>
              </a:rPr>
              <a:t>Para simplicidad de este ejercicio, se asume que no hay otros ingresos y que tampoco hay costos ni impuestos. Recuerden que este es un GRAN supuesto y el ejercicio es sólo para ilustrar un aspecto específico del Estado de Resultados.</a:t>
            </a:r>
          </a:p>
        </p:txBody>
      </p:sp>
      <p:graphicFrame>
        <p:nvGraphicFramePr>
          <p:cNvPr id="25" name="Table 24">
            <a:extLst>
              <a:ext uri="{FF2B5EF4-FFF2-40B4-BE49-F238E27FC236}">
                <a16:creationId xmlns:a16="http://schemas.microsoft.com/office/drawing/2014/main" id="{5787F111-B122-955D-09FA-DFB693BDA80E}"/>
              </a:ext>
            </a:extLst>
          </p:cNvPr>
          <p:cNvGraphicFramePr>
            <a:graphicFrameLocks noGrp="1"/>
          </p:cNvGraphicFramePr>
          <p:nvPr>
            <p:extLst>
              <p:ext uri="{D42A27DB-BD31-4B8C-83A1-F6EECF244321}">
                <p14:modId xmlns:p14="http://schemas.microsoft.com/office/powerpoint/2010/main" val="4291089642"/>
              </p:ext>
            </p:extLst>
          </p:nvPr>
        </p:nvGraphicFramePr>
        <p:xfrm>
          <a:off x="8789404" y="3361419"/>
          <a:ext cx="2821404" cy="2225040"/>
        </p:xfrm>
        <a:graphic>
          <a:graphicData uri="http://schemas.openxmlformats.org/drawingml/2006/table">
            <a:tbl>
              <a:tblPr firstRow="1" bandRow="1">
                <a:tableStyleId>{2D5ABB26-0587-4C30-8999-92F81FD0307C}</a:tableStyleId>
              </a:tblPr>
              <a:tblGrid>
                <a:gridCol w="1921272">
                  <a:extLst>
                    <a:ext uri="{9D8B030D-6E8A-4147-A177-3AD203B41FA5}">
                      <a16:colId xmlns:a16="http://schemas.microsoft.com/office/drawing/2014/main" val="20000"/>
                    </a:ext>
                  </a:extLst>
                </a:gridCol>
                <a:gridCol w="900132">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a:rPr>
                        <a:t>Estado de Resultados </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8EF68884-9E5D-C10E-3774-5CD4DD6767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7FF1406-7C61-62CD-00E2-116A5FD5CF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2AF3BEC-32C7-D9EC-6D8A-276481F7508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0" name="Table 4">
            <a:extLst>
              <a:ext uri="{FF2B5EF4-FFF2-40B4-BE49-F238E27FC236}">
                <a16:creationId xmlns:a16="http://schemas.microsoft.com/office/drawing/2014/main" id="{B593BCF5-B22D-F919-1D7E-A7B92742E210}"/>
              </a:ext>
            </a:extLst>
          </p:cNvPr>
          <p:cNvGraphicFramePr>
            <a:graphicFrameLocks noGrp="1"/>
          </p:cNvGraphicFramePr>
          <p:nvPr>
            <p:extLst>
              <p:ext uri="{D42A27DB-BD31-4B8C-83A1-F6EECF244321}">
                <p14:modId xmlns:p14="http://schemas.microsoft.com/office/powerpoint/2010/main" val="1917956104"/>
              </p:ext>
            </p:extLst>
          </p:nvPr>
        </p:nvGraphicFramePr>
        <p:xfrm>
          <a:off x="4517767" y="3353104"/>
          <a:ext cx="4211366" cy="2494280"/>
        </p:xfrm>
        <a:graphic>
          <a:graphicData uri="http://schemas.openxmlformats.org/drawingml/2006/table">
            <a:tbl>
              <a:tblPr firstRow="1" bandRow="1">
                <a:tableStyleId>{2D5ABB26-0587-4C30-8999-92F81FD0307C}</a:tableStyleId>
              </a:tblPr>
              <a:tblGrid>
                <a:gridCol w="1326003">
                  <a:extLst>
                    <a:ext uri="{9D8B030D-6E8A-4147-A177-3AD203B41FA5}">
                      <a16:colId xmlns:a16="http://schemas.microsoft.com/office/drawing/2014/main" val="20000"/>
                    </a:ext>
                  </a:extLst>
                </a:gridCol>
                <a:gridCol w="372888">
                  <a:extLst>
                    <a:ext uri="{9D8B030D-6E8A-4147-A177-3AD203B41FA5}">
                      <a16:colId xmlns:a16="http://schemas.microsoft.com/office/drawing/2014/main" val="20001"/>
                    </a:ext>
                  </a:extLst>
                </a:gridCol>
                <a:gridCol w="474752">
                  <a:extLst>
                    <a:ext uri="{9D8B030D-6E8A-4147-A177-3AD203B41FA5}">
                      <a16:colId xmlns:a16="http://schemas.microsoft.com/office/drawing/2014/main" val="20002"/>
                    </a:ext>
                  </a:extLst>
                </a:gridCol>
                <a:gridCol w="1343457">
                  <a:extLst>
                    <a:ext uri="{9D8B030D-6E8A-4147-A177-3AD203B41FA5}">
                      <a16:colId xmlns:a16="http://schemas.microsoft.com/office/drawing/2014/main" val="20003"/>
                    </a:ext>
                  </a:extLst>
                </a:gridCol>
                <a:gridCol w="694266">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170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800" noProof="0" dirty="0" err="1">
                          <a:solidFill>
                            <a:schemeClr val="accent1"/>
                          </a:solidFill>
                          <a:latin typeface="Century Gothic"/>
                        </a:rPr>
                        <a:t>CxC</a:t>
                      </a: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30</a:t>
                      </a:r>
                    </a:p>
                  </a:txBody>
                  <a:tcPr>
                    <a:lnR w="38100" cap="flat" cmpd="sng" algn="ctr">
                      <a:solidFill>
                        <a:srgbClr val="D7A700"/>
                      </a:solidFill>
                      <a:prstDash val="solid"/>
                      <a:round/>
                      <a:headEnd type="none" w="med" len="med"/>
                      <a:tailEnd type="none" w="med" len="med"/>
                    </a:lnR>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U. Periodo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1" name="Table 23">
            <a:extLst>
              <a:ext uri="{FF2B5EF4-FFF2-40B4-BE49-F238E27FC236}">
                <a16:creationId xmlns:a16="http://schemas.microsoft.com/office/drawing/2014/main" id="{D5B30439-13C1-7E4C-0AE3-639A406F2B82}"/>
              </a:ext>
            </a:extLst>
          </p:cNvPr>
          <p:cNvGraphicFramePr>
            <a:graphicFrameLocks noGrp="1"/>
          </p:cNvGraphicFramePr>
          <p:nvPr>
            <p:extLst>
              <p:ext uri="{D42A27DB-BD31-4B8C-83A1-F6EECF244321}">
                <p14:modId xmlns:p14="http://schemas.microsoft.com/office/powerpoint/2010/main" val="969918857"/>
              </p:ext>
            </p:extLst>
          </p:nvPr>
        </p:nvGraphicFramePr>
        <p:xfrm>
          <a:off x="641965" y="3336018"/>
          <a:ext cx="3779771" cy="2494280"/>
        </p:xfrm>
        <a:graphic>
          <a:graphicData uri="http://schemas.openxmlformats.org/drawingml/2006/table">
            <a:tbl>
              <a:tblPr firstRow="1" bandRow="1">
                <a:tableStyleId>{2D5ABB26-0587-4C30-8999-92F81FD0307C}</a:tableStyleId>
              </a:tblPr>
              <a:tblGrid>
                <a:gridCol w="1176443">
                  <a:extLst>
                    <a:ext uri="{9D8B030D-6E8A-4147-A177-3AD203B41FA5}">
                      <a16:colId xmlns:a16="http://schemas.microsoft.com/office/drawing/2014/main" val="20000"/>
                    </a:ext>
                  </a:extLst>
                </a:gridCol>
                <a:gridCol w="348340">
                  <a:extLst>
                    <a:ext uri="{9D8B030D-6E8A-4147-A177-3AD203B41FA5}">
                      <a16:colId xmlns:a16="http://schemas.microsoft.com/office/drawing/2014/main" val="20001"/>
                    </a:ext>
                  </a:extLst>
                </a:gridCol>
                <a:gridCol w="258735">
                  <a:extLst>
                    <a:ext uri="{9D8B030D-6E8A-4147-A177-3AD203B41FA5}">
                      <a16:colId xmlns:a16="http://schemas.microsoft.com/office/drawing/2014/main" val="20002"/>
                    </a:ext>
                  </a:extLst>
                </a:gridCol>
                <a:gridCol w="1359374">
                  <a:extLst>
                    <a:ext uri="{9D8B030D-6E8A-4147-A177-3AD203B41FA5}">
                      <a16:colId xmlns:a16="http://schemas.microsoft.com/office/drawing/2014/main" val="20003"/>
                    </a:ext>
                  </a:extLst>
                </a:gridCol>
                <a:gridCol w="63687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0</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7584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581192" y="2963250"/>
            <a:ext cx="8500265" cy="2386739"/>
          </a:xfrm>
        </p:spPr>
        <p:txBody>
          <a:bodyPr>
            <a:normAutofit/>
          </a:bodyPr>
          <a:lstStyle/>
          <a:p>
            <a:pPr marL="0" indent="0" algn="ctr">
              <a:buNone/>
            </a:pPr>
            <a:r>
              <a:rPr lang="es-ES" dirty="0">
                <a:solidFill>
                  <a:schemeClr val="accent1"/>
                </a:solidFill>
                <a:latin typeface="Century Gothic" panose="020B0502020202020204" pitchFamily="34" charset="0"/>
              </a:rPr>
              <a:t>Ampliemos ahora nuestro ejemplo. Suponga que en el año 1 la compañía compra inventario de mercancía para vender por 35 millones.</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Sin embargo, esa mercancía </a:t>
            </a:r>
            <a:r>
              <a:rPr lang="es-ES" b="1" dirty="0">
                <a:solidFill>
                  <a:srgbClr val="C00000"/>
                </a:solidFill>
                <a:latin typeface="Century Gothic" panose="020B0502020202020204" pitchFamily="34" charset="0"/>
              </a:rPr>
              <a:t>no se vende </a:t>
            </a:r>
            <a:r>
              <a:rPr lang="es-ES" dirty="0">
                <a:solidFill>
                  <a:schemeClr val="accent1"/>
                </a:solidFill>
                <a:latin typeface="Century Gothic" panose="020B0502020202020204" pitchFamily="34" charset="0"/>
              </a:rPr>
              <a:t>y queda en bodega.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12</a:t>
            </a:fld>
            <a:endParaRPr lang="en-US"/>
          </a:p>
        </p:txBody>
      </p:sp>
      <p:sp>
        <p:nvSpPr>
          <p:cNvPr id="6" name="Rectángulo 5">
            <a:extLst>
              <a:ext uri="{FF2B5EF4-FFF2-40B4-BE49-F238E27FC236}">
                <a16:creationId xmlns:a16="http://schemas.microsoft.com/office/drawing/2014/main" id="{9595C6EA-EF3E-4BD2-6646-C7C2BD05C74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C007967-E89E-3C54-DE13-6F2E9641E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B7BEC1C5-FF62-9554-B8D3-7102829910B6}"/>
              </a:ext>
            </a:extLst>
          </p:cNvPr>
          <p:cNvPicPr>
            <a:picLocks noChangeAspect="1"/>
          </p:cNvPicPr>
          <p:nvPr/>
        </p:nvPicPr>
        <p:blipFill>
          <a:blip r:embed="rId3"/>
          <a:stretch>
            <a:fillRect/>
          </a:stretch>
        </p:blipFill>
        <p:spPr>
          <a:xfrm>
            <a:off x="8962546" y="3388474"/>
            <a:ext cx="2774827" cy="1942379"/>
          </a:xfrm>
          <a:prstGeom prst="rect">
            <a:avLst/>
          </a:prstGeom>
        </p:spPr>
      </p:pic>
      <p:sp>
        <p:nvSpPr>
          <p:cNvPr id="5" name="Rectángulo 4">
            <a:extLst>
              <a:ext uri="{FF2B5EF4-FFF2-40B4-BE49-F238E27FC236}">
                <a16:creationId xmlns:a16="http://schemas.microsoft.com/office/drawing/2014/main" id="{B4EB2377-C3B9-BCFF-D1FB-FDB0A889867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14389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19" name="Marcador de contenido 2"/>
          <p:cNvSpPr>
            <a:spLocks noGrp="1"/>
          </p:cNvSpPr>
          <p:nvPr>
            <p:ph idx="1"/>
          </p:nvPr>
        </p:nvSpPr>
        <p:spPr>
          <a:xfrm>
            <a:off x="375595" y="2116991"/>
            <a:ext cx="11440810" cy="862545"/>
          </a:xfrm>
        </p:spPr>
        <p:txBody>
          <a:bodyPr>
            <a:normAutofit/>
          </a:bodyPr>
          <a:lstStyle/>
          <a:p>
            <a:pPr marL="0" indent="0" algn="ctr">
              <a:buNone/>
            </a:pPr>
            <a:r>
              <a:rPr lang="es-ES" dirty="0">
                <a:solidFill>
                  <a:schemeClr val="accent1"/>
                </a:solidFill>
                <a:latin typeface="Century Gothic" panose="020B0502020202020204" pitchFamily="34" charset="0"/>
              </a:rPr>
              <a:t>Hasta ahora, el Estado de Situación Financiera y el Estado de Resultados son los siguientes (año 1):</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13</a:t>
            </a:fld>
            <a:endParaRPr lang="en-US"/>
          </a:p>
        </p:txBody>
      </p:sp>
      <p:sp>
        <p:nvSpPr>
          <p:cNvPr id="6" name="Marcador de contenido 2"/>
          <p:cNvSpPr txBox="1">
            <a:spLocks/>
          </p:cNvSpPr>
          <p:nvPr/>
        </p:nvSpPr>
        <p:spPr>
          <a:xfrm>
            <a:off x="2294558" y="5724571"/>
            <a:ext cx="7893284" cy="86254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600" b="1" dirty="0">
                <a:solidFill>
                  <a:srgbClr val="C00000"/>
                </a:solidFill>
                <a:latin typeface="Century Gothic" panose="020B0502020202020204" pitchFamily="34" charset="0"/>
              </a:rPr>
              <a:t>¿Cómo queda después de registrar la compra de inventario de mercancía?</a:t>
            </a:r>
          </a:p>
        </p:txBody>
      </p:sp>
      <p:graphicFrame>
        <p:nvGraphicFramePr>
          <p:cNvPr id="8" name="Table 4"/>
          <p:cNvGraphicFramePr>
            <a:graphicFrameLocks noGrp="1"/>
          </p:cNvGraphicFramePr>
          <p:nvPr>
            <p:extLst>
              <p:ext uri="{D42A27DB-BD31-4B8C-83A1-F6EECF244321}">
                <p14:modId xmlns:p14="http://schemas.microsoft.com/office/powerpoint/2010/main" val="2110160696"/>
              </p:ext>
            </p:extLst>
          </p:nvPr>
        </p:nvGraphicFramePr>
        <p:xfrm>
          <a:off x="2294558" y="3081204"/>
          <a:ext cx="4487323" cy="2494280"/>
        </p:xfrm>
        <a:graphic>
          <a:graphicData uri="http://schemas.openxmlformats.org/drawingml/2006/table">
            <a:tbl>
              <a:tblPr firstRow="1" bandRow="1">
                <a:tableStyleId>{2D5ABB26-0587-4C30-8999-92F81FD0307C}</a:tableStyleId>
              </a:tblPr>
              <a:tblGrid>
                <a:gridCol w="1124687">
                  <a:extLst>
                    <a:ext uri="{9D8B030D-6E8A-4147-A177-3AD203B41FA5}">
                      <a16:colId xmlns:a16="http://schemas.microsoft.com/office/drawing/2014/main" val="20000"/>
                    </a:ext>
                  </a:extLst>
                </a:gridCol>
                <a:gridCol w="685527">
                  <a:extLst>
                    <a:ext uri="{9D8B030D-6E8A-4147-A177-3AD203B41FA5}">
                      <a16:colId xmlns:a16="http://schemas.microsoft.com/office/drawing/2014/main" val="20001"/>
                    </a:ext>
                  </a:extLst>
                </a:gridCol>
                <a:gridCol w="307167">
                  <a:extLst>
                    <a:ext uri="{9D8B030D-6E8A-4147-A177-3AD203B41FA5}">
                      <a16:colId xmlns:a16="http://schemas.microsoft.com/office/drawing/2014/main" val="20002"/>
                    </a:ext>
                  </a:extLst>
                </a:gridCol>
                <a:gridCol w="1613843">
                  <a:extLst>
                    <a:ext uri="{9D8B030D-6E8A-4147-A177-3AD203B41FA5}">
                      <a16:colId xmlns:a16="http://schemas.microsoft.com/office/drawing/2014/main" val="20003"/>
                    </a:ext>
                  </a:extLst>
                </a:gridCol>
                <a:gridCol w="75609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panose="020B0502020202020204" pitchFamily="34" charset="0"/>
                        </a:rPr>
                        <a:t>Estado de Situación Financiera</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panose="020B0502020202020204" pitchFamily="34" charset="0"/>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a:solidFill>
                            <a:schemeClr val="accent1"/>
                          </a:solidFill>
                          <a:latin typeface="Century Gothic" panose="020B0502020202020204" pitchFamily="34" charset="0"/>
                        </a:rPr>
                        <a:t>170</a:t>
                      </a:r>
                    </a:p>
                  </a:txBody>
                  <a:tcPr>
                    <a:lnT w="38100" cap="flat" cmpd="sng" algn="ctr">
                      <a:solidFill>
                        <a:srgbClr val="D7A700"/>
                      </a:solidFill>
                      <a:prstDash val="solid"/>
                      <a:round/>
                      <a:headEnd type="none" w="med" len="med"/>
                      <a:tailEnd type="none" w="med" len="med"/>
                    </a:lnT>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800" noProof="0" dirty="0" err="1">
                          <a:solidFill>
                            <a:schemeClr val="accent1"/>
                          </a:solidFill>
                          <a:latin typeface="Century Gothic" panose="020B0502020202020204" pitchFamily="34" charset="0"/>
                        </a:rPr>
                        <a:t>CxC</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30</a:t>
                      </a: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24"/>
          <p:cNvGraphicFramePr>
            <a:graphicFrameLocks noGrp="1"/>
          </p:cNvGraphicFramePr>
          <p:nvPr>
            <p:extLst>
              <p:ext uri="{D42A27DB-BD31-4B8C-83A1-F6EECF244321}">
                <p14:modId xmlns:p14="http://schemas.microsoft.com/office/powerpoint/2010/main" val="1345056209"/>
              </p:ext>
            </p:extLst>
          </p:nvPr>
        </p:nvGraphicFramePr>
        <p:xfrm>
          <a:off x="7302097" y="3105234"/>
          <a:ext cx="2904519" cy="2225040"/>
        </p:xfrm>
        <a:graphic>
          <a:graphicData uri="http://schemas.openxmlformats.org/drawingml/2006/table">
            <a:tbl>
              <a:tblPr firstRow="1" bandRow="1">
                <a:tableStyleId>{2D5ABB26-0587-4C30-8999-92F81FD0307C}</a:tableStyleId>
              </a:tblPr>
              <a:tblGrid>
                <a:gridCol w="1977870">
                  <a:extLst>
                    <a:ext uri="{9D8B030D-6E8A-4147-A177-3AD203B41FA5}">
                      <a16:colId xmlns:a16="http://schemas.microsoft.com/office/drawing/2014/main" val="20000"/>
                    </a:ext>
                  </a:extLst>
                </a:gridCol>
                <a:gridCol w="926649">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panose="020B0502020202020204" pitchFamily="34" charset="0"/>
                        </a:rPr>
                        <a:t>Estado de Resultados</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panose="020B0502020202020204" pitchFamily="34" charset="0"/>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panose="020B0502020202020204" pitchFamily="34" charset="0"/>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panose="020B0502020202020204" pitchFamily="34" charset="0"/>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panose="020B0502020202020204" pitchFamily="34" charset="0"/>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961EE188-3A75-292A-1832-A0755475A20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BE48291B-7684-E3D7-70A8-1CEA83D5D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4528047-C1AD-D6D7-7AEB-0952D0D2B59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40872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19" name="Marcador de contenido 2"/>
          <p:cNvSpPr>
            <a:spLocks noGrp="1"/>
          </p:cNvSpPr>
          <p:nvPr>
            <p:ph idx="1"/>
          </p:nvPr>
        </p:nvSpPr>
        <p:spPr>
          <a:xfrm>
            <a:off x="375595" y="2116991"/>
            <a:ext cx="11440810" cy="862545"/>
          </a:xfrm>
        </p:spPr>
        <p:txBody>
          <a:bodyPr>
            <a:normAutofit/>
          </a:bodyPr>
          <a:lstStyle/>
          <a:p>
            <a:pPr marL="0" indent="0" algn="ctr">
              <a:buNone/>
            </a:pPr>
            <a:r>
              <a:rPr lang="es-ES" dirty="0">
                <a:solidFill>
                  <a:schemeClr val="accent1"/>
                </a:solidFill>
                <a:latin typeface="Century Gothic" panose="020B0502020202020204" pitchFamily="34" charset="0"/>
              </a:rPr>
              <a:t>Hasta ahora, el Estado de la Situación Financiera y el Estado de Resultados son los siguientes (año 1):</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14</a:t>
            </a:fld>
            <a:endParaRPr lang="en-US"/>
          </a:p>
        </p:txBody>
      </p:sp>
      <p:sp>
        <p:nvSpPr>
          <p:cNvPr id="6" name="Marcador de contenido 2"/>
          <p:cNvSpPr txBox="1">
            <a:spLocks/>
          </p:cNvSpPr>
          <p:nvPr/>
        </p:nvSpPr>
        <p:spPr>
          <a:xfrm>
            <a:off x="2294558" y="5724571"/>
            <a:ext cx="7893284" cy="86254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600" b="1" dirty="0">
                <a:solidFill>
                  <a:srgbClr val="C00000"/>
                </a:solidFill>
                <a:latin typeface="Century Gothic" panose="020B0502020202020204" pitchFamily="34" charset="0"/>
              </a:rPr>
              <a:t>¿Cómo queda después de registrar la compra de inventario de mercancía?</a:t>
            </a:r>
          </a:p>
        </p:txBody>
      </p:sp>
      <p:graphicFrame>
        <p:nvGraphicFramePr>
          <p:cNvPr id="8" name="Table 4"/>
          <p:cNvGraphicFramePr>
            <a:graphicFrameLocks noGrp="1"/>
          </p:cNvGraphicFramePr>
          <p:nvPr>
            <p:extLst>
              <p:ext uri="{D42A27DB-BD31-4B8C-83A1-F6EECF244321}">
                <p14:modId xmlns:p14="http://schemas.microsoft.com/office/powerpoint/2010/main" val="3297378754"/>
              </p:ext>
            </p:extLst>
          </p:nvPr>
        </p:nvGraphicFramePr>
        <p:xfrm>
          <a:off x="1705232" y="3085032"/>
          <a:ext cx="5212574" cy="2494280"/>
        </p:xfrm>
        <a:graphic>
          <a:graphicData uri="http://schemas.openxmlformats.org/drawingml/2006/table">
            <a:tbl>
              <a:tblPr firstRow="1" bandRow="1">
                <a:tableStyleId>{2D5ABB26-0587-4C30-8999-92F81FD0307C}</a:tableStyleId>
              </a:tblPr>
              <a:tblGrid>
                <a:gridCol w="1306462">
                  <a:extLst>
                    <a:ext uri="{9D8B030D-6E8A-4147-A177-3AD203B41FA5}">
                      <a16:colId xmlns:a16="http://schemas.microsoft.com/office/drawing/2014/main" val="20000"/>
                    </a:ext>
                  </a:extLst>
                </a:gridCol>
                <a:gridCol w="796324">
                  <a:extLst>
                    <a:ext uri="{9D8B030D-6E8A-4147-A177-3AD203B41FA5}">
                      <a16:colId xmlns:a16="http://schemas.microsoft.com/office/drawing/2014/main" val="20001"/>
                    </a:ext>
                  </a:extLst>
                </a:gridCol>
                <a:gridCol w="356812">
                  <a:extLst>
                    <a:ext uri="{9D8B030D-6E8A-4147-A177-3AD203B41FA5}">
                      <a16:colId xmlns:a16="http://schemas.microsoft.com/office/drawing/2014/main" val="20002"/>
                    </a:ext>
                  </a:extLst>
                </a:gridCol>
                <a:gridCol w="1874675">
                  <a:extLst>
                    <a:ext uri="{9D8B030D-6E8A-4147-A177-3AD203B41FA5}">
                      <a16:colId xmlns:a16="http://schemas.microsoft.com/office/drawing/2014/main" val="20003"/>
                    </a:ext>
                  </a:extLst>
                </a:gridCol>
                <a:gridCol w="878301">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panose="020B0502020202020204" pitchFamily="34" charset="0"/>
                        </a:rPr>
                        <a:t>Estado de Situación Financiera</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panose="020B0502020202020204" pitchFamily="34" charset="0"/>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a:solidFill>
                            <a:schemeClr val="accent1"/>
                          </a:solidFill>
                          <a:latin typeface="Century Gothic" panose="020B0502020202020204" pitchFamily="34" charset="0"/>
                        </a:rPr>
                        <a:t>135</a:t>
                      </a:r>
                    </a:p>
                  </a:txBody>
                  <a:tcPr>
                    <a:lnT w="38100" cap="flat" cmpd="sng" algn="ctr">
                      <a:solidFill>
                        <a:srgbClr val="D7A700"/>
                      </a:solidFill>
                      <a:prstDash val="solid"/>
                      <a:round/>
                      <a:headEnd type="none" w="med" len="med"/>
                      <a:tailEnd type="none" w="med" len="med"/>
                    </a:lnT>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800" noProof="0" dirty="0" err="1">
                          <a:solidFill>
                            <a:schemeClr val="accent1"/>
                          </a:solidFill>
                          <a:latin typeface="Century Gothic" panose="020B0502020202020204" pitchFamily="34" charset="0"/>
                        </a:rPr>
                        <a:t>CxC</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30</a:t>
                      </a: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800" noProof="0" dirty="0">
                          <a:solidFill>
                            <a:schemeClr val="accent1"/>
                          </a:solidFill>
                          <a:latin typeface="Century Gothic" panose="020B0502020202020204" pitchFamily="34" charset="0"/>
                        </a:rPr>
                        <a:t>Inventario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35</a:t>
                      </a: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24"/>
          <p:cNvGraphicFramePr>
            <a:graphicFrameLocks noGrp="1"/>
          </p:cNvGraphicFramePr>
          <p:nvPr>
            <p:extLst>
              <p:ext uri="{D42A27DB-BD31-4B8C-83A1-F6EECF244321}">
                <p14:modId xmlns:p14="http://schemas.microsoft.com/office/powerpoint/2010/main" val="3537702923"/>
              </p:ext>
            </p:extLst>
          </p:nvPr>
        </p:nvGraphicFramePr>
        <p:xfrm>
          <a:off x="7302097" y="3105234"/>
          <a:ext cx="2904519" cy="2225040"/>
        </p:xfrm>
        <a:graphic>
          <a:graphicData uri="http://schemas.openxmlformats.org/drawingml/2006/table">
            <a:tbl>
              <a:tblPr firstRow="1" bandRow="1">
                <a:tableStyleId>{2D5ABB26-0587-4C30-8999-92F81FD0307C}</a:tableStyleId>
              </a:tblPr>
              <a:tblGrid>
                <a:gridCol w="1977870">
                  <a:extLst>
                    <a:ext uri="{9D8B030D-6E8A-4147-A177-3AD203B41FA5}">
                      <a16:colId xmlns:a16="http://schemas.microsoft.com/office/drawing/2014/main" val="20000"/>
                    </a:ext>
                  </a:extLst>
                </a:gridCol>
                <a:gridCol w="926649">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panose="020B0502020202020204" pitchFamily="34" charset="0"/>
                        </a:rPr>
                        <a:t>Estado de Resultados</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panose="020B0502020202020204" pitchFamily="34" charset="0"/>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panose="020B0502020202020204" pitchFamily="34" charset="0"/>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panose="020B0502020202020204" pitchFamily="34" charset="0"/>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panose="020B0502020202020204" pitchFamily="34" charset="0"/>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961EE188-3A75-292A-1832-A0755475A20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BE48291B-7684-E3D7-70A8-1CEA83D5D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0829E07-54AD-E6B1-72FD-5C49CCE2386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293912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641965" y="2865099"/>
            <a:ext cx="8403640" cy="2386739"/>
          </a:xfrm>
        </p:spPr>
        <p:txBody>
          <a:bodyPr>
            <a:normAutofit/>
          </a:bodyPr>
          <a:lstStyle/>
          <a:p>
            <a:pPr marL="0" indent="0" algn="ctr">
              <a:buNone/>
            </a:pPr>
            <a:r>
              <a:rPr lang="es-ES" dirty="0">
                <a:solidFill>
                  <a:schemeClr val="accent1"/>
                </a:solidFill>
                <a:latin typeface="Century Gothic" panose="020B0502020202020204" pitchFamily="34" charset="0"/>
              </a:rPr>
              <a:t>Ampliemos más nuestro ejemplo. Supóngase que sólo se pagaron 5 millones de contado de los inventarios de mercancía que se adquirieron. </a:t>
            </a:r>
          </a:p>
          <a:p>
            <a:pPr marL="0" indent="0" algn="ctr">
              <a:buNone/>
            </a:pPr>
            <a:endParaRPr lang="es-ES" dirty="0">
              <a:solidFill>
                <a:schemeClr val="accent1"/>
              </a:solidFill>
              <a:latin typeface="Century Gothic" panose="020B0502020202020204" pitchFamily="34" charset="0"/>
            </a:endParaRPr>
          </a:p>
          <a:p>
            <a:pPr marL="0" indent="0" algn="ctr">
              <a:buNone/>
            </a:pPr>
            <a:r>
              <a:rPr lang="es-ES" b="1" dirty="0">
                <a:solidFill>
                  <a:srgbClr val="D7A700"/>
                </a:solidFill>
                <a:latin typeface="Century Gothic" panose="020B0502020202020204" pitchFamily="34" charset="0"/>
              </a:rPr>
              <a:t>¿Cómo cambiarían nuestros resultados?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15</a:t>
            </a:fld>
            <a:endParaRPr lang="en-US"/>
          </a:p>
        </p:txBody>
      </p:sp>
      <p:sp>
        <p:nvSpPr>
          <p:cNvPr id="6" name="Rectángulo 5">
            <a:extLst>
              <a:ext uri="{FF2B5EF4-FFF2-40B4-BE49-F238E27FC236}">
                <a16:creationId xmlns:a16="http://schemas.microsoft.com/office/drawing/2014/main" id="{EB96DBAD-C67D-6649-3381-A0CCF6E7E82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800D22-3A3A-B6B2-CA6F-EA46CDA41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B0C87CEC-186E-2AB4-2DB7-F84906C94F57}"/>
              </a:ext>
            </a:extLst>
          </p:cNvPr>
          <p:cNvPicPr>
            <a:picLocks noChangeAspect="1"/>
          </p:cNvPicPr>
          <p:nvPr/>
        </p:nvPicPr>
        <p:blipFill>
          <a:blip r:embed="rId3"/>
          <a:stretch>
            <a:fillRect/>
          </a:stretch>
        </p:blipFill>
        <p:spPr>
          <a:xfrm>
            <a:off x="8994826" y="3058309"/>
            <a:ext cx="2543261" cy="2000317"/>
          </a:xfrm>
          <a:prstGeom prst="rect">
            <a:avLst/>
          </a:prstGeom>
        </p:spPr>
      </p:pic>
      <p:sp>
        <p:nvSpPr>
          <p:cNvPr id="5" name="Rectángulo 4">
            <a:extLst>
              <a:ext uri="{FF2B5EF4-FFF2-40B4-BE49-F238E27FC236}">
                <a16:creationId xmlns:a16="http://schemas.microsoft.com/office/drawing/2014/main" id="{E5FC80ED-F28D-228F-3067-393BF9B42A0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3614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19" name="Marcador de contenido 2"/>
          <p:cNvSpPr>
            <a:spLocks noGrp="1"/>
          </p:cNvSpPr>
          <p:nvPr>
            <p:ph idx="1"/>
          </p:nvPr>
        </p:nvSpPr>
        <p:spPr>
          <a:xfrm>
            <a:off x="375595" y="2116991"/>
            <a:ext cx="11440810" cy="862545"/>
          </a:xfrm>
        </p:spPr>
        <p:txBody>
          <a:bodyPr>
            <a:normAutofit/>
          </a:bodyPr>
          <a:lstStyle/>
          <a:p>
            <a:pPr marL="0" indent="0" algn="ctr">
              <a:buNone/>
            </a:pPr>
            <a:r>
              <a:rPr lang="es-ES" dirty="0">
                <a:solidFill>
                  <a:schemeClr val="accent1"/>
                </a:solidFill>
                <a:latin typeface="Century Gothic" panose="020B0502020202020204" pitchFamily="34" charset="0"/>
              </a:rPr>
              <a:t>Hasta ahora, el Estado de la Situación Financiera y el Estado de Resultados son los siguientes (año 1):</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16</a:t>
            </a:fld>
            <a:endParaRPr lang="en-US"/>
          </a:p>
        </p:txBody>
      </p:sp>
      <p:graphicFrame>
        <p:nvGraphicFramePr>
          <p:cNvPr id="8" name="Table 4"/>
          <p:cNvGraphicFramePr>
            <a:graphicFrameLocks noGrp="1"/>
          </p:cNvGraphicFramePr>
          <p:nvPr>
            <p:extLst>
              <p:ext uri="{D42A27DB-BD31-4B8C-83A1-F6EECF244321}">
                <p14:modId xmlns:p14="http://schemas.microsoft.com/office/powerpoint/2010/main" val="1539370943"/>
              </p:ext>
            </p:extLst>
          </p:nvPr>
        </p:nvGraphicFramePr>
        <p:xfrm>
          <a:off x="1705232" y="3085032"/>
          <a:ext cx="5212574" cy="2494280"/>
        </p:xfrm>
        <a:graphic>
          <a:graphicData uri="http://schemas.openxmlformats.org/drawingml/2006/table">
            <a:tbl>
              <a:tblPr firstRow="1" bandRow="1">
                <a:tableStyleId>{2D5ABB26-0587-4C30-8999-92F81FD0307C}</a:tableStyleId>
              </a:tblPr>
              <a:tblGrid>
                <a:gridCol w="1306462">
                  <a:extLst>
                    <a:ext uri="{9D8B030D-6E8A-4147-A177-3AD203B41FA5}">
                      <a16:colId xmlns:a16="http://schemas.microsoft.com/office/drawing/2014/main" val="20000"/>
                    </a:ext>
                  </a:extLst>
                </a:gridCol>
                <a:gridCol w="796324">
                  <a:extLst>
                    <a:ext uri="{9D8B030D-6E8A-4147-A177-3AD203B41FA5}">
                      <a16:colId xmlns:a16="http://schemas.microsoft.com/office/drawing/2014/main" val="20001"/>
                    </a:ext>
                  </a:extLst>
                </a:gridCol>
                <a:gridCol w="356812">
                  <a:extLst>
                    <a:ext uri="{9D8B030D-6E8A-4147-A177-3AD203B41FA5}">
                      <a16:colId xmlns:a16="http://schemas.microsoft.com/office/drawing/2014/main" val="20002"/>
                    </a:ext>
                  </a:extLst>
                </a:gridCol>
                <a:gridCol w="1874675">
                  <a:extLst>
                    <a:ext uri="{9D8B030D-6E8A-4147-A177-3AD203B41FA5}">
                      <a16:colId xmlns:a16="http://schemas.microsoft.com/office/drawing/2014/main" val="20003"/>
                    </a:ext>
                  </a:extLst>
                </a:gridCol>
                <a:gridCol w="878301">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panose="020B0502020202020204" pitchFamily="34" charset="0"/>
                        </a:rPr>
                        <a:t>Estado de Situación Financiera</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panose="020B0502020202020204" pitchFamily="34" charset="0"/>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165</a:t>
                      </a:r>
                    </a:p>
                  </a:txBody>
                  <a:tcPr>
                    <a:lnT w="38100" cap="flat" cmpd="sng" algn="ctr">
                      <a:solidFill>
                        <a:srgbClr val="D7A700"/>
                      </a:solidFill>
                      <a:prstDash val="solid"/>
                      <a:round/>
                      <a:headEnd type="none" w="med" len="med"/>
                      <a:tailEnd type="none" w="med" len="med"/>
                    </a:lnT>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err="1">
                          <a:solidFill>
                            <a:schemeClr val="accent1"/>
                          </a:solidFill>
                          <a:latin typeface="Century Gothic" panose="020B0502020202020204" pitchFamily="34" charset="0"/>
                        </a:rPr>
                        <a:t>CxP</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30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800" noProof="0" dirty="0" err="1">
                          <a:solidFill>
                            <a:schemeClr val="accent1"/>
                          </a:solidFill>
                          <a:latin typeface="Century Gothic" panose="020B0502020202020204" pitchFamily="34" charset="0"/>
                        </a:rPr>
                        <a:t>CxC</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30</a:t>
                      </a: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800" noProof="0" dirty="0">
                          <a:solidFill>
                            <a:schemeClr val="accent1"/>
                          </a:solidFill>
                          <a:latin typeface="Century Gothic" panose="020B0502020202020204" pitchFamily="34" charset="0"/>
                        </a:rPr>
                        <a:t>Inventario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35</a:t>
                      </a: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24"/>
          <p:cNvGraphicFramePr>
            <a:graphicFrameLocks noGrp="1"/>
          </p:cNvGraphicFramePr>
          <p:nvPr>
            <p:extLst>
              <p:ext uri="{D42A27DB-BD31-4B8C-83A1-F6EECF244321}">
                <p14:modId xmlns:p14="http://schemas.microsoft.com/office/powerpoint/2010/main" val="3789840491"/>
              </p:ext>
            </p:extLst>
          </p:nvPr>
        </p:nvGraphicFramePr>
        <p:xfrm>
          <a:off x="7302097" y="3105234"/>
          <a:ext cx="2904519" cy="2225040"/>
        </p:xfrm>
        <a:graphic>
          <a:graphicData uri="http://schemas.openxmlformats.org/drawingml/2006/table">
            <a:tbl>
              <a:tblPr firstRow="1" bandRow="1">
                <a:tableStyleId>{2D5ABB26-0587-4C30-8999-92F81FD0307C}</a:tableStyleId>
              </a:tblPr>
              <a:tblGrid>
                <a:gridCol w="1977870">
                  <a:extLst>
                    <a:ext uri="{9D8B030D-6E8A-4147-A177-3AD203B41FA5}">
                      <a16:colId xmlns:a16="http://schemas.microsoft.com/office/drawing/2014/main" val="20000"/>
                    </a:ext>
                  </a:extLst>
                </a:gridCol>
                <a:gridCol w="926649">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panose="020B0502020202020204" pitchFamily="34" charset="0"/>
                        </a:rPr>
                        <a:t>Estado de Resultados</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panose="020B0502020202020204" pitchFamily="34" charset="0"/>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panose="020B0502020202020204" pitchFamily="34" charset="0"/>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panose="020B0502020202020204" pitchFamily="34" charset="0"/>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panose="020B0502020202020204" pitchFamily="34" charset="0"/>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961EE188-3A75-292A-1832-A0755475A20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BE48291B-7684-E3D7-70A8-1CEA83D5D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F4797212-20C0-3939-B03C-71CC86FF1026}"/>
              </a:ext>
            </a:extLst>
          </p:cNvPr>
          <p:cNvPicPr>
            <a:picLocks noChangeAspect="1"/>
          </p:cNvPicPr>
          <p:nvPr/>
        </p:nvPicPr>
        <p:blipFill>
          <a:blip r:embed="rId3"/>
          <a:stretch>
            <a:fillRect/>
          </a:stretch>
        </p:blipFill>
        <p:spPr>
          <a:xfrm>
            <a:off x="5196034" y="5684808"/>
            <a:ext cx="2720840" cy="1074165"/>
          </a:xfrm>
          <a:prstGeom prst="rect">
            <a:avLst/>
          </a:prstGeom>
        </p:spPr>
      </p:pic>
      <p:sp>
        <p:nvSpPr>
          <p:cNvPr id="6" name="Rectángulo 5">
            <a:extLst>
              <a:ext uri="{FF2B5EF4-FFF2-40B4-BE49-F238E27FC236}">
                <a16:creationId xmlns:a16="http://schemas.microsoft.com/office/drawing/2014/main" id="{84E92784-9F6E-7E7C-2C4A-C992368CE82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267083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706113" y="2469281"/>
            <a:ext cx="8304459" cy="3486856"/>
          </a:xfrm>
        </p:spPr>
        <p:txBody>
          <a:bodyPr>
            <a:noAutofit/>
          </a:bodyPr>
          <a:lstStyle/>
          <a:p>
            <a:pPr marL="0" indent="0" algn="ctr">
              <a:buNone/>
            </a:pPr>
            <a:r>
              <a:rPr lang="es-ES" dirty="0">
                <a:solidFill>
                  <a:schemeClr val="accent1"/>
                </a:solidFill>
                <a:latin typeface="Century Gothic" panose="020B0502020202020204" pitchFamily="34" charset="0"/>
              </a:rPr>
              <a:t>Nótese como el pago de las cuentas por pagar, la compra de inventarios y las cuentas por cobrar </a:t>
            </a:r>
            <a:r>
              <a:rPr lang="es-ES" b="1" dirty="0">
                <a:solidFill>
                  <a:srgbClr val="D7A700"/>
                </a:solidFill>
                <a:latin typeface="Century Gothic" panose="020B0502020202020204" pitchFamily="34" charset="0"/>
              </a:rPr>
              <a:t>no se refleja en la utilidad</a:t>
            </a:r>
            <a:r>
              <a:rPr lang="es-ES" dirty="0">
                <a:solidFill>
                  <a:schemeClr val="accent1"/>
                </a:solidFill>
                <a:latin typeface="Century Gothic" panose="020B0502020202020204" pitchFamily="34" charset="0"/>
              </a:rPr>
              <a:t>.</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Sin embargo, los anteriores pagos implican </a:t>
            </a:r>
            <a:r>
              <a:rPr lang="es-ES" b="1" dirty="0">
                <a:solidFill>
                  <a:schemeClr val="accent3">
                    <a:lumMod val="50000"/>
                  </a:schemeClr>
                </a:solidFill>
                <a:latin typeface="Century Gothic" panose="020B0502020202020204" pitchFamily="34" charset="0"/>
              </a:rPr>
              <a:t>movimientos de efectivo</a:t>
            </a:r>
            <a:r>
              <a:rPr lang="es-ES" dirty="0">
                <a:solidFill>
                  <a:schemeClr val="accent1"/>
                </a:solidFill>
                <a:latin typeface="Century Gothic" panose="020B0502020202020204" pitchFamily="34" charset="0"/>
              </a:rPr>
              <a:t>.</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Por ende, para incorporar dichos movimientos de efectivo, se ajusta la utilidad por el </a:t>
            </a:r>
            <a:r>
              <a:rPr lang="es-ES" b="1" dirty="0">
                <a:solidFill>
                  <a:srgbClr val="C00000"/>
                </a:solidFill>
                <a:latin typeface="Century Gothic" panose="020B0502020202020204" pitchFamily="34" charset="0"/>
              </a:rPr>
              <a:t>capital de trabajo.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17</a:t>
            </a:fld>
            <a:endParaRPr lang="en-US"/>
          </a:p>
        </p:txBody>
      </p:sp>
      <p:sp>
        <p:nvSpPr>
          <p:cNvPr id="6" name="Rectángulo 5">
            <a:extLst>
              <a:ext uri="{FF2B5EF4-FFF2-40B4-BE49-F238E27FC236}">
                <a16:creationId xmlns:a16="http://schemas.microsoft.com/office/drawing/2014/main" id="{1A3B0ED8-8075-04E5-63AF-999839DF9AC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8DE7A7D-A7A0-C6EE-5949-AB442A4E79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5F5693C7-C03E-2E46-6E49-7DE83759861A}"/>
              </a:ext>
            </a:extLst>
          </p:cNvPr>
          <p:cNvPicPr>
            <a:picLocks noChangeAspect="1"/>
          </p:cNvPicPr>
          <p:nvPr/>
        </p:nvPicPr>
        <p:blipFill>
          <a:blip r:embed="rId3"/>
          <a:stretch>
            <a:fillRect/>
          </a:stretch>
        </p:blipFill>
        <p:spPr>
          <a:xfrm>
            <a:off x="8924463" y="3136250"/>
            <a:ext cx="2636108" cy="1855881"/>
          </a:xfrm>
          <a:prstGeom prst="rect">
            <a:avLst/>
          </a:prstGeom>
        </p:spPr>
      </p:pic>
      <p:sp>
        <p:nvSpPr>
          <p:cNvPr id="5" name="Rectángulo 4">
            <a:extLst>
              <a:ext uri="{FF2B5EF4-FFF2-40B4-BE49-F238E27FC236}">
                <a16:creationId xmlns:a16="http://schemas.microsoft.com/office/drawing/2014/main" id="{E8BC2FDF-AC59-3797-38F8-EDD620D2660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9312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494270" y="1865034"/>
            <a:ext cx="11243103" cy="1367703"/>
          </a:xfrm>
        </p:spPr>
        <p:txBody>
          <a:bodyPr>
            <a:normAutofit/>
          </a:bodyPr>
          <a:lstStyle/>
          <a:p>
            <a:pPr marL="0" indent="0" algn="just">
              <a:buNone/>
            </a:pPr>
            <a:r>
              <a:rPr lang="es-ES" dirty="0">
                <a:solidFill>
                  <a:schemeClr val="accent1"/>
                </a:solidFill>
                <a:latin typeface="Century Gothic" panose="020B0502020202020204" pitchFamily="34" charset="0"/>
              </a:rPr>
              <a:t>En el lenguaje financiero se llama capital de trabajo a la diferencia entre el </a:t>
            </a:r>
            <a:r>
              <a:rPr lang="es-ES" b="1" dirty="0">
                <a:solidFill>
                  <a:srgbClr val="C00000"/>
                </a:solidFill>
                <a:latin typeface="Century Gothic" panose="020B0502020202020204" pitchFamily="34" charset="0"/>
              </a:rPr>
              <a:t>activo corriente </a:t>
            </a:r>
            <a:r>
              <a:rPr lang="es-ES" dirty="0">
                <a:solidFill>
                  <a:schemeClr val="accent1"/>
                </a:solidFill>
                <a:latin typeface="Century Gothic" panose="020B0502020202020204" pitchFamily="34" charset="0"/>
              </a:rPr>
              <a:t>(excluyendo el efectivo para efectos del flujo de caja) y el </a:t>
            </a:r>
            <a:r>
              <a:rPr lang="es-ES" b="1" dirty="0">
                <a:solidFill>
                  <a:srgbClr val="D7A700"/>
                </a:solidFill>
                <a:latin typeface="Century Gothic" panose="020B0502020202020204" pitchFamily="34" charset="0"/>
              </a:rPr>
              <a:t>pasivo corriente</a:t>
            </a:r>
            <a:r>
              <a:rPr lang="es-ES" dirty="0">
                <a:solidFill>
                  <a:schemeClr val="accent1"/>
                </a:solidFill>
                <a:latin typeface="Century Gothic" panose="020B0502020202020204" pitchFamily="34" charset="0"/>
              </a:rPr>
              <a:t>. Según la estructura del Estado de Situación Financiera encontramos estos dos componentes así:</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18</a:t>
            </a:fld>
            <a:endParaRPr lang="en-US"/>
          </a:p>
        </p:txBody>
      </p:sp>
      <p:sp>
        <p:nvSpPr>
          <p:cNvPr id="7" name="Rectangle 2"/>
          <p:cNvSpPr/>
          <p:nvPr/>
        </p:nvSpPr>
        <p:spPr>
          <a:xfrm>
            <a:off x="3773751" y="4173029"/>
            <a:ext cx="2512594" cy="2130947"/>
          </a:xfrm>
          <a:prstGeom prst="rect">
            <a:avLst/>
          </a:prstGeom>
          <a:solidFill>
            <a:schemeClr val="bg1">
              <a:lumMod val="6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latin typeface="Century Gothic" panose="020B0502020202020204" pitchFamily="34" charset="0"/>
              </a:rPr>
              <a:t>Activos No Corrientes</a:t>
            </a:r>
          </a:p>
        </p:txBody>
      </p:sp>
      <p:sp>
        <p:nvSpPr>
          <p:cNvPr id="8" name="Rectangle 7"/>
          <p:cNvSpPr/>
          <p:nvPr/>
        </p:nvSpPr>
        <p:spPr>
          <a:xfrm>
            <a:off x="6287991" y="4186684"/>
            <a:ext cx="2512594" cy="1051401"/>
          </a:xfrm>
          <a:prstGeom prst="rect">
            <a:avLst/>
          </a:prstGeom>
          <a:solidFill>
            <a:schemeClr val="tx1">
              <a:lumMod val="50000"/>
              <a:lumOff val="50000"/>
            </a:schemeClr>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latin typeface="Century Gothic" panose="020B0502020202020204" pitchFamily="34" charset="0"/>
              </a:rPr>
              <a:t>Pasivos No Corrientes (LP)</a:t>
            </a:r>
          </a:p>
        </p:txBody>
      </p:sp>
      <p:sp>
        <p:nvSpPr>
          <p:cNvPr id="9" name="Rectangle 6"/>
          <p:cNvSpPr/>
          <p:nvPr/>
        </p:nvSpPr>
        <p:spPr>
          <a:xfrm>
            <a:off x="3773751" y="3340099"/>
            <a:ext cx="2512594" cy="846584"/>
          </a:xfrm>
          <a:prstGeom prst="rect">
            <a:avLst/>
          </a:prstGeom>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latin typeface="Century Gothic" panose="020B0502020202020204" pitchFamily="34" charset="0"/>
              </a:rPr>
              <a:t>Activos Corrientes</a:t>
            </a:r>
          </a:p>
        </p:txBody>
      </p:sp>
      <p:sp>
        <p:nvSpPr>
          <p:cNvPr id="10" name="Rectangle 5"/>
          <p:cNvSpPr/>
          <p:nvPr/>
        </p:nvSpPr>
        <p:spPr>
          <a:xfrm>
            <a:off x="6287991" y="3340099"/>
            <a:ext cx="2510948" cy="846584"/>
          </a:xfrm>
          <a:prstGeom prst="rect">
            <a:avLst/>
          </a:prstGeom>
          <a:solidFill>
            <a:schemeClr val="accent1">
              <a:lumMod val="75000"/>
            </a:schemeClr>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dirty="0">
                <a:latin typeface="Century Gothic" panose="020B0502020202020204" pitchFamily="34" charset="0"/>
              </a:rPr>
              <a:t>Pasivos Corrientes</a:t>
            </a:r>
          </a:p>
        </p:txBody>
      </p:sp>
      <p:sp>
        <p:nvSpPr>
          <p:cNvPr id="11" name="Rectangle 8"/>
          <p:cNvSpPr/>
          <p:nvPr/>
        </p:nvSpPr>
        <p:spPr>
          <a:xfrm>
            <a:off x="6287991" y="5238085"/>
            <a:ext cx="2510948" cy="1065891"/>
          </a:xfrm>
          <a:prstGeom prst="rect">
            <a:avLst/>
          </a:prstGeom>
          <a:solidFill>
            <a:schemeClr val="tx1">
              <a:lumMod val="65000"/>
              <a:lumOff val="3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latin typeface="Century Gothic" panose="020B0502020202020204" pitchFamily="34" charset="0"/>
              </a:rPr>
              <a:t>Patrimonio</a:t>
            </a:r>
          </a:p>
        </p:txBody>
      </p:sp>
      <p:sp>
        <p:nvSpPr>
          <p:cNvPr id="5" name="Rectángulo 4">
            <a:extLst>
              <a:ext uri="{FF2B5EF4-FFF2-40B4-BE49-F238E27FC236}">
                <a16:creationId xmlns:a16="http://schemas.microsoft.com/office/drawing/2014/main" id="{6CC3F870-73B6-8117-5319-281EC1870CA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B6730ED-BD1E-1F72-C13E-93561080F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4FA07A8F-2012-E172-51EC-58A136D7308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537731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4AA8-EBBD-FF08-8B15-1186432557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A8351C-3B63-0981-B983-A181894F9C5D}"/>
              </a:ext>
            </a:extLst>
          </p:cNvPr>
          <p:cNvSpPr>
            <a:spLocks noGrp="1"/>
          </p:cNvSpPr>
          <p:nvPr>
            <p:ph type="title"/>
          </p:nvPr>
        </p:nvSpPr>
        <p:spPr/>
        <p:txBody>
          <a:bodyPr/>
          <a:lstStyle/>
          <a:p>
            <a:r>
              <a:rPr lang="es-ES" dirty="0">
                <a:latin typeface="Century Gothic"/>
              </a:rPr>
              <a:t>Capital de Trabajo (WC)</a:t>
            </a:r>
          </a:p>
        </p:txBody>
      </p:sp>
      <p:sp>
        <p:nvSpPr>
          <p:cNvPr id="4" name="Marcador de número de diapositiva 3">
            <a:extLst>
              <a:ext uri="{FF2B5EF4-FFF2-40B4-BE49-F238E27FC236}">
                <a16:creationId xmlns:a16="http://schemas.microsoft.com/office/drawing/2014/main" id="{FD063579-D215-00CD-1A7C-61A4607B11DE}"/>
              </a:ext>
            </a:extLst>
          </p:cNvPr>
          <p:cNvSpPr>
            <a:spLocks noGrp="1"/>
          </p:cNvSpPr>
          <p:nvPr>
            <p:ph type="sldNum" sz="quarter" idx="12"/>
          </p:nvPr>
        </p:nvSpPr>
        <p:spPr/>
        <p:txBody>
          <a:bodyPr/>
          <a:lstStyle/>
          <a:p>
            <a:fld id="{5E3E23BA-6E79-2442-BA73-D218A5E297C3}" type="slidenum">
              <a:rPr lang="en-US" smtClean="0"/>
              <a:t>19</a:t>
            </a:fld>
            <a:endParaRPr lang="en-US"/>
          </a:p>
        </p:txBody>
      </p:sp>
      <p:graphicFrame>
        <p:nvGraphicFramePr>
          <p:cNvPr id="8" name="Table 4">
            <a:extLst>
              <a:ext uri="{FF2B5EF4-FFF2-40B4-BE49-F238E27FC236}">
                <a16:creationId xmlns:a16="http://schemas.microsoft.com/office/drawing/2014/main" id="{E5C2E2F1-C7F6-05A4-0FCA-CDA2E5934037}"/>
              </a:ext>
            </a:extLst>
          </p:cNvPr>
          <p:cNvGraphicFramePr>
            <a:graphicFrameLocks noGrp="1"/>
          </p:cNvGraphicFramePr>
          <p:nvPr>
            <p:extLst>
              <p:ext uri="{D42A27DB-BD31-4B8C-83A1-F6EECF244321}">
                <p14:modId xmlns:p14="http://schemas.microsoft.com/office/powerpoint/2010/main" val="3692832735"/>
              </p:ext>
            </p:extLst>
          </p:nvPr>
        </p:nvGraphicFramePr>
        <p:xfrm>
          <a:off x="4196966" y="2140034"/>
          <a:ext cx="4416167" cy="2494280"/>
        </p:xfrm>
        <a:graphic>
          <a:graphicData uri="http://schemas.openxmlformats.org/drawingml/2006/table">
            <a:tbl>
              <a:tblPr firstRow="1" bandRow="1">
                <a:tableStyleId>{2D5ABB26-0587-4C30-8999-92F81FD0307C}</a:tableStyleId>
              </a:tblPr>
              <a:tblGrid>
                <a:gridCol w="1323301">
                  <a:extLst>
                    <a:ext uri="{9D8B030D-6E8A-4147-A177-3AD203B41FA5}">
                      <a16:colId xmlns:a16="http://schemas.microsoft.com/office/drawing/2014/main" val="20000"/>
                    </a:ext>
                  </a:extLst>
                </a:gridCol>
                <a:gridCol w="458209">
                  <a:extLst>
                    <a:ext uri="{9D8B030D-6E8A-4147-A177-3AD203B41FA5}">
                      <a16:colId xmlns:a16="http://schemas.microsoft.com/office/drawing/2014/main" val="20001"/>
                    </a:ext>
                  </a:extLst>
                </a:gridCol>
                <a:gridCol w="302296">
                  <a:extLst>
                    <a:ext uri="{9D8B030D-6E8A-4147-A177-3AD203B41FA5}">
                      <a16:colId xmlns:a16="http://schemas.microsoft.com/office/drawing/2014/main" val="20002"/>
                    </a:ext>
                  </a:extLst>
                </a:gridCol>
                <a:gridCol w="1588252">
                  <a:extLst>
                    <a:ext uri="{9D8B030D-6E8A-4147-A177-3AD203B41FA5}">
                      <a16:colId xmlns:a16="http://schemas.microsoft.com/office/drawing/2014/main" val="20003"/>
                    </a:ext>
                  </a:extLst>
                </a:gridCol>
                <a:gridCol w="74410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panose="020B0502020202020204" pitchFamily="34" charset="0"/>
                        </a:rPr>
                        <a:t>ESF (Año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panose="020B0502020202020204" pitchFamily="34" charset="0"/>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panose="020B0502020202020204" pitchFamily="34" charset="0"/>
                        </a:rPr>
                        <a:t>165</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err="1">
                          <a:solidFill>
                            <a:schemeClr val="accent1"/>
                          </a:solidFill>
                          <a:latin typeface="Century Gothic" panose="020B0502020202020204" pitchFamily="34" charset="0"/>
                        </a:rPr>
                        <a:t>CxP</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30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800" noProof="0" dirty="0" err="1">
                          <a:solidFill>
                            <a:schemeClr val="accent1"/>
                          </a:solidFill>
                          <a:latin typeface="Century Gothic" panose="020B0502020202020204" pitchFamily="34" charset="0"/>
                        </a:rPr>
                        <a:t>CxC</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panose="020B0502020202020204" pitchFamily="34" charset="0"/>
                        </a:rPr>
                        <a:t>30</a:t>
                      </a:r>
                    </a:p>
                  </a:txBody>
                  <a:tcPr>
                    <a:lnR w="38100" cap="flat" cmpd="sng" algn="ctr">
                      <a:solidFill>
                        <a:srgbClr val="D7A700"/>
                      </a:solidFill>
                      <a:prstDash val="solid"/>
                      <a:round/>
                      <a:headEnd type="none" w="med" len="med"/>
                      <a:tailEnd type="none" w="med" len="med"/>
                    </a:lnR>
                  </a:tcPr>
                </a:tc>
                <a:tc hMerge="1">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800" noProof="0" dirty="0">
                          <a:solidFill>
                            <a:schemeClr val="accent1"/>
                          </a:solidFill>
                          <a:latin typeface="Century Gothic" panose="020B0502020202020204" pitchFamily="34" charset="0"/>
                        </a:rPr>
                        <a:t>Inventario</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panose="020B0502020202020204" pitchFamily="34" charset="0"/>
                        </a:rPr>
                        <a:t>35</a:t>
                      </a:r>
                    </a:p>
                  </a:txBody>
                  <a:tcPr>
                    <a:lnR w="38100" cap="flat" cmpd="sng" algn="ctr">
                      <a:solidFill>
                        <a:srgbClr val="D7A700"/>
                      </a:solidFill>
                      <a:prstDash val="solid"/>
                      <a:round/>
                      <a:headEnd type="none" w="med" len="med"/>
                      <a:tailEnd type="none" w="med" len="med"/>
                    </a:lnR>
                  </a:tcPr>
                </a:tc>
                <a:tc hMerge="1">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panose="020B0502020202020204" pitchFamily="34" charset="0"/>
                      </a:endParaRPr>
                    </a:p>
                  </a:txBody>
                  <a:tcPr/>
                </a:tc>
                <a:tc>
                  <a:txBody>
                    <a:bodyPr/>
                    <a:lstStyle/>
                    <a:p>
                      <a:pPr algn="ctr"/>
                      <a:endParaRPr lang="es-CO" sz="1800" noProof="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a:solidFill>
                          <a:schemeClr val="accent1"/>
                        </a:solidFill>
                        <a:latin typeface="Century Gothic" panose="020B0502020202020204" pitchFamily="34" charset="0"/>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panose="020B0502020202020204" pitchFamily="34" charset="0"/>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24">
            <a:extLst>
              <a:ext uri="{FF2B5EF4-FFF2-40B4-BE49-F238E27FC236}">
                <a16:creationId xmlns:a16="http://schemas.microsoft.com/office/drawing/2014/main" id="{576323EF-CD65-EF0D-D6E3-12E3F79D2EB3}"/>
              </a:ext>
            </a:extLst>
          </p:cNvPr>
          <p:cNvGraphicFramePr>
            <a:graphicFrameLocks noGrp="1"/>
          </p:cNvGraphicFramePr>
          <p:nvPr>
            <p:extLst>
              <p:ext uri="{D42A27DB-BD31-4B8C-83A1-F6EECF244321}">
                <p14:modId xmlns:p14="http://schemas.microsoft.com/office/powerpoint/2010/main" val="1899148624"/>
              </p:ext>
            </p:extLst>
          </p:nvPr>
        </p:nvGraphicFramePr>
        <p:xfrm>
          <a:off x="8817630" y="2140034"/>
          <a:ext cx="2904519" cy="2225040"/>
        </p:xfrm>
        <a:graphic>
          <a:graphicData uri="http://schemas.openxmlformats.org/drawingml/2006/table">
            <a:tbl>
              <a:tblPr firstRow="1" bandRow="1">
                <a:tableStyleId>{2D5ABB26-0587-4C30-8999-92F81FD0307C}</a:tableStyleId>
              </a:tblPr>
              <a:tblGrid>
                <a:gridCol w="1977870">
                  <a:extLst>
                    <a:ext uri="{9D8B030D-6E8A-4147-A177-3AD203B41FA5}">
                      <a16:colId xmlns:a16="http://schemas.microsoft.com/office/drawing/2014/main" val="20000"/>
                    </a:ext>
                  </a:extLst>
                </a:gridCol>
                <a:gridCol w="926649">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panose="020B0502020202020204" pitchFamily="34" charset="0"/>
                        </a:rPr>
                        <a:t>Estado de Resultados</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panose="020B0502020202020204" pitchFamily="34" charset="0"/>
                        </a:rPr>
                        <a:t>Ingresos</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panose="020B0502020202020204" pitchFamily="34" charset="0"/>
                        </a:rPr>
                        <a:t>Costos</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panose="020B0502020202020204" pitchFamily="34" charset="0"/>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panose="020B0502020202020204" pitchFamily="34" charset="0"/>
                        </a:rPr>
                        <a:t>Tax</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panose="020B0502020202020204" pitchFamily="34" charset="0"/>
                        </a:rPr>
                        <a:t>U. Periodo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a:extLst>
              <a:ext uri="{FF2B5EF4-FFF2-40B4-BE49-F238E27FC236}">
                <a16:creationId xmlns:a16="http://schemas.microsoft.com/office/drawing/2014/main" id="{ECAEA876-8707-7876-B12E-B42747E7BC7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00BD4A9-825C-7164-012A-F2E0035DB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84E718F-35CB-AD94-405B-B03D45E4904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1" name="Table 23">
            <a:extLst>
              <a:ext uri="{FF2B5EF4-FFF2-40B4-BE49-F238E27FC236}">
                <a16:creationId xmlns:a16="http://schemas.microsoft.com/office/drawing/2014/main" id="{36AB3342-12CB-1B21-9D48-38BDBCC0DDBD}"/>
              </a:ext>
            </a:extLst>
          </p:cNvPr>
          <p:cNvGraphicFramePr>
            <a:graphicFrameLocks noGrp="1"/>
          </p:cNvGraphicFramePr>
          <p:nvPr>
            <p:extLst>
              <p:ext uri="{D42A27DB-BD31-4B8C-83A1-F6EECF244321}">
                <p14:modId xmlns:p14="http://schemas.microsoft.com/office/powerpoint/2010/main" val="1073109505"/>
              </p:ext>
            </p:extLst>
          </p:nvPr>
        </p:nvGraphicFramePr>
        <p:xfrm>
          <a:off x="385829" y="2140034"/>
          <a:ext cx="3712037" cy="2494280"/>
        </p:xfrm>
        <a:graphic>
          <a:graphicData uri="http://schemas.openxmlformats.org/drawingml/2006/table">
            <a:tbl>
              <a:tblPr firstRow="1" bandRow="1">
                <a:tableStyleId>{2D5ABB26-0587-4C30-8999-92F81FD0307C}</a:tableStyleId>
              </a:tblPr>
              <a:tblGrid>
                <a:gridCol w="1155361">
                  <a:extLst>
                    <a:ext uri="{9D8B030D-6E8A-4147-A177-3AD203B41FA5}">
                      <a16:colId xmlns:a16="http://schemas.microsoft.com/office/drawing/2014/main" val="20000"/>
                    </a:ext>
                  </a:extLst>
                </a:gridCol>
                <a:gridCol w="342098">
                  <a:extLst>
                    <a:ext uri="{9D8B030D-6E8A-4147-A177-3AD203B41FA5}">
                      <a16:colId xmlns:a16="http://schemas.microsoft.com/office/drawing/2014/main" val="20001"/>
                    </a:ext>
                  </a:extLst>
                </a:gridCol>
                <a:gridCol w="254098">
                  <a:extLst>
                    <a:ext uri="{9D8B030D-6E8A-4147-A177-3AD203B41FA5}">
                      <a16:colId xmlns:a16="http://schemas.microsoft.com/office/drawing/2014/main" val="20002"/>
                    </a:ext>
                  </a:extLst>
                </a:gridCol>
                <a:gridCol w="1335014">
                  <a:extLst>
                    <a:ext uri="{9D8B030D-6E8A-4147-A177-3AD203B41FA5}">
                      <a16:colId xmlns:a16="http://schemas.microsoft.com/office/drawing/2014/main" val="20003"/>
                    </a:ext>
                  </a:extLst>
                </a:gridCol>
                <a:gridCol w="625466">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ESF (Año 0) </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Bancos LP</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CuadroTexto 12">
            <a:extLst>
              <a:ext uri="{FF2B5EF4-FFF2-40B4-BE49-F238E27FC236}">
                <a16:creationId xmlns:a16="http://schemas.microsoft.com/office/drawing/2014/main" id="{DA131AA2-7CCD-CF99-7B59-BDE688138EC2}"/>
              </a:ext>
            </a:extLst>
          </p:cNvPr>
          <p:cNvSpPr txBox="1"/>
          <p:nvPr/>
        </p:nvSpPr>
        <p:spPr>
          <a:xfrm>
            <a:off x="780860" y="5066215"/>
            <a:ext cx="2659698" cy="461665"/>
          </a:xfrm>
          <a:prstGeom prst="rect">
            <a:avLst/>
          </a:prstGeom>
          <a:noFill/>
        </p:spPr>
        <p:txBody>
          <a:bodyPr wrap="square" rtlCol="0">
            <a:spAutoFit/>
          </a:bodyPr>
          <a:lstStyle/>
          <a:p>
            <a:pPr algn="ctr"/>
            <a:r>
              <a:rPr lang="es-CO" sz="2400" dirty="0">
                <a:solidFill>
                  <a:schemeClr val="accent1"/>
                </a:solidFill>
                <a:latin typeface="Century Gothic" panose="020B0502020202020204" pitchFamily="34" charset="0"/>
              </a:rPr>
              <a:t>WK (Año 0) = 0</a:t>
            </a:r>
          </a:p>
        </p:txBody>
      </p:sp>
      <p:sp>
        <p:nvSpPr>
          <p:cNvPr id="14" name="CuadroTexto 13">
            <a:extLst>
              <a:ext uri="{FF2B5EF4-FFF2-40B4-BE49-F238E27FC236}">
                <a16:creationId xmlns:a16="http://schemas.microsoft.com/office/drawing/2014/main" id="{0A5169F8-8234-1BDD-61A3-87446AB81345}"/>
              </a:ext>
            </a:extLst>
          </p:cNvPr>
          <p:cNvSpPr txBox="1"/>
          <p:nvPr/>
        </p:nvSpPr>
        <p:spPr>
          <a:xfrm>
            <a:off x="4097866" y="5058392"/>
            <a:ext cx="4612102" cy="461665"/>
          </a:xfrm>
          <a:prstGeom prst="rect">
            <a:avLst/>
          </a:prstGeom>
          <a:noFill/>
        </p:spPr>
        <p:txBody>
          <a:bodyPr wrap="square" rtlCol="0">
            <a:spAutoFit/>
          </a:bodyPr>
          <a:lstStyle/>
          <a:p>
            <a:pPr algn="ctr"/>
            <a:r>
              <a:rPr lang="es-CO" sz="2400" dirty="0">
                <a:solidFill>
                  <a:schemeClr val="accent1"/>
                </a:solidFill>
                <a:latin typeface="Century Gothic" panose="020B0502020202020204" pitchFamily="34" charset="0"/>
              </a:rPr>
              <a:t>WK (Año 1) = 30 + 35 – 30 = 35</a:t>
            </a:r>
          </a:p>
        </p:txBody>
      </p:sp>
      <p:sp>
        <p:nvSpPr>
          <p:cNvPr id="15" name="CuadroTexto 14">
            <a:extLst>
              <a:ext uri="{FF2B5EF4-FFF2-40B4-BE49-F238E27FC236}">
                <a16:creationId xmlns:a16="http://schemas.microsoft.com/office/drawing/2014/main" id="{D098A97C-E1B3-782D-9B29-DE1AEC069697}"/>
              </a:ext>
            </a:extLst>
          </p:cNvPr>
          <p:cNvSpPr txBox="1"/>
          <p:nvPr/>
        </p:nvSpPr>
        <p:spPr>
          <a:xfrm>
            <a:off x="4097866" y="5859597"/>
            <a:ext cx="3102220" cy="461665"/>
          </a:xfrm>
          <a:prstGeom prst="rect">
            <a:avLst/>
          </a:prstGeom>
          <a:noFill/>
        </p:spPr>
        <p:txBody>
          <a:bodyPr wrap="square" rtlCol="0">
            <a:spAutoFit/>
          </a:bodyPr>
          <a:lstStyle/>
          <a:p>
            <a:pPr algn="ctr"/>
            <a:r>
              <a:rPr lang="es-CO" sz="2400" dirty="0">
                <a:solidFill>
                  <a:schemeClr val="accent1"/>
                </a:solidFill>
                <a:latin typeface="Century Gothic" panose="020B0502020202020204" pitchFamily="34" charset="0"/>
              </a:rPr>
              <a:t>∆ WK = 35 – 0 = 35</a:t>
            </a:r>
          </a:p>
        </p:txBody>
      </p:sp>
    </p:spTree>
    <p:extLst>
      <p:ext uri="{BB962C8B-B14F-4D97-AF65-F5344CB8AC3E}">
        <p14:creationId xmlns:p14="http://schemas.microsoft.com/office/powerpoint/2010/main" val="369046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469664" y="2115734"/>
            <a:ext cx="11141144" cy="1146875"/>
          </a:xfrm>
        </p:spPr>
        <p:txBody>
          <a:bodyPr>
            <a:normAutofit/>
          </a:bodyPr>
          <a:lstStyle/>
          <a:p>
            <a:pPr marL="0" indent="0" algn="just">
              <a:buNone/>
            </a:pPr>
            <a:r>
              <a:rPr lang="es-ES" b="1" dirty="0">
                <a:solidFill>
                  <a:srgbClr val="C00000"/>
                </a:solidFill>
                <a:latin typeface="Century Gothic" panose="020B0502020202020204" pitchFamily="34" charset="0"/>
              </a:rPr>
              <a:t>Ejemplo: </a:t>
            </a:r>
            <a:r>
              <a:rPr lang="es-ES" dirty="0">
                <a:solidFill>
                  <a:schemeClr val="accent1"/>
                </a:solidFill>
                <a:latin typeface="Century Gothic" panose="020B0502020202020204" pitchFamily="34" charset="0"/>
              </a:rPr>
              <a:t>A continuación, se tiene el Estado de Situación Financiera de una compañía de carbón para los años 2013 y 2014. ¿De cuánto es el WK en cada año?</a:t>
            </a:r>
            <a:endParaRPr lang="es-ES" i="1" dirty="0">
              <a:solidFill>
                <a:schemeClr val="accent1"/>
              </a:solidFill>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20</a:t>
            </a:fld>
            <a:endParaRPr lang="en-US"/>
          </a:p>
        </p:txBody>
      </p:sp>
      <p:graphicFrame>
        <p:nvGraphicFramePr>
          <p:cNvPr id="5" name="4 Tabla"/>
          <p:cNvGraphicFramePr>
            <a:graphicFrameLocks noGrp="1"/>
          </p:cNvGraphicFramePr>
          <p:nvPr>
            <p:extLst>
              <p:ext uri="{D42A27DB-BD31-4B8C-83A1-F6EECF244321}">
                <p14:modId xmlns:p14="http://schemas.microsoft.com/office/powerpoint/2010/main" val="535671006"/>
              </p:ext>
            </p:extLst>
          </p:nvPr>
        </p:nvGraphicFramePr>
        <p:xfrm>
          <a:off x="766544" y="3523410"/>
          <a:ext cx="5481598" cy="1956790"/>
        </p:xfrm>
        <a:graphic>
          <a:graphicData uri="http://schemas.openxmlformats.org/drawingml/2006/table">
            <a:tbl>
              <a:tblPr>
                <a:tableStyleId>{5C22544A-7EE6-4342-B048-85BDC9FD1C3A}</a:tableStyleId>
              </a:tblPr>
              <a:tblGrid>
                <a:gridCol w="2428344">
                  <a:extLst>
                    <a:ext uri="{9D8B030D-6E8A-4147-A177-3AD203B41FA5}">
                      <a16:colId xmlns:a16="http://schemas.microsoft.com/office/drawing/2014/main" val="20000"/>
                    </a:ext>
                  </a:extLst>
                </a:gridCol>
                <a:gridCol w="718489">
                  <a:extLst>
                    <a:ext uri="{9D8B030D-6E8A-4147-A177-3AD203B41FA5}">
                      <a16:colId xmlns:a16="http://schemas.microsoft.com/office/drawing/2014/main" val="20001"/>
                    </a:ext>
                  </a:extLst>
                </a:gridCol>
                <a:gridCol w="254498">
                  <a:extLst>
                    <a:ext uri="{9D8B030D-6E8A-4147-A177-3AD203B41FA5}">
                      <a16:colId xmlns:a16="http://schemas.microsoft.com/office/drawing/2014/main" val="20002"/>
                    </a:ext>
                  </a:extLst>
                </a:gridCol>
                <a:gridCol w="1159027">
                  <a:extLst>
                    <a:ext uri="{9D8B030D-6E8A-4147-A177-3AD203B41FA5}">
                      <a16:colId xmlns:a16="http://schemas.microsoft.com/office/drawing/2014/main" val="20003"/>
                    </a:ext>
                  </a:extLst>
                </a:gridCol>
                <a:gridCol w="921240">
                  <a:extLst>
                    <a:ext uri="{9D8B030D-6E8A-4147-A177-3AD203B41FA5}">
                      <a16:colId xmlns:a16="http://schemas.microsoft.com/office/drawing/2014/main" val="20004"/>
                    </a:ext>
                  </a:extLst>
                </a:gridCol>
              </a:tblGrid>
              <a:tr h="293822">
                <a:tc gridSpan="5">
                  <a:txBody>
                    <a:bodyPr/>
                    <a:lstStyle/>
                    <a:p>
                      <a:pPr algn="ctr" fontAlgn="b"/>
                      <a:r>
                        <a:rPr lang="es-CO" sz="1600" b="0" i="0" u="none" strike="noStrike" dirty="0">
                          <a:solidFill>
                            <a:schemeClr val="bg1"/>
                          </a:solidFill>
                          <a:effectLst/>
                          <a:latin typeface="Century Gothic" panose="020B0502020202020204" pitchFamily="34" charset="0"/>
                        </a:rPr>
                        <a:t>31 de diciembre de 2013</a:t>
                      </a:r>
                    </a:p>
                  </a:txBody>
                  <a:tcPr marL="0" marR="0" marT="0" marB="0" anchor="ct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fontAlgn="b"/>
                      <a:endParaRPr lang="es-CO" sz="1200" b="0" i="0" u="none" strike="noStrike" dirty="0">
                        <a:effectLst/>
                        <a:latin typeface="Verdana"/>
                      </a:endParaRPr>
                    </a:p>
                  </a:txBody>
                  <a:tcPr marL="0" marR="0" marT="0" marB="0" anchor="b">
                    <a:lnR w="12700" cap="flat" cmpd="sng" algn="ctr">
                      <a:solidFill>
                        <a:schemeClr val="tx1"/>
                      </a:solidFill>
                      <a:prstDash val="solid"/>
                      <a:round/>
                      <a:headEnd type="none" w="med" len="med"/>
                      <a:tailEnd type="none" w="med" len="med"/>
                    </a:lnR>
                    <a:noFill/>
                  </a:tcPr>
                </a:tc>
                <a:tc hMerge="1">
                  <a:txBody>
                    <a:bodyPr/>
                    <a:lstStyle/>
                    <a:p>
                      <a:pPr algn="l" fontAlgn="b"/>
                      <a:endParaRPr lang="es-CO" sz="1200" b="0" i="0" u="none" strike="noStrike" dirty="0">
                        <a:effectLst/>
                        <a:latin typeface="Verdana"/>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l" fontAlgn="b"/>
                      <a:endParaRPr lang="es-CO" sz="1200" b="0" i="0" u="none" strike="noStrike" dirty="0">
                        <a:effectLst/>
                        <a:latin typeface="Verdana"/>
                      </a:endParaRPr>
                    </a:p>
                  </a:txBody>
                  <a:tcPr marL="0" marR="0" marT="0" marB="0" anchor="b">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s-CO" sz="1200" b="0" i="0" u="none" strike="noStrike" dirty="0">
                        <a:effectLst/>
                        <a:latin typeface="Verdana"/>
                      </a:endParaRPr>
                    </a:p>
                  </a:txBody>
                  <a:tcPr marL="0" marR="0" marT="0" marB="0" anchor="b">
                    <a:lnL w="12700" cmpd="sng">
                      <a:noFill/>
                    </a:lnL>
                    <a:noFill/>
                  </a:tcPr>
                </a:tc>
                <a:extLst>
                  <a:ext uri="{0D108BD9-81ED-4DB2-BD59-A6C34878D82A}">
                    <a16:rowId xmlns:a16="http://schemas.microsoft.com/office/drawing/2014/main" val="10000"/>
                  </a:ext>
                </a:extLst>
              </a:tr>
              <a:tr h="293822">
                <a:tc>
                  <a:txBody>
                    <a:bodyPr/>
                    <a:lstStyle/>
                    <a:p>
                      <a:pPr algn="ctr" fontAlgn="b"/>
                      <a:r>
                        <a:rPr lang="es-CO" sz="1600" b="0" i="0" u="none" strike="noStrike" dirty="0">
                          <a:solidFill>
                            <a:schemeClr val="accent1"/>
                          </a:solidFill>
                          <a:effectLst/>
                          <a:latin typeface="Century Gothic" panose="020B0502020202020204" pitchFamily="34" charset="0"/>
                        </a:rPr>
                        <a:t>Efectivo</a:t>
                      </a:r>
                    </a:p>
                  </a:txBody>
                  <a:tcPr marL="0" marR="0" marT="0" marB="0" anchor="ct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noFill/>
                  </a:tcPr>
                </a:tc>
                <a:tc>
                  <a:txBody>
                    <a:bodyPr/>
                    <a:lstStyle/>
                    <a:p>
                      <a:pPr algn="ctr" fontAlgn="b"/>
                      <a:r>
                        <a:rPr lang="es-CO" sz="1600" b="0" i="0" u="none" strike="noStrike">
                          <a:solidFill>
                            <a:schemeClr val="accent1"/>
                          </a:solidFill>
                          <a:effectLst/>
                          <a:latin typeface="Century Gothic" panose="020B0502020202020204" pitchFamily="34" charset="0"/>
                        </a:rPr>
                        <a:t>20</a:t>
                      </a:r>
                    </a:p>
                  </a:txBody>
                  <a:tcPr marL="0" marR="0" marT="0" marB="0" anchor="ct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D7A700"/>
                      </a:solidFill>
                      <a:prstDash val="solid"/>
                      <a:round/>
                      <a:headEnd type="none" w="med" len="med"/>
                      <a:tailEnd type="none" w="med" len="med"/>
                    </a:lnT>
                    <a:noFill/>
                  </a:tcPr>
                </a:tc>
                <a:tc>
                  <a:txBody>
                    <a:bodyPr/>
                    <a:lstStyle/>
                    <a:p>
                      <a:pPr algn="ctr" fontAlgn="b"/>
                      <a:r>
                        <a:rPr lang="es-CO" sz="1600" u="none" strike="noStrike" dirty="0" err="1">
                          <a:solidFill>
                            <a:schemeClr val="accent1"/>
                          </a:solidFill>
                          <a:effectLst/>
                          <a:latin typeface="Century Gothic" panose="020B0502020202020204" pitchFamily="34" charset="0"/>
                        </a:rPr>
                        <a:t>CxP</a:t>
                      </a:r>
                      <a:endParaRPr lang="es-CO" sz="1600" b="0" i="0" u="none" strike="noStrike" dirty="0">
                        <a:solidFill>
                          <a:schemeClr val="accent1"/>
                        </a:solidFill>
                        <a:effectLst/>
                        <a:latin typeface="Century Gothic" panose="020B0502020202020204" pitchFamily="34" charset="0"/>
                      </a:endParaRPr>
                    </a:p>
                  </a:txBody>
                  <a:tcPr marL="0" marR="0" marT="0" marB="0" anchor="ctr">
                    <a:lnL w="12700" cap="flat" cmpd="sng" algn="ctr">
                      <a:noFill/>
                      <a:prstDash val="solid"/>
                      <a:round/>
                      <a:headEnd type="none" w="med" len="med"/>
                      <a:tailEnd type="none" w="med" len="med"/>
                    </a:lnL>
                    <a:lnR w="12700" cmpd="sng">
                      <a:noFill/>
                    </a:lnR>
                    <a:lnT w="38100" cap="flat" cmpd="sng" algn="ctr">
                      <a:solidFill>
                        <a:srgbClr val="D7A7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25</a:t>
                      </a:r>
                    </a:p>
                  </a:txBody>
                  <a:tcPr marL="0" marR="0" marT="0" marB="0" anchor="ctr">
                    <a:lnL w="12700" cmpd="sng">
                      <a:noFill/>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noFill/>
                  </a:tcPr>
                </a:tc>
                <a:extLst>
                  <a:ext uri="{0D108BD9-81ED-4DB2-BD59-A6C34878D82A}">
                    <a16:rowId xmlns:a16="http://schemas.microsoft.com/office/drawing/2014/main" val="10001"/>
                  </a:ext>
                </a:extLst>
              </a:tr>
              <a:tr h="293822">
                <a:tc>
                  <a:txBody>
                    <a:bodyPr/>
                    <a:lstStyle/>
                    <a:p>
                      <a:pPr algn="ctr" fontAlgn="b"/>
                      <a:r>
                        <a:rPr lang="es-CO" sz="1600" u="none" strike="noStrike" dirty="0" err="1">
                          <a:solidFill>
                            <a:schemeClr val="accent1"/>
                          </a:solidFill>
                          <a:effectLst/>
                          <a:latin typeface="Century Gothic" panose="020B0502020202020204" pitchFamily="34" charset="0"/>
                        </a:rPr>
                        <a:t>CxC</a:t>
                      </a:r>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noFill/>
                  </a:tcPr>
                </a:tc>
                <a:tc>
                  <a:txBody>
                    <a:bodyPr/>
                    <a:lstStyle/>
                    <a:p>
                      <a:pPr algn="ctr" fontAlgn="b"/>
                      <a:r>
                        <a:rPr lang="es-CO" sz="1600" b="0" i="0" u="none" strike="noStrike">
                          <a:solidFill>
                            <a:schemeClr val="accent1"/>
                          </a:solidFill>
                          <a:effectLst/>
                          <a:latin typeface="Century Gothic" panose="020B0502020202020204" pitchFamily="34" charset="0"/>
                        </a:rPr>
                        <a:t>50</a:t>
                      </a:r>
                    </a:p>
                  </a:txBody>
                  <a:tcPr marL="0" marR="0" marT="0" marB="0" anchor="ctr">
                    <a:lnR w="38100" cap="flat" cmpd="sng" algn="ctr">
                      <a:solidFill>
                        <a:srgbClr val="D7A700"/>
                      </a:solid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r>
                        <a:rPr lang="es-CO" sz="1600" u="none" strike="noStrike" dirty="0">
                          <a:solidFill>
                            <a:schemeClr val="accent1"/>
                          </a:solidFill>
                          <a:effectLst/>
                          <a:latin typeface="Century Gothic" panose="020B0502020202020204" pitchFamily="34" charset="0"/>
                        </a:rPr>
                        <a:t>Deuda LP</a:t>
                      </a:r>
                      <a:endParaRPr lang="es-CO" sz="1600" b="0" i="0" u="none" strike="noStrike" dirty="0">
                        <a:solidFill>
                          <a:schemeClr val="accent1"/>
                        </a:solidFill>
                        <a:effectLst/>
                        <a:latin typeface="Century Gothic" panose="020B0502020202020204" pitchFamily="34" charset="0"/>
                      </a:endParaRPr>
                    </a:p>
                  </a:txBody>
                  <a:tcPr marL="0" marR="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50</a:t>
                      </a:r>
                    </a:p>
                  </a:txBody>
                  <a:tcPr marL="0" marR="0" marT="0" marB="0" anchor="ctr">
                    <a:lnL w="12700" cmpd="sng">
                      <a:noFill/>
                    </a:lnL>
                    <a:lnR w="38100" cap="flat" cmpd="sng" algn="ctr">
                      <a:solidFill>
                        <a:srgbClr val="D7A700"/>
                      </a:solidFill>
                      <a:prstDash val="solid"/>
                      <a:round/>
                      <a:headEnd type="none" w="med" len="med"/>
                      <a:tailEnd type="none" w="med" len="med"/>
                    </a:lnR>
                    <a:noFill/>
                  </a:tcPr>
                </a:tc>
                <a:extLst>
                  <a:ext uri="{0D108BD9-81ED-4DB2-BD59-A6C34878D82A}">
                    <a16:rowId xmlns:a16="http://schemas.microsoft.com/office/drawing/2014/main" val="10002"/>
                  </a:ext>
                </a:extLst>
              </a:tr>
              <a:tr h="293822">
                <a:tc>
                  <a:txBody>
                    <a:bodyPr/>
                    <a:lstStyle/>
                    <a:p>
                      <a:pPr algn="ctr" fontAlgn="b"/>
                      <a:r>
                        <a:rPr lang="es-CO" sz="1600" u="none" strike="noStrike" dirty="0">
                          <a:solidFill>
                            <a:schemeClr val="accent1"/>
                          </a:solidFill>
                          <a:effectLst/>
                          <a:latin typeface="Century Gothic" panose="020B0502020202020204" pitchFamily="34" charset="0"/>
                        </a:rPr>
                        <a:t>Inventario Materia Prima</a:t>
                      </a:r>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noFill/>
                  </a:tcPr>
                </a:tc>
                <a:tc>
                  <a:txBody>
                    <a:bodyPr/>
                    <a:lstStyle/>
                    <a:p>
                      <a:pPr algn="ctr" fontAlgn="b"/>
                      <a:r>
                        <a:rPr lang="es-CO" sz="1600" b="0" i="0" u="none" strike="noStrike">
                          <a:solidFill>
                            <a:schemeClr val="accent1"/>
                          </a:solidFill>
                          <a:effectLst/>
                          <a:latin typeface="Century Gothic" panose="020B0502020202020204" pitchFamily="34" charset="0"/>
                        </a:rPr>
                        <a:t>30</a:t>
                      </a:r>
                    </a:p>
                  </a:txBody>
                  <a:tcPr marL="0" marR="0" marT="0" marB="0" anchor="ctr">
                    <a:lnR w="38100" cap="flat" cmpd="sng" algn="ctr">
                      <a:solidFill>
                        <a:srgbClr val="D7A700"/>
                      </a:solid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12700" cmpd="sng">
                      <a:noFill/>
                    </a:lnL>
                    <a:lnR w="38100" cap="flat" cmpd="sng" algn="ctr">
                      <a:solidFill>
                        <a:srgbClr val="D7A700"/>
                      </a:solidFill>
                      <a:prstDash val="solid"/>
                      <a:round/>
                      <a:headEnd type="none" w="med" len="med"/>
                      <a:tailEnd type="none" w="med" len="med"/>
                    </a:lnR>
                    <a:noFill/>
                  </a:tcPr>
                </a:tc>
                <a:extLst>
                  <a:ext uri="{0D108BD9-81ED-4DB2-BD59-A6C34878D82A}">
                    <a16:rowId xmlns:a16="http://schemas.microsoft.com/office/drawing/2014/main" val="10003"/>
                  </a:ext>
                </a:extLst>
              </a:tr>
              <a:tr h="293822">
                <a:tc>
                  <a:txBody>
                    <a:bodyPr/>
                    <a:lstStyle/>
                    <a:p>
                      <a:pPr algn="ctr" fontAlgn="b"/>
                      <a:r>
                        <a:rPr lang="es-CO" sz="1600" u="none" strike="noStrike" dirty="0">
                          <a:solidFill>
                            <a:schemeClr val="accent1"/>
                          </a:solidFill>
                          <a:effectLst/>
                          <a:latin typeface="Century Gothic" panose="020B0502020202020204" pitchFamily="34" charset="0"/>
                        </a:rPr>
                        <a:t>Maquinaria</a:t>
                      </a:r>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noFill/>
                  </a:tcPr>
                </a:tc>
                <a:tc>
                  <a:txBody>
                    <a:bodyPr/>
                    <a:lstStyle/>
                    <a:p>
                      <a:pPr algn="ctr" fontAlgn="b"/>
                      <a:r>
                        <a:rPr lang="es-CO" sz="1600" b="0" i="0" u="none" strike="noStrike" dirty="0">
                          <a:solidFill>
                            <a:schemeClr val="accent1"/>
                          </a:solidFill>
                          <a:effectLst/>
                          <a:latin typeface="Century Gothic" panose="020B0502020202020204" pitchFamily="34" charset="0"/>
                        </a:rPr>
                        <a:t>100</a:t>
                      </a:r>
                    </a:p>
                  </a:txBody>
                  <a:tcPr marL="0" marR="0" marT="0" marB="0" anchor="ctr">
                    <a:lnR w="38100" cap="flat" cmpd="sng" algn="ctr">
                      <a:solidFill>
                        <a:srgbClr val="D7A700"/>
                      </a:solid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r>
                        <a:rPr lang="es-CO" sz="1600" b="0" i="0" u="none" strike="noStrike" dirty="0">
                          <a:solidFill>
                            <a:schemeClr val="accent1"/>
                          </a:solidFill>
                          <a:effectLst/>
                          <a:latin typeface="Century Gothic" panose="020B0502020202020204" pitchFamily="34" charset="0"/>
                        </a:rPr>
                        <a:t>Capital Suscrito</a:t>
                      </a:r>
                    </a:p>
                  </a:txBody>
                  <a:tcPr marL="0" marR="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s-CO" sz="1600" b="0" i="0" u="none" strike="noStrike">
                          <a:solidFill>
                            <a:schemeClr val="accent1"/>
                          </a:solidFill>
                          <a:effectLst/>
                          <a:latin typeface="Century Gothic" panose="020B0502020202020204" pitchFamily="34" charset="0"/>
                        </a:rPr>
                        <a:t>115</a:t>
                      </a:r>
                    </a:p>
                  </a:txBody>
                  <a:tcPr marL="0" marR="0" marT="0" marB="0" anchor="ctr">
                    <a:lnL w="12700" cmpd="sng">
                      <a:noFill/>
                    </a:lnL>
                    <a:lnR w="38100" cap="flat" cmpd="sng" algn="ctr">
                      <a:solidFill>
                        <a:srgbClr val="D7A700"/>
                      </a:solidFill>
                      <a:prstDash val="solid"/>
                      <a:round/>
                      <a:headEnd type="none" w="med" len="med"/>
                      <a:tailEnd type="none" w="med" len="med"/>
                    </a:lnR>
                    <a:noFill/>
                  </a:tcPr>
                </a:tc>
                <a:extLst>
                  <a:ext uri="{0D108BD9-81ED-4DB2-BD59-A6C34878D82A}">
                    <a16:rowId xmlns:a16="http://schemas.microsoft.com/office/drawing/2014/main" val="10004"/>
                  </a:ext>
                </a:extLst>
              </a:tr>
              <a:tr h="293822">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lnB w="38100" cap="flat" cmpd="sng" algn="ctr">
                      <a:solidFill>
                        <a:srgbClr val="D7A700"/>
                      </a:solidFill>
                      <a:prstDash val="solid"/>
                      <a:round/>
                      <a:headEnd type="none" w="med" len="med"/>
                      <a:tailEnd type="none" w="med" len="med"/>
                    </a:lnB>
                    <a:noFill/>
                  </a:tcPr>
                </a:tc>
                <a:tc>
                  <a:txBody>
                    <a:bodyPr/>
                    <a:lstStyle/>
                    <a:p>
                      <a:pPr algn="ctr" fontAlgn="b"/>
                      <a:r>
                        <a:rPr lang="es-CO" sz="1600" b="0" i="0" u="none" strike="noStrike" dirty="0">
                          <a:solidFill>
                            <a:schemeClr val="accent1"/>
                          </a:solidFill>
                          <a:effectLst/>
                          <a:latin typeface="Century Gothic" panose="020B0502020202020204" pitchFamily="34" charset="0"/>
                        </a:rPr>
                        <a:t>Utilidad</a:t>
                      </a:r>
                    </a:p>
                  </a:txBody>
                  <a:tcPr marL="0" marR="0" marT="0" marB="0" anchor="ctr">
                    <a:lnL w="12700" cap="flat" cmpd="sng" algn="ctr">
                      <a:noFill/>
                      <a:prstDash val="solid"/>
                      <a:round/>
                      <a:headEnd type="none" w="med" len="med"/>
                      <a:tailEnd type="none" w="med" len="med"/>
                    </a:lnL>
                    <a:lnR w="12700" cmpd="sng">
                      <a:noFill/>
                    </a:lnR>
                    <a:lnT w="12700" cmpd="sng">
                      <a:noFill/>
                    </a:lnT>
                    <a:lnB w="38100" cap="flat" cmpd="sng" algn="ctr">
                      <a:solidFill>
                        <a:srgbClr val="D7A7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10</a:t>
                      </a:r>
                    </a:p>
                  </a:txBody>
                  <a:tcPr marL="0" marR="0" marT="0" marB="0" anchor="ctr">
                    <a:lnL w="12700" cmpd="sng">
                      <a:noFill/>
                    </a:lnL>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5 Tabla"/>
          <p:cNvGraphicFramePr>
            <a:graphicFrameLocks noGrp="1"/>
          </p:cNvGraphicFramePr>
          <p:nvPr>
            <p:extLst>
              <p:ext uri="{D42A27DB-BD31-4B8C-83A1-F6EECF244321}">
                <p14:modId xmlns:p14="http://schemas.microsoft.com/office/powerpoint/2010/main" val="1759386348"/>
              </p:ext>
            </p:extLst>
          </p:nvPr>
        </p:nvGraphicFramePr>
        <p:xfrm>
          <a:off x="6422242" y="3523410"/>
          <a:ext cx="5003214" cy="1956790"/>
        </p:xfrm>
        <a:graphic>
          <a:graphicData uri="http://schemas.openxmlformats.org/drawingml/2006/table">
            <a:tbl>
              <a:tblPr>
                <a:tableStyleId>{5C22544A-7EE6-4342-B048-85BDC9FD1C3A}</a:tableStyleId>
              </a:tblPr>
              <a:tblGrid>
                <a:gridCol w="2437553">
                  <a:extLst>
                    <a:ext uri="{9D8B030D-6E8A-4147-A177-3AD203B41FA5}">
                      <a16:colId xmlns:a16="http://schemas.microsoft.com/office/drawing/2014/main" val="20000"/>
                    </a:ext>
                  </a:extLst>
                </a:gridCol>
                <a:gridCol w="642551">
                  <a:extLst>
                    <a:ext uri="{9D8B030D-6E8A-4147-A177-3AD203B41FA5}">
                      <a16:colId xmlns:a16="http://schemas.microsoft.com/office/drawing/2014/main" val="20001"/>
                    </a:ext>
                  </a:extLst>
                </a:gridCol>
                <a:gridCol w="58419">
                  <a:extLst>
                    <a:ext uri="{9D8B030D-6E8A-4147-A177-3AD203B41FA5}">
                      <a16:colId xmlns:a16="http://schemas.microsoft.com/office/drawing/2014/main" val="20002"/>
                    </a:ext>
                  </a:extLst>
                </a:gridCol>
                <a:gridCol w="1002487">
                  <a:extLst>
                    <a:ext uri="{9D8B030D-6E8A-4147-A177-3AD203B41FA5}">
                      <a16:colId xmlns:a16="http://schemas.microsoft.com/office/drawing/2014/main" val="20003"/>
                    </a:ext>
                  </a:extLst>
                </a:gridCol>
                <a:gridCol w="862204">
                  <a:extLst>
                    <a:ext uri="{9D8B030D-6E8A-4147-A177-3AD203B41FA5}">
                      <a16:colId xmlns:a16="http://schemas.microsoft.com/office/drawing/2014/main" val="20004"/>
                    </a:ext>
                  </a:extLst>
                </a:gridCol>
              </a:tblGrid>
              <a:tr h="293822">
                <a:tc gridSpan="5">
                  <a:txBody>
                    <a:bodyPr/>
                    <a:lstStyle/>
                    <a:p>
                      <a:pPr algn="ctr" fontAlgn="b"/>
                      <a:r>
                        <a:rPr lang="es-CO" sz="1600" b="0" i="0" u="none" strike="noStrike" dirty="0">
                          <a:solidFill>
                            <a:schemeClr val="bg1"/>
                          </a:solidFill>
                          <a:effectLst/>
                          <a:latin typeface="Century Gothic" panose="020B0502020202020204" pitchFamily="34" charset="0"/>
                        </a:rPr>
                        <a:t>31 de diciembre de 2014</a:t>
                      </a:r>
                    </a:p>
                  </a:txBody>
                  <a:tcPr marL="0" marR="0" marT="0" marB="0" anchor="ct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fontAlgn="b"/>
                      <a:endParaRPr lang="es-CO" sz="1200" b="0" i="0" u="none" strike="noStrike" dirty="0">
                        <a:effectLst/>
                        <a:latin typeface="+mn-lt"/>
                      </a:endParaRPr>
                    </a:p>
                  </a:txBody>
                  <a:tcPr marL="0" marR="0" marT="0" marB="0" anchor="b">
                    <a:lnR w="12700" cap="flat" cmpd="sng" algn="ctr">
                      <a:solidFill>
                        <a:schemeClr val="tx1"/>
                      </a:solidFill>
                      <a:prstDash val="solid"/>
                      <a:round/>
                      <a:headEnd type="none" w="med" len="med"/>
                      <a:tailEnd type="none" w="med" len="med"/>
                    </a:lnR>
                    <a:noFill/>
                  </a:tcPr>
                </a:tc>
                <a:tc hMerge="1">
                  <a:txBody>
                    <a:bodyPr/>
                    <a:lstStyle/>
                    <a:p>
                      <a:pPr algn="l" fontAlgn="b"/>
                      <a:endParaRPr lang="es-CO" sz="1200" b="0" i="0" u="none" strike="noStrike" dirty="0">
                        <a:effectLst/>
                        <a:latin typeface="Verdana"/>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noFill/>
                  </a:tcPr>
                </a:tc>
                <a:tc hMerge="1">
                  <a:txBody>
                    <a:bodyPr/>
                    <a:lstStyle/>
                    <a:p>
                      <a:pPr algn="l" fontAlgn="b"/>
                      <a:endParaRPr lang="es-CO" sz="1200" b="0" i="0" u="none" strike="noStrike" dirty="0">
                        <a:effectLst/>
                        <a:latin typeface="Verdana"/>
                      </a:endParaRPr>
                    </a:p>
                  </a:txBody>
                  <a:tcPr marL="0" marR="0" marT="0" marB="0" anchor="b">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s-CO" sz="1200" b="0" i="0" u="none" strike="noStrike" dirty="0">
                        <a:effectLst/>
                        <a:latin typeface="+mn-lt"/>
                      </a:endParaRPr>
                    </a:p>
                  </a:txBody>
                  <a:tcPr marL="0" marR="0" marT="0" marB="0" anchor="b">
                    <a:lnL w="12700" cmpd="sng">
                      <a:noFill/>
                    </a:lnL>
                    <a:noFill/>
                  </a:tcPr>
                </a:tc>
                <a:extLst>
                  <a:ext uri="{0D108BD9-81ED-4DB2-BD59-A6C34878D82A}">
                    <a16:rowId xmlns:a16="http://schemas.microsoft.com/office/drawing/2014/main" val="10000"/>
                  </a:ext>
                </a:extLst>
              </a:tr>
              <a:tr h="293822">
                <a:tc>
                  <a:txBody>
                    <a:bodyPr/>
                    <a:lstStyle/>
                    <a:p>
                      <a:pPr algn="ctr" fontAlgn="b"/>
                      <a:r>
                        <a:rPr lang="es-CO" sz="1600" b="0" i="0" u="none" strike="noStrike" dirty="0">
                          <a:solidFill>
                            <a:schemeClr val="accent1"/>
                          </a:solidFill>
                          <a:effectLst/>
                          <a:latin typeface="Century Gothic" panose="020B0502020202020204" pitchFamily="34" charset="0"/>
                        </a:rPr>
                        <a:t>Efectivo</a:t>
                      </a:r>
                    </a:p>
                  </a:txBody>
                  <a:tcPr marL="0" marR="0" marT="0" marB="0" anchor="ct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noFill/>
                  </a:tcPr>
                </a:tc>
                <a:tc>
                  <a:txBody>
                    <a:bodyPr/>
                    <a:lstStyle/>
                    <a:p>
                      <a:pPr algn="ctr" fontAlgn="b"/>
                      <a:r>
                        <a:rPr lang="es-CO" sz="1600" b="0" i="0" u="none" strike="noStrike" dirty="0">
                          <a:solidFill>
                            <a:schemeClr val="accent1"/>
                          </a:solidFill>
                          <a:effectLst/>
                          <a:latin typeface="Century Gothic" panose="020B0502020202020204" pitchFamily="34" charset="0"/>
                        </a:rPr>
                        <a:t>20</a:t>
                      </a:r>
                    </a:p>
                  </a:txBody>
                  <a:tcPr marL="0" marR="0" marT="0" marB="0" anchor="ct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D7A700"/>
                      </a:solidFill>
                      <a:prstDash val="solid"/>
                      <a:round/>
                      <a:headEnd type="none" w="med" len="med"/>
                      <a:tailEnd type="none" w="med" len="med"/>
                    </a:lnT>
                    <a:noFill/>
                  </a:tcPr>
                </a:tc>
                <a:tc>
                  <a:txBody>
                    <a:bodyPr/>
                    <a:lstStyle/>
                    <a:p>
                      <a:pPr algn="ctr" fontAlgn="b"/>
                      <a:r>
                        <a:rPr lang="es-CO" sz="1600" u="none" strike="noStrike" dirty="0" err="1">
                          <a:solidFill>
                            <a:schemeClr val="accent1"/>
                          </a:solidFill>
                          <a:effectLst/>
                          <a:latin typeface="Century Gothic" panose="020B0502020202020204" pitchFamily="34" charset="0"/>
                        </a:rPr>
                        <a:t>CxP</a:t>
                      </a:r>
                      <a:endParaRPr lang="es-CO" sz="1600" b="0" i="0" u="none" strike="noStrike" dirty="0">
                        <a:solidFill>
                          <a:schemeClr val="accent1"/>
                        </a:solidFill>
                        <a:effectLst/>
                        <a:latin typeface="Century Gothic" panose="020B0502020202020204" pitchFamily="34" charset="0"/>
                      </a:endParaRPr>
                    </a:p>
                  </a:txBody>
                  <a:tcPr marL="0" marR="0" marT="0" marB="0" anchor="ctr">
                    <a:lnL w="12700" cap="flat" cmpd="sng" algn="ctr">
                      <a:noFill/>
                      <a:prstDash val="solid"/>
                      <a:round/>
                      <a:headEnd type="none" w="med" len="med"/>
                      <a:tailEnd type="none" w="med" len="med"/>
                    </a:lnL>
                    <a:lnR w="12700" cmpd="sng">
                      <a:noFill/>
                    </a:lnR>
                    <a:lnT w="38100" cap="flat" cmpd="sng" algn="ctr">
                      <a:solidFill>
                        <a:srgbClr val="D7A7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0</a:t>
                      </a:r>
                    </a:p>
                  </a:txBody>
                  <a:tcPr marL="0" marR="0" marT="0" marB="0" anchor="ctr">
                    <a:lnL w="12700" cmpd="sng">
                      <a:noFill/>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noFill/>
                  </a:tcPr>
                </a:tc>
                <a:extLst>
                  <a:ext uri="{0D108BD9-81ED-4DB2-BD59-A6C34878D82A}">
                    <a16:rowId xmlns:a16="http://schemas.microsoft.com/office/drawing/2014/main" val="10001"/>
                  </a:ext>
                </a:extLst>
              </a:tr>
              <a:tr h="293822">
                <a:tc>
                  <a:txBody>
                    <a:bodyPr/>
                    <a:lstStyle/>
                    <a:p>
                      <a:pPr algn="ctr" fontAlgn="b"/>
                      <a:r>
                        <a:rPr lang="es-CO" sz="1600" u="none" strike="noStrike" dirty="0" err="1">
                          <a:solidFill>
                            <a:schemeClr val="accent1"/>
                          </a:solidFill>
                          <a:effectLst/>
                          <a:latin typeface="Century Gothic" panose="020B0502020202020204" pitchFamily="34" charset="0"/>
                        </a:rPr>
                        <a:t>CxC</a:t>
                      </a:r>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noFill/>
                  </a:tcPr>
                </a:tc>
                <a:tc>
                  <a:txBody>
                    <a:bodyPr/>
                    <a:lstStyle/>
                    <a:p>
                      <a:pPr algn="ctr" fontAlgn="b"/>
                      <a:r>
                        <a:rPr lang="es-CO" sz="1600" b="0" i="0" u="none" strike="noStrike">
                          <a:solidFill>
                            <a:schemeClr val="accent1"/>
                          </a:solidFill>
                          <a:effectLst/>
                          <a:latin typeface="Century Gothic" panose="020B0502020202020204" pitchFamily="34" charset="0"/>
                        </a:rPr>
                        <a:t>30</a:t>
                      </a:r>
                    </a:p>
                  </a:txBody>
                  <a:tcPr marL="0" marR="0" marT="0" marB="0" anchor="ctr">
                    <a:lnR w="38100" cap="flat" cmpd="sng" algn="ctr">
                      <a:solidFill>
                        <a:srgbClr val="D7A700"/>
                      </a:solid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r>
                        <a:rPr lang="es-CO" sz="1600" u="none" strike="noStrike" dirty="0">
                          <a:solidFill>
                            <a:schemeClr val="accent1"/>
                          </a:solidFill>
                          <a:effectLst/>
                          <a:latin typeface="Century Gothic" panose="020B0502020202020204" pitchFamily="34" charset="0"/>
                        </a:rPr>
                        <a:t>Deuda LP</a:t>
                      </a:r>
                      <a:endParaRPr lang="es-CO" sz="1600" b="0" i="0" u="none" strike="noStrike" dirty="0">
                        <a:solidFill>
                          <a:schemeClr val="accent1"/>
                        </a:solidFill>
                        <a:effectLst/>
                        <a:latin typeface="Century Gothic" panose="020B0502020202020204" pitchFamily="34" charset="0"/>
                      </a:endParaRPr>
                    </a:p>
                  </a:txBody>
                  <a:tcPr marL="0" marR="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50</a:t>
                      </a:r>
                    </a:p>
                  </a:txBody>
                  <a:tcPr marL="0" marR="0" marT="0" marB="0" anchor="ctr">
                    <a:lnL w="12700" cmpd="sng">
                      <a:noFill/>
                    </a:lnL>
                    <a:lnR w="38100" cap="flat" cmpd="sng" algn="ctr">
                      <a:solidFill>
                        <a:srgbClr val="D7A700"/>
                      </a:solidFill>
                      <a:prstDash val="solid"/>
                      <a:round/>
                      <a:headEnd type="none" w="med" len="med"/>
                      <a:tailEnd type="none" w="med" len="med"/>
                    </a:lnR>
                    <a:noFill/>
                  </a:tcPr>
                </a:tc>
                <a:extLst>
                  <a:ext uri="{0D108BD9-81ED-4DB2-BD59-A6C34878D82A}">
                    <a16:rowId xmlns:a16="http://schemas.microsoft.com/office/drawing/2014/main" val="10002"/>
                  </a:ext>
                </a:extLst>
              </a:tr>
              <a:tr h="293822">
                <a:tc>
                  <a:txBody>
                    <a:bodyPr/>
                    <a:lstStyle/>
                    <a:p>
                      <a:pPr algn="ctr" fontAlgn="b"/>
                      <a:r>
                        <a:rPr lang="es-CO" sz="1600" u="none" strike="noStrike" dirty="0">
                          <a:solidFill>
                            <a:schemeClr val="accent1"/>
                          </a:solidFill>
                          <a:effectLst/>
                          <a:latin typeface="Century Gothic" panose="020B0502020202020204" pitchFamily="34" charset="0"/>
                        </a:rPr>
                        <a:t>Inventario Materia Prima</a:t>
                      </a:r>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noFill/>
                  </a:tcPr>
                </a:tc>
                <a:tc>
                  <a:txBody>
                    <a:bodyPr/>
                    <a:lstStyle/>
                    <a:p>
                      <a:pPr algn="ctr" fontAlgn="b"/>
                      <a:r>
                        <a:rPr lang="es-CO" sz="1600" b="0" i="0" u="none" strike="noStrike">
                          <a:solidFill>
                            <a:schemeClr val="accent1"/>
                          </a:solidFill>
                          <a:effectLst/>
                          <a:latin typeface="Century Gothic" panose="020B0502020202020204" pitchFamily="34" charset="0"/>
                        </a:rPr>
                        <a:t>20</a:t>
                      </a:r>
                    </a:p>
                  </a:txBody>
                  <a:tcPr marL="0" marR="0" marT="0" marB="0" anchor="ctr">
                    <a:lnR w="38100" cap="flat" cmpd="sng" algn="ctr">
                      <a:solidFill>
                        <a:srgbClr val="D7A700"/>
                      </a:solid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12700" cmpd="sng">
                      <a:noFill/>
                    </a:lnL>
                    <a:lnR w="38100" cap="flat" cmpd="sng" algn="ctr">
                      <a:solidFill>
                        <a:srgbClr val="D7A700"/>
                      </a:solidFill>
                      <a:prstDash val="solid"/>
                      <a:round/>
                      <a:headEnd type="none" w="med" len="med"/>
                      <a:tailEnd type="none" w="med" len="med"/>
                    </a:lnR>
                    <a:noFill/>
                  </a:tcPr>
                </a:tc>
                <a:extLst>
                  <a:ext uri="{0D108BD9-81ED-4DB2-BD59-A6C34878D82A}">
                    <a16:rowId xmlns:a16="http://schemas.microsoft.com/office/drawing/2014/main" val="10003"/>
                  </a:ext>
                </a:extLst>
              </a:tr>
              <a:tr h="293822">
                <a:tc>
                  <a:txBody>
                    <a:bodyPr/>
                    <a:lstStyle/>
                    <a:p>
                      <a:pPr algn="ctr" fontAlgn="b"/>
                      <a:r>
                        <a:rPr lang="es-CO" sz="1600" u="none" strike="noStrike" dirty="0">
                          <a:solidFill>
                            <a:schemeClr val="accent1"/>
                          </a:solidFill>
                          <a:effectLst/>
                          <a:latin typeface="Century Gothic" panose="020B0502020202020204" pitchFamily="34" charset="0"/>
                        </a:rPr>
                        <a:t>Maquinaria</a:t>
                      </a:r>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noFill/>
                  </a:tcPr>
                </a:tc>
                <a:tc>
                  <a:txBody>
                    <a:bodyPr/>
                    <a:lstStyle/>
                    <a:p>
                      <a:pPr algn="ctr" fontAlgn="b"/>
                      <a:r>
                        <a:rPr lang="es-CO" sz="1600" b="0" i="0" u="none" strike="noStrike" dirty="0">
                          <a:solidFill>
                            <a:schemeClr val="accent1"/>
                          </a:solidFill>
                          <a:effectLst/>
                          <a:latin typeface="Century Gothic" panose="020B0502020202020204" pitchFamily="34" charset="0"/>
                        </a:rPr>
                        <a:t>100</a:t>
                      </a:r>
                    </a:p>
                  </a:txBody>
                  <a:tcPr marL="0" marR="0" marT="0" marB="0" anchor="ctr">
                    <a:lnR w="38100" cap="flat" cmpd="sng" algn="ctr">
                      <a:solidFill>
                        <a:srgbClr val="D7A700"/>
                      </a:solidFill>
                      <a:prstDash val="solid"/>
                      <a:round/>
                      <a:headEnd type="none" w="med" len="med"/>
                      <a:tailEnd type="none" w="med" len="med"/>
                    </a:lnR>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noFill/>
                  </a:tcPr>
                </a:tc>
                <a:tc>
                  <a:txBody>
                    <a:bodyPr/>
                    <a:lstStyle/>
                    <a:p>
                      <a:pPr algn="ctr" fontAlgn="b"/>
                      <a:r>
                        <a:rPr lang="es-CO" sz="1600" b="0" i="0" u="none" strike="noStrike" dirty="0">
                          <a:solidFill>
                            <a:schemeClr val="accent1"/>
                          </a:solidFill>
                          <a:effectLst/>
                          <a:latin typeface="Century Gothic" panose="020B0502020202020204" pitchFamily="34" charset="0"/>
                        </a:rPr>
                        <a:t>Capital Suscrito</a:t>
                      </a:r>
                    </a:p>
                  </a:txBody>
                  <a:tcPr marL="0" marR="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115</a:t>
                      </a:r>
                    </a:p>
                  </a:txBody>
                  <a:tcPr marL="0" marR="0" marT="0" marB="0" anchor="ctr">
                    <a:lnL w="12700" cmpd="sng">
                      <a:noFill/>
                    </a:lnL>
                    <a:lnR w="38100" cap="flat" cmpd="sng" algn="ctr">
                      <a:solidFill>
                        <a:srgbClr val="D7A700"/>
                      </a:solidFill>
                      <a:prstDash val="solid"/>
                      <a:round/>
                      <a:headEnd type="none" w="med" len="med"/>
                      <a:tailEnd type="none" w="med" len="med"/>
                    </a:lnR>
                    <a:noFill/>
                  </a:tcPr>
                </a:tc>
                <a:extLst>
                  <a:ext uri="{0D108BD9-81ED-4DB2-BD59-A6C34878D82A}">
                    <a16:rowId xmlns:a16="http://schemas.microsoft.com/office/drawing/2014/main" val="10004"/>
                  </a:ext>
                </a:extLst>
              </a:tr>
              <a:tr h="293822">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noFill/>
                  </a:tcPr>
                </a:tc>
                <a:tc>
                  <a:txBody>
                    <a:bodyPr/>
                    <a:lstStyle/>
                    <a:p>
                      <a:pPr algn="ctr" fontAlgn="b"/>
                      <a:endParaRPr lang="es-CO" sz="1600" b="0" i="0" u="none" strike="noStrike" dirty="0">
                        <a:solidFill>
                          <a:schemeClr val="accent1"/>
                        </a:solidFill>
                        <a:effectLst/>
                        <a:latin typeface="Century Gothic" panose="020B0502020202020204" pitchFamily="34" charset="0"/>
                      </a:endParaRPr>
                    </a:p>
                  </a:txBody>
                  <a:tcPr marL="0" marR="0" marT="0" marB="0" anchor="ctr">
                    <a:lnL w="38100" cap="flat" cmpd="sng" algn="ctr">
                      <a:solidFill>
                        <a:srgbClr val="D7A700"/>
                      </a:solidFill>
                      <a:prstDash val="solid"/>
                      <a:round/>
                      <a:headEnd type="none" w="med" len="med"/>
                      <a:tailEnd type="none" w="med" len="med"/>
                    </a:lnL>
                    <a:lnR w="12700" cap="flat" cmpd="sng" algn="ctr">
                      <a:noFill/>
                      <a:prstDash val="solid"/>
                      <a:round/>
                      <a:headEnd type="none" w="med" len="med"/>
                      <a:tailEnd type="none" w="med" len="med"/>
                    </a:lnR>
                    <a:lnB w="38100" cap="flat" cmpd="sng" algn="ctr">
                      <a:solidFill>
                        <a:srgbClr val="D7A700"/>
                      </a:solidFill>
                      <a:prstDash val="solid"/>
                      <a:round/>
                      <a:headEnd type="none" w="med" len="med"/>
                      <a:tailEnd type="none" w="med" len="med"/>
                    </a:lnB>
                    <a:noFill/>
                  </a:tcPr>
                </a:tc>
                <a:tc>
                  <a:txBody>
                    <a:bodyPr/>
                    <a:lstStyle/>
                    <a:p>
                      <a:pPr algn="ctr" fontAlgn="b"/>
                      <a:r>
                        <a:rPr lang="es-CO" sz="1600" b="0" i="0" u="none" strike="noStrike" dirty="0">
                          <a:solidFill>
                            <a:schemeClr val="accent1"/>
                          </a:solidFill>
                          <a:effectLst/>
                          <a:latin typeface="Century Gothic" panose="020B0502020202020204" pitchFamily="34" charset="0"/>
                        </a:rPr>
                        <a:t>Utilidad</a:t>
                      </a:r>
                    </a:p>
                  </a:txBody>
                  <a:tcPr marL="0" marR="0" marT="0" marB="0" anchor="ctr">
                    <a:lnL w="12700" cap="flat" cmpd="sng" algn="ctr">
                      <a:noFill/>
                      <a:prstDash val="solid"/>
                      <a:round/>
                      <a:headEnd type="none" w="med" len="med"/>
                      <a:tailEnd type="none" w="med" len="med"/>
                    </a:lnL>
                    <a:lnR w="12700" cmpd="sng">
                      <a:noFill/>
                    </a:lnR>
                    <a:lnT w="12700" cmpd="sng">
                      <a:noFill/>
                    </a:lnT>
                    <a:lnB w="38100" cap="flat" cmpd="sng" algn="ctr">
                      <a:solidFill>
                        <a:srgbClr val="D7A7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CO" sz="1600" b="0" i="0" u="none" strike="noStrike" dirty="0">
                          <a:solidFill>
                            <a:schemeClr val="accent1"/>
                          </a:solidFill>
                          <a:effectLst/>
                          <a:latin typeface="Century Gothic" panose="020B0502020202020204" pitchFamily="34" charset="0"/>
                        </a:rPr>
                        <a:t>5</a:t>
                      </a:r>
                    </a:p>
                  </a:txBody>
                  <a:tcPr marL="0" marR="0" marT="0" marB="0" anchor="ctr">
                    <a:lnL w="12700" cmpd="sng">
                      <a:noFill/>
                    </a:lnL>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8" name="Rectángulo 7">
            <a:extLst>
              <a:ext uri="{FF2B5EF4-FFF2-40B4-BE49-F238E27FC236}">
                <a16:creationId xmlns:a16="http://schemas.microsoft.com/office/drawing/2014/main" id="{42B7DAE5-E131-AACF-2A14-66BEDB37BB9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AE75A15C-B702-46A8-59A6-70E6E3F8E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75E101E-58A4-C5D0-6D4A-178496687EC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3623FAFD-35AA-8EAE-0E0D-5452AA30CC67}"/>
              </a:ext>
            </a:extLst>
          </p:cNvPr>
          <p:cNvSpPr txBox="1"/>
          <p:nvPr/>
        </p:nvSpPr>
        <p:spPr>
          <a:xfrm>
            <a:off x="1669900" y="5644016"/>
            <a:ext cx="3994340" cy="461665"/>
          </a:xfrm>
          <a:prstGeom prst="rect">
            <a:avLst/>
          </a:prstGeom>
          <a:noFill/>
        </p:spPr>
        <p:txBody>
          <a:bodyPr wrap="square" rtlCol="0">
            <a:spAutoFit/>
          </a:bodyPr>
          <a:lstStyle/>
          <a:p>
            <a:pPr algn="ctr"/>
            <a:r>
              <a:rPr lang="es-CO" sz="2400" dirty="0">
                <a:solidFill>
                  <a:schemeClr val="accent1"/>
                </a:solidFill>
                <a:latin typeface="Century Gothic" panose="020B0502020202020204" pitchFamily="34" charset="0"/>
              </a:rPr>
              <a:t>WK (2013) = 80 – 25 = 55</a:t>
            </a:r>
          </a:p>
        </p:txBody>
      </p:sp>
      <p:sp>
        <p:nvSpPr>
          <p:cNvPr id="13" name="CuadroTexto 12">
            <a:extLst>
              <a:ext uri="{FF2B5EF4-FFF2-40B4-BE49-F238E27FC236}">
                <a16:creationId xmlns:a16="http://schemas.microsoft.com/office/drawing/2014/main" id="{38271520-704E-2EE5-6805-80720A4144CA}"/>
              </a:ext>
            </a:extLst>
          </p:cNvPr>
          <p:cNvSpPr txBox="1"/>
          <p:nvPr/>
        </p:nvSpPr>
        <p:spPr>
          <a:xfrm>
            <a:off x="6527762" y="5644015"/>
            <a:ext cx="4612102" cy="461665"/>
          </a:xfrm>
          <a:prstGeom prst="rect">
            <a:avLst/>
          </a:prstGeom>
          <a:noFill/>
        </p:spPr>
        <p:txBody>
          <a:bodyPr wrap="square" rtlCol="0">
            <a:spAutoFit/>
          </a:bodyPr>
          <a:lstStyle/>
          <a:p>
            <a:pPr algn="ctr"/>
            <a:r>
              <a:rPr lang="es-CO" sz="2400" dirty="0">
                <a:solidFill>
                  <a:schemeClr val="accent1"/>
                </a:solidFill>
                <a:latin typeface="Century Gothic" panose="020B0502020202020204" pitchFamily="34" charset="0"/>
              </a:rPr>
              <a:t>WK (2014) = 50 - 0 = 50</a:t>
            </a:r>
          </a:p>
        </p:txBody>
      </p:sp>
    </p:spTree>
    <p:extLst>
      <p:ext uri="{BB962C8B-B14F-4D97-AF65-F5344CB8AC3E}">
        <p14:creationId xmlns:p14="http://schemas.microsoft.com/office/powerpoint/2010/main" val="63442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21</a:t>
            </a:fld>
            <a:endParaRPr lang="en-US"/>
          </a:p>
        </p:txBody>
      </p:sp>
      <p:sp>
        <p:nvSpPr>
          <p:cNvPr id="8" name="Rectángulo 7">
            <a:extLst>
              <a:ext uri="{FF2B5EF4-FFF2-40B4-BE49-F238E27FC236}">
                <a16:creationId xmlns:a16="http://schemas.microsoft.com/office/drawing/2014/main" id="{42B7DAE5-E131-AACF-2A14-66BEDB37BB9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AE75A15C-B702-46A8-59A6-70E6E3F8E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Marcador de contenido 2">
            <a:extLst>
              <a:ext uri="{FF2B5EF4-FFF2-40B4-BE49-F238E27FC236}">
                <a16:creationId xmlns:a16="http://schemas.microsoft.com/office/drawing/2014/main" id="{9E2AE7DA-2DDD-BE6E-B1AA-4AD49CAB5EB8}"/>
              </a:ext>
            </a:extLst>
          </p:cNvPr>
          <p:cNvSpPr>
            <a:spLocks noGrp="1"/>
          </p:cNvSpPr>
          <p:nvPr>
            <p:ph idx="1"/>
          </p:nvPr>
        </p:nvSpPr>
        <p:spPr>
          <a:xfrm>
            <a:off x="878073" y="1975583"/>
            <a:ext cx="10435853" cy="1146875"/>
          </a:xfrm>
        </p:spPr>
        <p:txBody>
          <a:bodyPr>
            <a:normAutofit/>
          </a:bodyPr>
          <a:lstStyle/>
          <a:p>
            <a:pPr marL="0" indent="0" algn="ctr">
              <a:buNone/>
            </a:pPr>
            <a:r>
              <a:rPr lang="es-CO" b="1" dirty="0">
                <a:solidFill>
                  <a:srgbClr val="C00000"/>
                </a:solidFill>
                <a:latin typeface="Century Gothic" panose="020B0502020202020204" pitchFamily="34" charset="0"/>
              </a:rPr>
              <a:t>¿Cuál es la variación en WK? ¿Qué significa una variación positiva? ¿Negativa?</a:t>
            </a:r>
          </a:p>
        </p:txBody>
      </p:sp>
      <p:sp>
        <p:nvSpPr>
          <p:cNvPr id="3" name="Rectángulo 2">
            <a:extLst>
              <a:ext uri="{FF2B5EF4-FFF2-40B4-BE49-F238E27FC236}">
                <a16:creationId xmlns:a16="http://schemas.microsoft.com/office/drawing/2014/main" id="{FD177758-187C-9F8C-891C-84EC100B05A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4" name="Table 24">
            <a:extLst>
              <a:ext uri="{FF2B5EF4-FFF2-40B4-BE49-F238E27FC236}">
                <a16:creationId xmlns:a16="http://schemas.microsoft.com/office/drawing/2014/main" id="{2F6926E2-0854-D062-8E25-636AFB8DE94F}"/>
              </a:ext>
            </a:extLst>
          </p:cNvPr>
          <p:cNvGraphicFramePr>
            <a:graphicFrameLocks noGrp="1"/>
          </p:cNvGraphicFramePr>
          <p:nvPr>
            <p:extLst>
              <p:ext uri="{D42A27DB-BD31-4B8C-83A1-F6EECF244321}">
                <p14:modId xmlns:p14="http://schemas.microsoft.com/office/powerpoint/2010/main" val="993945653"/>
              </p:ext>
            </p:extLst>
          </p:nvPr>
        </p:nvGraphicFramePr>
        <p:xfrm>
          <a:off x="6218364" y="3085302"/>
          <a:ext cx="2904519" cy="3235960"/>
        </p:xfrm>
        <a:graphic>
          <a:graphicData uri="http://schemas.openxmlformats.org/drawingml/2006/table">
            <a:tbl>
              <a:tblPr firstRow="1" bandRow="1">
                <a:tableStyleId>{2D5ABB26-0587-4C30-8999-92F81FD0307C}</a:tableStyleId>
              </a:tblPr>
              <a:tblGrid>
                <a:gridCol w="2121303">
                  <a:extLst>
                    <a:ext uri="{9D8B030D-6E8A-4147-A177-3AD203B41FA5}">
                      <a16:colId xmlns:a16="http://schemas.microsoft.com/office/drawing/2014/main" val="20000"/>
                    </a:ext>
                  </a:extLst>
                </a:gridCol>
                <a:gridCol w="783216">
                  <a:extLst>
                    <a:ext uri="{9D8B030D-6E8A-4147-A177-3AD203B41FA5}">
                      <a16:colId xmlns:a16="http://schemas.microsoft.com/office/drawing/2014/main" val="20001"/>
                    </a:ext>
                  </a:extLst>
                </a:gridCol>
              </a:tblGrid>
              <a:tr h="370840">
                <a:tc gridSpan="2">
                  <a:txBody>
                    <a:bodyPr/>
                    <a:lstStyle/>
                    <a:p>
                      <a:pPr algn="ctr"/>
                      <a:r>
                        <a:rPr lang="es-CO" sz="1800" noProof="0" dirty="0">
                          <a:solidFill>
                            <a:schemeClr val="bg1"/>
                          </a:solidFill>
                          <a:latin typeface="Century Gothic" panose="020B0502020202020204" pitchFamily="34" charset="0"/>
                        </a:rPr>
                        <a:t>FCL (2014)</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panose="020B0502020202020204" pitchFamily="34" charset="0"/>
                        </a:rPr>
                        <a:t>EBIT</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panose="020B0502020202020204" pitchFamily="34" charset="0"/>
                        </a:rPr>
                        <a:t>(+) Depreciación</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800" noProof="0" dirty="0">
                          <a:solidFill>
                            <a:schemeClr val="accent1"/>
                          </a:solidFill>
                          <a:latin typeface="Century Gothic" panose="020B0502020202020204" pitchFamily="34" charset="0"/>
                        </a:rPr>
                        <a:t>EBITDA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panose="020B0502020202020204" pitchFamily="34" charset="0"/>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800" noProof="0" dirty="0">
                          <a:solidFill>
                            <a:schemeClr val="accent1"/>
                          </a:solidFill>
                          <a:latin typeface="Century Gothic" panose="020B0502020202020204" pitchFamily="34" charset="0"/>
                        </a:rPr>
                        <a:t>(-) Var WK</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-5</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3766216279"/>
                  </a:ext>
                </a:extLst>
              </a:tr>
              <a:tr h="370840">
                <a:tc>
                  <a:txBody>
                    <a:bodyPr/>
                    <a:lstStyle/>
                    <a:p>
                      <a:pPr algn="ctr"/>
                      <a:r>
                        <a:rPr lang="es-CO" sz="1800" noProof="0" dirty="0">
                          <a:solidFill>
                            <a:schemeClr val="accent1"/>
                          </a:solidFill>
                          <a:latin typeface="Century Gothic" panose="020B0502020202020204" pitchFamily="34" charset="0"/>
                        </a:rPr>
                        <a:t>(-) CAPEX</a:t>
                      </a:r>
                    </a:p>
                  </a:txBody>
                  <a:tcPr>
                    <a:lnL w="38100" cap="flat" cmpd="sng" algn="ctr">
                      <a:solidFill>
                        <a:srgbClr val="D7A700"/>
                      </a:solidFill>
                      <a:prstDash val="solid"/>
                      <a:round/>
                      <a:headEnd type="none" w="med" len="med"/>
                      <a:tailEnd type="none" w="med" len="med"/>
                    </a:lnL>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3886607043"/>
                  </a:ext>
                </a:extLst>
              </a:tr>
              <a:tr h="370840">
                <a:tc>
                  <a:txBody>
                    <a:bodyPr/>
                    <a:lstStyle/>
                    <a:p>
                      <a:pPr algn="ctr"/>
                      <a:r>
                        <a:rPr lang="es-CO" sz="1800" noProof="0" dirty="0">
                          <a:solidFill>
                            <a:schemeClr val="accent1"/>
                          </a:solidFill>
                          <a:latin typeface="Century Gothic" panose="020B0502020202020204" pitchFamily="34" charset="0"/>
                        </a:rPr>
                        <a:t>(-) Impuesto Operacional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800" noProof="0" dirty="0">
                          <a:solidFill>
                            <a:schemeClr val="accent1"/>
                          </a:solidFill>
                          <a:latin typeface="Century Gothic" panose="020B0502020202020204" pitchFamily="34" charset="0"/>
                        </a:rPr>
                        <a:t>FCL</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a:r>
                        <a:rPr lang="es-CO" sz="1800" noProof="0" dirty="0">
                          <a:solidFill>
                            <a:schemeClr val="accent1"/>
                          </a:solidFill>
                          <a:latin typeface="Century Gothic" panose="020B0502020202020204" pitchFamily="34" charset="0"/>
                        </a:rPr>
                        <a:t>25</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CuadroTexto 14">
            <a:extLst>
              <a:ext uri="{FF2B5EF4-FFF2-40B4-BE49-F238E27FC236}">
                <a16:creationId xmlns:a16="http://schemas.microsoft.com/office/drawing/2014/main" id="{6BF9E15D-6528-9F72-14D3-0ABFB3009964}"/>
              </a:ext>
            </a:extLst>
          </p:cNvPr>
          <p:cNvSpPr txBox="1"/>
          <p:nvPr/>
        </p:nvSpPr>
        <p:spPr>
          <a:xfrm>
            <a:off x="2116666" y="4308465"/>
            <a:ext cx="3102220" cy="461665"/>
          </a:xfrm>
          <a:prstGeom prst="rect">
            <a:avLst/>
          </a:prstGeom>
          <a:noFill/>
        </p:spPr>
        <p:txBody>
          <a:bodyPr wrap="square" rtlCol="0">
            <a:spAutoFit/>
          </a:bodyPr>
          <a:lstStyle/>
          <a:p>
            <a:pPr algn="ctr"/>
            <a:r>
              <a:rPr lang="es-CO" sz="2400" dirty="0">
                <a:solidFill>
                  <a:schemeClr val="accent1"/>
                </a:solidFill>
                <a:latin typeface="Century Gothic" panose="020B0502020202020204" pitchFamily="34" charset="0"/>
              </a:rPr>
              <a:t>∆ WK = 50 – 55 = -5</a:t>
            </a:r>
          </a:p>
        </p:txBody>
      </p:sp>
    </p:spTree>
    <p:extLst>
      <p:ext uri="{BB962C8B-B14F-4D97-AF65-F5344CB8AC3E}">
        <p14:creationId xmlns:p14="http://schemas.microsoft.com/office/powerpoint/2010/main" val="108552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1284240" y="2413458"/>
            <a:ext cx="6724881" cy="3290655"/>
          </a:xfrm>
        </p:spPr>
        <p:txBody>
          <a:bodyPr>
            <a:normAutofit/>
          </a:bodyPr>
          <a:lstStyle/>
          <a:p>
            <a:pPr marL="0" indent="0" algn="ctr">
              <a:buNone/>
            </a:pPr>
            <a:r>
              <a:rPr lang="es-ES" dirty="0">
                <a:solidFill>
                  <a:schemeClr val="accent1"/>
                </a:solidFill>
                <a:latin typeface="Century Gothic" panose="020B0502020202020204" pitchFamily="34" charset="0"/>
              </a:rPr>
              <a:t>En conclusión, para corregir los efectos del principio de causación, se utiliza la variación en WK como mecanismo para identificar como fueron los flujos (ingresos y egresos) de efectivo basándose en los </a:t>
            </a:r>
            <a:r>
              <a:rPr lang="es-ES" b="1" dirty="0">
                <a:solidFill>
                  <a:srgbClr val="C00000"/>
                </a:solidFill>
                <a:latin typeface="Century Gothic" panose="020B0502020202020204" pitchFamily="34" charset="0"/>
              </a:rPr>
              <a:t>activos y pasivos corrientes</a:t>
            </a:r>
            <a:r>
              <a:rPr lang="es-ES" dirty="0">
                <a:solidFill>
                  <a:schemeClr val="accent1"/>
                </a:solidFill>
                <a:latin typeface="Century Gothic" panose="020B0502020202020204" pitchFamily="34" charset="0"/>
              </a:rPr>
              <a:t>.</a:t>
            </a:r>
            <a:endParaRPr lang="es-ES" i="1" dirty="0">
              <a:solidFill>
                <a:schemeClr val="accent1"/>
              </a:solidFill>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22</a:t>
            </a:fld>
            <a:endParaRPr lang="en-US"/>
          </a:p>
        </p:txBody>
      </p:sp>
      <p:sp>
        <p:nvSpPr>
          <p:cNvPr id="6" name="Rectángulo 5">
            <a:extLst>
              <a:ext uri="{FF2B5EF4-FFF2-40B4-BE49-F238E27FC236}">
                <a16:creationId xmlns:a16="http://schemas.microsoft.com/office/drawing/2014/main" id="{302D623C-9D90-9D60-C5F0-A694DBC58BA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DE755AE-CA64-8522-4053-02AE88F2F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8A19D28F-C16B-6DFD-E339-29344CE16531}"/>
              </a:ext>
            </a:extLst>
          </p:cNvPr>
          <p:cNvPicPr>
            <a:picLocks noChangeAspect="1"/>
          </p:cNvPicPr>
          <p:nvPr/>
        </p:nvPicPr>
        <p:blipFill rotWithShape="1">
          <a:blip r:embed="rId3"/>
          <a:srcRect l="4706" t="7225" r="5787" b="11595"/>
          <a:stretch/>
        </p:blipFill>
        <p:spPr>
          <a:xfrm>
            <a:off x="8166549" y="2917829"/>
            <a:ext cx="3216223" cy="2224216"/>
          </a:xfrm>
          <a:prstGeom prst="rect">
            <a:avLst/>
          </a:prstGeom>
        </p:spPr>
      </p:pic>
      <p:sp>
        <p:nvSpPr>
          <p:cNvPr id="5" name="Rectángulo 4">
            <a:extLst>
              <a:ext uri="{FF2B5EF4-FFF2-40B4-BE49-F238E27FC236}">
                <a16:creationId xmlns:a16="http://schemas.microsoft.com/office/drawing/2014/main" id="{B37923FA-697B-DD58-1A88-2F637D00004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229086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23</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Capital de Trabajo en el Estado de la Situación Financiera y en el Estado de Resultados.</a:t>
            </a:r>
            <a:endParaRPr lang="es-ES" sz="1600" dirty="0">
              <a:solidFill>
                <a:schemeClr val="bg2">
                  <a:lumMod val="90000"/>
                </a:schemeClr>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ES" sz="1600" dirty="0">
                <a:solidFill>
                  <a:schemeClr val="bg2">
                    <a:lumMod val="90000"/>
                  </a:schemeClr>
                </a:solidFill>
                <a:latin typeface="Century Gothic"/>
                <a:cs typeface="Arial"/>
              </a:rPr>
              <a:t>Variación de PPE e Intangibles (CAPEX)</a:t>
            </a:r>
            <a:r>
              <a:rPr lang="es-CO" sz="1600" dirty="0">
                <a:solidFill>
                  <a:schemeClr val="bg2">
                    <a:lumMod val="90000"/>
                  </a:schemeClr>
                </a:solidFill>
                <a:latin typeface="Century Gothic"/>
                <a:cs typeface="Arial"/>
              </a:rPr>
              <a:t>.</a:t>
            </a:r>
          </a:p>
          <a:p>
            <a:pPr marL="342900" indent="-342900" algn="just">
              <a:buClr>
                <a:srgbClr val="48BE7A"/>
              </a:buClr>
              <a:buFontTx/>
              <a:buAutoNum type="arabicPeriod"/>
            </a:pP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Impuesto Ocasional.</a:t>
            </a:r>
          </a:p>
          <a:p>
            <a:pPr marL="342900" indent="-342900" algn="just">
              <a:buClr>
                <a:srgbClr val="48BE7A"/>
              </a:buClr>
              <a:buFontTx/>
              <a:buAutoNum type="arabicPeriod"/>
            </a:pP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Valor Terminal. </a:t>
            </a:r>
          </a:p>
          <a:p>
            <a:pPr algn="just">
              <a:buClr>
                <a:srgbClr val="48BE7A"/>
              </a:buClr>
            </a:pPr>
            <a:endParaRPr lang="es-CO" sz="1600" dirty="0">
              <a:solidFill>
                <a:schemeClr val="accent1"/>
              </a:solidFill>
              <a:latin typeface="Century Gothic" panose="020B0502020202020204" pitchFamily="34" charset="0"/>
              <a:cs typeface="Arial"/>
            </a:endParaRPr>
          </a:p>
          <a:p>
            <a:pPr algn="just">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1613D7A-2154-B7C8-0BA3-7A4D6A88B5C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8880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3" name="Marcador de contenido 2"/>
          <p:cNvSpPr>
            <a:spLocks noGrp="1"/>
          </p:cNvSpPr>
          <p:nvPr>
            <p:ph idx="1"/>
          </p:nvPr>
        </p:nvSpPr>
        <p:spPr>
          <a:xfrm>
            <a:off x="444843" y="2595596"/>
            <a:ext cx="11479427" cy="764442"/>
          </a:xfrm>
        </p:spPr>
        <p:txBody>
          <a:bodyPr>
            <a:normAutofit/>
          </a:bodyPr>
          <a:lstStyle/>
          <a:p>
            <a:pPr marL="0" indent="0" algn="ctr">
              <a:buNone/>
            </a:pPr>
            <a:r>
              <a:rPr lang="es-ES" b="1" dirty="0">
                <a:solidFill>
                  <a:srgbClr val="C00000"/>
                </a:solidFill>
                <a:latin typeface="Century Gothic" panose="020B0502020202020204" pitchFamily="34" charset="0"/>
              </a:rPr>
              <a:t>¿Qué pasa si el </a:t>
            </a:r>
            <a:r>
              <a:rPr lang="es-ES" b="1" dirty="0" err="1">
                <a:solidFill>
                  <a:srgbClr val="C00000"/>
                </a:solidFill>
                <a:latin typeface="Century Gothic" panose="020B0502020202020204" pitchFamily="34" charset="0"/>
              </a:rPr>
              <a:t>working</a:t>
            </a:r>
            <a:r>
              <a:rPr lang="es-ES" b="1" dirty="0">
                <a:solidFill>
                  <a:srgbClr val="C00000"/>
                </a:solidFill>
                <a:latin typeface="Century Gothic" panose="020B0502020202020204" pitchFamily="34" charset="0"/>
              </a:rPr>
              <a:t> capital se estima por medio de los periodos (en días) de cobro, pago y rotación de inventario?</a:t>
            </a:r>
          </a:p>
          <a:p>
            <a:pPr lvl="1" algn="just"/>
            <a:endParaRPr lang="es-ES" sz="2000" b="1" dirty="0">
              <a:latin typeface="Century Gothic" panose="020B0502020202020204" pitchFamily="34" charset="0"/>
            </a:endParaRPr>
          </a:p>
          <a:p>
            <a:pPr lvl="1" algn="just"/>
            <a:endParaRPr lang="es-ES" sz="2000" b="1" dirty="0">
              <a:latin typeface="Century Gothic" panose="020B0502020202020204" pitchFamily="34" charset="0"/>
            </a:endParaRPr>
          </a:p>
          <a:p>
            <a:pPr algn="just"/>
            <a:endParaRPr lang="es-ES" sz="2000" b="1" dirty="0">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24</a:t>
            </a:fld>
            <a:endParaRPr lang="en-US"/>
          </a:p>
        </p:txBody>
      </p:sp>
      <p:sp>
        <p:nvSpPr>
          <p:cNvPr id="7" name="Marcador de contenido 2"/>
          <p:cNvSpPr txBox="1">
            <a:spLocks/>
          </p:cNvSpPr>
          <p:nvPr/>
        </p:nvSpPr>
        <p:spPr>
          <a:xfrm>
            <a:off x="899408" y="2720438"/>
            <a:ext cx="10711400" cy="3600824"/>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800" dirty="0">
                <a:solidFill>
                  <a:schemeClr val="accent1"/>
                </a:solidFill>
                <a:latin typeface="Century Gothic" panose="020B0502020202020204" pitchFamily="34" charset="0"/>
              </a:rPr>
              <a:t>El periodo de cobro, en días, es una forma estándar de expresar el capital de trabajo. Por lo general, este define cada cuenta del capital de trabajo (</a:t>
            </a:r>
            <a:r>
              <a:rPr lang="es-ES" sz="1800" dirty="0" err="1">
                <a:solidFill>
                  <a:schemeClr val="accent1"/>
                </a:solidFill>
                <a:latin typeface="Century Gothic" panose="020B0502020202020204" pitchFamily="34" charset="0"/>
              </a:rPr>
              <a:t>CxC</a:t>
            </a:r>
            <a:r>
              <a:rPr lang="es-ES" sz="1800" dirty="0">
                <a:solidFill>
                  <a:schemeClr val="accent1"/>
                </a:solidFill>
                <a:latin typeface="Century Gothic" panose="020B0502020202020204" pitchFamily="34" charset="0"/>
              </a:rPr>
              <a:t>, </a:t>
            </a:r>
            <a:r>
              <a:rPr lang="es-ES" sz="1800" dirty="0" err="1">
                <a:solidFill>
                  <a:schemeClr val="accent1"/>
                </a:solidFill>
                <a:latin typeface="Century Gothic" panose="020B0502020202020204" pitchFamily="34" charset="0"/>
              </a:rPr>
              <a:t>CxP</a:t>
            </a:r>
            <a:r>
              <a:rPr lang="es-ES" sz="1800" dirty="0">
                <a:solidFill>
                  <a:schemeClr val="accent1"/>
                </a:solidFill>
                <a:latin typeface="Century Gothic" panose="020B0502020202020204" pitchFamily="34" charset="0"/>
              </a:rPr>
              <a:t>, Inventarios) </a:t>
            </a:r>
            <a:r>
              <a:rPr lang="es-ES" sz="1800" b="1" dirty="0">
                <a:solidFill>
                  <a:srgbClr val="D7A700"/>
                </a:solidFill>
                <a:latin typeface="Century Gothic" panose="020B0502020202020204" pitchFamily="34" charset="0"/>
              </a:rPr>
              <a:t>como una proporción de las ventas (o los costos de ventas) del año</a:t>
            </a:r>
            <a:r>
              <a:rPr lang="es-ES" sz="1800" dirty="0">
                <a:solidFill>
                  <a:schemeClr val="accent1"/>
                </a:solidFill>
                <a:latin typeface="Century Gothic" panose="020B0502020202020204" pitchFamily="34" charset="0"/>
              </a:rPr>
              <a:t>.</a:t>
            </a:r>
          </a:p>
        </p:txBody>
      </p:sp>
      <p:sp>
        <p:nvSpPr>
          <p:cNvPr id="5" name="Rectángulo 4">
            <a:extLst>
              <a:ext uri="{FF2B5EF4-FFF2-40B4-BE49-F238E27FC236}">
                <a16:creationId xmlns:a16="http://schemas.microsoft.com/office/drawing/2014/main" id="{C24DA20C-C66E-B81A-6AF3-0028633AFF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99A0806-72C5-EC5A-9FBA-0E9A417F0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A057D1E1-1323-B400-026C-82AE0218CFFC}"/>
                  </a:ext>
                </a:extLst>
              </p:cNvPr>
              <p:cNvSpPr txBox="1"/>
              <p:nvPr/>
            </p:nvSpPr>
            <p:spPr>
              <a:xfrm>
                <a:off x="2629462" y="4059955"/>
                <a:ext cx="7889211" cy="576183"/>
              </a:xfrm>
              <a:prstGeom prst="rect">
                <a:avLst/>
              </a:prstGeom>
              <a:noFill/>
            </p:spPr>
            <p:txBody>
              <a:bodyPr wrap="none" lIns="0" tIns="0" rIns="0" bIns="0" rtlCol="0">
                <a:spAutoFit/>
              </a:bodyPr>
              <a:lstStyle/>
              <a:p>
                <a:pPr/>
                <a14:m>
                  <m:oMathPara xmlns:m="http://schemas.openxmlformats.org/officeDocument/2006/math">
                    <m:oMath>
                      <m:r>
                        <m:rPr>
                          <m:sty m:val="p"/>
                        </m:rPr>
                        <a:rPr lang="es-ES" b="0" i="0" smtClean="0">
                          <a:latin typeface="Cambria Math" panose="02040503050406030204" pitchFamily="18" charset="0"/>
                        </a:rPr>
                        <m:t>Periodo</m:t>
                      </m:r>
                      <m:r>
                        <a:rPr lang="es-ES" b="0" i="0" smtClean="0">
                          <a:latin typeface="Cambria Math" panose="02040503050406030204" pitchFamily="18" charset="0"/>
                        </a:rPr>
                        <m:t> </m:t>
                      </m:r>
                      <m:r>
                        <m:rPr>
                          <m:sty m:val="p"/>
                        </m:rPr>
                        <a:rPr lang="es-ES" b="0" i="0" smtClean="0">
                          <a:latin typeface="Cambria Math" panose="02040503050406030204" pitchFamily="18" charset="0"/>
                        </a:rPr>
                        <m:t>de</m:t>
                      </m:r>
                      <m:r>
                        <a:rPr lang="es-ES" b="0" i="0" smtClean="0">
                          <a:latin typeface="Cambria Math" panose="02040503050406030204" pitchFamily="18" charset="0"/>
                        </a:rPr>
                        <m:t> </m:t>
                      </m:r>
                      <m:r>
                        <m:rPr>
                          <m:sty m:val="p"/>
                        </m:rPr>
                        <a:rPr lang="es-ES" b="0" i="0" smtClean="0">
                          <a:latin typeface="Cambria Math" panose="02040503050406030204" pitchFamily="18" charset="0"/>
                        </a:rPr>
                        <m:t>cobro</m:t>
                      </m:r>
                      <m:r>
                        <a:rPr lang="es-ES" b="0" i="0" smtClean="0">
                          <a:latin typeface="Cambria Math" panose="02040503050406030204" pitchFamily="18" charset="0"/>
                        </a:rPr>
                        <m:t> </m:t>
                      </m:r>
                      <m:d>
                        <m:dPr>
                          <m:ctrlPr>
                            <a:rPr lang="es-ES" b="0" i="0" smtClean="0">
                              <a:latin typeface="Cambria Math" panose="02040503050406030204" pitchFamily="18" charset="0"/>
                            </a:rPr>
                          </m:ctrlPr>
                        </m:dPr>
                        <m:e>
                          <m:r>
                            <m:rPr>
                              <m:sty m:val="p"/>
                            </m:rPr>
                            <a:rPr lang="es-ES" b="0" i="0" smtClean="0">
                              <a:latin typeface="Cambria Math" panose="02040503050406030204" pitchFamily="18" charset="0"/>
                            </a:rPr>
                            <m:t>d</m:t>
                          </m:r>
                          <m:r>
                            <a:rPr lang="es-ES" i="0">
                              <a:latin typeface="Cambria Math" panose="02040503050406030204" pitchFamily="18" charset="0"/>
                            </a:rPr>
                            <m:t>í</m:t>
                          </m:r>
                          <m:r>
                            <m:rPr>
                              <m:sty m:val="p"/>
                            </m:rPr>
                            <a:rPr lang="es-ES" b="0" i="0" smtClean="0">
                              <a:latin typeface="Cambria Math" panose="02040503050406030204" pitchFamily="18" charset="0"/>
                            </a:rPr>
                            <m:t>as</m:t>
                          </m:r>
                        </m:e>
                      </m:d>
                      <m:r>
                        <a:rPr lang="es-ES" b="0" i="0" smtClean="0">
                          <a:latin typeface="Cambria Math" panose="02040503050406030204" pitchFamily="18" charset="0"/>
                        </a:rPr>
                        <m:t>=</m:t>
                      </m:r>
                      <m:f>
                        <m:fPr>
                          <m:ctrlPr>
                            <a:rPr lang="es-ES" b="0" i="0" smtClean="0">
                              <a:latin typeface="Cambria Math" panose="02040503050406030204" pitchFamily="18" charset="0"/>
                            </a:rPr>
                          </m:ctrlPr>
                        </m:fPr>
                        <m:num>
                          <m:r>
                            <m:rPr>
                              <m:sty m:val="p"/>
                            </m:rPr>
                            <a:rPr lang="es-ES" b="0" i="0" smtClean="0">
                              <a:latin typeface="Cambria Math" panose="02040503050406030204" pitchFamily="18" charset="0"/>
                            </a:rPr>
                            <m:t>Cuentas</m:t>
                          </m:r>
                          <m:r>
                            <a:rPr lang="es-ES" b="0" i="0" smtClean="0">
                              <a:latin typeface="Cambria Math" panose="02040503050406030204" pitchFamily="18" charset="0"/>
                            </a:rPr>
                            <m:t> </m:t>
                          </m:r>
                          <m:r>
                            <m:rPr>
                              <m:sty m:val="p"/>
                            </m:rPr>
                            <a:rPr lang="es-ES" b="0" i="0" smtClean="0">
                              <a:latin typeface="Cambria Math" panose="02040503050406030204" pitchFamily="18" charset="0"/>
                            </a:rPr>
                            <m:t>por</m:t>
                          </m:r>
                          <m:r>
                            <a:rPr lang="es-ES" b="0" i="0" smtClean="0">
                              <a:latin typeface="Cambria Math" panose="02040503050406030204" pitchFamily="18" charset="0"/>
                            </a:rPr>
                            <m:t> </m:t>
                          </m:r>
                          <m:r>
                            <m:rPr>
                              <m:sty m:val="p"/>
                            </m:rPr>
                            <a:rPr lang="es-ES" b="0" i="0" smtClean="0">
                              <a:latin typeface="Cambria Math" panose="02040503050406030204" pitchFamily="18" charset="0"/>
                            </a:rPr>
                            <m:t>cobrar</m:t>
                          </m:r>
                          <m:r>
                            <a:rPr lang="es-ES" b="0" i="0" smtClean="0">
                              <a:latin typeface="Cambria Math" panose="02040503050406030204" pitchFamily="18" charset="0"/>
                            </a:rPr>
                            <m:t> (</m:t>
                          </m:r>
                          <m:r>
                            <m:rPr>
                              <m:sty m:val="p"/>
                            </m:rPr>
                            <a:rPr lang="es-ES" b="0" i="0" smtClean="0">
                              <a:latin typeface="Cambria Math" panose="02040503050406030204" pitchFamily="18" charset="0"/>
                            </a:rPr>
                            <m:t>CXC</m:t>
                          </m:r>
                          <m:r>
                            <a:rPr lang="es-ES" b="0" i="0" smtClean="0">
                              <a:latin typeface="Cambria Math" panose="02040503050406030204" pitchFamily="18" charset="0"/>
                            </a:rPr>
                            <m:t>)</m:t>
                          </m:r>
                        </m:num>
                        <m:den>
                          <m:r>
                            <m:rPr>
                              <m:sty m:val="p"/>
                            </m:rPr>
                            <a:rPr lang="es-ES" b="0" i="0" smtClean="0">
                              <a:latin typeface="Cambria Math" panose="02040503050406030204" pitchFamily="18" charset="0"/>
                            </a:rPr>
                            <m:t>Ingresos</m:t>
                          </m:r>
                          <m:r>
                            <a:rPr lang="es-ES" b="0" i="0" smtClean="0">
                              <a:latin typeface="Cambria Math" panose="02040503050406030204" pitchFamily="18" charset="0"/>
                            </a:rPr>
                            <m:t> </m:t>
                          </m:r>
                          <m:r>
                            <m:rPr>
                              <m:sty m:val="p"/>
                            </m:rPr>
                            <a:rPr lang="es-ES" b="0" i="0" smtClean="0">
                              <a:latin typeface="Cambria Math" panose="02040503050406030204" pitchFamily="18" charset="0"/>
                            </a:rPr>
                            <m:t>Operacionales</m:t>
                          </m:r>
                        </m:den>
                      </m:f>
                      <m:r>
                        <a:rPr lang="es-ES" b="0" i="0" smtClean="0">
                          <a:latin typeface="Cambria Math" panose="02040503050406030204" pitchFamily="18" charset="0"/>
                          <a:ea typeface="Cambria Math" panose="02040503050406030204" pitchFamily="18" charset="0"/>
                        </a:rPr>
                        <m:t>×</m:t>
                      </m:r>
                      <m:r>
                        <m:rPr>
                          <m:sty m:val="p"/>
                        </m:rPr>
                        <a:rPr lang="es-ES" b="0" i="0" smtClean="0">
                          <a:latin typeface="Cambria Math" panose="02040503050406030204" pitchFamily="18" charset="0"/>
                          <a:ea typeface="Cambria Math" panose="02040503050406030204" pitchFamily="18" charset="0"/>
                        </a:rPr>
                        <m:t>N</m:t>
                      </m:r>
                      <m:r>
                        <a:rPr lang="es-ES" i="0">
                          <a:latin typeface="Cambria Math" panose="02040503050406030204" pitchFamily="18" charset="0"/>
                          <a:ea typeface="Cambria Math" panose="02040503050406030204" pitchFamily="18" charset="0"/>
                        </a:rPr>
                        <m:t>ú</m:t>
                      </m:r>
                      <m:r>
                        <m:rPr>
                          <m:sty m:val="p"/>
                        </m:rPr>
                        <a:rPr lang="es-ES" b="0" i="0" smtClean="0">
                          <a:latin typeface="Cambria Math" panose="02040503050406030204" pitchFamily="18" charset="0"/>
                          <a:ea typeface="Cambria Math" panose="02040503050406030204" pitchFamily="18" charset="0"/>
                        </a:rPr>
                        <m:t>mero</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de</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d</m:t>
                      </m:r>
                      <m:r>
                        <a:rPr lang="es-ES" i="0">
                          <a:latin typeface="Cambria Math" panose="02040503050406030204" pitchFamily="18" charset="0"/>
                          <a:ea typeface="Cambria Math" panose="02040503050406030204" pitchFamily="18" charset="0"/>
                        </a:rPr>
                        <m:t>í</m:t>
                      </m:r>
                      <m:r>
                        <m:rPr>
                          <m:sty m:val="p"/>
                        </m:rPr>
                        <a:rPr lang="es-ES" b="0" i="0" smtClean="0">
                          <a:latin typeface="Cambria Math" panose="02040503050406030204" pitchFamily="18" charset="0"/>
                          <a:ea typeface="Cambria Math" panose="02040503050406030204" pitchFamily="18" charset="0"/>
                        </a:rPr>
                        <m:t>as</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en</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el</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a</m:t>
                      </m:r>
                      <m:r>
                        <a:rPr lang="es-ES" b="0" i="0" smtClean="0">
                          <a:latin typeface="Cambria Math" panose="02040503050406030204" pitchFamily="18" charset="0"/>
                          <a:ea typeface="Cambria Math" panose="02040503050406030204" pitchFamily="18" charset="0"/>
                        </a:rPr>
                        <m:t>ñ</m:t>
                      </m:r>
                      <m:r>
                        <m:rPr>
                          <m:sty m:val="p"/>
                        </m:rPr>
                        <a:rPr lang="es-ES" b="0" i="0" smtClean="0">
                          <a:latin typeface="Cambria Math" panose="02040503050406030204" pitchFamily="18" charset="0"/>
                          <a:ea typeface="Cambria Math" panose="02040503050406030204" pitchFamily="18" charset="0"/>
                        </a:rPr>
                        <m:t>o</m:t>
                      </m:r>
                    </m:oMath>
                  </m:oMathPara>
                </a14:m>
                <a:endParaRPr lang="es-CO" dirty="0"/>
              </a:p>
            </p:txBody>
          </p:sp>
        </mc:Choice>
        <mc:Fallback xmlns="">
          <p:sp>
            <p:nvSpPr>
              <p:cNvPr id="12" name="CuadroTexto 11">
                <a:extLst>
                  <a:ext uri="{FF2B5EF4-FFF2-40B4-BE49-F238E27FC236}">
                    <a16:creationId xmlns:a16="http://schemas.microsoft.com/office/drawing/2014/main" id="{A057D1E1-1323-B400-026C-82AE0218CFFC}"/>
                  </a:ext>
                </a:extLst>
              </p:cNvPr>
              <p:cNvSpPr txBox="1">
                <a:spLocks noRot="1" noChangeAspect="1" noMove="1" noResize="1" noEditPoints="1" noAdjustHandles="1" noChangeArrowheads="1" noChangeShapeType="1" noTextEdit="1"/>
              </p:cNvSpPr>
              <p:nvPr/>
            </p:nvSpPr>
            <p:spPr>
              <a:xfrm>
                <a:off x="2629462" y="4059955"/>
                <a:ext cx="7889211" cy="576183"/>
              </a:xfrm>
              <a:prstGeom prst="rect">
                <a:avLst/>
              </a:prstGeom>
              <a:blipFill>
                <a:blip r:embed="rId4"/>
                <a:stretch>
                  <a:fillRect l="-161" t="-6383" b="-1702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C908697-AECE-C080-0919-85D5B1107692}"/>
                  </a:ext>
                </a:extLst>
              </p:cNvPr>
              <p:cNvSpPr txBox="1"/>
              <p:nvPr/>
            </p:nvSpPr>
            <p:spPr>
              <a:xfrm>
                <a:off x="2713619" y="5022748"/>
                <a:ext cx="7720895" cy="527580"/>
              </a:xfrm>
              <a:prstGeom prst="rect">
                <a:avLst/>
              </a:prstGeom>
              <a:noFill/>
            </p:spPr>
            <p:txBody>
              <a:bodyPr wrap="none" lIns="0" tIns="0" rIns="0" bIns="0" rtlCol="0">
                <a:spAutoFit/>
              </a:bodyPr>
              <a:lstStyle/>
              <a:p>
                <a:pPr/>
                <a14:m>
                  <m:oMathPara xmlns:m="http://schemas.openxmlformats.org/officeDocument/2006/math">
                    <m:oMath>
                      <m:r>
                        <m:rPr>
                          <m:sty m:val="p"/>
                        </m:rPr>
                        <a:rPr lang="es-ES" b="0" i="0" smtClean="0">
                          <a:latin typeface="Cambria Math" panose="02040503050406030204" pitchFamily="18" charset="0"/>
                        </a:rPr>
                        <m:t>Periodo</m:t>
                      </m:r>
                      <m:r>
                        <a:rPr lang="es-ES" b="0" i="0" smtClean="0">
                          <a:latin typeface="Cambria Math" panose="02040503050406030204" pitchFamily="18" charset="0"/>
                        </a:rPr>
                        <m:t> </m:t>
                      </m:r>
                      <m:r>
                        <m:rPr>
                          <m:sty m:val="p"/>
                        </m:rPr>
                        <a:rPr lang="es-ES" b="0" i="0" smtClean="0">
                          <a:latin typeface="Cambria Math" panose="02040503050406030204" pitchFamily="18" charset="0"/>
                        </a:rPr>
                        <m:t>de</m:t>
                      </m:r>
                      <m:r>
                        <a:rPr lang="es-ES" b="0" i="0" smtClean="0">
                          <a:latin typeface="Cambria Math" panose="02040503050406030204" pitchFamily="18" charset="0"/>
                        </a:rPr>
                        <m:t> </m:t>
                      </m:r>
                      <m:r>
                        <m:rPr>
                          <m:sty m:val="p"/>
                        </m:rPr>
                        <a:rPr lang="es-ES" b="0" i="0" smtClean="0">
                          <a:latin typeface="Cambria Math" panose="02040503050406030204" pitchFamily="18" charset="0"/>
                        </a:rPr>
                        <m:t>pago</m:t>
                      </m:r>
                      <m:r>
                        <a:rPr lang="es-ES" b="0" i="0" smtClean="0">
                          <a:latin typeface="Cambria Math" panose="02040503050406030204" pitchFamily="18" charset="0"/>
                        </a:rPr>
                        <m:t> </m:t>
                      </m:r>
                      <m:d>
                        <m:dPr>
                          <m:ctrlPr>
                            <a:rPr lang="es-ES" b="0" i="0" smtClean="0">
                              <a:latin typeface="Cambria Math" panose="02040503050406030204" pitchFamily="18" charset="0"/>
                            </a:rPr>
                          </m:ctrlPr>
                        </m:dPr>
                        <m:e>
                          <m:r>
                            <m:rPr>
                              <m:sty m:val="p"/>
                            </m:rPr>
                            <a:rPr lang="es-ES" b="0" i="0" smtClean="0">
                              <a:latin typeface="Cambria Math" panose="02040503050406030204" pitchFamily="18" charset="0"/>
                            </a:rPr>
                            <m:t>d</m:t>
                          </m:r>
                          <m:r>
                            <a:rPr lang="es-ES" i="0">
                              <a:latin typeface="Cambria Math" panose="02040503050406030204" pitchFamily="18" charset="0"/>
                            </a:rPr>
                            <m:t>í</m:t>
                          </m:r>
                          <m:r>
                            <m:rPr>
                              <m:sty m:val="p"/>
                            </m:rPr>
                            <a:rPr lang="es-ES" b="0" i="0" smtClean="0">
                              <a:latin typeface="Cambria Math" panose="02040503050406030204" pitchFamily="18" charset="0"/>
                            </a:rPr>
                            <m:t>as</m:t>
                          </m:r>
                        </m:e>
                      </m:d>
                      <m:r>
                        <a:rPr lang="es-ES" b="0" i="0" smtClean="0">
                          <a:latin typeface="Cambria Math" panose="02040503050406030204" pitchFamily="18" charset="0"/>
                        </a:rPr>
                        <m:t>=</m:t>
                      </m:r>
                      <m:f>
                        <m:fPr>
                          <m:ctrlPr>
                            <a:rPr lang="es-ES" b="0" i="0" smtClean="0">
                              <a:latin typeface="Cambria Math" panose="02040503050406030204" pitchFamily="18" charset="0"/>
                            </a:rPr>
                          </m:ctrlPr>
                        </m:fPr>
                        <m:num>
                          <m:r>
                            <m:rPr>
                              <m:sty m:val="p"/>
                            </m:rPr>
                            <a:rPr lang="es-ES" b="0" i="0" smtClean="0">
                              <a:latin typeface="Cambria Math" panose="02040503050406030204" pitchFamily="18" charset="0"/>
                            </a:rPr>
                            <m:t>Cuentas</m:t>
                          </m:r>
                          <m:r>
                            <a:rPr lang="es-ES" b="0" i="0" smtClean="0">
                              <a:latin typeface="Cambria Math" panose="02040503050406030204" pitchFamily="18" charset="0"/>
                            </a:rPr>
                            <m:t> </m:t>
                          </m:r>
                          <m:r>
                            <m:rPr>
                              <m:sty m:val="p"/>
                            </m:rPr>
                            <a:rPr lang="es-ES" b="0" i="0" smtClean="0">
                              <a:latin typeface="Cambria Math" panose="02040503050406030204" pitchFamily="18" charset="0"/>
                            </a:rPr>
                            <m:t>por</m:t>
                          </m:r>
                          <m:r>
                            <a:rPr lang="es-ES" b="0" i="0" smtClean="0">
                              <a:latin typeface="Cambria Math" panose="02040503050406030204" pitchFamily="18" charset="0"/>
                            </a:rPr>
                            <m:t> </m:t>
                          </m:r>
                          <m:r>
                            <m:rPr>
                              <m:sty m:val="p"/>
                            </m:rPr>
                            <a:rPr lang="es-ES" b="0" i="0" smtClean="0">
                              <a:latin typeface="Cambria Math" panose="02040503050406030204" pitchFamily="18" charset="0"/>
                            </a:rPr>
                            <m:t>pagar</m:t>
                          </m:r>
                          <m:r>
                            <a:rPr lang="es-ES" b="0" i="0" smtClean="0">
                              <a:latin typeface="Cambria Math" panose="02040503050406030204" pitchFamily="18" charset="0"/>
                            </a:rPr>
                            <m:t> (</m:t>
                          </m:r>
                          <m:r>
                            <m:rPr>
                              <m:sty m:val="p"/>
                            </m:rPr>
                            <a:rPr lang="es-ES" b="0" i="0" smtClean="0">
                              <a:latin typeface="Cambria Math" panose="02040503050406030204" pitchFamily="18" charset="0"/>
                            </a:rPr>
                            <m:t>CXP</m:t>
                          </m:r>
                          <m:r>
                            <a:rPr lang="es-ES" b="0" i="0" smtClean="0">
                              <a:latin typeface="Cambria Math" panose="02040503050406030204" pitchFamily="18" charset="0"/>
                            </a:rPr>
                            <m:t>)</m:t>
                          </m:r>
                        </m:num>
                        <m:den>
                          <m:r>
                            <m:rPr>
                              <m:sty m:val="p"/>
                            </m:rPr>
                            <a:rPr lang="es-ES" b="0" i="0" smtClean="0">
                              <a:latin typeface="Cambria Math" panose="02040503050406030204" pitchFamily="18" charset="0"/>
                            </a:rPr>
                            <m:t>Costos</m:t>
                          </m:r>
                          <m:r>
                            <a:rPr lang="es-ES" b="0" i="0" smtClean="0">
                              <a:latin typeface="Cambria Math" panose="02040503050406030204" pitchFamily="18" charset="0"/>
                            </a:rPr>
                            <m:t> </m:t>
                          </m:r>
                          <m:r>
                            <m:rPr>
                              <m:sty m:val="p"/>
                            </m:rPr>
                            <a:rPr lang="es-ES" b="0" i="0" smtClean="0">
                              <a:latin typeface="Cambria Math" panose="02040503050406030204" pitchFamily="18" charset="0"/>
                            </a:rPr>
                            <m:t>de</m:t>
                          </m:r>
                          <m:r>
                            <a:rPr lang="es-ES" b="0" i="0" smtClean="0">
                              <a:latin typeface="Cambria Math" panose="02040503050406030204" pitchFamily="18" charset="0"/>
                            </a:rPr>
                            <m:t> </m:t>
                          </m:r>
                          <m:r>
                            <m:rPr>
                              <m:sty m:val="p"/>
                            </m:rPr>
                            <a:rPr lang="es-ES" b="0" i="0" smtClean="0">
                              <a:latin typeface="Cambria Math" panose="02040503050406030204" pitchFamily="18" charset="0"/>
                            </a:rPr>
                            <m:t>Venta</m:t>
                          </m:r>
                        </m:den>
                      </m:f>
                      <m:r>
                        <a:rPr lang="es-ES" b="0" i="0" smtClean="0">
                          <a:latin typeface="Cambria Math" panose="02040503050406030204" pitchFamily="18" charset="0"/>
                          <a:ea typeface="Cambria Math" panose="02040503050406030204" pitchFamily="18" charset="0"/>
                        </a:rPr>
                        <m:t>×</m:t>
                      </m:r>
                      <m:r>
                        <m:rPr>
                          <m:sty m:val="p"/>
                        </m:rPr>
                        <a:rPr lang="es-ES" b="0" i="0" smtClean="0">
                          <a:latin typeface="Cambria Math" panose="02040503050406030204" pitchFamily="18" charset="0"/>
                          <a:ea typeface="Cambria Math" panose="02040503050406030204" pitchFamily="18" charset="0"/>
                        </a:rPr>
                        <m:t>N</m:t>
                      </m:r>
                      <m:r>
                        <a:rPr lang="es-ES" i="0">
                          <a:latin typeface="Cambria Math" panose="02040503050406030204" pitchFamily="18" charset="0"/>
                          <a:ea typeface="Cambria Math" panose="02040503050406030204" pitchFamily="18" charset="0"/>
                        </a:rPr>
                        <m:t>ú</m:t>
                      </m:r>
                      <m:r>
                        <m:rPr>
                          <m:sty m:val="p"/>
                        </m:rPr>
                        <a:rPr lang="es-ES" b="0" i="0" smtClean="0">
                          <a:latin typeface="Cambria Math" panose="02040503050406030204" pitchFamily="18" charset="0"/>
                          <a:ea typeface="Cambria Math" panose="02040503050406030204" pitchFamily="18" charset="0"/>
                        </a:rPr>
                        <m:t>mero</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de</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d</m:t>
                      </m:r>
                      <m:r>
                        <a:rPr lang="es-ES" i="0">
                          <a:latin typeface="Cambria Math" panose="02040503050406030204" pitchFamily="18" charset="0"/>
                          <a:ea typeface="Cambria Math" panose="02040503050406030204" pitchFamily="18" charset="0"/>
                        </a:rPr>
                        <m:t>í</m:t>
                      </m:r>
                      <m:r>
                        <m:rPr>
                          <m:sty m:val="p"/>
                        </m:rPr>
                        <a:rPr lang="es-ES" b="0" i="0" smtClean="0">
                          <a:latin typeface="Cambria Math" panose="02040503050406030204" pitchFamily="18" charset="0"/>
                          <a:ea typeface="Cambria Math" panose="02040503050406030204" pitchFamily="18" charset="0"/>
                        </a:rPr>
                        <m:t>as</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en</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el</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a</m:t>
                      </m:r>
                      <m:r>
                        <a:rPr lang="es-ES" b="0" i="0" smtClean="0">
                          <a:latin typeface="Cambria Math" panose="02040503050406030204" pitchFamily="18" charset="0"/>
                          <a:ea typeface="Cambria Math" panose="02040503050406030204" pitchFamily="18" charset="0"/>
                        </a:rPr>
                        <m:t>ñ</m:t>
                      </m:r>
                      <m:r>
                        <m:rPr>
                          <m:sty m:val="p"/>
                        </m:rPr>
                        <a:rPr lang="es-ES" b="0" i="0" smtClean="0">
                          <a:latin typeface="Cambria Math" panose="02040503050406030204" pitchFamily="18" charset="0"/>
                          <a:ea typeface="Cambria Math" panose="02040503050406030204" pitchFamily="18" charset="0"/>
                        </a:rPr>
                        <m:t>o</m:t>
                      </m:r>
                    </m:oMath>
                  </m:oMathPara>
                </a14:m>
                <a:endParaRPr lang="es-CO" dirty="0"/>
              </a:p>
            </p:txBody>
          </p:sp>
        </mc:Choice>
        <mc:Fallback xmlns="">
          <p:sp>
            <p:nvSpPr>
              <p:cNvPr id="14" name="CuadroTexto 13">
                <a:extLst>
                  <a:ext uri="{FF2B5EF4-FFF2-40B4-BE49-F238E27FC236}">
                    <a16:creationId xmlns:a16="http://schemas.microsoft.com/office/drawing/2014/main" id="{AC908697-AECE-C080-0919-85D5B1107692}"/>
                  </a:ext>
                </a:extLst>
              </p:cNvPr>
              <p:cNvSpPr txBox="1">
                <a:spLocks noRot="1" noChangeAspect="1" noMove="1" noResize="1" noEditPoints="1" noAdjustHandles="1" noChangeArrowheads="1" noChangeShapeType="1" noTextEdit="1"/>
              </p:cNvSpPr>
              <p:nvPr/>
            </p:nvSpPr>
            <p:spPr>
              <a:xfrm>
                <a:off x="2713619" y="5022748"/>
                <a:ext cx="7720895" cy="527580"/>
              </a:xfrm>
              <a:prstGeom prst="rect">
                <a:avLst/>
              </a:prstGeom>
              <a:blipFill>
                <a:blip r:embed="rId5"/>
                <a:stretch>
                  <a:fillRect l="-164" t="-7143" r="-164" b="-309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61A71D4-E854-C27B-BC65-F1C2E659FCD1}"/>
                  </a:ext>
                </a:extLst>
              </p:cNvPr>
              <p:cNvSpPr txBox="1"/>
              <p:nvPr/>
            </p:nvSpPr>
            <p:spPr>
              <a:xfrm>
                <a:off x="2873397" y="5936938"/>
                <a:ext cx="7371441" cy="518604"/>
              </a:xfrm>
              <a:prstGeom prst="rect">
                <a:avLst/>
              </a:prstGeom>
              <a:noFill/>
            </p:spPr>
            <p:txBody>
              <a:bodyPr wrap="none" lIns="0" tIns="0" rIns="0" bIns="0" rtlCol="0">
                <a:spAutoFit/>
              </a:bodyPr>
              <a:lstStyle/>
              <a:p>
                <a:pPr/>
                <a14:m>
                  <m:oMathPara xmlns:m="http://schemas.openxmlformats.org/officeDocument/2006/math">
                    <m:oMath>
                      <m:r>
                        <m:rPr>
                          <m:sty m:val="p"/>
                        </m:rPr>
                        <a:rPr lang="es-ES" b="0" i="0" smtClean="0">
                          <a:latin typeface="Cambria Math" panose="02040503050406030204" pitchFamily="18" charset="0"/>
                        </a:rPr>
                        <m:t>Periodo</m:t>
                      </m:r>
                      <m:r>
                        <a:rPr lang="es-ES" b="0" i="0" smtClean="0">
                          <a:latin typeface="Cambria Math" panose="02040503050406030204" pitchFamily="18" charset="0"/>
                        </a:rPr>
                        <m:t> </m:t>
                      </m:r>
                      <m:r>
                        <m:rPr>
                          <m:sty m:val="p"/>
                        </m:rPr>
                        <a:rPr lang="es-ES" b="0" i="0" smtClean="0">
                          <a:latin typeface="Cambria Math" panose="02040503050406030204" pitchFamily="18" charset="0"/>
                        </a:rPr>
                        <m:t>de</m:t>
                      </m:r>
                      <m:r>
                        <a:rPr lang="es-ES" b="0" i="0" smtClean="0">
                          <a:latin typeface="Cambria Math" panose="02040503050406030204" pitchFamily="18" charset="0"/>
                        </a:rPr>
                        <m:t> </m:t>
                      </m:r>
                      <m:r>
                        <m:rPr>
                          <m:sty m:val="p"/>
                        </m:rPr>
                        <a:rPr lang="es-ES" b="0" i="0" smtClean="0">
                          <a:latin typeface="Cambria Math" panose="02040503050406030204" pitchFamily="18" charset="0"/>
                        </a:rPr>
                        <m:t>inventario</m:t>
                      </m:r>
                      <m:r>
                        <a:rPr lang="es-ES" b="0" i="0" smtClean="0">
                          <a:latin typeface="Cambria Math" panose="02040503050406030204" pitchFamily="18" charset="0"/>
                        </a:rPr>
                        <m:t> </m:t>
                      </m:r>
                      <m:d>
                        <m:dPr>
                          <m:ctrlPr>
                            <a:rPr lang="es-ES" b="0" i="0" smtClean="0">
                              <a:latin typeface="Cambria Math" panose="02040503050406030204" pitchFamily="18" charset="0"/>
                            </a:rPr>
                          </m:ctrlPr>
                        </m:dPr>
                        <m:e>
                          <m:r>
                            <m:rPr>
                              <m:sty m:val="p"/>
                            </m:rPr>
                            <a:rPr lang="es-ES" b="0" i="0" smtClean="0">
                              <a:latin typeface="Cambria Math" panose="02040503050406030204" pitchFamily="18" charset="0"/>
                            </a:rPr>
                            <m:t>d</m:t>
                          </m:r>
                          <m:r>
                            <a:rPr lang="es-ES" i="0">
                              <a:latin typeface="Cambria Math" panose="02040503050406030204" pitchFamily="18" charset="0"/>
                            </a:rPr>
                            <m:t>í</m:t>
                          </m:r>
                          <m:r>
                            <m:rPr>
                              <m:sty m:val="p"/>
                            </m:rPr>
                            <a:rPr lang="es-ES" b="0" i="0" smtClean="0">
                              <a:latin typeface="Cambria Math" panose="02040503050406030204" pitchFamily="18" charset="0"/>
                            </a:rPr>
                            <m:t>as</m:t>
                          </m:r>
                        </m:e>
                      </m:d>
                      <m:r>
                        <a:rPr lang="es-ES" b="0" i="0" smtClean="0">
                          <a:latin typeface="Cambria Math" panose="02040503050406030204" pitchFamily="18" charset="0"/>
                        </a:rPr>
                        <m:t>=</m:t>
                      </m:r>
                      <m:f>
                        <m:fPr>
                          <m:ctrlPr>
                            <a:rPr lang="es-ES" b="0" i="0" smtClean="0">
                              <a:latin typeface="Cambria Math" panose="02040503050406030204" pitchFamily="18" charset="0"/>
                            </a:rPr>
                          </m:ctrlPr>
                        </m:fPr>
                        <m:num>
                          <m:r>
                            <m:rPr>
                              <m:sty m:val="p"/>
                            </m:rPr>
                            <a:rPr lang="es-ES" b="0" i="0" smtClean="0">
                              <a:latin typeface="Cambria Math" panose="02040503050406030204" pitchFamily="18" charset="0"/>
                            </a:rPr>
                            <m:t>Inventarios</m:t>
                          </m:r>
                        </m:num>
                        <m:den>
                          <m:r>
                            <m:rPr>
                              <m:sty m:val="p"/>
                            </m:rPr>
                            <a:rPr lang="es-ES" b="0" i="0" smtClean="0">
                              <a:latin typeface="Cambria Math" panose="02040503050406030204" pitchFamily="18" charset="0"/>
                            </a:rPr>
                            <m:t>Costos</m:t>
                          </m:r>
                          <m:r>
                            <a:rPr lang="es-ES" b="0" i="0" smtClean="0">
                              <a:latin typeface="Cambria Math" panose="02040503050406030204" pitchFamily="18" charset="0"/>
                            </a:rPr>
                            <m:t> </m:t>
                          </m:r>
                          <m:r>
                            <m:rPr>
                              <m:sty m:val="p"/>
                            </m:rPr>
                            <a:rPr lang="es-ES" b="0" i="0" smtClean="0">
                              <a:latin typeface="Cambria Math" panose="02040503050406030204" pitchFamily="18" charset="0"/>
                            </a:rPr>
                            <m:t>de</m:t>
                          </m:r>
                          <m:r>
                            <a:rPr lang="es-ES" b="0" i="0" smtClean="0">
                              <a:latin typeface="Cambria Math" panose="02040503050406030204" pitchFamily="18" charset="0"/>
                            </a:rPr>
                            <m:t> </m:t>
                          </m:r>
                          <m:r>
                            <m:rPr>
                              <m:sty m:val="p"/>
                            </m:rPr>
                            <a:rPr lang="es-ES" b="0" i="0" smtClean="0">
                              <a:latin typeface="Cambria Math" panose="02040503050406030204" pitchFamily="18" charset="0"/>
                            </a:rPr>
                            <m:t>Venta</m:t>
                          </m:r>
                        </m:den>
                      </m:f>
                      <m:r>
                        <a:rPr lang="es-ES" b="0" i="0" smtClean="0">
                          <a:latin typeface="Cambria Math" panose="02040503050406030204" pitchFamily="18" charset="0"/>
                          <a:ea typeface="Cambria Math" panose="02040503050406030204" pitchFamily="18" charset="0"/>
                        </a:rPr>
                        <m:t>×</m:t>
                      </m:r>
                      <m:r>
                        <m:rPr>
                          <m:sty m:val="p"/>
                        </m:rPr>
                        <a:rPr lang="es-ES" b="0" i="0" smtClean="0">
                          <a:latin typeface="Cambria Math" panose="02040503050406030204" pitchFamily="18" charset="0"/>
                          <a:ea typeface="Cambria Math" panose="02040503050406030204" pitchFamily="18" charset="0"/>
                        </a:rPr>
                        <m:t>N</m:t>
                      </m:r>
                      <m:r>
                        <a:rPr lang="es-ES" i="0">
                          <a:latin typeface="Cambria Math" panose="02040503050406030204" pitchFamily="18" charset="0"/>
                          <a:ea typeface="Cambria Math" panose="02040503050406030204" pitchFamily="18" charset="0"/>
                        </a:rPr>
                        <m:t>ú</m:t>
                      </m:r>
                      <m:r>
                        <m:rPr>
                          <m:sty m:val="p"/>
                        </m:rPr>
                        <a:rPr lang="es-ES" b="0" i="0" smtClean="0">
                          <a:latin typeface="Cambria Math" panose="02040503050406030204" pitchFamily="18" charset="0"/>
                          <a:ea typeface="Cambria Math" panose="02040503050406030204" pitchFamily="18" charset="0"/>
                        </a:rPr>
                        <m:t>mero</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de</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d</m:t>
                      </m:r>
                      <m:r>
                        <a:rPr lang="es-ES" i="0">
                          <a:latin typeface="Cambria Math" panose="02040503050406030204" pitchFamily="18" charset="0"/>
                          <a:ea typeface="Cambria Math" panose="02040503050406030204" pitchFamily="18" charset="0"/>
                        </a:rPr>
                        <m:t>í</m:t>
                      </m:r>
                      <m:r>
                        <m:rPr>
                          <m:sty m:val="p"/>
                        </m:rPr>
                        <a:rPr lang="es-ES" b="0" i="0" smtClean="0">
                          <a:latin typeface="Cambria Math" panose="02040503050406030204" pitchFamily="18" charset="0"/>
                          <a:ea typeface="Cambria Math" panose="02040503050406030204" pitchFamily="18" charset="0"/>
                        </a:rPr>
                        <m:t>as</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en</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el</m:t>
                      </m:r>
                      <m:r>
                        <a:rPr lang="es-ES" b="0" i="0" smtClean="0">
                          <a:latin typeface="Cambria Math" panose="02040503050406030204" pitchFamily="18" charset="0"/>
                          <a:ea typeface="Cambria Math" panose="02040503050406030204" pitchFamily="18" charset="0"/>
                        </a:rPr>
                        <m:t> </m:t>
                      </m:r>
                      <m:r>
                        <m:rPr>
                          <m:sty m:val="p"/>
                        </m:rPr>
                        <a:rPr lang="es-ES" b="0" i="0" smtClean="0">
                          <a:latin typeface="Cambria Math" panose="02040503050406030204" pitchFamily="18" charset="0"/>
                          <a:ea typeface="Cambria Math" panose="02040503050406030204" pitchFamily="18" charset="0"/>
                        </a:rPr>
                        <m:t>a</m:t>
                      </m:r>
                      <m:r>
                        <a:rPr lang="es-ES" b="0" i="0" smtClean="0">
                          <a:latin typeface="Cambria Math" panose="02040503050406030204" pitchFamily="18" charset="0"/>
                          <a:ea typeface="Cambria Math" panose="02040503050406030204" pitchFamily="18" charset="0"/>
                        </a:rPr>
                        <m:t>ñ</m:t>
                      </m:r>
                      <m:r>
                        <m:rPr>
                          <m:sty m:val="p"/>
                        </m:rPr>
                        <a:rPr lang="es-ES" b="0" i="0" smtClean="0">
                          <a:latin typeface="Cambria Math" panose="02040503050406030204" pitchFamily="18" charset="0"/>
                          <a:ea typeface="Cambria Math" panose="02040503050406030204" pitchFamily="18" charset="0"/>
                        </a:rPr>
                        <m:t>o</m:t>
                      </m:r>
                    </m:oMath>
                  </m:oMathPara>
                </a14:m>
                <a:endParaRPr lang="es-CO" dirty="0"/>
              </a:p>
            </p:txBody>
          </p:sp>
        </mc:Choice>
        <mc:Fallback xmlns="">
          <p:sp>
            <p:nvSpPr>
              <p:cNvPr id="15" name="CuadroTexto 14">
                <a:extLst>
                  <a:ext uri="{FF2B5EF4-FFF2-40B4-BE49-F238E27FC236}">
                    <a16:creationId xmlns:a16="http://schemas.microsoft.com/office/drawing/2014/main" id="{261A71D4-E854-C27B-BC65-F1C2E659FCD1}"/>
                  </a:ext>
                </a:extLst>
              </p:cNvPr>
              <p:cNvSpPr txBox="1">
                <a:spLocks noRot="1" noChangeAspect="1" noMove="1" noResize="1" noEditPoints="1" noAdjustHandles="1" noChangeArrowheads="1" noChangeShapeType="1" noTextEdit="1"/>
              </p:cNvSpPr>
              <p:nvPr/>
            </p:nvSpPr>
            <p:spPr>
              <a:xfrm>
                <a:off x="2873397" y="5936938"/>
                <a:ext cx="7371441" cy="518604"/>
              </a:xfrm>
              <a:prstGeom prst="rect">
                <a:avLst/>
              </a:prstGeom>
              <a:blipFill>
                <a:blip r:embed="rId6"/>
                <a:stretch>
                  <a:fillRect l="-344" t="-2381" r="-172" b="-28571"/>
                </a:stretch>
              </a:blipFill>
            </p:spPr>
            <p:txBody>
              <a:bodyPr/>
              <a:lstStyle/>
              <a:p>
                <a:r>
                  <a:rPr lang="es-CO">
                    <a:noFill/>
                  </a:rPr>
                  <a:t> </a:t>
                </a:r>
              </a:p>
            </p:txBody>
          </p:sp>
        </mc:Fallback>
      </mc:AlternateContent>
      <p:sp>
        <p:nvSpPr>
          <p:cNvPr id="9" name="Rectángulo 8">
            <a:extLst>
              <a:ext uri="{FF2B5EF4-FFF2-40B4-BE49-F238E27FC236}">
                <a16:creationId xmlns:a16="http://schemas.microsoft.com/office/drawing/2014/main" id="{C312784A-A8AC-816F-0E6B-04B76CE995D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7316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9E513-FC48-594D-3FB8-13CEF6FCAD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C70813-3048-B88D-DC13-D0E968CF7C57}"/>
              </a:ext>
            </a:extLst>
          </p:cNvPr>
          <p:cNvSpPr>
            <a:spLocks noGrp="1"/>
          </p:cNvSpPr>
          <p:nvPr>
            <p:ph type="title"/>
          </p:nvPr>
        </p:nvSpPr>
        <p:spPr/>
        <p:txBody>
          <a:bodyPr/>
          <a:lstStyle/>
          <a:p>
            <a:r>
              <a:rPr lang="es-ES" dirty="0">
                <a:latin typeface="Century Gothic"/>
              </a:rPr>
              <a:t>Capital de Trabajo (WC)</a:t>
            </a:r>
          </a:p>
        </p:txBody>
      </p:sp>
      <p:sp>
        <p:nvSpPr>
          <p:cNvPr id="4" name="Marcador de número de diapositiva 3">
            <a:extLst>
              <a:ext uri="{FF2B5EF4-FFF2-40B4-BE49-F238E27FC236}">
                <a16:creationId xmlns:a16="http://schemas.microsoft.com/office/drawing/2014/main" id="{99C8BE1A-A74F-4847-C7C2-C0EC481E2608}"/>
              </a:ext>
            </a:extLst>
          </p:cNvPr>
          <p:cNvSpPr>
            <a:spLocks noGrp="1"/>
          </p:cNvSpPr>
          <p:nvPr>
            <p:ph type="sldNum" sz="quarter" idx="12"/>
          </p:nvPr>
        </p:nvSpPr>
        <p:spPr/>
        <p:txBody>
          <a:bodyPr/>
          <a:lstStyle/>
          <a:p>
            <a:fld id="{5E3E23BA-6E79-2442-BA73-D218A5E297C3}" type="slidenum">
              <a:rPr lang="en-US" smtClean="0"/>
              <a:t>25</a:t>
            </a:fld>
            <a:endParaRPr lang="en-US"/>
          </a:p>
        </p:txBody>
      </p:sp>
      <p:sp>
        <p:nvSpPr>
          <p:cNvPr id="5" name="Rectángulo 4">
            <a:extLst>
              <a:ext uri="{FF2B5EF4-FFF2-40B4-BE49-F238E27FC236}">
                <a16:creationId xmlns:a16="http://schemas.microsoft.com/office/drawing/2014/main" id="{A3DCACA2-25A4-17C9-DE74-0F2452599EF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2EEAC51-2405-B30E-A948-7CE592BF6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191853B-A599-69D8-28A0-107845505AF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7" name="Marcador de contenido 2">
            <a:extLst>
              <a:ext uri="{FF2B5EF4-FFF2-40B4-BE49-F238E27FC236}">
                <a16:creationId xmlns:a16="http://schemas.microsoft.com/office/drawing/2014/main" id="{62850AC2-D916-558D-3837-3AA187B5C4C2}"/>
              </a:ext>
            </a:extLst>
          </p:cNvPr>
          <p:cNvSpPr txBox="1">
            <a:spLocks/>
          </p:cNvSpPr>
          <p:nvPr/>
        </p:nvSpPr>
        <p:spPr>
          <a:xfrm>
            <a:off x="740300" y="2136238"/>
            <a:ext cx="10711400" cy="3600824"/>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800" dirty="0">
                <a:solidFill>
                  <a:schemeClr val="accent1"/>
                </a:solidFill>
                <a:latin typeface="Century Gothic" panose="020B0502020202020204" pitchFamily="34" charset="0"/>
              </a:rPr>
              <a:t>En este ejemplo, se tiene una conversión, rotación o días de inventarios de 90 días y de 30 para las </a:t>
            </a:r>
            <a:r>
              <a:rPr lang="es-ES" sz="1800" dirty="0" err="1">
                <a:solidFill>
                  <a:schemeClr val="accent1"/>
                </a:solidFill>
                <a:latin typeface="Century Gothic" panose="020B0502020202020204" pitchFamily="34" charset="0"/>
              </a:rPr>
              <a:t>CxP</a:t>
            </a:r>
            <a:r>
              <a:rPr lang="es-ES" sz="1800" dirty="0">
                <a:solidFill>
                  <a:schemeClr val="accent1"/>
                </a:solidFill>
                <a:latin typeface="Century Gothic" panose="020B0502020202020204" pitchFamily="34" charset="0"/>
              </a:rPr>
              <a:t>. La rotación o días para las </a:t>
            </a:r>
            <a:r>
              <a:rPr lang="es-ES" sz="1800" dirty="0" err="1">
                <a:solidFill>
                  <a:schemeClr val="accent1"/>
                </a:solidFill>
                <a:latin typeface="Century Gothic" panose="020B0502020202020204" pitchFamily="34" charset="0"/>
              </a:rPr>
              <a:t>CxC</a:t>
            </a:r>
            <a:r>
              <a:rPr lang="es-ES" sz="1800" dirty="0">
                <a:solidFill>
                  <a:schemeClr val="accent1"/>
                </a:solidFill>
                <a:latin typeface="Century Gothic" panose="020B0502020202020204" pitchFamily="34" charset="0"/>
              </a:rPr>
              <a:t> son de 60 días.</a:t>
            </a:r>
          </a:p>
          <a:p>
            <a:pPr marL="0" indent="0" algn="just">
              <a:buNone/>
            </a:pPr>
            <a:endParaRPr lang="es-ES" sz="1800" dirty="0">
              <a:solidFill>
                <a:schemeClr val="accent1"/>
              </a:solidFill>
              <a:latin typeface="Century Gothic" panose="020B0502020202020204" pitchFamily="34" charset="0"/>
            </a:endParaRPr>
          </a:p>
        </p:txBody>
      </p:sp>
      <p:pic>
        <p:nvPicPr>
          <p:cNvPr id="18" name="Imagen 17">
            <a:extLst>
              <a:ext uri="{FF2B5EF4-FFF2-40B4-BE49-F238E27FC236}">
                <a16:creationId xmlns:a16="http://schemas.microsoft.com/office/drawing/2014/main" id="{69689DD2-9570-829B-F133-3DF57E96DE55}"/>
              </a:ext>
            </a:extLst>
          </p:cNvPr>
          <p:cNvPicPr>
            <a:picLocks noChangeAspect="1"/>
          </p:cNvPicPr>
          <p:nvPr/>
        </p:nvPicPr>
        <p:blipFill rotWithShape="1">
          <a:blip r:embed="rId4"/>
          <a:srcRect l="14217" t="23807" r="14254" b="14387"/>
          <a:stretch/>
        </p:blipFill>
        <p:spPr>
          <a:xfrm>
            <a:off x="1119002" y="2986209"/>
            <a:ext cx="5146331" cy="3335053"/>
          </a:xfrm>
          <a:prstGeom prst="rect">
            <a:avLst/>
          </a:prstGeom>
        </p:spPr>
      </p:pic>
      <p:sp>
        <p:nvSpPr>
          <p:cNvPr id="19" name="Flecha: a la derecha 18">
            <a:extLst>
              <a:ext uri="{FF2B5EF4-FFF2-40B4-BE49-F238E27FC236}">
                <a16:creationId xmlns:a16="http://schemas.microsoft.com/office/drawing/2014/main" id="{9FA72BBC-2383-FFEE-A6D4-2BF491457A61}"/>
              </a:ext>
            </a:extLst>
          </p:cNvPr>
          <p:cNvSpPr/>
          <p:nvPr/>
        </p:nvSpPr>
        <p:spPr>
          <a:xfrm rot="5400000">
            <a:off x="957482" y="4140953"/>
            <a:ext cx="948267" cy="1678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Flecha: a la derecha 19">
            <a:extLst>
              <a:ext uri="{FF2B5EF4-FFF2-40B4-BE49-F238E27FC236}">
                <a16:creationId xmlns:a16="http://schemas.microsoft.com/office/drawing/2014/main" id="{AF7EBDB9-8C71-FD0D-A8F0-053B788B6648}"/>
              </a:ext>
            </a:extLst>
          </p:cNvPr>
          <p:cNvSpPr/>
          <p:nvPr/>
        </p:nvSpPr>
        <p:spPr>
          <a:xfrm rot="5400000">
            <a:off x="1905484" y="5238014"/>
            <a:ext cx="838730" cy="1763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Flecha: a la derecha 20">
            <a:extLst>
              <a:ext uri="{FF2B5EF4-FFF2-40B4-BE49-F238E27FC236}">
                <a16:creationId xmlns:a16="http://schemas.microsoft.com/office/drawing/2014/main" id="{66B1AE06-E529-2287-4CAD-AC8BB04CABCC}"/>
              </a:ext>
            </a:extLst>
          </p:cNvPr>
          <p:cNvSpPr/>
          <p:nvPr/>
        </p:nvSpPr>
        <p:spPr>
          <a:xfrm rot="16200000">
            <a:off x="3630351" y="4140951"/>
            <a:ext cx="948266" cy="1678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Flecha: a la derecha 21">
            <a:extLst>
              <a:ext uri="{FF2B5EF4-FFF2-40B4-BE49-F238E27FC236}">
                <a16:creationId xmlns:a16="http://schemas.microsoft.com/office/drawing/2014/main" id="{C7F08F7D-519F-89D6-6D16-258767780574}"/>
              </a:ext>
            </a:extLst>
          </p:cNvPr>
          <p:cNvSpPr/>
          <p:nvPr/>
        </p:nvSpPr>
        <p:spPr>
          <a:xfrm rot="16200000">
            <a:off x="5349086" y="5195946"/>
            <a:ext cx="948266" cy="1678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3" name="Imagen 22">
            <a:extLst>
              <a:ext uri="{FF2B5EF4-FFF2-40B4-BE49-F238E27FC236}">
                <a16:creationId xmlns:a16="http://schemas.microsoft.com/office/drawing/2014/main" id="{BF485289-23E0-9D02-7B67-F12F4B08B9A6}"/>
              </a:ext>
            </a:extLst>
          </p:cNvPr>
          <p:cNvPicPr>
            <a:picLocks noChangeAspect="1"/>
          </p:cNvPicPr>
          <p:nvPr/>
        </p:nvPicPr>
        <p:blipFill>
          <a:blip r:embed="rId5"/>
          <a:stretch>
            <a:fillRect/>
          </a:stretch>
        </p:blipFill>
        <p:spPr>
          <a:xfrm>
            <a:off x="6384054" y="3429000"/>
            <a:ext cx="4948925" cy="2038039"/>
          </a:xfrm>
          <a:prstGeom prst="rect">
            <a:avLst/>
          </a:prstGeom>
        </p:spPr>
      </p:pic>
      <p:sp>
        <p:nvSpPr>
          <p:cNvPr id="25" name="CuadroTexto 24">
            <a:extLst>
              <a:ext uri="{FF2B5EF4-FFF2-40B4-BE49-F238E27FC236}">
                <a16:creationId xmlns:a16="http://schemas.microsoft.com/office/drawing/2014/main" id="{B2C863F0-FD30-83CD-17C7-EA5E0BF35085}"/>
              </a:ext>
            </a:extLst>
          </p:cNvPr>
          <p:cNvSpPr txBox="1"/>
          <p:nvPr/>
        </p:nvSpPr>
        <p:spPr>
          <a:xfrm>
            <a:off x="6297719" y="5648963"/>
            <a:ext cx="5871438" cy="184666"/>
          </a:xfrm>
          <a:prstGeom prst="rect">
            <a:avLst/>
          </a:prstGeom>
          <a:noFill/>
        </p:spPr>
        <p:txBody>
          <a:bodyPr wrap="square" lIns="0" tIns="0" rIns="0" bIns="0" rtlCol="0">
            <a:spAutoFit/>
          </a:bodyPr>
          <a:lstStyle/>
          <a:p>
            <a:r>
              <a:rPr lang="es-CO" sz="1200" dirty="0"/>
              <a:t>Periodo de Inventario + Periodo de Cobro – Periodo de Pago = Ciclo de efectivo</a:t>
            </a:r>
          </a:p>
        </p:txBody>
      </p:sp>
    </p:spTree>
    <p:extLst>
      <p:ext uri="{BB962C8B-B14F-4D97-AF65-F5344CB8AC3E}">
        <p14:creationId xmlns:p14="http://schemas.microsoft.com/office/powerpoint/2010/main" val="156016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26</a:t>
            </a:fld>
            <a:endParaRPr lang="en-US"/>
          </a:p>
        </p:txBody>
      </p:sp>
      <p:graphicFrame>
        <p:nvGraphicFramePr>
          <p:cNvPr id="5" name="Tabla 4"/>
          <p:cNvGraphicFramePr>
            <a:graphicFrameLocks noGrp="1"/>
          </p:cNvGraphicFramePr>
          <p:nvPr>
            <p:extLst>
              <p:ext uri="{D42A27DB-BD31-4B8C-83A1-F6EECF244321}">
                <p14:modId xmlns:p14="http://schemas.microsoft.com/office/powerpoint/2010/main" val="1968052128"/>
              </p:ext>
            </p:extLst>
          </p:nvPr>
        </p:nvGraphicFramePr>
        <p:xfrm>
          <a:off x="704572" y="2505488"/>
          <a:ext cx="10782855" cy="3390900"/>
        </p:xfrm>
        <a:graphic>
          <a:graphicData uri="http://schemas.openxmlformats.org/drawingml/2006/table">
            <a:tbl>
              <a:tblPr/>
              <a:tblGrid>
                <a:gridCol w="2833248">
                  <a:extLst>
                    <a:ext uri="{9D8B030D-6E8A-4147-A177-3AD203B41FA5}">
                      <a16:colId xmlns:a16="http://schemas.microsoft.com/office/drawing/2014/main" val="20000"/>
                    </a:ext>
                  </a:extLst>
                </a:gridCol>
                <a:gridCol w="1462360">
                  <a:extLst>
                    <a:ext uri="{9D8B030D-6E8A-4147-A177-3AD203B41FA5}">
                      <a16:colId xmlns:a16="http://schemas.microsoft.com/office/drawing/2014/main" val="20001"/>
                    </a:ext>
                  </a:extLst>
                </a:gridCol>
                <a:gridCol w="1398071">
                  <a:extLst>
                    <a:ext uri="{9D8B030D-6E8A-4147-A177-3AD203B41FA5}">
                      <a16:colId xmlns:a16="http://schemas.microsoft.com/office/drawing/2014/main" val="20002"/>
                    </a:ext>
                  </a:extLst>
                </a:gridCol>
                <a:gridCol w="1336431">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77815">
                  <a:extLst>
                    <a:ext uri="{9D8B030D-6E8A-4147-A177-3AD203B41FA5}">
                      <a16:colId xmlns:a16="http://schemas.microsoft.com/office/drawing/2014/main" val="20005"/>
                    </a:ext>
                  </a:extLst>
                </a:gridCol>
                <a:gridCol w="1255730">
                  <a:extLst>
                    <a:ext uri="{9D8B030D-6E8A-4147-A177-3AD203B41FA5}">
                      <a16:colId xmlns:a16="http://schemas.microsoft.com/office/drawing/2014/main" val="20006"/>
                    </a:ext>
                  </a:extLst>
                </a:gridCol>
              </a:tblGrid>
              <a:tr h="190500">
                <a:tc>
                  <a:txBody>
                    <a:bodyPr/>
                    <a:lstStyle/>
                    <a:p>
                      <a:pPr algn="ctr" fontAlgn="b"/>
                      <a:r>
                        <a:rPr lang="es-ES" sz="1400" b="0" i="0" u="none" strike="noStrike" dirty="0">
                          <a:solidFill>
                            <a:srgbClr val="FFFFFF"/>
                          </a:solidFill>
                          <a:effectLst/>
                          <a:latin typeface="Century Gothic" panose="020B0502020202020204" pitchFamily="34" charset="0"/>
                        </a:rPr>
                        <a:t>Año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Unidad</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1</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2</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3</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4</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5</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15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20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Cobro </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60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45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Pago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Costo de 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6"/>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9"/>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endParaRPr lang="en-US" sz="1400" b="0"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12"/>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3"/>
                  </a:ext>
                </a:extLst>
              </a:tr>
              <a:tr h="190500">
                <a:tc>
                  <a:txBody>
                    <a:bodyPr/>
                    <a:lstStyle/>
                    <a:p>
                      <a:pPr algn="ctr" fontAlgn="b"/>
                      <a:endParaRPr lang="el-GR" sz="1400" b="1"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1"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1" i="0" u="none" strike="noStrike">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1"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1"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1" i="0" u="none" strike="noStrike" dirty="0">
                        <a:solidFill>
                          <a:srgbClr val="000000"/>
                        </a:solidFill>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11" name="Marcador de contenido 2"/>
          <p:cNvSpPr txBox="1">
            <a:spLocks/>
          </p:cNvSpPr>
          <p:nvPr/>
        </p:nvSpPr>
        <p:spPr>
          <a:xfrm>
            <a:off x="596699" y="2002146"/>
            <a:ext cx="8851023" cy="667124"/>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800" dirty="0">
                <a:solidFill>
                  <a:schemeClr val="accent1"/>
                </a:solidFill>
                <a:latin typeface="Century Gothic" panose="020B0502020202020204" pitchFamily="34" charset="0"/>
              </a:rPr>
              <a:t>Veamos un ejemplo de esta aproximación para estimar el </a:t>
            </a:r>
            <a:r>
              <a:rPr lang="es-ES" sz="1800" dirty="0" err="1">
                <a:solidFill>
                  <a:schemeClr val="accent1"/>
                </a:solidFill>
                <a:latin typeface="Century Gothic" panose="020B0502020202020204" pitchFamily="34" charset="0"/>
              </a:rPr>
              <a:t>working</a:t>
            </a:r>
            <a:r>
              <a:rPr lang="es-ES" sz="1800" dirty="0">
                <a:solidFill>
                  <a:schemeClr val="accent1"/>
                </a:solidFill>
                <a:latin typeface="Century Gothic" panose="020B0502020202020204" pitchFamily="34" charset="0"/>
              </a:rPr>
              <a:t> capital.</a:t>
            </a:r>
          </a:p>
        </p:txBody>
      </p:sp>
      <p:sp>
        <p:nvSpPr>
          <p:cNvPr id="3" name="Rectángulo 2">
            <a:extLst>
              <a:ext uri="{FF2B5EF4-FFF2-40B4-BE49-F238E27FC236}">
                <a16:creationId xmlns:a16="http://schemas.microsoft.com/office/drawing/2014/main" id="{E2359D4E-2D4F-E1BB-9D2D-E226DA5744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CCD6E30-1490-5EDD-D362-DA3AC31F9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FC8423B-6C7E-E1EB-9D4C-FF53D28445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0521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panose="020B0502020202020204" pitchFamily="34" charset="0"/>
              </a:rPr>
              <a:t>Capital de Trabajo (WC)</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27</a:t>
            </a:fld>
            <a:endParaRPr lang="en-US"/>
          </a:p>
        </p:txBody>
      </p:sp>
      <p:graphicFrame>
        <p:nvGraphicFramePr>
          <p:cNvPr id="5" name="Tabla 4"/>
          <p:cNvGraphicFramePr>
            <a:graphicFrameLocks noGrp="1"/>
          </p:cNvGraphicFramePr>
          <p:nvPr>
            <p:extLst>
              <p:ext uri="{D42A27DB-BD31-4B8C-83A1-F6EECF244321}">
                <p14:modId xmlns:p14="http://schemas.microsoft.com/office/powerpoint/2010/main" val="2101388237"/>
              </p:ext>
            </p:extLst>
          </p:nvPr>
        </p:nvGraphicFramePr>
        <p:xfrm>
          <a:off x="704572" y="2565237"/>
          <a:ext cx="10782855" cy="3390900"/>
        </p:xfrm>
        <a:graphic>
          <a:graphicData uri="http://schemas.openxmlformats.org/drawingml/2006/table">
            <a:tbl>
              <a:tblPr/>
              <a:tblGrid>
                <a:gridCol w="2903587">
                  <a:extLst>
                    <a:ext uri="{9D8B030D-6E8A-4147-A177-3AD203B41FA5}">
                      <a16:colId xmlns:a16="http://schemas.microsoft.com/office/drawing/2014/main" val="20000"/>
                    </a:ext>
                  </a:extLst>
                </a:gridCol>
                <a:gridCol w="1277815">
                  <a:extLst>
                    <a:ext uri="{9D8B030D-6E8A-4147-A177-3AD203B41FA5}">
                      <a16:colId xmlns:a16="http://schemas.microsoft.com/office/drawing/2014/main" val="20001"/>
                    </a:ext>
                  </a:extLst>
                </a:gridCol>
                <a:gridCol w="1301262">
                  <a:extLst>
                    <a:ext uri="{9D8B030D-6E8A-4147-A177-3AD203B41FA5}">
                      <a16:colId xmlns:a16="http://schemas.microsoft.com/office/drawing/2014/main" val="20002"/>
                    </a:ext>
                  </a:extLst>
                </a:gridCol>
                <a:gridCol w="1359877">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24707">
                  <a:extLst>
                    <a:ext uri="{9D8B030D-6E8A-4147-A177-3AD203B41FA5}">
                      <a16:colId xmlns:a16="http://schemas.microsoft.com/office/drawing/2014/main" val="20005"/>
                    </a:ext>
                  </a:extLst>
                </a:gridCol>
                <a:gridCol w="1244007">
                  <a:extLst>
                    <a:ext uri="{9D8B030D-6E8A-4147-A177-3AD203B41FA5}">
                      <a16:colId xmlns:a16="http://schemas.microsoft.com/office/drawing/2014/main" val="20006"/>
                    </a:ext>
                  </a:extLst>
                </a:gridCol>
              </a:tblGrid>
              <a:tr h="190500">
                <a:tc>
                  <a:txBody>
                    <a:bodyPr/>
                    <a:lstStyle/>
                    <a:p>
                      <a:pPr algn="ctr" fontAlgn="b"/>
                      <a:r>
                        <a:rPr lang="es-ES" sz="1400" b="0" i="0" u="none" strike="noStrike" dirty="0">
                          <a:solidFill>
                            <a:srgbClr val="FFFFFF"/>
                          </a:solidFill>
                          <a:effectLst/>
                          <a:latin typeface="Century Gothic" panose="020B0502020202020204" pitchFamily="34" charset="0"/>
                        </a:rPr>
                        <a:t>Año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Unidad</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1</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2</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3</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4</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5</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15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20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Cobro </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60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45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Pago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Costo de 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6"/>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ctr" fontAlgn="b"/>
                      <a:r>
                        <a:rPr lang="es-ES" sz="1400" b="0" i="0" u="none" strike="noStrike">
                          <a:solidFill>
                            <a:srgbClr val="000000"/>
                          </a:solidFill>
                          <a:effectLst/>
                          <a:latin typeface="Century Gothic" panose="020B0502020202020204" pitchFamily="34" charset="0"/>
                        </a:rPr>
                        <a:t>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29,2</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38,9</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ctr" fontAlgn="b"/>
                      <a:r>
                        <a:rPr lang="es-ES" sz="1400" b="0" i="0" u="none" strike="noStrike" dirty="0" err="1">
                          <a:solidFill>
                            <a:srgbClr val="000000"/>
                          </a:solidFill>
                          <a:effectLst/>
                          <a:latin typeface="Century Gothic" panose="020B0502020202020204" pitchFamily="34" charset="0"/>
                        </a:rPr>
                        <a:t>CxC</a:t>
                      </a: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166,7</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125,0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9"/>
                  </a:ext>
                </a:extLst>
              </a:tr>
              <a:tr h="190500">
                <a:tc>
                  <a:txBody>
                    <a:bodyPr/>
                    <a:lstStyle/>
                    <a:p>
                      <a:pPr algn="ctr" fontAlgn="b"/>
                      <a:r>
                        <a:rPr lang="es-ES" sz="1400" b="0" i="0" u="none" strike="noStrike" dirty="0" err="1">
                          <a:solidFill>
                            <a:srgbClr val="000000"/>
                          </a:solidFill>
                          <a:effectLst/>
                          <a:latin typeface="Century Gothic" panose="020B0502020202020204" pitchFamily="34" charset="0"/>
                        </a:rPr>
                        <a:t>CxP</a:t>
                      </a: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WC</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137,5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105,6</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12"/>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3"/>
                  </a:ext>
                </a:extLst>
              </a:tr>
              <a:tr h="190500">
                <a:tc>
                  <a:txBody>
                    <a:bodyPr/>
                    <a:lstStyle/>
                    <a:p>
                      <a:pPr algn="ctr" fontAlgn="b"/>
                      <a:r>
                        <a:rPr lang="el-GR" sz="1400" b="1" i="0" u="none" strike="noStrike" dirty="0">
                          <a:solidFill>
                            <a:schemeClr val="bg1"/>
                          </a:solidFill>
                          <a:effectLst/>
                          <a:latin typeface="Century Gothic" panose="020B0502020202020204" pitchFamily="34" charset="0"/>
                        </a:rPr>
                        <a:t>ΔWC</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chemeClr val="bg1"/>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137,5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-31,9</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-22,2</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14"/>
                  </a:ext>
                </a:extLst>
              </a:tr>
            </a:tbl>
          </a:graphicData>
        </a:graphic>
      </p:graphicFrame>
      <p:sp>
        <p:nvSpPr>
          <p:cNvPr id="3" name="Rectángulo 2">
            <a:extLst>
              <a:ext uri="{FF2B5EF4-FFF2-40B4-BE49-F238E27FC236}">
                <a16:creationId xmlns:a16="http://schemas.microsoft.com/office/drawing/2014/main" id="{E2371FC6-14A0-3C6C-A869-C86D7133AB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5C19DE2-776A-76A2-B538-E5AFE9846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Marcador de contenido 2">
            <a:extLst>
              <a:ext uri="{FF2B5EF4-FFF2-40B4-BE49-F238E27FC236}">
                <a16:creationId xmlns:a16="http://schemas.microsoft.com/office/drawing/2014/main" id="{436F6F9F-412B-4136-EE25-546FDE59EC26}"/>
              </a:ext>
            </a:extLst>
          </p:cNvPr>
          <p:cNvSpPr txBox="1">
            <a:spLocks/>
          </p:cNvSpPr>
          <p:nvPr/>
        </p:nvSpPr>
        <p:spPr>
          <a:xfrm>
            <a:off x="596699" y="2002146"/>
            <a:ext cx="8851023" cy="667124"/>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800" dirty="0">
                <a:solidFill>
                  <a:schemeClr val="accent1"/>
                </a:solidFill>
                <a:latin typeface="Century Gothic" panose="020B0502020202020204" pitchFamily="34" charset="0"/>
              </a:rPr>
              <a:t>Veamos un ejemplo de esta aproximación para estimar el </a:t>
            </a:r>
            <a:r>
              <a:rPr lang="es-ES" sz="1800" dirty="0" err="1">
                <a:solidFill>
                  <a:schemeClr val="accent1"/>
                </a:solidFill>
                <a:latin typeface="Century Gothic" panose="020B0502020202020204" pitchFamily="34" charset="0"/>
              </a:rPr>
              <a:t>working</a:t>
            </a:r>
            <a:r>
              <a:rPr lang="es-ES" sz="1800" dirty="0">
                <a:solidFill>
                  <a:schemeClr val="accent1"/>
                </a:solidFill>
                <a:latin typeface="Century Gothic" panose="020B0502020202020204" pitchFamily="34" charset="0"/>
              </a:rPr>
              <a:t> capital.</a:t>
            </a:r>
          </a:p>
        </p:txBody>
      </p:sp>
      <p:sp>
        <p:nvSpPr>
          <p:cNvPr id="10" name="Rectángulo 9">
            <a:extLst>
              <a:ext uri="{FF2B5EF4-FFF2-40B4-BE49-F238E27FC236}">
                <a16:creationId xmlns:a16="http://schemas.microsoft.com/office/drawing/2014/main" id="{CB6BD33E-B76F-A5CF-DC71-DB5AE69EB1C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830088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28</a:t>
            </a:fld>
            <a:endParaRPr lang="en-US"/>
          </a:p>
        </p:txBody>
      </p:sp>
      <p:graphicFrame>
        <p:nvGraphicFramePr>
          <p:cNvPr id="5" name="Tabla 4"/>
          <p:cNvGraphicFramePr>
            <a:graphicFrameLocks noGrp="1"/>
          </p:cNvGraphicFramePr>
          <p:nvPr>
            <p:extLst>
              <p:ext uri="{D42A27DB-BD31-4B8C-83A1-F6EECF244321}">
                <p14:modId xmlns:p14="http://schemas.microsoft.com/office/powerpoint/2010/main" val="3832439413"/>
              </p:ext>
            </p:extLst>
          </p:nvPr>
        </p:nvGraphicFramePr>
        <p:xfrm>
          <a:off x="641965" y="2562890"/>
          <a:ext cx="10782855" cy="3390900"/>
        </p:xfrm>
        <a:graphic>
          <a:graphicData uri="http://schemas.openxmlformats.org/drawingml/2006/table">
            <a:tbl>
              <a:tblPr/>
              <a:tblGrid>
                <a:gridCol w="2880141">
                  <a:extLst>
                    <a:ext uri="{9D8B030D-6E8A-4147-A177-3AD203B41FA5}">
                      <a16:colId xmlns:a16="http://schemas.microsoft.com/office/drawing/2014/main" val="20000"/>
                    </a:ext>
                  </a:extLst>
                </a:gridCol>
                <a:gridCol w="1500553">
                  <a:extLst>
                    <a:ext uri="{9D8B030D-6E8A-4147-A177-3AD203B41FA5}">
                      <a16:colId xmlns:a16="http://schemas.microsoft.com/office/drawing/2014/main" val="20001"/>
                    </a:ext>
                  </a:extLst>
                </a:gridCol>
                <a:gridCol w="1336431">
                  <a:extLst>
                    <a:ext uri="{9D8B030D-6E8A-4147-A177-3AD203B41FA5}">
                      <a16:colId xmlns:a16="http://schemas.microsoft.com/office/drawing/2014/main" val="20002"/>
                    </a:ext>
                  </a:extLst>
                </a:gridCol>
                <a:gridCol w="1266093">
                  <a:extLst>
                    <a:ext uri="{9D8B030D-6E8A-4147-A177-3AD203B41FA5}">
                      <a16:colId xmlns:a16="http://schemas.microsoft.com/office/drawing/2014/main" val="20003"/>
                    </a:ext>
                  </a:extLst>
                </a:gridCol>
                <a:gridCol w="1301261">
                  <a:extLst>
                    <a:ext uri="{9D8B030D-6E8A-4147-A177-3AD203B41FA5}">
                      <a16:colId xmlns:a16="http://schemas.microsoft.com/office/drawing/2014/main" val="20004"/>
                    </a:ext>
                  </a:extLst>
                </a:gridCol>
                <a:gridCol w="1277815">
                  <a:extLst>
                    <a:ext uri="{9D8B030D-6E8A-4147-A177-3AD203B41FA5}">
                      <a16:colId xmlns:a16="http://schemas.microsoft.com/office/drawing/2014/main" val="20005"/>
                    </a:ext>
                  </a:extLst>
                </a:gridCol>
                <a:gridCol w="1220561">
                  <a:extLst>
                    <a:ext uri="{9D8B030D-6E8A-4147-A177-3AD203B41FA5}">
                      <a16:colId xmlns:a16="http://schemas.microsoft.com/office/drawing/2014/main" val="20006"/>
                    </a:ext>
                  </a:extLst>
                </a:gridCol>
              </a:tblGrid>
              <a:tr h="190500">
                <a:tc>
                  <a:txBody>
                    <a:bodyPr/>
                    <a:lstStyle/>
                    <a:p>
                      <a:pPr algn="ctr" fontAlgn="b"/>
                      <a:r>
                        <a:rPr lang="es-ES" sz="1400" b="0" i="0" u="none" strike="noStrike" dirty="0">
                          <a:solidFill>
                            <a:srgbClr val="FFFFFF"/>
                          </a:solidFill>
                          <a:effectLst/>
                          <a:latin typeface="Century Gothic" panose="020B0502020202020204" pitchFamily="34" charset="0"/>
                        </a:rPr>
                        <a:t>Año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Unidad</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1</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2</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3</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4</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5</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15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20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Cobro </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60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45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Pago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Costo de 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6"/>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ctr" fontAlgn="b"/>
                      <a:r>
                        <a:rPr lang="es-ES" sz="1400" b="0" i="0" u="none" strike="noStrike" dirty="0">
                          <a:solidFill>
                            <a:srgbClr val="000000"/>
                          </a:solidFill>
                          <a:effectLst/>
                          <a:latin typeface="Century Gothic"/>
                        </a:rPr>
                        <a:t>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29,2</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38,9</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ctr" fontAlgn="b"/>
                      <a:r>
                        <a:rPr lang="es-ES" sz="1400" b="0" i="0" u="none" strike="noStrike" dirty="0" err="1">
                          <a:solidFill>
                            <a:srgbClr val="000000"/>
                          </a:solidFill>
                          <a:effectLst/>
                          <a:latin typeface="Century Gothic" panose="020B0502020202020204" pitchFamily="34" charset="0"/>
                        </a:rPr>
                        <a:t>CxC</a:t>
                      </a: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166,7</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125,0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9"/>
                  </a:ext>
                </a:extLst>
              </a:tr>
              <a:tr h="190500">
                <a:tc>
                  <a:txBody>
                    <a:bodyPr/>
                    <a:lstStyle/>
                    <a:p>
                      <a:pPr algn="ctr" fontAlgn="b"/>
                      <a:r>
                        <a:rPr lang="es-ES" sz="1400" b="0" i="0" u="none" strike="noStrike" dirty="0" err="1">
                          <a:solidFill>
                            <a:srgbClr val="000000"/>
                          </a:solidFill>
                          <a:effectLst/>
                          <a:latin typeface="Century Gothic"/>
                        </a:rPr>
                        <a:t>CxP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0"/>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WC</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137,5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105,6</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12"/>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3"/>
                  </a:ext>
                </a:extLst>
              </a:tr>
              <a:tr h="190500">
                <a:tc>
                  <a:txBody>
                    <a:bodyPr/>
                    <a:lstStyle/>
                    <a:p>
                      <a:pPr algn="ctr" fontAlgn="b"/>
                      <a:r>
                        <a:rPr lang="el-GR" sz="1400" b="1" i="0" u="none" strike="noStrike" dirty="0">
                          <a:solidFill>
                            <a:schemeClr val="bg1"/>
                          </a:solidFill>
                          <a:effectLst/>
                          <a:latin typeface="Century Gothic" panose="020B0502020202020204" pitchFamily="34" charset="0"/>
                        </a:rPr>
                        <a:t>ΔWC</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1" i="0" u="none" strike="noStrike" dirty="0">
                          <a:solidFill>
                            <a:schemeClr val="bg1"/>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a:rPr>
                        <a:t>137,5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a:rPr>
                        <a:t>-31,9</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a:rPr>
                        <a:t>-22,2</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14"/>
                  </a:ext>
                </a:extLst>
              </a:tr>
            </a:tbl>
          </a:graphicData>
        </a:graphic>
      </p:graphicFrame>
      <p:sp>
        <p:nvSpPr>
          <p:cNvPr id="11" name="Marcador de contenido 2"/>
          <p:cNvSpPr txBox="1">
            <a:spLocks/>
          </p:cNvSpPr>
          <p:nvPr/>
        </p:nvSpPr>
        <p:spPr>
          <a:xfrm>
            <a:off x="121801" y="1932537"/>
            <a:ext cx="9096340" cy="667124"/>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800" dirty="0">
                <a:solidFill>
                  <a:schemeClr val="accent1"/>
                </a:solidFill>
                <a:latin typeface="Century Gothic" panose="020B0502020202020204" pitchFamily="34" charset="0"/>
              </a:rPr>
              <a:t>¿Y sí se asume que al final del periodo se recupera el capital de trabajo?</a:t>
            </a:r>
          </a:p>
        </p:txBody>
      </p:sp>
      <p:sp>
        <p:nvSpPr>
          <p:cNvPr id="3" name="Rectángulo 2">
            <a:extLst>
              <a:ext uri="{FF2B5EF4-FFF2-40B4-BE49-F238E27FC236}">
                <a16:creationId xmlns:a16="http://schemas.microsoft.com/office/drawing/2014/main" id="{A0A2D435-D698-0568-E5CB-21F3CA6A976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68FC2BF7-A7C9-6F7D-0C8F-0263481AE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0B9827F-6345-9F94-47DF-3F504A70421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65495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Capital de Trabajo (WC)</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29</a:t>
            </a:fld>
            <a:endParaRPr lang="en-US"/>
          </a:p>
        </p:txBody>
      </p:sp>
      <p:graphicFrame>
        <p:nvGraphicFramePr>
          <p:cNvPr id="5" name="Tabla 4"/>
          <p:cNvGraphicFramePr>
            <a:graphicFrameLocks noGrp="1"/>
          </p:cNvGraphicFramePr>
          <p:nvPr>
            <p:extLst>
              <p:ext uri="{D42A27DB-BD31-4B8C-83A1-F6EECF244321}">
                <p14:modId xmlns:p14="http://schemas.microsoft.com/office/powerpoint/2010/main" val="2646369833"/>
              </p:ext>
            </p:extLst>
          </p:nvPr>
        </p:nvGraphicFramePr>
        <p:xfrm>
          <a:off x="879281" y="2477865"/>
          <a:ext cx="10553840" cy="3390900"/>
        </p:xfrm>
        <a:graphic>
          <a:graphicData uri="http://schemas.openxmlformats.org/drawingml/2006/table">
            <a:tbl>
              <a:tblPr/>
              <a:tblGrid>
                <a:gridCol w="2706566">
                  <a:extLst>
                    <a:ext uri="{9D8B030D-6E8A-4147-A177-3AD203B41FA5}">
                      <a16:colId xmlns:a16="http://schemas.microsoft.com/office/drawing/2014/main" val="20000"/>
                    </a:ext>
                  </a:extLst>
                </a:gridCol>
                <a:gridCol w="1383323">
                  <a:extLst>
                    <a:ext uri="{9D8B030D-6E8A-4147-A177-3AD203B41FA5}">
                      <a16:colId xmlns:a16="http://schemas.microsoft.com/office/drawing/2014/main" val="20001"/>
                    </a:ext>
                  </a:extLst>
                </a:gridCol>
                <a:gridCol w="1359877">
                  <a:extLst>
                    <a:ext uri="{9D8B030D-6E8A-4147-A177-3AD203B41FA5}">
                      <a16:colId xmlns:a16="http://schemas.microsoft.com/office/drawing/2014/main" val="20002"/>
                    </a:ext>
                  </a:extLst>
                </a:gridCol>
                <a:gridCol w="1289539">
                  <a:extLst>
                    <a:ext uri="{9D8B030D-6E8A-4147-A177-3AD203B41FA5}">
                      <a16:colId xmlns:a16="http://schemas.microsoft.com/office/drawing/2014/main" val="20003"/>
                    </a:ext>
                  </a:extLst>
                </a:gridCol>
                <a:gridCol w="1277815">
                  <a:extLst>
                    <a:ext uri="{9D8B030D-6E8A-4147-A177-3AD203B41FA5}">
                      <a16:colId xmlns:a16="http://schemas.microsoft.com/office/drawing/2014/main" val="20004"/>
                    </a:ext>
                  </a:extLst>
                </a:gridCol>
                <a:gridCol w="1301262">
                  <a:extLst>
                    <a:ext uri="{9D8B030D-6E8A-4147-A177-3AD203B41FA5}">
                      <a16:colId xmlns:a16="http://schemas.microsoft.com/office/drawing/2014/main" val="20005"/>
                    </a:ext>
                  </a:extLst>
                </a:gridCol>
                <a:gridCol w="1235458">
                  <a:extLst>
                    <a:ext uri="{9D8B030D-6E8A-4147-A177-3AD203B41FA5}">
                      <a16:colId xmlns:a16="http://schemas.microsoft.com/office/drawing/2014/main" val="20006"/>
                    </a:ext>
                  </a:extLst>
                </a:gridCol>
              </a:tblGrid>
              <a:tr h="190500">
                <a:tc>
                  <a:txBody>
                    <a:bodyPr/>
                    <a:lstStyle/>
                    <a:p>
                      <a:pPr algn="ctr" fontAlgn="b"/>
                      <a:r>
                        <a:rPr lang="es-ES" sz="1400" b="0" i="0" u="none" strike="noStrike" dirty="0">
                          <a:solidFill>
                            <a:srgbClr val="FFFFFF"/>
                          </a:solidFill>
                          <a:effectLst/>
                          <a:latin typeface="Century Gothic" panose="020B0502020202020204" pitchFamily="34" charset="0"/>
                        </a:rPr>
                        <a:t>Año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Unidad</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1</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2</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3</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4</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tc>
                  <a:txBody>
                    <a:bodyPr/>
                    <a:lstStyle/>
                    <a:p>
                      <a:pPr algn="ctr" fontAlgn="b"/>
                      <a:r>
                        <a:rPr lang="es-ES" sz="1400" b="0" i="0" u="none" strike="noStrike" dirty="0">
                          <a:solidFill>
                            <a:srgbClr val="FFFFFF"/>
                          </a:solidFill>
                          <a:effectLst/>
                          <a:latin typeface="Century Gothic" panose="020B0502020202020204" pitchFamily="34" charset="0"/>
                        </a:rPr>
                        <a:t>5</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15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20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Cobro </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60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45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2"/>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Periodo de Pago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[Días]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30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3"/>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1.000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1.000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Costo de Ventas</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700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700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6"/>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ctr" fontAlgn="b"/>
                      <a:r>
                        <a:rPr lang="es-ES" sz="1400" b="0" i="0" u="none" strike="noStrike" dirty="0">
                          <a:solidFill>
                            <a:srgbClr val="000000"/>
                          </a:solidFill>
                          <a:effectLst/>
                          <a:latin typeface="Century Gothic"/>
                        </a:rPr>
                        <a:t>Inventario</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29,2</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38,9</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8"/>
                  </a:ext>
                </a:extLst>
              </a:tr>
              <a:tr h="190500">
                <a:tc>
                  <a:txBody>
                    <a:bodyPr/>
                    <a:lstStyle/>
                    <a:p>
                      <a:pPr algn="ctr" fontAlgn="b"/>
                      <a:r>
                        <a:rPr lang="es-ES" sz="1400" b="0" i="0" u="none" strike="noStrike" dirty="0" err="1">
                          <a:solidFill>
                            <a:srgbClr val="000000"/>
                          </a:solidFill>
                          <a:effectLst/>
                          <a:latin typeface="Century Gothic" panose="020B0502020202020204" pitchFamily="34" charset="0"/>
                        </a:rPr>
                        <a:t>CxC</a:t>
                      </a:r>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166,7</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125,0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9"/>
                  </a:ext>
                </a:extLst>
              </a:tr>
              <a:tr h="190500">
                <a:tc>
                  <a:txBody>
                    <a:bodyPr/>
                    <a:lstStyle/>
                    <a:p>
                      <a:pPr algn="ctr" fontAlgn="b"/>
                      <a:r>
                        <a:rPr lang="es-ES" sz="1400" b="0" i="0" u="none" strike="noStrike" dirty="0" err="1">
                          <a:solidFill>
                            <a:srgbClr val="000000"/>
                          </a:solidFill>
                          <a:effectLst/>
                          <a:latin typeface="Century Gothic"/>
                        </a:rPr>
                        <a:t>CxP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n-US" sz="1400" b="0" i="0" u="none" strike="noStrike" dirty="0">
                          <a:solidFill>
                            <a:srgbClr val="000000"/>
                          </a:solidFill>
                          <a:effectLst/>
                          <a:latin typeface="Century Gothic" panose="020B0502020202020204" pitchFamily="34" charset="0"/>
                        </a:rPr>
                        <a:t>58,3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10"/>
                  </a:ext>
                </a:extLst>
              </a:tr>
              <a:tr h="190500">
                <a:tc>
                  <a:txBody>
                    <a:bodyPr/>
                    <a:lstStyle/>
                    <a:p>
                      <a:pPr algn="ctr" fontAlgn="b"/>
                      <a:endParaRPr lang="es-ES" sz="1400" b="0" i="0" u="none" strike="noStrike">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1"/>
                  </a:ext>
                </a:extLst>
              </a:tr>
              <a:tr h="190500">
                <a:tc>
                  <a:txBody>
                    <a:bodyPr/>
                    <a:lstStyle/>
                    <a:p>
                      <a:pPr algn="ctr" fontAlgn="b"/>
                      <a:r>
                        <a:rPr lang="es-ES" sz="1400" b="0" i="0" u="none" strike="noStrike" dirty="0">
                          <a:solidFill>
                            <a:srgbClr val="000000"/>
                          </a:solidFill>
                          <a:effectLst/>
                          <a:latin typeface="Century Gothic" panose="020B0502020202020204" pitchFamily="34" charset="0"/>
                        </a:rPr>
                        <a:t>WC</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137,5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105,6</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n-US" sz="1400" b="0" i="0" u="none" strike="noStrike" dirty="0">
                          <a:solidFill>
                            <a:srgbClr val="000000"/>
                          </a:solidFill>
                          <a:effectLst/>
                          <a:latin typeface="Century Gothic" panose="020B0502020202020204" pitchFamily="34" charset="0"/>
                        </a:rPr>
                        <a:t>83,3</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20000"/>
                        <a:lumOff val="80000"/>
                      </a:schemeClr>
                    </a:solidFill>
                  </a:tcPr>
                </a:tc>
                <a:tc>
                  <a:txBody>
                    <a:bodyPr/>
                    <a:lstStyle/>
                    <a:p>
                      <a:pPr algn="ctr" fontAlgn="b"/>
                      <a:r>
                        <a:rPr lang="es-ES" sz="1400" b="0" i="0" u="none" strike="noStrike" dirty="0">
                          <a:solidFill>
                            <a:srgbClr val="000000"/>
                          </a:solidFill>
                          <a:effectLst/>
                          <a:latin typeface="Century Gothic" panose="020B0502020202020204" pitchFamily="34" charset="0"/>
                        </a:rPr>
                        <a:t>0</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12"/>
                  </a:ext>
                </a:extLst>
              </a:tr>
              <a:tr h="190500">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n-US" sz="1400" b="0" i="0" u="none" strike="noStrike" dirty="0">
                        <a:effectLst/>
                        <a:latin typeface="Century Gothic" panose="020B0502020202020204" pitchFamily="34" charset="0"/>
                      </a:endParaRP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tc>
                  <a:txBody>
                    <a:bodyPr/>
                    <a:lstStyle/>
                    <a:p>
                      <a:pPr algn="ctr" fontAlgn="b"/>
                      <a:endParaRPr lang="es-ES" sz="1400" b="0" i="0" u="none" strike="noStrike" dirty="0">
                        <a:solidFill>
                          <a:srgbClr val="000000"/>
                        </a:solidFill>
                        <a:effectLst/>
                        <a:latin typeface="Century Gothic" panose="020B0502020202020204" pitchFamily="34" charset="0"/>
                      </a:endParaRP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13"/>
                  </a:ext>
                </a:extLst>
              </a:tr>
              <a:tr h="101212">
                <a:tc>
                  <a:txBody>
                    <a:bodyPr/>
                    <a:lstStyle/>
                    <a:p>
                      <a:pPr algn="ctr" fontAlgn="b"/>
                      <a:r>
                        <a:rPr lang="el-GR" sz="1400" b="1" i="0" u="none" strike="noStrike" dirty="0">
                          <a:solidFill>
                            <a:schemeClr val="bg1"/>
                          </a:solidFill>
                          <a:effectLst/>
                          <a:latin typeface="Century Gothic" panose="020B0502020202020204" pitchFamily="34" charset="0"/>
                        </a:rPr>
                        <a:t>ΔWC</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s-ES" sz="1400" b="1" i="0" u="none" strike="noStrike" dirty="0">
                          <a:solidFill>
                            <a:schemeClr val="bg1"/>
                          </a:solidFill>
                          <a:effectLst/>
                          <a:latin typeface="Century Gothic" panose="020B0502020202020204" pitchFamily="34" charset="0"/>
                        </a:rPr>
                        <a:t>[COP]</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a:rPr>
                        <a:t>137,5</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a:rPr>
                        <a:t>-31,9</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a:rPr>
                        <a:t>-22,2</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n-US" sz="1400" b="1" i="0" u="none" strike="noStrike" dirty="0">
                          <a:solidFill>
                            <a:schemeClr val="bg1"/>
                          </a:solidFill>
                          <a:effectLst/>
                          <a:latin typeface="Century Gothic" panose="020B0502020202020204" pitchFamily="34" charset="0"/>
                        </a:rPr>
                        <a:t>0</a:t>
                      </a:r>
                    </a:p>
                  </a:txBody>
                  <a:tcPr marL="0" marR="0" marT="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fontAlgn="b"/>
                      <a:r>
                        <a:rPr lang="es-ES" sz="1400" b="1" i="0" u="none" strike="noStrike" dirty="0">
                          <a:solidFill>
                            <a:schemeClr val="bg1"/>
                          </a:solidFill>
                          <a:effectLst/>
                          <a:latin typeface="Century Gothic" panose="020B0502020202020204" pitchFamily="34" charset="0"/>
                        </a:rPr>
                        <a:t>-83,3</a:t>
                      </a:r>
                    </a:p>
                  </a:txBody>
                  <a:tcPr marL="12700" marR="12700" marT="12700" marB="0" anchor="b">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14"/>
                  </a:ext>
                </a:extLst>
              </a:tr>
            </a:tbl>
          </a:graphicData>
        </a:graphic>
      </p:graphicFrame>
      <p:sp>
        <p:nvSpPr>
          <p:cNvPr id="3" name="Rectángulo 2">
            <a:extLst>
              <a:ext uri="{FF2B5EF4-FFF2-40B4-BE49-F238E27FC236}">
                <a16:creationId xmlns:a16="http://schemas.microsoft.com/office/drawing/2014/main" id="{A726DDDD-64DF-7A6E-4F44-65AFE8FBCE07}"/>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185711B-40D5-E32D-6F78-A61C2E3A5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contenido 2">
            <a:extLst>
              <a:ext uri="{FF2B5EF4-FFF2-40B4-BE49-F238E27FC236}">
                <a16:creationId xmlns:a16="http://schemas.microsoft.com/office/drawing/2014/main" id="{93E904D5-07AC-8749-16BA-AB8473EBB81A}"/>
              </a:ext>
            </a:extLst>
          </p:cNvPr>
          <p:cNvSpPr txBox="1">
            <a:spLocks/>
          </p:cNvSpPr>
          <p:nvPr/>
        </p:nvSpPr>
        <p:spPr>
          <a:xfrm>
            <a:off x="121801" y="1932537"/>
            <a:ext cx="9096340" cy="667124"/>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800" dirty="0">
                <a:solidFill>
                  <a:schemeClr val="accent1"/>
                </a:solidFill>
                <a:latin typeface="Century Gothic" panose="020B0502020202020204" pitchFamily="34" charset="0"/>
              </a:rPr>
              <a:t>¿Y sí se asume que al final del periodo se recupera el capital de trabajo?</a:t>
            </a:r>
          </a:p>
        </p:txBody>
      </p:sp>
      <p:sp>
        <p:nvSpPr>
          <p:cNvPr id="10" name="Rectángulo 9">
            <a:extLst>
              <a:ext uri="{FF2B5EF4-FFF2-40B4-BE49-F238E27FC236}">
                <a16:creationId xmlns:a16="http://schemas.microsoft.com/office/drawing/2014/main" id="{BB5BB662-4A05-88D7-E635-B4F6F127811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92483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54B32-DAE5-7F1B-D04F-58E0B8B1FE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D12423-6CF5-D831-9A83-D3FD33DD5512}"/>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69C4B81E-E9DF-CCE7-DF03-65C13E00E3E8}"/>
              </a:ext>
            </a:extLst>
          </p:cNvPr>
          <p:cNvSpPr>
            <a:spLocks noGrp="1"/>
          </p:cNvSpPr>
          <p:nvPr>
            <p:ph type="sldNum" sz="quarter" idx="12"/>
          </p:nvPr>
        </p:nvSpPr>
        <p:spPr/>
        <p:txBody>
          <a:bodyPr/>
          <a:lstStyle/>
          <a:p>
            <a:fld id="{D57F1E4F-1CFF-5643-939E-217C01CDF565}" type="slidenum">
              <a:rPr lang="en-US" sz="1400" b="1" smtClean="0"/>
              <a:pPr/>
              <a:t>30</a:t>
            </a:fld>
            <a:endParaRPr lang="en-US" sz="1400" b="1" dirty="0"/>
          </a:p>
        </p:txBody>
      </p:sp>
      <p:pic>
        <p:nvPicPr>
          <p:cNvPr id="6" name="Picture 6" descr="Resultado de imagen para RELOJ VECTOR">
            <a:extLst>
              <a:ext uri="{FF2B5EF4-FFF2-40B4-BE49-F238E27FC236}">
                <a16:creationId xmlns:a16="http://schemas.microsoft.com/office/drawing/2014/main" id="{6BE4E30A-70E8-DFB3-A893-A5D37869D32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97D173C-E1FC-8D09-1360-9BDF4DF2C16E}"/>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Capital de Trabajo en el Estado de la Situación Financiera y en el Estado de Resultados.</a:t>
            </a:r>
            <a:endParaRPr lang="es-ES" sz="1600" dirty="0">
              <a:solidFill>
                <a:schemeClr val="bg2">
                  <a:lumMod val="90000"/>
                </a:schemeClr>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ES" sz="1600" dirty="0">
                <a:solidFill>
                  <a:schemeClr val="accent1"/>
                </a:solidFill>
                <a:latin typeface="Century Gothic"/>
                <a:cs typeface="Arial"/>
              </a:rPr>
              <a:t>Variación de PPE e Intangibles (CAPEX).</a:t>
            </a:r>
            <a:endParaRPr lang="es-CO" sz="1600" dirty="0">
              <a:solidFill>
                <a:schemeClr val="accent1"/>
              </a:solidFill>
              <a:latin typeface="Century Gothic"/>
              <a:cs typeface="Arial"/>
            </a:endParaRP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Impuesto Ocasional.</a:t>
            </a:r>
          </a:p>
          <a:p>
            <a:pPr marL="342900" indent="-342900" algn="just">
              <a:buClr>
                <a:srgbClr val="48BE7A"/>
              </a:buClr>
              <a:buFontTx/>
              <a:buAutoNum type="arabicPeriod"/>
            </a:pPr>
            <a:endParaRPr lang="es-CO" sz="1600" dirty="0">
              <a:solidFill>
                <a:schemeClr val="bg2">
                  <a:lumMod val="90000"/>
                </a:schemeClr>
              </a:solidFill>
              <a:latin typeface="Century Gothic"/>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Valor Terminal. </a:t>
            </a:r>
          </a:p>
          <a:p>
            <a:pPr marL="342900" indent="-342900" algn="just">
              <a:buClr>
                <a:srgbClr val="48BE7A"/>
              </a:buClr>
              <a:buFontTx/>
              <a:buAutoNum type="arabicPeriod"/>
            </a:pPr>
            <a:endParaRPr lang="es-CO" sz="1600" dirty="0">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sz="1600" dirty="0">
              <a:solidFill>
                <a:schemeClr val="accent1"/>
              </a:solidFill>
              <a:latin typeface="Century Gothic" panose="020B0502020202020204" pitchFamily="34" charset="0"/>
              <a:cs typeface="Arial"/>
            </a:endParaRPr>
          </a:p>
          <a:p>
            <a:pPr algn="just">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E72CE3BA-8226-3DDF-9581-7C33689ED4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680CB6BA-E2B2-AFA1-4379-007857CF5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37E6632-4BB6-1143-081B-B4D72A52862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16144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CA800-8950-DA7C-BC24-BD7836804E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0961A6-F371-0E87-23EB-B19B5BDB8BB6}"/>
              </a:ext>
            </a:extLst>
          </p:cNvPr>
          <p:cNvSpPr>
            <a:spLocks noGrp="1"/>
          </p:cNvSpPr>
          <p:nvPr>
            <p:ph type="title"/>
          </p:nvPr>
        </p:nvSpPr>
        <p:spPr/>
        <p:txBody>
          <a:bodyPr/>
          <a:lstStyle/>
          <a:p>
            <a:r>
              <a:rPr lang="es-ES" dirty="0">
                <a:latin typeface="Century Gothic"/>
              </a:rPr>
              <a:t>Variación de PPE e Intangibles (CAPEX)</a:t>
            </a:r>
          </a:p>
        </p:txBody>
      </p:sp>
      <p:sp>
        <p:nvSpPr>
          <p:cNvPr id="3" name="Rectángulo 2">
            <a:extLst>
              <a:ext uri="{FF2B5EF4-FFF2-40B4-BE49-F238E27FC236}">
                <a16:creationId xmlns:a16="http://schemas.microsoft.com/office/drawing/2014/main" id="{972A6942-F13E-5E8F-72DC-0C308A1CA27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D08C5C3-4EEB-A527-A2A8-91B96FFAA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8B58ECC-9F83-0131-0468-64C13917E1E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pSp>
        <p:nvGrpSpPr>
          <p:cNvPr id="5" name="Group 4">
            <a:extLst>
              <a:ext uri="{FF2B5EF4-FFF2-40B4-BE49-F238E27FC236}">
                <a16:creationId xmlns:a16="http://schemas.microsoft.com/office/drawing/2014/main" id="{3CF6B6BF-23D7-C334-A42F-9B1481272820}"/>
              </a:ext>
            </a:extLst>
          </p:cNvPr>
          <p:cNvGrpSpPr>
            <a:grpSpLocks/>
          </p:cNvGrpSpPr>
          <p:nvPr/>
        </p:nvGrpSpPr>
        <p:grpSpPr bwMode="auto">
          <a:xfrm>
            <a:off x="8284655" y="5005731"/>
            <a:ext cx="3568677" cy="875551"/>
            <a:chOff x="-296955" y="-417449"/>
            <a:chExt cx="2310205" cy="876345"/>
          </a:xfrm>
        </p:grpSpPr>
        <p:sp>
          <p:nvSpPr>
            <p:cNvPr id="8" name="AutoShape 5">
              <a:extLst>
                <a:ext uri="{FF2B5EF4-FFF2-40B4-BE49-F238E27FC236}">
                  <a16:creationId xmlns:a16="http://schemas.microsoft.com/office/drawing/2014/main" id="{B740FBE1-EC5E-C7B7-2B6C-7912A53B61F8}"/>
                </a:ext>
              </a:extLst>
            </p:cNvPr>
            <p:cNvSpPr>
              <a:spLocks/>
            </p:cNvSpPr>
            <p:nvPr/>
          </p:nvSpPr>
          <p:spPr bwMode="auto">
            <a:xfrm>
              <a:off x="441389" y="-417449"/>
              <a:ext cx="1571861" cy="8763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400" b="1" dirty="0">
                <a:solidFill>
                  <a:srgbClr val="404040"/>
                </a:solidFill>
              </a:endParaRPr>
            </a:p>
          </p:txBody>
        </p:sp>
        <p:sp>
          <p:nvSpPr>
            <p:cNvPr id="9" name="Line 6">
              <a:extLst>
                <a:ext uri="{FF2B5EF4-FFF2-40B4-BE49-F238E27FC236}">
                  <a16:creationId xmlns:a16="http://schemas.microsoft.com/office/drawing/2014/main" id="{4089CEC5-78BC-5911-9E51-6FE84450DCB5}"/>
                </a:ext>
              </a:extLst>
            </p:cNvPr>
            <p:cNvSpPr>
              <a:spLocks noChangeShapeType="1"/>
            </p:cNvSpPr>
            <p:nvPr/>
          </p:nvSpPr>
          <p:spPr bwMode="auto">
            <a:xfrm flipH="1">
              <a:off x="-296955" y="156872"/>
              <a:ext cx="673023" cy="1983"/>
            </a:xfrm>
            <a:prstGeom prst="line">
              <a:avLst/>
            </a:prstGeom>
            <a:noFill/>
            <a:ln w="25400" cap="flat" cmpd="sng">
              <a:solidFill>
                <a:srgbClr val="718841"/>
              </a:solidFill>
              <a:prstDash val="solid"/>
              <a:round/>
              <a:headEnd type="triangle" w="med" len="med"/>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600" dirty="0">
                <a:latin typeface="Helvetica" charset="0"/>
                <a:cs typeface="Helvetica" charset="0"/>
                <a:sym typeface="Helvetica" charset="0"/>
              </a:endParaRPr>
            </a:p>
          </p:txBody>
        </p:sp>
        <p:sp>
          <p:nvSpPr>
            <p:cNvPr id="10" name="AutoShape 7">
              <a:extLst>
                <a:ext uri="{FF2B5EF4-FFF2-40B4-BE49-F238E27FC236}">
                  <a16:creationId xmlns:a16="http://schemas.microsoft.com/office/drawing/2014/main" id="{5F8760DB-A279-CC68-2165-8F8D3D2AF28F}"/>
                </a:ext>
              </a:extLst>
            </p:cNvPr>
            <p:cNvSpPr>
              <a:spLocks/>
            </p:cNvSpPr>
            <p:nvPr/>
          </p:nvSpPr>
          <p:spPr bwMode="auto">
            <a:xfrm>
              <a:off x="421502" y="-417449"/>
              <a:ext cx="1571862" cy="8763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400" b="1" dirty="0">
                  <a:solidFill>
                    <a:srgbClr val="404040"/>
                  </a:solidFill>
                </a:rPr>
                <a:t>Ajusta por el principio de pertinencia para que refleje las inversiones y desinversiones.</a:t>
              </a:r>
              <a:endParaRPr lang="es-ES" sz="1400" dirty="0"/>
            </a:p>
          </p:txBody>
        </p:sp>
      </p:grpSp>
      <p:sp>
        <p:nvSpPr>
          <p:cNvPr id="11" name="Marcador de número de diapositiva 3">
            <a:extLst>
              <a:ext uri="{FF2B5EF4-FFF2-40B4-BE49-F238E27FC236}">
                <a16:creationId xmlns:a16="http://schemas.microsoft.com/office/drawing/2014/main" id="{1EF909ED-C8BF-1B36-7F45-4B64630F0573}"/>
              </a:ext>
            </a:extLst>
          </p:cNvPr>
          <p:cNvSpPr txBox="1">
            <a:spLocks/>
          </p:cNvSpPr>
          <p:nvPr/>
        </p:nvSpPr>
        <p:spPr>
          <a:xfrm>
            <a:off x="10558300" y="59561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1400" b="1" smtClean="0"/>
              <a:pPr/>
              <a:t>31</a:t>
            </a:fld>
            <a:endParaRPr lang="en-US" sz="1400" b="1" dirty="0"/>
          </a:p>
        </p:txBody>
      </p:sp>
      <p:grpSp>
        <p:nvGrpSpPr>
          <p:cNvPr id="4" name="Grupo 3">
            <a:extLst>
              <a:ext uri="{FF2B5EF4-FFF2-40B4-BE49-F238E27FC236}">
                <a16:creationId xmlns:a16="http://schemas.microsoft.com/office/drawing/2014/main" id="{A481BB51-4A5C-8DB0-9653-98511B840C47}"/>
              </a:ext>
            </a:extLst>
          </p:cNvPr>
          <p:cNvGrpSpPr/>
          <p:nvPr/>
        </p:nvGrpSpPr>
        <p:grpSpPr>
          <a:xfrm>
            <a:off x="2208718" y="1939627"/>
            <a:ext cx="6015174" cy="2206595"/>
            <a:chOff x="1804678" y="1905759"/>
            <a:chExt cx="5403850" cy="2206595"/>
          </a:xfrm>
        </p:grpSpPr>
        <p:sp>
          <p:nvSpPr>
            <p:cNvPr id="12" name="AutoShape 12">
              <a:extLst>
                <a:ext uri="{FF2B5EF4-FFF2-40B4-BE49-F238E27FC236}">
                  <a16:creationId xmlns:a16="http://schemas.microsoft.com/office/drawing/2014/main" id="{050E4278-C238-1367-0AEC-01C70AA7EC59}"/>
                </a:ext>
              </a:extLst>
            </p:cNvPr>
            <p:cNvSpPr>
              <a:spLocks/>
            </p:cNvSpPr>
            <p:nvPr/>
          </p:nvSpPr>
          <p:spPr bwMode="auto">
            <a:xfrm>
              <a:off x="1804678" y="1905759"/>
              <a:ext cx="5403850"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lnSpc>
                  <a:spcPct val="120000"/>
                </a:lnSpc>
              </a:pPr>
              <a:endParaRPr lang="es-ES" sz="900" dirty="0">
                <a:cs typeface="Arial" charset="0"/>
                <a:sym typeface="Arial" charset="0"/>
              </a:endParaRPr>
            </a:p>
            <a:p>
              <a:pPr lvl="1">
                <a:lnSpc>
                  <a:spcPct val="120000"/>
                </a:lnSpc>
              </a:pPr>
              <a:r>
                <a:rPr lang="es-ES" sz="2000" dirty="0">
                  <a:cs typeface="Arial" charset="0"/>
                  <a:sym typeface="Arial" charset="0"/>
                </a:rPr>
                <a:t>(+) Ingresos</a:t>
              </a:r>
            </a:p>
            <a:p>
              <a:pPr lvl="1">
                <a:lnSpc>
                  <a:spcPct val="120000"/>
                </a:lnSpc>
              </a:pPr>
              <a:r>
                <a:rPr lang="es-ES" sz="2000" dirty="0">
                  <a:cs typeface="Arial" charset="0"/>
                  <a:sym typeface="Arial" charset="0"/>
                </a:rPr>
                <a:t>(-)  Costos de Venta</a:t>
              </a:r>
            </a:p>
            <a:p>
              <a:pPr lvl="1">
                <a:lnSpc>
                  <a:spcPct val="120000"/>
                </a:lnSpc>
              </a:pPr>
              <a:endParaRPr lang="es-ES" sz="400" b="1" dirty="0">
                <a:solidFill>
                  <a:srgbClr val="C00000"/>
                </a:solidFill>
                <a:cs typeface="Arial" charset="0"/>
                <a:sym typeface="Arial" charset="0"/>
              </a:endParaRPr>
            </a:p>
            <a:p>
              <a:pPr lvl="1">
                <a:lnSpc>
                  <a:spcPct val="120000"/>
                </a:lnSpc>
              </a:pPr>
              <a:r>
                <a:rPr lang="es-ES" sz="2000" b="1" dirty="0">
                  <a:solidFill>
                    <a:srgbClr val="C00000"/>
                  </a:solidFill>
                  <a:cs typeface="Arial" charset="0"/>
                  <a:sym typeface="Arial" charset="0"/>
                </a:rPr>
                <a:t>      Utilidad Bruta</a:t>
              </a:r>
            </a:p>
            <a:p>
              <a:pPr lvl="1">
                <a:lnSpc>
                  <a:spcPct val="120000"/>
                </a:lnSpc>
              </a:pPr>
              <a:r>
                <a:rPr lang="es-ES" sz="2000" dirty="0">
                  <a:cs typeface="Arial" charset="0"/>
                  <a:sym typeface="Arial" charset="0"/>
                </a:rPr>
                <a:t>(-)  Gastos AOM</a:t>
              </a:r>
            </a:p>
            <a:p>
              <a:pPr lvl="1">
                <a:lnSpc>
                  <a:spcPct val="120000"/>
                </a:lnSpc>
              </a:pPr>
              <a:r>
                <a:rPr lang="es-ES" sz="2000" dirty="0">
                  <a:cs typeface="Arial" charset="0"/>
                  <a:sym typeface="Arial" charset="0"/>
                </a:rPr>
                <a:t>(-)  Depreciaciones &amp; Amortizaciones</a:t>
              </a:r>
            </a:p>
            <a:p>
              <a:pPr lvl="1">
                <a:lnSpc>
                  <a:spcPct val="120000"/>
                </a:lnSpc>
              </a:pPr>
              <a:r>
                <a:rPr lang="es-ES" sz="2000" b="1" dirty="0">
                  <a:solidFill>
                    <a:srgbClr val="C00000"/>
                  </a:solidFill>
                  <a:cs typeface="Arial" charset="0"/>
                  <a:sym typeface="Arial" charset="0"/>
                </a:rPr>
                <a:t>      EBIT (UAII)</a:t>
              </a:r>
              <a:endParaRPr lang="es-ES" sz="2000" dirty="0">
                <a:solidFill>
                  <a:srgbClr val="C00000"/>
                </a:solidFill>
                <a:cs typeface="Arial" charset="0"/>
                <a:sym typeface="Arial" charset="0"/>
              </a:endParaRPr>
            </a:p>
            <a:p>
              <a:pPr lvl="1">
                <a:lnSpc>
                  <a:spcPct val="120000"/>
                </a:lnSpc>
              </a:pPr>
              <a:endParaRPr lang="es-ES" sz="2000" dirty="0">
                <a:cs typeface="Arial" charset="0"/>
                <a:sym typeface="Arial" charset="0"/>
              </a:endParaRPr>
            </a:p>
          </p:txBody>
        </p:sp>
        <p:sp>
          <p:nvSpPr>
            <p:cNvPr id="13" name="Line 14">
              <a:extLst>
                <a:ext uri="{FF2B5EF4-FFF2-40B4-BE49-F238E27FC236}">
                  <a16:creationId xmlns:a16="http://schemas.microsoft.com/office/drawing/2014/main" id="{FF711E4E-FE2F-47F1-4D09-16F832D69006}"/>
                </a:ext>
              </a:extLst>
            </p:cNvPr>
            <p:cNvSpPr>
              <a:spLocks noChangeShapeType="1"/>
            </p:cNvSpPr>
            <p:nvPr/>
          </p:nvSpPr>
          <p:spPr bwMode="auto">
            <a:xfrm flipV="1">
              <a:off x="2284104" y="2843228"/>
              <a:ext cx="3640132" cy="44285"/>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sp>
          <p:nvSpPr>
            <p:cNvPr id="14" name="Line 15">
              <a:extLst>
                <a:ext uri="{FF2B5EF4-FFF2-40B4-BE49-F238E27FC236}">
                  <a16:creationId xmlns:a16="http://schemas.microsoft.com/office/drawing/2014/main" id="{3EFCB77B-6FB1-2170-E987-E1B55D8DC888}"/>
                </a:ext>
              </a:extLst>
            </p:cNvPr>
            <p:cNvSpPr>
              <a:spLocks noChangeShapeType="1"/>
            </p:cNvSpPr>
            <p:nvPr/>
          </p:nvSpPr>
          <p:spPr bwMode="auto">
            <a:xfrm flipV="1">
              <a:off x="2320446" y="4011003"/>
              <a:ext cx="3602032" cy="2594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grpSp>
      <p:grpSp>
        <p:nvGrpSpPr>
          <p:cNvPr id="15" name="Grupo 14">
            <a:extLst>
              <a:ext uri="{FF2B5EF4-FFF2-40B4-BE49-F238E27FC236}">
                <a16:creationId xmlns:a16="http://schemas.microsoft.com/office/drawing/2014/main" id="{E70B4ED6-EDE5-CC7F-1CAB-2A3E4CAC1A57}"/>
              </a:ext>
            </a:extLst>
          </p:cNvPr>
          <p:cNvGrpSpPr/>
          <p:nvPr/>
        </p:nvGrpSpPr>
        <p:grpSpPr>
          <a:xfrm>
            <a:off x="2554562" y="4022048"/>
            <a:ext cx="5770018" cy="2365953"/>
            <a:chOff x="2150522" y="3988180"/>
            <a:chExt cx="5770018" cy="2365953"/>
          </a:xfrm>
        </p:grpSpPr>
        <p:sp>
          <p:nvSpPr>
            <p:cNvPr id="16" name="AutoShape 1">
              <a:extLst>
                <a:ext uri="{FF2B5EF4-FFF2-40B4-BE49-F238E27FC236}">
                  <a16:creationId xmlns:a16="http://schemas.microsoft.com/office/drawing/2014/main" id="{EF954A61-6F8E-AEBA-D62B-B4404922737F}"/>
                </a:ext>
              </a:extLst>
            </p:cNvPr>
            <p:cNvSpPr>
              <a:spLocks/>
            </p:cNvSpPr>
            <p:nvPr/>
          </p:nvSpPr>
          <p:spPr bwMode="auto">
            <a:xfrm>
              <a:off x="2150522" y="3988180"/>
              <a:ext cx="5770018"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nchor="t"/>
            <a:lstStyle/>
            <a:p>
              <a:pPr lvl="1"/>
              <a:endParaRPr lang="es-ES" sz="300" dirty="0">
                <a:solidFill>
                  <a:schemeClr val="accent1"/>
                </a:solidFill>
                <a:cs typeface="Arial" charset="0"/>
                <a:sym typeface="Arial" charset="0"/>
              </a:endParaRPr>
            </a:p>
            <a:p>
              <a:r>
                <a:rPr lang="es-ES" sz="2000" dirty="0">
                  <a:cs typeface="Arial" charset="0"/>
                  <a:sym typeface="Arial" charset="0"/>
                </a:rPr>
                <a:t>     </a:t>
              </a:r>
            </a:p>
            <a:p>
              <a:r>
                <a:rPr lang="es-ES" sz="2000" dirty="0">
                  <a:cs typeface="Arial" charset="0"/>
                  <a:sym typeface="Arial" charset="0"/>
                </a:rPr>
                <a:t>       (+) Depreciaciones &amp; Amortizaciones</a:t>
              </a:r>
            </a:p>
            <a:p>
              <a:endParaRPr lang="es-ES" sz="100" dirty="0">
                <a:solidFill>
                  <a:schemeClr val="accent1"/>
                </a:solidFill>
                <a:cs typeface="Arial" charset="0"/>
                <a:sym typeface="Arial" charset="0"/>
              </a:endParaRPr>
            </a:p>
            <a:p>
              <a:r>
                <a:rPr lang="es-ES" sz="2000" dirty="0">
                  <a:solidFill>
                    <a:schemeClr val="accent1"/>
                  </a:solidFill>
                  <a:cs typeface="Arial" charset="0"/>
                  <a:sym typeface="Arial" charset="0"/>
                </a:rPr>
                <a:t>        </a:t>
              </a:r>
              <a:r>
                <a:rPr lang="es-ES" sz="2000" b="1" dirty="0">
                  <a:solidFill>
                    <a:srgbClr val="C00000"/>
                  </a:solidFill>
                  <a:cs typeface="Arial" charset="0"/>
                  <a:sym typeface="Arial" charset="0"/>
                </a:rPr>
                <a:t>EBITDA</a:t>
              </a:r>
              <a:endParaRPr lang="es-ES" sz="2000" dirty="0">
                <a:solidFill>
                  <a:srgbClr val="C00000"/>
                </a:solidFill>
                <a:cs typeface="Arial" charset="0"/>
                <a:sym typeface="Arial" charset="0"/>
              </a:endParaRPr>
            </a:p>
            <a:p>
              <a:endParaRPr lang="es-ES" sz="400" dirty="0">
                <a:cs typeface="Arial" charset="0"/>
                <a:sym typeface="Arial" charset="0"/>
              </a:endParaRPr>
            </a:p>
            <a:p>
              <a:r>
                <a:rPr lang="es-ES" sz="2000" dirty="0">
                  <a:cs typeface="Arial" charset="0"/>
                  <a:sym typeface="Arial" charset="0"/>
                </a:rPr>
                <a:t>       (-)  Variación en WK</a:t>
              </a:r>
            </a:p>
            <a:p>
              <a:r>
                <a:rPr lang="es-ES" sz="2000">
                  <a:cs typeface="Arial"/>
                  <a:sym typeface="Arial" charset="0"/>
                </a:rPr>
                <a:t>       (-)  Variación de PPE e Intangibles (CAPEX)</a:t>
              </a:r>
              <a:endParaRPr lang="es-ES" sz="2000">
                <a:cs typeface="Arial"/>
              </a:endParaRPr>
            </a:p>
            <a:p>
              <a:r>
                <a:rPr lang="es-ES" sz="2000" dirty="0">
                  <a:cs typeface="Arial"/>
                  <a:sym typeface="Arial" charset="0"/>
                </a:rPr>
                <a:t>       (-)  Impuesto Operacional (EBIT • Tasa Imp)</a:t>
              </a:r>
              <a:br>
                <a:rPr lang="es-ES" sz="2000" dirty="0">
                  <a:cs typeface="Arial" charset="0"/>
                </a:rPr>
              </a:br>
              <a:r>
                <a:rPr lang="es-ES" sz="2000">
                  <a:cs typeface="Arial"/>
                  <a:sym typeface="Arial" charset="0"/>
                </a:rPr>
                <a:t>       (-)  Impuesto por Ganancia/Pérdida Ocasional</a:t>
              </a:r>
              <a:endParaRPr lang="es-ES" sz="2000">
                <a:cs typeface="Arial"/>
              </a:endParaRPr>
            </a:p>
            <a:p>
              <a:endParaRPr lang="es-ES" sz="900" dirty="0">
                <a:solidFill>
                  <a:schemeClr val="accent1"/>
                </a:solidFill>
                <a:cs typeface="Arial" charset="0"/>
                <a:sym typeface="Arial" charset="0"/>
              </a:endParaRPr>
            </a:p>
            <a:p>
              <a:r>
                <a:rPr lang="es-ES" sz="2000" b="1" dirty="0">
                  <a:solidFill>
                    <a:schemeClr val="accent1"/>
                  </a:solidFill>
                  <a:cs typeface="Arial" charset="0"/>
                  <a:sym typeface="Arial" charset="0"/>
                </a:rPr>
                <a:t>       </a:t>
              </a:r>
              <a:r>
                <a:rPr lang="es-ES" sz="2000" b="1" dirty="0">
                  <a:solidFill>
                    <a:srgbClr val="C00000"/>
                  </a:solidFill>
                  <a:cs typeface="Arial" charset="0"/>
                  <a:sym typeface="Arial" charset="0"/>
                </a:rPr>
                <a:t>Flujo de Caja Libre (FCL)</a:t>
              </a:r>
            </a:p>
          </p:txBody>
        </p:sp>
        <p:sp>
          <p:nvSpPr>
            <p:cNvPr id="17" name="Line 2">
              <a:extLst>
                <a:ext uri="{FF2B5EF4-FFF2-40B4-BE49-F238E27FC236}">
                  <a16:creationId xmlns:a16="http://schemas.microsoft.com/office/drawing/2014/main" id="{3EDA4307-E8EB-3E63-F518-9B1765B1E8F7}"/>
                </a:ext>
              </a:extLst>
            </p:cNvPr>
            <p:cNvSpPr>
              <a:spLocks noChangeShapeType="1"/>
            </p:cNvSpPr>
            <p:nvPr/>
          </p:nvSpPr>
          <p:spPr bwMode="auto">
            <a:xfrm flipV="1">
              <a:off x="2407281" y="5037125"/>
              <a:ext cx="398103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sp>
          <p:nvSpPr>
            <p:cNvPr id="18" name="Line 3">
              <a:extLst>
                <a:ext uri="{FF2B5EF4-FFF2-40B4-BE49-F238E27FC236}">
                  <a16:creationId xmlns:a16="http://schemas.microsoft.com/office/drawing/2014/main" id="{AB91391E-23A2-7E4B-2182-1A53A573F9EB}"/>
                </a:ext>
              </a:extLst>
            </p:cNvPr>
            <p:cNvSpPr>
              <a:spLocks noChangeShapeType="1"/>
            </p:cNvSpPr>
            <p:nvPr/>
          </p:nvSpPr>
          <p:spPr bwMode="auto">
            <a:xfrm>
              <a:off x="2384111" y="6341435"/>
              <a:ext cx="400420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grpSp>
      <p:sp>
        <p:nvSpPr>
          <p:cNvPr id="19" name="Abrir llave 18">
            <a:extLst>
              <a:ext uri="{FF2B5EF4-FFF2-40B4-BE49-F238E27FC236}">
                <a16:creationId xmlns:a16="http://schemas.microsoft.com/office/drawing/2014/main" id="{728FE288-73DE-3DB4-0D19-BBF68E4AEE2A}"/>
              </a:ext>
            </a:extLst>
          </p:cNvPr>
          <p:cNvSpPr/>
          <p:nvPr/>
        </p:nvSpPr>
        <p:spPr>
          <a:xfrm>
            <a:off x="2482788" y="2253085"/>
            <a:ext cx="205356" cy="2160079"/>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20" name="CuadroTexto 19">
            <a:extLst>
              <a:ext uri="{FF2B5EF4-FFF2-40B4-BE49-F238E27FC236}">
                <a16:creationId xmlns:a16="http://schemas.microsoft.com/office/drawing/2014/main" id="{AFFAF2FF-5A29-5E75-BF6D-DD9992B64397}"/>
              </a:ext>
            </a:extLst>
          </p:cNvPr>
          <p:cNvSpPr txBox="1"/>
          <p:nvPr/>
        </p:nvSpPr>
        <p:spPr>
          <a:xfrm>
            <a:off x="531363" y="2855425"/>
            <a:ext cx="2005888" cy="646331"/>
          </a:xfrm>
          <a:prstGeom prst="rect">
            <a:avLst/>
          </a:prstGeom>
          <a:noFill/>
        </p:spPr>
        <p:txBody>
          <a:bodyPr wrap="square" rtlCol="0">
            <a:spAutoFit/>
          </a:bodyPr>
          <a:lstStyle/>
          <a:p>
            <a:pPr algn="ctr"/>
            <a:r>
              <a:rPr lang="es-CO" b="1" dirty="0">
                <a:solidFill>
                  <a:schemeClr val="accent1"/>
                </a:solidFill>
                <a:latin typeface="Century Gothic"/>
              </a:rPr>
              <a:t>Estado de Resultados</a:t>
            </a:r>
          </a:p>
        </p:txBody>
      </p:sp>
      <p:sp>
        <p:nvSpPr>
          <p:cNvPr id="21" name="Abrir llave 20">
            <a:extLst>
              <a:ext uri="{FF2B5EF4-FFF2-40B4-BE49-F238E27FC236}">
                <a16:creationId xmlns:a16="http://schemas.microsoft.com/office/drawing/2014/main" id="{ABCCCA07-CF42-3FB7-6198-F440A1EE38BE}"/>
              </a:ext>
            </a:extLst>
          </p:cNvPr>
          <p:cNvSpPr/>
          <p:nvPr/>
        </p:nvSpPr>
        <p:spPr>
          <a:xfrm>
            <a:off x="2469046" y="4472378"/>
            <a:ext cx="219098" cy="1971644"/>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22" name="CuadroTexto 21">
            <a:extLst>
              <a:ext uri="{FF2B5EF4-FFF2-40B4-BE49-F238E27FC236}">
                <a16:creationId xmlns:a16="http://schemas.microsoft.com/office/drawing/2014/main" id="{478E6468-A8D2-BC0E-C948-96B1EA829501}"/>
              </a:ext>
            </a:extLst>
          </p:cNvPr>
          <p:cNvSpPr txBox="1"/>
          <p:nvPr/>
        </p:nvSpPr>
        <p:spPr>
          <a:xfrm>
            <a:off x="531363" y="5161142"/>
            <a:ext cx="2005888" cy="646331"/>
          </a:xfrm>
          <a:prstGeom prst="rect">
            <a:avLst/>
          </a:prstGeom>
          <a:noFill/>
        </p:spPr>
        <p:txBody>
          <a:bodyPr wrap="square" rtlCol="0">
            <a:spAutoFit/>
          </a:bodyPr>
          <a:lstStyle/>
          <a:p>
            <a:pPr algn="ctr"/>
            <a:r>
              <a:rPr lang="es-CO" b="1" dirty="0">
                <a:solidFill>
                  <a:schemeClr val="accent1"/>
                </a:solidFill>
                <a:latin typeface="Century Gothic"/>
              </a:rPr>
              <a:t>Flujo de Caja Libre</a:t>
            </a:r>
          </a:p>
        </p:txBody>
      </p:sp>
    </p:spTree>
    <p:extLst>
      <p:ext uri="{BB962C8B-B14F-4D97-AF65-F5344CB8AC3E}">
        <p14:creationId xmlns:p14="http://schemas.microsoft.com/office/powerpoint/2010/main" val="139275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87069" y="2285370"/>
            <a:ext cx="9017861" cy="3670767"/>
          </a:xfrm>
        </p:spPr>
        <p:txBody>
          <a:bodyPr>
            <a:normAutofit/>
          </a:bodyPr>
          <a:lstStyle/>
          <a:p>
            <a:pPr algn="just">
              <a:buFont typeface="Arial"/>
              <a:buChar char="•"/>
            </a:pPr>
            <a:r>
              <a:rPr lang="es-ES" dirty="0">
                <a:solidFill>
                  <a:schemeClr val="accent1"/>
                </a:solidFill>
                <a:latin typeface="Century Gothic"/>
              </a:rPr>
              <a:t>El CAPEX (Capital </a:t>
            </a:r>
            <a:r>
              <a:rPr lang="es-ES" dirty="0" err="1">
                <a:solidFill>
                  <a:schemeClr val="accent1"/>
                </a:solidFill>
                <a:latin typeface="Century Gothic"/>
              </a:rPr>
              <a:t>Expenditures</a:t>
            </a:r>
            <a:r>
              <a:rPr lang="es-ES" dirty="0">
                <a:solidFill>
                  <a:schemeClr val="accent1"/>
                </a:solidFill>
                <a:latin typeface="Century Gothic"/>
              </a:rPr>
              <a:t>) hacer referencia a la compra y venta de Propiedad, Planta y Equipo e Activos Intangibles de una firma o un proyecto de inversión. </a:t>
            </a:r>
          </a:p>
          <a:p>
            <a:pPr algn="just">
              <a:buFont typeface="Arial"/>
              <a:buChar char="•"/>
            </a:pPr>
            <a:endParaRPr lang="es-ES" dirty="0">
              <a:solidFill>
                <a:schemeClr val="accent1"/>
              </a:solidFill>
              <a:latin typeface="Century Gothic"/>
            </a:endParaRPr>
          </a:p>
          <a:p>
            <a:pPr algn="just">
              <a:buFont typeface="Arial"/>
              <a:buChar char="•"/>
            </a:pPr>
            <a:r>
              <a:rPr lang="es-ES" dirty="0">
                <a:solidFill>
                  <a:schemeClr val="accent1"/>
                </a:solidFill>
                <a:latin typeface="Century Gothic"/>
              </a:rPr>
              <a:t>Este es un ajuste adicional a la Utilidad Operacional (EBIT) para incorporar movimientos de caja que no se evidencian en el Estado de Resultados.</a:t>
            </a:r>
          </a:p>
          <a:p>
            <a:pPr algn="just">
              <a:buFont typeface="Arial"/>
              <a:buChar char="•"/>
            </a:pPr>
            <a:endParaRPr lang="es-ES" sz="2200" dirty="0">
              <a:solidFill>
                <a:schemeClr val="accent1"/>
              </a:solidFill>
            </a:endParaRPr>
          </a:p>
          <a:p>
            <a:pPr algn="just">
              <a:buFont typeface="Arial"/>
              <a:buChar char="•"/>
            </a:pPr>
            <a:endParaRPr lang="es-ES" sz="2200" dirty="0">
              <a:solidFill>
                <a:schemeClr val="accent1"/>
              </a:solidFill>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32</a:t>
            </a:fld>
            <a:endParaRPr lang="en-US" sz="1800" dirty="0"/>
          </a:p>
        </p:txBody>
      </p:sp>
      <p:grpSp>
        <p:nvGrpSpPr>
          <p:cNvPr id="5" name="Grupo 4">
            <a:extLst>
              <a:ext uri="{FF2B5EF4-FFF2-40B4-BE49-F238E27FC236}">
                <a16:creationId xmlns:a16="http://schemas.microsoft.com/office/drawing/2014/main" id="{A0A8E4A7-DFE5-FF41-2EE3-4B955E2B3169}"/>
              </a:ext>
            </a:extLst>
          </p:cNvPr>
          <p:cNvGrpSpPr/>
          <p:nvPr/>
        </p:nvGrpSpPr>
        <p:grpSpPr>
          <a:xfrm>
            <a:off x="0" y="12287"/>
            <a:ext cx="12192000" cy="367433"/>
            <a:chOff x="0" y="12287"/>
            <a:chExt cx="12192000" cy="367433"/>
          </a:xfrm>
        </p:grpSpPr>
        <p:sp>
          <p:nvSpPr>
            <p:cNvPr id="12" name="Rectángulo 11">
              <a:extLst>
                <a:ext uri="{FF2B5EF4-FFF2-40B4-BE49-F238E27FC236}">
                  <a16:creationId xmlns:a16="http://schemas.microsoft.com/office/drawing/2014/main" id="{5289628F-C09B-C94F-E907-7A0F6532B7FD}"/>
                </a:ext>
              </a:extLst>
            </p:cNvPr>
            <p:cNvSpPr/>
            <p:nvPr/>
          </p:nvSpPr>
          <p:spPr>
            <a:xfrm>
              <a:off x="1066395" y="12287"/>
              <a:ext cx="11125605" cy="3475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3" name="Picture 6" descr="Resultado de imagen para universidad de los andes LOGO">
              <a:extLst>
                <a:ext uri="{FF2B5EF4-FFF2-40B4-BE49-F238E27FC236}">
                  <a16:creationId xmlns:a16="http://schemas.microsoft.com/office/drawing/2014/main" id="{9303BFAC-AB77-26FB-D750-C3F4F0C9F8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65" t="24006" r="7786" b="27603"/>
            <a:stretch/>
          </p:blipFill>
          <p:spPr bwMode="auto">
            <a:xfrm>
              <a:off x="0" y="21812"/>
              <a:ext cx="1074148" cy="347519"/>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B7A44B4B-28D7-9FA5-0F6C-D04044D74324}"/>
                </a:ext>
              </a:extLst>
            </p:cNvPr>
            <p:cNvSpPr/>
            <p:nvPr/>
          </p:nvSpPr>
          <p:spPr>
            <a:xfrm>
              <a:off x="1471540" y="118110"/>
              <a:ext cx="2725426" cy="261610"/>
            </a:xfrm>
            <a:prstGeom prst="rect">
              <a:avLst/>
            </a:prstGeom>
          </p:spPr>
          <p:txBody>
            <a:bodyPr wrap="none">
              <a:spAutoFit/>
            </a:bodyPr>
            <a:lstStyle/>
            <a:p>
              <a:pPr algn="r"/>
              <a:r>
                <a:rPr lang="es-CO" sz="1100" b="1" dirty="0">
                  <a:solidFill>
                    <a:schemeClr val="accent2">
                      <a:lumMod val="50000"/>
                    </a:schemeClr>
                  </a:solidFill>
                  <a:sym typeface="Gill Sans Light"/>
                </a:rPr>
                <a:t>Departamento de Ingeniería Industrial</a:t>
              </a:r>
              <a:endParaRPr lang="es-CO" sz="1100" b="1" dirty="0">
                <a:solidFill>
                  <a:schemeClr val="accent2">
                    <a:lumMod val="50000"/>
                  </a:schemeClr>
                </a:solidFill>
              </a:endParaRPr>
            </a:p>
          </p:txBody>
        </p:sp>
        <p:sp>
          <p:nvSpPr>
            <p:cNvPr id="15" name="Rectángulo 14">
              <a:extLst>
                <a:ext uri="{FF2B5EF4-FFF2-40B4-BE49-F238E27FC236}">
                  <a16:creationId xmlns:a16="http://schemas.microsoft.com/office/drawing/2014/main" id="{62D5767F-FA54-8FF4-D46E-C40D55E9227C}"/>
                </a:ext>
              </a:extLst>
            </p:cNvPr>
            <p:cNvSpPr/>
            <p:nvPr/>
          </p:nvSpPr>
          <p:spPr>
            <a:xfrm>
              <a:off x="5485209" y="102867"/>
              <a:ext cx="2440092" cy="261610"/>
            </a:xfrm>
            <a:prstGeom prst="rect">
              <a:avLst/>
            </a:prstGeom>
          </p:spPr>
          <p:txBody>
            <a:bodyPr wrap="none">
              <a:spAutoFit/>
            </a:bodyPr>
            <a:lstStyle/>
            <a:p>
              <a:pPr algn="r"/>
              <a:r>
                <a:rPr lang="es-CO" sz="1100" b="1" dirty="0">
                  <a:solidFill>
                    <a:schemeClr val="accent2">
                      <a:lumMod val="50000"/>
                    </a:schemeClr>
                  </a:solidFill>
                  <a:sym typeface="Gill Sans Light"/>
                </a:rPr>
                <a:t>Curso</a:t>
              </a:r>
              <a:r>
                <a:rPr lang="es-CO" sz="1100" dirty="0">
                  <a:solidFill>
                    <a:schemeClr val="accent2">
                      <a:lumMod val="50000"/>
                    </a:schemeClr>
                  </a:solidFill>
                  <a:sym typeface="Gill Sans Light"/>
                </a:rPr>
                <a:t> Análisis de Decisión de Inversión</a:t>
              </a:r>
              <a:endParaRPr lang="es-CO" sz="1100" dirty="0">
                <a:solidFill>
                  <a:schemeClr val="accent2">
                    <a:lumMod val="50000"/>
                  </a:schemeClr>
                </a:solidFill>
              </a:endParaRPr>
            </a:p>
          </p:txBody>
        </p:sp>
        <p:sp>
          <p:nvSpPr>
            <p:cNvPr id="16" name="Rectángulo 15">
              <a:extLst>
                <a:ext uri="{FF2B5EF4-FFF2-40B4-BE49-F238E27FC236}">
                  <a16:creationId xmlns:a16="http://schemas.microsoft.com/office/drawing/2014/main" id="{E9111F70-0CF1-7C8D-F0D9-3F91BBB23DC1}"/>
                </a:ext>
              </a:extLst>
            </p:cNvPr>
            <p:cNvSpPr/>
            <p:nvPr/>
          </p:nvSpPr>
          <p:spPr>
            <a:xfrm>
              <a:off x="9095303" y="118110"/>
              <a:ext cx="2642070" cy="261610"/>
            </a:xfrm>
            <a:prstGeom prst="rect">
              <a:avLst/>
            </a:prstGeom>
          </p:spPr>
          <p:txBody>
            <a:bodyPr wrap="none">
              <a:spAutoFit/>
            </a:bodyPr>
            <a:lstStyle/>
            <a:p>
              <a:pPr algn="r"/>
              <a:r>
                <a:rPr lang="es-CO" sz="1100" b="1" dirty="0">
                  <a:solidFill>
                    <a:schemeClr val="accent2">
                      <a:lumMod val="50000"/>
                    </a:schemeClr>
                  </a:solidFill>
                  <a:sym typeface="Gill Sans Light"/>
                </a:rPr>
                <a:t>Profesora</a:t>
              </a:r>
              <a:r>
                <a:rPr lang="es-CO" sz="1100" dirty="0">
                  <a:solidFill>
                    <a:schemeClr val="accent2">
                      <a:lumMod val="50000"/>
                    </a:schemeClr>
                  </a:solidFill>
                  <a:sym typeface="Gill Sans Light"/>
                </a:rPr>
                <a:t> María Fernanda Valero Sánchez</a:t>
              </a:r>
              <a:endParaRPr lang="es-CO" sz="1100" dirty="0">
                <a:solidFill>
                  <a:schemeClr val="accent2">
                    <a:lumMod val="50000"/>
                  </a:schemeClr>
                </a:solidFill>
              </a:endParaRPr>
            </a:p>
          </p:txBody>
        </p:sp>
      </p:grpSp>
      <p:sp>
        <p:nvSpPr>
          <p:cNvPr id="8" name="Título 1">
            <a:extLst>
              <a:ext uri="{FF2B5EF4-FFF2-40B4-BE49-F238E27FC236}">
                <a16:creationId xmlns:a16="http://schemas.microsoft.com/office/drawing/2014/main" id="{EB605574-82ED-AD98-0C11-CADF2401BEB2}"/>
              </a:ext>
            </a:extLst>
          </p:cNvPr>
          <p:cNvSpPr>
            <a:spLocks noGrp="1"/>
          </p:cNvSpPr>
          <p:nvPr>
            <p:ph type="title"/>
          </p:nvPr>
        </p:nvSpPr>
        <p:spPr>
          <a:xfrm>
            <a:off x="581192" y="702156"/>
            <a:ext cx="11029616" cy="1013800"/>
          </a:xfrm>
        </p:spPr>
        <p:txBody>
          <a:bodyPr/>
          <a:lstStyle/>
          <a:p>
            <a:r>
              <a:rPr lang="es-ES" dirty="0">
                <a:latin typeface="Century Gothic"/>
              </a:rPr>
              <a:t>Variación de PPE e Intangibles (CAPEX)</a:t>
            </a:r>
          </a:p>
        </p:txBody>
      </p:sp>
    </p:spTree>
    <p:extLst>
      <p:ext uri="{BB962C8B-B14F-4D97-AF65-F5344CB8AC3E}">
        <p14:creationId xmlns:p14="http://schemas.microsoft.com/office/powerpoint/2010/main" val="3485703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C4DB0-AA9E-22A6-8A6E-52D73637C02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9EBB32B-36FE-E4F1-FBB6-4651D18D5E46}"/>
              </a:ext>
            </a:extLst>
          </p:cNvPr>
          <p:cNvSpPr>
            <a:spLocks noGrp="1"/>
          </p:cNvSpPr>
          <p:nvPr>
            <p:ph type="sldNum" sz="quarter" idx="12"/>
          </p:nvPr>
        </p:nvSpPr>
        <p:spPr/>
        <p:txBody>
          <a:bodyPr/>
          <a:lstStyle/>
          <a:p>
            <a:fld id="{5E3E23BA-6E79-2442-BA73-D218A5E297C3}" type="slidenum">
              <a:rPr lang="en-US" sz="1800" smtClean="0"/>
              <a:t>33</a:t>
            </a:fld>
            <a:endParaRPr lang="en-US" sz="1800" dirty="0"/>
          </a:p>
        </p:txBody>
      </p:sp>
      <p:grpSp>
        <p:nvGrpSpPr>
          <p:cNvPr id="5" name="Grupo 4">
            <a:extLst>
              <a:ext uri="{FF2B5EF4-FFF2-40B4-BE49-F238E27FC236}">
                <a16:creationId xmlns:a16="http://schemas.microsoft.com/office/drawing/2014/main" id="{7E5BAE5D-41C1-052E-1CF7-56673C1B6916}"/>
              </a:ext>
            </a:extLst>
          </p:cNvPr>
          <p:cNvGrpSpPr/>
          <p:nvPr/>
        </p:nvGrpSpPr>
        <p:grpSpPr>
          <a:xfrm>
            <a:off x="0" y="12287"/>
            <a:ext cx="12192000" cy="367433"/>
            <a:chOff x="0" y="12287"/>
            <a:chExt cx="12192000" cy="367433"/>
          </a:xfrm>
        </p:grpSpPr>
        <p:sp>
          <p:nvSpPr>
            <p:cNvPr id="12" name="Rectángulo 11">
              <a:extLst>
                <a:ext uri="{FF2B5EF4-FFF2-40B4-BE49-F238E27FC236}">
                  <a16:creationId xmlns:a16="http://schemas.microsoft.com/office/drawing/2014/main" id="{D9224356-421A-5FE9-B9B3-37E9096587E1}"/>
                </a:ext>
              </a:extLst>
            </p:cNvPr>
            <p:cNvSpPr/>
            <p:nvPr/>
          </p:nvSpPr>
          <p:spPr>
            <a:xfrm>
              <a:off x="1066395" y="12287"/>
              <a:ext cx="11125605" cy="3475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3" name="Picture 6" descr="Resultado de imagen para universidad de los andes LOGO">
              <a:extLst>
                <a:ext uri="{FF2B5EF4-FFF2-40B4-BE49-F238E27FC236}">
                  <a16:creationId xmlns:a16="http://schemas.microsoft.com/office/drawing/2014/main" id="{6BCB0FED-23DE-9810-6E5F-2CE1CE7B5C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65" t="24006" r="7786" b="27603"/>
            <a:stretch/>
          </p:blipFill>
          <p:spPr bwMode="auto">
            <a:xfrm>
              <a:off x="0" y="21812"/>
              <a:ext cx="1074148" cy="347519"/>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DD78B9B5-DCBD-4520-26F3-57E343BCEF67}"/>
                </a:ext>
              </a:extLst>
            </p:cNvPr>
            <p:cNvSpPr/>
            <p:nvPr/>
          </p:nvSpPr>
          <p:spPr>
            <a:xfrm>
              <a:off x="1471540" y="118110"/>
              <a:ext cx="2725426" cy="261610"/>
            </a:xfrm>
            <a:prstGeom prst="rect">
              <a:avLst/>
            </a:prstGeom>
          </p:spPr>
          <p:txBody>
            <a:bodyPr wrap="none">
              <a:spAutoFit/>
            </a:bodyPr>
            <a:lstStyle/>
            <a:p>
              <a:pPr algn="r"/>
              <a:r>
                <a:rPr lang="es-CO" sz="1100" b="1" dirty="0">
                  <a:solidFill>
                    <a:schemeClr val="accent2">
                      <a:lumMod val="50000"/>
                    </a:schemeClr>
                  </a:solidFill>
                  <a:sym typeface="Gill Sans Light"/>
                </a:rPr>
                <a:t>Departamento de Ingeniería Industrial</a:t>
              </a:r>
              <a:endParaRPr lang="es-CO" sz="1100" b="1" dirty="0">
                <a:solidFill>
                  <a:schemeClr val="accent2">
                    <a:lumMod val="50000"/>
                  </a:schemeClr>
                </a:solidFill>
              </a:endParaRPr>
            </a:p>
          </p:txBody>
        </p:sp>
        <p:sp>
          <p:nvSpPr>
            <p:cNvPr id="15" name="Rectángulo 14">
              <a:extLst>
                <a:ext uri="{FF2B5EF4-FFF2-40B4-BE49-F238E27FC236}">
                  <a16:creationId xmlns:a16="http://schemas.microsoft.com/office/drawing/2014/main" id="{3DC4F738-65B9-209A-90E8-E82BFEEE4C09}"/>
                </a:ext>
              </a:extLst>
            </p:cNvPr>
            <p:cNvSpPr/>
            <p:nvPr/>
          </p:nvSpPr>
          <p:spPr>
            <a:xfrm>
              <a:off x="5485209" y="102867"/>
              <a:ext cx="2440092" cy="261610"/>
            </a:xfrm>
            <a:prstGeom prst="rect">
              <a:avLst/>
            </a:prstGeom>
          </p:spPr>
          <p:txBody>
            <a:bodyPr wrap="none">
              <a:spAutoFit/>
            </a:bodyPr>
            <a:lstStyle/>
            <a:p>
              <a:pPr algn="r"/>
              <a:r>
                <a:rPr lang="es-CO" sz="1100" b="1" dirty="0">
                  <a:solidFill>
                    <a:schemeClr val="accent2">
                      <a:lumMod val="50000"/>
                    </a:schemeClr>
                  </a:solidFill>
                  <a:sym typeface="Gill Sans Light"/>
                </a:rPr>
                <a:t>Curso</a:t>
              </a:r>
              <a:r>
                <a:rPr lang="es-CO" sz="1100" dirty="0">
                  <a:solidFill>
                    <a:schemeClr val="accent2">
                      <a:lumMod val="50000"/>
                    </a:schemeClr>
                  </a:solidFill>
                  <a:sym typeface="Gill Sans Light"/>
                </a:rPr>
                <a:t> Análisis de Decisión de Inversión</a:t>
              </a:r>
              <a:endParaRPr lang="es-CO" sz="1100" dirty="0">
                <a:solidFill>
                  <a:schemeClr val="accent2">
                    <a:lumMod val="50000"/>
                  </a:schemeClr>
                </a:solidFill>
              </a:endParaRPr>
            </a:p>
          </p:txBody>
        </p:sp>
        <p:sp>
          <p:nvSpPr>
            <p:cNvPr id="16" name="Rectángulo 15">
              <a:extLst>
                <a:ext uri="{FF2B5EF4-FFF2-40B4-BE49-F238E27FC236}">
                  <a16:creationId xmlns:a16="http://schemas.microsoft.com/office/drawing/2014/main" id="{568BB2E2-7497-4E85-B844-B20A65D8DCDC}"/>
                </a:ext>
              </a:extLst>
            </p:cNvPr>
            <p:cNvSpPr/>
            <p:nvPr/>
          </p:nvSpPr>
          <p:spPr>
            <a:xfrm>
              <a:off x="9095303" y="118110"/>
              <a:ext cx="2642070" cy="261610"/>
            </a:xfrm>
            <a:prstGeom prst="rect">
              <a:avLst/>
            </a:prstGeom>
          </p:spPr>
          <p:txBody>
            <a:bodyPr wrap="none">
              <a:spAutoFit/>
            </a:bodyPr>
            <a:lstStyle/>
            <a:p>
              <a:pPr algn="r"/>
              <a:r>
                <a:rPr lang="es-CO" sz="1100" b="1" dirty="0">
                  <a:solidFill>
                    <a:schemeClr val="accent2">
                      <a:lumMod val="50000"/>
                    </a:schemeClr>
                  </a:solidFill>
                  <a:sym typeface="Gill Sans Light"/>
                </a:rPr>
                <a:t>Profesora</a:t>
              </a:r>
              <a:r>
                <a:rPr lang="es-CO" sz="1100" dirty="0">
                  <a:solidFill>
                    <a:schemeClr val="accent2">
                      <a:lumMod val="50000"/>
                    </a:schemeClr>
                  </a:solidFill>
                  <a:sym typeface="Gill Sans Light"/>
                </a:rPr>
                <a:t> María Fernanda Valero Sánchez</a:t>
              </a:r>
              <a:endParaRPr lang="es-CO" sz="1100" dirty="0">
                <a:solidFill>
                  <a:schemeClr val="accent2">
                    <a:lumMod val="50000"/>
                  </a:schemeClr>
                </a:solidFill>
              </a:endParaRPr>
            </a:p>
          </p:txBody>
        </p:sp>
      </p:grpSp>
      <p:sp>
        <p:nvSpPr>
          <p:cNvPr id="8" name="Título 1">
            <a:extLst>
              <a:ext uri="{FF2B5EF4-FFF2-40B4-BE49-F238E27FC236}">
                <a16:creationId xmlns:a16="http://schemas.microsoft.com/office/drawing/2014/main" id="{230BE46D-3443-FFD0-EC84-35FEF6A4F95A}"/>
              </a:ext>
            </a:extLst>
          </p:cNvPr>
          <p:cNvSpPr>
            <a:spLocks noGrp="1"/>
          </p:cNvSpPr>
          <p:nvPr>
            <p:ph type="title"/>
          </p:nvPr>
        </p:nvSpPr>
        <p:spPr>
          <a:xfrm>
            <a:off x="581192" y="702156"/>
            <a:ext cx="11029616" cy="1013800"/>
          </a:xfrm>
        </p:spPr>
        <p:txBody>
          <a:bodyPr/>
          <a:lstStyle/>
          <a:p>
            <a:r>
              <a:rPr lang="es-ES" dirty="0">
                <a:latin typeface="Century Gothic"/>
              </a:rPr>
              <a:t>Variación de PPE e Intangibles (CAPEX)</a:t>
            </a:r>
          </a:p>
        </p:txBody>
      </p:sp>
      <p:sp>
        <p:nvSpPr>
          <p:cNvPr id="27" name="Marcador de contenido 2">
            <a:extLst>
              <a:ext uri="{FF2B5EF4-FFF2-40B4-BE49-F238E27FC236}">
                <a16:creationId xmlns:a16="http://schemas.microsoft.com/office/drawing/2014/main" id="{4FB84589-9688-CBA7-B448-B8DBB05DFA6E}"/>
              </a:ext>
            </a:extLst>
          </p:cNvPr>
          <p:cNvSpPr txBox="1">
            <a:spLocks/>
          </p:cNvSpPr>
          <p:nvPr/>
        </p:nvSpPr>
        <p:spPr>
          <a:xfrm>
            <a:off x="1535288" y="2252649"/>
            <a:ext cx="9144000" cy="57690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dirty="0">
                <a:solidFill>
                  <a:schemeClr val="accent1"/>
                </a:solidFill>
                <a:latin typeface="Century Gothic"/>
              </a:rPr>
              <a:t>¿Como conseguimos esta información?</a:t>
            </a:r>
          </a:p>
          <a:p>
            <a:pPr algn="just"/>
            <a:endParaRPr lang="es-ES" dirty="0">
              <a:solidFill>
                <a:schemeClr val="accent1"/>
              </a:solidFill>
              <a:latin typeface="Century Gothic"/>
            </a:endParaRPr>
          </a:p>
          <a:p>
            <a:pPr algn="just"/>
            <a:endParaRPr lang="es-ES" dirty="0"/>
          </a:p>
        </p:txBody>
      </p:sp>
      <p:sp>
        <p:nvSpPr>
          <p:cNvPr id="28" name="CuadroTexto 27">
            <a:extLst>
              <a:ext uri="{FF2B5EF4-FFF2-40B4-BE49-F238E27FC236}">
                <a16:creationId xmlns:a16="http://schemas.microsoft.com/office/drawing/2014/main" id="{95D53D7F-04F8-E40B-6EA8-308F0F6F0A6D}"/>
              </a:ext>
            </a:extLst>
          </p:cNvPr>
          <p:cNvSpPr txBox="1"/>
          <p:nvPr/>
        </p:nvSpPr>
        <p:spPr>
          <a:xfrm>
            <a:off x="3726565" y="2533938"/>
            <a:ext cx="729687" cy="369332"/>
          </a:xfrm>
          <a:prstGeom prst="rect">
            <a:avLst/>
          </a:prstGeom>
          <a:noFill/>
        </p:spPr>
        <p:txBody>
          <a:bodyPr wrap="none" rtlCol="0">
            <a:spAutoFit/>
          </a:bodyPr>
          <a:lstStyle/>
          <a:p>
            <a:r>
              <a:rPr lang="es-ES" b="1" dirty="0">
                <a:solidFill>
                  <a:schemeClr val="accent3">
                    <a:lumMod val="75000"/>
                  </a:schemeClr>
                </a:solidFill>
              </a:rPr>
              <a:t>Año t</a:t>
            </a:r>
          </a:p>
        </p:txBody>
      </p:sp>
      <p:sp>
        <p:nvSpPr>
          <p:cNvPr id="29" name="CuadroTexto 28">
            <a:extLst>
              <a:ext uri="{FF2B5EF4-FFF2-40B4-BE49-F238E27FC236}">
                <a16:creationId xmlns:a16="http://schemas.microsoft.com/office/drawing/2014/main" id="{3C43355A-461C-8D14-4AE5-8FAC797CAFC7}"/>
              </a:ext>
            </a:extLst>
          </p:cNvPr>
          <p:cNvSpPr txBox="1"/>
          <p:nvPr/>
        </p:nvSpPr>
        <p:spPr>
          <a:xfrm>
            <a:off x="7463713" y="2537254"/>
            <a:ext cx="1061509" cy="369332"/>
          </a:xfrm>
          <a:prstGeom prst="rect">
            <a:avLst/>
          </a:prstGeom>
          <a:noFill/>
        </p:spPr>
        <p:txBody>
          <a:bodyPr wrap="none" rtlCol="0">
            <a:spAutoFit/>
          </a:bodyPr>
          <a:lstStyle/>
          <a:p>
            <a:r>
              <a:rPr lang="es-ES" b="1" dirty="0">
                <a:solidFill>
                  <a:schemeClr val="accent3">
                    <a:lumMod val="75000"/>
                  </a:schemeClr>
                </a:solidFill>
              </a:rPr>
              <a:t>Año t + 1</a:t>
            </a:r>
          </a:p>
        </p:txBody>
      </p:sp>
      <p:sp>
        <p:nvSpPr>
          <p:cNvPr id="30" name="Rectángulo 29">
            <a:extLst>
              <a:ext uri="{FF2B5EF4-FFF2-40B4-BE49-F238E27FC236}">
                <a16:creationId xmlns:a16="http://schemas.microsoft.com/office/drawing/2014/main" id="{4001259F-4E1A-974D-E282-E457F10A5CE5}"/>
              </a:ext>
            </a:extLst>
          </p:cNvPr>
          <p:cNvSpPr/>
          <p:nvPr/>
        </p:nvSpPr>
        <p:spPr>
          <a:xfrm>
            <a:off x="1360320" y="6013104"/>
            <a:ext cx="9493936" cy="369332"/>
          </a:xfrm>
          <a:prstGeom prst="rect">
            <a:avLst/>
          </a:prstGeom>
        </p:spPr>
        <p:txBody>
          <a:bodyPr wrap="square">
            <a:spAutoFit/>
          </a:bodyPr>
          <a:lstStyle/>
          <a:p>
            <a:pPr algn="ctr"/>
            <a:r>
              <a:rPr lang="es-ES" dirty="0">
                <a:solidFill>
                  <a:schemeClr val="accent1"/>
                </a:solidFill>
                <a:latin typeface="Century Gothic" panose="020B0502020202020204" pitchFamily="34" charset="0"/>
              </a:rPr>
              <a:t>∆ </a:t>
            </a:r>
            <a:r>
              <a:rPr lang="es-ES" b="1" dirty="0">
                <a:solidFill>
                  <a:schemeClr val="accent1"/>
                </a:solidFill>
                <a:latin typeface="Century Gothic"/>
              </a:rPr>
              <a:t>CAPEX </a:t>
            </a:r>
            <a:r>
              <a:rPr lang="es-ES" dirty="0">
                <a:solidFill>
                  <a:schemeClr val="accent1"/>
                </a:solidFill>
                <a:latin typeface="Century Gothic"/>
              </a:rPr>
              <a:t>= COMPRA DE PPE E INTANGIBLES - VENTA DE PPE E INTANGIBLES</a:t>
            </a:r>
          </a:p>
        </p:txBody>
      </p:sp>
      <p:sp>
        <p:nvSpPr>
          <p:cNvPr id="31" name="Rectangle 2">
            <a:extLst>
              <a:ext uri="{FF2B5EF4-FFF2-40B4-BE49-F238E27FC236}">
                <a16:creationId xmlns:a16="http://schemas.microsoft.com/office/drawing/2014/main" id="{5BEEE95E-E3D2-578E-9CC3-EC691544710E}"/>
              </a:ext>
            </a:extLst>
          </p:cNvPr>
          <p:cNvSpPr/>
          <p:nvPr/>
        </p:nvSpPr>
        <p:spPr>
          <a:xfrm>
            <a:off x="2116872" y="3710969"/>
            <a:ext cx="1900279" cy="1747911"/>
          </a:xfrm>
          <a:prstGeom prst="rect">
            <a:avLst/>
          </a:prstGeom>
          <a:solidFill>
            <a:schemeClr val="accent3">
              <a:lumMod val="75000"/>
              <a:lumOff val="2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t>Activos No Corrientes</a:t>
            </a:r>
          </a:p>
        </p:txBody>
      </p:sp>
      <p:sp>
        <p:nvSpPr>
          <p:cNvPr id="32" name="Rectangle 7">
            <a:extLst>
              <a:ext uri="{FF2B5EF4-FFF2-40B4-BE49-F238E27FC236}">
                <a16:creationId xmlns:a16="http://schemas.microsoft.com/office/drawing/2014/main" id="{857C7350-2580-CD71-7D2E-3AAFDE929AEC}"/>
              </a:ext>
            </a:extLst>
          </p:cNvPr>
          <p:cNvSpPr/>
          <p:nvPr/>
        </p:nvSpPr>
        <p:spPr>
          <a:xfrm>
            <a:off x="4019698" y="3719933"/>
            <a:ext cx="1900279" cy="862413"/>
          </a:xfrm>
          <a:prstGeom prst="rect">
            <a:avLst/>
          </a:prstGeom>
          <a:solidFill>
            <a:schemeClr val="tx1">
              <a:lumMod val="50000"/>
              <a:lumOff val="50000"/>
            </a:schemeClr>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t>Deuda LP</a:t>
            </a:r>
          </a:p>
        </p:txBody>
      </p:sp>
      <p:sp>
        <p:nvSpPr>
          <p:cNvPr id="33" name="Rectangle 6">
            <a:extLst>
              <a:ext uri="{FF2B5EF4-FFF2-40B4-BE49-F238E27FC236}">
                <a16:creationId xmlns:a16="http://schemas.microsoft.com/office/drawing/2014/main" id="{A8104A0B-C1CA-E438-9EB5-20210A9D491C}"/>
              </a:ext>
            </a:extLst>
          </p:cNvPr>
          <p:cNvSpPr/>
          <p:nvPr/>
        </p:nvSpPr>
        <p:spPr>
          <a:xfrm>
            <a:off x="2116872" y="3013717"/>
            <a:ext cx="1900279" cy="694411"/>
          </a:xfrm>
          <a:prstGeom prst="rect">
            <a:avLst/>
          </a:prstGeom>
          <a:solidFill>
            <a:schemeClr val="bg1">
              <a:lumMod val="7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t>Activos Corrientes</a:t>
            </a:r>
          </a:p>
        </p:txBody>
      </p:sp>
      <p:sp>
        <p:nvSpPr>
          <p:cNvPr id="34" name="Rectangle 5">
            <a:extLst>
              <a:ext uri="{FF2B5EF4-FFF2-40B4-BE49-F238E27FC236}">
                <a16:creationId xmlns:a16="http://schemas.microsoft.com/office/drawing/2014/main" id="{C5E9704E-B574-302E-2465-638C127D9D5C}"/>
              </a:ext>
            </a:extLst>
          </p:cNvPr>
          <p:cNvSpPr/>
          <p:nvPr/>
        </p:nvSpPr>
        <p:spPr>
          <a:xfrm>
            <a:off x="4020321" y="3013717"/>
            <a:ext cx="1899034" cy="694411"/>
          </a:xfrm>
          <a:prstGeom prst="rect">
            <a:avLst/>
          </a:prstGeom>
          <a:solidFill>
            <a:schemeClr val="bg1">
              <a:lumMod val="65000"/>
            </a:schemeClr>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dirty="0"/>
              <a:t>Pasivos Corrientes</a:t>
            </a:r>
          </a:p>
        </p:txBody>
      </p:sp>
      <p:sp>
        <p:nvSpPr>
          <p:cNvPr id="35" name="Rectangle 8">
            <a:extLst>
              <a:ext uri="{FF2B5EF4-FFF2-40B4-BE49-F238E27FC236}">
                <a16:creationId xmlns:a16="http://schemas.microsoft.com/office/drawing/2014/main" id="{194F8445-B9C4-0610-ED6C-35B14A00964E}"/>
              </a:ext>
            </a:extLst>
          </p:cNvPr>
          <p:cNvSpPr/>
          <p:nvPr/>
        </p:nvSpPr>
        <p:spPr>
          <a:xfrm>
            <a:off x="4020321" y="4593546"/>
            <a:ext cx="1899034" cy="874298"/>
          </a:xfrm>
          <a:prstGeom prst="rect">
            <a:avLst/>
          </a:prstGeom>
          <a:solidFill>
            <a:schemeClr val="tx1">
              <a:lumMod val="65000"/>
              <a:lumOff val="3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t>Patrimonio</a:t>
            </a:r>
          </a:p>
        </p:txBody>
      </p:sp>
      <p:sp>
        <p:nvSpPr>
          <p:cNvPr id="36" name="Rectangle 2">
            <a:extLst>
              <a:ext uri="{FF2B5EF4-FFF2-40B4-BE49-F238E27FC236}">
                <a16:creationId xmlns:a16="http://schemas.microsoft.com/office/drawing/2014/main" id="{B27DE55E-4B90-7EFB-C351-BB0D07E1B4F9}"/>
              </a:ext>
            </a:extLst>
          </p:cNvPr>
          <p:cNvSpPr/>
          <p:nvPr/>
        </p:nvSpPr>
        <p:spPr>
          <a:xfrm>
            <a:off x="6271402" y="3722774"/>
            <a:ext cx="1900279" cy="1747911"/>
          </a:xfrm>
          <a:prstGeom prst="rect">
            <a:avLst/>
          </a:prstGeom>
          <a:solidFill>
            <a:schemeClr val="accent3">
              <a:lumMod val="75000"/>
              <a:lumOff val="2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t>Activos No Corrientes</a:t>
            </a:r>
          </a:p>
        </p:txBody>
      </p:sp>
      <p:sp>
        <p:nvSpPr>
          <p:cNvPr id="37" name="Rectangle 7">
            <a:extLst>
              <a:ext uri="{FF2B5EF4-FFF2-40B4-BE49-F238E27FC236}">
                <a16:creationId xmlns:a16="http://schemas.microsoft.com/office/drawing/2014/main" id="{DC85BE8F-683C-C5AA-AB08-972E23CF8D51}"/>
              </a:ext>
            </a:extLst>
          </p:cNvPr>
          <p:cNvSpPr/>
          <p:nvPr/>
        </p:nvSpPr>
        <p:spPr>
          <a:xfrm>
            <a:off x="8174228" y="3731738"/>
            <a:ext cx="1900279" cy="862413"/>
          </a:xfrm>
          <a:prstGeom prst="rect">
            <a:avLst/>
          </a:prstGeom>
          <a:solidFill>
            <a:schemeClr val="tx1">
              <a:lumMod val="50000"/>
              <a:lumOff val="50000"/>
            </a:schemeClr>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t>Deuda LP</a:t>
            </a:r>
          </a:p>
        </p:txBody>
      </p:sp>
      <p:sp>
        <p:nvSpPr>
          <p:cNvPr id="38" name="Rectangle 6">
            <a:extLst>
              <a:ext uri="{FF2B5EF4-FFF2-40B4-BE49-F238E27FC236}">
                <a16:creationId xmlns:a16="http://schemas.microsoft.com/office/drawing/2014/main" id="{3D37FD3F-650C-10D1-FB3C-A807E013619D}"/>
              </a:ext>
            </a:extLst>
          </p:cNvPr>
          <p:cNvSpPr/>
          <p:nvPr/>
        </p:nvSpPr>
        <p:spPr>
          <a:xfrm>
            <a:off x="6271402" y="3025522"/>
            <a:ext cx="1900279" cy="694411"/>
          </a:xfrm>
          <a:prstGeom prst="rect">
            <a:avLst/>
          </a:prstGeom>
          <a:solidFill>
            <a:schemeClr val="bg1">
              <a:lumMod val="7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t>Activos Corrientes</a:t>
            </a:r>
          </a:p>
        </p:txBody>
      </p:sp>
      <p:sp>
        <p:nvSpPr>
          <p:cNvPr id="39" name="Rectangle 5">
            <a:extLst>
              <a:ext uri="{FF2B5EF4-FFF2-40B4-BE49-F238E27FC236}">
                <a16:creationId xmlns:a16="http://schemas.microsoft.com/office/drawing/2014/main" id="{570E7434-1F6E-66E2-CA3D-3865CAF7266F}"/>
              </a:ext>
            </a:extLst>
          </p:cNvPr>
          <p:cNvSpPr/>
          <p:nvPr/>
        </p:nvSpPr>
        <p:spPr>
          <a:xfrm>
            <a:off x="8174851" y="3025522"/>
            <a:ext cx="1899034" cy="694411"/>
          </a:xfrm>
          <a:prstGeom prst="rect">
            <a:avLst/>
          </a:prstGeom>
          <a:solidFill>
            <a:schemeClr val="bg1">
              <a:lumMod val="65000"/>
            </a:schemeClr>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dirty="0"/>
              <a:t>Pasivos Corrientes</a:t>
            </a:r>
          </a:p>
        </p:txBody>
      </p:sp>
      <p:sp>
        <p:nvSpPr>
          <p:cNvPr id="40" name="Rectangle 8">
            <a:extLst>
              <a:ext uri="{FF2B5EF4-FFF2-40B4-BE49-F238E27FC236}">
                <a16:creationId xmlns:a16="http://schemas.microsoft.com/office/drawing/2014/main" id="{2CBE1622-5BA2-EB4D-27AD-3E19D860036C}"/>
              </a:ext>
            </a:extLst>
          </p:cNvPr>
          <p:cNvSpPr/>
          <p:nvPr/>
        </p:nvSpPr>
        <p:spPr>
          <a:xfrm>
            <a:off x="8174851" y="4605351"/>
            <a:ext cx="1899034" cy="874298"/>
          </a:xfrm>
          <a:prstGeom prst="rect">
            <a:avLst/>
          </a:prstGeom>
          <a:solidFill>
            <a:schemeClr val="tx1">
              <a:lumMod val="65000"/>
              <a:lumOff val="3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t>Patrimonio</a:t>
            </a:r>
          </a:p>
        </p:txBody>
      </p:sp>
    </p:spTree>
    <p:extLst>
      <p:ext uri="{BB962C8B-B14F-4D97-AF65-F5344CB8AC3E}">
        <p14:creationId xmlns:p14="http://schemas.microsoft.com/office/powerpoint/2010/main" val="424312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p:cNvSpPr>
            <a:spLocks noGrp="1"/>
          </p:cNvSpPr>
          <p:nvPr>
            <p:ph idx="1"/>
          </p:nvPr>
        </p:nvSpPr>
        <p:spPr>
          <a:xfrm>
            <a:off x="581192" y="2043717"/>
            <a:ext cx="10878718" cy="798567"/>
          </a:xfrm>
        </p:spPr>
        <p:txBody>
          <a:bodyPr>
            <a:noAutofit/>
          </a:bodyPr>
          <a:lstStyle/>
          <a:p>
            <a:pPr marL="0" indent="0" algn="just">
              <a:buNone/>
            </a:pPr>
            <a:r>
              <a:rPr lang="es-ES" sz="2000" b="1" dirty="0">
                <a:solidFill>
                  <a:srgbClr val="C00000"/>
                </a:solidFill>
                <a:latin typeface="Century Gothic" panose="020B0502020202020204" pitchFamily="34" charset="0"/>
              </a:rPr>
              <a:t>Ejemplo 1: </a:t>
            </a:r>
          </a:p>
          <a:p>
            <a:pPr marL="0" indent="0" algn="just">
              <a:buNone/>
            </a:pPr>
            <a:r>
              <a:rPr lang="es-ES" dirty="0">
                <a:solidFill>
                  <a:schemeClr val="accent1"/>
                </a:solidFill>
                <a:latin typeface="Century Gothic" panose="020B0502020202020204" pitchFamily="34" charset="0"/>
              </a:rPr>
              <a:t>Estos son los Estados de Situación Financiera de una compañía que está iniciando. ¿Cuánto dinero invirtió la empresa en compra de activos en el año 2?</a:t>
            </a: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34</a:t>
            </a:fld>
            <a:endParaRPr lang="en-US" sz="1800"/>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2B2C527-88DE-C0B5-9A5B-427B2F77353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5" name="Table 4">
            <a:extLst>
              <a:ext uri="{FF2B5EF4-FFF2-40B4-BE49-F238E27FC236}">
                <a16:creationId xmlns:a16="http://schemas.microsoft.com/office/drawing/2014/main" id="{DCBD9540-6F63-24DA-324A-98A005ECAE8A}"/>
              </a:ext>
            </a:extLst>
          </p:cNvPr>
          <p:cNvGraphicFramePr>
            <a:graphicFrameLocks noGrp="1"/>
          </p:cNvGraphicFramePr>
          <p:nvPr>
            <p:extLst>
              <p:ext uri="{D42A27DB-BD31-4B8C-83A1-F6EECF244321}">
                <p14:modId xmlns:p14="http://schemas.microsoft.com/office/powerpoint/2010/main" val="3084295708"/>
              </p:ext>
            </p:extLst>
          </p:nvPr>
        </p:nvGraphicFramePr>
        <p:xfrm>
          <a:off x="6168768" y="3437966"/>
          <a:ext cx="4262165" cy="2494280"/>
        </p:xfrm>
        <a:graphic>
          <a:graphicData uri="http://schemas.openxmlformats.org/drawingml/2006/table">
            <a:tbl>
              <a:tblPr firstRow="1" bandRow="1">
                <a:tableStyleId>{2D5ABB26-0587-4C30-8999-92F81FD0307C}</a:tableStyleId>
              </a:tblPr>
              <a:tblGrid>
                <a:gridCol w="1341998">
                  <a:extLst>
                    <a:ext uri="{9D8B030D-6E8A-4147-A177-3AD203B41FA5}">
                      <a16:colId xmlns:a16="http://schemas.microsoft.com/office/drawing/2014/main" val="20000"/>
                    </a:ext>
                  </a:extLst>
                </a:gridCol>
                <a:gridCol w="318371">
                  <a:extLst>
                    <a:ext uri="{9D8B030D-6E8A-4147-A177-3AD203B41FA5}">
                      <a16:colId xmlns:a16="http://schemas.microsoft.com/office/drawing/2014/main" val="20001"/>
                    </a:ext>
                  </a:extLst>
                </a:gridCol>
                <a:gridCol w="539493">
                  <a:extLst>
                    <a:ext uri="{9D8B030D-6E8A-4147-A177-3AD203B41FA5}">
                      <a16:colId xmlns:a16="http://schemas.microsoft.com/office/drawing/2014/main" val="20002"/>
                    </a:ext>
                  </a:extLst>
                </a:gridCol>
                <a:gridCol w="1384970">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2</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Vehículo</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tcPr>
                </a:tc>
                <a:tc hMerge="1">
                  <a:txBody>
                    <a:bodyPr/>
                    <a:lstStyle/>
                    <a:p>
                      <a:endParaRPr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80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6" name="Table 23">
            <a:extLst>
              <a:ext uri="{FF2B5EF4-FFF2-40B4-BE49-F238E27FC236}">
                <a16:creationId xmlns:a16="http://schemas.microsoft.com/office/drawing/2014/main" id="{45EC6A31-EB13-76EB-C9F1-7124B0B1EB6B}"/>
              </a:ext>
            </a:extLst>
          </p:cNvPr>
          <p:cNvGraphicFramePr>
            <a:graphicFrameLocks noGrp="1"/>
          </p:cNvGraphicFramePr>
          <p:nvPr>
            <p:extLst>
              <p:ext uri="{D42A27DB-BD31-4B8C-83A1-F6EECF244321}">
                <p14:modId xmlns:p14="http://schemas.microsoft.com/office/powerpoint/2010/main" val="1686633477"/>
              </p:ext>
            </p:extLst>
          </p:nvPr>
        </p:nvGraphicFramePr>
        <p:xfrm>
          <a:off x="2282363" y="3429000"/>
          <a:ext cx="3703571" cy="2494280"/>
        </p:xfrm>
        <a:graphic>
          <a:graphicData uri="http://schemas.openxmlformats.org/drawingml/2006/table">
            <a:tbl>
              <a:tblPr firstRow="1" bandRow="1">
                <a:tableStyleId>{2D5ABB26-0587-4C30-8999-92F81FD0307C}</a:tableStyleId>
              </a:tblPr>
              <a:tblGrid>
                <a:gridCol w="1152726">
                  <a:extLst>
                    <a:ext uri="{9D8B030D-6E8A-4147-A177-3AD203B41FA5}">
                      <a16:colId xmlns:a16="http://schemas.microsoft.com/office/drawing/2014/main" val="20000"/>
                    </a:ext>
                  </a:extLst>
                </a:gridCol>
                <a:gridCol w="341318">
                  <a:extLst>
                    <a:ext uri="{9D8B030D-6E8A-4147-A177-3AD203B41FA5}">
                      <a16:colId xmlns:a16="http://schemas.microsoft.com/office/drawing/2014/main" val="20001"/>
                    </a:ext>
                  </a:extLst>
                </a:gridCol>
                <a:gridCol w="253519">
                  <a:extLst>
                    <a:ext uri="{9D8B030D-6E8A-4147-A177-3AD203B41FA5}">
                      <a16:colId xmlns:a16="http://schemas.microsoft.com/office/drawing/2014/main" val="20002"/>
                    </a:ext>
                  </a:extLst>
                </a:gridCol>
                <a:gridCol w="1331969">
                  <a:extLst>
                    <a:ext uri="{9D8B030D-6E8A-4147-A177-3AD203B41FA5}">
                      <a16:colId xmlns:a16="http://schemas.microsoft.com/office/drawing/2014/main" val="20003"/>
                    </a:ext>
                  </a:extLst>
                </a:gridCol>
                <a:gridCol w="62403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80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8388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3C9DC-517A-EB7E-2B22-D1DE1865B6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36F9DA-B370-9D08-B573-AEFE714C9846}"/>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172DA149-FDC5-7C73-A1D8-197DE947AF7B}"/>
              </a:ext>
            </a:extLst>
          </p:cNvPr>
          <p:cNvSpPr>
            <a:spLocks noGrp="1"/>
          </p:cNvSpPr>
          <p:nvPr>
            <p:ph idx="1"/>
          </p:nvPr>
        </p:nvSpPr>
        <p:spPr>
          <a:xfrm>
            <a:off x="581192" y="2043717"/>
            <a:ext cx="10878718" cy="798567"/>
          </a:xfrm>
        </p:spPr>
        <p:txBody>
          <a:bodyPr>
            <a:noAutofit/>
          </a:bodyPr>
          <a:lstStyle/>
          <a:p>
            <a:pPr marL="0" indent="0" algn="just">
              <a:buNone/>
            </a:pPr>
            <a:r>
              <a:rPr lang="es-ES" dirty="0">
                <a:solidFill>
                  <a:schemeClr val="accent1"/>
                </a:solidFill>
                <a:latin typeface="Century Gothic" panose="020B0502020202020204" pitchFamily="34" charset="0"/>
              </a:rPr>
              <a:t>La compañía invirtió 50 pesos en el año 2 para poder comprar el vehículo.</a:t>
            </a:r>
          </a:p>
        </p:txBody>
      </p:sp>
      <p:sp>
        <p:nvSpPr>
          <p:cNvPr id="4" name="Marcador de número de diapositiva 3">
            <a:extLst>
              <a:ext uri="{FF2B5EF4-FFF2-40B4-BE49-F238E27FC236}">
                <a16:creationId xmlns:a16="http://schemas.microsoft.com/office/drawing/2014/main" id="{705B6115-6784-C37B-5F75-077802F51A01}"/>
              </a:ext>
            </a:extLst>
          </p:cNvPr>
          <p:cNvSpPr>
            <a:spLocks noGrp="1"/>
          </p:cNvSpPr>
          <p:nvPr>
            <p:ph type="sldNum" sz="quarter" idx="12"/>
          </p:nvPr>
        </p:nvSpPr>
        <p:spPr/>
        <p:txBody>
          <a:bodyPr/>
          <a:lstStyle/>
          <a:p>
            <a:fld id="{5E3E23BA-6E79-2442-BA73-D218A5E297C3}" type="slidenum">
              <a:rPr lang="en-US" sz="1800" smtClean="0"/>
              <a:t>35</a:t>
            </a:fld>
            <a:endParaRPr lang="en-US" sz="1800"/>
          </a:p>
        </p:txBody>
      </p:sp>
      <p:sp>
        <p:nvSpPr>
          <p:cNvPr id="5" name="Rectángulo 4">
            <a:extLst>
              <a:ext uri="{FF2B5EF4-FFF2-40B4-BE49-F238E27FC236}">
                <a16:creationId xmlns:a16="http://schemas.microsoft.com/office/drawing/2014/main" id="{D03DFDAE-9B4A-0709-E3F2-8150C229C9A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3DAD28A9-6C5D-D867-6C18-E4310E2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EDEEF93E-8818-8E80-38A8-68185419AA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5" name="Table 4">
            <a:extLst>
              <a:ext uri="{FF2B5EF4-FFF2-40B4-BE49-F238E27FC236}">
                <a16:creationId xmlns:a16="http://schemas.microsoft.com/office/drawing/2014/main" id="{6D8CC0B3-4F93-221F-1E7A-8F826662B468}"/>
              </a:ext>
            </a:extLst>
          </p:cNvPr>
          <p:cNvGraphicFramePr>
            <a:graphicFrameLocks noGrp="1"/>
          </p:cNvGraphicFramePr>
          <p:nvPr>
            <p:extLst>
              <p:ext uri="{D42A27DB-BD31-4B8C-83A1-F6EECF244321}">
                <p14:modId xmlns:p14="http://schemas.microsoft.com/office/powerpoint/2010/main" val="8631462"/>
              </p:ext>
            </p:extLst>
          </p:nvPr>
        </p:nvGraphicFramePr>
        <p:xfrm>
          <a:off x="6168768" y="3437966"/>
          <a:ext cx="4262165" cy="2494280"/>
        </p:xfrm>
        <a:graphic>
          <a:graphicData uri="http://schemas.openxmlformats.org/drawingml/2006/table">
            <a:tbl>
              <a:tblPr firstRow="1" bandRow="1">
                <a:tableStyleId>{2D5ABB26-0587-4C30-8999-92F81FD0307C}</a:tableStyleId>
              </a:tblPr>
              <a:tblGrid>
                <a:gridCol w="1341998">
                  <a:extLst>
                    <a:ext uri="{9D8B030D-6E8A-4147-A177-3AD203B41FA5}">
                      <a16:colId xmlns:a16="http://schemas.microsoft.com/office/drawing/2014/main" val="20000"/>
                    </a:ext>
                  </a:extLst>
                </a:gridCol>
                <a:gridCol w="318371">
                  <a:extLst>
                    <a:ext uri="{9D8B030D-6E8A-4147-A177-3AD203B41FA5}">
                      <a16:colId xmlns:a16="http://schemas.microsoft.com/office/drawing/2014/main" val="20001"/>
                    </a:ext>
                  </a:extLst>
                </a:gridCol>
                <a:gridCol w="539493">
                  <a:extLst>
                    <a:ext uri="{9D8B030D-6E8A-4147-A177-3AD203B41FA5}">
                      <a16:colId xmlns:a16="http://schemas.microsoft.com/office/drawing/2014/main" val="20002"/>
                    </a:ext>
                  </a:extLst>
                </a:gridCol>
                <a:gridCol w="1384970">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2</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Vehículo</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tcPr>
                </a:tc>
                <a:tc hMerge="1">
                  <a:txBody>
                    <a:bodyPr/>
                    <a:lstStyle/>
                    <a:p>
                      <a:endParaRPr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80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6" name="Table 23">
            <a:extLst>
              <a:ext uri="{FF2B5EF4-FFF2-40B4-BE49-F238E27FC236}">
                <a16:creationId xmlns:a16="http://schemas.microsoft.com/office/drawing/2014/main" id="{7A59C19E-C6EA-7468-2D76-C1730E5AD2DB}"/>
              </a:ext>
            </a:extLst>
          </p:cNvPr>
          <p:cNvGraphicFramePr>
            <a:graphicFrameLocks noGrp="1"/>
          </p:cNvGraphicFramePr>
          <p:nvPr>
            <p:extLst>
              <p:ext uri="{D42A27DB-BD31-4B8C-83A1-F6EECF244321}">
                <p14:modId xmlns:p14="http://schemas.microsoft.com/office/powerpoint/2010/main" val="197563187"/>
              </p:ext>
            </p:extLst>
          </p:nvPr>
        </p:nvGraphicFramePr>
        <p:xfrm>
          <a:off x="2282363" y="3429000"/>
          <a:ext cx="3703571" cy="2494280"/>
        </p:xfrm>
        <a:graphic>
          <a:graphicData uri="http://schemas.openxmlformats.org/drawingml/2006/table">
            <a:tbl>
              <a:tblPr firstRow="1" bandRow="1">
                <a:tableStyleId>{2D5ABB26-0587-4C30-8999-92F81FD0307C}</a:tableStyleId>
              </a:tblPr>
              <a:tblGrid>
                <a:gridCol w="1152726">
                  <a:extLst>
                    <a:ext uri="{9D8B030D-6E8A-4147-A177-3AD203B41FA5}">
                      <a16:colId xmlns:a16="http://schemas.microsoft.com/office/drawing/2014/main" val="20000"/>
                    </a:ext>
                  </a:extLst>
                </a:gridCol>
                <a:gridCol w="341318">
                  <a:extLst>
                    <a:ext uri="{9D8B030D-6E8A-4147-A177-3AD203B41FA5}">
                      <a16:colId xmlns:a16="http://schemas.microsoft.com/office/drawing/2014/main" val="20001"/>
                    </a:ext>
                  </a:extLst>
                </a:gridCol>
                <a:gridCol w="253519">
                  <a:extLst>
                    <a:ext uri="{9D8B030D-6E8A-4147-A177-3AD203B41FA5}">
                      <a16:colId xmlns:a16="http://schemas.microsoft.com/office/drawing/2014/main" val="20002"/>
                    </a:ext>
                  </a:extLst>
                </a:gridCol>
                <a:gridCol w="1331969">
                  <a:extLst>
                    <a:ext uri="{9D8B030D-6E8A-4147-A177-3AD203B41FA5}">
                      <a16:colId xmlns:a16="http://schemas.microsoft.com/office/drawing/2014/main" val="20003"/>
                    </a:ext>
                  </a:extLst>
                </a:gridCol>
                <a:gridCol w="62403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80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5446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C97E-7DCC-1598-9E3F-D0E2F4F38B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69BAAC-A268-ADE2-47B1-05CBB45B431F}"/>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64AA2776-F565-6A8A-B8EC-FE884D91816E}"/>
              </a:ext>
            </a:extLst>
          </p:cNvPr>
          <p:cNvSpPr>
            <a:spLocks noGrp="1"/>
          </p:cNvSpPr>
          <p:nvPr>
            <p:ph idx="1"/>
          </p:nvPr>
        </p:nvSpPr>
        <p:spPr>
          <a:xfrm>
            <a:off x="581192" y="2177677"/>
            <a:ext cx="10878718" cy="798567"/>
          </a:xfrm>
        </p:spPr>
        <p:txBody>
          <a:bodyPr>
            <a:noAutofit/>
          </a:bodyPr>
          <a:lstStyle/>
          <a:p>
            <a:pPr marL="0" indent="0" algn="ctr">
              <a:buNone/>
            </a:pPr>
            <a:r>
              <a:rPr lang="es-ES" dirty="0">
                <a:solidFill>
                  <a:schemeClr val="accent1"/>
                </a:solidFill>
                <a:latin typeface="Century Gothic" panose="020B0502020202020204" pitchFamily="34" charset="0"/>
              </a:rPr>
              <a:t>∆ </a:t>
            </a:r>
            <a:r>
              <a:rPr lang="es-ES" b="1" dirty="0">
                <a:solidFill>
                  <a:schemeClr val="accent1"/>
                </a:solidFill>
                <a:latin typeface="Century Gothic"/>
              </a:rPr>
              <a:t>CAPEX </a:t>
            </a:r>
            <a:r>
              <a:rPr lang="es-ES" dirty="0">
                <a:solidFill>
                  <a:schemeClr val="accent1"/>
                </a:solidFill>
                <a:latin typeface="Century Gothic"/>
              </a:rPr>
              <a:t>= COMPRA DE PPE E INTANGIBLES - VENTA DE PPE E INTANGIBLES</a:t>
            </a: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 </a:t>
            </a:r>
            <a:r>
              <a:rPr lang="es-ES" b="1" dirty="0">
                <a:solidFill>
                  <a:schemeClr val="accent1"/>
                </a:solidFill>
                <a:latin typeface="Century Gothic"/>
              </a:rPr>
              <a:t>CAPEX </a:t>
            </a:r>
            <a:r>
              <a:rPr lang="es-ES" dirty="0">
                <a:solidFill>
                  <a:schemeClr val="accent1"/>
                </a:solidFill>
                <a:latin typeface="Century Gothic"/>
              </a:rPr>
              <a:t>= 50 – 0 = 50</a:t>
            </a:r>
          </a:p>
          <a:p>
            <a:pPr marL="0" indent="0" algn="ctr">
              <a:buNone/>
            </a:pPr>
            <a:endParaRPr lang="es-ES" dirty="0">
              <a:solidFill>
                <a:schemeClr val="accent1"/>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657F06B8-0444-7940-DF5B-1DD075493BC5}"/>
              </a:ext>
            </a:extLst>
          </p:cNvPr>
          <p:cNvSpPr>
            <a:spLocks noGrp="1"/>
          </p:cNvSpPr>
          <p:nvPr>
            <p:ph type="sldNum" sz="quarter" idx="12"/>
          </p:nvPr>
        </p:nvSpPr>
        <p:spPr/>
        <p:txBody>
          <a:bodyPr/>
          <a:lstStyle/>
          <a:p>
            <a:fld id="{5E3E23BA-6E79-2442-BA73-D218A5E297C3}" type="slidenum">
              <a:rPr lang="en-US" sz="1800" smtClean="0"/>
              <a:t>36</a:t>
            </a:fld>
            <a:endParaRPr lang="en-US" sz="1800"/>
          </a:p>
        </p:txBody>
      </p:sp>
      <p:sp>
        <p:nvSpPr>
          <p:cNvPr id="5" name="Rectángulo 4">
            <a:extLst>
              <a:ext uri="{FF2B5EF4-FFF2-40B4-BE49-F238E27FC236}">
                <a16:creationId xmlns:a16="http://schemas.microsoft.com/office/drawing/2014/main" id="{34C60EDA-1CDD-74F2-5B68-086552CDFE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9C01F802-2708-396F-9A5E-C28CE6EDA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F2106CB3-9593-28CD-05D6-8EF6983D06D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5" name="Table 4">
            <a:extLst>
              <a:ext uri="{FF2B5EF4-FFF2-40B4-BE49-F238E27FC236}">
                <a16:creationId xmlns:a16="http://schemas.microsoft.com/office/drawing/2014/main" id="{CF8F0F1B-A30A-3F18-6D3E-CE160BAF999F}"/>
              </a:ext>
            </a:extLst>
          </p:cNvPr>
          <p:cNvGraphicFramePr>
            <a:graphicFrameLocks noGrp="1"/>
          </p:cNvGraphicFramePr>
          <p:nvPr>
            <p:extLst>
              <p:ext uri="{D42A27DB-BD31-4B8C-83A1-F6EECF244321}">
                <p14:modId xmlns:p14="http://schemas.microsoft.com/office/powerpoint/2010/main" val="1258980411"/>
              </p:ext>
            </p:extLst>
          </p:nvPr>
        </p:nvGraphicFramePr>
        <p:xfrm>
          <a:off x="6168768" y="3437966"/>
          <a:ext cx="4262165" cy="2494280"/>
        </p:xfrm>
        <a:graphic>
          <a:graphicData uri="http://schemas.openxmlformats.org/drawingml/2006/table">
            <a:tbl>
              <a:tblPr firstRow="1" bandRow="1">
                <a:tableStyleId>{2D5ABB26-0587-4C30-8999-92F81FD0307C}</a:tableStyleId>
              </a:tblPr>
              <a:tblGrid>
                <a:gridCol w="1341998">
                  <a:extLst>
                    <a:ext uri="{9D8B030D-6E8A-4147-A177-3AD203B41FA5}">
                      <a16:colId xmlns:a16="http://schemas.microsoft.com/office/drawing/2014/main" val="20000"/>
                    </a:ext>
                  </a:extLst>
                </a:gridCol>
                <a:gridCol w="318371">
                  <a:extLst>
                    <a:ext uri="{9D8B030D-6E8A-4147-A177-3AD203B41FA5}">
                      <a16:colId xmlns:a16="http://schemas.microsoft.com/office/drawing/2014/main" val="20001"/>
                    </a:ext>
                  </a:extLst>
                </a:gridCol>
                <a:gridCol w="539493">
                  <a:extLst>
                    <a:ext uri="{9D8B030D-6E8A-4147-A177-3AD203B41FA5}">
                      <a16:colId xmlns:a16="http://schemas.microsoft.com/office/drawing/2014/main" val="20002"/>
                    </a:ext>
                  </a:extLst>
                </a:gridCol>
                <a:gridCol w="1384970">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2</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Vehículo</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50</a:t>
                      </a:r>
                    </a:p>
                  </a:txBody>
                  <a:tcPr>
                    <a:lnR w="38100" cap="flat" cmpd="sng" algn="ctr">
                      <a:solidFill>
                        <a:srgbClr val="D7A700"/>
                      </a:solidFill>
                      <a:prstDash val="solid"/>
                      <a:round/>
                      <a:headEnd type="none" w="med" len="med"/>
                      <a:tailEnd type="none" w="med" len="med"/>
                    </a:lnR>
                  </a:tcPr>
                </a:tc>
                <a:tc hMerge="1">
                  <a:txBody>
                    <a:bodyPr/>
                    <a:lstStyle/>
                    <a:p>
                      <a:endParaRPr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80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6" name="Table 23">
            <a:extLst>
              <a:ext uri="{FF2B5EF4-FFF2-40B4-BE49-F238E27FC236}">
                <a16:creationId xmlns:a16="http://schemas.microsoft.com/office/drawing/2014/main" id="{157D4D8E-DF15-9E28-E2D1-D5D09AB03746}"/>
              </a:ext>
            </a:extLst>
          </p:cNvPr>
          <p:cNvGraphicFramePr>
            <a:graphicFrameLocks noGrp="1"/>
          </p:cNvGraphicFramePr>
          <p:nvPr>
            <p:extLst>
              <p:ext uri="{D42A27DB-BD31-4B8C-83A1-F6EECF244321}">
                <p14:modId xmlns:p14="http://schemas.microsoft.com/office/powerpoint/2010/main" val="4180977298"/>
              </p:ext>
            </p:extLst>
          </p:nvPr>
        </p:nvGraphicFramePr>
        <p:xfrm>
          <a:off x="2282363" y="3429000"/>
          <a:ext cx="3703571" cy="2494280"/>
        </p:xfrm>
        <a:graphic>
          <a:graphicData uri="http://schemas.openxmlformats.org/drawingml/2006/table">
            <a:tbl>
              <a:tblPr firstRow="1" bandRow="1">
                <a:tableStyleId>{2D5ABB26-0587-4C30-8999-92F81FD0307C}</a:tableStyleId>
              </a:tblPr>
              <a:tblGrid>
                <a:gridCol w="1152726">
                  <a:extLst>
                    <a:ext uri="{9D8B030D-6E8A-4147-A177-3AD203B41FA5}">
                      <a16:colId xmlns:a16="http://schemas.microsoft.com/office/drawing/2014/main" val="20000"/>
                    </a:ext>
                  </a:extLst>
                </a:gridCol>
                <a:gridCol w="341318">
                  <a:extLst>
                    <a:ext uri="{9D8B030D-6E8A-4147-A177-3AD203B41FA5}">
                      <a16:colId xmlns:a16="http://schemas.microsoft.com/office/drawing/2014/main" val="20001"/>
                    </a:ext>
                  </a:extLst>
                </a:gridCol>
                <a:gridCol w="253519">
                  <a:extLst>
                    <a:ext uri="{9D8B030D-6E8A-4147-A177-3AD203B41FA5}">
                      <a16:colId xmlns:a16="http://schemas.microsoft.com/office/drawing/2014/main" val="20002"/>
                    </a:ext>
                  </a:extLst>
                </a:gridCol>
                <a:gridCol w="1331969">
                  <a:extLst>
                    <a:ext uri="{9D8B030D-6E8A-4147-A177-3AD203B41FA5}">
                      <a16:colId xmlns:a16="http://schemas.microsoft.com/office/drawing/2014/main" val="20003"/>
                    </a:ext>
                  </a:extLst>
                </a:gridCol>
                <a:gridCol w="624039">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20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80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3833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E5BB1-2BDB-802B-C46D-F9B7FB3BCB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608592-E266-AB94-ED34-F15A948A9F4F}"/>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614CE243-03FA-9B98-5CBE-B8CB6FA4CED7}"/>
              </a:ext>
            </a:extLst>
          </p:cNvPr>
          <p:cNvSpPr>
            <a:spLocks noGrp="1"/>
          </p:cNvSpPr>
          <p:nvPr>
            <p:ph idx="1"/>
          </p:nvPr>
        </p:nvSpPr>
        <p:spPr>
          <a:xfrm>
            <a:off x="581192" y="2043717"/>
            <a:ext cx="10878718" cy="798567"/>
          </a:xfrm>
        </p:spPr>
        <p:txBody>
          <a:bodyPr>
            <a:noAutofit/>
          </a:bodyPr>
          <a:lstStyle/>
          <a:p>
            <a:pPr marL="0" indent="0" algn="just">
              <a:buNone/>
            </a:pPr>
            <a:r>
              <a:rPr lang="es-ES" sz="2000" b="1" dirty="0">
                <a:solidFill>
                  <a:srgbClr val="C00000"/>
                </a:solidFill>
                <a:latin typeface="Century Gothic" panose="020B0502020202020204" pitchFamily="34" charset="0"/>
              </a:rPr>
              <a:t>Ejemplo 2: </a:t>
            </a:r>
          </a:p>
          <a:p>
            <a:pPr marL="0" indent="0" algn="just">
              <a:buNone/>
            </a:pPr>
            <a:r>
              <a:rPr lang="es-ES" dirty="0">
                <a:solidFill>
                  <a:schemeClr val="accent1"/>
                </a:solidFill>
                <a:latin typeface="Century Gothic" panose="020B0502020202020204" pitchFamily="34" charset="0"/>
              </a:rPr>
              <a:t>Estos son los Estados de Situación Financiera de una compañía. ¿Cuánto dinero invirtió la empresa en compra de activos en el año 2?</a:t>
            </a:r>
          </a:p>
        </p:txBody>
      </p:sp>
      <p:sp>
        <p:nvSpPr>
          <p:cNvPr id="4" name="Marcador de número de diapositiva 3">
            <a:extLst>
              <a:ext uri="{FF2B5EF4-FFF2-40B4-BE49-F238E27FC236}">
                <a16:creationId xmlns:a16="http://schemas.microsoft.com/office/drawing/2014/main" id="{3F5E9A52-ECCA-FF46-D7F8-5BBD2413A812}"/>
              </a:ext>
            </a:extLst>
          </p:cNvPr>
          <p:cNvSpPr>
            <a:spLocks noGrp="1"/>
          </p:cNvSpPr>
          <p:nvPr>
            <p:ph type="sldNum" sz="quarter" idx="12"/>
          </p:nvPr>
        </p:nvSpPr>
        <p:spPr/>
        <p:txBody>
          <a:bodyPr/>
          <a:lstStyle/>
          <a:p>
            <a:fld id="{5E3E23BA-6E79-2442-BA73-D218A5E297C3}" type="slidenum">
              <a:rPr lang="en-US" sz="1800" smtClean="0"/>
              <a:t>37</a:t>
            </a:fld>
            <a:endParaRPr lang="en-US" sz="1800"/>
          </a:p>
        </p:txBody>
      </p:sp>
      <p:sp>
        <p:nvSpPr>
          <p:cNvPr id="5" name="Rectángulo 4">
            <a:extLst>
              <a:ext uri="{FF2B5EF4-FFF2-40B4-BE49-F238E27FC236}">
                <a16:creationId xmlns:a16="http://schemas.microsoft.com/office/drawing/2014/main" id="{83A37AD8-A310-4DEF-FBEF-585759F80E8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C33E3278-93A2-1D84-EE09-E34763222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9149AE5E-4D0C-4271-6AAD-19C98380730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15" name="Table 4">
            <a:extLst>
              <a:ext uri="{FF2B5EF4-FFF2-40B4-BE49-F238E27FC236}">
                <a16:creationId xmlns:a16="http://schemas.microsoft.com/office/drawing/2014/main" id="{94FD938A-1AA2-8705-BBF8-58B198954214}"/>
              </a:ext>
            </a:extLst>
          </p:cNvPr>
          <p:cNvGraphicFramePr>
            <a:graphicFrameLocks noGrp="1"/>
          </p:cNvGraphicFramePr>
          <p:nvPr>
            <p:extLst>
              <p:ext uri="{D42A27DB-BD31-4B8C-83A1-F6EECF244321}">
                <p14:modId xmlns:p14="http://schemas.microsoft.com/office/powerpoint/2010/main" val="1768181096"/>
              </p:ext>
            </p:extLst>
          </p:nvPr>
        </p:nvGraphicFramePr>
        <p:xfrm>
          <a:off x="6168768" y="3437966"/>
          <a:ext cx="4558499" cy="2494280"/>
        </p:xfrm>
        <a:graphic>
          <a:graphicData uri="http://schemas.openxmlformats.org/drawingml/2006/table">
            <a:tbl>
              <a:tblPr firstRow="1" bandRow="1">
                <a:tableStyleId>{2D5ABB26-0587-4C30-8999-92F81FD0307C}</a:tableStyleId>
              </a:tblPr>
              <a:tblGrid>
                <a:gridCol w="1553048">
                  <a:extLst>
                    <a:ext uri="{9D8B030D-6E8A-4147-A177-3AD203B41FA5}">
                      <a16:colId xmlns:a16="http://schemas.microsoft.com/office/drawing/2014/main" val="20000"/>
                    </a:ext>
                  </a:extLst>
                </a:gridCol>
                <a:gridCol w="222761">
                  <a:extLst>
                    <a:ext uri="{9D8B030D-6E8A-4147-A177-3AD203B41FA5}">
                      <a16:colId xmlns:a16="http://schemas.microsoft.com/office/drawing/2014/main" val="20001"/>
                    </a:ext>
                  </a:extLst>
                </a:gridCol>
                <a:gridCol w="577002">
                  <a:extLst>
                    <a:ext uri="{9D8B030D-6E8A-4147-A177-3AD203B41FA5}">
                      <a16:colId xmlns:a16="http://schemas.microsoft.com/office/drawing/2014/main" val="20002"/>
                    </a:ext>
                  </a:extLst>
                </a:gridCol>
                <a:gridCol w="1481262">
                  <a:extLst>
                    <a:ext uri="{9D8B030D-6E8A-4147-A177-3AD203B41FA5}">
                      <a16:colId xmlns:a16="http://schemas.microsoft.com/office/drawing/2014/main" val="20003"/>
                    </a:ext>
                  </a:extLst>
                </a:gridCol>
                <a:gridCol w="724426">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2</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130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110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Maquinaria</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70</a:t>
                      </a:r>
                    </a:p>
                  </a:txBody>
                  <a:tcPr>
                    <a:lnR w="38100" cap="flat" cmpd="sng" algn="ctr">
                      <a:solidFill>
                        <a:srgbClr val="D7A700"/>
                      </a:solidFill>
                      <a:prstDash val="solid"/>
                      <a:round/>
                      <a:headEnd type="none" w="med" len="med"/>
                      <a:tailEnd type="none" w="med" len="med"/>
                    </a:lnR>
                  </a:tcPr>
                </a:tc>
                <a:tc hMerge="1">
                  <a:txBody>
                    <a:bodyPr/>
                    <a:lstStyle/>
                    <a:p>
                      <a:endParaRPr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90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6" name="Table 23">
            <a:extLst>
              <a:ext uri="{FF2B5EF4-FFF2-40B4-BE49-F238E27FC236}">
                <a16:creationId xmlns:a16="http://schemas.microsoft.com/office/drawing/2014/main" id="{69D8254B-FB56-C1AF-3FBC-2255EFE251D1}"/>
              </a:ext>
            </a:extLst>
          </p:cNvPr>
          <p:cNvGraphicFramePr>
            <a:graphicFrameLocks noGrp="1"/>
          </p:cNvGraphicFramePr>
          <p:nvPr>
            <p:extLst>
              <p:ext uri="{D42A27DB-BD31-4B8C-83A1-F6EECF244321}">
                <p14:modId xmlns:p14="http://schemas.microsoft.com/office/powerpoint/2010/main" val="1748603614"/>
              </p:ext>
            </p:extLst>
          </p:nvPr>
        </p:nvGraphicFramePr>
        <p:xfrm>
          <a:off x="1253067" y="3429000"/>
          <a:ext cx="4732870" cy="2494280"/>
        </p:xfrm>
        <a:graphic>
          <a:graphicData uri="http://schemas.openxmlformats.org/drawingml/2006/table">
            <a:tbl>
              <a:tblPr firstRow="1" bandRow="1">
                <a:tableStyleId>{2D5ABB26-0587-4C30-8999-92F81FD0307C}</a:tableStyleId>
              </a:tblPr>
              <a:tblGrid>
                <a:gridCol w="1473092">
                  <a:extLst>
                    <a:ext uri="{9D8B030D-6E8A-4147-A177-3AD203B41FA5}">
                      <a16:colId xmlns:a16="http://schemas.microsoft.com/office/drawing/2014/main" val="20000"/>
                    </a:ext>
                  </a:extLst>
                </a:gridCol>
                <a:gridCol w="436177">
                  <a:extLst>
                    <a:ext uri="{9D8B030D-6E8A-4147-A177-3AD203B41FA5}">
                      <a16:colId xmlns:a16="http://schemas.microsoft.com/office/drawing/2014/main" val="20001"/>
                    </a:ext>
                  </a:extLst>
                </a:gridCol>
                <a:gridCol w="323978">
                  <a:extLst>
                    <a:ext uri="{9D8B030D-6E8A-4147-A177-3AD203B41FA5}">
                      <a16:colId xmlns:a16="http://schemas.microsoft.com/office/drawing/2014/main" val="20002"/>
                    </a:ext>
                  </a:extLst>
                </a:gridCol>
                <a:gridCol w="1702150">
                  <a:extLst>
                    <a:ext uri="{9D8B030D-6E8A-4147-A177-3AD203B41FA5}">
                      <a16:colId xmlns:a16="http://schemas.microsoft.com/office/drawing/2014/main" val="20003"/>
                    </a:ext>
                  </a:extLst>
                </a:gridCol>
                <a:gridCol w="797473">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110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Maquinaria</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tcPr>
                </a:tc>
                <a:tc hMerge="1">
                  <a:txBody>
                    <a:bodyPr/>
                    <a:lstStyle/>
                    <a:p>
                      <a:endParaRPr lang="es-CO"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90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1331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5AEDA-DA5B-B811-B28C-EC17EB9EC2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9293C5-3A8B-88B1-F8BE-6E4745D0D448}"/>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C3605013-20BF-6929-D41E-2A4836DCE941}"/>
              </a:ext>
            </a:extLst>
          </p:cNvPr>
          <p:cNvSpPr>
            <a:spLocks noGrp="1"/>
          </p:cNvSpPr>
          <p:nvPr>
            <p:ph idx="1"/>
          </p:nvPr>
        </p:nvSpPr>
        <p:spPr>
          <a:xfrm>
            <a:off x="581192" y="2177677"/>
            <a:ext cx="10878718" cy="798567"/>
          </a:xfrm>
        </p:spPr>
        <p:txBody>
          <a:bodyPr>
            <a:noAutofit/>
          </a:bodyPr>
          <a:lstStyle/>
          <a:p>
            <a:pPr marL="0" indent="0" algn="ctr">
              <a:buNone/>
            </a:pPr>
            <a:r>
              <a:rPr lang="es-ES" dirty="0">
                <a:solidFill>
                  <a:schemeClr val="accent1"/>
                </a:solidFill>
                <a:latin typeface="Century Gothic" panose="020B0502020202020204" pitchFamily="34" charset="0"/>
              </a:rPr>
              <a:t>∆ </a:t>
            </a:r>
            <a:r>
              <a:rPr lang="es-ES" b="1" dirty="0">
                <a:solidFill>
                  <a:schemeClr val="accent1"/>
                </a:solidFill>
                <a:latin typeface="Century Gothic"/>
              </a:rPr>
              <a:t>CAPEX </a:t>
            </a:r>
            <a:r>
              <a:rPr lang="es-ES" dirty="0">
                <a:solidFill>
                  <a:schemeClr val="accent1"/>
                </a:solidFill>
                <a:latin typeface="Century Gothic"/>
              </a:rPr>
              <a:t>= COMPRA DE PPE E INTANGIBLES - VENTA DE PPE E INTANGIBLES</a:t>
            </a: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 </a:t>
            </a:r>
            <a:r>
              <a:rPr lang="es-ES" b="1" dirty="0">
                <a:solidFill>
                  <a:schemeClr val="accent1"/>
                </a:solidFill>
                <a:latin typeface="Century Gothic"/>
              </a:rPr>
              <a:t>CAPEX </a:t>
            </a:r>
            <a:r>
              <a:rPr lang="es-ES" dirty="0">
                <a:solidFill>
                  <a:schemeClr val="accent1"/>
                </a:solidFill>
                <a:latin typeface="Century Gothic"/>
              </a:rPr>
              <a:t>= 0 – 30 = – 30 </a:t>
            </a:r>
          </a:p>
          <a:p>
            <a:pPr marL="0" indent="0" algn="ctr">
              <a:buNone/>
            </a:pPr>
            <a:endParaRPr lang="es-ES" dirty="0">
              <a:solidFill>
                <a:schemeClr val="accent1"/>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89485213-E012-506A-8D69-B134154DAC36}"/>
              </a:ext>
            </a:extLst>
          </p:cNvPr>
          <p:cNvSpPr>
            <a:spLocks noGrp="1"/>
          </p:cNvSpPr>
          <p:nvPr>
            <p:ph type="sldNum" sz="quarter" idx="12"/>
          </p:nvPr>
        </p:nvSpPr>
        <p:spPr/>
        <p:txBody>
          <a:bodyPr/>
          <a:lstStyle/>
          <a:p>
            <a:fld id="{5E3E23BA-6E79-2442-BA73-D218A5E297C3}" type="slidenum">
              <a:rPr lang="en-US" sz="1800" smtClean="0"/>
              <a:t>38</a:t>
            </a:fld>
            <a:endParaRPr lang="en-US" sz="1800"/>
          </a:p>
        </p:txBody>
      </p:sp>
      <p:sp>
        <p:nvSpPr>
          <p:cNvPr id="5" name="Rectángulo 4">
            <a:extLst>
              <a:ext uri="{FF2B5EF4-FFF2-40B4-BE49-F238E27FC236}">
                <a16:creationId xmlns:a16="http://schemas.microsoft.com/office/drawing/2014/main" id="{714F30DA-8FD4-5B5C-7CB7-7F23E39C8CB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DF26C037-F1B4-5827-46DF-E10B130BF1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3A9F0F94-31DF-D402-4736-296BC31C796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6" name="Table 4">
            <a:extLst>
              <a:ext uri="{FF2B5EF4-FFF2-40B4-BE49-F238E27FC236}">
                <a16:creationId xmlns:a16="http://schemas.microsoft.com/office/drawing/2014/main" id="{7F2AB43A-E9D5-D281-9E71-B31F16192A6C}"/>
              </a:ext>
            </a:extLst>
          </p:cNvPr>
          <p:cNvGraphicFramePr>
            <a:graphicFrameLocks noGrp="1"/>
          </p:cNvGraphicFramePr>
          <p:nvPr>
            <p:extLst>
              <p:ext uri="{D42A27DB-BD31-4B8C-83A1-F6EECF244321}">
                <p14:modId xmlns:p14="http://schemas.microsoft.com/office/powerpoint/2010/main" val="3951414554"/>
              </p:ext>
            </p:extLst>
          </p:nvPr>
        </p:nvGraphicFramePr>
        <p:xfrm>
          <a:off x="6168768" y="3437966"/>
          <a:ext cx="4558499" cy="2494280"/>
        </p:xfrm>
        <a:graphic>
          <a:graphicData uri="http://schemas.openxmlformats.org/drawingml/2006/table">
            <a:tbl>
              <a:tblPr firstRow="1" bandRow="1">
                <a:tableStyleId>{2D5ABB26-0587-4C30-8999-92F81FD0307C}</a:tableStyleId>
              </a:tblPr>
              <a:tblGrid>
                <a:gridCol w="1553048">
                  <a:extLst>
                    <a:ext uri="{9D8B030D-6E8A-4147-A177-3AD203B41FA5}">
                      <a16:colId xmlns:a16="http://schemas.microsoft.com/office/drawing/2014/main" val="20000"/>
                    </a:ext>
                  </a:extLst>
                </a:gridCol>
                <a:gridCol w="222761">
                  <a:extLst>
                    <a:ext uri="{9D8B030D-6E8A-4147-A177-3AD203B41FA5}">
                      <a16:colId xmlns:a16="http://schemas.microsoft.com/office/drawing/2014/main" val="20001"/>
                    </a:ext>
                  </a:extLst>
                </a:gridCol>
                <a:gridCol w="577002">
                  <a:extLst>
                    <a:ext uri="{9D8B030D-6E8A-4147-A177-3AD203B41FA5}">
                      <a16:colId xmlns:a16="http://schemas.microsoft.com/office/drawing/2014/main" val="20002"/>
                    </a:ext>
                  </a:extLst>
                </a:gridCol>
                <a:gridCol w="1481262">
                  <a:extLst>
                    <a:ext uri="{9D8B030D-6E8A-4147-A177-3AD203B41FA5}">
                      <a16:colId xmlns:a16="http://schemas.microsoft.com/office/drawing/2014/main" val="20003"/>
                    </a:ext>
                  </a:extLst>
                </a:gridCol>
                <a:gridCol w="724426">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2</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chemeClr val="accent3">
                        <a:lumMod val="50000"/>
                      </a:schemeClr>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130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110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Maquinaria</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70</a:t>
                      </a:r>
                    </a:p>
                  </a:txBody>
                  <a:tcPr>
                    <a:lnR w="38100" cap="flat" cmpd="sng" algn="ctr">
                      <a:solidFill>
                        <a:srgbClr val="D7A700"/>
                      </a:solidFill>
                      <a:prstDash val="solid"/>
                      <a:round/>
                      <a:headEnd type="none" w="med" len="med"/>
                      <a:tailEnd type="none" w="med" len="med"/>
                    </a:lnR>
                  </a:tcPr>
                </a:tc>
                <a:tc hMerge="1">
                  <a:txBody>
                    <a:bodyPr/>
                    <a:lstStyle/>
                    <a:p>
                      <a:endParaRPr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90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7" name="Table 23">
            <a:extLst>
              <a:ext uri="{FF2B5EF4-FFF2-40B4-BE49-F238E27FC236}">
                <a16:creationId xmlns:a16="http://schemas.microsoft.com/office/drawing/2014/main" id="{6A0BB2DE-8AE3-9E14-1C3A-796FB87AE3EC}"/>
              </a:ext>
            </a:extLst>
          </p:cNvPr>
          <p:cNvGraphicFramePr>
            <a:graphicFrameLocks noGrp="1"/>
          </p:cNvGraphicFramePr>
          <p:nvPr>
            <p:extLst>
              <p:ext uri="{D42A27DB-BD31-4B8C-83A1-F6EECF244321}">
                <p14:modId xmlns:p14="http://schemas.microsoft.com/office/powerpoint/2010/main" val="1882237833"/>
              </p:ext>
            </p:extLst>
          </p:nvPr>
        </p:nvGraphicFramePr>
        <p:xfrm>
          <a:off x="1253067" y="3429000"/>
          <a:ext cx="4732870" cy="2494280"/>
        </p:xfrm>
        <a:graphic>
          <a:graphicData uri="http://schemas.openxmlformats.org/drawingml/2006/table">
            <a:tbl>
              <a:tblPr firstRow="1" bandRow="1">
                <a:tableStyleId>{2D5ABB26-0587-4C30-8999-92F81FD0307C}</a:tableStyleId>
              </a:tblPr>
              <a:tblGrid>
                <a:gridCol w="1473092">
                  <a:extLst>
                    <a:ext uri="{9D8B030D-6E8A-4147-A177-3AD203B41FA5}">
                      <a16:colId xmlns:a16="http://schemas.microsoft.com/office/drawing/2014/main" val="20000"/>
                    </a:ext>
                  </a:extLst>
                </a:gridCol>
                <a:gridCol w="436177">
                  <a:extLst>
                    <a:ext uri="{9D8B030D-6E8A-4147-A177-3AD203B41FA5}">
                      <a16:colId xmlns:a16="http://schemas.microsoft.com/office/drawing/2014/main" val="20001"/>
                    </a:ext>
                  </a:extLst>
                </a:gridCol>
                <a:gridCol w="323978">
                  <a:extLst>
                    <a:ext uri="{9D8B030D-6E8A-4147-A177-3AD203B41FA5}">
                      <a16:colId xmlns:a16="http://schemas.microsoft.com/office/drawing/2014/main" val="20002"/>
                    </a:ext>
                  </a:extLst>
                </a:gridCol>
                <a:gridCol w="1702150">
                  <a:extLst>
                    <a:ext uri="{9D8B030D-6E8A-4147-A177-3AD203B41FA5}">
                      <a16:colId xmlns:a16="http://schemas.microsoft.com/office/drawing/2014/main" val="20003"/>
                    </a:ext>
                  </a:extLst>
                </a:gridCol>
                <a:gridCol w="797473">
                  <a:extLst>
                    <a:ext uri="{9D8B030D-6E8A-4147-A177-3AD203B41FA5}">
                      <a16:colId xmlns:a16="http://schemas.microsoft.com/office/drawing/2014/main" val="20004"/>
                    </a:ext>
                  </a:extLst>
                </a:gridCol>
              </a:tblGrid>
              <a:tr h="370840">
                <a:tc gridSpan="5">
                  <a:txBody>
                    <a:bodyPr/>
                    <a:lstStyle/>
                    <a:p>
                      <a:pPr algn="ctr"/>
                      <a:r>
                        <a:rPr lang="es-CO" sz="1800" noProof="0" dirty="0">
                          <a:solidFill>
                            <a:schemeClr val="bg1"/>
                          </a:solidFill>
                          <a:latin typeface="Century Gothic"/>
                        </a:rPr>
                        <a:t>Año 1</a:t>
                      </a:r>
                    </a:p>
                  </a:txBody>
                  <a:tcPr>
                    <a:lnL w="38100" cap="flat" cmpd="sng" algn="ctr">
                      <a:solidFill>
                        <a:srgbClr val="D7A700"/>
                      </a:solidFill>
                      <a:prstDash val="solid"/>
                      <a:round/>
                      <a:headEnd type="none" w="med" len="med"/>
                      <a:tailEnd type="none" w="med" len="med"/>
                    </a:lnL>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lnB w="38100" cap="flat" cmpd="sng" algn="ctr">
                      <a:solidFill>
                        <a:srgbClr val="D7A700"/>
                      </a:solidFill>
                      <a:prstDash val="solid"/>
                      <a:round/>
                      <a:headEnd type="none" w="med" len="med"/>
                      <a:tailEnd type="none" w="med" len="med"/>
                    </a:lnB>
                    <a:solidFill>
                      <a:srgbClr val="2E8151"/>
                    </a:solidFill>
                  </a:tcPr>
                </a:tc>
                <a:tc hMerge="1">
                  <a:txBody>
                    <a:bodyPr/>
                    <a:lstStyle/>
                    <a:p>
                      <a:pPr algn="ctr"/>
                      <a:endParaRPr lang="en-US" sz="1600" dirty="0"/>
                    </a:p>
                  </a:txBody>
                  <a:tcP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800" noProof="0" dirty="0">
                          <a:solidFill>
                            <a:schemeClr val="accent1"/>
                          </a:solidFill>
                          <a:latin typeface="Century Gothic"/>
                        </a:rPr>
                        <a:t>Efectivo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Deuda</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110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800" noProof="0" dirty="0">
                          <a:solidFill>
                            <a:schemeClr val="accent1"/>
                          </a:solidFill>
                          <a:latin typeface="Century Gothic"/>
                        </a:rPr>
                        <a:t>Maquinaria</a:t>
                      </a:r>
                    </a:p>
                  </a:txBody>
                  <a:tcPr>
                    <a:lnL w="38100" cap="flat" cmpd="sng" algn="ctr">
                      <a:solidFill>
                        <a:srgbClr val="D7A700"/>
                      </a:solidFill>
                      <a:prstDash val="solid"/>
                      <a:round/>
                      <a:headEnd type="none" w="med" len="med"/>
                      <a:tailEnd type="none" w="med" len="med"/>
                    </a:lnL>
                  </a:tcPr>
                </a:tc>
                <a:tc gridSpan="2">
                  <a:txBody>
                    <a:bodyPr/>
                    <a:lstStyle/>
                    <a:p>
                      <a:pPr algn="ctr"/>
                      <a:r>
                        <a:rPr lang="es-CO" sz="1800" noProof="0" dirty="0">
                          <a:solidFill>
                            <a:schemeClr val="accent1"/>
                          </a:solidFill>
                          <a:latin typeface="Century Gothic"/>
                        </a:rPr>
                        <a:t>100</a:t>
                      </a:r>
                    </a:p>
                  </a:txBody>
                  <a:tcPr>
                    <a:lnR w="38100" cap="flat" cmpd="sng" algn="ctr">
                      <a:solidFill>
                        <a:srgbClr val="D7A700"/>
                      </a:solidFill>
                      <a:prstDash val="solid"/>
                      <a:round/>
                      <a:headEnd type="none" w="med" len="med"/>
                      <a:tailEnd type="none" w="med" len="med"/>
                    </a:lnR>
                  </a:tcPr>
                </a:tc>
                <a:tc hMerge="1">
                  <a:txBody>
                    <a:bodyPr/>
                    <a:lstStyle/>
                    <a:p>
                      <a:endParaRPr lang="es-CO" dirty="0"/>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r>
                        <a:rPr lang="es-CO" sz="1800" noProof="0" dirty="0">
                          <a:solidFill>
                            <a:schemeClr val="accent1"/>
                          </a:solidFill>
                          <a:latin typeface="Century Gothic"/>
                        </a:rPr>
                        <a:t>Capital Suscrito</a:t>
                      </a:r>
                    </a:p>
                  </a:txBody>
                  <a:tcPr>
                    <a:lnL w="38100" cap="flat" cmpd="sng" algn="ctr">
                      <a:solidFill>
                        <a:srgbClr val="D7A700"/>
                      </a:solidFill>
                      <a:prstDash val="solid"/>
                      <a:round/>
                      <a:headEnd type="none" w="med" len="med"/>
                      <a:tailEnd type="none" w="med" len="med"/>
                    </a:lnL>
                    <a:lnT w="38100" cap="flat" cmpd="sng" algn="ctr">
                      <a:solidFill>
                        <a:srgbClr val="D7A700"/>
                      </a:solidFill>
                      <a:prstDash val="solid"/>
                      <a:round/>
                      <a:headEnd type="none" w="med" len="med"/>
                      <a:tailEnd type="none" w="med" len="med"/>
                    </a:lnT>
                  </a:tcPr>
                </a:tc>
                <a:tc>
                  <a:txBody>
                    <a:bodyPr/>
                    <a:lstStyle/>
                    <a:p>
                      <a:pPr algn="ctr"/>
                      <a:r>
                        <a:rPr lang="es-CO" sz="1800" noProof="0" dirty="0">
                          <a:solidFill>
                            <a:schemeClr val="accent1"/>
                          </a:solidFill>
                          <a:latin typeface="Century Gothic"/>
                        </a:rPr>
                        <a:t>90</a:t>
                      </a:r>
                    </a:p>
                  </a:txBody>
                  <a:tcPr>
                    <a:lnR w="38100" cap="flat" cmpd="sng" algn="ctr">
                      <a:solidFill>
                        <a:srgbClr val="D7A700"/>
                      </a:solidFill>
                      <a:prstDash val="solid"/>
                      <a:round/>
                      <a:headEnd type="none" w="med" len="med"/>
                      <a:tailEnd type="none" w="med" len="med"/>
                    </a:lnR>
                    <a:lnT w="38100"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tc>
                  <a:txBody>
                    <a:bodyPr/>
                    <a:lstStyle/>
                    <a:p>
                      <a:pPr algn="ctr"/>
                      <a:endParaRPr lang="es-CO" sz="1800" noProof="0" dirty="0">
                        <a:solidFill>
                          <a:schemeClr val="accent1"/>
                        </a:solidFill>
                        <a:latin typeface="Century Gothic"/>
                      </a:endParaRPr>
                    </a:p>
                  </a:txBody>
                  <a:tcPr>
                    <a:lnL w="38100" cap="flat" cmpd="sng" algn="ctr">
                      <a:solidFill>
                        <a:srgbClr val="D7A700"/>
                      </a:solidFill>
                      <a:prstDash val="solid"/>
                      <a:round/>
                      <a:headEnd type="none" w="med" len="med"/>
                      <a:tailEnd type="none" w="med" len="med"/>
                    </a:lnL>
                  </a:tcPr>
                </a:tc>
                <a:tc>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gridSpan="2">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hMerge="1">
                  <a:txBody>
                    <a:bodyPr/>
                    <a:lstStyle/>
                    <a:p>
                      <a:pPr algn="ctr"/>
                      <a:endParaRPr lang="es-CO" sz="1800" noProof="0" dirty="0">
                        <a:solidFill>
                          <a:schemeClr val="accent1"/>
                        </a:solidFill>
                        <a:latin typeface="Century Gothic"/>
                      </a:endParaRP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Total</a:t>
                      </a:r>
                    </a:p>
                  </a:txBody>
                  <a:tcPr>
                    <a:lnL w="38100" cap="flat" cmpd="sng" algn="ctr">
                      <a:solidFill>
                        <a:srgbClr val="D7A700"/>
                      </a:solidFill>
                      <a:prstDash val="solid"/>
                      <a:round/>
                      <a:headEnd type="none" w="med" len="med"/>
                      <a:tailEnd type="none" w="med" len="med"/>
                    </a:lnL>
                    <a:lnB w="38100" cap="flat" cmpd="sng" algn="ctr">
                      <a:solidFill>
                        <a:srgbClr val="D7A700"/>
                      </a:solidFill>
                      <a:prstDash val="solid"/>
                      <a:round/>
                      <a:headEnd type="none" w="med" len="med"/>
                      <a:tailEnd type="none" w="med" len="med"/>
                    </a:lnB>
                  </a:tcPr>
                </a:tc>
                <a:tc>
                  <a:txBody>
                    <a:bodyPr/>
                    <a:lstStyle/>
                    <a:p>
                      <a:pPr algn="ctr"/>
                      <a:r>
                        <a:rPr lang="es-CO" sz="1800" b="1" noProof="0" dirty="0">
                          <a:solidFill>
                            <a:schemeClr val="accent1"/>
                          </a:solidFill>
                          <a:latin typeface="Century Gothic"/>
                        </a:rPr>
                        <a:t>200</a:t>
                      </a:r>
                    </a:p>
                  </a:txBody>
                  <a:tcPr>
                    <a:lnR w="38100" cap="flat" cmpd="sng" algn="ctr">
                      <a:solidFill>
                        <a:srgbClr val="D7A700"/>
                      </a:solidFill>
                      <a:prstDash val="solid"/>
                      <a:round/>
                      <a:headEnd type="none" w="med" len="med"/>
                      <a:tailEnd type="none" w="med" len="med"/>
                    </a:lnR>
                    <a:lnB w="38100"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5602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3BEC6-48CF-3C47-FB62-4D8466F8D3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60468A-BC5C-CCDE-C8D2-268C4B88B32A}"/>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4C0DD789-AB96-4BCB-4710-B54B2A1701A2}"/>
              </a:ext>
            </a:extLst>
          </p:cNvPr>
          <p:cNvSpPr>
            <a:spLocks noGrp="1"/>
          </p:cNvSpPr>
          <p:nvPr>
            <p:ph idx="1"/>
          </p:nvPr>
        </p:nvSpPr>
        <p:spPr>
          <a:xfrm>
            <a:off x="581192" y="1888066"/>
            <a:ext cx="10878718" cy="3081867"/>
          </a:xfrm>
        </p:spPr>
        <p:txBody>
          <a:bodyPr>
            <a:noAutofit/>
          </a:bodyPr>
          <a:lstStyle/>
          <a:p>
            <a:pPr marL="0" indent="0" algn="just">
              <a:buNone/>
            </a:pPr>
            <a:r>
              <a:rPr lang="es-ES" sz="2000" b="1" dirty="0">
                <a:solidFill>
                  <a:srgbClr val="C00000"/>
                </a:solidFill>
                <a:latin typeface="Century Gothic" panose="020B0502020202020204" pitchFamily="34" charset="0"/>
              </a:rPr>
              <a:t>Ejemplo 3: </a:t>
            </a:r>
          </a:p>
          <a:p>
            <a:pPr marL="0" indent="0" algn="just">
              <a:buNone/>
            </a:pPr>
            <a:r>
              <a:rPr lang="es-ES" dirty="0">
                <a:solidFill>
                  <a:schemeClr val="accent1"/>
                </a:solidFill>
                <a:latin typeface="Century Gothic" panose="020B0502020202020204" pitchFamily="34" charset="0"/>
              </a:rPr>
              <a:t>Suponga una empresa </a:t>
            </a:r>
            <a:r>
              <a:rPr lang="es-ES" dirty="0" err="1">
                <a:solidFill>
                  <a:schemeClr val="accent1"/>
                </a:solidFill>
                <a:latin typeface="Century Gothic" panose="020B0502020202020204" pitchFamily="34" charset="0"/>
              </a:rPr>
              <a:t>textilera</a:t>
            </a:r>
            <a:r>
              <a:rPr lang="es-ES" dirty="0">
                <a:solidFill>
                  <a:schemeClr val="accent1"/>
                </a:solidFill>
                <a:latin typeface="Century Gothic" panose="020B0502020202020204" pitchFamily="34" charset="0"/>
              </a:rPr>
              <a:t> que compra una máquina en el 2013 por valor de $50, la vida útil de la máquina es de 5 años y se deprecia por el método de línea recta sin valor de salvamento.</a:t>
            </a:r>
          </a:p>
          <a:p>
            <a:pPr marL="0" indent="0" algn="just">
              <a:buNone/>
            </a:pPr>
            <a:r>
              <a:rPr lang="es-ES" dirty="0">
                <a:solidFill>
                  <a:schemeClr val="accent1"/>
                </a:solidFill>
                <a:latin typeface="Century Gothic" panose="020B0502020202020204" pitchFamily="34" charset="0"/>
              </a:rPr>
              <a:t>Construyamos su tabla de depreciación.</a:t>
            </a:r>
          </a:p>
        </p:txBody>
      </p:sp>
      <p:sp>
        <p:nvSpPr>
          <p:cNvPr id="4" name="Marcador de número de diapositiva 3">
            <a:extLst>
              <a:ext uri="{FF2B5EF4-FFF2-40B4-BE49-F238E27FC236}">
                <a16:creationId xmlns:a16="http://schemas.microsoft.com/office/drawing/2014/main" id="{4A4D0C05-EF71-3D18-9F8B-6FDBC515D703}"/>
              </a:ext>
            </a:extLst>
          </p:cNvPr>
          <p:cNvSpPr>
            <a:spLocks noGrp="1"/>
          </p:cNvSpPr>
          <p:nvPr>
            <p:ph type="sldNum" sz="quarter" idx="12"/>
          </p:nvPr>
        </p:nvSpPr>
        <p:spPr/>
        <p:txBody>
          <a:bodyPr/>
          <a:lstStyle/>
          <a:p>
            <a:fld id="{5E3E23BA-6E79-2442-BA73-D218A5E297C3}" type="slidenum">
              <a:rPr lang="en-US" sz="1800" smtClean="0"/>
              <a:t>39</a:t>
            </a:fld>
            <a:endParaRPr lang="en-US" sz="1800"/>
          </a:p>
        </p:txBody>
      </p:sp>
      <p:sp>
        <p:nvSpPr>
          <p:cNvPr id="5" name="Rectángulo 4">
            <a:extLst>
              <a:ext uri="{FF2B5EF4-FFF2-40B4-BE49-F238E27FC236}">
                <a16:creationId xmlns:a16="http://schemas.microsoft.com/office/drawing/2014/main" id="{95BA69FC-87E7-308F-418C-3610DFFC23D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FEF93DB9-89DE-6DFF-6FAB-D100CBCEF2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12C3D24D-EBC4-A1B9-3C10-13D33361A0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4479267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7DFE-5977-82AF-9A2F-6D34005A3B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1BA760-CF7D-E073-F39D-160EE12C039C}"/>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C6036BAB-E7FF-75B6-4D2B-039F5AD69EC5}"/>
              </a:ext>
            </a:extLst>
          </p:cNvPr>
          <p:cNvSpPr>
            <a:spLocks noGrp="1"/>
          </p:cNvSpPr>
          <p:nvPr>
            <p:ph idx="1"/>
          </p:nvPr>
        </p:nvSpPr>
        <p:spPr>
          <a:xfrm>
            <a:off x="581192" y="1888067"/>
            <a:ext cx="10878718" cy="804334"/>
          </a:xfrm>
        </p:spPr>
        <p:txBody>
          <a:bodyPr>
            <a:noAutofit/>
          </a:bodyPr>
          <a:lstStyle/>
          <a:p>
            <a:pPr marL="0" indent="0" algn="just">
              <a:buNone/>
            </a:pPr>
            <a:r>
              <a:rPr lang="es-ES" sz="2000" b="1" dirty="0">
                <a:solidFill>
                  <a:srgbClr val="C00000"/>
                </a:solidFill>
                <a:latin typeface="Century Gothic" panose="020B0502020202020204" pitchFamily="34" charset="0"/>
              </a:rPr>
              <a:t>Tabla de depreciación</a:t>
            </a:r>
          </a:p>
        </p:txBody>
      </p:sp>
      <p:sp>
        <p:nvSpPr>
          <p:cNvPr id="4" name="Marcador de número de diapositiva 3">
            <a:extLst>
              <a:ext uri="{FF2B5EF4-FFF2-40B4-BE49-F238E27FC236}">
                <a16:creationId xmlns:a16="http://schemas.microsoft.com/office/drawing/2014/main" id="{81104590-C73B-D76A-8FD9-E63948C474E4}"/>
              </a:ext>
            </a:extLst>
          </p:cNvPr>
          <p:cNvSpPr>
            <a:spLocks noGrp="1"/>
          </p:cNvSpPr>
          <p:nvPr>
            <p:ph type="sldNum" sz="quarter" idx="12"/>
          </p:nvPr>
        </p:nvSpPr>
        <p:spPr/>
        <p:txBody>
          <a:bodyPr/>
          <a:lstStyle/>
          <a:p>
            <a:fld id="{5E3E23BA-6E79-2442-BA73-D218A5E297C3}" type="slidenum">
              <a:rPr lang="en-US" sz="1800" smtClean="0"/>
              <a:t>40</a:t>
            </a:fld>
            <a:endParaRPr lang="en-US" sz="1800"/>
          </a:p>
        </p:txBody>
      </p:sp>
      <p:sp>
        <p:nvSpPr>
          <p:cNvPr id="5" name="Rectángulo 4">
            <a:extLst>
              <a:ext uri="{FF2B5EF4-FFF2-40B4-BE49-F238E27FC236}">
                <a16:creationId xmlns:a16="http://schemas.microsoft.com/office/drawing/2014/main" id="{0517F5D4-6E16-C2EB-59C7-17CF50E6DBB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9094B463-475C-A43B-6CB6-C55B3CA14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357CD88F-E8F0-24EB-678A-9191AE9E236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6" name="Tabla 5">
            <a:extLst>
              <a:ext uri="{FF2B5EF4-FFF2-40B4-BE49-F238E27FC236}">
                <a16:creationId xmlns:a16="http://schemas.microsoft.com/office/drawing/2014/main" id="{289AB005-F80A-7D10-779D-F757DCD06D64}"/>
              </a:ext>
            </a:extLst>
          </p:cNvPr>
          <p:cNvGraphicFramePr>
            <a:graphicFrameLocks noGrp="1"/>
          </p:cNvGraphicFramePr>
          <p:nvPr>
            <p:extLst>
              <p:ext uri="{D42A27DB-BD31-4B8C-83A1-F6EECF244321}">
                <p14:modId xmlns:p14="http://schemas.microsoft.com/office/powerpoint/2010/main" val="331089904"/>
              </p:ext>
            </p:extLst>
          </p:nvPr>
        </p:nvGraphicFramePr>
        <p:xfrm>
          <a:off x="2527300" y="2864512"/>
          <a:ext cx="7137400" cy="2308860"/>
        </p:xfrm>
        <a:graphic>
          <a:graphicData uri="http://schemas.openxmlformats.org/drawingml/2006/table">
            <a:tbl>
              <a:tblPr/>
              <a:tblGrid>
                <a:gridCol w="21844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825500">
                  <a:extLst>
                    <a:ext uri="{9D8B030D-6E8A-4147-A177-3AD203B41FA5}">
                      <a16:colId xmlns:a16="http://schemas.microsoft.com/office/drawing/2014/main" val="20004"/>
                    </a:ext>
                  </a:extLst>
                </a:gridCol>
                <a:gridCol w="825500">
                  <a:extLst>
                    <a:ext uri="{9D8B030D-6E8A-4147-A177-3AD203B41FA5}">
                      <a16:colId xmlns:a16="http://schemas.microsoft.com/office/drawing/2014/main" val="20005"/>
                    </a:ext>
                  </a:extLst>
                </a:gridCol>
                <a:gridCol w="825500">
                  <a:extLst>
                    <a:ext uri="{9D8B030D-6E8A-4147-A177-3AD203B41FA5}">
                      <a16:colId xmlns:a16="http://schemas.microsoft.com/office/drawing/2014/main" val="20006"/>
                    </a:ext>
                  </a:extLst>
                </a:gridCol>
              </a:tblGrid>
              <a:tr h="254000">
                <a:tc rowSpan="2">
                  <a:txBody>
                    <a:bodyPr/>
                    <a:lstStyle/>
                    <a:p>
                      <a:pPr algn="ctr" fontAlgn="b"/>
                      <a:r>
                        <a:rPr lang="es-ES" sz="1600" b="0" i="0" u="none" strike="noStrike" dirty="0">
                          <a:solidFill>
                            <a:srgbClr val="FFFFFF"/>
                          </a:solidFill>
                          <a:effectLst/>
                          <a:latin typeface="Calibri"/>
                        </a:rPr>
                        <a:t>Año</a:t>
                      </a:r>
                    </a:p>
                  </a:txBody>
                  <a:tcPr marL="12700" marR="12700" marT="12700" marB="0" anchor="ctr">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2015</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2016</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2017</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2018</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0"/>
                  </a:ext>
                </a:extLst>
              </a:tr>
              <a:tr h="254000">
                <a:tc vMerge="1">
                  <a:txBody>
                    <a:bodyPr/>
                    <a:lstStyle/>
                    <a:p>
                      <a:pPr algn="ctr" fontAlgn="b"/>
                      <a:endParaRPr lang="es-ES" sz="1600" b="0" i="0" u="none" strike="noStrike" dirty="0">
                        <a:solidFill>
                          <a:srgbClr val="FFFFFF"/>
                        </a:solidFill>
                        <a:effectLst/>
                        <a:latin typeface="Calibri"/>
                      </a:endParaRPr>
                    </a:p>
                  </a:txBody>
                  <a:tcPr marL="12700" marR="12700" marT="12700" marB="0" anchor="b">
                    <a:lnL>
                      <a:noFill/>
                    </a:lnL>
                    <a:lnR>
                      <a:noFill/>
                    </a:lnR>
                    <a:lnT>
                      <a:noFill/>
                    </a:lnT>
                    <a:lnB>
                      <a:noFill/>
                    </a:lnB>
                    <a:solidFill>
                      <a:srgbClr val="215967"/>
                    </a:solidFill>
                  </a:tcPr>
                </a:tc>
                <a:tc>
                  <a:txBody>
                    <a:bodyPr/>
                    <a:lstStyle/>
                    <a:p>
                      <a:pPr algn="ctr" fontAlgn="b"/>
                      <a:r>
                        <a:rPr lang="es-ES" sz="1600" b="0" i="0" u="none" strike="noStrike" dirty="0">
                          <a:solidFill>
                            <a:srgbClr val="FFFFFF"/>
                          </a:solidFill>
                          <a:effectLst/>
                          <a:latin typeface="Calibri"/>
                        </a:rPr>
                        <a:t>(0)</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(1)</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(5)</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1"/>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2"/>
                  </a:ext>
                </a:extLst>
              </a:tr>
              <a:tr h="254000">
                <a:tc>
                  <a:txBody>
                    <a:bodyPr/>
                    <a:lstStyle/>
                    <a:p>
                      <a:pPr algn="ctr" fontAlgn="b"/>
                      <a:r>
                        <a:rPr lang="es-ES" sz="1600" b="0" i="0" u="none" strike="noStrike" dirty="0">
                          <a:solidFill>
                            <a:srgbClr val="000000"/>
                          </a:solidFill>
                          <a:effectLst/>
                          <a:latin typeface="Calibri"/>
                        </a:rPr>
                        <a:t>Depreciación Periodo</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5"/>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6"/>
                  </a:ext>
                </a:extLst>
              </a:tr>
              <a:tr h="254000">
                <a:tc>
                  <a:txBody>
                    <a:bodyPr/>
                    <a:lstStyle/>
                    <a:p>
                      <a:pPr algn="ctr" fontAlgn="b"/>
                      <a:r>
                        <a:rPr lang="es-ES" sz="1600" b="0" i="0" u="none" strike="noStrike">
                          <a:solidFill>
                            <a:srgbClr val="000000"/>
                          </a:solidFill>
                          <a:effectLst/>
                          <a:latin typeface="Calibri"/>
                        </a:rPr>
                        <a:t>Depreciación Acumulada</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7"/>
                  </a:ext>
                </a:extLst>
              </a:tr>
              <a:tr h="254000">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8"/>
                  </a:ext>
                </a:extLst>
              </a:tr>
              <a:tr h="254000">
                <a:tc>
                  <a:txBody>
                    <a:bodyPr/>
                    <a:lstStyle/>
                    <a:p>
                      <a:pPr algn="ctr" fontAlgn="b"/>
                      <a:r>
                        <a:rPr lang="es-ES" sz="1600" b="0" i="0" u="none" strike="noStrike">
                          <a:solidFill>
                            <a:srgbClr val="000000"/>
                          </a:solidFill>
                          <a:effectLst/>
                          <a:latin typeface="Calibri"/>
                        </a:rPr>
                        <a:t>Valor Libros</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50</a:t>
                      </a: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solidFill>
                      <a:srgbClr val="F2F2F2"/>
                    </a:solidFill>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9"/>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58625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7A43-E406-450E-9C08-29B70B240D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A24F23-5508-3A90-A1D5-FAAB53D6DC41}"/>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3" name="Marcador de contenido 2">
            <a:extLst>
              <a:ext uri="{FF2B5EF4-FFF2-40B4-BE49-F238E27FC236}">
                <a16:creationId xmlns:a16="http://schemas.microsoft.com/office/drawing/2014/main" id="{D6DA2A66-8BC4-1841-7748-8659089C5079}"/>
              </a:ext>
            </a:extLst>
          </p:cNvPr>
          <p:cNvSpPr>
            <a:spLocks noGrp="1"/>
          </p:cNvSpPr>
          <p:nvPr>
            <p:ph idx="1"/>
          </p:nvPr>
        </p:nvSpPr>
        <p:spPr>
          <a:xfrm>
            <a:off x="581192" y="1888067"/>
            <a:ext cx="10878718" cy="804334"/>
          </a:xfrm>
        </p:spPr>
        <p:txBody>
          <a:bodyPr>
            <a:noAutofit/>
          </a:bodyPr>
          <a:lstStyle/>
          <a:p>
            <a:pPr marL="0" indent="0" algn="just">
              <a:buNone/>
            </a:pPr>
            <a:r>
              <a:rPr lang="es-ES" sz="2000" b="1" dirty="0">
                <a:solidFill>
                  <a:srgbClr val="C00000"/>
                </a:solidFill>
                <a:latin typeface="Century Gothic" panose="020B0502020202020204" pitchFamily="34" charset="0"/>
              </a:rPr>
              <a:t>Tabla de depreciación</a:t>
            </a:r>
          </a:p>
        </p:txBody>
      </p:sp>
      <p:sp>
        <p:nvSpPr>
          <p:cNvPr id="4" name="Marcador de número de diapositiva 3">
            <a:extLst>
              <a:ext uri="{FF2B5EF4-FFF2-40B4-BE49-F238E27FC236}">
                <a16:creationId xmlns:a16="http://schemas.microsoft.com/office/drawing/2014/main" id="{7E07552A-3182-20FD-A3D3-1F68DE603DBE}"/>
              </a:ext>
            </a:extLst>
          </p:cNvPr>
          <p:cNvSpPr>
            <a:spLocks noGrp="1"/>
          </p:cNvSpPr>
          <p:nvPr>
            <p:ph type="sldNum" sz="quarter" idx="12"/>
          </p:nvPr>
        </p:nvSpPr>
        <p:spPr/>
        <p:txBody>
          <a:bodyPr/>
          <a:lstStyle/>
          <a:p>
            <a:fld id="{5E3E23BA-6E79-2442-BA73-D218A5E297C3}" type="slidenum">
              <a:rPr lang="en-US" sz="1800" smtClean="0"/>
              <a:t>41</a:t>
            </a:fld>
            <a:endParaRPr lang="en-US" sz="1800"/>
          </a:p>
        </p:txBody>
      </p:sp>
      <p:sp>
        <p:nvSpPr>
          <p:cNvPr id="5" name="Rectángulo 4">
            <a:extLst>
              <a:ext uri="{FF2B5EF4-FFF2-40B4-BE49-F238E27FC236}">
                <a16:creationId xmlns:a16="http://schemas.microsoft.com/office/drawing/2014/main" id="{F90E3245-21F7-3C5A-74B8-8D357D3514B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7ACE173-DC9F-3C3B-06C8-6D3F2D3C8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CE2368F7-2B2A-1ED7-863B-824F01D6DB3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6" name="Tabla 5">
            <a:extLst>
              <a:ext uri="{FF2B5EF4-FFF2-40B4-BE49-F238E27FC236}">
                <a16:creationId xmlns:a16="http://schemas.microsoft.com/office/drawing/2014/main" id="{A081DBD7-485F-4A62-E3E2-7B6A65B90683}"/>
              </a:ext>
            </a:extLst>
          </p:cNvPr>
          <p:cNvGraphicFramePr>
            <a:graphicFrameLocks noGrp="1"/>
          </p:cNvGraphicFramePr>
          <p:nvPr>
            <p:extLst>
              <p:ext uri="{D42A27DB-BD31-4B8C-83A1-F6EECF244321}">
                <p14:modId xmlns:p14="http://schemas.microsoft.com/office/powerpoint/2010/main" val="2639538736"/>
              </p:ext>
            </p:extLst>
          </p:nvPr>
        </p:nvGraphicFramePr>
        <p:xfrm>
          <a:off x="2527300" y="2864512"/>
          <a:ext cx="7137400" cy="2308860"/>
        </p:xfrm>
        <a:graphic>
          <a:graphicData uri="http://schemas.openxmlformats.org/drawingml/2006/table">
            <a:tbl>
              <a:tblPr/>
              <a:tblGrid>
                <a:gridCol w="21844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825500">
                  <a:extLst>
                    <a:ext uri="{9D8B030D-6E8A-4147-A177-3AD203B41FA5}">
                      <a16:colId xmlns:a16="http://schemas.microsoft.com/office/drawing/2014/main" val="20004"/>
                    </a:ext>
                  </a:extLst>
                </a:gridCol>
                <a:gridCol w="825500">
                  <a:extLst>
                    <a:ext uri="{9D8B030D-6E8A-4147-A177-3AD203B41FA5}">
                      <a16:colId xmlns:a16="http://schemas.microsoft.com/office/drawing/2014/main" val="20005"/>
                    </a:ext>
                  </a:extLst>
                </a:gridCol>
                <a:gridCol w="825500">
                  <a:extLst>
                    <a:ext uri="{9D8B030D-6E8A-4147-A177-3AD203B41FA5}">
                      <a16:colId xmlns:a16="http://schemas.microsoft.com/office/drawing/2014/main" val="20006"/>
                    </a:ext>
                  </a:extLst>
                </a:gridCol>
              </a:tblGrid>
              <a:tr h="254000">
                <a:tc rowSpan="2">
                  <a:txBody>
                    <a:bodyPr/>
                    <a:lstStyle/>
                    <a:p>
                      <a:pPr algn="ctr" fontAlgn="b"/>
                      <a:r>
                        <a:rPr lang="es-ES" sz="1600" b="0" i="0" u="none" strike="noStrike" dirty="0">
                          <a:solidFill>
                            <a:srgbClr val="FFFFFF"/>
                          </a:solidFill>
                          <a:effectLst/>
                          <a:latin typeface="Calibri"/>
                        </a:rPr>
                        <a:t>Año</a:t>
                      </a:r>
                    </a:p>
                  </a:txBody>
                  <a:tcPr marL="12700" marR="12700" marT="12700" marB="0" anchor="ctr">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2015</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2016</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2017</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2018</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0"/>
                  </a:ext>
                </a:extLst>
              </a:tr>
              <a:tr h="254000">
                <a:tc vMerge="1">
                  <a:txBody>
                    <a:bodyPr/>
                    <a:lstStyle/>
                    <a:p>
                      <a:pPr algn="ctr" fontAlgn="b"/>
                      <a:endParaRPr lang="es-ES" sz="1600" b="0" i="0" u="none" strike="noStrike" dirty="0">
                        <a:solidFill>
                          <a:srgbClr val="FFFFFF"/>
                        </a:solidFill>
                        <a:effectLst/>
                        <a:latin typeface="Calibri"/>
                      </a:endParaRPr>
                    </a:p>
                  </a:txBody>
                  <a:tcPr marL="12700" marR="12700" marT="12700" marB="0" anchor="b">
                    <a:lnL>
                      <a:noFill/>
                    </a:lnL>
                    <a:lnR>
                      <a:noFill/>
                    </a:lnR>
                    <a:lnT>
                      <a:noFill/>
                    </a:lnT>
                    <a:lnB>
                      <a:noFill/>
                    </a:lnB>
                    <a:solidFill>
                      <a:srgbClr val="215967"/>
                    </a:solidFill>
                  </a:tcPr>
                </a:tc>
                <a:tc>
                  <a:txBody>
                    <a:bodyPr/>
                    <a:lstStyle/>
                    <a:p>
                      <a:pPr algn="ctr" fontAlgn="b"/>
                      <a:r>
                        <a:rPr lang="es-ES" sz="1600" b="0" i="0" u="none" strike="noStrike" dirty="0">
                          <a:solidFill>
                            <a:srgbClr val="FFFFFF"/>
                          </a:solidFill>
                          <a:effectLst/>
                          <a:latin typeface="Calibri"/>
                        </a:rPr>
                        <a:t>(0)</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(1)</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(5)</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1"/>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2"/>
                  </a:ext>
                </a:extLst>
              </a:tr>
              <a:tr h="254000">
                <a:tc>
                  <a:txBody>
                    <a:bodyPr/>
                    <a:lstStyle/>
                    <a:p>
                      <a:pPr algn="ctr" fontAlgn="b"/>
                      <a:r>
                        <a:rPr lang="es-ES" sz="1600" b="0" i="0" u="none" strike="noStrike">
                          <a:solidFill>
                            <a:srgbClr val="000000"/>
                          </a:solidFill>
                          <a:effectLst/>
                          <a:latin typeface="Calibri"/>
                        </a:rPr>
                        <a:t>Depreciación Periodo</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10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5"/>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6"/>
                  </a:ext>
                </a:extLst>
              </a:tr>
              <a:tr h="254000">
                <a:tc>
                  <a:txBody>
                    <a:bodyPr/>
                    <a:lstStyle/>
                    <a:p>
                      <a:pPr algn="ctr" fontAlgn="b"/>
                      <a:r>
                        <a:rPr lang="es-ES" sz="1600" b="0" i="0" u="none" strike="noStrike">
                          <a:solidFill>
                            <a:srgbClr val="000000"/>
                          </a:solidFill>
                          <a:effectLst/>
                          <a:latin typeface="Calibri"/>
                        </a:rPr>
                        <a:t>Depreciación Acumulada</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20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30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40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50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7"/>
                  </a:ext>
                </a:extLst>
              </a:tr>
              <a:tr h="254000">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8"/>
                  </a:ext>
                </a:extLst>
              </a:tr>
              <a:tr h="254000">
                <a:tc>
                  <a:txBody>
                    <a:bodyPr/>
                    <a:lstStyle/>
                    <a:p>
                      <a:pPr algn="ctr" fontAlgn="b"/>
                      <a:r>
                        <a:rPr lang="es-ES" sz="1600" b="0" i="0" u="none" strike="noStrike">
                          <a:solidFill>
                            <a:srgbClr val="000000"/>
                          </a:solidFill>
                          <a:effectLst/>
                          <a:latin typeface="Calibri"/>
                        </a:rPr>
                        <a:t>Valor Libros</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50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40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30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20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9"/>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0362591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B1619-705E-33DE-8BFD-AA741656E5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8D1BCD-E37E-102C-64F3-F58AF5839446}"/>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ED8C8BC1-72BA-247E-4F40-42D5CF45CEE7}"/>
              </a:ext>
            </a:extLst>
          </p:cNvPr>
          <p:cNvSpPr>
            <a:spLocks noGrp="1"/>
          </p:cNvSpPr>
          <p:nvPr>
            <p:ph type="sldNum" sz="quarter" idx="12"/>
          </p:nvPr>
        </p:nvSpPr>
        <p:spPr/>
        <p:txBody>
          <a:bodyPr/>
          <a:lstStyle/>
          <a:p>
            <a:fld id="{5E3E23BA-6E79-2442-BA73-D218A5E297C3}" type="slidenum">
              <a:rPr lang="en-US" sz="1800" smtClean="0"/>
              <a:t>42</a:t>
            </a:fld>
            <a:endParaRPr lang="en-US" sz="1800"/>
          </a:p>
        </p:txBody>
      </p:sp>
      <p:sp>
        <p:nvSpPr>
          <p:cNvPr id="5" name="Rectángulo 4">
            <a:extLst>
              <a:ext uri="{FF2B5EF4-FFF2-40B4-BE49-F238E27FC236}">
                <a16:creationId xmlns:a16="http://schemas.microsoft.com/office/drawing/2014/main" id="{821E979D-EB35-2C6F-39B9-3D93460866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3B2DEB46-CBF8-EA52-4ADA-5DA9539C7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95AF7592-51B6-E35F-8BF7-F7C283CF261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87FB899D-7E27-91AB-DDE5-4B29A4FCC6A1}"/>
              </a:ext>
            </a:extLst>
          </p:cNvPr>
          <p:cNvSpPr txBox="1">
            <a:spLocks/>
          </p:cNvSpPr>
          <p:nvPr/>
        </p:nvSpPr>
        <p:spPr>
          <a:xfrm>
            <a:off x="910169" y="2539948"/>
            <a:ext cx="10371662" cy="2738909"/>
          </a:xfrm>
          <a:prstGeom prst="rect">
            <a:avLst/>
          </a:prstGeom>
        </p:spPr>
        <p:txBody>
          <a:bodyPr vert="horz" lIns="91440" tIns="45720" rIns="91440" bIns="45720" rtlCol="0" anchor="ct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dirty="0">
                <a:solidFill>
                  <a:schemeClr val="accent1"/>
                </a:solidFill>
                <a:latin typeface="Century Gothic" panose="020B0502020202020204" pitchFamily="34" charset="0"/>
              </a:rPr>
              <a:t>Suponga que vendo el activo en el año 2 (2015) por el valor en libros en ese periodo (30).</a:t>
            </a:r>
          </a:p>
          <a:p>
            <a:pPr marL="0" indent="0" algn="ctr">
              <a:buNone/>
            </a:pPr>
            <a:endParaRPr lang="es-ES" dirty="0">
              <a:solidFill>
                <a:srgbClr val="800000"/>
              </a:solidFill>
            </a:endParaRPr>
          </a:p>
          <a:p>
            <a:pPr marL="0" indent="0" algn="ctr">
              <a:buNone/>
            </a:pPr>
            <a:r>
              <a:rPr lang="es-ES" dirty="0">
                <a:solidFill>
                  <a:srgbClr val="800000"/>
                </a:solidFill>
              </a:rPr>
              <a:t>¿Cuál sería el CAPEX?</a:t>
            </a:r>
          </a:p>
          <a:p>
            <a:pPr marL="0" indent="0" algn="ctr">
              <a:buNone/>
            </a:pPr>
            <a:endParaRPr lang="es-ES" dirty="0">
              <a:solidFill>
                <a:srgbClr val="800000"/>
              </a:solidFill>
            </a:endParaRPr>
          </a:p>
          <a:p>
            <a:pPr marL="0" indent="0" algn="ctr">
              <a:buNone/>
            </a:pPr>
            <a:r>
              <a:rPr lang="es-ES" dirty="0">
                <a:solidFill>
                  <a:schemeClr val="accent1"/>
                </a:solidFill>
                <a:latin typeface="Century Gothic" panose="020B0502020202020204" pitchFamily="34" charset="0"/>
              </a:rPr>
              <a:t>∆ </a:t>
            </a:r>
            <a:r>
              <a:rPr lang="es-ES" b="1" dirty="0">
                <a:solidFill>
                  <a:schemeClr val="accent1"/>
                </a:solidFill>
                <a:latin typeface="Century Gothic"/>
              </a:rPr>
              <a:t>CAPEX </a:t>
            </a:r>
            <a:r>
              <a:rPr lang="es-ES" dirty="0">
                <a:solidFill>
                  <a:schemeClr val="accent1"/>
                </a:solidFill>
                <a:latin typeface="Century Gothic"/>
              </a:rPr>
              <a:t>= COMPRA DE PPE E INTANGIBLES - VENTA DE PPE E INTANGIBLES</a:t>
            </a: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 </a:t>
            </a:r>
          </a:p>
          <a:p>
            <a:pPr marL="0" indent="0" algn="ctr">
              <a:buNone/>
            </a:pPr>
            <a:r>
              <a:rPr lang="es-ES" dirty="0">
                <a:solidFill>
                  <a:schemeClr val="accent1"/>
                </a:solidFill>
                <a:latin typeface="Century Gothic" panose="020B0502020202020204" pitchFamily="34" charset="0"/>
              </a:rPr>
              <a:t>∆ </a:t>
            </a:r>
            <a:r>
              <a:rPr lang="es-ES" b="1" dirty="0">
                <a:solidFill>
                  <a:schemeClr val="accent1"/>
                </a:solidFill>
                <a:latin typeface="Century Gothic"/>
              </a:rPr>
              <a:t>CAPEX</a:t>
            </a:r>
            <a:r>
              <a:rPr lang="es-ES" dirty="0">
                <a:solidFill>
                  <a:schemeClr val="accent1"/>
                </a:solidFill>
                <a:latin typeface="Century Gothic" panose="020B0502020202020204" pitchFamily="34" charset="0"/>
              </a:rPr>
              <a:t> = -30</a:t>
            </a:r>
            <a:endParaRPr lang="es-ES" dirty="0">
              <a:solidFill>
                <a:srgbClr val="800000"/>
              </a:solidFill>
            </a:endParaRPr>
          </a:p>
          <a:p>
            <a:pPr marL="0" indent="0">
              <a:buFont typeface="Wingdings 2" panose="05020102010507070707" pitchFamily="18" charset="2"/>
              <a:buNone/>
            </a:pPr>
            <a:endParaRPr lang="es-CO" dirty="0">
              <a:solidFill>
                <a:schemeClr val="accent1"/>
              </a:solidFill>
              <a:latin typeface="Century Gothic" panose="020B0502020202020204" pitchFamily="34" charset="0"/>
            </a:endParaRPr>
          </a:p>
        </p:txBody>
      </p:sp>
      <p:pic>
        <p:nvPicPr>
          <p:cNvPr id="8" name="Imagen 7">
            <a:extLst>
              <a:ext uri="{FF2B5EF4-FFF2-40B4-BE49-F238E27FC236}">
                <a16:creationId xmlns:a16="http://schemas.microsoft.com/office/drawing/2014/main" id="{A12E2E8E-A2FE-F77D-5C2B-1FBE10090C09}"/>
              </a:ext>
            </a:extLst>
          </p:cNvPr>
          <p:cNvPicPr>
            <a:picLocks noChangeAspect="1"/>
          </p:cNvPicPr>
          <p:nvPr/>
        </p:nvPicPr>
        <p:blipFill>
          <a:blip r:embed="rId3"/>
          <a:stretch>
            <a:fillRect/>
          </a:stretch>
        </p:blipFill>
        <p:spPr>
          <a:xfrm>
            <a:off x="8399257" y="4859924"/>
            <a:ext cx="2152126" cy="1515146"/>
          </a:xfrm>
          <a:prstGeom prst="rect">
            <a:avLst/>
          </a:prstGeom>
        </p:spPr>
      </p:pic>
    </p:spTree>
    <p:extLst>
      <p:ext uri="{BB962C8B-B14F-4D97-AF65-F5344CB8AC3E}">
        <p14:creationId xmlns:p14="http://schemas.microsoft.com/office/powerpoint/2010/main" val="518741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2DEB9-6360-4506-C804-B0E82B4BDC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C2BCC9-56C3-3FBC-C0CA-EB77A4873B20}"/>
              </a:ext>
            </a:extLst>
          </p:cNvPr>
          <p:cNvSpPr>
            <a:spLocks noGrp="1"/>
          </p:cNvSpPr>
          <p:nvPr>
            <p:ph type="title"/>
          </p:nvPr>
        </p:nvSpPr>
        <p:spPr/>
        <p:txBody>
          <a:bodyPr/>
          <a:lstStyle/>
          <a:p>
            <a:r>
              <a:rPr lang="es-ES" dirty="0">
                <a:latin typeface="Century Gothic"/>
              </a:rPr>
              <a:t>Variación de PPE e Intangibles (CAPEX)</a:t>
            </a:r>
            <a:endParaRPr lang="es-ES" dirty="0">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25B1152E-CF34-AE1D-EFF0-EF63924F78EB}"/>
              </a:ext>
            </a:extLst>
          </p:cNvPr>
          <p:cNvSpPr>
            <a:spLocks noGrp="1"/>
          </p:cNvSpPr>
          <p:nvPr>
            <p:ph type="sldNum" sz="quarter" idx="12"/>
          </p:nvPr>
        </p:nvSpPr>
        <p:spPr/>
        <p:txBody>
          <a:bodyPr/>
          <a:lstStyle/>
          <a:p>
            <a:fld id="{5E3E23BA-6E79-2442-BA73-D218A5E297C3}" type="slidenum">
              <a:rPr lang="en-US" sz="1800" smtClean="0"/>
              <a:t>43</a:t>
            </a:fld>
            <a:endParaRPr lang="en-US" sz="1800"/>
          </a:p>
        </p:txBody>
      </p:sp>
      <p:sp>
        <p:nvSpPr>
          <p:cNvPr id="5" name="Rectángulo 4">
            <a:extLst>
              <a:ext uri="{FF2B5EF4-FFF2-40B4-BE49-F238E27FC236}">
                <a16:creationId xmlns:a16="http://schemas.microsoft.com/office/drawing/2014/main" id="{F1BE79A1-EBFD-1F5E-7D3B-3B729C35B1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CAF6D115-BCAC-CB52-264E-A4ADA8065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5A6210CE-6ED1-4908-630B-7CB52413BB4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4D3D7AB9-C57A-619B-DEB1-6BB94A8485B8}"/>
              </a:ext>
            </a:extLst>
          </p:cNvPr>
          <p:cNvSpPr txBox="1">
            <a:spLocks/>
          </p:cNvSpPr>
          <p:nvPr/>
        </p:nvSpPr>
        <p:spPr>
          <a:xfrm>
            <a:off x="910169" y="2539948"/>
            <a:ext cx="10371662" cy="273890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dirty="0">
                <a:solidFill>
                  <a:schemeClr val="accent1"/>
                </a:solidFill>
                <a:latin typeface="Century Gothic" panose="020B0502020202020204" pitchFamily="34" charset="0"/>
              </a:rPr>
              <a:t>En resumen, el CAPEX se puede entender como los flujos de efectivo que se originan por la compra y venta de Propiedad, Planta y Equipo e Intangibles.</a:t>
            </a:r>
          </a:p>
          <a:p>
            <a:pPr marL="0" indent="0" algn="ctr">
              <a:buFont typeface="Wingdings 2" panose="05020102010507070707" pitchFamily="18" charset="2"/>
              <a:buNone/>
            </a:pPr>
            <a:endParaRPr lang="es-ES" dirty="0">
              <a:solidFill>
                <a:schemeClr val="accent1"/>
              </a:solidFill>
              <a:latin typeface="Century Gothic" panose="020B0502020202020204" pitchFamily="34" charset="0"/>
            </a:endParaRPr>
          </a:p>
          <a:p>
            <a:pPr marL="0" indent="0" algn="ctr">
              <a:buFont typeface="Wingdings 2" panose="05020102010507070707" pitchFamily="18" charset="2"/>
              <a:buNone/>
            </a:pPr>
            <a:r>
              <a:rPr lang="es-ES" b="1" dirty="0">
                <a:solidFill>
                  <a:schemeClr val="accent1"/>
                </a:solidFill>
                <a:latin typeface="Century Gothic" panose="020B0502020202020204" pitchFamily="34" charset="0"/>
              </a:rPr>
              <a:t>Es importante recordar que dichas transacciones no se incorporan en el Estado de Resultados y por ende se deben incorporar en el Flujo de Caja Libre.</a:t>
            </a:r>
          </a:p>
          <a:p>
            <a:pPr marL="0" indent="0" algn="ctr">
              <a:buFont typeface="Wingdings 2" panose="05020102010507070707" pitchFamily="18" charset="2"/>
              <a:buNone/>
            </a:pPr>
            <a:endParaRPr lang="es-ES" dirty="0">
              <a:solidFill>
                <a:schemeClr val="accent1"/>
              </a:solidFill>
              <a:latin typeface="Century Gothic" panose="020B0502020202020204" pitchFamily="34" charset="0"/>
            </a:endParaRPr>
          </a:p>
          <a:p>
            <a:pPr marL="0" indent="0" algn="ctr">
              <a:buNone/>
            </a:pPr>
            <a:endParaRPr lang="es-ES" dirty="0">
              <a:solidFill>
                <a:srgbClr val="800000"/>
              </a:solidFill>
            </a:endParaRPr>
          </a:p>
          <a:p>
            <a:pPr marL="0" indent="0" algn="ctr">
              <a:buFont typeface="Wingdings 2" panose="05020102010507070707" pitchFamily="18" charset="2"/>
              <a:buNone/>
            </a:pPr>
            <a:endParaRPr lang="es-CO"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1720089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3905-3AC1-06A2-3B6C-C0F3421E0C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D259B3-9236-E59E-A42F-787C7788EA8B}"/>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B27EF338-6E01-3952-3CD8-11E837F6FA0E}"/>
              </a:ext>
            </a:extLst>
          </p:cNvPr>
          <p:cNvSpPr>
            <a:spLocks noGrp="1"/>
          </p:cNvSpPr>
          <p:nvPr>
            <p:ph type="sldNum" sz="quarter" idx="12"/>
          </p:nvPr>
        </p:nvSpPr>
        <p:spPr/>
        <p:txBody>
          <a:bodyPr/>
          <a:lstStyle/>
          <a:p>
            <a:fld id="{D57F1E4F-1CFF-5643-939E-217C01CDF565}" type="slidenum">
              <a:rPr lang="en-US" sz="1400" b="1" smtClean="0"/>
              <a:pPr/>
              <a:t>44</a:t>
            </a:fld>
            <a:endParaRPr lang="en-US" sz="1400" b="1" dirty="0"/>
          </a:p>
        </p:txBody>
      </p:sp>
      <p:pic>
        <p:nvPicPr>
          <p:cNvPr id="6" name="Picture 6" descr="Resultado de imagen para RELOJ VECTOR">
            <a:extLst>
              <a:ext uri="{FF2B5EF4-FFF2-40B4-BE49-F238E27FC236}">
                <a16:creationId xmlns:a16="http://schemas.microsoft.com/office/drawing/2014/main" id="{706BAD3B-470E-7AF2-495E-00DA72F9409D}"/>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1DAF7B20-9165-BBB3-8B3C-66A775CB3CEC}"/>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Capital de Trabajo en el Estado de la Situación Financiera y en el Estado de Resultados.</a:t>
            </a:r>
            <a:endParaRPr lang="es-ES" sz="1600" dirty="0">
              <a:solidFill>
                <a:schemeClr val="bg2">
                  <a:lumMod val="90000"/>
                </a:schemeClr>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ES" sz="1600" dirty="0">
                <a:solidFill>
                  <a:schemeClr val="bg2">
                    <a:lumMod val="90000"/>
                  </a:schemeClr>
                </a:solidFill>
                <a:latin typeface="Century Gothic"/>
                <a:cs typeface="Arial"/>
              </a:rPr>
              <a:t>Variación de PPE e Intangibles (CAPEX).</a:t>
            </a: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Impuesto Ocasional.</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Valor Terminal. </a:t>
            </a:r>
          </a:p>
          <a:p>
            <a:pPr algn="just">
              <a:buClr>
                <a:srgbClr val="48BE7A"/>
              </a:buClr>
            </a:pPr>
            <a:endParaRPr lang="es-CO" sz="1600" dirty="0">
              <a:solidFill>
                <a:schemeClr val="accent1"/>
              </a:solidFill>
              <a:latin typeface="Century Gothic" panose="020B0502020202020204" pitchFamily="34" charset="0"/>
              <a:cs typeface="Arial"/>
            </a:endParaRPr>
          </a:p>
          <a:p>
            <a:pPr algn="just">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A9D991DA-0A62-D721-893B-18C9DAADC9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53EBF03-45C1-6BE1-9969-F69C5ED1B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7FB4218-FA52-8091-8738-1F6A368CC23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7971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91092-D7CF-1F16-CC95-2D92CE6CA8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D2CBF6-3964-7655-BE22-1CDF661BFCC7}"/>
              </a:ext>
            </a:extLst>
          </p:cNvPr>
          <p:cNvSpPr>
            <a:spLocks noGrp="1"/>
          </p:cNvSpPr>
          <p:nvPr>
            <p:ph type="title"/>
          </p:nvPr>
        </p:nvSpPr>
        <p:spPr/>
        <p:txBody>
          <a:bodyPr/>
          <a:lstStyle/>
          <a:p>
            <a:r>
              <a:rPr lang="es-ES" dirty="0">
                <a:latin typeface="Century Gothic"/>
              </a:rPr>
              <a:t>IMPUESTO OCASIONAL</a:t>
            </a:r>
            <a:endParaRPr lang="es-ES" dirty="0">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DE554505-3696-2B6E-992A-FE40509A5A58}"/>
              </a:ext>
            </a:extLst>
          </p:cNvPr>
          <p:cNvSpPr>
            <a:spLocks noGrp="1"/>
          </p:cNvSpPr>
          <p:nvPr>
            <p:ph type="sldNum" sz="quarter" idx="12"/>
          </p:nvPr>
        </p:nvSpPr>
        <p:spPr/>
        <p:txBody>
          <a:bodyPr/>
          <a:lstStyle/>
          <a:p>
            <a:fld id="{5E3E23BA-6E79-2442-BA73-D218A5E297C3}" type="slidenum">
              <a:rPr lang="en-US" sz="1800" smtClean="0"/>
              <a:t>45</a:t>
            </a:fld>
            <a:endParaRPr lang="en-US" sz="1800"/>
          </a:p>
        </p:txBody>
      </p:sp>
      <p:sp>
        <p:nvSpPr>
          <p:cNvPr id="5" name="Rectángulo 4">
            <a:extLst>
              <a:ext uri="{FF2B5EF4-FFF2-40B4-BE49-F238E27FC236}">
                <a16:creationId xmlns:a16="http://schemas.microsoft.com/office/drawing/2014/main" id="{9D701379-79BA-0BC2-FFC0-EFD9CB8672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5AB7EF11-75F9-DD13-C40D-952710363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0B7BA69C-6E5F-C33F-3FCB-BDC2D8090AA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Shape 72">
            <a:extLst>
              <a:ext uri="{FF2B5EF4-FFF2-40B4-BE49-F238E27FC236}">
                <a16:creationId xmlns:a16="http://schemas.microsoft.com/office/drawing/2014/main" id="{22C2D047-5582-0AB2-2A89-96EC99ED7536}"/>
              </a:ext>
            </a:extLst>
          </p:cNvPr>
          <p:cNvSpPr txBox="1">
            <a:spLocks/>
          </p:cNvSpPr>
          <p:nvPr/>
        </p:nvSpPr>
        <p:spPr>
          <a:xfrm>
            <a:off x="2420792" y="5543456"/>
            <a:ext cx="7350415" cy="442157"/>
          </a:xfrm>
          <a:prstGeom prst="rect">
            <a:avLst/>
          </a:prstGeom>
          <a:solidFill>
            <a:schemeClr val="accent3">
              <a:lumMod val="75000"/>
            </a:schemeClr>
          </a:solidFill>
        </p:spPr>
        <p:txBody>
          <a:bodyPr vert="horz" lIns="130046" tIns="65023" rIns="130046" bIns="65023" rtlCol="0">
            <a:noAutofit/>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marL="162557" indent="0" algn="ctr">
              <a:buNone/>
              <a:defRPr sz="1800">
                <a:solidFill>
                  <a:srgbClr val="000000"/>
                </a:solidFill>
              </a:defRPr>
            </a:pPr>
            <a:r>
              <a:rPr lang="es-ES_tradnl" sz="2200" i="1" dirty="0">
                <a:solidFill>
                  <a:schemeClr val="bg1"/>
                </a:solidFill>
              </a:rPr>
              <a:t>IMPUESTO A LA GANANCIA/PÉRDIDA OCASIONAL</a:t>
            </a:r>
          </a:p>
          <a:p>
            <a:pPr marL="162557" indent="0" algn="ctr">
              <a:buNone/>
              <a:defRPr sz="1800">
                <a:solidFill>
                  <a:srgbClr val="000000"/>
                </a:solidFill>
              </a:defRPr>
            </a:pPr>
            <a:endParaRPr lang="es-ES_tradnl" sz="2200" i="1" dirty="0">
              <a:solidFill>
                <a:schemeClr val="bg1"/>
              </a:solidFill>
            </a:endParaRPr>
          </a:p>
        </p:txBody>
      </p:sp>
      <p:sp>
        <p:nvSpPr>
          <p:cNvPr id="6" name="Shape 72">
            <a:extLst>
              <a:ext uri="{FF2B5EF4-FFF2-40B4-BE49-F238E27FC236}">
                <a16:creationId xmlns:a16="http://schemas.microsoft.com/office/drawing/2014/main" id="{D5996403-1892-23BC-F356-B1F9C206316D}"/>
              </a:ext>
            </a:extLst>
          </p:cNvPr>
          <p:cNvSpPr txBox="1">
            <a:spLocks/>
          </p:cNvSpPr>
          <p:nvPr/>
        </p:nvSpPr>
        <p:spPr>
          <a:xfrm>
            <a:off x="2536134" y="1974958"/>
            <a:ext cx="6538108" cy="1051856"/>
          </a:xfrm>
          <a:prstGeom prst="rect">
            <a:avLst/>
          </a:prstGeom>
        </p:spPr>
        <p:txBody>
          <a:bodyPr vert="horz" lIns="91439" tIns="45719" rIns="91439" bIns="45719" rtlCol="0">
            <a:normAutofit/>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marL="114294" indent="0" algn="ctr">
              <a:buNone/>
              <a:defRPr sz="1800">
                <a:solidFill>
                  <a:srgbClr val="000000"/>
                </a:solidFill>
              </a:defRPr>
            </a:pPr>
            <a:r>
              <a:rPr lang="es-ES_tradnl" sz="2400" b="1" i="1" dirty="0">
                <a:solidFill>
                  <a:srgbClr val="C00000"/>
                </a:solidFill>
              </a:rPr>
              <a:t>¿Qué pasa cuando un activo se vende por encima o por debajo de su valor en libros?</a:t>
            </a:r>
          </a:p>
        </p:txBody>
      </p:sp>
      <p:sp>
        <p:nvSpPr>
          <p:cNvPr id="8" name="Shape 72">
            <a:extLst>
              <a:ext uri="{FF2B5EF4-FFF2-40B4-BE49-F238E27FC236}">
                <a16:creationId xmlns:a16="http://schemas.microsoft.com/office/drawing/2014/main" id="{826ECF18-A497-20B7-B691-FBB3028F4DCD}"/>
              </a:ext>
            </a:extLst>
          </p:cNvPr>
          <p:cNvSpPr txBox="1">
            <a:spLocks/>
          </p:cNvSpPr>
          <p:nvPr/>
        </p:nvSpPr>
        <p:spPr>
          <a:xfrm>
            <a:off x="2536134" y="3203926"/>
            <a:ext cx="6538108" cy="2081682"/>
          </a:xfrm>
          <a:prstGeom prst="rect">
            <a:avLst/>
          </a:prstGeom>
        </p:spPr>
        <p:txBody>
          <a:bodyPr vert="horz" lIns="91439" tIns="45719" rIns="91439" bIns="45719" rtlCol="0">
            <a:normAutofit/>
          </a:bodyPr>
          <a:lstStyle>
            <a:lvl1pPr marL="487672" indent="-325115" algn="l" defTabSz="1300460" rtl="0" eaLnBrk="1" latinLnBrk="0" hangingPunct="1">
              <a:spcBef>
                <a:spcPct val="20000"/>
              </a:spcBef>
              <a:buClr>
                <a:schemeClr val="accent1"/>
              </a:buClr>
              <a:buFont typeface="Arial" pitchFamily="34" charset="0"/>
              <a:buChar char="•"/>
              <a:defRPr sz="3100" kern="1200">
                <a:solidFill>
                  <a:schemeClr val="tx1"/>
                </a:solidFill>
                <a:latin typeface="+mn-lt"/>
                <a:ea typeface="+mn-ea"/>
                <a:cs typeface="+mn-cs"/>
              </a:defRPr>
            </a:lvl1pPr>
            <a:lvl2pPr marL="910322" indent="-325115" algn="l" defTabSz="1300460" rtl="0" eaLnBrk="1" latinLnBrk="0" hangingPunct="1">
              <a:spcBef>
                <a:spcPct val="20000"/>
              </a:spcBef>
              <a:buClr>
                <a:schemeClr val="accent2"/>
              </a:buClr>
              <a:buFont typeface="Arial" pitchFamily="34" charset="0"/>
              <a:buChar char="•"/>
              <a:defRPr sz="2800" kern="1200">
                <a:solidFill>
                  <a:schemeClr val="tx1"/>
                </a:solidFill>
                <a:latin typeface="+mn-lt"/>
                <a:ea typeface="+mn-ea"/>
                <a:cs typeface="+mn-cs"/>
              </a:defRPr>
            </a:lvl2pPr>
            <a:lvl3pPr marL="1430506" indent="-325115" algn="l" defTabSz="1300460" rtl="0" eaLnBrk="1" latinLnBrk="0" hangingPunct="1">
              <a:spcBef>
                <a:spcPct val="20000"/>
              </a:spcBef>
              <a:buClr>
                <a:schemeClr val="accent3"/>
              </a:buClr>
              <a:buFont typeface="Arial" pitchFamily="34" charset="0"/>
              <a:buChar char="•"/>
              <a:defRPr sz="2600" kern="1200">
                <a:solidFill>
                  <a:schemeClr val="tx1"/>
                </a:solidFill>
                <a:latin typeface="+mn-lt"/>
                <a:ea typeface="+mn-ea"/>
                <a:cs typeface="+mn-cs"/>
              </a:defRPr>
            </a:lvl3pPr>
            <a:lvl4pPr marL="1820644" indent="-325115" algn="l" defTabSz="1300460" rtl="0" eaLnBrk="1" latinLnBrk="0" hangingPunct="1">
              <a:spcBef>
                <a:spcPct val="20000"/>
              </a:spcBef>
              <a:buClr>
                <a:schemeClr val="accent4"/>
              </a:buClr>
              <a:buFont typeface="Arial" pitchFamily="34" charset="0"/>
              <a:buChar char="•"/>
              <a:defRPr sz="2300" kern="1200">
                <a:solidFill>
                  <a:schemeClr val="tx1"/>
                </a:solidFill>
                <a:latin typeface="+mn-lt"/>
                <a:ea typeface="+mn-ea"/>
                <a:cs typeface="+mn-cs"/>
              </a:defRPr>
            </a:lvl4pPr>
            <a:lvl5pPr marL="2210781" indent="-325115" algn="l" defTabSz="1300460" rtl="0" eaLnBrk="1" latinLnBrk="0" hangingPunct="1">
              <a:spcBef>
                <a:spcPct val="20000"/>
              </a:spcBef>
              <a:buClr>
                <a:schemeClr val="accent5"/>
              </a:buClr>
              <a:buFont typeface="Arial" pitchFamily="34" charset="0"/>
              <a:buChar char="•"/>
              <a:defRPr sz="2000" kern="1200" baseline="0">
                <a:solidFill>
                  <a:schemeClr val="tx1"/>
                </a:solidFill>
                <a:latin typeface="+mn-lt"/>
                <a:ea typeface="+mn-ea"/>
                <a:cs typeface="+mn-cs"/>
              </a:defRPr>
            </a:lvl5pPr>
            <a:lvl6pPr marL="2470873" indent="-260092" algn="l" defTabSz="1300460" rtl="0" eaLnBrk="1" latinLnBrk="0" hangingPunct="1">
              <a:spcBef>
                <a:spcPct val="20000"/>
              </a:spcBef>
              <a:buClr>
                <a:schemeClr val="accent1"/>
              </a:buClr>
              <a:buFont typeface="Arial" pitchFamily="34" charset="0"/>
              <a:buChar char="•"/>
              <a:defRPr sz="2000" kern="1200" baseline="0">
                <a:solidFill>
                  <a:schemeClr val="tx1"/>
                </a:solidFill>
                <a:latin typeface="+mn-lt"/>
                <a:ea typeface="+mn-ea"/>
                <a:cs typeface="+mn-cs"/>
              </a:defRPr>
            </a:lvl6pPr>
            <a:lvl7pPr marL="2730965" indent="-260092" algn="l" defTabSz="130046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7pPr>
            <a:lvl8pPr marL="2991057" indent="-260092" algn="l" defTabSz="1300460" rtl="0" eaLnBrk="1" latinLnBrk="0" hangingPunct="1">
              <a:spcBef>
                <a:spcPct val="20000"/>
              </a:spcBef>
              <a:buClr>
                <a:schemeClr val="accent3"/>
              </a:buClr>
              <a:buFont typeface="Arial" pitchFamily="34" charset="0"/>
              <a:buChar char="•"/>
              <a:defRPr sz="2000" kern="1200">
                <a:solidFill>
                  <a:schemeClr val="tx1"/>
                </a:solidFill>
                <a:latin typeface="+mn-lt"/>
                <a:ea typeface="+mn-ea"/>
                <a:cs typeface="+mn-cs"/>
              </a:defRPr>
            </a:lvl8pPr>
            <a:lvl9pPr marL="3251149" indent="-260092" algn="l" defTabSz="1300460" rtl="0" eaLnBrk="1" latinLnBrk="0" hangingPunct="1">
              <a:spcBef>
                <a:spcPct val="20000"/>
              </a:spcBef>
              <a:buClr>
                <a:schemeClr val="accent4"/>
              </a:buClr>
              <a:buFont typeface="Arial" pitchFamily="34" charset="0"/>
              <a:buChar char="•"/>
              <a:defRPr sz="2000" kern="1200">
                <a:solidFill>
                  <a:schemeClr val="tx1"/>
                </a:solidFill>
                <a:latin typeface="+mn-lt"/>
                <a:ea typeface="+mn-ea"/>
                <a:cs typeface="+mn-cs"/>
              </a:defRPr>
            </a:lvl9pPr>
          </a:lstStyle>
          <a:p>
            <a:pPr>
              <a:defRPr sz="1800">
                <a:solidFill>
                  <a:srgbClr val="000000"/>
                </a:solidFill>
              </a:defRPr>
            </a:pPr>
            <a:r>
              <a:rPr lang="es-ES_tradnl" sz="1800" b="1" dirty="0">
                <a:solidFill>
                  <a:schemeClr val="accent1"/>
                </a:solidFill>
                <a:latin typeface="Century Gothic" panose="020B0502020202020204" pitchFamily="34" charset="0"/>
              </a:rPr>
              <a:t>Cuando se vende por encima:</a:t>
            </a:r>
          </a:p>
          <a:p>
            <a:pPr marL="114294" indent="0">
              <a:buNone/>
              <a:defRPr sz="1800">
                <a:solidFill>
                  <a:srgbClr val="000000"/>
                </a:solidFill>
              </a:defRPr>
            </a:pPr>
            <a:r>
              <a:rPr lang="es-ES_tradnl" sz="1800" dirty="0">
                <a:solidFill>
                  <a:schemeClr val="accent1"/>
                </a:solidFill>
                <a:latin typeface="Century Gothic" panose="020B0502020202020204" pitchFamily="34" charset="0"/>
              </a:rPr>
              <a:t>Ganancia ocasional </a:t>
            </a:r>
            <a:r>
              <a:rPr lang="es-ES_tradnl" sz="1800" dirty="0">
                <a:solidFill>
                  <a:schemeClr val="accent1"/>
                </a:solidFill>
                <a:latin typeface="Century Gothic" panose="020B0502020202020204" pitchFamily="34" charset="0"/>
                <a:sym typeface="Wingdings" panose="05000000000000000000" pitchFamily="2" charset="2"/>
              </a:rPr>
              <a:t></a:t>
            </a:r>
            <a:r>
              <a:rPr lang="es-ES_tradnl" sz="1800" dirty="0">
                <a:solidFill>
                  <a:schemeClr val="accent1"/>
                </a:solidFill>
                <a:latin typeface="Century Gothic" panose="020B0502020202020204" pitchFamily="34" charset="0"/>
              </a:rPr>
              <a:t> Ingreso NO Operacional</a:t>
            </a:r>
          </a:p>
          <a:p>
            <a:pPr>
              <a:defRPr sz="1800">
                <a:solidFill>
                  <a:srgbClr val="000000"/>
                </a:solidFill>
              </a:defRPr>
            </a:pPr>
            <a:endParaRPr lang="es-ES_tradnl" sz="1800" dirty="0">
              <a:solidFill>
                <a:schemeClr val="accent1"/>
              </a:solidFill>
              <a:latin typeface="Century Gothic" panose="020B0502020202020204" pitchFamily="34" charset="0"/>
            </a:endParaRPr>
          </a:p>
          <a:p>
            <a:pPr>
              <a:defRPr sz="1800">
                <a:solidFill>
                  <a:srgbClr val="000000"/>
                </a:solidFill>
              </a:defRPr>
            </a:pPr>
            <a:r>
              <a:rPr lang="es-ES_tradnl" sz="1800" b="1" dirty="0">
                <a:solidFill>
                  <a:schemeClr val="accent1"/>
                </a:solidFill>
                <a:latin typeface="Century Gothic" panose="020B0502020202020204" pitchFamily="34" charset="0"/>
              </a:rPr>
              <a:t>Cuando se vende por debajo:</a:t>
            </a:r>
          </a:p>
          <a:p>
            <a:pPr marL="114294" indent="0">
              <a:buNone/>
              <a:defRPr sz="1800">
                <a:solidFill>
                  <a:srgbClr val="000000"/>
                </a:solidFill>
              </a:defRPr>
            </a:pPr>
            <a:r>
              <a:rPr lang="es-ES_tradnl" sz="1800" dirty="0">
                <a:solidFill>
                  <a:schemeClr val="accent1"/>
                </a:solidFill>
                <a:latin typeface="Century Gothic" panose="020B0502020202020204" pitchFamily="34" charset="0"/>
              </a:rPr>
              <a:t>Pérdida ocasional </a:t>
            </a:r>
            <a:r>
              <a:rPr lang="es-ES_tradnl" sz="1800" dirty="0">
                <a:solidFill>
                  <a:schemeClr val="accent1"/>
                </a:solidFill>
                <a:latin typeface="Century Gothic" panose="020B0502020202020204" pitchFamily="34" charset="0"/>
                <a:sym typeface="Wingdings" panose="05000000000000000000" pitchFamily="2" charset="2"/>
              </a:rPr>
              <a:t></a:t>
            </a:r>
            <a:r>
              <a:rPr lang="es-ES_tradnl" sz="1800" dirty="0">
                <a:solidFill>
                  <a:schemeClr val="accent1"/>
                </a:solidFill>
                <a:latin typeface="Century Gothic" panose="020B0502020202020204" pitchFamily="34" charset="0"/>
              </a:rPr>
              <a:t> Egreso NO Operacional</a:t>
            </a:r>
          </a:p>
          <a:p>
            <a:pPr marL="114294" indent="0">
              <a:buNone/>
              <a:defRPr sz="1800">
                <a:solidFill>
                  <a:srgbClr val="000000"/>
                </a:solidFill>
              </a:defRPr>
            </a:pPr>
            <a:endParaRPr lang="es-ES_tradnl" sz="2200" i="1" dirty="0"/>
          </a:p>
        </p:txBody>
      </p:sp>
    </p:spTree>
    <p:extLst>
      <p:ext uri="{BB962C8B-B14F-4D97-AF65-F5344CB8AC3E}">
        <p14:creationId xmlns:p14="http://schemas.microsoft.com/office/powerpoint/2010/main" val="233717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4C9D-9A9B-4BA6-B357-DDEE8469CA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39B830-8B39-DB36-292C-2CC5FEA5AF49}"/>
              </a:ext>
            </a:extLst>
          </p:cNvPr>
          <p:cNvSpPr>
            <a:spLocks noGrp="1"/>
          </p:cNvSpPr>
          <p:nvPr>
            <p:ph type="title"/>
          </p:nvPr>
        </p:nvSpPr>
        <p:spPr/>
        <p:txBody>
          <a:bodyPr/>
          <a:lstStyle/>
          <a:p>
            <a:r>
              <a:rPr lang="es-ES" dirty="0">
                <a:latin typeface="Century Gothic"/>
              </a:rPr>
              <a:t>IMPUESTO OCASIONAL</a:t>
            </a:r>
            <a:endParaRPr lang="es-ES" dirty="0">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6E4F5466-F87C-8A13-6D9B-D16E137ED121}"/>
              </a:ext>
            </a:extLst>
          </p:cNvPr>
          <p:cNvSpPr>
            <a:spLocks noGrp="1"/>
          </p:cNvSpPr>
          <p:nvPr>
            <p:ph type="sldNum" sz="quarter" idx="12"/>
          </p:nvPr>
        </p:nvSpPr>
        <p:spPr/>
        <p:txBody>
          <a:bodyPr/>
          <a:lstStyle/>
          <a:p>
            <a:fld id="{5E3E23BA-6E79-2442-BA73-D218A5E297C3}" type="slidenum">
              <a:rPr lang="en-US" sz="1800" smtClean="0"/>
              <a:t>46</a:t>
            </a:fld>
            <a:endParaRPr lang="en-US" sz="1800"/>
          </a:p>
        </p:txBody>
      </p:sp>
      <p:sp>
        <p:nvSpPr>
          <p:cNvPr id="5" name="Rectángulo 4">
            <a:extLst>
              <a:ext uri="{FF2B5EF4-FFF2-40B4-BE49-F238E27FC236}">
                <a16:creationId xmlns:a16="http://schemas.microsoft.com/office/drawing/2014/main" id="{7A679548-2B62-AD15-02BE-BB6024CE11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CB8166-B179-BC2E-D586-8F7BC97FB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F0BDA642-A9E0-DA24-1146-2A503CEDB89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0827FED2-E203-E951-809D-DCFC8690A886}"/>
              </a:ext>
            </a:extLst>
          </p:cNvPr>
          <p:cNvSpPr txBox="1">
            <a:spLocks/>
          </p:cNvSpPr>
          <p:nvPr/>
        </p:nvSpPr>
        <p:spPr>
          <a:xfrm>
            <a:off x="910169" y="2539948"/>
            <a:ext cx="10371662" cy="273890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dirty="0">
                <a:solidFill>
                  <a:schemeClr val="accent1"/>
                </a:solidFill>
                <a:latin typeface="Century Gothic" panose="020B0502020202020204" pitchFamily="34" charset="0"/>
              </a:rPr>
              <a:t>Retomando el mismo ejemplo de la empresa de textiles suponga ahora que vende el activo en el año 2 (2015) por 40.</a:t>
            </a:r>
          </a:p>
          <a:p>
            <a:pPr marL="0" indent="0" algn="ctr">
              <a:buNone/>
            </a:pPr>
            <a:endParaRPr lang="es-ES" dirty="0">
              <a:solidFill>
                <a:srgbClr val="800000"/>
              </a:solidFill>
            </a:endParaRPr>
          </a:p>
          <a:p>
            <a:pPr marL="0" indent="0" algn="ctr">
              <a:buNone/>
            </a:pPr>
            <a:r>
              <a:rPr lang="es-ES" dirty="0">
                <a:solidFill>
                  <a:srgbClr val="800000"/>
                </a:solidFill>
              </a:rPr>
              <a:t>¿Cuál sería el CAPEX?</a:t>
            </a:r>
          </a:p>
          <a:p>
            <a:pPr marL="0" indent="0" algn="ctr">
              <a:buNone/>
            </a:pPr>
            <a:endParaRPr lang="es-ES" dirty="0">
              <a:solidFill>
                <a:srgbClr val="800000"/>
              </a:solidFill>
            </a:endParaRPr>
          </a:p>
          <a:p>
            <a:pPr marL="0" indent="0" algn="ctr">
              <a:buNone/>
            </a:pPr>
            <a:r>
              <a:rPr lang="es-ES" dirty="0">
                <a:solidFill>
                  <a:srgbClr val="800000"/>
                </a:solidFill>
              </a:rPr>
              <a:t>¿Cuál era el valor en libros?</a:t>
            </a:r>
          </a:p>
          <a:p>
            <a:pPr marL="0" indent="0" algn="ctr">
              <a:buNone/>
            </a:pPr>
            <a:endParaRPr lang="es-ES" dirty="0">
              <a:solidFill>
                <a:srgbClr val="800000"/>
              </a:solidFill>
            </a:endParaRPr>
          </a:p>
          <a:p>
            <a:pPr marL="0" indent="0" algn="ctr">
              <a:buNone/>
            </a:pPr>
            <a:endParaRPr lang="es-CO" dirty="0">
              <a:solidFill>
                <a:schemeClr val="accent1"/>
              </a:solidFill>
              <a:latin typeface="Century Gothic" panose="020B0502020202020204" pitchFamily="34" charset="0"/>
            </a:endParaRPr>
          </a:p>
        </p:txBody>
      </p:sp>
      <p:pic>
        <p:nvPicPr>
          <p:cNvPr id="3" name="Picture 2" descr="Persona Pensando Vectores, Ilustraciones y Gráficos - 123RF">
            <a:extLst>
              <a:ext uri="{FF2B5EF4-FFF2-40B4-BE49-F238E27FC236}">
                <a16:creationId xmlns:a16="http://schemas.microsoft.com/office/drawing/2014/main" id="{E402800A-FF4E-3CF0-4B95-35E6C8418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392" y="4182199"/>
            <a:ext cx="1959362" cy="2193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5600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EDA9-3698-9FF8-C1B9-AE8307BCE8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C48785-4C53-3C4A-66FA-D515AF56AE80}"/>
              </a:ext>
            </a:extLst>
          </p:cNvPr>
          <p:cNvSpPr>
            <a:spLocks noGrp="1"/>
          </p:cNvSpPr>
          <p:nvPr>
            <p:ph type="title"/>
          </p:nvPr>
        </p:nvSpPr>
        <p:spPr/>
        <p:txBody>
          <a:bodyPr/>
          <a:lstStyle/>
          <a:p>
            <a:r>
              <a:rPr lang="es-ES" dirty="0">
                <a:latin typeface="Century Gothic"/>
              </a:rPr>
              <a:t>IMPUESTO OCASIONAL</a:t>
            </a:r>
            <a:endParaRPr lang="es-ES" dirty="0">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EC5E3895-5CA7-0985-1B92-8B95EE2C570B}"/>
              </a:ext>
            </a:extLst>
          </p:cNvPr>
          <p:cNvSpPr>
            <a:spLocks noGrp="1"/>
          </p:cNvSpPr>
          <p:nvPr>
            <p:ph type="sldNum" sz="quarter" idx="12"/>
          </p:nvPr>
        </p:nvSpPr>
        <p:spPr/>
        <p:txBody>
          <a:bodyPr/>
          <a:lstStyle/>
          <a:p>
            <a:fld id="{5E3E23BA-6E79-2442-BA73-D218A5E297C3}" type="slidenum">
              <a:rPr lang="en-US" sz="1800" smtClean="0"/>
              <a:t>47</a:t>
            </a:fld>
            <a:endParaRPr lang="en-US" sz="1800"/>
          </a:p>
        </p:txBody>
      </p:sp>
      <p:sp>
        <p:nvSpPr>
          <p:cNvPr id="5" name="Rectángulo 4">
            <a:extLst>
              <a:ext uri="{FF2B5EF4-FFF2-40B4-BE49-F238E27FC236}">
                <a16:creationId xmlns:a16="http://schemas.microsoft.com/office/drawing/2014/main" id="{D1120D1E-1F62-9B68-FD53-E76BB8C1993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83BF85FC-5A17-6B73-9C37-B16A6445C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5C5DCB06-EE7E-2DE2-AD56-AD5AB6C0D94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6" name="Tabla 5">
            <a:extLst>
              <a:ext uri="{FF2B5EF4-FFF2-40B4-BE49-F238E27FC236}">
                <a16:creationId xmlns:a16="http://schemas.microsoft.com/office/drawing/2014/main" id="{0667B98D-7A3A-839A-D6EB-E90F94BFC446}"/>
              </a:ext>
            </a:extLst>
          </p:cNvPr>
          <p:cNvGraphicFramePr>
            <a:graphicFrameLocks noGrp="1"/>
          </p:cNvGraphicFramePr>
          <p:nvPr>
            <p:extLst>
              <p:ext uri="{D42A27DB-BD31-4B8C-83A1-F6EECF244321}">
                <p14:modId xmlns:p14="http://schemas.microsoft.com/office/powerpoint/2010/main" val="1337659210"/>
              </p:ext>
            </p:extLst>
          </p:nvPr>
        </p:nvGraphicFramePr>
        <p:xfrm>
          <a:off x="1989921" y="3823270"/>
          <a:ext cx="8061258" cy="2821940"/>
        </p:xfrm>
        <a:graphic>
          <a:graphicData uri="http://schemas.openxmlformats.org/drawingml/2006/table">
            <a:tbl>
              <a:tblPr/>
              <a:tblGrid>
                <a:gridCol w="2467146">
                  <a:extLst>
                    <a:ext uri="{9D8B030D-6E8A-4147-A177-3AD203B41FA5}">
                      <a16:colId xmlns:a16="http://schemas.microsoft.com/office/drawing/2014/main" val="20000"/>
                    </a:ext>
                  </a:extLst>
                </a:gridCol>
                <a:gridCol w="932352">
                  <a:extLst>
                    <a:ext uri="{9D8B030D-6E8A-4147-A177-3AD203B41FA5}">
                      <a16:colId xmlns:a16="http://schemas.microsoft.com/office/drawing/2014/main" val="20001"/>
                    </a:ext>
                  </a:extLst>
                </a:gridCol>
                <a:gridCol w="932352">
                  <a:extLst>
                    <a:ext uri="{9D8B030D-6E8A-4147-A177-3AD203B41FA5}">
                      <a16:colId xmlns:a16="http://schemas.microsoft.com/office/drawing/2014/main" val="20002"/>
                    </a:ext>
                  </a:extLst>
                </a:gridCol>
                <a:gridCol w="932352">
                  <a:extLst>
                    <a:ext uri="{9D8B030D-6E8A-4147-A177-3AD203B41FA5}">
                      <a16:colId xmlns:a16="http://schemas.microsoft.com/office/drawing/2014/main" val="20003"/>
                    </a:ext>
                  </a:extLst>
                </a:gridCol>
                <a:gridCol w="932352">
                  <a:extLst>
                    <a:ext uri="{9D8B030D-6E8A-4147-A177-3AD203B41FA5}">
                      <a16:colId xmlns:a16="http://schemas.microsoft.com/office/drawing/2014/main" val="20004"/>
                    </a:ext>
                  </a:extLst>
                </a:gridCol>
                <a:gridCol w="932352">
                  <a:extLst>
                    <a:ext uri="{9D8B030D-6E8A-4147-A177-3AD203B41FA5}">
                      <a16:colId xmlns:a16="http://schemas.microsoft.com/office/drawing/2014/main" val="20005"/>
                    </a:ext>
                  </a:extLst>
                </a:gridCol>
                <a:gridCol w="932352">
                  <a:extLst>
                    <a:ext uri="{9D8B030D-6E8A-4147-A177-3AD203B41FA5}">
                      <a16:colId xmlns:a16="http://schemas.microsoft.com/office/drawing/2014/main" val="20006"/>
                    </a:ext>
                  </a:extLst>
                </a:gridCol>
              </a:tblGrid>
              <a:tr h="223292">
                <a:tc rowSpan="2">
                  <a:txBody>
                    <a:bodyPr/>
                    <a:lstStyle/>
                    <a:p>
                      <a:pPr algn="ctr" fontAlgn="b"/>
                      <a:r>
                        <a:rPr lang="es-ES" sz="1600" b="0" i="0" u="none" strike="noStrike" dirty="0">
                          <a:solidFill>
                            <a:srgbClr val="FFFFFF"/>
                          </a:solidFill>
                          <a:effectLst/>
                          <a:latin typeface="Calibri"/>
                        </a:rPr>
                        <a:t>Año</a:t>
                      </a:r>
                    </a:p>
                  </a:txBody>
                  <a:tcPr marL="12700" marR="12700" marT="12700" marB="0" anchor="ctr">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2015</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2016</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2017</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2018</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0"/>
                  </a:ext>
                </a:extLst>
              </a:tr>
              <a:tr h="223292">
                <a:tc vMerge="1">
                  <a:txBody>
                    <a:bodyPr/>
                    <a:lstStyle/>
                    <a:p>
                      <a:pPr algn="ctr" fontAlgn="b"/>
                      <a:endParaRPr lang="es-ES" sz="1600" b="0" i="0" u="none" strike="noStrike" dirty="0">
                        <a:solidFill>
                          <a:srgbClr val="FFFFFF"/>
                        </a:solidFill>
                        <a:effectLst/>
                        <a:latin typeface="Calibri"/>
                      </a:endParaRPr>
                    </a:p>
                  </a:txBody>
                  <a:tcPr marL="12700" marR="12700" marT="12700" marB="0" anchor="b">
                    <a:lnL>
                      <a:noFill/>
                    </a:lnL>
                    <a:lnR>
                      <a:noFill/>
                    </a:lnR>
                    <a:lnT>
                      <a:noFill/>
                    </a:lnT>
                    <a:lnB>
                      <a:noFill/>
                    </a:lnB>
                    <a:solidFill>
                      <a:srgbClr val="215967"/>
                    </a:solidFill>
                  </a:tcPr>
                </a:tc>
                <a:tc>
                  <a:txBody>
                    <a:bodyPr/>
                    <a:lstStyle/>
                    <a:p>
                      <a:pPr algn="ctr" fontAlgn="b"/>
                      <a:r>
                        <a:rPr lang="es-ES" sz="1600" b="0" i="0" u="none" strike="noStrike" dirty="0">
                          <a:solidFill>
                            <a:srgbClr val="FFFFFF"/>
                          </a:solidFill>
                          <a:effectLst/>
                          <a:latin typeface="Calibri"/>
                        </a:rPr>
                        <a:t>(0)</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(1)</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(5)</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1"/>
                  </a:ext>
                </a:extLst>
              </a:tr>
              <a:tr h="223292">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2"/>
                  </a:ext>
                </a:extLst>
              </a:tr>
              <a:tr h="223292">
                <a:tc>
                  <a:txBody>
                    <a:bodyPr/>
                    <a:lstStyle/>
                    <a:p>
                      <a:pPr algn="ctr" fontAlgn="b"/>
                      <a:r>
                        <a:rPr lang="es-ES" sz="1600" b="0" i="0" u="none" strike="noStrike">
                          <a:solidFill>
                            <a:srgbClr val="000000"/>
                          </a:solidFill>
                          <a:effectLst/>
                          <a:latin typeface="Calibri"/>
                        </a:rPr>
                        <a:t>Depreciación Periodo</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marL="0" algn="ctr" defTabSz="914400" rtl="0" eaLnBrk="1" fontAlgn="b" latinLnBrk="0" hangingPunct="1"/>
                      <a:r>
                        <a:rPr lang="es-ES" sz="1600" b="0" i="0" u="none" strike="noStrike" kern="1200" dirty="0">
                          <a:solidFill>
                            <a:srgbClr val="000000"/>
                          </a:solidFill>
                          <a:effectLst/>
                          <a:latin typeface="Calibri"/>
                          <a:ea typeface="+mn-ea"/>
                          <a:cs typeface="+mn-cs"/>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5"/>
                  </a:ext>
                </a:extLst>
              </a:tr>
              <a:tr h="223292">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marL="0" algn="ctr" defTabSz="914400" rtl="0" eaLnBrk="1" fontAlgn="b" latinLnBrk="0" hangingPunct="1"/>
                      <a:endParaRPr lang="es-ES" sz="1600" b="0" i="0" u="none" strike="noStrike" kern="1200" dirty="0">
                        <a:solidFill>
                          <a:srgbClr val="000000"/>
                        </a:solidFill>
                        <a:effectLst/>
                        <a:latin typeface="Calibri"/>
                        <a:ea typeface="+mn-ea"/>
                        <a:cs typeface="+mn-cs"/>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6"/>
                  </a:ext>
                </a:extLst>
              </a:tr>
              <a:tr h="223292">
                <a:tc>
                  <a:txBody>
                    <a:bodyPr/>
                    <a:lstStyle/>
                    <a:p>
                      <a:pPr algn="ctr" fontAlgn="b"/>
                      <a:r>
                        <a:rPr lang="es-ES" sz="1600" b="0" i="0" u="none" strike="noStrike">
                          <a:solidFill>
                            <a:srgbClr val="000000"/>
                          </a:solidFill>
                          <a:effectLst/>
                          <a:latin typeface="Calibri"/>
                        </a:rPr>
                        <a:t>Depreciación Acumulada</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marL="0" algn="ctr" defTabSz="914400" rtl="0" eaLnBrk="1" fontAlgn="b" latinLnBrk="0" hangingPunct="1"/>
                      <a:r>
                        <a:rPr lang="es-ES" sz="1600" b="0" i="0" u="none" strike="noStrike" kern="1200" dirty="0">
                          <a:solidFill>
                            <a:srgbClr val="000000"/>
                          </a:solidFill>
                          <a:effectLst/>
                          <a:latin typeface="Calibri"/>
                          <a:ea typeface="+mn-ea"/>
                          <a:cs typeface="+mn-cs"/>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7"/>
                  </a:ext>
                </a:extLst>
              </a:tr>
              <a:tr h="223292">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marL="0" algn="ctr" defTabSz="914400" rtl="0" eaLnBrk="1" fontAlgn="b" latinLnBrk="0" hangingPunct="1"/>
                      <a:endParaRPr lang="es-ES" sz="1600" b="0" i="0" u="none" strike="noStrike" kern="1200" dirty="0">
                        <a:solidFill>
                          <a:srgbClr val="000000"/>
                        </a:solidFill>
                        <a:effectLst/>
                        <a:latin typeface="Calibri"/>
                        <a:ea typeface="+mn-ea"/>
                        <a:cs typeface="+mn-cs"/>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8"/>
                  </a:ext>
                </a:extLst>
              </a:tr>
              <a:tr h="223292">
                <a:tc>
                  <a:txBody>
                    <a:bodyPr/>
                    <a:lstStyle/>
                    <a:p>
                      <a:pPr algn="ctr" fontAlgn="b"/>
                      <a:r>
                        <a:rPr lang="es-ES" sz="1600" b="0" i="0" u="none" strike="noStrike" dirty="0">
                          <a:solidFill>
                            <a:srgbClr val="000000"/>
                          </a:solidFill>
                          <a:effectLst/>
                          <a:latin typeface="Calibri"/>
                        </a:rPr>
                        <a:t>Valor Libros</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50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40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marL="0" algn="ctr" defTabSz="914400" rtl="0" eaLnBrk="1" fontAlgn="b" latinLnBrk="0" hangingPunct="1"/>
                      <a:r>
                        <a:rPr lang="es-ES" sz="1600" b="0" i="0" u="none" strike="noStrike" kern="1200" dirty="0">
                          <a:solidFill>
                            <a:srgbClr val="000000"/>
                          </a:solidFill>
                          <a:effectLst/>
                          <a:latin typeface="Calibri"/>
                          <a:ea typeface="+mn-ea"/>
                          <a:cs typeface="+mn-cs"/>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9"/>
                  </a:ext>
                </a:extLst>
              </a:tr>
              <a:tr h="223292">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10"/>
                  </a:ext>
                </a:extLst>
              </a:tr>
              <a:tr h="223292">
                <a:tc>
                  <a:txBody>
                    <a:bodyPr/>
                    <a:lstStyle/>
                    <a:p>
                      <a:pPr algn="ctr" fontAlgn="b"/>
                      <a:r>
                        <a:rPr lang="es-ES" sz="1600" b="1" i="0" u="none" strike="noStrike" dirty="0">
                          <a:solidFill>
                            <a:srgbClr val="000000"/>
                          </a:solidFill>
                          <a:effectLst/>
                          <a:latin typeface="Calibri"/>
                        </a:rPr>
                        <a:t>CAPEX</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50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-40</a:t>
                      </a:r>
                    </a:p>
                  </a:txBody>
                  <a:tcPr marL="12700" marR="12700" marT="12700" marB="0" anchor="b">
                    <a:lnL>
                      <a:noFill/>
                    </a:lnL>
                    <a:lnR>
                      <a:noFill/>
                    </a:lnR>
                    <a:lnT>
                      <a:noFill/>
                    </a:lnT>
                    <a:lnB>
                      <a:noFill/>
                    </a:lnB>
                    <a:solidFill>
                      <a:schemeClr val="accent2">
                        <a:lumMod val="60000"/>
                        <a:lumOff val="4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extLst>
                  <a:ext uri="{0D108BD9-81ED-4DB2-BD59-A6C34878D82A}">
                    <a16:rowId xmlns:a16="http://schemas.microsoft.com/office/drawing/2014/main" val="979675710"/>
                  </a:ext>
                </a:extLst>
              </a:tr>
              <a:tr h="223292">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492794191"/>
                  </a:ext>
                </a:extLst>
              </a:tr>
            </a:tbl>
          </a:graphicData>
        </a:graphic>
      </p:graphicFrame>
      <p:sp>
        <p:nvSpPr>
          <p:cNvPr id="7" name="Marcador de contenido 2">
            <a:extLst>
              <a:ext uri="{FF2B5EF4-FFF2-40B4-BE49-F238E27FC236}">
                <a16:creationId xmlns:a16="http://schemas.microsoft.com/office/drawing/2014/main" id="{DA0A06C6-7662-D359-D01D-A046373F0618}"/>
              </a:ext>
            </a:extLst>
          </p:cNvPr>
          <p:cNvSpPr txBox="1">
            <a:spLocks/>
          </p:cNvSpPr>
          <p:nvPr/>
        </p:nvSpPr>
        <p:spPr>
          <a:xfrm>
            <a:off x="581191" y="3134252"/>
            <a:ext cx="10878718" cy="798567"/>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s-ES" sz="1600" dirty="0">
                <a:solidFill>
                  <a:schemeClr val="accent1"/>
                </a:solidFill>
                <a:latin typeface="Century Gothic" panose="020B0502020202020204" pitchFamily="34" charset="0"/>
              </a:rPr>
              <a:t>∆ </a:t>
            </a:r>
            <a:r>
              <a:rPr lang="es-ES" sz="1600" b="1" dirty="0">
                <a:solidFill>
                  <a:schemeClr val="accent1"/>
                </a:solidFill>
                <a:latin typeface="Century Gothic"/>
              </a:rPr>
              <a:t>CAPEX </a:t>
            </a:r>
            <a:r>
              <a:rPr lang="es-ES" sz="1600" dirty="0">
                <a:solidFill>
                  <a:schemeClr val="accent1"/>
                </a:solidFill>
                <a:latin typeface="Century Gothic"/>
              </a:rPr>
              <a:t>= COMPRA DE PPE E INTANGIBLES - VENTA DE PPE E INTANGIBLES</a:t>
            </a:r>
          </a:p>
          <a:p>
            <a:pPr marL="0" indent="0" algn="ctr">
              <a:buNone/>
            </a:pPr>
            <a:r>
              <a:rPr lang="es-ES" sz="1600" dirty="0">
                <a:solidFill>
                  <a:schemeClr val="accent1"/>
                </a:solidFill>
                <a:latin typeface="Century Gothic" panose="020B0502020202020204" pitchFamily="34" charset="0"/>
              </a:rPr>
              <a:t>∆ </a:t>
            </a:r>
            <a:r>
              <a:rPr lang="es-ES" sz="1600" b="1" dirty="0">
                <a:solidFill>
                  <a:schemeClr val="accent1"/>
                </a:solidFill>
                <a:latin typeface="Century Gothic"/>
              </a:rPr>
              <a:t>CAPEX </a:t>
            </a:r>
            <a:r>
              <a:rPr lang="es-ES" sz="1600" dirty="0">
                <a:solidFill>
                  <a:schemeClr val="accent1"/>
                </a:solidFill>
                <a:latin typeface="Century Gothic"/>
              </a:rPr>
              <a:t>= 0 – 40 = – 40 </a:t>
            </a:r>
          </a:p>
          <a:p>
            <a:pPr marL="0" indent="0" algn="ctr">
              <a:buFont typeface="Wingdings 2" panose="05020102010507070707" pitchFamily="18" charset="2"/>
              <a:buNone/>
            </a:pPr>
            <a:r>
              <a:rPr lang="es-ES" sz="1600" dirty="0">
                <a:solidFill>
                  <a:schemeClr val="accent1"/>
                </a:solidFill>
                <a:latin typeface="Century Gothic" panose="020B0502020202020204" pitchFamily="34" charset="0"/>
              </a:rPr>
              <a:t>(+/-) G/P Ocasional = (Valor Venta - Valor en libros (antes de la venta)) = (40 – 30) = 10</a:t>
            </a:r>
          </a:p>
          <a:p>
            <a:pPr marL="0" indent="0" algn="ctr">
              <a:buFont typeface="Wingdings 2" panose="05020102010507070707" pitchFamily="18" charset="2"/>
              <a:buNone/>
            </a:pPr>
            <a:endParaRPr lang="fr-FR" sz="1600" dirty="0">
              <a:solidFill>
                <a:schemeClr val="accent1"/>
              </a:solidFill>
              <a:latin typeface="Century Gothic" panose="020B0502020202020204" pitchFamily="34" charset="0"/>
            </a:endParaRPr>
          </a:p>
          <a:p>
            <a:pPr marL="0" indent="0" algn="ctr">
              <a:buFont typeface="Wingdings 2" panose="05020102010507070707" pitchFamily="18" charset="2"/>
              <a:buNone/>
            </a:pPr>
            <a:endParaRPr lang="es-ES" sz="1600" dirty="0">
              <a:solidFill>
                <a:schemeClr val="accent1"/>
              </a:solidFill>
              <a:latin typeface="Century Gothic" panose="020B0502020202020204" pitchFamily="34" charset="0"/>
            </a:endParaRPr>
          </a:p>
        </p:txBody>
      </p:sp>
      <p:sp>
        <p:nvSpPr>
          <p:cNvPr id="10" name="Marcador de contenido 2">
            <a:extLst>
              <a:ext uri="{FF2B5EF4-FFF2-40B4-BE49-F238E27FC236}">
                <a16:creationId xmlns:a16="http://schemas.microsoft.com/office/drawing/2014/main" id="{BFC6C952-A4C5-C61E-8647-E379A5E163C1}"/>
              </a:ext>
            </a:extLst>
          </p:cNvPr>
          <p:cNvSpPr txBox="1">
            <a:spLocks/>
          </p:cNvSpPr>
          <p:nvPr/>
        </p:nvSpPr>
        <p:spPr>
          <a:xfrm>
            <a:off x="613083" y="1746054"/>
            <a:ext cx="10878718" cy="798567"/>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sz="2000" b="1" dirty="0">
                <a:solidFill>
                  <a:srgbClr val="C00000"/>
                </a:solidFill>
                <a:latin typeface="Century Gothic" panose="020B0502020202020204" pitchFamily="34" charset="0"/>
              </a:rPr>
              <a:t>Ejemplo 4: </a:t>
            </a:r>
            <a:r>
              <a:rPr lang="es-ES" dirty="0">
                <a:solidFill>
                  <a:schemeClr val="accent1"/>
                </a:solidFill>
                <a:latin typeface="Century Gothic" panose="020B0502020202020204" pitchFamily="34" charset="0"/>
              </a:rPr>
              <a:t>¿Cómo será el registro en el Flujo de Caja Libre (FCL) si la venta en activos en </a:t>
            </a:r>
            <a:r>
              <a:rPr lang="es-ES">
                <a:solidFill>
                  <a:schemeClr val="accent1"/>
                </a:solidFill>
                <a:latin typeface="Century Gothic" panose="020B0502020202020204" pitchFamily="34" charset="0"/>
              </a:rPr>
              <a:t>el periodo 2 fue </a:t>
            </a:r>
            <a:r>
              <a:rPr lang="es-ES" dirty="0">
                <a:solidFill>
                  <a:schemeClr val="accent1"/>
                </a:solidFill>
                <a:latin typeface="Century Gothic" panose="020B0502020202020204" pitchFamily="34" charset="0"/>
              </a:rPr>
              <a:t>de 40?</a:t>
            </a:r>
          </a:p>
        </p:txBody>
      </p:sp>
    </p:spTree>
    <p:extLst>
      <p:ext uri="{BB962C8B-B14F-4D97-AF65-F5344CB8AC3E}">
        <p14:creationId xmlns:p14="http://schemas.microsoft.com/office/powerpoint/2010/main" val="1807970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6938-4B92-0733-5C5C-E7F46FD799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FE7754-A304-0CC0-710C-84EDEB34024E}"/>
              </a:ext>
            </a:extLst>
          </p:cNvPr>
          <p:cNvSpPr>
            <a:spLocks noGrp="1"/>
          </p:cNvSpPr>
          <p:nvPr>
            <p:ph type="title"/>
          </p:nvPr>
        </p:nvSpPr>
        <p:spPr/>
        <p:txBody>
          <a:bodyPr/>
          <a:lstStyle/>
          <a:p>
            <a:r>
              <a:rPr lang="es-ES" dirty="0">
                <a:latin typeface="Century Gothic"/>
              </a:rPr>
              <a:t>IMPUESTO OCASIONAL</a:t>
            </a:r>
          </a:p>
        </p:txBody>
      </p:sp>
      <p:sp>
        <p:nvSpPr>
          <p:cNvPr id="4" name="Marcador de número de diapositiva 3">
            <a:extLst>
              <a:ext uri="{FF2B5EF4-FFF2-40B4-BE49-F238E27FC236}">
                <a16:creationId xmlns:a16="http://schemas.microsoft.com/office/drawing/2014/main" id="{017E855A-8BD1-C6BF-03B8-CE3410409FF2}"/>
              </a:ext>
            </a:extLst>
          </p:cNvPr>
          <p:cNvSpPr>
            <a:spLocks noGrp="1"/>
          </p:cNvSpPr>
          <p:nvPr>
            <p:ph type="sldNum" sz="quarter" idx="12"/>
          </p:nvPr>
        </p:nvSpPr>
        <p:spPr/>
        <p:txBody>
          <a:bodyPr/>
          <a:lstStyle/>
          <a:p>
            <a:fld id="{5E3E23BA-6E79-2442-BA73-D218A5E297C3}" type="slidenum">
              <a:rPr lang="en-US" smtClean="0"/>
              <a:t>48</a:t>
            </a:fld>
            <a:endParaRPr lang="en-US"/>
          </a:p>
        </p:txBody>
      </p:sp>
      <p:sp>
        <p:nvSpPr>
          <p:cNvPr id="3" name="Rectángulo 2">
            <a:extLst>
              <a:ext uri="{FF2B5EF4-FFF2-40B4-BE49-F238E27FC236}">
                <a16:creationId xmlns:a16="http://schemas.microsoft.com/office/drawing/2014/main" id="{185144E9-18EB-9C21-AE58-75FF0063F6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CA502E9-3DB1-2088-AD03-5D7F882624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9292E69-F68C-9E76-950F-C7A57E069DC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00669B42-6F25-8053-9942-08FBB0177394}"/>
              </a:ext>
            </a:extLst>
          </p:cNvPr>
          <p:cNvSpPr/>
          <p:nvPr/>
        </p:nvSpPr>
        <p:spPr>
          <a:xfrm>
            <a:off x="2877784" y="5969242"/>
            <a:ext cx="5019715" cy="294900"/>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CuadroTexto 7">
            <a:extLst>
              <a:ext uri="{FF2B5EF4-FFF2-40B4-BE49-F238E27FC236}">
                <a16:creationId xmlns:a16="http://schemas.microsoft.com/office/drawing/2014/main" id="{C6711D01-049F-7791-1C2E-DAC47BD773D8}"/>
              </a:ext>
            </a:extLst>
          </p:cNvPr>
          <p:cNvSpPr txBox="1"/>
          <p:nvPr/>
        </p:nvSpPr>
        <p:spPr>
          <a:xfrm>
            <a:off x="7105091" y="3572844"/>
            <a:ext cx="5021980" cy="584775"/>
          </a:xfrm>
          <a:prstGeom prst="rect">
            <a:avLst/>
          </a:prstGeom>
          <a:noFill/>
        </p:spPr>
        <p:txBody>
          <a:bodyPr wrap="square" rtlCol="0">
            <a:spAutoFit/>
          </a:bodyPr>
          <a:lstStyle/>
          <a:p>
            <a:r>
              <a:rPr lang="es-CO" sz="1600" b="1" dirty="0">
                <a:solidFill>
                  <a:schemeClr val="accent1"/>
                </a:solidFill>
                <a:latin typeface="Century Gothic" panose="020B0502020202020204" pitchFamily="34" charset="0"/>
              </a:rPr>
              <a:t>Impuesto G/P Ocasional</a:t>
            </a:r>
            <a:r>
              <a:rPr lang="es-CO" sz="1600" dirty="0">
                <a:solidFill>
                  <a:schemeClr val="accent1"/>
                </a:solidFill>
                <a:latin typeface="Century Gothic" panose="020B0502020202020204" pitchFamily="34" charset="0"/>
              </a:rPr>
              <a:t> </a:t>
            </a:r>
          </a:p>
          <a:p>
            <a:r>
              <a:rPr lang="es-CO" sz="1600" dirty="0">
                <a:solidFill>
                  <a:schemeClr val="accent1"/>
                </a:solidFill>
                <a:latin typeface="Century Gothic" panose="020B0502020202020204" pitchFamily="34" charset="0"/>
              </a:rPr>
              <a:t>(Valor Venta - Valor en libros)</a:t>
            </a:r>
            <a:r>
              <a:rPr lang="es-ES" sz="1600" dirty="0">
                <a:solidFill>
                  <a:schemeClr val="accent1"/>
                </a:solidFill>
                <a:latin typeface="Century Gothic" panose="020B0502020202020204" pitchFamily="34" charset="0"/>
                <a:sym typeface="Arial" charset="0"/>
              </a:rPr>
              <a:t> • </a:t>
            </a:r>
            <a:r>
              <a:rPr lang="es-CO" sz="1600" dirty="0">
                <a:solidFill>
                  <a:schemeClr val="accent1"/>
                </a:solidFill>
                <a:latin typeface="Century Gothic" panose="020B0502020202020204" pitchFamily="34" charset="0"/>
              </a:rPr>
              <a:t>Tasa Impositiva</a:t>
            </a:r>
          </a:p>
        </p:txBody>
      </p:sp>
      <p:sp>
        <p:nvSpPr>
          <p:cNvPr id="9" name="CuadroTexto 8">
            <a:extLst>
              <a:ext uri="{FF2B5EF4-FFF2-40B4-BE49-F238E27FC236}">
                <a16:creationId xmlns:a16="http://schemas.microsoft.com/office/drawing/2014/main" id="{CE336D99-B441-8D42-169D-E3C8B9B54B18}"/>
              </a:ext>
            </a:extLst>
          </p:cNvPr>
          <p:cNvSpPr txBox="1"/>
          <p:nvPr/>
        </p:nvSpPr>
        <p:spPr>
          <a:xfrm>
            <a:off x="7132596" y="4492892"/>
            <a:ext cx="4478212" cy="338554"/>
          </a:xfrm>
          <a:prstGeom prst="rect">
            <a:avLst/>
          </a:prstGeom>
          <a:noFill/>
        </p:spPr>
        <p:txBody>
          <a:bodyPr wrap="square" rtlCol="0">
            <a:spAutoFit/>
          </a:bodyPr>
          <a:lstStyle/>
          <a:p>
            <a:r>
              <a:rPr lang="es-CO" sz="1600" b="1" dirty="0">
                <a:solidFill>
                  <a:schemeClr val="accent1"/>
                </a:solidFill>
                <a:latin typeface="Century Gothic" panose="020B0502020202020204" pitchFamily="34" charset="0"/>
              </a:rPr>
              <a:t>Impuesto G/P Ocasional </a:t>
            </a:r>
            <a:r>
              <a:rPr lang="es-CO" sz="1600" dirty="0">
                <a:solidFill>
                  <a:schemeClr val="accent1"/>
                </a:solidFill>
                <a:latin typeface="Century Gothic" panose="020B0502020202020204" pitchFamily="34" charset="0"/>
              </a:rPr>
              <a:t>= (40-30)</a:t>
            </a:r>
            <a:r>
              <a:rPr lang="es-ES" sz="1600" dirty="0">
                <a:solidFill>
                  <a:schemeClr val="accent1"/>
                </a:solidFill>
                <a:latin typeface="Century Gothic" panose="020B0502020202020204" pitchFamily="34" charset="0"/>
                <a:sym typeface="Arial" charset="0"/>
              </a:rPr>
              <a:t> • </a:t>
            </a:r>
            <a:r>
              <a:rPr lang="es-CO" sz="1600" dirty="0">
                <a:solidFill>
                  <a:schemeClr val="accent1"/>
                </a:solidFill>
                <a:latin typeface="Century Gothic" panose="020B0502020202020204" pitchFamily="34" charset="0"/>
              </a:rPr>
              <a:t>30% = 3</a:t>
            </a:r>
          </a:p>
        </p:txBody>
      </p:sp>
      <p:grpSp>
        <p:nvGrpSpPr>
          <p:cNvPr id="10" name="Grupo 9">
            <a:extLst>
              <a:ext uri="{FF2B5EF4-FFF2-40B4-BE49-F238E27FC236}">
                <a16:creationId xmlns:a16="http://schemas.microsoft.com/office/drawing/2014/main" id="{F27B02E6-E344-484B-331A-2E7FF48D44B7}"/>
              </a:ext>
            </a:extLst>
          </p:cNvPr>
          <p:cNvGrpSpPr/>
          <p:nvPr/>
        </p:nvGrpSpPr>
        <p:grpSpPr>
          <a:xfrm>
            <a:off x="2098653" y="1905759"/>
            <a:ext cx="6015174" cy="2206595"/>
            <a:chOff x="1804678" y="1905759"/>
            <a:chExt cx="5403850" cy="2206595"/>
          </a:xfrm>
        </p:grpSpPr>
        <p:sp>
          <p:nvSpPr>
            <p:cNvPr id="11" name="AutoShape 12">
              <a:extLst>
                <a:ext uri="{FF2B5EF4-FFF2-40B4-BE49-F238E27FC236}">
                  <a16:creationId xmlns:a16="http://schemas.microsoft.com/office/drawing/2014/main" id="{FC6ECF80-5745-2917-F860-F8F3D6CC75D6}"/>
                </a:ext>
              </a:extLst>
            </p:cNvPr>
            <p:cNvSpPr>
              <a:spLocks/>
            </p:cNvSpPr>
            <p:nvPr/>
          </p:nvSpPr>
          <p:spPr bwMode="auto">
            <a:xfrm>
              <a:off x="1804678" y="1905759"/>
              <a:ext cx="5403850"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lnSpc>
                  <a:spcPct val="120000"/>
                </a:lnSpc>
              </a:pPr>
              <a:endParaRPr lang="es-ES" sz="900" dirty="0">
                <a:cs typeface="Arial" charset="0"/>
                <a:sym typeface="Arial" charset="0"/>
              </a:endParaRPr>
            </a:p>
            <a:p>
              <a:pPr lvl="1">
                <a:lnSpc>
                  <a:spcPct val="120000"/>
                </a:lnSpc>
              </a:pPr>
              <a:r>
                <a:rPr lang="es-ES" sz="2000" dirty="0">
                  <a:cs typeface="Arial" charset="0"/>
                  <a:sym typeface="Arial" charset="0"/>
                </a:rPr>
                <a:t>(+) Ingresos</a:t>
              </a:r>
            </a:p>
            <a:p>
              <a:pPr lvl="1">
                <a:lnSpc>
                  <a:spcPct val="120000"/>
                </a:lnSpc>
              </a:pPr>
              <a:r>
                <a:rPr lang="es-ES" sz="2000" dirty="0">
                  <a:cs typeface="Arial" charset="0"/>
                  <a:sym typeface="Arial" charset="0"/>
                </a:rPr>
                <a:t>(-)  Costos de Venta</a:t>
              </a:r>
            </a:p>
            <a:p>
              <a:pPr lvl="1">
                <a:lnSpc>
                  <a:spcPct val="120000"/>
                </a:lnSpc>
              </a:pPr>
              <a:endParaRPr lang="es-ES" sz="400" b="1" dirty="0">
                <a:solidFill>
                  <a:srgbClr val="C00000"/>
                </a:solidFill>
                <a:cs typeface="Arial" charset="0"/>
                <a:sym typeface="Arial" charset="0"/>
              </a:endParaRPr>
            </a:p>
            <a:p>
              <a:pPr lvl="1">
                <a:lnSpc>
                  <a:spcPct val="120000"/>
                </a:lnSpc>
              </a:pPr>
              <a:r>
                <a:rPr lang="es-ES" sz="2000" b="1" dirty="0">
                  <a:solidFill>
                    <a:srgbClr val="C00000"/>
                  </a:solidFill>
                  <a:cs typeface="Arial" charset="0"/>
                  <a:sym typeface="Arial" charset="0"/>
                </a:rPr>
                <a:t>      Utilidad Bruta</a:t>
              </a:r>
            </a:p>
            <a:p>
              <a:pPr lvl="1">
                <a:lnSpc>
                  <a:spcPct val="120000"/>
                </a:lnSpc>
              </a:pPr>
              <a:r>
                <a:rPr lang="es-ES" sz="2000" dirty="0">
                  <a:cs typeface="Arial" charset="0"/>
                  <a:sym typeface="Arial" charset="0"/>
                </a:rPr>
                <a:t>(-)  Gastos AOM</a:t>
              </a:r>
            </a:p>
            <a:p>
              <a:pPr lvl="1">
                <a:lnSpc>
                  <a:spcPct val="120000"/>
                </a:lnSpc>
              </a:pPr>
              <a:r>
                <a:rPr lang="es-ES" sz="2000" dirty="0">
                  <a:cs typeface="Arial" charset="0"/>
                  <a:sym typeface="Arial" charset="0"/>
                </a:rPr>
                <a:t>(-)  Depreciaciones &amp; Amortizaciones</a:t>
              </a:r>
            </a:p>
            <a:p>
              <a:pPr lvl="1">
                <a:lnSpc>
                  <a:spcPct val="120000"/>
                </a:lnSpc>
              </a:pPr>
              <a:r>
                <a:rPr lang="es-ES" sz="2000" b="1" dirty="0">
                  <a:solidFill>
                    <a:srgbClr val="C00000"/>
                  </a:solidFill>
                  <a:cs typeface="Arial" charset="0"/>
                  <a:sym typeface="Arial" charset="0"/>
                </a:rPr>
                <a:t>      EBIT (UAII)</a:t>
              </a:r>
              <a:endParaRPr lang="es-ES" sz="2000" dirty="0">
                <a:solidFill>
                  <a:srgbClr val="C00000"/>
                </a:solidFill>
                <a:cs typeface="Arial" charset="0"/>
                <a:sym typeface="Arial" charset="0"/>
              </a:endParaRPr>
            </a:p>
            <a:p>
              <a:pPr lvl="1">
                <a:lnSpc>
                  <a:spcPct val="120000"/>
                </a:lnSpc>
              </a:pPr>
              <a:endParaRPr lang="es-ES" sz="2000" dirty="0">
                <a:cs typeface="Arial" charset="0"/>
                <a:sym typeface="Arial" charset="0"/>
              </a:endParaRPr>
            </a:p>
          </p:txBody>
        </p:sp>
        <p:sp>
          <p:nvSpPr>
            <p:cNvPr id="12" name="Line 14">
              <a:extLst>
                <a:ext uri="{FF2B5EF4-FFF2-40B4-BE49-F238E27FC236}">
                  <a16:creationId xmlns:a16="http://schemas.microsoft.com/office/drawing/2014/main" id="{977D0303-F8C2-FBD2-379E-17438707A586}"/>
                </a:ext>
              </a:extLst>
            </p:cNvPr>
            <p:cNvSpPr>
              <a:spLocks noChangeShapeType="1"/>
            </p:cNvSpPr>
            <p:nvPr/>
          </p:nvSpPr>
          <p:spPr bwMode="auto">
            <a:xfrm flipV="1">
              <a:off x="2284104" y="2843228"/>
              <a:ext cx="3640132" cy="44285"/>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sp>
          <p:nvSpPr>
            <p:cNvPr id="13" name="Line 15">
              <a:extLst>
                <a:ext uri="{FF2B5EF4-FFF2-40B4-BE49-F238E27FC236}">
                  <a16:creationId xmlns:a16="http://schemas.microsoft.com/office/drawing/2014/main" id="{090FE323-CE02-B2CA-CC10-08D7F43D981A}"/>
                </a:ext>
              </a:extLst>
            </p:cNvPr>
            <p:cNvSpPr>
              <a:spLocks noChangeShapeType="1"/>
            </p:cNvSpPr>
            <p:nvPr/>
          </p:nvSpPr>
          <p:spPr bwMode="auto">
            <a:xfrm flipV="1">
              <a:off x="2320446" y="4011003"/>
              <a:ext cx="3602032" cy="2594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grpSp>
      <p:grpSp>
        <p:nvGrpSpPr>
          <p:cNvPr id="14" name="Grupo 13">
            <a:extLst>
              <a:ext uri="{FF2B5EF4-FFF2-40B4-BE49-F238E27FC236}">
                <a16:creationId xmlns:a16="http://schemas.microsoft.com/office/drawing/2014/main" id="{C7C910A8-886F-D28A-5135-DC9D749D5C3E}"/>
              </a:ext>
            </a:extLst>
          </p:cNvPr>
          <p:cNvGrpSpPr/>
          <p:nvPr/>
        </p:nvGrpSpPr>
        <p:grpSpPr>
          <a:xfrm>
            <a:off x="2427186" y="3970488"/>
            <a:ext cx="5770018" cy="2383645"/>
            <a:chOff x="2133211" y="3970488"/>
            <a:chExt cx="5770018" cy="2383645"/>
          </a:xfrm>
        </p:grpSpPr>
        <p:sp>
          <p:nvSpPr>
            <p:cNvPr id="15" name="AutoShape 1">
              <a:extLst>
                <a:ext uri="{FF2B5EF4-FFF2-40B4-BE49-F238E27FC236}">
                  <a16:creationId xmlns:a16="http://schemas.microsoft.com/office/drawing/2014/main" id="{76FBE78A-9AA7-3FDC-17FE-B108EA275F01}"/>
                </a:ext>
              </a:extLst>
            </p:cNvPr>
            <p:cNvSpPr>
              <a:spLocks/>
            </p:cNvSpPr>
            <p:nvPr/>
          </p:nvSpPr>
          <p:spPr bwMode="auto">
            <a:xfrm>
              <a:off x="2133211" y="3970488"/>
              <a:ext cx="5770018"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nchor="t"/>
            <a:lstStyle/>
            <a:p>
              <a:pPr lvl="1"/>
              <a:endParaRPr lang="es-ES" sz="300" dirty="0">
                <a:solidFill>
                  <a:schemeClr val="accent1"/>
                </a:solidFill>
                <a:cs typeface="Arial" charset="0"/>
                <a:sym typeface="Arial" charset="0"/>
              </a:endParaRPr>
            </a:p>
            <a:p>
              <a:r>
                <a:rPr lang="es-ES" sz="2000" dirty="0">
                  <a:cs typeface="Arial" charset="0"/>
                  <a:sym typeface="Arial" charset="0"/>
                </a:rPr>
                <a:t>     </a:t>
              </a:r>
            </a:p>
            <a:p>
              <a:r>
                <a:rPr lang="es-ES" sz="2000" dirty="0">
                  <a:cs typeface="Arial" charset="0"/>
                  <a:sym typeface="Arial" charset="0"/>
                </a:rPr>
                <a:t>       (+) Depreciaciones &amp; Amortizaciones</a:t>
              </a:r>
            </a:p>
            <a:p>
              <a:endParaRPr lang="es-ES" sz="100" dirty="0">
                <a:solidFill>
                  <a:schemeClr val="accent1"/>
                </a:solidFill>
                <a:cs typeface="Arial" charset="0"/>
                <a:sym typeface="Arial" charset="0"/>
              </a:endParaRPr>
            </a:p>
            <a:p>
              <a:r>
                <a:rPr lang="es-ES" sz="2000" dirty="0">
                  <a:solidFill>
                    <a:schemeClr val="accent1"/>
                  </a:solidFill>
                  <a:cs typeface="Arial" charset="0"/>
                  <a:sym typeface="Arial" charset="0"/>
                </a:rPr>
                <a:t>        </a:t>
              </a:r>
              <a:r>
                <a:rPr lang="es-ES" sz="2000" b="1" dirty="0">
                  <a:solidFill>
                    <a:srgbClr val="C00000"/>
                  </a:solidFill>
                  <a:cs typeface="Arial" charset="0"/>
                  <a:sym typeface="Arial" charset="0"/>
                </a:rPr>
                <a:t>EBITDA</a:t>
              </a:r>
              <a:endParaRPr lang="es-ES" sz="2000" dirty="0">
                <a:solidFill>
                  <a:srgbClr val="C00000"/>
                </a:solidFill>
                <a:cs typeface="Arial" charset="0"/>
                <a:sym typeface="Arial" charset="0"/>
              </a:endParaRPr>
            </a:p>
            <a:p>
              <a:endParaRPr lang="es-ES" sz="400" dirty="0">
                <a:cs typeface="Arial" charset="0"/>
                <a:sym typeface="Arial" charset="0"/>
              </a:endParaRPr>
            </a:p>
            <a:p>
              <a:r>
                <a:rPr lang="es-ES" sz="2000" dirty="0">
                  <a:cs typeface="Arial" charset="0"/>
                  <a:sym typeface="Arial" charset="0"/>
                </a:rPr>
                <a:t>       (-)  Variación en WK</a:t>
              </a:r>
            </a:p>
            <a:p>
              <a:r>
                <a:rPr lang="es-ES" sz="2000" dirty="0">
                  <a:cs typeface="Arial"/>
                  <a:sym typeface="Arial" charset="0"/>
                </a:rPr>
                <a:t>       (-)  </a:t>
              </a:r>
              <a:r>
                <a:rPr lang="es-ES" sz="2000">
                  <a:cs typeface="Arial" charset="0"/>
                  <a:sym typeface="Arial" charset="0"/>
                </a:rPr>
                <a:t>Variación de PPE e Intangible</a:t>
              </a:r>
              <a:r>
                <a:rPr lang="es-ES" sz="2000">
                  <a:cs typeface="Arial"/>
                  <a:sym typeface="Arial" charset="0"/>
                </a:rPr>
                <a:t>s (CAPEX)</a:t>
              </a:r>
              <a:endParaRPr lang="es-ES" sz="2000">
                <a:cs typeface="Arial"/>
              </a:endParaRPr>
            </a:p>
            <a:p>
              <a:r>
                <a:rPr lang="es-ES" sz="2000" dirty="0">
                  <a:cs typeface="Arial"/>
                  <a:sym typeface="Arial" charset="0"/>
                </a:rPr>
                <a:t>       (-)  Impuesto Operacional (EBIT • Tasa Imp)</a:t>
              </a:r>
              <a:br>
                <a:rPr lang="es-ES" sz="2000" dirty="0">
                  <a:cs typeface="Arial" charset="0"/>
                </a:rPr>
              </a:br>
              <a:r>
                <a:rPr lang="es-ES" sz="2000">
                  <a:cs typeface="Arial"/>
                  <a:sym typeface="Arial" charset="0"/>
                </a:rPr>
                <a:t>       (-)  Impuesto por Ganancia/Pérdida Ocasional</a:t>
              </a:r>
              <a:endParaRPr lang="es-ES" sz="2000">
                <a:cs typeface="Arial"/>
              </a:endParaRPr>
            </a:p>
            <a:p>
              <a:endParaRPr lang="es-ES" sz="900" dirty="0">
                <a:solidFill>
                  <a:schemeClr val="accent1"/>
                </a:solidFill>
                <a:cs typeface="Arial" charset="0"/>
                <a:sym typeface="Arial" charset="0"/>
              </a:endParaRPr>
            </a:p>
            <a:p>
              <a:r>
                <a:rPr lang="es-ES" sz="2000" b="1" dirty="0">
                  <a:solidFill>
                    <a:schemeClr val="accent1"/>
                  </a:solidFill>
                  <a:cs typeface="Arial" charset="0"/>
                  <a:sym typeface="Arial" charset="0"/>
                </a:rPr>
                <a:t>        </a:t>
              </a:r>
              <a:r>
                <a:rPr lang="es-ES" sz="2000" b="1" dirty="0">
                  <a:solidFill>
                    <a:srgbClr val="C00000"/>
                  </a:solidFill>
                  <a:cs typeface="Arial" charset="0"/>
                  <a:sym typeface="Arial" charset="0"/>
                </a:rPr>
                <a:t>Flujo de Caja Libre (FCL)</a:t>
              </a:r>
            </a:p>
          </p:txBody>
        </p:sp>
        <p:sp>
          <p:nvSpPr>
            <p:cNvPr id="16" name="Line 2">
              <a:extLst>
                <a:ext uri="{FF2B5EF4-FFF2-40B4-BE49-F238E27FC236}">
                  <a16:creationId xmlns:a16="http://schemas.microsoft.com/office/drawing/2014/main" id="{08879653-468A-CBFC-30A5-F6D458D7CB35}"/>
                </a:ext>
              </a:extLst>
            </p:cNvPr>
            <p:cNvSpPr>
              <a:spLocks noChangeShapeType="1"/>
            </p:cNvSpPr>
            <p:nvPr/>
          </p:nvSpPr>
          <p:spPr bwMode="auto">
            <a:xfrm flipV="1">
              <a:off x="2407281" y="5037125"/>
              <a:ext cx="398103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sp>
          <p:nvSpPr>
            <p:cNvPr id="17" name="Line 3">
              <a:extLst>
                <a:ext uri="{FF2B5EF4-FFF2-40B4-BE49-F238E27FC236}">
                  <a16:creationId xmlns:a16="http://schemas.microsoft.com/office/drawing/2014/main" id="{DD585A85-EDCC-691F-136A-34B9FC0E9DF9}"/>
                </a:ext>
              </a:extLst>
            </p:cNvPr>
            <p:cNvSpPr>
              <a:spLocks noChangeShapeType="1"/>
            </p:cNvSpPr>
            <p:nvPr/>
          </p:nvSpPr>
          <p:spPr bwMode="auto">
            <a:xfrm>
              <a:off x="2384111" y="6341435"/>
              <a:ext cx="400420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grpSp>
      <p:sp>
        <p:nvSpPr>
          <p:cNvPr id="18" name="Abrir llave 17">
            <a:extLst>
              <a:ext uri="{FF2B5EF4-FFF2-40B4-BE49-F238E27FC236}">
                <a16:creationId xmlns:a16="http://schemas.microsoft.com/office/drawing/2014/main" id="{0F8B62FF-63E2-D18C-9DF2-451A262DBDCF}"/>
              </a:ext>
            </a:extLst>
          </p:cNvPr>
          <p:cNvSpPr/>
          <p:nvPr/>
        </p:nvSpPr>
        <p:spPr>
          <a:xfrm>
            <a:off x="2372723" y="2219217"/>
            <a:ext cx="205356" cy="2160079"/>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19" name="CuadroTexto 18">
            <a:extLst>
              <a:ext uri="{FF2B5EF4-FFF2-40B4-BE49-F238E27FC236}">
                <a16:creationId xmlns:a16="http://schemas.microsoft.com/office/drawing/2014/main" id="{49C13004-0E17-462E-542D-B0D6CFA59ADE}"/>
              </a:ext>
            </a:extLst>
          </p:cNvPr>
          <p:cNvSpPr txBox="1"/>
          <p:nvPr/>
        </p:nvSpPr>
        <p:spPr>
          <a:xfrm>
            <a:off x="421298" y="2821557"/>
            <a:ext cx="2005888" cy="646331"/>
          </a:xfrm>
          <a:prstGeom prst="rect">
            <a:avLst/>
          </a:prstGeom>
          <a:noFill/>
        </p:spPr>
        <p:txBody>
          <a:bodyPr wrap="square" rtlCol="0">
            <a:spAutoFit/>
          </a:bodyPr>
          <a:lstStyle/>
          <a:p>
            <a:pPr algn="ctr"/>
            <a:r>
              <a:rPr lang="es-CO" b="1" dirty="0">
                <a:solidFill>
                  <a:schemeClr val="accent1"/>
                </a:solidFill>
                <a:latin typeface="Century Gothic"/>
              </a:rPr>
              <a:t>Estado de Resultados</a:t>
            </a:r>
          </a:p>
        </p:txBody>
      </p:sp>
      <p:sp>
        <p:nvSpPr>
          <p:cNvPr id="20" name="Abrir llave 19">
            <a:extLst>
              <a:ext uri="{FF2B5EF4-FFF2-40B4-BE49-F238E27FC236}">
                <a16:creationId xmlns:a16="http://schemas.microsoft.com/office/drawing/2014/main" id="{DA399FDC-48B2-AF29-1758-710457078882}"/>
              </a:ext>
            </a:extLst>
          </p:cNvPr>
          <p:cNvSpPr/>
          <p:nvPr/>
        </p:nvSpPr>
        <p:spPr>
          <a:xfrm>
            <a:off x="2358981" y="4438510"/>
            <a:ext cx="219098" cy="1971644"/>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21" name="CuadroTexto 20">
            <a:extLst>
              <a:ext uri="{FF2B5EF4-FFF2-40B4-BE49-F238E27FC236}">
                <a16:creationId xmlns:a16="http://schemas.microsoft.com/office/drawing/2014/main" id="{BA34EF4D-D685-D8D4-ED9F-B99C0E1D9037}"/>
              </a:ext>
            </a:extLst>
          </p:cNvPr>
          <p:cNvSpPr txBox="1"/>
          <p:nvPr/>
        </p:nvSpPr>
        <p:spPr>
          <a:xfrm>
            <a:off x="421298" y="5127274"/>
            <a:ext cx="2005888" cy="646331"/>
          </a:xfrm>
          <a:prstGeom prst="rect">
            <a:avLst/>
          </a:prstGeom>
          <a:noFill/>
        </p:spPr>
        <p:txBody>
          <a:bodyPr wrap="square" rtlCol="0">
            <a:spAutoFit/>
          </a:bodyPr>
          <a:lstStyle/>
          <a:p>
            <a:pPr algn="ctr"/>
            <a:r>
              <a:rPr lang="es-CO" b="1" dirty="0">
                <a:solidFill>
                  <a:schemeClr val="accent1"/>
                </a:solidFill>
                <a:latin typeface="Century Gothic"/>
              </a:rPr>
              <a:t>Flujo de Caja Libre</a:t>
            </a:r>
          </a:p>
        </p:txBody>
      </p:sp>
    </p:spTree>
    <p:extLst>
      <p:ext uri="{BB962C8B-B14F-4D97-AF65-F5344CB8AC3E}">
        <p14:creationId xmlns:p14="http://schemas.microsoft.com/office/powerpoint/2010/main" val="226480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7967-2CF1-E1E5-E82D-789A26EDED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E397FA-28FB-61AF-FA12-804A1D4AF901}"/>
              </a:ext>
            </a:extLst>
          </p:cNvPr>
          <p:cNvSpPr>
            <a:spLocks noGrp="1"/>
          </p:cNvSpPr>
          <p:nvPr>
            <p:ph type="title"/>
          </p:nvPr>
        </p:nvSpPr>
        <p:spPr/>
        <p:txBody>
          <a:bodyPr/>
          <a:lstStyle/>
          <a:p>
            <a:r>
              <a:rPr lang="es-ES" dirty="0">
                <a:latin typeface="Century Gothic"/>
              </a:rPr>
              <a:t>IMPUESTO OCASIONAL</a:t>
            </a:r>
            <a:endParaRPr lang="es-ES" dirty="0">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CB6CFCE2-FE53-7284-A3B6-87C040DDE062}"/>
              </a:ext>
            </a:extLst>
          </p:cNvPr>
          <p:cNvSpPr>
            <a:spLocks noGrp="1"/>
          </p:cNvSpPr>
          <p:nvPr>
            <p:ph type="sldNum" sz="quarter" idx="12"/>
          </p:nvPr>
        </p:nvSpPr>
        <p:spPr/>
        <p:txBody>
          <a:bodyPr/>
          <a:lstStyle/>
          <a:p>
            <a:fld id="{5E3E23BA-6E79-2442-BA73-D218A5E297C3}" type="slidenum">
              <a:rPr lang="en-US" sz="1800" smtClean="0"/>
              <a:t>49</a:t>
            </a:fld>
            <a:endParaRPr lang="en-US" sz="1800"/>
          </a:p>
        </p:txBody>
      </p:sp>
      <p:sp>
        <p:nvSpPr>
          <p:cNvPr id="5" name="Rectángulo 4">
            <a:extLst>
              <a:ext uri="{FF2B5EF4-FFF2-40B4-BE49-F238E27FC236}">
                <a16:creationId xmlns:a16="http://schemas.microsoft.com/office/drawing/2014/main" id="{9812DF4C-EC4E-6C59-181A-BAD835454A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110A148-EBC3-1C32-6B38-9DA278B057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5ED87D0E-5234-426E-3A03-E1AAA5C5848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6" name="Tabla 5">
            <a:extLst>
              <a:ext uri="{FF2B5EF4-FFF2-40B4-BE49-F238E27FC236}">
                <a16:creationId xmlns:a16="http://schemas.microsoft.com/office/drawing/2014/main" id="{C7D8B96A-A9B9-C0A5-7F51-3CEF6E50E312}"/>
              </a:ext>
            </a:extLst>
          </p:cNvPr>
          <p:cNvGraphicFramePr>
            <a:graphicFrameLocks noGrp="1"/>
          </p:cNvGraphicFramePr>
          <p:nvPr>
            <p:extLst>
              <p:ext uri="{D42A27DB-BD31-4B8C-83A1-F6EECF244321}">
                <p14:modId xmlns:p14="http://schemas.microsoft.com/office/powerpoint/2010/main" val="241292190"/>
              </p:ext>
            </p:extLst>
          </p:nvPr>
        </p:nvGraphicFramePr>
        <p:xfrm>
          <a:off x="1793942" y="3917950"/>
          <a:ext cx="8453215" cy="2821940"/>
        </p:xfrm>
        <a:graphic>
          <a:graphicData uri="http://schemas.openxmlformats.org/drawingml/2006/table">
            <a:tbl>
              <a:tblPr/>
              <a:tblGrid>
                <a:gridCol w="2587105">
                  <a:extLst>
                    <a:ext uri="{9D8B030D-6E8A-4147-A177-3AD203B41FA5}">
                      <a16:colId xmlns:a16="http://schemas.microsoft.com/office/drawing/2014/main" val="20000"/>
                    </a:ext>
                  </a:extLst>
                </a:gridCol>
                <a:gridCol w="977685">
                  <a:extLst>
                    <a:ext uri="{9D8B030D-6E8A-4147-A177-3AD203B41FA5}">
                      <a16:colId xmlns:a16="http://schemas.microsoft.com/office/drawing/2014/main" val="20001"/>
                    </a:ext>
                  </a:extLst>
                </a:gridCol>
                <a:gridCol w="977685">
                  <a:extLst>
                    <a:ext uri="{9D8B030D-6E8A-4147-A177-3AD203B41FA5}">
                      <a16:colId xmlns:a16="http://schemas.microsoft.com/office/drawing/2014/main" val="20002"/>
                    </a:ext>
                  </a:extLst>
                </a:gridCol>
                <a:gridCol w="977685">
                  <a:extLst>
                    <a:ext uri="{9D8B030D-6E8A-4147-A177-3AD203B41FA5}">
                      <a16:colId xmlns:a16="http://schemas.microsoft.com/office/drawing/2014/main" val="20003"/>
                    </a:ext>
                  </a:extLst>
                </a:gridCol>
                <a:gridCol w="977685">
                  <a:extLst>
                    <a:ext uri="{9D8B030D-6E8A-4147-A177-3AD203B41FA5}">
                      <a16:colId xmlns:a16="http://schemas.microsoft.com/office/drawing/2014/main" val="20004"/>
                    </a:ext>
                  </a:extLst>
                </a:gridCol>
                <a:gridCol w="977685">
                  <a:extLst>
                    <a:ext uri="{9D8B030D-6E8A-4147-A177-3AD203B41FA5}">
                      <a16:colId xmlns:a16="http://schemas.microsoft.com/office/drawing/2014/main" val="20005"/>
                    </a:ext>
                  </a:extLst>
                </a:gridCol>
                <a:gridCol w="977685">
                  <a:extLst>
                    <a:ext uri="{9D8B030D-6E8A-4147-A177-3AD203B41FA5}">
                      <a16:colId xmlns:a16="http://schemas.microsoft.com/office/drawing/2014/main" val="20006"/>
                    </a:ext>
                  </a:extLst>
                </a:gridCol>
              </a:tblGrid>
              <a:tr h="254000">
                <a:tc rowSpan="2">
                  <a:txBody>
                    <a:bodyPr/>
                    <a:lstStyle/>
                    <a:p>
                      <a:pPr algn="ctr" fontAlgn="b"/>
                      <a:r>
                        <a:rPr lang="es-ES" sz="1600" b="0" i="0" u="none" strike="noStrike" dirty="0">
                          <a:solidFill>
                            <a:srgbClr val="FFFFFF"/>
                          </a:solidFill>
                          <a:effectLst/>
                          <a:latin typeface="Calibri"/>
                        </a:rPr>
                        <a:t>Año</a:t>
                      </a:r>
                    </a:p>
                  </a:txBody>
                  <a:tcPr marL="12700" marR="12700" marT="12700" marB="0" anchor="ctr">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2015</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2016</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2017</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2018</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0"/>
                  </a:ext>
                </a:extLst>
              </a:tr>
              <a:tr h="254000">
                <a:tc vMerge="1">
                  <a:txBody>
                    <a:bodyPr/>
                    <a:lstStyle/>
                    <a:p>
                      <a:pPr algn="ctr" fontAlgn="b"/>
                      <a:endParaRPr lang="es-ES" sz="1600" b="0" i="0" u="none" strike="noStrike" dirty="0">
                        <a:solidFill>
                          <a:srgbClr val="FFFFFF"/>
                        </a:solidFill>
                        <a:effectLst/>
                        <a:latin typeface="Calibri"/>
                      </a:endParaRPr>
                    </a:p>
                  </a:txBody>
                  <a:tcPr marL="12700" marR="12700" marT="12700" marB="0" anchor="b">
                    <a:lnL>
                      <a:noFill/>
                    </a:lnL>
                    <a:lnR>
                      <a:noFill/>
                    </a:lnR>
                    <a:lnT>
                      <a:noFill/>
                    </a:lnT>
                    <a:lnB>
                      <a:noFill/>
                    </a:lnB>
                    <a:solidFill>
                      <a:srgbClr val="215967"/>
                    </a:solidFill>
                  </a:tcPr>
                </a:tc>
                <a:tc>
                  <a:txBody>
                    <a:bodyPr/>
                    <a:lstStyle/>
                    <a:p>
                      <a:pPr algn="ctr" fontAlgn="b"/>
                      <a:r>
                        <a:rPr lang="es-ES" sz="1600" b="0" i="0" u="none" strike="noStrike" dirty="0">
                          <a:solidFill>
                            <a:srgbClr val="FFFFFF"/>
                          </a:solidFill>
                          <a:effectLst/>
                          <a:latin typeface="Calibri"/>
                        </a:rPr>
                        <a:t>(0)</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(1)</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(2)</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(3)</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(4)</a:t>
                      </a:r>
                    </a:p>
                  </a:txBody>
                  <a:tcPr marL="12700" marR="12700" marT="12700" marB="0" anchor="b">
                    <a:lnL>
                      <a:noFill/>
                    </a:lnL>
                    <a:lnR>
                      <a:noFill/>
                    </a:lnR>
                    <a:lnT>
                      <a:noFill/>
                    </a:lnT>
                    <a:lnB>
                      <a:noFill/>
                    </a:lnB>
                    <a:solidFill>
                      <a:srgbClr val="2E8151"/>
                    </a:solidFill>
                  </a:tcPr>
                </a:tc>
                <a:tc>
                  <a:txBody>
                    <a:bodyPr/>
                    <a:lstStyle/>
                    <a:p>
                      <a:pPr algn="ctr" fontAlgn="b"/>
                      <a:r>
                        <a:rPr lang="es-ES" sz="1600" b="0" i="0" u="none" strike="noStrike" dirty="0">
                          <a:solidFill>
                            <a:srgbClr val="FFFFFF"/>
                          </a:solidFill>
                          <a:effectLst/>
                          <a:latin typeface="Calibri"/>
                        </a:rPr>
                        <a:t>(5)</a:t>
                      </a:r>
                    </a:p>
                  </a:txBody>
                  <a:tcPr marL="12700" marR="12700" marT="12700" marB="0" anchor="b">
                    <a:lnL>
                      <a:noFill/>
                    </a:lnL>
                    <a:lnR>
                      <a:noFill/>
                    </a:lnR>
                    <a:lnT>
                      <a:noFill/>
                    </a:lnT>
                    <a:lnB>
                      <a:noFill/>
                    </a:lnB>
                    <a:solidFill>
                      <a:srgbClr val="2E8151"/>
                    </a:solidFill>
                  </a:tcPr>
                </a:tc>
                <a:extLst>
                  <a:ext uri="{0D108BD9-81ED-4DB2-BD59-A6C34878D82A}">
                    <a16:rowId xmlns:a16="http://schemas.microsoft.com/office/drawing/2014/main" val="10001"/>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2"/>
                  </a:ext>
                </a:extLst>
              </a:tr>
              <a:tr h="254000">
                <a:tc>
                  <a:txBody>
                    <a:bodyPr/>
                    <a:lstStyle/>
                    <a:p>
                      <a:pPr algn="ctr" fontAlgn="b"/>
                      <a:r>
                        <a:rPr lang="es-ES" sz="1600" b="0" i="0" u="none" strike="noStrike">
                          <a:solidFill>
                            <a:srgbClr val="000000"/>
                          </a:solidFill>
                          <a:effectLst/>
                          <a:latin typeface="Calibri"/>
                        </a:rPr>
                        <a:t>Depreciación Periodo</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marL="0" algn="ctr" defTabSz="914400" rtl="0" eaLnBrk="1" fontAlgn="b" latinLnBrk="0" hangingPunct="1"/>
                      <a:r>
                        <a:rPr lang="es-ES" sz="1600" b="0" i="0" u="none" strike="noStrike" kern="1200" dirty="0">
                          <a:solidFill>
                            <a:srgbClr val="000000"/>
                          </a:solidFill>
                          <a:effectLst/>
                          <a:latin typeface="Calibri"/>
                          <a:ea typeface="+mn-ea"/>
                          <a:cs typeface="+mn-cs"/>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5"/>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marL="0" algn="ctr" defTabSz="914400" rtl="0" eaLnBrk="1" fontAlgn="b" latinLnBrk="0" hangingPunct="1"/>
                      <a:endParaRPr lang="es-ES" sz="1600" b="0" i="0" u="none" strike="noStrike" kern="1200" dirty="0">
                        <a:solidFill>
                          <a:srgbClr val="000000"/>
                        </a:solidFill>
                        <a:effectLst/>
                        <a:latin typeface="Calibri"/>
                        <a:ea typeface="+mn-ea"/>
                        <a:cs typeface="+mn-cs"/>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6"/>
                  </a:ext>
                </a:extLst>
              </a:tr>
              <a:tr h="254000">
                <a:tc>
                  <a:txBody>
                    <a:bodyPr/>
                    <a:lstStyle/>
                    <a:p>
                      <a:pPr algn="ctr" fontAlgn="b"/>
                      <a:r>
                        <a:rPr lang="es-ES" sz="1600" b="0" i="0" u="none" strike="noStrike">
                          <a:solidFill>
                            <a:srgbClr val="000000"/>
                          </a:solidFill>
                          <a:effectLst/>
                          <a:latin typeface="Calibri"/>
                        </a:rPr>
                        <a:t>Depreciación Acumulada</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10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marL="0" algn="ctr" defTabSz="914400" rtl="0" eaLnBrk="1" fontAlgn="b" latinLnBrk="0" hangingPunct="1"/>
                      <a:r>
                        <a:rPr lang="es-ES" sz="1600" b="0" i="0" u="none" strike="noStrike" kern="1200" dirty="0">
                          <a:solidFill>
                            <a:srgbClr val="000000"/>
                          </a:solidFill>
                          <a:effectLst/>
                          <a:latin typeface="Calibri"/>
                          <a:ea typeface="+mn-ea"/>
                          <a:cs typeface="+mn-cs"/>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7"/>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marL="0" algn="ctr" defTabSz="914400" rtl="0" eaLnBrk="1" fontAlgn="b" latinLnBrk="0" hangingPunct="1"/>
                      <a:endParaRPr lang="es-ES" sz="1600" b="0" i="0" u="none" strike="noStrike" kern="1200" dirty="0">
                        <a:solidFill>
                          <a:srgbClr val="000000"/>
                        </a:solidFill>
                        <a:effectLst/>
                        <a:latin typeface="Calibri"/>
                        <a:ea typeface="+mn-ea"/>
                        <a:cs typeface="+mn-cs"/>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08"/>
                  </a:ext>
                </a:extLst>
              </a:tr>
              <a:tr h="254000">
                <a:tc>
                  <a:txBody>
                    <a:bodyPr/>
                    <a:lstStyle/>
                    <a:p>
                      <a:pPr algn="ctr" fontAlgn="b"/>
                      <a:r>
                        <a:rPr lang="es-ES" sz="1600" b="0" i="0" u="none" strike="noStrike" dirty="0">
                          <a:solidFill>
                            <a:srgbClr val="000000"/>
                          </a:solidFill>
                          <a:effectLst/>
                          <a:latin typeface="Calibri"/>
                        </a:rPr>
                        <a:t>Valor Libros</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50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a:solidFill>
                            <a:srgbClr val="000000"/>
                          </a:solidFill>
                          <a:effectLst/>
                          <a:latin typeface="Calibri"/>
                        </a:rPr>
                        <a:t>40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tc>
                  <a:txBody>
                    <a:bodyPr/>
                    <a:lstStyle/>
                    <a:p>
                      <a:pPr marL="0" algn="ctr" defTabSz="914400" rtl="0" eaLnBrk="1" fontAlgn="b" latinLnBrk="0" hangingPunct="1"/>
                      <a:r>
                        <a:rPr lang="es-ES" sz="1600" b="0" i="0" u="none" strike="noStrike" kern="1200" dirty="0">
                          <a:solidFill>
                            <a:srgbClr val="000000"/>
                          </a:solidFill>
                          <a:effectLst/>
                          <a:latin typeface="Calibri"/>
                          <a:ea typeface="+mn-ea"/>
                          <a:cs typeface="+mn-cs"/>
                        </a:rPr>
                        <a:t>0</a:t>
                      </a:r>
                    </a:p>
                  </a:txBody>
                  <a:tcPr marL="12700" marR="12700" marT="12700" marB="0" anchor="b">
                    <a:lnL>
                      <a:noFill/>
                    </a:lnL>
                    <a:lnR>
                      <a:noFill/>
                    </a:lnR>
                    <a:lnT>
                      <a:noFill/>
                    </a:lnT>
                    <a:lnB>
                      <a:noFill/>
                    </a:lnB>
                    <a:solidFill>
                      <a:srgbClr val="F2F2F2"/>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rgbClr val="F2F2F2"/>
                    </a:solidFill>
                  </a:tcPr>
                </a:tc>
                <a:extLst>
                  <a:ext uri="{0D108BD9-81ED-4DB2-BD59-A6C34878D82A}">
                    <a16:rowId xmlns:a16="http://schemas.microsoft.com/office/drawing/2014/main" val="10009"/>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0010"/>
                  </a:ext>
                </a:extLst>
              </a:tr>
              <a:tr h="254000">
                <a:tc>
                  <a:txBody>
                    <a:bodyPr/>
                    <a:lstStyle/>
                    <a:p>
                      <a:pPr algn="ctr" fontAlgn="b"/>
                      <a:r>
                        <a:rPr lang="es-ES" sz="1600" b="1" i="0" u="none" strike="noStrike" dirty="0">
                          <a:solidFill>
                            <a:srgbClr val="000000"/>
                          </a:solidFill>
                          <a:effectLst/>
                          <a:latin typeface="Calibri"/>
                        </a:rPr>
                        <a:t>CAPEX</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50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-25</a:t>
                      </a:r>
                    </a:p>
                  </a:txBody>
                  <a:tcPr marL="12700" marR="12700" marT="12700" marB="0" anchor="b">
                    <a:lnL>
                      <a:noFill/>
                    </a:lnL>
                    <a:lnR>
                      <a:noFill/>
                    </a:lnR>
                    <a:lnT>
                      <a:noFill/>
                    </a:lnT>
                    <a:lnB>
                      <a:noFill/>
                    </a:lnB>
                    <a:solidFill>
                      <a:schemeClr val="accent2">
                        <a:lumMod val="60000"/>
                        <a:lumOff val="4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tc>
                  <a:txBody>
                    <a:bodyPr/>
                    <a:lstStyle/>
                    <a:p>
                      <a:pPr algn="ctr" fontAlgn="b"/>
                      <a:r>
                        <a:rPr lang="es-ES" sz="1600" b="0" i="0" u="none" strike="noStrike" dirty="0">
                          <a:solidFill>
                            <a:srgbClr val="000000"/>
                          </a:solidFill>
                          <a:effectLst/>
                          <a:latin typeface="Calibri"/>
                        </a:rPr>
                        <a:t>0</a:t>
                      </a:r>
                    </a:p>
                  </a:txBody>
                  <a:tcPr marL="12700" marR="12700" marT="12700" marB="0" anchor="b">
                    <a:lnL>
                      <a:noFill/>
                    </a:lnL>
                    <a:lnR>
                      <a:noFill/>
                    </a:lnR>
                    <a:lnT>
                      <a:noFill/>
                    </a:lnT>
                    <a:lnB>
                      <a:noFill/>
                    </a:lnB>
                    <a:solidFill>
                      <a:schemeClr val="bg2">
                        <a:lumMod val="90000"/>
                      </a:schemeClr>
                    </a:solidFill>
                  </a:tcPr>
                </a:tc>
                <a:extLst>
                  <a:ext uri="{0D108BD9-81ED-4DB2-BD59-A6C34878D82A}">
                    <a16:rowId xmlns:a16="http://schemas.microsoft.com/office/drawing/2014/main" val="979675710"/>
                  </a:ext>
                </a:extLst>
              </a:tr>
              <a:tr h="254000">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endParaRPr lang="es-ES" sz="1600" b="0" i="0" u="none" strike="noStrike" dirty="0">
                        <a:solidFill>
                          <a:srgbClr val="000000"/>
                        </a:solidFill>
                        <a:effectLst/>
                        <a:latin typeface="Calibri"/>
                      </a:endParaRPr>
                    </a:p>
                  </a:txBody>
                  <a:tcPr marL="12700" marR="12700" marT="12700" marB="0" anchor="b">
                    <a:lnL>
                      <a:noFill/>
                    </a:lnL>
                    <a:lnR>
                      <a:noFill/>
                    </a:lnR>
                    <a:lnT>
                      <a:noFill/>
                    </a:lnT>
                    <a:lnB>
                      <a:noFill/>
                    </a:lnB>
                  </a:tcPr>
                </a:tc>
                <a:extLst>
                  <a:ext uri="{0D108BD9-81ED-4DB2-BD59-A6C34878D82A}">
                    <a16:rowId xmlns:a16="http://schemas.microsoft.com/office/drawing/2014/main" val="1492794191"/>
                  </a:ext>
                </a:extLst>
              </a:tr>
            </a:tbl>
          </a:graphicData>
        </a:graphic>
      </p:graphicFrame>
      <p:sp>
        <p:nvSpPr>
          <p:cNvPr id="7" name="Marcador de contenido 2">
            <a:extLst>
              <a:ext uri="{FF2B5EF4-FFF2-40B4-BE49-F238E27FC236}">
                <a16:creationId xmlns:a16="http://schemas.microsoft.com/office/drawing/2014/main" id="{C0A7A970-69D4-26E4-D1BC-A55F795266E3}"/>
              </a:ext>
            </a:extLst>
          </p:cNvPr>
          <p:cNvSpPr txBox="1">
            <a:spLocks/>
          </p:cNvSpPr>
          <p:nvPr/>
        </p:nvSpPr>
        <p:spPr>
          <a:xfrm>
            <a:off x="581190" y="3201986"/>
            <a:ext cx="10878718" cy="798567"/>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s-ES" sz="1600" dirty="0">
                <a:solidFill>
                  <a:schemeClr val="accent1"/>
                </a:solidFill>
                <a:latin typeface="Century Gothic" panose="020B0502020202020204" pitchFamily="34" charset="0"/>
              </a:rPr>
              <a:t>∆ </a:t>
            </a:r>
            <a:r>
              <a:rPr lang="es-ES" sz="1600" b="1" dirty="0">
                <a:solidFill>
                  <a:schemeClr val="accent1"/>
                </a:solidFill>
                <a:latin typeface="Century Gothic"/>
              </a:rPr>
              <a:t>CAPEX </a:t>
            </a:r>
            <a:r>
              <a:rPr lang="es-ES" sz="1600" dirty="0">
                <a:solidFill>
                  <a:schemeClr val="accent1"/>
                </a:solidFill>
                <a:latin typeface="Century Gothic"/>
              </a:rPr>
              <a:t>= COMPRA DE PPE E INTANGIBLES - VENTA DE PPE E INTANGIBLES</a:t>
            </a:r>
          </a:p>
          <a:p>
            <a:pPr marL="0" indent="0" algn="ctr">
              <a:buNone/>
            </a:pPr>
            <a:r>
              <a:rPr lang="es-ES" sz="1600" dirty="0">
                <a:solidFill>
                  <a:schemeClr val="accent1"/>
                </a:solidFill>
                <a:latin typeface="Century Gothic" panose="020B0502020202020204" pitchFamily="34" charset="0"/>
              </a:rPr>
              <a:t>∆ </a:t>
            </a:r>
            <a:r>
              <a:rPr lang="es-ES" sz="1600" b="1" dirty="0">
                <a:solidFill>
                  <a:schemeClr val="accent1"/>
                </a:solidFill>
                <a:latin typeface="Century Gothic"/>
              </a:rPr>
              <a:t>CAPEX </a:t>
            </a:r>
            <a:r>
              <a:rPr lang="es-ES" sz="1600" dirty="0">
                <a:solidFill>
                  <a:schemeClr val="accent1"/>
                </a:solidFill>
                <a:latin typeface="Century Gothic"/>
              </a:rPr>
              <a:t>= 0 – 25 = – 25</a:t>
            </a:r>
          </a:p>
          <a:p>
            <a:pPr marL="0" indent="0" algn="ctr">
              <a:buNone/>
            </a:pPr>
            <a:r>
              <a:rPr lang="es-ES" sz="1600" dirty="0">
                <a:solidFill>
                  <a:schemeClr val="accent1"/>
                </a:solidFill>
                <a:latin typeface="Century Gothic" panose="020B0502020202020204" pitchFamily="34" charset="0"/>
              </a:rPr>
              <a:t>(+/-) G/P Ocasional = (Valor Venta - Valor en libros (antes de la venta)) = (25 – 30) = – 5</a:t>
            </a:r>
          </a:p>
          <a:p>
            <a:pPr marL="0" indent="0" algn="ctr">
              <a:buFont typeface="Wingdings 2" panose="05020102010507070707" pitchFamily="18" charset="2"/>
              <a:buNone/>
            </a:pPr>
            <a:endParaRPr lang="fr-FR" sz="1600" dirty="0">
              <a:solidFill>
                <a:schemeClr val="accent1"/>
              </a:solidFill>
              <a:latin typeface="Century Gothic" panose="020B0502020202020204" pitchFamily="34" charset="0"/>
            </a:endParaRPr>
          </a:p>
          <a:p>
            <a:pPr marL="0" indent="0" algn="ctr">
              <a:buFont typeface="Wingdings 2" panose="05020102010507070707" pitchFamily="18" charset="2"/>
              <a:buNone/>
            </a:pPr>
            <a:endParaRPr lang="es-ES" sz="1600" dirty="0">
              <a:solidFill>
                <a:schemeClr val="accent1"/>
              </a:solidFill>
              <a:latin typeface="Century Gothic" panose="020B0502020202020204" pitchFamily="34" charset="0"/>
            </a:endParaRPr>
          </a:p>
        </p:txBody>
      </p:sp>
      <p:sp>
        <p:nvSpPr>
          <p:cNvPr id="10" name="Marcador de contenido 2">
            <a:extLst>
              <a:ext uri="{FF2B5EF4-FFF2-40B4-BE49-F238E27FC236}">
                <a16:creationId xmlns:a16="http://schemas.microsoft.com/office/drawing/2014/main" id="{80F5C277-9D08-9DB9-2900-5AF336ADB14F}"/>
              </a:ext>
            </a:extLst>
          </p:cNvPr>
          <p:cNvSpPr txBox="1">
            <a:spLocks/>
          </p:cNvSpPr>
          <p:nvPr/>
        </p:nvSpPr>
        <p:spPr>
          <a:xfrm>
            <a:off x="613083" y="1847657"/>
            <a:ext cx="10878718" cy="798567"/>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sz="2000" b="1" dirty="0">
                <a:solidFill>
                  <a:srgbClr val="C00000"/>
                </a:solidFill>
                <a:latin typeface="Century Gothic" panose="020B0502020202020204" pitchFamily="34" charset="0"/>
              </a:rPr>
              <a:t>Ejemplo 5: </a:t>
            </a:r>
            <a:r>
              <a:rPr lang="es-ES" dirty="0">
                <a:solidFill>
                  <a:schemeClr val="accent1"/>
                </a:solidFill>
                <a:latin typeface="Century Gothic" panose="020B0502020202020204" pitchFamily="34" charset="0"/>
              </a:rPr>
              <a:t>¿Cómo será el registro en el Flujo de Caja Libre (FCL) si la venta en activos en el periodo 2 fue de 25?</a:t>
            </a:r>
          </a:p>
        </p:txBody>
      </p:sp>
    </p:spTree>
    <p:extLst>
      <p:ext uri="{BB962C8B-B14F-4D97-AF65-F5344CB8AC3E}">
        <p14:creationId xmlns:p14="http://schemas.microsoft.com/office/powerpoint/2010/main" val="19975517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CE8B-4527-004C-71A5-E2CAC904F3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DC6C9D-AC3A-0DF8-7DD5-99C1FD7315C1}"/>
              </a:ext>
            </a:extLst>
          </p:cNvPr>
          <p:cNvSpPr>
            <a:spLocks noGrp="1"/>
          </p:cNvSpPr>
          <p:nvPr>
            <p:ph type="title"/>
          </p:nvPr>
        </p:nvSpPr>
        <p:spPr/>
        <p:txBody>
          <a:bodyPr/>
          <a:lstStyle/>
          <a:p>
            <a:r>
              <a:rPr lang="es-ES" dirty="0">
                <a:latin typeface="Century Gothic"/>
              </a:rPr>
              <a:t>IMPUESTO OCASIONAL</a:t>
            </a:r>
          </a:p>
        </p:txBody>
      </p:sp>
      <p:sp>
        <p:nvSpPr>
          <p:cNvPr id="4" name="Marcador de número de diapositiva 3">
            <a:extLst>
              <a:ext uri="{FF2B5EF4-FFF2-40B4-BE49-F238E27FC236}">
                <a16:creationId xmlns:a16="http://schemas.microsoft.com/office/drawing/2014/main" id="{EEE9584E-F6E3-FFB0-680D-76BCC1C7BE1A}"/>
              </a:ext>
            </a:extLst>
          </p:cNvPr>
          <p:cNvSpPr>
            <a:spLocks noGrp="1"/>
          </p:cNvSpPr>
          <p:nvPr>
            <p:ph type="sldNum" sz="quarter" idx="12"/>
          </p:nvPr>
        </p:nvSpPr>
        <p:spPr/>
        <p:txBody>
          <a:bodyPr/>
          <a:lstStyle/>
          <a:p>
            <a:fld id="{5E3E23BA-6E79-2442-BA73-D218A5E297C3}" type="slidenum">
              <a:rPr lang="en-US" smtClean="0"/>
              <a:t>50</a:t>
            </a:fld>
            <a:endParaRPr lang="en-US"/>
          </a:p>
        </p:txBody>
      </p:sp>
      <p:sp>
        <p:nvSpPr>
          <p:cNvPr id="3" name="Rectángulo 2">
            <a:extLst>
              <a:ext uri="{FF2B5EF4-FFF2-40B4-BE49-F238E27FC236}">
                <a16:creationId xmlns:a16="http://schemas.microsoft.com/office/drawing/2014/main" id="{90CD6E48-03D1-6E5E-64F6-DCDEC12D17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3384194-81E0-885F-594E-E030F2B5C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700D135-10DD-C7D7-1580-0B7D0DBCFC1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6B227918-73FC-3CE9-AC3F-4B8337BDA124}"/>
              </a:ext>
            </a:extLst>
          </p:cNvPr>
          <p:cNvSpPr/>
          <p:nvPr/>
        </p:nvSpPr>
        <p:spPr>
          <a:xfrm>
            <a:off x="2877784" y="5969242"/>
            <a:ext cx="5019715" cy="294900"/>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CuadroTexto 7">
            <a:extLst>
              <a:ext uri="{FF2B5EF4-FFF2-40B4-BE49-F238E27FC236}">
                <a16:creationId xmlns:a16="http://schemas.microsoft.com/office/drawing/2014/main" id="{CCA1BCAF-C543-7A26-D185-92B2F387AE36}"/>
              </a:ext>
            </a:extLst>
          </p:cNvPr>
          <p:cNvSpPr txBox="1"/>
          <p:nvPr/>
        </p:nvSpPr>
        <p:spPr>
          <a:xfrm>
            <a:off x="7105091" y="3572844"/>
            <a:ext cx="5021980" cy="584775"/>
          </a:xfrm>
          <a:prstGeom prst="rect">
            <a:avLst/>
          </a:prstGeom>
          <a:noFill/>
        </p:spPr>
        <p:txBody>
          <a:bodyPr wrap="square" rtlCol="0">
            <a:spAutoFit/>
          </a:bodyPr>
          <a:lstStyle/>
          <a:p>
            <a:r>
              <a:rPr lang="es-CO" sz="1600" b="1" dirty="0">
                <a:solidFill>
                  <a:schemeClr val="accent1"/>
                </a:solidFill>
                <a:latin typeface="Century Gothic" panose="020B0502020202020204" pitchFamily="34" charset="0"/>
              </a:rPr>
              <a:t>Impuesto G/P Ocasional</a:t>
            </a:r>
            <a:r>
              <a:rPr lang="es-CO" sz="1600" dirty="0">
                <a:solidFill>
                  <a:schemeClr val="accent1"/>
                </a:solidFill>
                <a:latin typeface="Century Gothic" panose="020B0502020202020204" pitchFamily="34" charset="0"/>
              </a:rPr>
              <a:t> </a:t>
            </a:r>
          </a:p>
          <a:p>
            <a:r>
              <a:rPr lang="es-CO" sz="1600" dirty="0">
                <a:solidFill>
                  <a:schemeClr val="accent1"/>
                </a:solidFill>
                <a:latin typeface="Century Gothic" panose="020B0502020202020204" pitchFamily="34" charset="0"/>
              </a:rPr>
              <a:t>(Valor Venta - Valor en libros)</a:t>
            </a:r>
            <a:r>
              <a:rPr lang="es-ES" sz="1600" dirty="0">
                <a:solidFill>
                  <a:schemeClr val="accent1"/>
                </a:solidFill>
                <a:latin typeface="Century Gothic" panose="020B0502020202020204" pitchFamily="34" charset="0"/>
                <a:sym typeface="Arial" charset="0"/>
              </a:rPr>
              <a:t> • </a:t>
            </a:r>
            <a:r>
              <a:rPr lang="es-CO" sz="1600" dirty="0">
                <a:solidFill>
                  <a:schemeClr val="accent1"/>
                </a:solidFill>
                <a:latin typeface="Century Gothic" panose="020B0502020202020204" pitchFamily="34" charset="0"/>
              </a:rPr>
              <a:t>Tasa Impositiva</a:t>
            </a:r>
          </a:p>
        </p:txBody>
      </p:sp>
      <p:sp>
        <p:nvSpPr>
          <p:cNvPr id="9" name="CuadroTexto 8">
            <a:extLst>
              <a:ext uri="{FF2B5EF4-FFF2-40B4-BE49-F238E27FC236}">
                <a16:creationId xmlns:a16="http://schemas.microsoft.com/office/drawing/2014/main" id="{85247BF0-56D6-9BE0-535A-9397AF685FC6}"/>
              </a:ext>
            </a:extLst>
          </p:cNvPr>
          <p:cNvSpPr txBox="1"/>
          <p:nvPr/>
        </p:nvSpPr>
        <p:spPr>
          <a:xfrm>
            <a:off x="7132596" y="4492892"/>
            <a:ext cx="4830804" cy="338554"/>
          </a:xfrm>
          <a:prstGeom prst="rect">
            <a:avLst/>
          </a:prstGeom>
          <a:noFill/>
        </p:spPr>
        <p:txBody>
          <a:bodyPr wrap="square" rtlCol="0">
            <a:spAutoFit/>
          </a:bodyPr>
          <a:lstStyle/>
          <a:p>
            <a:r>
              <a:rPr lang="es-CO" sz="1600" b="1" dirty="0">
                <a:solidFill>
                  <a:schemeClr val="accent1"/>
                </a:solidFill>
                <a:latin typeface="Century Gothic" panose="020B0502020202020204" pitchFamily="34" charset="0"/>
              </a:rPr>
              <a:t>Impuesto G/P Ocasional </a:t>
            </a:r>
            <a:r>
              <a:rPr lang="es-CO" sz="1600" dirty="0">
                <a:solidFill>
                  <a:schemeClr val="accent1"/>
                </a:solidFill>
                <a:latin typeface="Century Gothic" panose="020B0502020202020204" pitchFamily="34" charset="0"/>
              </a:rPr>
              <a:t>= (25-30)</a:t>
            </a:r>
            <a:r>
              <a:rPr lang="es-ES" sz="1600" dirty="0">
                <a:solidFill>
                  <a:schemeClr val="accent1"/>
                </a:solidFill>
                <a:latin typeface="Century Gothic" panose="020B0502020202020204" pitchFamily="34" charset="0"/>
                <a:sym typeface="Arial" charset="0"/>
              </a:rPr>
              <a:t> • </a:t>
            </a:r>
            <a:r>
              <a:rPr lang="es-CO" sz="1600" dirty="0">
                <a:solidFill>
                  <a:schemeClr val="accent1"/>
                </a:solidFill>
                <a:latin typeface="Century Gothic" panose="020B0502020202020204" pitchFamily="34" charset="0"/>
              </a:rPr>
              <a:t>30% = -1,5</a:t>
            </a:r>
          </a:p>
        </p:txBody>
      </p:sp>
      <p:grpSp>
        <p:nvGrpSpPr>
          <p:cNvPr id="10" name="Grupo 9">
            <a:extLst>
              <a:ext uri="{FF2B5EF4-FFF2-40B4-BE49-F238E27FC236}">
                <a16:creationId xmlns:a16="http://schemas.microsoft.com/office/drawing/2014/main" id="{ED46790F-F5A0-FF64-EF05-10EDCEF36137}"/>
              </a:ext>
            </a:extLst>
          </p:cNvPr>
          <p:cNvGrpSpPr/>
          <p:nvPr/>
        </p:nvGrpSpPr>
        <p:grpSpPr>
          <a:xfrm>
            <a:off x="2098653" y="1905759"/>
            <a:ext cx="6015174" cy="2206595"/>
            <a:chOff x="1804678" y="1905759"/>
            <a:chExt cx="5403850" cy="2206595"/>
          </a:xfrm>
        </p:grpSpPr>
        <p:sp>
          <p:nvSpPr>
            <p:cNvPr id="11" name="AutoShape 12">
              <a:extLst>
                <a:ext uri="{FF2B5EF4-FFF2-40B4-BE49-F238E27FC236}">
                  <a16:creationId xmlns:a16="http://schemas.microsoft.com/office/drawing/2014/main" id="{120A2B0B-062F-7159-CA4B-64F82DE580E0}"/>
                </a:ext>
              </a:extLst>
            </p:cNvPr>
            <p:cNvSpPr>
              <a:spLocks/>
            </p:cNvSpPr>
            <p:nvPr/>
          </p:nvSpPr>
          <p:spPr bwMode="auto">
            <a:xfrm>
              <a:off x="1804678" y="1905759"/>
              <a:ext cx="5403850"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lnSpc>
                  <a:spcPct val="120000"/>
                </a:lnSpc>
              </a:pPr>
              <a:endParaRPr lang="es-ES" sz="900" dirty="0">
                <a:cs typeface="Arial" charset="0"/>
                <a:sym typeface="Arial" charset="0"/>
              </a:endParaRPr>
            </a:p>
            <a:p>
              <a:pPr lvl="1">
                <a:lnSpc>
                  <a:spcPct val="120000"/>
                </a:lnSpc>
              </a:pPr>
              <a:r>
                <a:rPr lang="es-ES" sz="2000" dirty="0">
                  <a:cs typeface="Arial" charset="0"/>
                  <a:sym typeface="Arial" charset="0"/>
                </a:rPr>
                <a:t>(+) Ingresos</a:t>
              </a:r>
            </a:p>
            <a:p>
              <a:pPr lvl="1">
                <a:lnSpc>
                  <a:spcPct val="120000"/>
                </a:lnSpc>
              </a:pPr>
              <a:r>
                <a:rPr lang="es-ES" sz="2000" dirty="0">
                  <a:cs typeface="Arial" charset="0"/>
                  <a:sym typeface="Arial" charset="0"/>
                </a:rPr>
                <a:t>(-)  Costos de Venta</a:t>
              </a:r>
            </a:p>
            <a:p>
              <a:pPr lvl="1">
                <a:lnSpc>
                  <a:spcPct val="120000"/>
                </a:lnSpc>
              </a:pPr>
              <a:endParaRPr lang="es-ES" sz="400" b="1" dirty="0">
                <a:solidFill>
                  <a:srgbClr val="C00000"/>
                </a:solidFill>
                <a:cs typeface="Arial" charset="0"/>
                <a:sym typeface="Arial" charset="0"/>
              </a:endParaRPr>
            </a:p>
            <a:p>
              <a:pPr lvl="1">
                <a:lnSpc>
                  <a:spcPct val="120000"/>
                </a:lnSpc>
              </a:pPr>
              <a:r>
                <a:rPr lang="es-ES" sz="2000" b="1" dirty="0">
                  <a:solidFill>
                    <a:srgbClr val="C00000"/>
                  </a:solidFill>
                  <a:cs typeface="Arial" charset="0"/>
                  <a:sym typeface="Arial" charset="0"/>
                </a:rPr>
                <a:t>      Utilidad Bruta</a:t>
              </a:r>
            </a:p>
            <a:p>
              <a:pPr lvl="1">
                <a:lnSpc>
                  <a:spcPct val="120000"/>
                </a:lnSpc>
              </a:pPr>
              <a:r>
                <a:rPr lang="es-ES" sz="2000" dirty="0">
                  <a:cs typeface="Arial" charset="0"/>
                  <a:sym typeface="Arial" charset="0"/>
                </a:rPr>
                <a:t>(-)  Gastos AOM</a:t>
              </a:r>
            </a:p>
            <a:p>
              <a:pPr lvl="1">
                <a:lnSpc>
                  <a:spcPct val="120000"/>
                </a:lnSpc>
              </a:pPr>
              <a:r>
                <a:rPr lang="es-ES" sz="2000" dirty="0">
                  <a:cs typeface="Arial" charset="0"/>
                  <a:sym typeface="Arial" charset="0"/>
                </a:rPr>
                <a:t>(-)  Depreciaciones &amp; Amortizaciones</a:t>
              </a:r>
            </a:p>
            <a:p>
              <a:pPr lvl="1">
                <a:lnSpc>
                  <a:spcPct val="120000"/>
                </a:lnSpc>
              </a:pPr>
              <a:r>
                <a:rPr lang="es-ES" sz="2000" b="1" dirty="0">
                  <a:solidFill>
                    <a:srgbClr val="C00000"/>
                  </a:solidFill>
                  <a:cs typeface="Arial" charset="0"/>
                  <a:sym typeface="Arial" charset="0"/>
                </a:rPr>
                <a:t>      EBIT (UAII)</a:t>
              </a:r>
              <a:endParaRPr lang="es-ES" sz="2000" dirty="0">
                <a:solidFill>
                  <a:srgbClr val="C00000"/>
                </a:solidFill>
                <a:cs typeface="Arial" charset="0"/>
                <a:sym typeface="Arial" charset="0"/>
              </a:endParaRPr>
            </a:p>
            <a:p>
              <a:pPr lvl="1">
                <a:lnSpc>
                  <a:spcPct val="120000"/>
                </a:lnSpc>
              </a:pPr>
              <a:endParaRPr lang="es-ES" sz="2000" dirty="0">
                <a:cs typeface="Arial" charset="0"/>
                <a:sym typeface="Arial" charset="0"/>
              </a:endParaRPr>
            </a:p>
          </p:txBody>
        </p:sp>
        <p:sp>
          <p:nvSpPr>
            <p:cNvPr id="12" name="Line 14">
              <a:extLst>
                <a:ext uri="{FF2B5EF4-FFF2-40B4-BE49-F238E27FC236}">
                  <a16:creationId xmlns:a16="http://schemas.microsoft.com/office/drawing/2014/main" id="{C1D7BF3A-4E2F-C11A-B5F9-09B43C3AF8B7}"/>
                </a:ext>
              </a:extLst>
            </p:cNvPr>
            <p:cNvSpPr>
              <a:spLocks noChangeShapeType="1"/>
            </p:cNvSpPr>
            <p:nvPr/>
          </p:nvSpPr>
          <p:spPr bwMode="auto">
            <a:xfrm flipV="1">
              <a:off x="2284104" y="2843228"/>
              <a:ext cx="3640132" cy="44285"/>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sp>
          <p:nvSpPr>
            <p:cNvPr id="13" name="Line 15">
              <a:extLst>
                <a:ext uri="{FF2B5EF4-FFF2-40B4-BE49-F238E27FC236}">
                  <a16:creationId xmlns:a16="http://schemas.microsoft.com/office/drawing/2014/main" id="{C15ABB9C-63A3-5BE7-0590-2B83C2028F11}"/>
                </a:ext>
              </a:extLst>
            </p:cNvPr>
            <p:cNvSpPr>
              <a:spLocks noChangeShapeType="1"/>
            </p:cNvSpPr>
            <p:nvPr/>
          </p:nvSpPr>
          <p:spPr bwMode="auto">
            <a:xfrm flipV="1">
              <a:off x="2320446" y="4011003"/>
              <a:ext cx="3602032" cy="2594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dirty="0">
                <a:latin typeface="Helvetica" charset="0"/>
                <a:cs typeface="Helvetica" charset="0"/>
                <a:sym typeface="Helvetica" charset="0"/>
              </a:endParaRPr>
            </a:p>
          </p:txBody>
        </p:sp>
      </p:grpSp>
      <p:grpSp>
        <p:nvGrpSpPr>
          <p:cNvPr id="14" name="Grupo 13">
            <a:extLst>
              <a:ext uri="{FF2B5EF4-FFF2-40B4-BE49-F238E27FC236}">
                <a16:creationId xmlns:a16="http://schemas.microsoft.com/office/drawing/2014/main" id="{0A566FF4-484B-0047-4601-A301B546F990}"/>
              </a:ext>
            </a:extLst>
          </p:cNvPr>
          <p:cNvGrpSpPr/>
          <p:nvPr/>
        </p:nvGrpSpPr>
        <p:grpSpPr>
          <a:xfrm>
            <a:off x="2427186" y="3970488"/>
            <a:ext cx="5770018" cy="2383645"/>
            <a:chOff x="2133211" y="3970488"/>
            <a:chExt cx="5770018" cy="2383645"/>
          </a:xfrm>
        </p:grpSpPr>
        <p:sp>
          <p:nvSpPr>
            <p:cNvPr id="15" name="AutoShape 1">
              <a:extLst>
                <a:ext uri="{FF2B5EF4-FFF2-40B4-BE49-F238E27FC236}">
                  <a16:creationId xmlns:a16="http://schemas.microsoft.com/office/drawing/2014/main" id="{6379F47B-EC9F-9CE8-3810-621FF9CFB2F7}"/>
                </a:ext>
              </a:extLst>
            </p:cNvPr>
            <p:cNvSpPr>
              <a:spLocks/>
            </p:cNvSpPr>
            <p:nvPr/>
          </p:nvSpPr>
          <p:spPr bwMode="auto">
            <a:xfrm>
              <a:off x="2133211" y="3970488"/>
              <a:ext cx="5770018" cy="22065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nchor="t"/>
            <a:lstStyle/>
            <a:p>
              <a:pPr lvl="1"/>
              <a:endParaRPr lang="es-ES" sz="300" dirty="0">
                <a:solidFill>
                  <a:schemeClr val="accent1"/>
                </a:solidFill>
                <a:cs typeface="Arial" charset="0"/>
                <a:sym typeface="Arial" charset="0"/>
              </a:endParaRPr>
            </a:p>
            <a:p>
              <a:r>
                <a:rPr lang="es-ES" sz="2000" dirty="0">
                  <a:cs typeface="Arial" charset="0"/>
                  <a:sym typeface="Arial" charset="0"/>
                </a:rPr>
                <a:t>     </a:t>
              </a:r>
            </a:p>
            <a:p>
              <a:r>
                <a:rPr lang="es-ES" sz="2000" dirty="0">
                  <a:cs typeface="Arial" charset="0"/>
                  <a:sym typeface="Arial" charset="0"/>
                </a:rPr>
                <a:t>       (+) Depreciaciones &amp; Amortizaciones</a:t>
              </a:r>
            </a:p>
            <a:p>
              <a:endParaRPr lang="es-ES" sz="100" dirty="0">
                <a:solidFill>
                  <a:schemeClr val="accent1"/>
                </a:solidFill>
                <a:cs typeface="Arial" charset="0"/>
                <a:sym typeface="Arial" charset="0"/>
              </a:endParaRPr>
            </a:p>
            <a:p>
              <a:r>
                <a:rPr lang="es-ES" sz="2000" dirty="0">
                  <a:solidFill>
                    <a:schemeClr val="accent1"/>
                  </a:solidFill>
                  <a:cs typeface="Arial" charset="0"/>
                  <a:sym typeface="Arial" charset="0"/>
                </a:rPr>
                <a:t>        </a:t>
              </a:r>
              <a:r>
                <a:rPr lang="es-ES" sz="2000" b="1" dirty="0">
                  <a:solidFill>
                    <a:srgbClr val="C00000"/>
                  </a:solidFill>
                  <a:cs typeface="Arial" charset="0"/>
                  <a:sym typeface="Arial" charset="0"/>
                </a:rPr>
                <a:t>EBITDA</a:t>
              </a:r>
              <a:endParaRPr lang="es-ES" sz="2000" dirty="0">
                <a:solidFill>
                  <a:srgbClr val="C00000"/>
                </a:solidFill>
                <a:cs typeface="Arial" charset="0"/>
                <a:sym typeface="Arial" charset="0"/>
              </a:endParaRPr>
            </a:p>
            <a:p>
              <a:endParaRPr lang="es-ES" sz="400" dirty="0">
                <a:cs typeface="Arial" charset="0"/>
                <a:sym typeface="Arial" charset="0"/>
              </a:endParaRPr>
            </a:p>
            <a:p>
              <a:r>
                <a:rPr lang="es-ES" sz="2000" dirty="0">
                  <a:cs typeface="Arial" charset="0"/>
                  <a:sym typeface="Arial" charset="0"/>
                </a:rPr>
                <a:t>       (-)  Variación en WK</a:t>
              </a:r>
            </a:p>
            <a:p>
              <a:r>
                <a:rPr lang="es-ES" sz="2000" dirty="0">
                  <a:cs typeface="Arial"/>
                  <a:sym typeface="Arial" charset="0"/>
                </a:rPr>
                <a:t>       (-)  </a:t>
              </a:r>
              <a:r>
                <a:rPr lang="es-ES" sz="2000" dirty="0">
                  <a:cs typeface="Arial" charset="0"/>
                  <a:sym typeface="Arial" charset="0"/>
                </a:rPr>
                <a:t>Variación de PPE e Intangibles</a:t>
              </a:r>
              <a:r>
                <a:rPr lang="es-ES" sz="2000" dirty="0">
                  <a:cs typeface="Arial"/>
                  <a:sym typeface="Arial" charset="0"/>
                </a:rPr>
                <a:t> (CAPEX)</a:t>
              </a:r>
              <a:endParaRPr lang="es-ES" sz="2000" dirty="0">
                <a:cs typeface="Arial"/>
              </a:endParaRPr>
            </a:p>
            <a:p>
              <a:r>
                <a:rPr lang="es-ES" sz="2000" dirty="0">
                  <a:cs typeface="Arial"/>
                  <a:sym typeface="Arial" charset="0"/>
                </a:rPr>
                <a:t>       (-)  Impuesto Operacional (EBIT • Tasa Imp)</a:t>
              </a:r>
              <a:br>
                <a:rPr lang="es-ES" sz="2000" dirty="0">
                  <a:cs typeface="Arial" charset="0"/>
                </a:rPr>
              </a:br>
              <a:r>
                <a:rPr lang="es-ES" sz="2000" dirty="0">
                  <a:cs typeface="Arial"/>
                  <a:sym typeface="Arial" charset="0"/>
                </a:rPr>
                <a:t>       (-)  Impuesto por Ganancia/Pérdida Ocasional</a:t>
              </a:r>
              <a:endParaRPr lang="es-ES" sz="2000" dirty="0">
                <a:cs typeface="Arial"/>
              </a:endParaRPr>
            </a:p>
            <a:p>
              <a:endParaRPr lang="es-ES" sz="900" dirty="0">
                <a:solidFill>
                  <a:schemeClr val="accent1"/>
                </a:solidFill>
                <a:cs typeface="Arial" charset="0"/>
                <a:sym typeface="Arial" charset="0"/>
              </a:endParaRPr>
            </a:p>
            <a:p>
              <a:r>
                <a:rPr lang="es-ES" sz="2000" b="1" dirty="0">
                  <a:solidFill>
                    <a:schemeClr val="accent1"/>
                  </a:solidFill>
                  <a:cs typeface="Arial" charset="0"/>
                  <a:sym typeface="Arial" charset="0"/>
                </a:rPr>
                <a:t>        </a:t>
              </a:r>
              <a:r>
                <a:rPr lang="es-ES" sz="2000" b="1" dirty="0">
                  <a:solidFill>
                    <a:srgbClr val="C00000"/>
                  </a:solidFill>
                  <a:cs typeface="Arial" charset="0"/>
                  <a:sym typeface="Arial" charset="0"/>
                </a:rPr>
                <a:t>Flujo de Caja Libre (FCL)</a:t>
              </a:r>
            </a:p>
          </p:txBody>
        </p:sp>
        <p:sp>
          <p:nvSpPr>
            <p:cNvPr id="16" name="Line 2">
              <a:extLst>
                <a:ext uri="{FF2B5EF4-FFF2-40B4-BE49-F238E27FC236}">
                  <a16:creationId xmlns:a16="http://schemas.microsoft.com/office/drawing/2014/main" id="{1D8F477B-B13F-8C0E-5B31-5FCFEA8A0869}"/>
                </a:ext>
              </a:extLst>
            </p:cNvPr>
            <p:cNvSpPr>
              <a:spLocks noChangeShapeType="1"/>
            </p:cNvSpPr>
            <p:nvPr/>
          </p:nvSpPr>
          <p:spPr bwMode="auto">
            <a:xfrm flipV="1">
              <a:off x="2407281" y="5037125"/>
              <a:ext cx="398103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sp>
          <p:nvSpPr>
            <p:cNvPr id="17" name="Line 3">
              <a:extLst>
                <a:ext uri="{FF2B5EF4-FFF2-40B4-BE49-F238E27FC236}">
                  <a16:creationId xmlns:a16="http://schemas.microsoft.com/office/drawing/2014/main" id="{CBDE7248-9B7E-3622-57E0-6F757C9EAEBB}"/>
                </a:ext>
              </a:extLst>
            </p:cNvPr>
            <p:cNvSpPr>
              <a:spLocks noChangeShapeType="1"/>
            </p:cNvSpPr>
            <p:nvPr/>
          </p:nvSpPr>
          <p:spPr bwMode="auto">
            <a:xfrm>
              <a:off x="2384111" y="6341435"/>
              <a:ext cx="4004204" cy="12698"/>
            </a:xfrm>
            <a:prstGeom prst="line">
              <a:avLst/>
            </a:prstGeom>
            <a:noFill/>
            <a:ln w="25400" cap="flat" cmpd="sng">
              <a:solidFill>
                <a:srgbClr val="4F81BD"/>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600">
                <a:latin typeface="Helvetica" charset="0"/>
                <a:cs typeface="Helvetica" charset="0"/>
                <a:sym typeface="Helvetica" charset="0"/>
              </a:endParaRPr>
            </a:p>
          </p:txBody>
        </p:sp>
      </p:grpSp>
      <p:sp>
        <p:nvSpPr>
          <p:cNvPr id="18" name="Abrir llave 17">
            <a:extLst>
              <a:ext uri="{FF2B5EF4-FFF2-40B4-BE49-F238E27FC236}">
                <a16:creationId xmlns:a16="http://schemas.microsoft.com/office/drawing/2014/main" id="{DD22DDE3-4813-92D5-4D0F-4A96D5FECA50}"/>
              </a:ext>
            </a:extLst>
          </p:cNvPr>
          <p:cNvSpPr/>
          <p:nvPr/>
        </p:nvSpPr>
        <p:spPr>
          <a:xfrm>
            <a:off x="2372723" y="2219217"/>
            <a:ext cx="205356" cy="2160079"/>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19" name="CuadroTexto 18">
            <a:extLst>
              <a:ext uri="{FF2B5EF4-FFF2-40B4-BE49-F238E27FC236}">
                <a16:creationId xmlns:a16="http://schemas.microsoft.com/office/drawing/2014/main" id="{DA18883F-F684-0581-D043-875212346556}"/>
              </a:ext>
            </a:extLst>
          </p:cNvPr>
          <p:cNvSpPr txBox="1"/>
          <p:nvPr/>
        </p:nvSpPr>
        <p:spPr>
          <a:xfrm>
            <a:off x="421298" y="2821557"/>
            <a:ext cx="2005888" cy="646331"/>
          </a:xfrm>
          <a:prstGeom prst="rect">
            <a:avLst/>
          </a:prstGeom>
          <a:noFill/>
        </p:spPr>
        <p:txBody>
          <a:bodyPr wrap="square" rtlCol="0">
            <a:spAutoFit/>
          </a:bodyPr>
          <a:lstStyle/>
          <a:p>
            <a:pPr algn="ctr"/>
            <a:r>
              <a:rPr lang="es-CO" b="1" dirty="0">
                <a:solidFill>
                  <a:schemeClr val="accent1"/>
                </a:solidFill>
                <a:latin typeface="Century Gothic"/>
              </a:rPr>
              <a:t>Estado de Resultados</a:t>
            </a:r>
          </a:p>
        </p:txBody>
      </p:sp>
      <p:sp>
        <p:nvSpPr>
          <p:cNvPr id="20" name="Abrir llave 19">
            <a:extLst>
              <a:ext uri="{FF2B5EF4-FFF2-40B4-BE49-F238E27FC236}">
                <a16:creationId xmlns:a16="http://schemas.microsoft.com/office/drawing/2014/main" id="{B54782E3-658A-4A16-9FB6-6DDAF909C650}"/>
              </a:ext>
            </a:extLst>
          </p:cNvPr>
          <p:cNvSpPr/>
          <p:nvPr/>
        </p:nvSpPr>
        <p:spPr>
          <a:xfrm>
            <a:off x="2358981" y="4438510"/>
            <a:ext cx="219098" cy="1971644"/>
          </a:xfrm>
          <a:prstGeom prst="leftBrace">
            <a:avLst/>
          </a:prstGeom>
          <a:ln w="28575"/>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sz="2400">
              <a:solidFill>
                <a:schemeClr val="accent2">
                  <a:lumMod val="75000"/>
                </a:schemeClr>
              </a:solidFill>
            </a:endParaRPr>
          </a:p>
        </p:txBody>
      </p:sp>
      <p:sp>
        <p:nvSpPr>
          <p:cNvPr id="21" name="CuadroTexto 20">
            <a:extLst>
              <a:ext uri="{FF2B5EF4-FFF2-40B4-BE49-F238E27FC236}">
                <a16:creationId xmlns:a16="http://schemas.microsoft.com/office/drawing/2014/main" id="{37CBCECC-D4C8-9A37-888A-93049FB78D29}"/>
              </a:ext>
            </a:extLst>
          </p:cNvPr>
          <p:cNvSpPr txBox="1"/>
          <p:nvPr/>
        </p:nvSpPr>
        <p:spPr>
          <a:xfrm>
            <a:off x="421298" y="5127274"/>
            <a:ext cx="2005888" cy="646331"/>
          </a:xfrm>
          <a:prstGeom prst="rect">
            <a:avLst/>
          </a:prstGeom>
          <a:noFill/>
        </p:spPr>
        <p:txBody>
          <a:bodyPr wrap="square" rtlCol="0">
            <a:spAutoFit/>
          </a:bodyPr>
          <a:lstStyle/>
          <a:p>
            <a:pPr algn="ctr"/>
            <a:r>
              <a:rPr lang="es-CO" b="1" dirty="0">
                <a:solidFill>
                  <a:schemeClr val="accent1"/>
                </a:solidFill>
                <a:latin typeface="Century Gothic"/>
              </a:rPr>
              <a:t>Flujo de Caja Libre</a:t>
            </a:r>
          </a:p>
        </p:txBody>
      </p:sp>
    </p:spTree>
    <p:extLst>
      <p:ext uri="{BB962C8B-B14F-4D97-AF65-F5344CB8AC3E}">
        <p14:creationId xmlns:p14="http://schemas.microsoft.com/office/powerpoint/2010/main" val="343250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DBC2-73CA-37F8-925E-55539159B9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A8FD73-38AB-8ADC-54CD-F77B8DA1BFBA}"/>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25447C17-3F47-70EB-0062-26CE5BBF44B4}"/>
              </a:ext>
            </a:extLst>
          </p:cNvPr>
          <p:cNvSpPr>
            <a:spLocks noGrp="1"/>
          </p:cNvSpPr>
          <p:nvPr>
            <p:ph type="sldNum" sz="quarter" idx="12"/>
          </p:nvPr>
        </p:nvSpPr>
        <p:spPr/>
        <p:txBody>
          <a:bodyPr/>
          <a:lstStyle/>
          <a:p>
            <a:fld id="{D57F1E4F-1CFF-5643-939E-217C01CDF565}" type="slidenum">
              <a:rPr lang="en-US" sz="1400" b="1" smtClean="0"/>
              <a:pPr/>
              <a:t>51</a:t>
            </a:fld>
            <a:endParaRPr lang="en-US" sz="1400" b="1" dirty="0"/>
          </a:p>
        </p:txBody>
      </p:sp>
      <p:pic>
        <p:nvPicPr>
          <p:cNvPr id="6" name="Picture 6" descr="Resultado de imagen para RELOJ VECTOR">
            <a:extLst>
              <a:ext uri="{FF2B5EF4-FFF2-40B4-BE49-F238E27FC236}">
                <a16:creationId xmlns:a16="http://schemas.microsoft.com/office/drawing/2014/main" id="{35DCD210-92B8-DFD3-61A9-B6F8E57258BB}"/>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A7E34CD-F865-88E6-9D76-6C10E7474634}"/>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Capital de Trabajo en el Estado de la Situación Financiera y en el Estado de Resultados.</a:t>
            </a:r>
            <a:endParaRPr lang="es-ES" sz="1600" dirty="0">
              <a:solidFill>
                <a:schemeClr val="bg2">
                  <a:lumMod val="90000"/>
                </a:schemeClr>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ES" sz="1600" dirty="0">
                <a:solidFill>
                  <a:schemeClr val="bg2">
                    <a:lumMod val="90000"/>
                  </a:schemeClr>
                </a:solidFill>
                <a:latin typeface="Century Gothic"/>
                <a:cs typeface="Arial"/>
              </a:rPr>
              <a:t>Variación de PPE e Intangibles (CAPEX).</a:t>
            </a: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Impuesto Ocasional.</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Valor Terminal. </a:t>
            </a:r>
          </a:p>
          <a:p>
            <a:pPr algn="just">
              <a:buClr>
                <a:srgbClr val="48BE7A"/>
              </a:buClr>
            </a:pPr>
            <a:endParaRPr lang="es-CO" sz="1600" dirty="0">
              <a:solidFill>
                <a:schemeClr val="accent1"/>
              </a:solidFill>
              <a:latin typeface="Century Gothic" panose="020B0502020202020204" pitchFamily="34" charset="0"/>
              <a:cs typeface="Arial"/>
            </a:endParaRPr>
          </a:p>
          <a:p>
            <a:pPr algn="just">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1E243C76-AC17-BF5E-5819-A4A3777D40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09825A5-A1C5-87C0-232D-A71A2A59D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6F2EE49-4BEF-849D-D290-4973F7DBFD1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2273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71F42-33D8-923F-DA83-DF4D4F4D2C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DFE8AC-FF1E-474C-C613-6238DF035A3B}"/>
              </a:ext>
            </a:extLst>
          </p:cNvPr>
          <p:cNvSpPr>
            <a:spLocks noGrp="1"/>
          </p:cNvSpPr>
          <p:nvPr>
            <p:ph type="title"/>
          </p:nvPr>
        </p:nvSpPr>
        <p:spPr/>
        <p:txBody>
          <a:bodyPr/>
          <a:lstStyle/>
          <a:p>
            <a:r>
              <a:rPr lang="es-ES" dirty="0">
                <a:latin typeface="Century Gothic"/>
              </a:rPr>
              <a:t>VALOR TERMINAL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924AC80-BC07-1762-C0A3-4748FD08C674}"/>
                  </a:ext>
                </a:extLst>
              </p:cNvPr>
              <p:cNvSpPr>
                <a:spLocks noGrp="1"/>
              </p:cNvSpPr>
              <p:nvPr>
                <p:ph idx="1"/>
              </p:nvPr>
            </p:nvSpPr>
            <p:spPr>
              <a:xfrm>
                <a:off x="897337" y="1263317"/>
                <a:ext cx="10055553" cy="3417556"/>
              </a:xfrm>
            </p:spPr>
            <p:txBody>
              <a:bodyPr>
                <a:normAutofit/>
              </a:bodyPr>
              <a:lstStyle/>
              <a:p>
                <a:pPr marL="0" indent="0" algn="ctr">
                  <a:buNone/>
                </a:pPr>
                <a:r>
                  <a:rPr lang="es-ES" sz="1600" dirty="0">
                    <a:solidFill>
                      <a:schemeClr val="accent1"/>
                    </a:solidFill>
                    <a:latin typeface="Century Gothic"/>
                  </a:rPr>
                  <a:t>Hasta ahora hemos proyectado el Flujo de Caja Libre año tras año: </a:t>
                </a:r>
                <a14:m>
                  <m:oMath xmlns:m="http://schemas.openxmlformats.org/officeDocument/2006/math">
                    <m:r>
                      <a:rPr lang="es-CO" sz="1600" b="0" i="1" smtClean="0">
                        <a:solidFill>
                          <a:schemeClr val="accent1"/>
                        </a:solidFill>
                        <a:latin typeface="Cambria Math" panose="02040503050406030204" pitchFamily="18" charset="0"/>
                      </a:rPr>
                      <m:t>𝐹𝐶</m:t>
                    </m:r>
                    <m:sSub>
                      <m:sSubPr>
                        <m:ctrlPr>
                          <a:rPr lang="es-CO" sz="1600" b="0" i="1" smtClean="0">
                            <a:solidFill>
                              <a:schemeClr val="accent1"/>
                            </a:solidFill>
                            <a:latin typeface="Cambria Math" panose="02040503050406030204" pitchFamily="18" charset="0"/>
                          </a:rPr>
                        </m:ctrlPr>
                      </m:sSubPr>
                      <m:e>
                        <m:r>
                          <a:rPr lang="es-CO" sz="1600" b="0" i="1" smtClean="0">
                            <a:solidFill>
                              <a:schemeClr val="accent1"/>
                            </a:solidFill>
                            <a:latin typeface="Cambria Math" panose="02040503050406030204" pitchFamily="18" charset="0"/>
                          </a:rPr>
                          <m:t>𝐿</m:t>
                        </m:r>
                      </m:e>
                      <m:sub>
                        <m:r>
                          <a:rPr lang="es-CO" sz="1600" b="0" i="1" smtClean="0">
                            <a:solidFill>
                              <a:schemeClr val="accent1"/>
                            </a:solidFill>
                            <a:latin typeface="Cambria Math" panose="02040503050406030204" pitchFamily="18" charset="0"/>
                          </a:rPr>
                          <m:t>1</m:t>
                        </m:r>
                      </m:sub>
                    </m:sSub>
                    <m:r>
                      <a:rPr lang="es-CO" sz="1600" b="0" i="1" smtClean="0">
                        <a:solidFill>
                          <a:schemeClr val="accent1"/>
                        </a:solidFill>
                        <a:latin typeface="Cambria Math" panose="02040503050406030204" pitchFamily="18" charset="0"/>
                      </a:rPr>
                      <m:t>, </m:t>
                    </m:r>
                    <m:r>
                      <a:rPr lang="es-CO" sz="1600" b="0" i="1" smtClean="0">
                        <a:solidFill>
                          <a:schemeClr val="accent1"/>
                        </a:solidFill>
                        <a:latin typeface="Cambria Math" panose="02040503050406030204" pitchFamily="18" charset="0"/>
                      </a:rPr>
                      <m:t>𝐹𝐶</m:t>
                    </m:r>
                    <m:sSub>
                      <m:sSubPr>
                        <m:ctrlPr>
                          <a:rPr lang="es-CO" sz="1600" b="0" i="1" smtClean="0">
                            <a:solidFill>
                              <a:schemeClr val="accent1"/>
                            </a:solidFill>
                            <a:latin typeface="Cambria Math" panose="02040503050406030204" pitchFamily="18" charset="0"/>
                          </a:rPr>
                        </m:ctrlPr>
                      </m:sSubPr>
                      <m:e>
                        <m:r>
                          <a:rPr lang="es-CO" sz="1600" b="0" i="1" smtClean="0">
                            <a:solidFill>
                              <a:schemeClr val="accent1"/>
                            </a:solidFill>
                            <a:latin typeface="Cambria Math" panose="02040503050406030204" pitchFamily="18" charset="0"/>
                          </a:rPr>
                          <m:t>𝐿</m:t>
                        </m:r>
                      </m:e>
                      <m:sub>
                        <m:r>
                          <a:rPr lang="es-CO" sz="1600" b="0" i="1" smtClean="0">
                            <a:solidFill>
                              <a:schemeClr val="accent1"/>
                            </a:solidFill>
                            <a:latin typeface="Cambria Math" panose="02040503050406030204" pitchFamily="18" charset="0"/>
                          </a:rPr>
                          <m:t>2</m:t>
                        </m:r>
                      </m:sub>
                    </m:sSub>
                    <m:r>
                      <a:rPr lang="es-CO" sz="1600" b="0" i="1" smtClean="0">
                        <a:solidFill>
                          <a:schemeClr val="accent1"/>
                        </a:solidFill>
                        <a:latin typeface="Cambria Math" panose="02040503050406030204" pitchFamily="18" charset="0"/>
                      </a:rPr>
                      <m:t>, …</m:t>
                    </m:r>
                    <m:r>
                      <a:rPr lang="es-CO" sz="1600" b="0" i="1" smtClean="0">
                        <a:solidFill>
                          <a:schemeClr val="accent1"/>
                        </a:solidFill>
                        <a:latin typeface="Cambria Math" panose="02040503050406030204" pitchFamily="18" charset="0"/>
                      </a:rPr>
                      <m:t>𝐹𝐶</m:t>
                    </m:r>
                    <m:sSub>
                      <m:sSubPr>
                        <m:ctrlPr>
                          <a:rPr lang="es-CO" sz="1600" b="0" i="1" smtClean="0">
                            <a:solidFill>
                              <a:schemeClr val="accent1"/>
                            </a:solidFill>
                            <a:latin typeface="Cambria Math" panose="02040503050406030204" pitchFamily="18" charset="0"/>
                          </a:rPr>
                        </m:ctrlPr>
                      </m:sSubPr>
                      <m:e>
                        <m:r>
                          <a:rPr lang="es-CO" sz="1600" b="0" i="1" smtClean="0">
                            <a:solidFill>
                              <a:schemeClr val="accent1"/>
                            </a:solidFill>
                            <a:latin typeface="Cambria Math" panose="02040503050406030204" pitchFamily="18" charset="0"/>
                          </a:rPr>
                          <m:t>𝐿</m:t>
                        </m:r>
                      </m:e>
                      <m:sub>
                        <m:r>
                          <a:rPr lang="es-CO" sz="1600" b="0" i="1" smtClean="0">
                            <a:solidFill>
                              <a:schemeClr val="accent1"/>
                            </a:solidFill>
                            <a:latin typeface="Cambria Math" panose="02040503050406030204" pitchFamily="18" charset="0"/>
                          </a:rPr>
                          <m:t>𝑛</m:t>
                        </m:r>
                      </m:sub>
                    </m:sSub>
                  </m:oMath>
                </a14:m>
                <a:endParaRPr lang="es-ES" sz="1600" dirty="0">
                  <a:solidFill>
                    <a:schemeClr val="accent1"/>
                  </a:solidFill>
                  <a:latin typeface="Century Gothic"/>
                </a:endParaRPr>
              </a:p>
              <a:p>
                <a:pPr marL="0" indent="0" algn="ctr">
                  <a:buNone/>
                </a:pPr>
                <a:r>
                  <a:rPr lang="es-ES" sz="1600" b="1" dirty="0">
                    <a:solidFill>
                      <a:srgbClr val="C00000"/>
                    </a:solidFill>
                    <a:latin typeface="Century Gothic"/>
                  </a:rPr>
                  <a:t>¿Qué pasa después del año n?</a:t>
                </a:r>
                <a:endParaRPr lang="es-ES" sz="1600" dirty="0">
                  <a:solidFill>
                    <a:schemeClr val="accent1"/>
                  </a:solidFill>
                  <a:latin typeface="Century Gothic"/>
                </a:endParaRPr>
              </a:p>
              <a:p>
                <a:pPr marL="0" indent="0" algn="ctr">
                  <a:buNone/>
                </a:pPr>
                <a:r>
                  <a:rPr lang="es-ES" sz="1600" dirty="0">
                    <a:solidFill>
                      <a:schemeClr val="accent1"/>
                    </a:solidFill>
                    <a:latin typeface="Century Gothic"/>
                  </a:rPr>
                  <a:t>La empresa no deja de operar cuando nosotros dejamos de proyectar. ¿Cómo representamos, en un solo número, el valor total de todo lo que la empresa seguirá generando después del año n? </a:t>
                </a:r>
              </a:p>
              <a:p>
                <a:pPr marL="0" indent="0" algn="ctr">
                  <a:buNone/>
                </a:pPr>
                <a:r>
                  <a:rPr lang="es-ES" sz="1600" dirty="0">
                    <a:solidFill>
                      <a:schemeClr val="accent1"/>
                    </a:solidFill>
                    <a:latin typeface="Century Gothic"/>
                  </a:rPr>
                  <a:t>A ese número le llamamos </a:t>
                </a:r>
                <a:r>
                  <a:rPr lang="es-ES" sz="1600" b="1" dirty="0">
                    <a:solidFill>
                      <a:srgbClr val="C00000"/>
                    </a:solidFill>
                    <a:latin typeface="Century Gothic"/>
                  </a:rPr>
                  <a:t>Valor Terminal</a:t>
                </a:r>
              </a:p>
            </p:txBody>
          </p:sp>
        </mc:Choice>
        <mc:Fallback xmlns="">
          <p:sp>
            <p:nvSpPr>
              <p:cNvPr id="3" name="Marcador de contenido 2">
                <a:extLst>
                  <a:ext uri="{FF2B5EF4-FFF2-40B4-BE49-F238E27FC236}">
                    <a16:creationId xmlns:a16="http://schemas.microsoft.com/office/drawing/2014/main" id="{4924AC80-BC07-1762-C0A3-4748FD08C674}"/>
                  </a:ext>
                </a:extLst>
              </p:cNvPr>
              <p:cNvSpPr>
                <a:spLocks noGrp="1" noRot="1" noChangeAspect="1" noMove="1" noResize="1" noEditPoints="1" noAdjustHandles="1" noChangeArrowheads="1" noChangeShapeType="1" noTextEdit="1"/>
              </p:cNvSpPr>
              <p:nvPr>
                <p:ph idx="1"/>
              </p:nvPr>
            </p:nvSpPr>
            <p:spPr>
              <a:xfrm>
                <a:off x="897337" y="1263317"/>
                <a:ext cx="10055553" cy="3417556"/>
              </a:xfrm>
              <a:blipFill>
                <a:blip r:embed="rId2"/>
                <a:stretch>
                  <a:fillRect r="-303"/>
                </a:stretch>
              </a:blipFill>
            </p:spPr>
            <p:txBody>
              <a:bodyPr/>
              <a:lstStyle/>
              <a:p>
                <a:r>
                  <a:rPr lang="es-CO">
                    <a:noFill/>
                  </a:rPr>
                  <a:t> </a:t>
                </a:r>
              </a:p>
            </p:txBody>
          </p:sp>
        </mc:Fallback>
      </mc:AlternateContent>
      <p:sp>
        <p:nvSpPr>
          <p:cNvPr id="4" name="Marcador de número de diapositiva 3">
            <a:extLst>
              <a:ext uri="{FF2B5EF4-FFF2-40B4-BE49-F238E27FC236}">
                <a16:creationId xmlns:a16="http://schemas.microsoft.com/office/drawing/2014/main" id="{513E4D92-9EC1-D629-A128-989ECCD9C30F}"/>
              </a:ext>
            </a:extLst>
          </p:cNvPr>
          <p:cNvSpPr>
            <a:spLocks noGrp="1"/>
          </p:cNvSpPr>
          <p:nvPr>
            <p:ph type="sldNum" sz="quarter" idx="12"/>
          </p:nvPr>
        </p:nvSpPr>
        <p:spPr/>
        <p:txBody>
          <a:bodyPr/>
          <a:lstStyle/>
          <a:p>
            <a:fld id="{5E3E23BA-6E79-2442-BA73-D218A5E297C3}" type="slidenum">
              <a:rPr lang="en-US" sz="1800" smtClean="0"/>
              <a:t>52</a:t>
            </a:fld>
            <a:endParaRPr lang="en-US" sz="1800" dirty="0"/>
          </a:p>
        </p:txBody>
      </p:sp>
      <p:sp>
        <p:nvSpPr>
          <p:cNvPr id="6" name="Rectángulo 5">
            <a:extLst>
              <a:ext uri="{FF2B5EF4-FFF2-40B4-BE49-F238E27FC236}">
                <a16:creationId xmlns:a16="http://schemas.microsoft.com/office/drawing/2014/main" id="{9BA5D1F8-C21C-1B25-354F-187680E18A1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740BA8D-92B3-9206-85AF-F0E75EA67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55B88AB-E9AC-504A-F046-19EB4539A09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87" name="Straight Connector 6">
            <a:extLst>
              <a:ext uri="{FF2B5EF4-FFF2-40B4-BE49-F238E27FC236}">
                <a16:creationId xmlns:a16="http://schemas.microsoft.com/office/drawing/2014/main" id="{EC3D999E-A698-961B-B4B9-B5295D4A515F}"/>
              </a:ext>
            </a:extLst>
          </p:cNvPr>
          <p:cNvCxnSpPr>
            <a:cxnSpLocks/>
          </p:cNvCxnSpPr>
          <p:nvPr/>
        </p:nvCxnSpPr>
        <p:spPr>
          <a:xfrm>
            <a:off x="773165" y="6007457"/>
            <a:ext cx="4020132" cy="77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8" name="Straight Arrow Connector 9">
            <a:extLst>
              <a:ext uri="{FF2B5EF4-FFF2-40B4-BE49-F238E27FC236}">
                <a16:creationId xmlns:a16="http://schemas.microsoft.com/office/drawing/2014/main" id="{69AF033A-7ADB-B7EF-3E4C-890F6E38DE77}"/>
              </a:ext>
            </a:extLst>
          </p:cNvPr>
          <p:cNvCxnSpPr/>
          <p:nvPr/>
        </p:nvCxnSpPr>
        <p:spPr>
          <a:xfrm flipV="1">
            <a:off x="1441166" y="5596285"/>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11">
            <a:extLst>
              <a:ext uri="{FF2B5EF4-FFF2-40B4-BE49-F238E27FC236}">
                <a16:creationId xmlns:a16="http://schemas.microsoft.com/office/drawing/2014/main" id="{84D4AE25-85E5-0AD1-6756-7F2100A9B38B}"/>
              </a:ext>
            </a:extLst>
          </p:cNvPr>
          <p:cNvCxnSpPr/>
          <p:nvPr/>
        </p:nvCxnSpPr>
        <p:spPr>
          <a:xfrm flipV="1">
            <a:off x="2012827" y="5456484"/>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0" name="Straight Arrow Connector 12">
            <a:extLst>
              <a:ext uri="{FF2B5EF4-FFF2-40B4-BE49-F238E27FC236}">
                <a16:creationId xmlns:a16="http://schemas.microsoft.com/office/drawing/2014/main" id="{966105D4-CC29-37FE-C934-48494D08B633}"/>
              </a:ext>
            </a:extLst>
          </p:cNvPr>
          <p:cNvCxnSpPr/>
          <p:nvPr/>
        </p:nvCxnSpPr>
        <p:spPr>
          <a:xfrm flipV="1">
            <a:off x="2610817" y="531577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1" name="Straight Arrow Connector 13">
            <a:extLst>
              <a:ext uri="{FF2B5EF4-FFF2-40B4-BE49-F238E27FC236}">
                <a16:creationId xmlns:a16="http://schemas.microsoft.com/office/drawing/2014/main" id="{ED392137-E640-EDF1-5684-8C9DB5D71385}"/>
              </a:ext>
            </a:extLst>
          </p:cNvPr>
          <p:cNvCxnSpPr/>
          <p:nvPr/>
        </p:nvCxnSpPr>
        <p:spPr>
          <a:xfrm flipV="1">
            <a:off x="3243686" y="5152257"/>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14">
            <a:extLst>
              <a:ext uri="{FF2B5EF4-FFF2-40B4-BE49-F238E27FC236}">
                <a16:creationId xmlns:a16="http://schemas.microsoft.com/office/drawing/2014/main" id="{1C67DD27-845A-7C4E-B2EE-D0C18EE20049}"/>
              </a:ext>
            </a:extLst>
          </p:cNvPr>
          <p:cNvCxnSpPr/>
          <p:nvPr/>
        </p:nvCxnSpPr>
        <p:spPr>
          <a:xfrm flipV="1">
            <a:off x="3823820" y="4839441"/>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15">
            <a:extLst>
              <a:ext uri="{FF2B5EF4-FFF2-40B4-BE49-F238E27FC236}">
                <a16:creationId xmlns:a16="http://schemas.microsoft.com/office/drawing/2014/main" id="{CE760DDE-0373-A24F-1A7A-5514672CF541}"/>
              </a:ext>
            </a:extLst>
          </p:cNvPr>
          <p:cNvCxnSpPr/>
          <p:nvPr/>
        </p:nvCxnSpPr>
        <p:spPr>
          <a:xfrm flipV="1">
            <a:off x="4793297" y="4473031"/>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4" name="Rectangle 35">
            <a:extLst>
              <a:ext uri="{FF2B5EF4-FFF2-40B4-BE49-F238E27FC236}">
                <a16:creationId xmlns:a16="http://schemas.microsoft.com/office/drawing/2014/main" id="{124EF371-369A-5548-3B74-5C386C2F6E93}"/>
              </a:ext>
            </a:extLst>
          </p:cNvPr>
          <p:cNvSpPr>
            <a:spLocks/>
          </p:cNvSpPr>
          <p:nvPr/>
        </p:nvSpPr>
        <p:spPr bwMode="auto">
          <a:xfrm>
            <a:off x="721868" y="6020286"/>
            <a:ext cx="10259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95" name="Rectangle 36">
            <a:extLst>
              <a:ext uri="{FF2B5EF4-FFF2-40B4-BE49-F238E27FC236}">
                <a16:creationId xmlns:a16="http://schemas.microsoft.com/office/drawing/2014/main" id="{6EBC1FA5-445C-5E04-A5E0-D91450319F72}"/>
              </a:ext>
            </a:extLst>
          </p:cNvPr>
          <p:cNvSpPr>
            <a:spLocks/>
          </p:cNvSpPr>
          <p:nvPr/>
        </p:nvSpPr>
        <p:spPr bwMode="auto">
          <a:xfrm>
            <a:off x="1267918" y="5992791"/>
            <a:ext cx="33705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1</a:t>
            </a:r>
          </a:p>
        </p:txBody>
      </p:sp>
      <p:sp>
        <p:nvSpPr>
          <p:cNvPr id="96" name="Rectangle 37">
            <a:extLst>
              <a:ext uri="{FF2B5EF4-FFF2-40B4-BE49-F238E27FC236}">
                <a16:creationId xmlns:a16="http://schemas.microsoft.com/office/drawing/2014/main" id="{C9607962-25A4-2337-630D-3A3BC3476B8A}"/>
              </a:ext>
            </a:extLst>
          </p:cNvPr>
          <p:cNvSpPr>
            <a:spLocks/>
          </p:cNvSpPr>
          <p:nvPr/>
        </p:nvSpPr>
        <p:spPr bwMode="auto">
          <a:xfrm>
            <a:off x="1832278" y="6007457"/>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2</a:t>
            </a:r>
          </a:p>
        </p:txBody>
      </p:sp>
      <p:sp>
        <p:nvSpPr>
          <p:cNvPr id="97" name="Rectangle 38">
            <a:extLst>
              <a:ext uri="{FF2B5EF4-FFF2-40B4-BE49-F238E27FC236}">
                <a16:creationId xmlns:a16="http://schemas.microsoft.com/office/drawing/2014/main" id="{61885414-45B2-EC54-1FB3-461C6052B60F}"/>
              </a:ext>
            </a:extLst>
          </p:cNvPr>
          <p:cNvSpPr>
            <a:spLocks/>
          </p:cNvSpPr>
          <p:nvPr/>
        </p:nvSpPr>
        <p:spPr bwMode="auto">
          <a:xfrm>
            <a:off x="2442286" y="602028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98" name="Rectangle 39">
            <a:extLst>
              <a:ext uri="{FF2B5EF4-FFF2-40B4-BE49-F238E27FC236}">
                <a16:creationId xmlns:a16="http://schemas.microsoft.com/office/drawing/2014/main" id="{3DC12B12-B920-6255-A71E-A2C705572DB5}"/>
              </a:ext>
            </a:extLst>
          </p:cNvPr>
          <p:cNvSpPr>
            <a:spLocks/>
          </p:cNvSpPr>
          <p:nvPr/>
        </p:nvSpPr>
        <p:spPr bwMode="auto">
          <a:xfrm>
            <a:off x="3040274" y="602028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4</a:t>
            </a:r>
          </a:p>
        </p:txBody>
      </p:sp>
      <p:sp>
        <p:nvSpPr>
          <p:cNvPr id="99" name="Rectangle 40">
            <a:extLst>
              <a:ext uri="{FF2B5EF4-FFF2-40B4-BE49-F238E27FC236}">
                <a16:creationId xmlns:a16="http://schemas.microsoft.com/office/drawing/2014/main" id="{61031C17-3496-145C-FD52-459E4E37453E}"/>
              </a:ext>
            </a:extLst>
          </p:cNvPr>
          <p:cNvSpPr>
            <a:spLocks/>
          </p:cNvSpPr>
          <p:nvPr/>
        </p:nvSpPr>
        <p:spPr bwMode="auto">
          <a:xfrm>
            <a:off x="3653774" y="6020042"/>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5</a:t>
            </a:r>
          </a:p>
        </p:txBody>
      </p:sp>
      <p:sp>
        <p:nvSpPr>
          <p:cNvPr id="100" name="Rectangle 41">
            <a:extLst>
              <a:ext uri="{FF2B5EF4-FFF2-40B4-BE49-F238E27FC236}">
                <a16:creationId xmlns:a16="http://schemas.microsoft.com/office/drawing/2014/main" id="{B891B7A1-C1FC-1415-64AD-1AEF43EF8DFF}"/>
              </a:ext>
            </a:extLst>
          </p:cNvPr>
          <p:cNvSpPr>
            <a:spLocks/>
          </p:cNvSpPr>
          <p:nvPr/>
        </p:nvSpPr>
        <p:spPr bwMode="auto">
          <a:xfrm>
            <a:off x="4594457" y="6014289"/>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n</a:t>
            </a:r>
          </a:p>
        </p:txBody>
      </p:sp>
      <p:sp>
        <p:nvSpPr>
          <p:cNvPr id="101" name="Rectangle 35">
            <a:extLst>
              <a:ext uri="{FF2B5EF4-FFF2-40B4-BE49-F238E27FC236}">
                <a16:creationId xmlns:a16="http://schemas.microsoft.com/office/drawing/2014/main" id="{933EC431-1F0E-9D88-D138-3D44430D9A37}"/>
              </a:ext>
            </a:extLst>
          </p:cNvPr>
          <p:cNvSpPr>
            <a:spLocks/>
          </p:cNvSpPr>
          <p:nvPr/>
        </p:nvSpPr>
        <p:spPr bwMode="auto">
          <a:xfrm>
            <a:off x="1363660" y="5323073"/>
            <a:ext cx="22281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endParaRPr lang="en-US" sz="1600" dirty="0"/>
          </a:p>
        </p:txBody>
      </p:sp>
      <p:sp>
        <p:nvSpPr>
          <p:cNvPr id="102" name="Rectangle 35">
            <a:extLst>
              <a:ext uri="{FF2B5EF4-FFF2-40B4-BE49-F238E27FC236}">
                <a16:creationId xmlns:a16="http://schemas.microsoft.com/office/drawing/2014/main" id="{484A773B-9C2D-00B2-CB2E-CCE8B02ED438}"/>
              </a:ext>
            </a:extLst>
          </p:cNvPr>
          <p:cNvSpPr>
            <a:spLocks/>
          </p:cNvSpPr>
          <p:nvPr/>
        </p:nvSpPr>
        <p:spPr bwMode="auto">
          <a:xfrm>
            <a:off x="1690859" y="5143376"/>
            <a:ext cx="66524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p>
        </p:txBody>
      </p:sp>
      <p:sp>
        <p:nvSpPr>
          <p:cNvPr id="103" name="Rectangle 35">
            <a:extLst>
              <a:ext uri="{FF2B5EF4-FFF2-40B4-BE49-F238E27FC236}">
                <a16:creationId xmlns:a16="http://schemas.microsoft.com/office/drawing/2014/main" id="{2B2DAE86-0DFF-4AC4-DAE3-8F9CA4B4E4B9}"/>
              </a:ext>
            </a:extLst>
          </p:cNvPr>
          <p:cNvSpPr>
            <a:spLocks/>
          </p:cNvSpPr>
          <p:nvPr/>
        </p:nvSpPr>
        <p:spPr bwMode="auto">
          <a:xfrm>
            <a:off x="2243729" y="4913344"/>
            <a:ext cx="734175"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2</a:t>
            </a:r>
            <a:endParaRPr lang="en-US" sz="1600" dirty="0"/>
          </a:p>
        </p:txBody>
      </p:sp>
      <p:sp>
        <p:nvSpPr>
          <p:cNvPr id="104" name="Rectangle 35">
            <a:extLst>
              <a:ext uri="{FF2B5EF4-FFF2-40B4-BE49-F238E27FC236}">
                <a16:creationId xmlns:a16="http://schemas.microsoft.com/office/drawing/2014/main" id="{D05B0116-F7C1-7110-A35F-61B9632EB0F2}"/>
              </a:ext>
            </a:extLst>
          </p:cNvPr>
          <p:cNvSpPr>
            <a:spLocks/>
          </p:cNvSpPr>
          <p:nvPr/>
        </p:nvSpPr>
        <p:spPr bwMode="auto">
          <a:xfrm>
            <a:off x="2882774" y="4673569"/>
            <a:ext cx="734175"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3</a:t>
            </a:r>
            <a:endParaRPr lang="en-US" sz="1600" dirty="0"/>
          </a:p>
        </p:txBody>
      </p:sp>
      <p:sp>
        <p:nvSpPr>
          <p:cNvPr id="105" name="Rectangle 35">
            <a:extLst>
              <a:ext uri="{FF2B5EF4-FFF2-40B4-BE49-F238E27FC236}">
                <a16:creationId xmlns:a16="http://schemas.microsoft.com/office/drawing/2014/main" id="{B09FE876-9805-CA3E-838C-54B23CDFDA64}"/>
              </a:ext>
            </a:extLst>
          </p:cNvPr>
          <p:cNvSpPr>
            <a:spLocks/>
          </p:cNvSpPr>
          <p:nvPr/>
        </p:nvSpPr>
        <p:spPr bwMode="auto">
          <a:xfrm>
            <a:off x="3456732" y="4386415"/>
            <a:ext cx="734175"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4</a:t>
            </a:r>
            <a:endParaRPr lang="en-US" sz="1600" dirty="0"/>
          </a:p>
        </p:txBody>
      </p:sp>
      <p:sp>
        <p:nvSpPr>
          <p:cNvPr id="106" name="Rectangle 35">
            <a:extLst>
              <a:ext uri="{FF2B5EF4-FFF2-40B4-BE49-F238E27FC236}">
                <a16:creationId xmlns:a16="http://schemas.microsoft.com/office/drawing/2014/main" id="{BF65291B-5560-D3D4-3325-931CFB4C1B01}"/>
              </a:ext>
            </a:extLst>
          </p:cNvPr>
          <p:cNvSpPr>
            <a:spLocks/>
          </p:cNvSpPr>
          <p:nvPr/>
        </p:nvSpPr>
        <p:spPr bwMode="auto">
          <a:xfrm>
            <a:off x="4336929" y="4175196"/>
            <a:ext cx="847988"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n-1</a:t>
            </a:r>
            <a:endParaRPr lang="en-US" sz="1600" dirty="0"/>
          </a:p>
        </p:txBody>
      </p:sp>
      <p:sp>
        <p:nvSpPr>
          <p:cNvPr id="107" name="CuadroTexto 106">
            <a:extLst>
              <a:ext uri="{FF2B5EF4-FFF2-40B4-BE49-F238E27FC236}">
                <a16:creationId xmlns:a16="http://schemas.microsoft.com/office/drawing/2014/main" id="{610B5F58-33CE-E66F-1789-7F71E71CE3AD}"/>
              </a:ext>
            </a:extLst>
          </p:cNvPr>
          <p:cNvSpPr txBox="1"/>
          <p:nvPr/>
        </p:nvSpPr>
        <p:spPr>
          <a:xfrm>
            <a:off x="3990834" y="5298417"/>
            <a:ext cx="1295747" cy="338554"/>
          </a:xfrm>
          <a:prstGeom prst="rect">
            <a:avLst/>
          </a:prstGeom>
          <a:noFill/>
        </p:spPr>
        <p:txBody>
          <a:bodyPr wrap="square" rtlCol="0">
            <a:spAutoFit/>
          </a:bodyPr>
          <a:lstStyle/>
          <a:p>
            <a:r>
              <a:rPr lang="es-ES" sz="1600"/>
              <a:t>…</a:t>
            </a:r>
          </a:p>
        </p:txBody>
      </p:sp>
      <p:sp>
        <p:nvSpPr>
          <p:cNvPr id="116" name="Rectangle 41">
            <a:extLst>
              <a:ext uri="{FF2B5EF4-FFF2-40B4-BE49-F238E27FC236}">
                <a16:creationId xmlns:a16="http://schemas.microsoft.com/office/drawing/2014/main" id="{3C8A50A1-E170-A3D2-E11A-53A92CB9ED9E}"/>
              </a:ext>
            </a:extLst>
          </p:cNvPr>
          <p:cNvSpPr>
            <a:spLocks/>
          </p:cNvSpPr>
          <p:nvPr/>
        </p:nvSpPr>
        <p:spPr bwMode="auto">
          <a:xfrm>
            <a:off x="12909406" y="576083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7" name="Rectangle 35">
            <a:extLst>
              <a:ext uri="{FF2B5EF4-FFF2-40B4-BE49-F238E27FC236}">
                <a16:creationId xmlns:a16="http://schemas.microsoft.com/office/drawing/2014/main" id="{354AD374-4479-5031-6F20-9F5C34AEBF96}"/>
              </a:ext>
            </a:extLst>
          </p:cNvPr>
          <p:cNvSpPr>
            <a:spLocks/>
          </p:cNvSpPr>
          <p:nvPr/>
        </p:nvSpPr>
        <p:spPr bwMode="auto">
          <a:xfrm>
            <a:off x="6838368" y="4957908"/>
            <a:ext cx="28693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dirty="0"/>
              <a:t>VP</a:t>
            </a:r>
          </a:p>
        </p:txBody>
      </p:sp>
      <p:cxnSp>
        <p:nvCxnSpPr>
          <p:cNvPr id="121" name="Straight Connector 6">
            <a:extLst>
              <a:ext uri="{FF2B5EF4-FFF2-40B4-BE49-F238E27FC236}">
                <a16:creationId xmlns:a16="http://schemas.microsoft.com/office/drawing/2014/main" id="{95ED51A5-5273-72F6-AFD9-A8A7C88A0130}"/>
              </a:ext>
            </a:extLst>
          </p:cNvPr>
          <p:cNvCxnSpPr>
            <a:cxnSpLocks/>
          </p:cNvCxnSpPr>
          <p:nvPr/>
        </p:nvCxnSpPr>
        <p:spPr>
          <a:xfrm>
            <a:off x="6963462" y="5990816"/>
            <a:ext cx="4020132" cy="77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4" name="Straight Arrow Connector 12">
            <a:extLst>
              <a:ext uri="{FF2B5EF4-FFF2-40B4-BE49-F238E27FC236}">
                <a16:creationId xmlns:a16="http://schemas.microsoft.com/office/drawing/2014/main" id="{DCEB81F3-0CE4-0797-52AA-C9DB21D546DC}"/>
              </a:ext>
            </a:extLst>
          </p:cNvPr>
          <p:cNvCxnSpPr/>
          <p:nvPr/>
        </p:nvCxnSpPr>
        <p:spPr>
          <a:xfrm flipV="1">
            <a:off x="6963461" y="5308413"/>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8" name="Rectangle 35">
            <a:extLst>
              <a:ext uri="{FF2B5EF4-FFF2-40B4-BE49-F238E27FC236}">
                <a16:creationId xmlns:a16="http://schemas.microsoft.com/office/drawing/2014/main" id="{A6F3F93A-F5C8-1C42-7B24-23D5B1501807}"/>
              </a:ext>
            </a:extLst>
          </p:cNvPr>
          <p:cNvSpPr>
            <a:spLocks/>
          </p:cNvSpPr>
          <p:nvPr/>
        </p:nvSpPr>
        <p:spPr bwMode="auto">
          <a:xfrm>
            <a:off x="6912165" y="6003645"/>
            <a:ext cx="102592"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129" name="Rectangle 36">
            <a:extLst>
              <a:ext uri="{FF2B5EF4-FFF2-40B4-BE49-F238E27FC236}">
                <a16:creationId xmlns:a16="http://schemas.microsoft.com/office/drawing/2014/main" id="{B6BF4E5D-F95B-B664-323B-29C033294964}"/>
              </a:ext>
            </a:extLst>
          </p:cNvPr>
          <p:cNvSpPr>
            <a:spLocks/>
          </p:cNvSpPr>
          <p:nvPr/>
        </p:nvSpPr>
        <p:spPr bwMode="auto">
          <a:xfrm>
            <a:off x="7458215" y="5976150"/>
            <a:ext cx="33705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1</a:t>
            </a:r>
          </a:p>
        </p:txBody>
      </p:sp>
      <p:sp>
        <p:nvSpPr>
          <p:cNvPr id="130" name="Rectangle 37">
            <a:extLst>
              <a:ext uri="{FF2B5EF4-FFF2-40B4-BE49-F238E27FC236}">
                <a16:creationId xmlns:a16="http://schemas.microsoft.com/office/drawing/2014/main" id="{B8A83BE6-3717-A879-AEA1-1C04E7F68527}"/>
              </a:ext>
            </a:extLst>
          </p:cNvPr>
          <p:cNvSpPr>
            <a:spLocks/>
          </p:cNvSpPr>
          <p:nvPr/>
        </p:nvSpPr>
        <p:spPr bwMode="auto">
          <a:xfrm>
            <a:off x="8022575" y="599081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2</a:t>
            </a:r>
          </a:p>
        </p:txBody>
      </p:sp>
      <p:sp>
        <p:nvSpPr>
          <p:cNvPr id="131" name="Rectangle 38">
            <a:extLst>
              <a:ext uri="{FF2B5EF4-FFF2-40B4-BE49-F238E27FC236}">
                <a16:creationId xmlns:a16="http://schemas.microsoft.com/office/drawing/2014/main" id="{1D948D48-58DA-0A3B-CB97-ABE4A818EA95}"/>
              </a:ext>
            </a:extLst>
          </p:cNvPr>
          <p:cNvSpPr>
            <a:spLocks/>
          </p:cNvSpPr>
          <p:nvPr/>
        </p:nvSpPr>
        <p:spPr bwMode="auto">
          <a:xfrm>
            <a:off x="8632583" y="60036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132" name="Rectangle 39">
            <a:extLst>
              <a:ext uri="{FF2B5EF4-FFF2-40B4-BE49-F238E27FC236}">
                <a16:creationId xmlns:a16="http://schemas.microsoft.com/office/drawing/2014/main" id="{E5AC8E83-06DC-3497-27C1-2C5C92713F35}"/>
              </a:ext>
            </a:extLst>
          </p:cNvPr>
          <p:cNvSpPr>
            <a:spLocks/>
          </p:cNvSpPr>
          <p:nvPr/>
        </p:nvSpPr>
        <p:spPr bwMode="auto">
          <a:xfrm>
            <a:off x="9230571" y="60036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4</a:t>
            </a:r>
          </a:p>
        </p:txBody>
      </p:sp>
      <p:sp>
        <p:nvSpPr>
          <p:cNvPr id="133" name="Rectangle 40">
            <a:extLst>
              <a:ext uri="{FF2B5EF4-FFF2-40B4-BE49-F238E27FC236}">
                <a16:creationId xmlns:a16="http://schemas.microsoft.com/office/drawing/2014/main" id="{D3D318D9-7852-1C4D-9457-46F698784951}"/>
              </a:ext>
            </a:extLst>
          </p:cNvPr>
          <p:cNvSpPr>
            <a:spLocks/>
          </p:cNvSpPr>
          <p:nvPr/>
        </p:nvSpPr>
        <p:spPr bwMode="auto">
          <a:xfrm>
            <a:off x="9844071" y="6003401"/>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5</a:t>
            </a:r>
          </a:p>
        </p:txBody>
      </p:sp>
      <p:sp>
        <p:nvSpPr>
          <p:cNvPr id="134" name="Rectangle 41">
            <a:extLst>
              <a:ext uri="{FF2B5EF4-FFF2-40B4-BE49-F238E27FC236}">
                <a16:creationId xmlns:a16="http://schemas.microsoft.com/office/drawing/2014/main" id="{A68218DE-3C6D-CD1F-D465-89B55C25E35C}"/>
              </a:ext>
            </a:extLst>
          </p:cNvPr>
          <p:cNvSpPr>
            <a:spLocks/>
          </p:cNvSpPr>
          <p:nvPr/>
        </p:nvSpPr>
        <p:spPr bwMode="auto">
          <a:xfrm>
            <a:off x="10784754" y="5997648"/>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n</a:t>
            </a:r>
          </a:p>
        </p:txBody>
      </p:sp>
      <p:sp>
        <p:nvSpPr>
          <p:cNvPr id="141" name="CuadroTexto 140">
            <a:extLst>
              <a:ext uri="{FF2B5EF4-FFF2-40B4-BE49-F238E27FC236}">
                <a16:creationId xmlns:a16="http://schemas.microsoft.com/office/drawing/2014/main" id="{B283302A-9533-2B17-E563-E1553B1FF82C}"/>
              </a:ext>
            </a:extLst>
          </p:cNvPr>
          <p:cNvSpPr txBox="1"/>
          <p:nvPr/>
        </p:nvSpPr>
        <p:spPr>
          <a:xfrm>
            <a:off x="10315061" y="5873971"/>
            <a:ext cx="1295747" cy="338554"/>
          </a:xfrm>
          <a:prstGeom prst="rect">
            <a:avLst/>
          </a:prstGeom>
          <a:noFill/>
        </p:spPr>
        <p:txBody>
          <a:bodyPr wrap="square" rtlCol="0">
            <a:spAutoFit/>
          </a:bodyPr>
          <a:lstStyle/>
          <a:p>
            <a:r>
              <a:rPr lang="es-ES" sz="1600" dirty="0"/>
              <a:t>…</a:t>
            </a:r>
          </a:p>
        </p:txBody>
      </p:sp>
      <p:sp>
        <p:nvSpPr>
          <p:cNvPr id="143" name="Flecha derecha 45">
            <a:extLst>
              <a:ext uri="{FF2B5EF4-FFF2-40B4-BE49-F238E27FC236}">
                <a16:creationId xmlns:a16="http://schemas.microsoft.com/office/drawing/2014/main" id="{B13ADB0A-6D53-F06E-9077-2E5CC278D7A1}"/>
              </a:ext>
            </a:extLst>
          </p:cNvPr>
          <p:cNvSpPr/>
          <p:nvPr/>
        </p:nvSpPr>
        <p:spPr>
          <a:xfrm>
            <a:off x="5852302" y="5226796"/>
            <a:ext cx="456813" cy="46477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Tree>
    <p:extLst>
      <p:ext uri="{BB962C8B-B14F-4D97-AF65-F5344CB8AC3E}">
        <p14:creationId xmlns:p14="http://schemas.microsoft.com/office/powerpoint/2010/main" val="104578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8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8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9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92"/>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9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9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9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9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9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0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01"/>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0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0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0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05"/>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0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0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43"/>
                                        </p:tgtEl>
                                        <p:attrNameLst>
                                          <p:attrName>style.visibility</p:attrName>
                                        </p:attrNameLst>
                                      </p:cBhvr>
                                      <p:to>
                                        <p:strVal val="visible"/>
                                      </p:to>
                                    </p:set>
                                    <p:anim calcmode="lin" valueType="num">
                                      <p:cBhvr additive="base">
                                        <p:cTn id="72" dur="500" fill="hold"/>
                                        <p:tgtEl>
                                          <p:spTgt spid="143"/>
                                        </p:tgtEl>
                                        <p:attrNameLst>
                                          <p:attrName>ppt_x</p:attrName>
                                        </p:attrNameLst>
                                      </p:cBhvr>
                                      <p:tavLst>
                                        <p:tav tm="0">
                                          <p:val>
                                            <p:strVal val="#ppt_x"/>
                                          </p:val>
                                        </p:tav>
                                        <p:tav tm="100000">
                                          <p:val>
                                            <p:strVal val="#ppt_x"/>
                                          </p:val>
                                        </p:tav>
                                      </p:tavLst>
                                    </p:anim>
                                    <p:anim calcmode="lin" valueType="num">
                                      <p:cBhvr additive="base">
                                        <p:cTn id="73" dur="500" fill="hold"/>
                                        <p:tgtEl>
                                          <p:spTgt spid="143"/>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17"/>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21"/>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124"/>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2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2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30"/>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31"/>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3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33"/>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4" grpId="0"/>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16" grpId="0"/>
      <p:bldP spid="117" grpId="0"/>
      <p:bldP spid="128" grpId="0"/>
      <p:bldP spid="129" grpId="0"/>
      <p:bldP spid="130" grpId="0"/>
      <p:bldP spid="131" grpId="0"/>
      <p:bldP spid="132" grpId="0"/>
      <p:bldP spid="133" grpId="0"/>
      <p:bldP spid="134" grpId="0"/>
      <p:bldP spid="14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2E048-EBA4-A93B-7F24-66C61BDF3A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BE0243-7865-1253-5916-8637452CE2D2}"/>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6BC04C62-0121-9E02-F72E-05739DDCADF5}"/>
              </a:ext>
            </a:extLst>
          </p:cNvPr>
          <p:cNvSpPr>
            <a:spLocks noGrp="1"/>
          </p:cNvSpPr>
          <p:nvPr>
            <p:ph type="sldNum" sz="quarter" idx="12"/>
          </p:nvPr>
        </p:nvSpPr>
        <p:spPr/>
        <p:txBody>
          <a:bodyPr/>
          <a:lstStyle/>
          <a:p>
            <a:fld id="{5E3E23BA-6E79-2442-BA73-D218A5E297C3}" type="slidenum">
              <a:rPr lang="en-US" sz="1800" smtClean="0"/>
              <a:t>53</a:t>
            </a:fld>
            <a:endParaRPr lang="en-US" sz="1800" dirty="0"/>
          </a:p>
        </p:txBody>
      </p:sp>
      <p:sp>
        <p:nvSpPr>
          <p:cNvPr id="6" name="Rectángulo 5">
            <a:extLst>
              <a:ext uri="{FF2B5EF4-FFF2-40B4-BE49-F238E27FC236}">
                <a16:creationId xmlns:a16="http://schemas.microsoft.com/office/drawing/2014/main" id="{A56840B2-0184-0765-989C-0B1896EAB8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0508EBC-5602-0145-A043-2C0465138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1A55F9B-5A0C-BF41-84A8-2ED43F14D97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6" name="Rectangle 41">
            <a:extLst>
              <a:ext uri="{FF2B5EF4-FFF2-40B4-BE49-F238E27FC236}">
                <a16:creationId xmlns:a16="http://schemas.microsoft.com/office/drawing/2014/main" id="{94C6C4DC-DFF8-0E58-3710-CFEF8782B0A2}"/>
              </a:ext>
            </a:extLst>
          </p:cNvPr>
          <p:cNvSpPr>
            <a:spLocks/>
          </p:cNvSpPr>
          <p:nvPr/>
        </p:nvSpPr>
        <p:spPr bwMode="auto">
          <a:xfrm>
            <a:off x="12909406" y="576083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 name="Marcador de contenido 2">
            <a:extLst>
              <a:ext uri="{FF2B5EF4-FFF2-40B4-BE49-F238E27FC236}">
                <a16:creationId xmlns:a16="http://schemas.microsoft.com/office/drawing/2014/main" id="{BDF72B5D-729B-2D66-B877-482C52FF5EF2}"/>
              </a:ext>
            </a:extLst>
          </p:cNvPr>
          <p:cNvSpPr>
            <a:spLocks noGrp="1"/>
          </p:cNvSpPr>
          <p:nvPr>
            <p:ph idx="1"/>
          </p:nvPr>
        </p:nvSpPr>
        <p:spPr>
          <a:xfrm>
            <a:off x="520420" y="1989939"/>
            <a:ext cx="11029615" cy="2825312"/>
          </a:xfrm>
        </p:spPr>
        <p:txBody>
          <a:bodyPr>
            <a:normAutofit/>
          </a:bodyPr>
          <a:lstStyle/>
          <a:p>
            <a:pPr algn="just">
              <a:buFont typeface="Wingdings" panose="05000000000000000000" pitchFamily="2" charset="2"/>
              <a:buChar char="ü"/>
            </a:pPr>
            <a:r>
              <a:rPr lang="es-ES" sz="1600" dirty="0">
                <a:solidFill>
                  <a:schemeClr val="accent1"/>
                </a:solidFill>
                <a:latin typeface="Century Gothic"/>
              </a:rPr>
              <a:t>El anterior crecimiento de los flujos (1+g) se conoce como </a:t>
            </a:r>
            <a:r>
              <a:rPr lang="es-ES" sz="1600" b="1" dirty="0">
                <a:solidFill>
                  <a:schemeClr val="accent1"/>
                </a:solidFill>
                <a:latin typeface="Century Gothic"/>
              </a:rPr>
              <a:t>crecimiento geométrico</a:t>
            </a:r>
            <a:r>
              <a:rPr lang="es-ES" sz="1600" dirty="0">
                <a:solidFill>
                  <a:schemeClr val="accent1"/>
                </a:solidFill>
                <a:latin typeface="Century Gothic"/>
              </a:rPr>
              <a:t>. </a:t>
            </a:r>
          </a:p>
          <a:p>
            <a:pPr algn="just">
              <a:buFont typeface="Wingdings" panose="05000000000000000000" pitchFamily="2" charset="2"/>
              <a:buChar char="ü"/>
            </a:pPr>
            <a:r>
              <a:rPr lang="es-ES" sz="1600" dirty="0">
                <a:solidFill>
                  <a:schemeClr val="accent1"/>
                </a:solidFill>
                <a:latin typeface="Century Gothic"/>
              </a:rPr>
              <a:t>Esta es una de las relaciones de equivalencia de mayor uso en el campo de las finanzas, pues tiene su aplicación en el campo de la valoración de activos.</a:t>
            </a:r>
          </a:p>
          <a:p>
            <a:pPr algn="just">
              <a:buFont typeface="Wingdings" panose="05000000000000000000" pitchFamily="2" charset="2"/>
              <a:buChar char="ü"/>
            </a:pPr>
            <a:r>
              <a:rPr lang="es-ES" sz="1600" dirty="0">
                <a:solidFill>
                  <a:schemeClr val="accent1"/>
                </a:solidFill>
                <a:latin typeface="Century Gothic"/>
              </a:rPr>
              <a:t>Es posible encontrar una equivalencia para series finitas e infinitas</a:t>
            </a:r>
          </a:p>
          <a:p>
            <a:pPr algn="just">
              <a:buFont typeface="Wingdings" panose="05000000000000000000" pitchFamily="2" charset="2"/>
              <a:buChar char="ü"/>
            </a:pPr>
            <a:r>
              <a:rPr lang="es-ES" sz="1600" dirty="0">
                <a:solidFill>
                  <a:schemeClr val="accent1"/>
                </a:solidFill>
                <a:latin typeface="Century Gothic"/>
              </a:rPr>
              <a:t>El caso de series infinitas, es conocido en el dominio financiero como el “</a:t>
            </a:r>
            <a:r>
              <a:rPr lang="es-ES" sz="1600" b="1" dirty="0">
                <a:solidFill>
                  <a:schemeClr val="accent1"/>
                </a:solidFill>
                <a:latin typeface="Century Gothic"/>
              </a:rPr>
              <a:t>Modelo de Gordon-Shapiro</a:t>
            </a:r>
            <a:r>
              <a:rPr lang="es-ES" sz="1600" dirty="0">
                <a:solidFill>
                  <a:schemeClr val="accent1"/>
                </a:solidFill>
                <a:latin typeface="Century Gothic"/>
              </a:rPr>
              <a:t>”.</a:t>
            </a:r>
          </a:p>
          <a:p>
            <a:pPr algn="just">
              <a:buFont typeface="Wingdings" panose="05000000000000000000" pitchFamily="2" charset="2"/>
              <a:buChar char="ü"/>
            </a:pPr>
            <a:r>
              <a:rPr lang="es-ES" sz="1600" dirty="0">
                <a:solidFill>
                  <a:schemeClr val="accent1"/>
                </a:solidFill>
                <a:latin typeface="Century Gothic"/>
              </a:rPr>
              <a:t>La serie es un gradiente geométrico, debido a la presencia de una razón de crecimiento porcentual constante “g”. </a:t>
            </a:r>
          </a:p>
          <a:p>
            <a:pPr algn="just">
              <a:buFont typeface="Wingdings" panose="05000000000000000000" pitchFamily="2" charset="2"/>
              <a:buChar char="ü"/>
            </a:pPr>
            <a:r>
              <a:rPr lang="es-ES" sz="1600" dirty="0">
                <a:solidFill>
                  <a:schemeClr val="accent1"/>
                </a:solidFill>
                <a:latin typeface="Century Gothic"/>
              </a:rPr>
              <a:t>Según esto, veamos a qué corresponde cada uno de los flujos Dj.</a:t>
            </a:r>
          </a:p>
          <a:p>
            <a:pPr algn="just">
              <a:buFont typeface="Wingdings" panose="05000000000000000000" pitchFamily="2" charset="2"/>
              <a:buChar char="ü"/>
            </a:pPr>
            <a:endParaRPr lang="es-ES" sz="1600" dirty="0">
              <a:solidFill>
                <a:schemeClr val="accent1"/>
              </a:solidFill>
              <a:latin typeface="Century Gothic"/>
            </a:endParaRPr>
          </a:p>
        </p:txBody>
      </p:sp>
      <p:sp>
        <p:nvSpPr>
          <p:cNvPr id="14" name="Rectangle 35">
            <a:extLst>
              <a:ext uri="{FF2B5EF4-FFF2-40B4-BE49-F238E27FC236}">
                <a16:creationId xmlns:a16="http://schemas.microsoft.com/office/drawing/2014/main" id="{D8ECBFDF-31DA-124E-CF34-A8B981A3451A}"/>
              </a:ext>
            </a:extLst>
          </p:cNvPr>
          <p:cNvSpPr>
            <a:spLocks/>
          </p:cNvSpPr>
          <p:nvPr/>
        </p:nvSpPr>
        <p:spPr bwMode="auto">
          <a:xfrm>
            <a:off x="4981290" y="4583556"/>
            <a:ext cx="89287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r>
              <a:rPr lang="en-US" sz="2000" dirty="0"/>
              <a:t>D</a:t>
            </a:r>
            <a:r>
              <a:rPr lang="en-US" sz="2000" baseline="-25000" dirty="0"/>
              <a:t>1 </a:t>
            </a:r>
            <a:r>
              <a:rPr lang="en-US" sz="2000" dirty="0"/>
              <a:t>=  D</a:t>
            </a:r>
            <a:r>
              <a:rPr lang="en-US" sz="2000" baseline="-25000" dirty="0"/>
              <a:t>1</a:t>
            </a:r>
            <a:endParaRPr lang="en-US" sz="2000" dirty="0"/>
          </a:p>
        </p:txBody>
      </p:sp>
      <p:sp>
        <p:nvSpPr>
          <p:cNvPr id="16" name="Rectangle 35">
            <a:extLst>
              <a:ext uri="{FF2B5EF4-FFF2-40B4-BE49-F238E27FC236}">
                <a16:creationId xmlns:a16="http://schemas.microsoft.com/office/drawing/2014/main" id="{3943397D-5330-25AE-881A-A3CD860B7E4B}"/>
              </a:ext>
            </a:extLst>
          </p:cNvPr>
          <p:cNvSpPr>
            <a:spLocks/>
          </p:cNvSpPr>
          <p:nvPr/>
        </p:nvSpPr>
        <p:spPr bwMode="auto">
          <a:xfrm>
            <a:off x="4981289" y="4936718"/>
            <a:ext cx="144590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r>
              <a:rPr lang="en-US" sz="2000" dirty="0"/>
              <a:t>D</a:t>
            </a:r>
            <a:r>
              <a:rPr lang="en-US" sz="2000" baseline="-25000" dirty="0"/>
              <a:t>2 </a:t>
            </a:r>
            <a:r>
              <a:rPr lang="en-US" sz="2000" dirty="0"/>
              <a:t>= D</a:t>
            </a:r>
            <a:r>
              <a:rPr lang="en-US" sz="2000" baseline="-25000" dirty="0"/>
              <a:t>1</a:t>
            </a:r>
            <a:r>
              <a:rPr lang="en-US" sz="2000" dirty="0"/>
              <a:t> (1+g)</a:t>
            </a:r>
          </a:p>
        </p:txBody>
      </p:sp>
      <p:sp>
        <p:nvSpPr>
          <p:cNvPr id="18" name="Rectangle 35">
            <a:extLst>
              <a:ext uri="{FF2B5EF4-FFF2-40B4-BE49-F238E27FC236}">
                <a16:creationId xmlns:a16="http://schemas.microsoft.com/office/drawing/2014/main" id="{1FA465A3-069B-632C-A743-4E3B3C399DC6}"/>
              </a:ext>
            </a:extLst>
          </p:cNvPr>
          <p:cNvSpPr>
            <a:spLocks/>
          </p:cNvSpPr>
          <p:nvPr/>
        </p:nvSpPr>
        <p:spPr bwMode="auto">
          <a:xfrm>
            <a:off x="4981289" y="5335339"/>
            <a:ext cx="323452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n-US" sz="2000"/>
              <a:t>D</a:t>
            </a:r>
            <a:r>
              <a:rPr lang="en-US" sz="2000" baseline="-25000"/>
              <a:t>3 </a:t>
            </a:r>
            <a:r>
              <a:rPr lang="en-US" sz="2000"/>
              <a:t>=  D</a:t>
            </a:r>
            <a:r>
              <a:rPr lang="en-US" sz="2000" baseline="-25000"/>
              <a:t>2</a:t>
            </a:r>
            <a:r>
              <a:rPr lang="en-US" sz="2000"/>
              <a:t> (1+g) = D</a:t>
            </a:r>
            <a:r>
              <a:rPr lang="en-US" sz="2000" baseline="-25000"/>
              <a:t>1</a:t>
            </a:r>
            <a:r>
              <a:rPr lang="en-US" sz="2000"/>
              <a:t> (1+g)</a:t>
            </a:r>
            <a:r>
              <a:rPr lang="en-US" sz="2000" baseline="30000"/>
              <a:t>2</a:t>
            </a:r>
            <a:endParaRPr lang="en-US" sz="2000"/>
          </a:p>
        </p:txBody>
      </p:sp>
      <p:sp>
        <p:nvSpPr>
          <p:cNvPr id="20" name="Rectangle 35">
            <a:extLst>
              <a:ext uri="{FF2B5EF4-FFF2-40B4-BE49-F238E27FC236}">
                <a16:creationId xmlns:a16="http://schemas.microsoft.com/office/drawing/2014/main" id="{D1013BA8-C6E9-E1A8-341C-F236425B0FC3}"/>
              </a:ext>
            </a:extLst>
          </p:cNvPr>
          <p:cNvSpPr>
            <a:spLocks/>
          </p:cNvSpPr>
          <p:nvPr/>
        </p:nvSpPr>
        <p:spPr bwMode="auto">
          <a:xfrm>
            <a:off x="4981289" y="6266382"/>
            <a:ext cx="323452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n-US" sz="2000" dirty="0" err="1"/>
              <a:t>D</a:t>
            </a:r>
            <a:r>
              <a:rPr lang="en-US" sz="2000" baseline="-25000" dirty="0" err="1"/>
              <a:t>j</a:t>
            </a:r>
            <a:r>
              <a:rPr lang="en-US" sz="2000" baseline="-25000" dirty="0"/>
              <a:t> </a:t>
            </a:r>
            <a:r>
              <a:rPr lang="en-US" sz="2000" dirty="0"/>
              <a:t>=  D</a:t>
            </a:r>
            <a:r>
              <a:rPr lang="en-US" sz="2000" baseline="-25000" dirty="0"/>
              <a:t>1</a:t>
            </a:r>
            <a:r>
              <a:rPr lang="en-US" sz="2000" dirty="0"/>
              <a:t> (1+g)</a:t>
            </a:r>
            <a:r>
              <a:rPr lang="en-US" sz="2000" baseline="30000" dirty="0"/>
              <a:t>j-1</a:t>
            </a:r>
            <a:endParaRPr lang="en-US" sz="2000" dirty="0"/>
          </a:p>
        </p:txBody>
      </p:sp>
      <p:sp>
        <p:nvSpPr>
          <p:cNvPr id="22" name="Rectangle 35">
            <a:extLst>
              <a:ext uri="{FF2B5EF4-FFF2-40B4-BE49-F238E27FC236}">
                <a16:creationId xmlns:a16="http://schemas.microsoft.com/office/drawing/2014/main" id="{5892BE16-2E88-C874-16D2-30DB23991378}"/>
              </a:ext>
            </a:extLst>
          </p:cNvPr>
          <p:cNvSpPr>
            <a:spLocks/>
          </p:cNvSpPr>
          <p:nvPr/>
        </p:nvSpPr>
        <p:spPr bwMode="auto">
          <a:xfrm>
            <a:off x="4829448" y="5751797"/>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dirty="0"/>
              <a:t>.</a:t>
            </a:r>
          </a:p>
          <a:p>
            <a:pPr algn="ctr">
              <a:lnSpc>
                <a:spcPct val="50000"/>
              </a:lnSpc>
            </a:pPr>
            <a:r>
              <a:rPr lang="en-US" sz="2000" dirty="0"/>
              <a:t>.</a:t>
            </a:r>
          </a:p>
          <a:p>
            <a:pPr algn="ctr">
              <a:lnSpc>
                <a:spcPct val="50000"/>
              </a:lnSpc>
            </a:pPr>
            <a:r>
              <a:rPr lang="en-US" sz="2000" dirty="0"/>
              <a:t>.</a:t>
            </a:r>
          </a:p>
        </p:txBody>
      </p:sp>
    </p:spTree>
    <p:extLst>
      <p:ext uri="{BB962C8B-B14F-4D97-AF65-F5344CB8AC3E}">
        <p14:creationId xmlns:p14="http://schemas.microsoft.com/office/powerpoint/2010/main" val="4335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ADD6-538C-FBB3-C3CD-920D935ABB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495C5C-C1E3-3AA8-4E15-3C19FA2723C7}"/>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798F9264-AD6A-1125-AC5F-35C7517A6D49}"/>
              </a:ext>
            </a:extLst>
          </p:cNvPr>
          <p:cNvSpPr>
            <a:spLocks noGrp="1"/>
          </p:cNvSpPr>
          <p:nvPr>
            <p:ph type="sldNum" sz="quarter" idx="12"/>
          </p:nvPr>
        </p:nvSpPr>
        <p:spPr/>
        <p:txBody>
          <a:bodyPr/>
          <a:lstStyle/>
          <a:p>
            <a:fld id="{5E3E23BA-6E79-2442-BA73-D218A5E297C3}" type="slidenum">
              <a:rPr lang="en-US" sz="1800" smtClean="0"/>
              <a:t>54</a:t>
            </a:fld>
            <a:endParaRPr lang="en-US" sz="1800" dirty="0"/>
          </a:p>
        </p:txBody>
      </p:sp>
      <p:sp>
        <p:nvSpPr>
          <p:cNvPr id="6" name="Rectángulo 5">
            <a:extLst>
              <a:ext uri="{FF2B5EF4-FFF2-40B4-BE49-F238E27FC236}">
                <a16:creationId xmlns:a16="http://schemas.microsoft.com/office/drawing/2014/main" id="{F8B38FAE-9C79-7404-A0C3-A55853F257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B62EF81-03DE-BD54-0A42-75611470F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FF192C3-192E-B5F4-D8B5-87549F3903F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6" name="Rectangle 41">
            <a:extLst>
              <a:ext uri="{FF2B5EF4-FFF2-40B4-BE49-F238E27FC236}">
                <a16:creationId xmlns:a16="http://schemas.microsoft.com/office/drawing/2014/main" id="{8B47C7B0-0F94-AE62-D458-69361D37D1A9}"/>
              </a:ext>
            </a:extLst>
          </p:cNvPr>
          <p:cNvSpPr>
            <a:spLocks/>
          </p:cNvSpPr>
          <p:nvPr/>
        </p:nvSpPr>
        <p:spPr bwMode="auto">
          <a:xfrm>
            <a:off x="12909406" y="576083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 name="Marcador de contenido 2">
            <a:extLst>
              <a:ext uri="{FF2B5EF4-FFF2-40B4-BE49-F238E27FC236}">
                <a16:creationId xmlns:a16="http://schemas.microsoft.com/office/drawing/2014/main" id="{8505929F-B2B6-C6D5-5D36-BC1C80F73693}"/>
              </a:ext>
            </a:extLst>
          </p:cNvPr>
          <p:cNvSpPr>
            <a:spLocks noGrp="1"/>
          </p:cNvSpPr>
          <p:nvPr>
            <p:ph idx="1"/>
          </p:nvPr>
        </p:nvSpPr>
        <p:spPr>
          <a:xfrm>
            <a:off x="710027" y="1826205"/>
            <a:ext cx="10650399" cy="1486754"/>
          </a:xfrm>
        </p:spPr>
        <p:txBody>
          <a:bodyPr>
            <a:normAutofit/>
          </a:bodyPr>
          <a:lstStyle/>
          <a:p>
            <a:pPr marL="0" indent="0" algn="ctr">
              <a:buNone/>
            </a:pPr>
            <a:r>
              <a:rPr lang="es-MX" sz="1600" dirty="0">
                <a:solidFill>
                  <a:schemeClr val="accent1"/>
                </a:solidFill>
                <a:latin typeface="Century Gothic"/>
              </a:rPr>
              <a:t>Cuando una serie de flujos crece para siempre a una tasa constante g (y WACC &gt; g), esa suma infinita de términos se puede calcular con una sola fórmula, tan simple como la de la perpetuidad. A ese resultado se le conoce como el </a:t>
            </a:r>
            <a:r>
              <a:rPr lang="es-MX" sz="1600" b="1" dirty="0">
                <a:solidFill>
                  <a:srgbClr val="C00000"/>
                </a:solidFill>
                <a:latin typeface="Century Gothic"/>
              </a:rPr>
              <a:t>Modelo de Gordon-Shapiro</a:t>
            </a:r>
            <a:r>
              <a:rPr lang="es-MX" sz="1600" dirty="0">
                <a:solidFill>
                  <a:schemeClr val="accent1"/>
                </a:solidFill>
                <a:latin typeface="Century Gothic"/>
              </a:rPr>
              <a:t>.</a:t>
            </a:r>
            <a:endParaRPr lang="es-ES" sz="1600" dirty="0">
              <a:solidFill>
                <a:schemeClr val="accent1"/>
              </a:solidFill>
              <a:latin typeface="Century Gothic"/>
            </a:endParaRPr>
          </a:p>
        </p:txBody>
      </p:sp>
      <p:sp>
        <p:nvSpPr>
          <p:cNvPr id="3" name="Flecha derecha 7">
            <a:extLst>
              <a:ext uri="{FF2B5EF4-FFF2-40B4-BE49-F238E27FC236}">
                <a16:creationId xmlns:a16="http://schemas.microsoft.com/office/drawing/2014/main" id="{3677E7D5-9528-7159-AF02-BA00CD374ADE}"/>
              </a:ext>
            </a:extLst>
          </p:cNvPr>
          <p:cNvSpPr/>
          <p:nvPr/>
        </p:nvSpPr>
        <p:spPr>
          <a:xfrm>
            <a:off x="5786210" y="3929098"/>
            <a:ext cx="449759" cy="53782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32BFD22E-4503-D41C-ADE1-A9BFFA63E84D}"/>
              </a:ext>
            </a:extLst>
          </p:cNvPr>
          <p:cNvSpPr/>
          <p:nvPr/>
        </p:nvSpPr>
        <p:spPr>
          <a:xfrm>
            <a:off x="6709627" y="3885536"/>
            <a:ext cx="1689630" cy="646331"/>
          </a:xfrm>
          <a:prstGeom prst="rect">
            <a:avLst/>
          </a:prstGeom>
        </p:spPr>
        <p:txBody>
          <a:bodyPr wrap="none">
            <a:spAutoFit/>
          </a:bodyPr>
          <a:lstStyle/>
          <a:p>
            <a:pPr algn="ctr"/>
            <a:r>
              <a:rPr lang="es-ES" dirty="0"/>
              <a:t>Modelo de </a:t>
            </a:r>
          </a:p>
          <a:p>
            <a:pPr algn="ctr"/>
            <a:r>
              <a:rPr lang="es-ES" dirty="0"/>
              <a:t>Gordon Shapiro</a:t>
            </a:r>
          </a:p>
        </p:txBody>
      </p:sp>
      <p:pic>
        <p:nvPicPr>
          <p:cNvPr id="9" name="Imagen 8" descr="latex-image-1.pdf">
            <a:extLst>
              <a:ext uri="{FF2B5EF4-FFF2-40B4-BE49-F238E27FC236}">
                <a16:creationId xmlns:a16="http://schemas.microsoft.com/office/drawing/2014/main" id="{D523C6D5-6402-A930-6A79-25217CE59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5111" y="3732940"/>
            <a:ext cx="1922054" cy="798926"/>
          </a:xfrm>
          <a:prstGeom prst="rect">
            <a:avLst/>
          </a:prstGeom>
        </p:spPr>
      </p:pic>
      <p:sp>
        <p:nvSpPr>
          <p:cNvPr id="10" name="Rectángulo 9">
            <a:extLst>
              <a:ext uri="{FF2B5EF4-FFF2-40B4-BE49-F238E27FC236}">
                <a16:creationId xmlns:a16="http://schemas.microsoft.com/office/drawing/2014/main" id="{18AF218D-CF9E-A712-5E7E-0E32E82B27F5}"/>
              </a:ext>
            </a:extLst>
          </p:cNvPr>
          <p:cNvSpPr/>
          <p:nvPr/>
        </p:nvSpPr>
        <p:spPr>
          <a:xfrm>
            <a:off x="938821" y="5329943"/>
            <a:ext cx="10314357" cy="584775"/>
          </a:xfrm>
          <a:prstGeom prst="rect">
            <a:avLst/>
          </a:prstGeom>
        </p:spPr>
        <p:txBody>
          <a:bodyPr wrap="square">
            <a:spAutoFit/>
          </a:bodyPr>
          <a:lstStyle/>
          <a:p>
            <a:pPr algn="ctr"/>
            <a:r>
              <a:rPr lang="es-ES" sz="1600" b="1" dirty="0">
                <a:solidFill>
                  <a:srgbClr val="C00000"/>
                </a:solidFill>
                <a:latin typeface="Century Gothic"/>
              </a:rPr>
              <a:t>Recordemos que D1 es el flujo de efectivo en el año 1, k es la tasa de descuento y g es la tasa de crecimiento constante.</a:t>
            </a:r>
          </a:p>
        </p:txBody>
      </p:sp>
    </p:spTree>
    <p:extLst>
      <p:ext uri="{BB962C8B-B14F-4D97-AF65-F5344CB8AC3E}">
        <p14:creationId xmlns:p14="http://schemas.microsoft.com/office/powerpoint/2010/main" val="61774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P spid="3" grpId="0" animBg="1"/>
      <p:bldP spid="7"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4ED51-9FE8-701A-517E-BC0E94FCE9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8E1E28-DE45-7156-E547-05BBA73B522E}"/>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6855B0EE-6FDB-A58F-DE76-FF712006949F}"/>
              </a:ext>
            </a:extLst>
          </p:cNvPr>
          <p:cNvSpPr>
            <a:spLocks noGrp="1"/>
          </p:cNvSpPr>
          <p:nvPr>
            <p:ph type="sldNum" sz="quarter" idx="12"/>
          </p:nvPr>
        </p:nvSpPr>
        <p:spPr/>
        <p:txBody>
          <a:bodyPr/>
          <a:lstStyle/>
          <a:p>
            <a:fld id="{5E3E23BA-6E79-2442-BA73-D218A5E297C3}" type="slidenum">
              <a:rPr lang="en-US" sz="1800" smtClean="0"/>
              <a:t>55</a:t>
            </a:fld>
            <a:endParaRPr lang="en-US" sz="1800" dirty="0"/>
          </a:p>
        </p:txBody>
      </p:sp>
      <p:sp>
        <p:nvSpPr>
          <p:cNvPr id="6" name="Rectángulo 5">
            <a:extLst>
              <a:ext uri="{FF2B5EF4-FFF2-40B4-BE49-F238E27FC236}">
                <a16:creationId xmlns:a16="http://schemas.microsoft.com/office/drawing/2014/main" id="{B9A85C6A-E7CD-5469-3CD9-ACF02184BF0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CF0D4CB-8AF3-0DC4-373E-D842E5636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A2F922-0946-7A41-26E2-7E1CEFD75CB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6" name="Rectangle 41">
            <a:extLst>
              <a:ext uri="{FF2B5EF4-FFF2-40B4-BE49-F238E27FC236}">
                <a16:creationId xmlns:a16="http://schemas.microsoft.com/office/drawing/2014/main" id="{CBD05F9F-815E-E8F6-A3FC-9DBDE24E9B79}"/>
              </a:ext>
            </a:extLst>
          </p:cNvPr>
          <p:cNvSpPr>
            <a:spLocks/>
          </p:cNvSpPr>
          <p:nvPr/>
        </p:nvSpPr>
        <p:spPr bwMode="auto">
          <a:xfrm>
            <a:off x="12909406" y="576083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 name="Marcador de contenido 2">
            <a:extLst>
              <a:ext uri="{FF2B5EF4-FFF2-40B4-BE49-F238E27FC236}">
                <a16:creationId xmlns:a16="http://schemas.microsoft.com/office/drawing/2014/main" id="{093D99B7-E34B-26B3-C445-E731D803CDE5}"/>
              </a:ext>
            </a:extLst>
          </p:cNvPr>
          <p:cNvSpPr>
            <a:spLocks noGrp="1"/>
          </p:cNvSpPr>
          <p:nvPr>
            <p:ph idx="1"/>
          </p:nvPr>
        </p:nvSpPr>
        <p:spPr>
          <a:xfrm>
            <a:off x="451408" y="1817578"/>
            <a:ext cx="10944086" cy="3720580"/>
          </a:xfrm>
        </p:spPr>
        <p:txBody>
          <a:bodyPr>
            <a:normAutofit/>
          </a:bodyPr>
          <a:lstStyle/>
          <a:p>
            <a:pPr marL="0" indent="0" algn="just">
              <a:buNone/>
            </a:pPr>
            <a:r>
              <a:rPr lang="es-ES" sz="1600" b="1" dirty="0">
                <a:solidFill>
                  <a:schemeClr val="accent1"/>
                </a:solidFill>
                <a:latin typeface="Century Gothic"/>
              </a:rPr>
              <a:t>Ejemplo 1:</a:t>
            </a:r>
          </a:p>
          <a:p>
            <a:pPr marL="0" indent="0" algn="just">
              <a:buNone/>
            </a:pPr>
            <a:endParaRPr lang="es-ES" sz="1600" b="1" dirty="0">
              <a:solidFill>
                <a:schemeClr val="accent1"/>
              </a:solidFill>
              <a:latin typeface="Century Gothic"/>
            </a:endParaRPr>
          </a:p>
          <a:p>
            <a:pPr marL="0" indent="0" algn="just">
              <a:buNone/>
            </a:pPr>
            <a:r>
              <a:rPr lang="es-ES" sz="1600" dirty="0">
                <a:solidFill>
                  <a:schemeClr val="accent1"/>
                </a:solidFill>
                <a:latin typeface="Century Gothic"/>
              </a:rPr>
              <a:t>Su nueva idea de negocio espera competir fuertemente con las arepas del SD. Usted estima generar unos ingresos de 15 millones de pesos en el primer año. A partir del segundo año las ventas incrementan anualmente en un 5%. </a:t>
            </a:r>
          </a:p>
          <a:p>
            <a:pPr marL="0" indent="0" algn="just">
              <a:buNone/>
            </a:pPr>
            <a:endParaRPr lang="es-ES" sz="1600" dirty="0">
              <a:solidFill>
                <a:schemeClr val="accent1"/>
              </a:solidFill>
              <a:latin typeface="Century Gothic"/>
            </a:endParaRPr>
          </a:p>
          <a:p>
            <a:pPr marL="0" indent="0" algn="just">
              <a:buNone/>
            </a:pPr>
            <a:r>
              <a:rPr lang="es-ES" sz="1600" dirty="0">
                <a:solidFill>
                  <a:schemeClr val="accent1"/>
                </a:solidFill>
                <a:latin typeface="Century Gothic"/>
              </a:rPr>
              <a:t>Su costo de financiarse vía Deuda y </a:t>
            </a:r>
            <a:r>
              <a:rPr lang="es-ES" sz="1600" dirty="0" err="1">
                <a:solidFill>
                  <a:schemeClr val="accent1"/>
                </a:solidFill>
                <a:latin typeface="Century Gothic"/>
              </a:rPr>
              <a:t>Equity</a:t>
            </a:r>
            <a:r>
              <a:rPr lang="es-ES" sz="1600" dirty="0">
                <a:solidFill>
                  <a:schemeClr val="accent1"/>
                </a:solidFill>
                <a:latin typeface="Century Gothic"/>
              </a:rPr>
              <a:t> es del 12% efectivo anual.</a:t>
            </a:r>
          </a:p>
          <a:p>
            <a:pPr marL="0" indent="0" algn="just">
              <a:buNone/>
            </a:pPr>
            <a:endParaRPr lang="es-ES" sz="1600" dirty="0">
              <a:solidFill>
                <a:schemeClr val="accent1"/>
              </a:solidFill>
              <a:latin typeface="Century Gothic"/>
            </a:endParaRPr>
          </a:p>
          <a:p>
            <a:pPr marL="0" indent="0" algn="just">
              <a:buNone/>
            </a:pPr>
            <a:r>
              <a:rPr lang="es-ES" sz="1600" dirty="0">
                <a:solidFill>
                  <a:schemeClr val="accent1"/>
                </a:solidFill>
                <a:latin typeface="Century Gothic"/>
              </a:rPr>
              <a:t>¿Cuál es el mínimo valor al cual usted estaría dispuesto a vender su idea de negocio? (Valor Presente)</a:t>
            </a:r>
          </a:p>
        </p:txBody>
      </p:sp>
    </p:spTree>
    <p:extLst>
      <p:ext uri="{BB962C8B-B14F-4D97-AF65-F5344CB8AC3E}">
        <p14:creationId xmlns:p14="http://schemas.microsoft.com/office/powerpoint/2010/main" val="243281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ADF8-9DDE-1185-AB55-940FEB7B68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0C503F-2F99-B292-1655-32EAFD76F84D}"/>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DF3A4A95-10B4-C18C-133A-78CF15CA7A68}"/>
              </a:ext>
            </a:extLst>
          </p:cNvPr>
          <p:cNvSpPr>
            <a:spLocks noGrp="1"/>
          </p:cNvSpPr>
          <p:nvPr>
            <p:ph type="sldNum" sz="quarter" idx="12"/>
          </p:nvPr>
        </p:nvSpPr>
        <p:spPr/>
        <p:txBody>
          <a:bodyPr/>
          <a:lstStyle/>
          <a:p>
            <a:fld id="{5E3E23BA-6E79-2442-BA73-D218A5E297C3}" type="slidenum">
              <a:rPr lang="en-US" sz="1800" smtClean="0"/>
              <a:t>56</a:t>
            </a:fld>
            <a:endParaRPr lang="en-US" sz="1800" dirty="0"/>
          </a:p>
        </p:txBody>
      </p:sp>
      <p:sp>
        <p:nvSpPr>
          <p:cNvPr id="6" name="Rectángulo 5">
            <a:extLst>
              <a:ext uri="{FF2B5EF4-FFF2-40B4-BE49-F238E27FC236}">
                <a16:creationId xmlns:a16="http://schemas.microsoft.com/office/drawing/2014/main" id="{1143F511-2B13-FFA9-2ADD-B5D3569089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F5ABA4E-F9BB-D3AF-D93A-0D5E558B87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38AA4B5-90D2-2FBC-6404-AE6E5F0630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Marcador de contenido 2">
            <a:extLst>
              <a:ext uri="{FF2B5EF4-FFF2-40B4-BE49-F238E27FC236}">
                <a16:creationId xmlns:a16="http://schemas.microsoft.com/office/drawing/2014/main" id="{E7A025E0-55EF-66E3-BE84-D9CEA7432F9C}"/>
              </a:ext>
            </a:extLst>
          </p:cNvPr>
          <p:cNvSpPr txBox="1">
            <a:spLocks/>
          </p:cNvSpPr>
          <p:nvPr/>
        </p:nvSpPr>
        <p:spPr>
          <a:xfrm>
            <a:off x="-296776" y="5483212"/>
            <a:ext cx="7610476" cy="47292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sz="2400" dirty="0"/>
              <a:t>Costo de oportunidad = WACC=12% EA</a:t>
            </a:r>
          </a:p>
        </p:txBody>
      </p:sp>
      <p:cxnSp>
        <p:nvCxnSpPr>
          <p:cNvPr id="10" name="Straight Connector 6">
            <a:extLst>
              <a:ext uri="{FF2B5EF4-FFF2-40B4-BE49-F238E27FC236}">
                <a16:creationId xmlns:a16="http://schemas.microsoft.com/office/drawing/2014/main" id="{BFBEFA0E-7C4D-4144-3AE8-9A0F7AB0D8D7}"/>
              </a:ext>
            </a:extLst>
          </p:cNvPr>
          <p:cNvCxnSpPr/>
          <p:nvPr/>
        </p:nvCxnSpPr>
        <p:spPr>
          <a:xfrm>
            <a:off x="444962" y="4384912"/>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9">
            <a:extLst>
              <a:ext uri="{FF2B5EF4-FFF2-40B4-BE49-F238E27FC236}">
                <a16:creationId xmlns:a16="http://schemas.microsoft.com/office/drawing/2014/main" id="{2B375A04-7D44-572A-0673-3D3C005FA045}"/>
              </a:ext>
            </a:extLst>
          </p:cNvPr>
          <p:cNvCxnSpPr/>
          <p:nvPr/>
        </p:nvCxnSpPr>
        <p:spPr>
          <a:xfrm flipV="1">
            <a:off x="1364886" y="3973741"/>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1">
            <a:extLst>
              <a:ext uri="{FF2B5EF4-FFF2-40B4-BE49-F238E27FC236}">
                <a16:creationId xmlns:a16="http://schemas.microsoft.com/office/drawing/2014/main" id="{09FCEF66-9B7B-0B43-2FA8-92809A60E6FE}"/>
              </a:ext>
            </a:extLst>
          </p:cNvPr>
          <p:cNvCxnSpPr/>
          <p:nvPr/>
        </p:nvCxnSpPr>
        <p:spPr>
          <a:xfrm flipV="1">
            <a:off x="2438315" y="3845465"/>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2">
            <a:extLst>
              <a:ext uri="{FF2B5EF4-FFF2-40B4-BE49-F238E27FC236}">
                <a16:creationId xmlns:a16="http://schemas.microsoft.com/office/drawing/2014/main" id="{C9E91812-BAA4-1648-5820-B9972FF707DB}"/>
              </a:ext>
            </a:extLst>
          </p:cNvPr>
          <p:cNvCxnSpPr/>
          <p:nvPr/>
        </p:nvCxnSpPr>
        <p:spPr>
          <a:xfrm flipV="1">
            <a:off x="3497789" y="373000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BFABDC6B-883C-7D0D-E1A1-B8B0830D78CD}"/>
              </a:ext>
            </a:extLst>
          </p:cNvPr>
          <p:cNvCxnSpPr/>
          <p:nvPr/>
        </p:nvCxnSpPr>
        <p:spPr>
          <a:xfrm flipV="1">
            <a:off x="4503651" y="3563244"/>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4">
            <a:extLst>
              <a:ext uri="{FF2B5EF4-FFF2-40B4-BE49-F238E27FC236}">
                <a16:creationId xmlns:a16="http://schemas.microsoft.com/office/drawing/2014/main" id="{7290F93E-0EE8-3F41-6B15-AC3E2D3DFE34}"/>
              </a:ext>
            </a:extLst>
          </p:cNvPr>
          <p:cNvCxnSpPr/>
          <p:nvPr/>
        </p:nvCxnSpPr>
        <p:spPr>
          <a:xfrm flipV="1">
            <a:off x="5577080" y="3216896"/>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5">
            <a:extLst>
              <a:ext uri="{FF2B5EF4-FFF2-40B4-BE49-F238E27FC236}">
                <a16:creationId xmlns:a16="http://schemas.microsoft.com/office/drawing/2014/main" id="{10C9585A-8E14-504C-FF87-92622A7B6523}"/>
              </a:ext>
            </a:extLst>
          </p:cNvPr>
          <p:cNvCxnSpPr/>
          <p:nvPr/>
        </p:nvCxnSpPr>
        <p:spPr>
          <a:xfrm flipV="1">
            <a:off x="6636554" y="2862496"/>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35">
            <a:extLst>
              <a:ext uri="{FF2B5EF4-FFF2-40B4-BE49-F238E27FC236}">
                <a16:creationId xmlns:a16="http://schemas.microsoft.com/office/drawing/2014/main" id="{7A7229BD-047E-19D6-326D-4A70A83B8282}"/>
              </a:ext>
            </a:extLst>
          </p:cNvPr>
          <p:cNvSpPr>
            <a:spLocks/>
          </p:cNvSpPr>
          <p:nvPr/>
        </p:nvSpPr>
        <p:spPr bwMode="auto">
          <a:xfrm>
            <a:off x="380841" y="4421393"/>
            <a:ext cx="12824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9" name="Rectangle 36">
            <a:extLst>
              <a:ext uri="{FF2B5EF4-FFF2-40B4-BE49-F238E27FC236}">
                <a16:creationId xmlns:a16="http://schemas.microsoft.com/office/drawing/2014/main" id="{F9DDB882-A04D-0B1D-4D01-B170D1D3D41E}"/>
              </a:ext>
            </a:extLst>
          </p:cNvPr>
          <p:cNvSpPr>
            <a:spLocks/>
          </p:cNvSpPr>
          <p:nvPr/>
        </p:nvSpPr>
        <p:spPr bwMode="auto">
          <a:xfrm>
            <a:off x="1194126" y="439656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0" name="Rectangle 37">
            <a:extLst>
              <a:ext uri="{FF2B5EF4-FFF2-40B4-BE49-F238E27FC236}">
                <a16:creationId xmlns:a16="http://schemas.microsoft.com/office/drawing/2014/main" id="{C4C56D5B-C297-0EE5-D26D-419EE65B5AA4}"/>
              </a:ext>
            </a:extLst>
          </p:cNvPr>
          <p:cNvSpPr>
            <a:spLocks/>
          </p:cNvSpPr>
          <p:nvPr/>
        </p:nvSpPr>
        <p:spPr bwMode="auto">
          <a:xfrm>
            <a:off x="2282614" y="439656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1" name="Rectangle 38">
            <a:extLst>
              <a:ext uri="{FF2B5EF4-FFF2-40B4-BE49-F238E27FC236}">
                <a16:creationId xmlns:a16="http://schemas.microsoft.com/office/drawing/2014/main" id="{F67FF73A-835D-458E-2A54-B13449CD807C}"/>
              </a:ext>
            </a:extLst>
          </p:cNvPr>
          <p:cNvSpPr>
            <a:spLocks/>
          </p:cNvSpPr>
          <p:nvPr/>
        </p:nvSpPr>
        <p:spPr bwMode="auto">
          <a:xfrm>
            <a:off x="3342088" y="441052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2" name="Rectangle 39">
            <a:extLst>
              <a:ext uri="{FF2B5EF4-FFF2-40B4-BE49-F238E27FC236}">
                <a16:creationId xmlns:a16="http://schemas.microsoft.com/office/drawing/2014/main" id="{6A0AC553-0A90-9A26-3A27-E0BE5FF9298D}"/>
              </a:ext>
            </a:extLst>
          </p:cNvPr>
          <p:cNvSpPr>
            <a:spLocks/>
          </p:cNvSpPr>
          <p:nvPr/>
        </p:nvSpPr>
        <p:spPr bwMode="auto">
          <a:xfrm>
            <a:off x="4347950" y="4426978"/>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3" name="Rectangle 40">
            <a:extLst>
              <a:ext uri="{FF2B5EF4-FFF2-40B4-BE49-F238E27FC236}">
                <a16:creationId xmlns:a16="http://schemas.microsoft.com/office/drawing/2014/main" id="{A21AA331-042C-13B2-0E7B-26F47C7CAFF0}"/>
              </a:ext>
            </a:extLst>
          </p:cNvPr>
          <p:cNvSpPr>
            <a:spLocks/>
          </p:cNvSpPr>
          <p:nvPr/>
        </p:nvSpPr>
        <p:spPr bwMode="auto">
          <a:xfrm>
            <a:off x="5421379" y="439656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4" name="Rectangle 41">
            <a:extLst>
              <a:ext uri="{FF2B5EF4-FFF2-40B4-BE49-F238E27FC236}">
                <a16:creationId xmlns:a16="http://schemas.microsoft.com/office/drawing/2014/main" id="{7DEC230A-AF20-6C71-47D1-7E930B5E8226}"/>
              </a:ext>
            </a:extLst>
          </p:cNvPr>
          <p:cNvSpPr>
            <a:spLocks/>
          </p:cNvSpPr>
          <p:nvPr/>
        </p:nvSpPr>
        <p:spPr bwMode="auto">
          <a:xfrm>
            <a:off x="6480853" y="439656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5" name="Rectangle 35">
            <a:extLst>
              <a:ext uri="{FF2B5EF4-FFF2-40B4-BE49-F238E27FC236}">
                <a16:creationId xmlns:a16="http://schemas.microsoft.com/office/drawing/2014/main" id="{77E8A2DA-6241-CD9E-111F-CCF396E12FED}"/>
              </a:ext>
            </a:extLst>
          </p:cNvPr>
          <p:cNvSpPr>
            <a:spLocks/>
          </p:cNvSpPr>
          <p:nvPr/>
        </p:nvSpPr>
        <p:spPr bwMode="auto">
          <a:xfrm>
            <a:off x="1262304" y="3669515"/>
            <a:ext cx="256481"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26" name="Rectangle 35">
            <a:extLst>
              <a:ext uri="{FF2B5EF4-FFF2-40B4-BE49-F238E27FC236}">
                <a16:creationId xmlns:a16="http://schemas.microsoft.com/office/drawing/2014/main" id="{01772914-9578-2C28-CBE7-E60F3123F9C3}"/>
              </a:ext>
            </a:extLst>
          </p:cNvPr>
          <p:cNvSpPr>
            <a:spLocks/>
          </p:cNvSpPr>
          <p:nvPr/>
        </p:nvSpPr>
        <p:spPr bwMode="auto">
          <a:xfrm>
            <a:off x="1978834" y="3550045"/>
            <a:ext cx="100187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15(1+5%)</a:t>
            </a:r>
          </a:p>
        </p:txBody>
      </p:sp>
      <p:sp>
        <p:nvSpPr>
          <p:cNvPr id="27" name="Rectangle 35">
            <a:extLst>
              <a:ext uri="{FF2B5EF4-FFF2-40B4-BE49-F238E27FC236}">
                <a16:creationId xmlns:a16="http://schemas.microsoft.com/office/drawing/2014/main" id="{B46D24F3-AA95-8124-BE5B-C6A43727964A}"/>
              </a:ext>
            </a:extLst>
          </p:cNvPr>
          <p:cNvSpPr>
            <a:spLocks/>
          </p:cNvSpPr>
          <p:nvPr/>
        </p:nvSpPr>
        <p:spPr bwMode="auto">
          <a:xfrm>
            <a:off x="2954372" y="3456224"/>
            <a:ext cx="108683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2</a:t>
            </a:r>
            <a:endParaRPr lang="en-US" sz="2000"/>
          </a:p>
        </p:txBody>
      </p:sp>
      <p:sp>
        <p:nvSpPr>
          <p:cNvPr id="28" name="Rectangle 35">
            <a:extLst>
              <a:ext uri="{FF2B5EF4-FFF2-40B4-BE49-F238E27FC236}">
                <a16:creationId xmlns:a16="http://schemas.microsoft.com/office/drawing/2014/main" id="{2B3A5A53-185F-B89C-7894-375D974A9FF2}"/>
              </a:ext>
            </a:extLst>
          </p:cNvPr>
          <p:cNvSpPr>
            <a:spLocks/>
          </p:cNvSpPr>
          <p:nvPr/>
        </p:nvSpPr>
        <p:spPr bwMode="auto">
          <a:xfrm>
            <a:off x="3985892" y="3260589"/>
            <a:ext cx="108683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3</a:t>
            </a:r>
            <a:endParaRPr lang="en-US" sz="2000"/>
          </a:p>
        </p:txBody>
      </p:sp>
      <p:sp>
        <p:nvSpPr>
          <p:cNvPr id="29" name="Rectangle 35">
            <a:extLst>
              <a:ext uri="{FF2B5EF4-FFF2-40B4-BE49-F238E27FC236}">
                <a16:creationId xmlns:a16="http://schemas.microsoft.com/office/drawing/2014/main" id="{0E3CDA9D-6DC2-59FE-02D2-31080432DAC3}"/>
              </a:ext>
            </a:extLst>
          </p:cNvPr>
          <p:cNvSpPr>
            <a:spLocks/>
          </p:cNvSpPr>
          <p:nvPr/>
        </p:nvSpPr>
        <p:spPr bwMode="auto">
          <a:xfrm>
            <a:off x="5033663" y="2939898"/>
            <a:ext cx="108683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4</a:t>
            </a:r>
            <a:endParaRPr lang="en-US" sz="2000"/>
          </a:p>
        </p:txBody>
      </p:sp>
      <p:sp>
        <p:nvSpPr>
          <p:cNvPr id="30" name="Rectangle 35">
            <a:extLst>
              <a:ext uri="{FF2B5EF4-FFF2-40B4-BE49-F238E27FC236}">
                <a16:creationId xmlns:a16="http://schemas.microsoft.com/office/drawing/2014/main" id="{F63F1796-49D7-A360-4B13-ABE6C55DD65F}"/>
              </a:ext>
            </a:extLst>
          </p:cNvPr>
          <p:cNvSpPr>
            <a:spLocks/>
          </p:cNvSpPr>
          <p:nvPr/>
        </p:nvSpPr>
        <p:spPr bwMode="auto">
          <a:xfrm>
            <a:off x="6063646" y="2393078"/>
            <a:ext cx="122629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n-1</a:t>
            </a:r>
            <a:endParaRPr lang="en-US" sz="2000"/>
          </a:p>
        </p:txBody>
      </p:sp>
      <p:sp>
        <p:nvSpPr>
          <p:cNvPr id="31" name="CuadroTexto 30">
            <a:extLst>
              <a:ext uri="{FF2B5EF4-FFF2-40B4-BE49-F238E27FC236}">
                <a16:creationId xmlns:a16="http://schemas.microsoft.com/office/drawing/2014/main" id="{14C72794-A761-405A-6E78-C1B2AA0A152E}"/>
              </a:ext>
            </a:extLst>
          </p:cNvPr>
          <p:cNvSpPr txBox="1"/>
          <p:nvPr/>
        </p:nvSpPr>
        <p:spPr>
          <a:xfrm>
            <a:off x="5884722" y="3827043"/>
            <a:ext cx="1295747" cy="400110"/>
          </a:xfrm>
          <a:prstGeom prst="rect">
            <a:avLst/>
          </a:prstGeom>
          <a:noFill/>
        </p:spPr>
        <p:txBody>
          <a:bodyPr wrap="square" rtlCol="0">
            <a:spAutoFit/>
          </a:bodyPr>
          <a:lstStyle/>
          <a:p>
            <a:r>
              <a:rPr lang="es-ES" sz="2000"/>
              <a:t>…</a:t>
            </a:r>
          </a:p>
        </p:txBody>
      </p:sp>
      <p:grpSp>
        <p:nvGrpSpPr>
          <p:cNvPr id="32" name="Grupo 31">
            <a:extLst>
              <a:ext uri="{FF2B5EF4-FFF2-40B4-BE49-F238E27FC236}">
                <a16:creationId xmlns:a16="http://schemas.microsoft.com/office/drawing/2014/main" id="{ABFE769C-495A-F556-16FC-6E436DD32FA2}"/>
              </a:ext>
            </a:extLst>
          </p:cNvPr>
          <p:cNvGrpSpPr/>
          <p:nvPr/>
        </p:nvGrpSpPr>
        <p:grpSpPr>
          <a:xfrm>
            <a:off x="8415102" y="2643870"/>
            <a:ext cx="2158995" cy="876300"/>
            <a:chOff x="3031062" y="3375423"/>
            <a:chExt cx="2158995" cy="876300"/>
          </a:xfrm>
        </p:grpSpPr>
        <p:pic>
          <p:nvPicPr>
            <p:cNvPr id="33" name="Imagen 7" descr="latex-image-1.pdf">
              <a:extLst>
                <a:ext uri="{FF2B5EF4-FFF2-40B4-BE49-F238E27FC236}">
                  <a16:creationId xmlns:a16="http://schemas.microsoft.com/office/drawing/2014/main" id="{002C1810-180B-74F7-0669-0743322B1E2A}"/>
                </a:ext>
              </a:extLst>
            </p:cNvPr>
            <p:cNvPicPr>
              <a:picLocks noChangeAspect="1"/>
            </p:cNvPicPr>
            <p:nvPr/>
          </p:nvPicPr>
          <p:blipFill rotWithShape="1">
            <a:blip r:embed="rId3">
              <a:extLst>
                <a:ext uri="{28A0092B-C50C-407E-A947-70E740481C1C}">
                  <a14:useLocalDpi xmlns:a14="http://schemas.microsoft.com/office/drawing/2010/main" val="0"/>
                </a:ext>
              </a:extLst>
            </a:blip>
            <a:srcRect r="73174"/>
            <a:stretch/>
          </p:blipFill>
          <p:spPr>
            <a:xfrm>
              <a:off x="3031062" y="3375423"/>
              <a:ext cx="855138" cy="876300"/>
            </a:xfrm>
            <a:prstGeom prst="rect">
              <a:avLst/>
            </a:prstGeom>
          </p:spPr>
        </p:pic>
        <p:pic>
          <p:nvPicPr>
            <p:cNvPr id="34" name="Imagen 7" descr="latex-image-1.pdf">
              <a:extLst>
                <a:ext uri="{FF2B5EF4-FFF2-40B4-BE49-F238E27FC236}">
                  <a16:creationId xmlns:a16="http://schemas.microsoft.com/office/drawing/2014/main" id="{FD3DD852-8602-87F4-95FA-5A5961789535}"/>
                </a:ext>
              </a:extLst>
            </p:cNvPr>
            <p:cNvPicPr>
              <a:picLocks noChangeAspect="1"/>
            </p:cNvPicPr>
            <p:nvPr/>
          </p:nvPicPr>
          <p:blipFill rotWithShape="1">
            <a:blip r:embed="rId3">
              <a:extLst>
                <a:ext uri="{28A0092B-C50C-407E-A947-70E740481C1C}">
                  <a14:useLocalDpi xmlns:a14="http://schemas.microsoft.com/office/drawing/2010/main" val="0"/>
                </a:ext>
              </a:extLst>
            </a:blip>
            <a:srcRect l="60608"/>
            <a:stretch/>
          </p:blipFill>
          <p:spPr>
            <a:xfrm>
              <a:off x="3934344" y="3375423"/>
              <a:ext cx="1255713" cy="876300"/>
            </a:xfrm>
            <a:prstGeom prst="rect">
              <a:avLst/>
            </a:prstGeom>
          </p:spPr>
        </p:pic>
      </p:grpSp>
      <p:grpSp>
        <p:nvGrpSpPr>
          <p:cNvPr id="35" name="Grupo 34">
            <a:extLst>
              <a:ext uri="{FF2B5EF4-FFF2-40B4-BE49-F238E27FC236}">
                <a16:creationId xmlns:a16="http://schemas.microsoft.com/office/drawing/2014/main" id="{13854398-ED6E-51EC-341E-E8FDB10CA5C5}"/>
              </a:ext>
            </a:extLst>
          </p:cNvPr>
          <p:cNvGrpSpPr/>
          <p:nvPr/>
        </p:nvGrpSpPr>
        <p:grpSpPr>
          <a:xfrm>
            <a:off x="8042762" y="3891896"/>
            <a:ext cx="2903675" cy="879844"/>
            <a:chOff x="2542901" y="4401622"/>
            <a:chExt cx="2903675" cy="879844"/>
          </a:xfrm>
        </p:grpSpPr>
        <p:pic>
          <p:nvPicPr>
            <p:cNvPr id="36" name="Imagen 6" descr="latex-image-1.pdf">
              <a:extLst>
                <a:ext uri="{FF2B5EF4-FFF2-40B4-BE49-F238E27FC236}">
                  <a16:creationId xmlns:a16="http://schemas.microsoft.com/office/drawing/2014/main" id="{A67B02A4-E1C6-944C-CC64-C64B463B46A8}"/>
                </a:ext>
              </a:extLst>
            </p:cNvPr>
            <p:cNvPicPr>
              <a:picLocks noChangeAspect="1"/>
            </p:cNvPicPr>
            <p:nvPr/>
          </p:nvPicPr>
          <p:blipFill rotWithShape="1">
            <a:blip r:embed="rId4">
              <a:extLst>
                <a:ext uri="{28A0092B-C50C-407E-A947-70E740481C1C}">
                  <a14:useLocalDpi xmlns:a14="http://schemas.microsoft.com/office/drawing/2010/main" val="0"/>
                </a:ext>
              </a:extLst>
            </a:blip>
            <a:srcRect r="79474"/>
            <a:stretch/>
          </p:blipFill>
          <p:spPr>
            <a:xfrm>
              <a:off x="2542901" y="4405166"/>
              <a:ext cx="828949" cy="876300"/>
            </a:xfrm>
            <a:prstGeom prst="rect">
              <a:avLst/>
            </a:prstGeom>
          </p:spPr>
        </p:pic>
        <p:pic>
          <p:nvPicPr>
            <p:cNvPr id="37" name="Imagen 6" descr="latex-image-1.pdf">
              <a:extLst>
                <a:ext uri="{FF2B5EF4-FFF2-40B4-BE49-F238E27FC236}">
                  <a16:creationId xmlns:a16="http://schemas.microsoft.com/office/drawing/2014/main" id="{2A184E8F-4544-956F-AC64-1E67B9ADF8B9}"/>
                </a:ext>
              </a:extLst>
            </p:cNvPr>
            <p:cNvPicPr>
              <a:picLocks noChangeAspect="1"/>
            </p:cNvPicPr>
            <p:nvPr/>
          </p:nvPicPr>
          <p:blipFill rotWithShape="1">
            <a:blip r:embed="rId4">
              <a:extLst>
                <a:ext uri="{28A0092B-C50C-407E-A947-70E740481C1C}">
                  <a14:useLocalDpi xmlns:a14="http://schemas.microsoft.com/office/drawing/2010/main" val="0"/>
                </a:ext>
              </a:extLst>
            </a:blip>
            <a:srcRect l="48628"/>
            <a:stretch/>
          </p:blipFill>
          <p:spPr>
            <a:xfrm>
              <a:off x="3371850" y="4401622"/>
              <a:ext cx="2074726" cy="876300"/>
            </a:xfrm>
            <a:prstGeom prst="rect">
              <a:avLst/>
            </a:prstGeom>
          </p:spPr>
        </p:pic>
      </p:grpSp>
      <p:grpSp>
        <p:nvGrpSpPr>
          <p:cNvPr id="38" name="Grupo 37">
            <a:extLst>
              <a:ext uri="{FF2B5EF4-FFF2-40B4-BE49-F238E27FC236}">
                <a16:creationId xmlns:a16="http://schemas.microsoft.com/office/drawing/2014/main" id="{E9CE85B8-77D0-3278-DDE7-C4BD450C3B7F}"/>
              </a:ext>
            </a:extLst>
          </p:cNvPr>
          <p:cNvGrpSpPr/>
          <p:nvPr/>
        </p:nvGrpSpPr>
        <p:grpSpPr>
          <a:xfrm>
            <a:off x="8534500" y="5366921"/>
            <a:ext cx="1920198" cy="412831"/>
            <a:chOff x="2968746" y="5559343"/>
            <a:chExt cx="1920198" cy="412831"/>
          </a:xfrm>
        </p:grpSpPr>
        <p:pic>
          <p:nvPicPr>
            <p:cNvPr id="39" name="Imagen 8" descr="latex-image-1.pdf">
              <a:extLst>
                <a:ext uri="{FF2B5EF4-FFF2-40B4-BE49-F238E27FC236}">
                  <a16:creationId xmlns:a16="http://schemas.microsoft.com/office/drawing/2014/main" id="{D3BA0E57-A972-2232-93E0-CB7F22D7402D}"/>
                </a:ext>
              </a:extLst>
            </p:cNvPr>
            <p:cNvPicPr>
              <a:picLocks noChangeAspect="1"/>
            </p:cNvPicPr>
            <p:nvPr/>
          </p:nvPicPr>
          <p:blipFill rotWithShape="1">
            <a:blip r:embed="rId5">
              <a:extLst>
                <a:ext uri="{28A0092B-C50C-407E-A947-70E740481C1C}">
                  <a14:useLocalDpi xmlns:a14="http://schemas.microsoft.com/office/drawing/2010/main" val="0"/>
                </a:ext>
              </a:extLst>
            </a:blip>
            <a:srcRect r="74293" b="-8354"/>
            <a:stretch/>
          </p:blipFill>
          <p:spPr>
            <a:xfrm>
              <a:off x="2968746" y="5559343"/>
              <a:ext cx="803154" cy="412831"/>
            </a:xfrm>
            <a:prstGeom prst="rect">
              <a:avLst/>
            </a:prstGeom>
          </p:spPr>
        </p:pic>
        <p:pic>
          <p:nvPicPr>
            <p:cNvPr id="40" name="Imagen 8" descr="latex-image-1.pdf">
              <a:extLst>
                <a:ext uri="{FF2B5EF4-FFF2-40B4-BE49-F238E27FC236}">
                  <a16:creationId xmlns:a16="http://schemas.microsoft.com/office/drawing/2014/main" id="{E7ACD735-0204-9358-30FB-1804754177EA}"/>
                </a:ext>
              </a:extLst>
            </p:cNvPr>
            <p:cNvPicPr>
              <a:picLocks noChangeAspect="1"/>
            </p:cNvPicPr>
            <p:nvPr/>
          </p:nvPicPr>
          <p:blipFill rotWithShape="1">
            <a:blip r:embed="rId5">
              <a:extLst>
                <a:ext uri="{28A0092B-C50C-407E-A947-70E740481C1C}">
                  <a14:useLocalDpi xmlns:a14="http://schemas.microsoft.com/office/drawing/2010/main" val="0"/>
                </a:ext>
              </a:extLst>
            </a:blip>
            <a:srcRect l="61944" t="-1" b="1895"/>
            <a:stretch/>
          </p:blipFill>
          <p:spPr>
            <a:xfrm>
              <a:off x="3700000" y="5585235"/>
              <a:ext cx="1188944" cy="373781"/>
            </a:xfrm>
            <a:prstGeom prst="rect">
              <a:avLst/>
            </a:prstGeom>
          </p:spPr>
        </p:pic>
      </p:grpSp>
    </p:spTree>
    <p:extLst>
      <p:ext uri="{BB962C8B-B14F-4D97-AF65-F5344CB8AC3E}">
        <p14:creationId xmlns:p14="http://schemas.microsoft.com/office/powerpoint/2010/main" val="43198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5" name="Título 1">
            <a:extLst>
              <a:ext uri="{FF2B5EF4-FFF2-40B4-BE49-F238E27FC236}">
                <a16:creationId xmlns:a16="http://schemas.microsoft.com/office/drawing/2014/main" id="{E648F019-4A15-BB52-31C8-516379DFA8DD}"/>
              </a:ext>
            </a:extLst>
          </p:cNvPr>
          <p:cNvSpPr>
            <a:spLocks noGrp="1"/>
          </p:cNvSpPr>
          <p:nvPr>
            <p:ph type="ctrTitle"/>
          </p:nvPr>
        </p:nvSpPr>
        <p:spPr>
          <a:xfrm>
            <a:off x="470868" y="1814732"/>
            <a:ext cx="11266506" cy="826833"/>
          </a:xfrm>
        </p:spPr>
        <p:txBody>
          <a:bodyPr>
            <a:noAutofit/>
          </a:bodyPr>
          <a:lstStyle/>
          <a:p>
            <a:r>
              <a:rPr lang="es-CO" sz="3200" dirty="0">
                <a:latin typeface="Century Gothic"/>
                <a:ea typeface="+mj-lt"/>
                <a:cs typeface="+mj-lt"/>
              </a:rPr>
              <a:t>LA CONSTRUCCIÓN DEL FLUJO DE CAJA LIBRE DE un PROYECTO (</a:t>
            </a:r>
            <a:r>
              <a:rPr lang="es-CO" sz="3200" dirty="0" err="1">
                <a:solidFill>
                  <a:srgbClr val="D7A700"/>
                </a:solidFill>
                <a:latin typeface="Century Gothic"/>
                <a:ea typeface="+mj-lt"/>
                <a:cs typeface="+mj-lt"/>
              </a:rPr>
              <a:t>PaRTE</a:t>
            </a:r>
            <a:r>
              <a:rPr lang="es-CO" sz="3200" dirty="0">
                <a:solidFill>
                  <a:srgbClr val="D7A700"/>
                </a:solidFill>
                <a:latin typeface="Century Gothic"/>
                <a:ea typeface="+mj-lt"/>
                <a:cs typeface="+mj-lt"/>
              </a:rPr>
              <a:t> III</a:t>
            </a:r>
            <a:r>
              <a:rPr lang="es-CO" sz="3200" dirty="0">
                <a:latin typeface="Century Gothic"/>
                <a:ea typeface="+mj-lt"/>
                <a:cs typeface="+mj-lt"/>
              </a:rPr>
              <a:t>)</a:t>
            </a:r>
            <a:endParaRPr lang="es-ES" dirty="0">
              <a:latin typeface="Century Gothic"/>
            </a:endParaRPr>
          </a:p>
        </p:txBody>
      </p:sp>
      <p:sp>
        <p:nvSpPr>
          <p:cNvPr id="10" name="CuadroTexto 9">
            <a:extLst>
              <a:ext uri="{FF2B5EF4-FFF2-40B4-BE49-F238E27FC236}">
                <a16:creationId xmlns:a16="http://schemas.microsoft.com/office/drawing/2014/main" id="{C0EA3E87-E55D-1A5A-0213-898584679795}"/>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11" name="Rectángulo 10">
            <a:extLst>
              <a:ext uri="{FF2B5EF4-FFF2-40B4-BE49-F238E27FC236}">
                <a16:creationId xmlns:a16="http://schemas.microsoft.com/office/drawing/2014/main" id="{3FFD1143-6641-C27C-23E7-F02749BF0C7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Dividend</Template>
  <TotalTime>7702</TotalTime>
  <Words>4993</Words>
  <Application>Microsoft Office PowerPoint</Application>
  <PresentationFormat>Panorámica</PresentationFormat>
  <Paragraphs>1385</Paragraphs>
  <Slides>57</Slides>
  <Notes>5</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57</vt:i4>
      </vt:variant>
    </vt:vector>
  </HeadingPairs>
  <TitlesOfParts>
    <vt:vector size="67" baseType="lpstr">
      <vt:lpstr>Arial</vt:lpstr>
      <vt:lpstr>Calibri</vt:lpstr>
      <vt:lpstr>Cambria Math</vt:lpstr>
      <vt:lpstr>Century Gothic</vt:lpstr>
      <vt:lpstr>Gill Sans Light</vt:lpstr>
      <vt:lpstr>Gill Sans MT</vt:lpstr>
      <vt:lpstr>Helvetica</vt:lpstr>
      <vt:lpstr>Wingdings</vt:lpstr>
      <vt:lpstr>Wingdings 2</vt:lpstr>
      <vt:lpstr>Dividendo</vt:lpstr>
      <vt:lpstr>LA CONSTRUCCIÓN DEL FLUJO DE CAJA LIBRE DE un PROYECTO (PaRTE III)</vt:lpstr>
      <vt:lpstr>AGENDA PROPUESTA</vt:lpstr>
      <vt:lpstr>AGENDA PROPUESTA</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Capital de Trabajo (WC)</vt:lpstr>
      <vt:lpstr>AGENDA PROPUESTA</vt:lpstr>
      <vt:lpstr>Capital de Trabajo (WC)</vt:lpstr>
      <vt:lpstr>Capital de Trabajo (WC)</vt:lpstr>
      <vt:lpstr>Capital de Trabajo (WC)</vt:lpstr>
      <vt:lpstr>Capital de Trabajo (WC)</vt:lpstr>
      <vt:lpstr>Capital de Trabajo (WC)</vt:lpstr>
      <vt:lpstr>Capital de Trabajo (WC)</vt:lpstr>
      <vt:lpstr>AGENDA PROPUESTA</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Variación de PPE e Intangibles (CAPEX)</vt:lpstr>
      <vt:lpstr>AGENDA PROPUESTA</vt:lpstr>
      <vt:lpstr>IMPUESTO OCASIONAL</vt:lpstr>
      <vt:lpstr>IMPUESTO OCASIONAL</vt:lpstr>
      <vt:lpstr>IMPUESTO OCASIONAL</vt:lpstr>
      <vt:lpstr>IMPUESTO OCASIONAL</vt:lpstr>
      <vt:lpstr>IMPUESTO OCASIONAL</vt:lpstr>
      <vt:lpstr>IMPUESTO OCASIONAL</vt:lpstr>
      <vt:lpstr>AGENDA PROPUESTA</vt:lpstr>
      <vt:lpstr>VALOR TERMINAL </vt:lpstr>
      <vt:lpstr>VALOR TERMINAL </vt:lpstr>
      <vt:lpstr>VALOR TERMINAL </vt:lpstr>
      <vt:lpstr>VALOR TERMINAL </vt:lpstr>
      <vt:lpstr>VALOR TERMINAL </vt:lpstr>
      <vt:lpstr>LA CONSTRUCCIÓN DEL FLUJO DE CAJA LIBRE DE un PROYECTO (PaRTE III)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Diana Bohorquez</cp:lastModifiedBy>
  <cp:revision>176</cp:revision>
  <dcterms:created xsi:type="dcterms:W3CDTF">2019-06-20T04:25:04Z</dcterms:created>
  <dcterms:modified xsi:type="dcterms:W3CDTF">2026-09-08T00:16:39Z</dcterms:modified>
</cp:coreProperties>
</file>