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28"/>
  </p:notesMasterIdLst>
  <p:handoutMasterIdLst>
    <p:handoutMasterId r:id="rId29"/>
  </p:handoutMasterIdLst>
  <p:sldIdLst>
    <p:sldId id="398" r:id="rId2"/>
    <p:sldId id="354" r:id="rId3"/>
    <p:sldId id="785" r:id="rId4"/>
    <p:sldId id="776" r:id="rId5"/>
    <p:sldId id="715" r:id="rId6"/>
    <p:sldId id="756" r:id="rId7"/>
    <p:sldId id="757" r:id="rId8"/>
    <p:sldId id="758" r:id="rId9"/>
    <p:sldId id="778" r:id="rId10"/>
    <p:sldId id="767" r:id="rId11"/>
    <p:sldId id="762" r:id="rId12"/>
    <p:sldId id="777" r:id="rId13"/>
    <p:sldId id="763" r:id="rId14"/>
    <p:sldId id="764" r:id="rId15"/>
    <p:sldId id="784" r:id="rId16"/>
    <p:sldId id="768" r:id="rId17"/>
    <p:sldId id="760" r:id="rId18"/>
    <p:sldId id="771" r:id="rId19"/>
    <p:sldId id="779" r:id="rId20"/>
    <p:sldId id="780" r:id="rId21"/>
    <p:sldId id="781" r:id="rId22"/>
    <p:sldId id="772" r:id="rId23"/>
    <p:sldId id="782" r:id="rId24"/>
    <p:sldId id="783" r:id="rId25"/>
    <p:sldId id="775" r:id="rId26"/>
    <p:sldId id="76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700"/>
    <a:srgbClr val="003300"/>
    <a:srgbClr val="FFFC75"/>
    <a:srgbClr val="DFFFFF"/>
    <a:srgbClr val="A6DFBF"/>
    <a:srgbClr val="485056"/>
    <a:srgbClr val="FF0000"/>
    <a:srgbClr val="FFEFEF"/>
    <a:srgbClr val="00B050"/>
    <a:srgbClr val="FAE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FA146403-BBA5-5A93-8956-7210BF70CAFE}"/>
    <pc:docChg chg="addSld modSld">
      <pc:chgData name="Brigitte Castañeda Rodriguez" userId="5c201908-82f6-498c-9281-7eaa96fb17b4" providerId="ADAL" clId="{FA146403-BBA5-5A93-8956-7210BF70CAFE}" dt="2026-10-20T17:38:29.460" v="0"/>
      <pc:docMkLst>
        <pc:docMk/>
      </pc:docMkLst>
      <pc:sldChg chg="add">
        <pc:chgData name="Brigitte Castañeda Rodriguez" userId="5c201908-82f6-498c-9281-7eaa96fb17b4" providerId="ADAL" clId="{FA146403-BBA5-5A93-8956-7210BF70CAFE}" dt="2026-10-20T17:38:29.460" v="0"/>
        <pc:sldMkLst>
          <pc:docMk/>
          <pc:sldMk cId="498179394" sldId="7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20/10/26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20/10/26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shorturl.at</a:t>
            </a:r>
            <a:r>
              <a:rPr lang="en-US" dirty="0"/>
              <a:t>/</a:t>
            </a:r>
            <a:r>
              <a:rPr lang="en-US" dirty="0" err="1"/>
              <a:t>yUJAj</a:t>
            </a:r>
            <a:r>
              <a:rPr lang="en-US" dirty="0"/>
              <a:t> </a:t>
            </a:r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2390667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910117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4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1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0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7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1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0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6108" y="1527048"/>
            <a:ext cx="11218212" cy="1122137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promedio ponderado de capital (</a:t>
            </a:r>
            <a:r>
              <a:rPr lang="es-ES" sz="3200" dirty="0">
                <a:solidFill>
                  <a:srgbClr val="D7A700"/>
                </a:solidFill>
                <a:latin typeface="Century Gothic"/>
              </a:rPr>
              <a:t>WACC</a:t>
            </a:r>
            <a:r>
              <a:rPr lang="es-ES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9A2F7FD-DB75-B2F6-96F6-C7A714073C9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3D62EEA9-E977-2B15-6DB5-97AE28399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DACCAD9-71B4-2FA0-1592-3F9D80605EB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34046"/>
            <a:ext cx="8540907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Costo Promedio Ponderado de Capital (WACC)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Restricciones Deuda – Equity (D/E)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Ejercicio de construcción del WACC</a:t>
            </a: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A804F0A-3A31-D532-1D1D-5395A053AC0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7F99-AD27-26CA-106B-32F69430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EXCEL REPASO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513478-59CD-8183-C3B1-D40B767E5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1083" y="2285837"/>
            <a:ext cx="3746500" cy="3670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54DAD-A0D9-3745-F183-98DD30E3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43449-93A7-DE0C-865A-7CFD8200A79C}"/>
              </a:ext>
            </a:extLst>
          </p:cNvPr>
          <p:cNvSpPr txBox="1"/>
          <p:nvPr/>
        </p:nvSpPr>
        <p:spPr>
          <a:xfrm>
            <a:off x="1388533" y="3466714"/>
            <a:ext cx="3162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https://</a:t>
            </a:r>
            <a:r>
              <a:rPr lang="en-US" sz="2400" dirty="0" err="1">
                <a:solidFill>
                  <a:srgbClr val="FF0000"/>
                </a:solidFill>
              </a:rPr>
              <a:t>shorturl.at</a:t>
            </a:r>
            <a:r>
              <a:rPr lang="en-US" sz="2400" dirty="0">
                <a:solidFill>
                  <a:srgbClr val="FF0000"/>
                </a:solidFill>
              </a:rPr>
              <a:t>/</a:t>
            </a:r>
            <a:r>
              <a:rPr lang="en-US" sz="2400" dirty="0" err="1">
                <a:solidFill>
                  <a:srgbClr val="FF0000"/>
                </a:solidFill>
              </a:rPr>
              <a:t>yUJAj</a:t>
            </a:r>
            <a:endParaRPr lang="en-CO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17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1D84-8A0A-56FF-0705-B34FEF92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6145-9CE1-2F56-B88D-48976D78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A2C415-B9AB-423B-0E4D-306374D56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964AB87B-B1C0-BA84-2E75-A094082B45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61CECEA0-7060-CB77-FFFF-47823244CA79}"/>
              </a:ext>
            </a:extLst>
          </p:cNvPr>
          <p:cNvSpPr/>
          <p:nvPr/>
        </p:nvSpPr>
        <p:spPr>
          <a:xfrm>
            <a:off x="2806200" y="2734046"/>
            <a:ext cx="8540907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Costo Promedio Ponderado de Capital (WACC)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Restricciones Deuda – Equity (D/E)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Ejercicio de construcción del WACC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C7194A8-2481-3D8B-2E43-4C3D0236651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0F6CDB94-7BE5-A98C-315A-9889350DA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29F7B4A-EAC2-9C10-D390-7125CB8D624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1056-724D-5AE0-5E19-B32ABA0B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B58F26-3B71-5541-2D9E-136F478D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5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4AA32A-E7B7-EEDB-0D6E-A4011A101EA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E9D4A51-F1B0-E035-2742-CD766193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7B2A808-E8F9-A0D1-2D80-F13D0CAD5FC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5C6CC22-2589-953D-EF38-0D1224BC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PROMEDIO PONDERADO DE CAPITAL (WACC)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CF72F2E-9DB3-B37C-7EAD-19155E83C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41406"/>
            <a:ext cx="7623439" cy="4108078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Ya hemos desarrollado las herramientas necesarias para estimar el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costo de oportunidad de los acreedores (costo de la duda)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y el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costo de oportunidad de los accionistas (costo del equity)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Sin embargo, lo que nos interesa es el 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costo de capital total del proyecto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 intuitivo pensar que, dado que el proyecto se fondea a través de una mezcla de deuda y equity, su costo será una 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mezcla del costo de oportunidad de la deuda y el equity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Este enfoque es conocido como el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WACC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11" name="Picture 10" descr="equilibrar los ingresos y la deuda de los hombres de negocios idea de  negocio. vector de ilustración de dibujos animados de estilo plano 5611463  Vector en Vecteezy">
            <a:extLst>
              <a:ext uri="{FF2B5EF4-FFF2-40B4-BE49-F238E27FC236}">
                <a16:creationId xmlns:a16="http://schemas.microsoft.com/office/drawing/2014/main" id="{531619A1-FA39-2F04-8E88-11C70EBBE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815" y="2952577"/>
            <a:ext cx="3051077" cy="215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8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E5A3D-F3DA-B3B7-760A-6FBE0651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B78B2B-33F9-CDF9-F866-5FF71B5A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6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9EDB2B-0DA3-98CE-B767-4E5DC2918E7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BF0433C-BA9C-085A-4463-60BC48BBB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695B111-C8BF-BCF6-774B-8E7B3CB2ECD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76A8FBC-2531-B9F7-79AD-078E72C1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PROMEDIO PONDERADO DE CAPITAL (WACC)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026C7ACD-40B6-A2F5-784C-6FBAAFC51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1859" y="3185978"/>
            <a:ext cx="2444621" cy="449494"/>
          </a:xfrm>
          <a:ln>
            <a:noFill/>
          </a:ln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ES" sz="2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Antes de Impuestos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1F2767F-DDA8-7F47-E095-663DAFCC2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153" y="3952985"/>
            <a:ext cx="7380026" cy="743798"/>
          </a:xfrm>
          <a:prstGeom prst="rect">
            <a:avLst/>
          </a:prstGeom>
        </p:spPr>
      </p:pic>
      <p:cxnSp>
        <p:nvCxnSpPr>
          <p:cNvPr id="20" name="Conector: angular 14">
            <a:extLst>
              <a:ext uri="{FF2B5EF4-FFF2-40B4-BE49-F238E27FC236}">
                <a16:creationId xmlns:a16="http://schemas.microsoft.com/office/drawing/2014/main" id="{E2326295-0837-A673-0909-298C220D0982}"/>
              </a:ext>
            </a:extLst>
          </p:cNvPr>
          <p:cNvCxnSpPr>
            <a:cxnSpLocks/>
            <a:endCxn id="18" idx="1"/>
          </p:cNvCxnSpPr>
          <p:nvPr/>
        </p:nvCxnSpPr>
        <p:spPr>
          <a:xfrm rot="5400000" flipH="1" flipV="1">
            <a:off x="6116862" y="3438799"/>
            <a:ext cx="663070" cy="606923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9ADA8E0B-C6B7-8004-85F1-B8DE9D28552A}"/>
              </a:ext>
            </a:extLst>
          </p:cNvPr>
          <p:cNvSpPr txBox="1">
            <a:spLocks/>
          </p:cNvSpPr>
          <p:nvPr/>
        </p:nvSpPr>
        <p:spPr>
          <a:xfrm>
            <a:off x="7974169" y="4944212"/>
            <a:ext cx="2771545" cy="44949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</a:pPr>
            <a:r>
              <a:rPr lang="es-ES" sz="17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Después de Impuestos</a:t>
            </a:r>
          </a:p>
        </p:txBody>
      </p:sp>
      <p:cxnSp>
        <p:nvCxnSpPr>
          <p:cNvPr id="22" name="Conector: angular 19">
            <a:extLst>
              <a:ext uri="{FF2B5EF4-FFF2-40B4-BE49-F238E27FC236}">
                <a16:creationId xmlns:a16="http://schemas.microsoft.com/office/drawing/2014/main" id="{4763A6EF-C9F4-981E-C5B1-259171583A5F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7351872" y="4546662"/>
            <a:ext cx="345074" cy="899520"/>
          </a:xfrm>
          <a:prstGeom prst="bentConnector4">
            <a:avLst>
              <a:gd name="adj1" fmla="val -28984"/>
              <a:gd name="adj2" fmla="val 96"/>
            </a:avLst>
          </a:prstGeom>
          <a:ln w="38100">
            <a:solidFill>
              <a:srgbClr val="D7A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WACC: Fórmula, ejemplo y cómo calcularlo paso a paso">
            <a:extLst>
              <a:ext uri="{FF2B5EF4-FFF2-40B4-BE49-F238E27FC236}">
                <a16:creationId xmlns:a16="http://schemas.microsoft.com/office/drawing/2014/main" id="{3C60224D-A98B-AD96-0522-3C7918C4E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65" y="2038677"/>
            <a:ext cx="2902099" cy="1814438"/>
          </a:xfrm>
          <a:prstGeom prst="rect">
            <a:avLst/>
          </a:prstGeom>
        </p:spPr>
      </p:pic>
      <p:sp>
        <p:nvSpPr>
          <p:cNvPr id="26" name="Cerrar llave 16">
            <a:extLst>
              <a:ext uri="{FF2B5EF4-FFF2-40B4-BE49-F238E27FC236}">
                <a16:creationId xmlns:a16="http://schemas.microsoft.com/office/drawing/2014/main" id="{8082D340-747E-8706-C275-A7BDC960F7B5}"/>
              </a:ext>
            </a:extLst>
          </p:cNvPr>
          <p:cNvSpPr/>
          <p:nvPr/>
        </p:nvSpPr>
        <p:spPr>
          <a:xfrm rot="5400000">
            <a:off x="6915159" y="3410880"/>
            <a:ext cx="318976" cy="2252831"/>
          </a:xfrm>
          <a:prstGeom prst="rightBrace">
            <a:avLst/>
          </a:prstGeom>
          <a:ln w="38100">
            <a:solidFill>
              <a:srgbClr val="D7A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478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7F9B-AFEE-81AD-D7E9-DE4D4153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FDF223-04CE-1229-DB92-EE18124D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7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9BBC709-C7B3-79C8-0CA9-408A707CC61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00AB8E2-2CE3-49F4-FB07-9374C1537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FDFDADB-BBAE-9CF3-2D84-40349DE17CB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0353417-F31C-D390-C36C-214E4DA4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PROMEDIO PONDERADO DE CAPITAL (WACC)</a:t>
            </a:r>
          </a:p>
        </p:txBody>
      </p:sp>
      <p:sp>
        <p:nvSpPr>
          <p:cNvPr id="3" name="Rectángulo 12">
            <a:extLst>
              <a:ext uri="{FF2B5EF4-FFF2-40B4-BE49-F238E27FC236}">
                <a16:creationId xmlns:a16="http://schemas.microsoft.com/office/drawing/2014/main" id="{4C587193-839F-87CA-015B-4B20B18C9D80}"/>
              </a:ext>
            </a:extLst>
          </p:cNvPr>
          <p:cNvSpPr/>
          <p:nvPr/>
        </p:nvSpPr>
        <p:spPr>
          <a:xfrm>
            <a:off x="641965" y="2587933"/>
            <a:ext cx="109688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¿</a:t>
            </a:r>
            <a:r>
              <a:rPr lang="es-ES" dirty="0">
                <a:latin typeface="Century Gothic" panose="020B0502020202020204" pitchFamily="34" charset="0"/>
              </a:rPr>
              <a:t>Cómo sería la fórmula del WACC si se tienen dos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(2) </a:t>
            </a:r>
            <a:r>
              <a:rPr lang="es-ES" dirty="0">
                <a:latin typeface="Century Gothic" panose="020B0502020202020204" pitchFamily="34" charset="0"/>
              </a:rPr>
              <a:t>fuentes de financiación vía deuda y una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(1) </a:t>
            </a:r>
            <a:r>
              <a:rPr lang="es-ES" dirty="0">
                <a:latin typeface="Century Gothic" panose="020B0502020202020204" pitchFamily="34" charset="0"/>
              </a:rPr>
              <a:t>fuente de financiación vía </a:t>
            </a:r>
            <a:r>
              <a:rPr lang="es-ES" dirty="0" err="1">
                <a:latin typeface="Century Gothic" panose="020B0502020202020204" pitchFamily="34" charset="0"/>
              </a:rPr>
              <a:t>equity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?</a:t>
            </a:r>
            <a:endParaRPr lang="es-CO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10">
                <a:extLst>
                  <a:ext uri="{FF2B5EF4-FFF2-40B4-BE49-F238E27FC236}">
                    <a16:creationId xmlns:a16="http://schemas.microsoft.com/office/drawing/2014/main" id="{0355D166-584D-B5C7-22D7-DF6D0A03186A}"/>
                  </a:ext>
                </a:extLst>
              </p:cNvPr>
              <p:cNvSpPr txBox="1"/>
              <p:nvPr/>
            </p:nvSpPr>
            <p:spPr>
              <a:xfrm>
                <a:off x="2180703" y="3685293"/>
                <a:ext cx="8216608" cy="689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𝑾𝑨𝑪𝑪</m:t>
                      </m:r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O" sz="2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O" sz="2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O" sz="22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O" sz="2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O" sz="2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O" sz="22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s-CO" sz="2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CuadroTexto 10">
                <a:extLst>
                  <a:ext uri="{FF2B5EF4-FFF2-40B4-BE49-F238E27FC236}">
                    <a16:creationId xmlns:a16="http://schemas.microsoft.com/office/drawing/2014/main" id="{0355D166-584D-B5C7-22D7-DF6D0A03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703" y="3685293"/>
                <a:ext cx="8216608" cy="689228"/>
              </a:xfrm>
              <a:prstGeom prst="rect">
                <a:avLst/>
              </a:prstGeom>
              <a:blipFill>
                <a:blip r:embed="rId3"/>
                <a:stretch>
                  <a:fillRect t="-1818" b="-9091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099D9A7D-9D0B-8F56-06A6-334624DC96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33606" y="4599207"/>
            <a:ext cx="4361935" cy="172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9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264D-6D3A-C119-BCE9-09A88783E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6E9238-69F6-8AB4-DD77-8E7D7F26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8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42C3AEE-5E72-318A-652C-BAE7A451FFE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35A123C-7494-F084-5B43-369A979D2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235F746-846D-E6F6-077D-696D9B30648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E5815-4FA1-4698-EE8D-CD187183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PROMEDIO PONDERADO DE CAPITAL (WACC)</a:t>
            </a:r>
          </a:p>
        </p:txBody>
      </p:sp>
      <p:sp>
        <p:nvSpPr>
          <p:cNvPr id="8" name="Rectángulo 10">
            <a:extLst>
              <a:ext uri="{FF2B5EF4-FFF2-40B4-BE49-F238E27FC236}">
                <a16:creationId xmlns:a16="http://schemas.microsoft.com/office/drawing/2014/main" id="{E7207F2B-AE25-EB48-17A3-B16569361F7B}"/>
              </a:ext>
            </a:extLst>
          </p:cNvPr>
          <p:cNvSpPr/>
          <p:nvPr/>
        </p:nvSpPr>
        <p:spPr>
          <a:xfrm>
            <a:off x="1045026" y="4331731"/>
            <a:ext cx="104591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¿</a:t>
            </a:r>
            <a:r>
              <a:rPr lang="es-ES" dirty="0">
                <a:latin typeface="Century Gothic" panose="020B0502020202020204" pitchFamily="34" charset="0"/>
              </a:rPr>
              <a:t>Cómo sería la fórmula del WACC si se tienen dos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(2) </a:t>
            </a:r>
            <a:r>
              <a:rPr lang="es-ES" dirty="0">
                <a:latin typeface="Century Gothic" panose="020B0502020202020204" pitchFamily="34" charset="0"/>
              </a:rPr>
              <a:t>fuentes de financiación vía deuda y dos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(2) </a:t>
            </a:r>
            <a:r>
              <a:rPr lang="es-ES" dirty="0">
                <a:latin typeface="Century Gothic" panose="020B0502020202020204" pitchFamily="34" charset="0"/>
              </a:rPr>
              <a:t>fuentes de financiación vía </a:t>
            </a:r>
            <a:r>
              <a:rPr lang="es-ES" dirty="0" err="1">
                <a:latin typeface="Century Gothic" panose="020B0502020202020204" pitchFamily="34" charset="0"/>
              </a:rPr>
              <a:t>equity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?</a:t>
            </a:r>
            <a:endParaRPr lang="es-CO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11">
                <a:extLst>
                  <a:ext uri="{FF2B5EF4-FFF2-40B4-BE49-F238E27FC236}">
                    <a16:creationId xmlns:a16="http://schemas.microsoft.com/office/drawing/2014/main" id="{223A2E58-E21C-9F0C-58A6-3E1A5FBDA579}"/>
                  </a:ext>
                </a:extLst>
              </p:cNvPr>
              <p:cNvSpPr txBox="1"/>
              <p:nvPr/>
            </p:nvSpPr>
            <p:spPr>
              <a:xfrm>
                <a:off x="1045026" y="5142045"/>
                <a:ext cx="10219657" cy="520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200" b="1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𝑾𝑨𝑪𝑪</m:t>
                    </m:r>
                    <m:r>
                      <a:rPr lang="es-CO" sz="2200" b="1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sz="2200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CO" sz="2200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sz="2200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s-CO" sz="2200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s-E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s-CO" sz="2200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2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s-CO" sz="220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s-E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s-CO" sz="2200" b="1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s-CO" sz="220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s-E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CO" sz="2200" dirty="0">
                    <a:solidFill>
                      <a:schemeClr val="accent3">
                        <a:lumMod val="75000"/>
                      </a:schemeClr>
                    </a:solidFill>
                  </a:rPr>
                  <a:t>+</a:t>
                </a:r>
                <a:r>
                  <a:rPr lang="es-CO" sz="22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sz="2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sz="220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s-CO" sz="220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s-E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CO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s-CO" sz="2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CuadroTexto 11">
                <a:extLst>
                  <a:ext uri="{FF2B5EF4-FFF2-40B4-BE49-F238E27FC236}">
                    <a16:creationId xmlns:a16="http://schemas.microsoft.com/office/drawing/2014/main" id="{223A2E58-E21C-9F0C-58A6-3E1A5FBDA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6" y="5142045"/>
                <a:ext cx="10219657" cy="520976"/>
              </a:xfrm>
              <a:prstGeom prst="rect">
                <a:avLst/>
              </a:prstGeom>
              <a:blipFill>
                <a:blip r:embed="rId3"/>
                <a:stretch>
                  <a:fillRect l="-993" t="-4878" b="-9756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6">
            <a:extLst>
              <a:ext uri="{FF2B5EF4-FFF2-40B4-BE49-F238E27FC236}">
                <a16:creationId xmlns:a16="http://schemas.microsoft.com/office/drawing/2014/main" id="{D9E776C3-F7D9-EED1-9026-7624CB70221D}"/>
              </a:ext>
            </a:extLst>
          </p:cNvPr>
          <p:cNvSpPr/>
          <p:nvPr/>
        </p:nvSpPr>
        <p:spPr>
          <a:xfrm>
            <a:off x="864973" y="2373992"/>
            <a:ext cx="10639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¿</a:t>
            </a:r>
            <a:r>
              <a:rPr lang="es-ES" dirty="0">
                <a:latin typeface="Century Gothic" panose="020B0502020202020204" pitchFamily="34" charset="0"/>
              </a:rPr>
              <a:t>Cómo sería la fórmula del WACC si se tienen dos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(2) </a:t>
            </a:r>
            <a:r>
              <a:rPr lang="es-ES" dirty="0">
                <a:latin typeface="Century Gothic" panose="020B0502020202020204" pitchFamily="34" charset="0"/>
              </a:rPr>
              <a:t>fuentes de financiación vía deuda y una</a:t>
            </a:r>
            <a:r>
              <a:rPr lang="es-ES" dirty="0">
                <a:solidFill>
                  <a:srgbClr val="D7A700"/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(1) </a:t>
            </a:r>
            <a:r>
              <a:rPr lang="es-ES" dirty="0">
                <a:latin typeface="Century Gothic" panose="020B0502020202020204" pitchFamily="34" charset="0"/>
              </a:rPr>
              <a:t>fuente de financiación vía </a:t>
            </a:r>
            <a:r>
              <a:rPr lang="es-ES" dirty="0" err="1">
                <a:latin typeface="Century Gothic" panose="020B0502020202020204" pitchFamily="34" charset="0"/>
              </a:rPr>
              <a:t>equity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?</a:t>
            </a:r>
            <a:endParaRPr lang="es-CO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7">
                <a:extLst>
                  <a:ext uri="{FF2B5EF4-FFF2-40B4-BE49-F238E27FC236}">
                    <a16:creationId xmlns:a16="http://schemas.microsoft.com/office/drawing/2014/main" id="{A7750412-2393-0C8A-D6AE-56D1D56D6EE9}"/>
                  </a:ext>
                </a:extLst>
              </p:cNvPr>
              <p:cNvSpPr txBox="1"/>
              <p:nvPr/>
            </p:nvSpPr>
            <p:spPr>
              <a:xfrm>
                <a:off x="2143633" y="3340679"/>
                <a:ext cx="8216608" cy="689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𝑾𝑨𝑪𝑪</m:t>
                      </m:r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O" sz="22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O" sz="22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O" sz="220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O" sz="220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O" sz="22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s-CO" sz="2200" b="1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O" sz="220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O" sz="220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O" sz="22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s-CO" sz="2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CuadroTexto 7">
                <a:extLst>
                  <a:ext uri="{FF2B5EF4-FFF2-40B4-BE49-F238E27FC236}">
                    <a16:creationId xmlns:a16="http://schemas.microsoft.com/office/drawing/2014/main" id="{A7750412-2393-0C8A-D6AE-56D1D56D6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633" y="3340679"/>
                <a:ext cx="8216608" cy="689228"/>
              </a:xfrm>
              <a:prstGeom prst="rect">
                <a:avLst/>
              </a:prstGeom>
              <a:blipFill>
                <a:blip r:embed="rId4"/>
                <a:stretch>
                  <a:fillRect t="-1818" b="-9091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68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D6FB-A3DF-C076-539F-6E6D4665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5F67EA-3DA4-6292-3629-7B7734A3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9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3D3836E-EA89-C428-D6E5-E24D2C2121F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2FDFB7D-D31C-600A-F599-BB342155D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5CBCE7A-7B9E-BFB7-6A18-1BE2BC8A2F8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0959374-A30C-7ADF-9F1C-9AAD238E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PROMEDIO PONDERADO DE CAPITAL (WACC)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EA4139A-F58C-D7FB-AE53-83C46B44F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477" y="3052230"/>
            <a:ext cx="6690977" cy="2089815"/>
          </a:xfrm>
        </p:spPr>
        <p:txBody>
          <a:bodyPr anchor="t">
            <a:noAutofit/>
          </a:bodyPr>
          <a:lstStyle/>
          <a:p>
            <a:pPr marL="0" indent="0" algn="just">
              <a:buClr>
                <a:schemeClr val="accent3">
                  <a:lumMod val="75000"/>
                </a:schemeClr>
              </a:buClr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Dado que el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Costo Promedio Ponderado de Capital (WACC)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refleja el costo de los recursos utilizados para financiar el proyecto, se buscará que este sea lo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más bajo posible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 Un menor WACC disminuye la rentabilidad mínima exigida al proyecto y, para unos flujos de caja determinados,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incrementa la probabilidad de que este genere valor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buClr>
                <a:schemeClr val="accent3">
                  <a:lumMod val="75000"/>
                </a:schemeClr>
              </a:buClr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			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48286-8969-B55A-A724-17850DF3D2B5}"/>
              </a:ext>
            </a:extLst>
          </p:cNvPr>
          <p:cNvSpPr txBox="1">
            <a:spLocks/>
          </p:cNvSpPr>
          <p:nvPr/>
        </p:nvSpPr>
        <p:spPr>
          <a:xfrm>
            <a:off x="2439934" y="5515073"/>
            <a:ext cx="3656066" cy="4410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D7A70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VPN (WACC) &gt; 0</a:t>
            </a: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				</a:t>
            </a:r>
          </a:p>
        </p:txBody>
      </p:sp>
      <p:pic>
        <p:nvPicPr>
          <p:cNvPr id="7" name="Picture 6" descr="Página 8 | Imágenes de Optimizacion busqueda dibujos animados: descarga  gratuita en Magnific (anteriormente Freepik)">
            <a:extLst>
              <a:ext uri="{FF2B5EF4-FFF2-40B4-BE49-F238E27FC236}">
                <a16:creationId xmlns:a16="http://schemas.microsoft.com/office/drawing/2014/main" id="{21DF2350-CD01-9FFA-8902-7CD6CB71C58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t="8198" b="10235"/>
          <a:stretch>
            <a:fillRect/>
          </a:stretch>
        </p:blipFill>
        <p:spPr>
          <a:xfrm>
            <a:off x="7827234" y="3052230"/>
            <a:ext cx="3152106" cy="257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7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6F31-B230-0389-EE83-4284D3D3A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88823A-C977-E258-0DDC-197E7AA4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10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D8E883-7443-C55C-5465-F1AAE9688D9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A560C85-DF07-71BF-8AEC-F532660E6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C46D5C7-0E9D-ACCF-04FA-81B7547DB20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683D170-A345-0BEE-4518-679D1B71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PROMEDIO PONDERADO DE CAPITAL (WACC)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BFF39BFA-82BE-E772-6A92-632217C62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63741"/>
            <a:ext cx="8810234" cy="3667338"/>
          </a:xfrm>
        </p:spPr>
        <p:txBody>
          <a:bodyPr>
            <a:normAutofit/>
          </a:bodyPr>
          <a:lstStyle/>
          <a:p>
            <a:pPr marL="0" indent="0" algn="just">
              <a:buClr>
                <a:schemeClr val="accent3">
                  <a:lumMod val="75000"/>
                </a:schemeClr>
              </a:buClr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Adicionalmente, se deben tener en cuenta que al momento de construir el WACC pueden existir diversas consideraciones: </a:t>
            </a:r>
          </a:p>
          <a:p>
            <a:pPr marL="0" indent="0" algn="just">
              <a:buClr>
                <a:schemeClr val="accent3">
                  <a:lumMod val="75000"/>
                </a:schemeClr>
              </a:buClr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Clr>
                <a:schemeClr val="accent3">
                  <a:lumMod val="75000"/>
                </a:schemeClr>
              </a:buClr>
              <a:buNone/>
            </a:pPr>
            <a:r>
              <a:rPr lang="es-ES" sz="18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1) </a:t>
            </a:r>
            <a:r>
              <a:rPr lang="es-ES" sz="1800" b="1" dirty="0">
                <a:solidFill>
                  <a:schemeClr val="accent1"/>
                </a:solidFill>
                <a:latin typeface="Century Gothic"/>
              </a:rPr>
              <a:t>El monto solicitado (cantidad de dinero que se pide) no es lo mismo que el monto recibido (cantidad de dinero que finalmente se recibe)</a:t>
            </a:r>
            <a:r>
              <a:rPr lang="es-ES" sz="1800" dirty="0">
                <a:solidFill>
                  <a:schemeClr val="accent1"/>
                </a:solidFill>
                <a:latin typeface="Century Gothic"/>
              </a:rPr>
              <a:t>. Esto ocurre cuando tenemos alguna distorsión que afecta el momento del desembolso: comisiones, reciprocidades, intereses anticipados, costos de emisión, etc. </a:t>
            </a:r>
          </a:p>
        </p:txBody>
      </p:sp>
      <p:pic>
        <p:nvPicPr>
          <p:cNvPr id="3" name="Picture 2" descr="Comisión - Iconos gratis de negocios y finanzas">
            <a:extLst>
              <a:ext uri="{FF2B5EF4-FFF2-40B4-BE49-F238E27FC236}">
                <a16:creationId xmlns:a16="http://schemas.microsoft.com/office/drawing/2014/main" id="{6DFC4A00-43F2-A5EE-7F5B-1C08CEE9E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328" y="2994102"/>
            <a:ext cx="2147943" cy="214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1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5AD18-2B4B-8473-2EFC-60434793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7ABC60-1E7A-7B53-7398-E053E69A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11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9C8EAAF-B88D-DCF5-B280-022CD919EE4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C2E4B7E-BD8A-F454-F121-D8C2F03B8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7C5A7AD-313D-5123-6561-DAB7792CDC5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876DAD7-941A-CBA2-EDD9-6B961EA2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PROMEDIO PONDERADO DE CAPITAL (WACC)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08269F-FC9B-50EF-271D-857DB59E6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651" y="1945319"/>
            <a:ext cx="10294788" cy="4281594"/>
          </a:xfrm>
        </p:spPr>
        <p:txBody>
          <a:bodyPr>
            <a:noAutofit/>
          </a:bodyPr>
          <a:lstStyle/>
          <a:p>
            <a:pPr marL="0" indent="-95400" algn="just">
              <a:buClr>
                <a:schemeClr val="accent1">
                  <a:lumMod val="90000"/>
                  <a:lumOff val="10000"/>
                </a:schemeClr>
              </a:buClr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2)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Dentro del cálculo del costo de la deuda,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cuando alguna de las distorsiones se encuentra determinada por una cuantía fija y no por un monto proporcional a la adquisición de la deuda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,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 debe recalcular el costo de la deuda dependiendo del monto solicitado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 En otras palabras:</a:t>
            </a:r>
          </a:p>
          <a:p>
            <a:pPr marL="190350" indent="-285750" algn="just">
              <a:buClr>
                <a:srgbClr val="92D050"/>
              </a:buClr>
              <a:buFont typeface="Wingdings" pitchFamily="2" charset="2"/>
              <a:buChar char="ü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 la distorsión representa un monto de dinero proporcional (% sobre el monto solicitado), sin importar la cantidad de dinero solicitada, el costo de la deuda (pre-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tax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o post-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tax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)  se mantiene constante.</a:t>
            </a:r>
          </a:p>
          <a:p>
            <a:pPr marL="190350" indent="-285750" algn="just">
              <a:buClr>
                <a:srgbClr val="92D050"/>
              </a:buClr>
              <a:buFont typeface="Wingdings" pitchFamily="2" charset="2"/>
              <a:buChar char="ü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 la distorsión está dada por un monto de dinero fijo ($ que no varía según el monto solicitado), dependiendo la cantidad de dinero solicitada el costo de la deuda (pre-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tax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o post-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tax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) cambiará. </a:t>
            </a:r>
          </a:p>
          <a:p>
            <a:pPr marL="190350" indent="-285750" algn="just">
              <a:buClr>
                <a:srgbClr val="92D050"/>
              </a:buClr>
              <a:buFont typeface="Wingdings" pitchFamily="2" charset="2"/>
              <a:buChar char="§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-95400" algn="just">
              <a:buClr>
                <a:schemeClr val="accent1">
                  <a:lumMod val="90000"/>
                  <a:lumOff val="10000"/>
                </a:schemeClr>
              </a:buClr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3)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Finalmente, siempre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 debe garantizar que el total del dinero recibido sea lo necesario para la financiar la totalidad del proyecto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 </a:t>
            </a:r>
          </a:p>
        </p:txBody>
      </p:sp>
      <p:pic>
        <p:nvPicPr>
          <p:cNvPr id="7" name="Picture 6" descr="Imágenes de Dibujos animados dinero: descarga gratuita en Magnific  (anteriormente Freepik)">
            <a:extLst>
              <a:ext uri="{FF2B5EF4-FFF2-40B4-BE49-F238E27FC236}">
                <a16:creationId xmlns:a16="http://schemas.microsoft.com/office/drawing/2014/main" id="{69F33B2C-FE55-83DC-99E2-D2FDB5962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00" b="10404"/>
          <a:stretch>
            <a:fillRect/>
          </a:stretch>
        </p:blipFill>
        <p:spPr>
          <a:xfrm>
            <a:off x="9746273" y="4840717"/>
            <a:ext cx="1338281" cy="71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9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A567-0371-D014-F51D-48503DBD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A754E-7A7E-9707-6ECC-7C3391E2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F82253-56C9-0A32-0E03-3DF5F6C3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83189103-8F38-C52C-63F8-5DD43B4AAB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4A483092-8CE7-8237-94FD-B8859D9AEAEE}"/>
              </a:ext>
            </a:extLst>
          </p:cNvPr>
          <p:cNvSpPr/>
          <p:nvPr/>
        </p:nvSpPr>
        <p:spPr>
          <a:xfrm>
            <a:off x="2806200" y="2734046"/>
            <a:ext cx="8540907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Promedio Ponderado de Capital (WACC)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Restricciones Deuda – Equity (D/E)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Ejercicio de construcción del WACC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13AF8DC-7738-7DD9-280C-28CFB459035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D12E6461-7CF9-167C-AD83-F684A5CF0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73DA189-7E8E-4AFF-E76C-90FC6D35E1E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64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55BB-1DE2-1D36-CB72-52B87460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D52142-F559-2102-C797-19003009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13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B5952B9-9220-D1E9-F405-946AE9BB19A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0DA2069-75F2-C4F8-E513-B4EB38410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4763AD-13B5-F1A9-F898-F29406B01F6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105B83C-2D47-6A6E-7A9D-E2D0C6E3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RESTRICCIONES deuda – equity (d/e)</a:t>
            </a:r>
          </a:p>
        </p:txBody>
      </p:sp>
      <p:sp>
        <p:nvSpPr>
          <p:cNvPr id="3" name="Rectángulo 12">
            <a:extLst>
              <a:ext uri="{FF2B5EF4-FFF2-40B4-BE49-F238E27FC236}">
                <a16:creationId xmlns:a16="http://schemas.microsoft.com/office/drawing/2014/main" id="{C418E2C1-A5CB-648D-46E3-AFD5EC0EA56F}"/>
              </a:ext>
            </a:extLst>
          </p:cNvPr>
          <p:cNvSpPr/>
          <p:nvPr/>
        </p:nvSpPr>
        <p:spPr>
          <a:xfrm>
            <a:off x="440014" y="2126441"/>
            <a:ext cx="8919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WACC – sin restricción Deuda – Equity (D/E)</a:t>
            </a:r>
            <a:endParaRPr lang="es-CO" b="1" dirty="0">
              <a:solidFill>
                <a:srgbClr val="D7A7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AC594CF-9EA9-429F-4B4C-26A8D40E2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19" y="2495773"/>
            <a:ext cx="10556558" cy="3922307"/>
          </a:xfrm>
        </p:spPr>
        <p:txBody>
          <a:bodyPr>
            <a:noAutofit/>
          </a:bodyPr>
          <a:lstStyle/>
          <a:p>
            <a:pPr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Cuando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no existe una restricción sobre la relación Deuda–Equity (D/E)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, significa que no se ha establecido un límite o proporción específica sobre cuánto debe financiarse con deuda y cuánto con recursos de los accionistas. En este caso, por simplicidad, en el curso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 ordenan las fuentes de financiación disponibles desde la menos hasta la más costosa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 partir de allí, se solicita a la fuente de menor costo el máximo monto disponible y se calcula cuánto dinero se recibe efectivamente, considerando que este puede ser inferior al valor solicitado por conceptos como comisiones, intereses anticipados u otros costos asociados. Si los recursos obtenidos no son suficientes para cubrir la inversión inicial, se continúa con la siguiente fuente hasta completar el monto requerido para financiar el proyecto.</a:t>
            </a:r>
          </a:p>
          <a:p>
            <a:pPr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 lógica del procedimiento es, por tanto, 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priorizar las fuentes de menor costo hasta reunir la totalidad de los recursos necesarios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12" name="Picture 11" descr="Icono De Optimizador Ilustraciones Stock, Vectores, Y Clipart – (144  Ilustraciones Stock)">
            <a:extLst>
              <a:ext uri="{FF2B5EF4-FFF2-40B4-BE49-F238E27FC236}">
                <a16:creationId xmlns:a16="http://schemas.microsoft.com/office/drawing/2014/main" id="{44DB0EB0-058E-A257-F1A3-ADE8083D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29" b="3447"/>
          <a:stretch>
            <a:fillRect/>
          </a:stretch>
        </p:blipFill>
        <p:spPr>
          <a:xfrm>
            <a:off x="10222072" y="2085288"/>
            <a:ext cx="858305" cy="6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0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7A42-7067-3706-1AC1-B78107AB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819A9B-EF4F-2FD4-5932-10CAAA82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14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65C49E7-C831-C382-C1EF-CA540DAA4B1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4332919-382A-1EFE-C92C-8E0A976DB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D1C8834-5C0A-76FB-6FF6-0724712FE5F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AD9209-FD6C-CAE1-F48C-E8C77242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RESTRICCIONES deuda/</a:t>
            </a:r>
            <a:r>
              <a:rPr lang="es-ES" dirty="0" err="1">
                <a:latin typeface="Century Gothic" panose="020B0502020202020204" pitchFamily="34" charset="0"/>
              </a:rPr>
              <a:t>equity</a:t>
            </a:r>
            <a:r>
              <a:rPr lang="es-ES" dirty="0">
                <a:latin typeface="Century Gothic" panose="020B0502020202020204" pitchFamily="34" charset="0"/>
              </a:rPr>
              <a:t> (d/e)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0D99ECF-68C9-CEE7-0C82-A0E7A61D1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768479"/>
            <a:ext cx="10886460" cy="3458585"/>
          </a:xfrm>
        </p:spPr>
        <p:txBody>
          <a:bodyPr>
            <a:normAutofit/>
          </a:bodyPr>
          <a:lstStyle/>
          <a:p>
            <a:pPr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Cuando existe una restricción sobre la relación Deuda–Equity (D/E), la estructura de financiación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debe respetar una proporción previamente definida entre los recursos obtenidos mediante deuda y aquellos aportados por los accionistas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 existen varias fuentes dentro de una misma categoría, ya sea deuda o equity, sus participaciones deben agregarse de manera que, en conjunto, se cumplan los porcentajes de deuda (%D) y equity (%E) establecidos para la financiación del proyecto.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9">
                <a:extLst>
                  <a:ext uri="{FF2B5EF4-FFF2-40B4-BE49-F238E27FC236}">
                    <a16:creationId xmlns:a16="http://schemas.microsoft.com/office/drawing/2014/main" id="{7C42993D-9B17-1BC0-8AB0-B914FD169FF0}"/>
                  </a:ext>
                </a:extLst>
              </p:cNvPr>
              <p:cNvSpPr txBox="1"/>
              <p:nvPr/>
            </p:nvSpPr>
            <p:spPr>
              <a:xfrm>
                <a:off x="3044185" y="4152727"/>
                <a:ext cx="2305561" cy="636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8" name="CuadroTexto 9">
                <a:extLst>
                  <a:ext uri="{FF2B5EF4-FFF2-40B4-BE49-F238E27FC236}">
                    <a16:creationId xmlns:a16="http://schemas.microsoft.com/office/drawing/2014/main" id="{7C42993D-9B17-1BC0-8AB0-B914FD169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185" y="4152727"/>
                <a:ext cx="2305561" cy="636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10">
                <a:extLst>
                  <a:ext uri="{FF2B5EF4-FFF2-40B4-BE49-F238E27FC236}">
                    <a16:creationId xmlns:a16="http://schemas.microsoft.com/office/drawing/2014/main" id="{98845157-67B2-BA64-0C44-B908E737B203}"/>
                  </a:ext>
                </a:extLst>
              </p:cNvPr>
              <p:cNvSpPr txBox="1"/>
              <p:nvPr/>
            </p:nvSpPr>
            <p:spPr>
              <a:xfrm>
                <a:off x="6658294" y="4179607"/>
                <a:ext cx="3042243" cy="630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=1 −%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9" name="CuadroTexto 10">
                <a:extLst>
                  <a:ext uri="{FF2B5EF4-FFF2-40B4-BE49-F238E27FC236}">
                    <a16:creationId xmlns:a16="http://schemas.microsoft.com/office/drawing/2014/main" id="{98845157-67B2-BA64-0C44-B908E737B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294" y="4179607"/>
                <a:ext cx="3042243" cy="630044"/>
              </a:xfrm>
              <a:prstGeom prst="rect">
                <a:avLst/>
              </a:prstGeom>
              <a:blipFill>
                <a:blip r:embed="rId4"/>
                <a:stretch>
                  <a:fillRect l="-1667" r="-1250" b="-1800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2">
            <a:extLst>
              <a:ext uri="{FF2B5EF4-FFF2-40B4-BE49-F238E27FC236}">
                <a16:creationId xmlns:a16="http://schemas.microsoft.com/office/drawing/2014/main" id="{448E2DEE-0A9B-758B-EBF8-C2363C67F938}"/>
              </a:ext>
            </a:extLst>
          </p:cNvPr>
          <p:cNvSpPr/>
          <p:nvPr/>
        </p:nvSpPr>
        <p:spPr>
          <a:xfrm>
            <a:off x="440014" y="2126441"/>
            <a:ext cx="8919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WACC – con restricción Deuda – Equity (D/E)</a:t>
            </a:r>
            <a:endParaRPr lang="es-CO" b="1" dirty="0">
              <a:solidFill>
                <a:srgbClr val="D7A7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85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4D2F-DE02-9BE6-DF81-D9A32349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4591A-32B5-D63B-0754-FD2C617F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6F1872-3C6D-3807-C6CD-7EA60236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15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EF54459F-297C-1C7C-FB84-53AED5F2F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D8BB4548-C997-D343-E695-18DC002CED6C}"/>
              </a:ext>
            </a:extLst>
          </p:cNvPr>
          <p:cNvSpPr/>
          <p:nvPr/>
        </p:nvSpPr>
        <p:spPr>
          <a:xfrm>
            <a:off x="2806200" y="2734046"/>
            <a:ext cx="8540907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Promedio Ponderado de Capital (WACC)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Restricciones Deuda – Equity (D/E)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Ejercicio de construcción del WACC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D3F9A6-913C-E04D-E06D-124B7B5A8C1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223990E5-5B62-4F51-1801-D58A20B92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5FE5753-3D98-D538-476A-8BB7736FAC2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0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4AC8F-2E5C-5752-F11A-427201B6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E3224B-3736-1184-F426-2FBDF82C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16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BE3025A-2AAA-36D6-5D98-E74DD8C8AEB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56BEA8C-3A18-1BD5-3BC4-F3C98219B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84186F8-F15E-DE86-C39A-6B5035BE15C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68ADF7D-5B28-757F-D20B-84B2B780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09EFB56A-47BD-FA8B-CE12-CFB96E070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52" y="1732165"/>
            <a:ext cx="10685096" cy="26484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1</a:t>
            </a:r>
            <a:r>
              <a:rPr lang="es-ES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tiene un proyecto de eficiencia geo-térmica. En los próximos dos años, usted espera el flujo de caja libre trimestral que se muestra a continuación.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cuenta con las siguientes fuentes de financiación.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A1F1927-9D69-DE95-A77E-B22D2C403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51096"/>
              </p:ext>
            </p:extLst>
          </p:nvPr>
        </p:nvGraphicFramePr>
        <p:xfrm>
          <a:off x="1201784" y="2739439"/>
          <a:ext cx="9552347" cy="391160"/>
        </p:xfrm>
        <a:graphic>
          <a:graphicData uri="http://schemas.openxmlformats.org/drawingml/2006/table">
            <a:tbl>
              <a:tblPr/>
              <a:tblGrid>
                <a:gridCol w="218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FCL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(150.000)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9A40689D-1CDC-3459-CAB3-D0B20E7FC46E}"/>
              </a:ext>
            </a:extLst>
          </p:cNvPr>
          <p:cNvSpPr txBox="1">
            <a:spLocks/>
          </p:cNvSpPr>
          <p:nvPr/>
        </p:nvSpPr>
        <p:spPr>
          <a:xfrm>
            <a:off x="983115" y="4063663"/>
            <a:ext cx="10290899" cy="26484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Las condiciones de la deuda son las siguientes: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Tasa de interés: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10,50% NA/TV                         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Tasa impositiva: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33% 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Comisión: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5% del monto solicitado al momento del desembolso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Plazo:</a:t>
            </a:r>
            <a:r>
              <a:rPr lang="es-ES" sz="1600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2 años               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Monto máximo: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112.500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	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Forma de pago: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Amortización Constante Semestral</a:t>
            </a:r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 emisión de acciones se hará de la siguiente manera: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Precio de emisión: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50</a:t>
            </a:r>
            <a:r>
              <a:rPr lang="es-ES" sz="1600" dirty="0">
                <a:solidFill>
                  <a:srgbClr val="800000"/>
                </a:solidFill>
                <a:latin typeface="Century Gothic" panose="020B0502020202020204" pitchFamily="34" charset="0"/>
              </a:rPr>
              <a:t>	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Crecimiento anual: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4,5%     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Dividendo anual hoy: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7,5</a:t>
            </a:r>
            <a:r>
              <a:rPr lang="es-ES" sz="1600" dirty="0">
                <a:solidFill>
                  <a:srgbClr val="800000"/>
                </a:solidFill>
                <a:latin typeface="Century Gothic" panose="020B0502020202020204" pitchFamily="34" charset="0"/>
              </a:rPr>
              <a:t>	</a:t>
            </a:r>
            <a:r>
              <a:rPr lang="es-ES" sz="1600" b="1" dirty="0">
                <a:solidFill>
                  <a:srgbClr val="800000"/>
                </a:solidFill>
                <a:latin typeface="Century Gothic" panose="020B0502020202020204" pitchFamily="34" charset="0"/>
              </a:rPr>
              <a:t> 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Costo de emisión: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2%</a:t>
            </a:r>
          </a:p>
          <a:p>
            <a:pPr marL="0" indent="0" algn="just">
              <a:buFont typeface="Wingdings 2" panose="05020102010507070707" pitchFamily="18" charset="2"/>
              <a:buNone/>
            </a:pPr>
            <a:endParaRPr lang="es-ES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7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DEF2-8DFB-26C2-A047-C5071FA0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94CA55-BFB0-850D-3C8B-4C12F1BA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17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AD26FFD-656B-4E14-A17D-E21D187EDE0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44A1D72-80AB-CA61-666D-5A1DCDFEC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17167FF-BD23-D68E-CDB1-B0B76F4F829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41AB991-DA6A-4EBC-CA5E-7AA6EEBF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</a:t>
            </a:r>
          </a:p>
        </p:txBody>
      </p:sp>
      <p:pic>
        <p:nvPicPr>
          <p:cNvPr id="8" name="Imagen 9">
            <a:extLst>
              <a:ext uri="{FF2B5EF4-FFF2-40B4-BE49-F238E27FC236}">
                <a16:creationId xmlns:a16="http://schemas.microsoft.com/office/drawing/2014/main" id="{7650513C-2FE5-8992-89BB-5760FDA0C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460" y="1861316"/>
            <a:ext cx="7268913" cy="4094821"/>
          </a:xfrm>
          <a:prstGeom prst="rect">
            <a:avLst/>
          </a:prstGeom>
        </p:spPr>
      </p:pic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D31B00E1-3459-0CE2-CD14-CA987B78A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104" y="2788170"/>
            <a:ext cx="6920145" cy="30729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¿Es el proyecto económicamente viable?</a:t>
            </a:r>
          </a:p>
          <a:p>
            <a:pPr marL="0" indent="0" algn="ctr">
              <a:buNone/>
            </a:pPr>
            <a:endParaRPr lang="es-ES" sz="1600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br>
              <a:rPr lang="es-ES" sz="1000" dirty="0">
                <a:solidFill>
                  <a:srgbClr val="000000"/>
                </a:solidFill>
              </a:rPr>
            </a:br>
            <a:r>
              <a:rPr lang="es-ES" sz="1000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  <a:p>
            <a:pPr marL="0" indent="0" algn="ctr">
              <a:buNone/>
            </a:pPr>
            <a:endParaRPr lang="es-ES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30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B723-4942-330B-BABE-045007B1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0793-75F7-B5ED-B5B2-99CC722D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 – ESCENARIO 1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D8EF8-141C-0A60-8664-A411850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200044"/>
            <a:ext cx="11029615" cy="1228956"/>
          </a:xfrm>
        </p:spPr>
        <p:txBody>
          <a:bodyPr/>
          <a:lstStyle/>
          <a:p>
            <a:pPr marL="0" indent="0" algn="ctr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¿Cuál es el WACC mínimo?</a:t>
            </a:r>
          </a:p>
          <a:p>
            <a:pPr marL="0" indent="0" algn="ctr">
              <a:buNone/>
            </a:pPr>
            <a:b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</a:b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¿Cuánto se solicita y se recibe de cada fuente de financiación?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54184-0B12-1159-8FA7-3A2F19C0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18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1">
            <a:extLst>
              <a:ext uri="{FF2B5EF4-FFF2-40B4-BE49-F238E27FC236}">
                <a16:creationId xmlns:a16="http://schemas.microsoft.com/office/drawing/2014/main" id="{F8D5D298-1649-B4E8-0040-D7C0A06A3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993044"/>
              </p:ext>
            </p:extLst>
          </p:nvPr>
        </p:nvGraphicFramePr>
        <p:xfrm>
          <a:off x="1198979" y="3570789"/>
          <a:ext cx="9794035" cy="1206968"/>
        </p:xfrm>
        <a:graphic>
          <a:graphicData uri="http://schemas.openxmlformats.org/drawingml/2006/table">
            <a:tbl>
              <a:tblPr firstRow="1" bandRow="1"/>
              <a:tblGrid>
                <a:gridCol w="1836981">
                  <a:extLst>
                    <a:ext uri="{9D8B030D-6E8A-4147-A177-3AD203B41FA5}">
                      <a16:colId xmlns:a16="http://schemas.microsoft.com/office/drawing/2014/main" val="753450657"/>
                    </a:ext>
                  </a:extLst>
                </a:gridCol>
                <a:gridCol w="2620504">
                  <a:extLst>
                    <a:ext uri="{9D8B030D-6E8A-4147-A177-3AD203B41FA5}">
                      <a16:colId xmlns:a16="http://schemas.microsoft.com/office/drawing/2014/main" val="277443866"/>
                    </a:ext>
                  </a:extLst>
                </a:gridCol>
                <a:gridCol w="2034433">
                  <a:extLst>
                    <a:ext uri="{9D8B030D-6E8A-4147-A177-3AD203B41FA5}">
                      <a16:colId xmlns:a16="http://schemas.microsoft.com/office/drawing/2014/main" val="790896557"/>
                    </a:ext>
                  </a:extLst>
                </a:gridCol>
                <a:gridCol w="1697063">
                  <a:extLst>
                    <a:ext uri="{9D8B030D-6E8A-4147-A177-3AD203B41FA5}">
                      <a16:colId xmlns:a16="http://schemas.microsoft.com/office/drawing/2014/main" val="3667981493"/>
                    </a:ext>
                  </a:extLst>
                </a:gridCol>
                <a:gridCol w="1605054">
                  <a:extLst>
                    <a:ext uri="{9D8B030D-6E8A-4147-A177-3AD203B41FA5}">
                      <a16:colId xmlns:a16="http://schemas.microsoft.com/office/drawing/2014/main" val="2996299436"/>
                    </a:ext>
                  </a:extLst>
                </a:gridCol>
              </a:tblGrid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Fuente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Solicitado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Recibido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K</a:t>
                      </a:r>
                      <a:r>
                        <a:rPr lang="es-CO" sz="1800" b="1" i="0" u="none" strike="noStrike" baseline="-2500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9974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Deuda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19086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Equity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90700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$ 150.000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8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201235"/>
                  </a:ext>
                </a:extLst>
              </a:tr>
            </a:tbl>
          </a:graphicData>
        </a:graphic>
      </p:graphicFrame>
      <p:sp>
        <p:nvSpPr>
          <p:cNvPr id="5" name="Rectángulo 1">
            <a:extLst>
              <a:ext uri="{FF2B5EF4-FFF2-40B4-BE49-F238E27FC236}">
                <a16:creationId xmlns:a16="http://schemas.microsoft.com/office/drawing/2014/main" id="{ABD8A74C-D212-45C4-EA47-2D994757E0C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EA869DF8-AA74-4FF8-AFAB-EB9E0116D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4">
            <a:extLst>
              <a:ext uri="{FF2B5EF4-FFF2-40B4-BE49-F238E27FC236}">
                <a16:creationId xmlns:a16="http://schemas.microsoft.com/office/drawing/2014/main" id="{6D5F4F95-C872-DF22-9690-504FE6890DF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318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64C08-BF4F-C889-FAE6-8844AA7BA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EE2C-9F8A-07EA-5D44-3D3A17ED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 – ESCENARIO 1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ECFDB-C742-9062-1D97-F3DAA14A2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200044"/>
            <a:ext cx="11029615" cy="1228956"/>
          </a:xfrm>
        </p:spPr>
        <p:txBody>
          <a:bodyPr/>
          <a:lstStyle/>
          <a:p>
            <a:pPr marL="0" indent="0" algn="ctr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¿Cuál es el WACC mínimo?</a:t>
            </a:r>
          </a:p>
          <a:p>
            <a:pPr marL="0" indent="0" algn="ctr">
              <a:buNone/>
            </a:pPr>
            <a:b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</a:b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¿Cuánto se solicita y se recibe de cada fuente de financiación?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8DFEB-8942-06EA-2D1F-59E6962A4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19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1">
            <a:extLst>
              <a:ext uri="{FF2B5EF4-FFF2-40B4-BE49-F238E27FC236}">
                <a16:creationId xmlns:a16="http://schemas.microsoft.com/office/drawing/2014/main" id="{A056633B-49C5-7841-7B06-C18DF2F83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909123"/>
              </p:ext>
            </p:extLst>
          </p:nvPr>
        </p:nvGraphicFramePr>
        <p:xfrm>
          <a:off x="1198979" y="3570789"/>
          <a:ext cx="9794035" cy="1206968"/>
        </p:xfrm>
        <a:graphic>
          <a:graphicData uri="http://schemas.openxmlformats.org/drawingml/2006/table">
            <a:tbl>
              <a:tblPr firstRow="1" bandRow="1"/>
              <a:tblGrid>
                <a:gridCol w="1836981">
                  <a:extLst>
                    <a:ext uri="{9D8B030D-6E8A-4147-A177-3AD203B41FA5}">
                      <a16:colId xmlns:a16="http://schemas.microsoft.com/office/drawing/2014/main" val="753450657"/>
                    </a:ext>
                  </a:extLst>
                </a:gridCol>
                <a:gridCol w="2620504">
                  <a:extLst>
                    <a:ext uri="{9D8B030D-6E8A-4147-A177-3AD203B41FA5}">
                      <a16:colId xmlns:a16="http://schemas.microsoft.com/office/drawing/2014/main" val="277443866"/>
                    </a:ext>
                  </a:extLst>
                </a:gridCol>
                <a:gridCol w="2034433">
                  <a:extLst>
                    <a:ext uri="{9D8B030D-6E8A-4147-A177-3AD203B41FA5}">
                      <a16:colId xmlns:a16="http://schemas.microsoft.com/office/drawing/2014/main" val="790896557"/>
                    </a:ext>
                  </a:extLst>
                </a:gridCol>
                <a:gridCol w="1697063">
                  <a:extLst>
                    <a:ext uri="{9D8B030D-6E8A-4147-A177-3AD203B41FA5}">
                      <a16:colId xmlns:a16="http://schemas.microsoft.com/office/drawing/2014/main" val="3667981493"/>
                    </a:ext>
                  </a:extLst>
                </a:gridCol>
                <a:gridCol w="1605054">
                  <a:extLst>
                    <a:ext uri="{9D8B030D-6E8A-4147-A177-3AD203B41FA5}">
                      <a16:colId xmlns:a16="http://schemas.microsoft.com/office/drawing/2014/main" val="2996299436"/>
                    </a:ext>
                  </a:extLst>
                </a:gridCol>
              </a:tblGrid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Fuente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Solicitado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Recibido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K</a:t>
                      </a:r>
                      <a:r>
                        <a:rPr lang="es-CO" sz="1800" b="1" i="0" u="none" strike="noStrike" baseline="-2500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9974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Deuda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$ 112.500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$ 106.875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71,25%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2,53%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19086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Equity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$   44.005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$ 43.125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28,75%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4,75%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90700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$ 156.505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$ 150.000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201235"/>
                  </a:ext>
                </a:extLst>
              </a:tr>
            </a:tbl>
          </a:graphicData>
        </a:graphic>
      </p:graphicFrame>
      <p:sp>
        <p:nvSpPr>
          <p:cNvPr id="5" name="Rectángulo 1">
            <a:extLst>
              <a:ext uri="{FF2B5EF4-FFF2-40B4-BE49-F238E27FC236}">
                <a16:creationId xmlns:a16="http://schemas.microsoft.com/office/drawing/2014/main" id="{FA61F591-E76A-2F8E-B207-B58C34D543E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0EFDDC6D-9827-B8A7-1786-7944BC204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4">
            <a:extLst>
              <a:ext uri="{FF2B5EF4-FFF2-40B4-BE49-F238E27FC236}">
                <a16:creationId xmlns:a16="http://schemas.microsoft.com/office/drawing/2014/main" id="{4F016D21-F42E-BBEF-C373-F6F2B47AE3C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255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BA4D-5DC2-0804-D8CA-5F08ED4A1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10E3-C361-15BC-CDD4-A9798183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 – ESCENARIO 1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5C971-9A6E-3F95-0273-091570E5E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200044"/>
            <a:ext cx="11029615" cy="1228956"/>
          </a:xfrm>
        </p:spPr>
        <p:txBody>
          <a:bodyPr/>
          <a:lstStyle/>
          <a:p>
            <a:pPr marL="0" indent="0" algn="ctr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¿Cuál es el WACC mínimo?</a:t>
            </a:r>
          </a:p>
          <a:p>
            <a:pPr marL="0" indent="0" algn="ctr">
              <a:buNone/>
            </a:pPr>
            <a:b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</a:b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¿Cuánto se solicita y se recibe de cada fuente de financiación?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10B4D-113F-DF90-1836-013B5939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20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1">
            <a:extLst>
              <a:ext uri="{FF2B5EF4-FFF2-40B4-BE49-F238E27FC236}">
                <a16:creationId xmlns:a16="http://schemas.microsoft.com/office/drawing/2014/main" id="{F19FE73C-FBE6-6E13-F0EB-DFFCA8D65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51505"/>
              </p:ext>
            </p:extLst>
          </p:nvPr>
        </p:nvGraphicFramePr>
        <p:xfrm>
          <a:off x="1198979" y="3570789"/>
          <a:ext cx="9794035" cy="1206968"/>
        </p:xfrm>
        <a:graphic>
          <a:graphicData uri="http://schemas.openxmlformats.org/drawingml/2006/table">
            <a:tbl>
              <a:tblPr firstRow="1" bandRow="1"/>
              <a:tblGrid>
                <a:gridCol w="1836981">
                  <a:extLst>
                    <a:ext uri="{9D8B030D-6E8A-4147-A177-3AD203B41FA5}">
                      <a16:colId xmlns:a16="http://schemas.microsoft.com/office/drawing/2014/main" val="753450657"/>
                    </a:ext>
                  </a:extLst>
                </a:gridCol>
                <a:gridCol w="2620504">
                  <a:extLst>
                    <a:ext uri="{9D8B030D-6E8A-4147-A177-3AD203B41FA5}">
                      <a16:colId xmlns:a16="http://schemas.microsoft.com/office/drawing/2014/main" val="277443866"/>
                    </a:ext>
                  </a:extLst>
                </a:gridCol>
                <a:gridCol w="2034433">
                  <a:extLst>
                    <a:ext uri="{9D8B030D-6E8A-4147-A177-3AD203B41FA5}">
                      <a16:colId xmlns:a16="http://schemas.microsoft.com/office/drawing/2014/main" val="790896557"/>
                    </a:ext>
                  </a:extLst>
                </a:gridCol>
                <a:gridCol w="1697063">
                  <a:extLst>
                    <a:ext uri="{9D8B030D-6E8A-4147-A177-3AD203B41FA5}">
                      <a16:colId xmlns:a16="http://schemas.microsoft.com/office/drawing/2014/main" val="3667981493"/>
                    </a:ext>
                  </a:extLst>
                </a:gridCol>
                <a:gridCol w="1605054">
                  <a:extLst>
                    <a:ext uri="{9D8B030D-6E8A-4147-A177-3AD203B41FA5}">
                      <a16:colId xmlns:a16="http://schemas.microsoft.com/office/drawing/2014/main" val="2996299436"/>
                    </a:ext>
                  </a:extLst>
                </a:gridCol>
              </a:tblGrid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Fuente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Solicitado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Recibido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K</a:t>
                      </a:r>
                      <a:r>
                        <a:rPr lang="es-CO" sz="1800" b="1" i="0" u="none" strike="noStrike" baseline="-2500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9974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Deuda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$ 112.500</a:t>
                      </a:r>
                      <a:endParaRPr lang="en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$ 106.875</a:t>
                      </a:r>
                      <a:endParaRPr lang="en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71,25%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2,53%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19086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Equity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$   44.005 </a:t>
                      </a:r>
                      <a:endParaRPr lang="en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$ 43.125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28,75%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4,75%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90700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$ 156.505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$ 150.000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201235"/>
                  </a:ext>
                </a:extLst>
              </a:tr>
            </a:tbl>
          </a:graphicData>
        </a:graphic>
      </p:graphicFrame>
      <p:sp>
        <p:nvSpPr>
          <p:cNvPr id="5" name="Rectángulo 1">
            <a:extLst>
              <a:ext uri="{FF2B5EF4-FFF2-40B4-BE49-F238E27FC236}">
                <a16:creationId xmlns:a16="http://schemas.microsoft.com/office/drawing/2014/main" id="{39A3588D-315A-440B-5B0F-814DB940BA6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DEF78F8-BD3D-856A-871F-F498C9971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4">
            <a:extLst>
              <a:ext uri="{FF2B5EF4-FFF2-40B4-BE49-F238E27FC236}">
                <a16:creationId xmlns:a16="http://schemas.microsoft.com/office/drawing/2014/main" id="{0B5A8CDB-EC62-44A6-9724-204B29DB149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F6F5B-5E4F-FA92-4524-323D0ED66024}"/>
              </a:ext>
            </a:extLst>
          </p:cNvPr>
          <p:cNvSpPr txBox="1"/>
          <p:nvPr/>
        </p:nvSpPr>
        <p:spPr>
          <a:xfrm>
            <a:off x="1148342" y="5043781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Ahora podemos estimar el WACC: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6 CuadroTexto">
                <a:extLst>
                  <a:ext uri="{FF2B5EF4-FFF2-40B4-BE49-F238E27FC236}">
                    <a16:creationId xmlns:a16="http://schemas.microsoft.com/office/drawing/2014/main" id="{EA3AACFD-1D91-6BA8-F82A-2828BA777644}"/>
                  </a:ext>
                </a:extLst>
              </p:cNvPr>
              <p:cNvSpPr txBox="1"/>
              <p:nvPr/>
            </p:nvSpPr>
            <p:spPr>
              <a:xfrm>
                <a:off x="2450703" y="5615479"/>
                <a:ext cx="72905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CO" sz="2800" i="0" smtClean="0">
                          <a:latin typeface="Cambria Math"/>
                        </a:rPr>
                        <m:t>WACC</m:t>
                      </m:r>
                      <m:r>
                        <a:rPr lang="es-CO" sz="2800" i="0" smtClean="0">
                          <a:latin typeface="Cambria Math"/>
                        </a:rPr>
                        <m:t>=71,25% ∗2,53%+28,75%∗4,75%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10" name="6 CuadroTexto">
                <a:extLst>
                  <a:ext uri="{FF2B5EF4-FFF2-40B4-BE49-F238E27FC236}">
                    <a16:creationId xmlns:a16="http://schemas.microsoft.com/office/drawing/2014/main" id="{EA3AACFD-1D91-6BA8-F82A-2828BA777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703" y="5615479"/>
                <a:ext cx="7290586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1EFFD8DE-1FF3-DE0D-8D21-60EA44158C2C}"/>
              </a:ext>
            </a:extLst>
          </p:cNvPr>
          <p:cNvSpPr txBox="1">
            <a:spLocks/>
          </p:cNvSpPr>
          <p:nvPr/>
        </p:nvSpPr>
        <p:spPr>
          <a:xfrm>
            <a:off x="4430099" y="6250835"/>
            <a:ext cx="3656066" cy="4410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D7A70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24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WACC = 3,15% TV </a:t>
            </a:r>
            <a:endParaRPr lang="es-ES" sz="24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38887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6400-A9B4-7A16-A593-F4760361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93B2-25D5-AA8C-22B7-13F059EF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 – ESCENARIO 2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38C21-F3C1-0687-B425-4F985A6A8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200044"/>
            <a:ext cx="11029615" cy="12289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¿Qué pasa si hay una restricción D/E?</a:t>
            </a:r>
          </a:p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Por ejemplo, de 1,50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0ECAE-2771-1974-2962-F2940571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21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1">
            <a:extLst>
              <a:ext uri="{FF2B5EF4-FFF2-40B4-BE49-F238E27FC236}">
                <a16:creationId xmlns:a16="http://schemas.microsoft.com/office/drawing/2014/main" id="{44C963E9-1E9A-7917-B1A2-F4EDF834F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55114"/>
              </p:ext>
            </p:extLst>
          </p:nvPr>
        </p:nvGraphicFramePr>
        <p:xfrm>
          <a:off x="1198978" y="3347058"/>
          <a:ext cx="9794035" cy="1206968"/>
        </p:xfrm>
        <a:graphic>
          <a:graphicData uri="http://schemas.openxmlformats.org/drawingml/2006/table">
            <a:tbl>
              <a:tblPr firstRow="1" bandRow="1"/>
              <a:tblGrid>
                <a:gridCol w="1836981">
                  <a:extLst>
                    <a:ext uri="{9D8B030D-6E8A-4147-A177-3AD203B41FA5}">
                      <a16:colId xmlns:a16="http://schemas.microsoft.com/office/drawing/2014/main" val="753450657"/>
                    </a:ext>
                  </a:extLst>
                </a:gridCol>
                <a:gridCol w="2620504">
                  <a:extLst>
                    <a:ext uri="{9D8B030D-6E8A-4147-A177-3AD203B41FA5}">
                      <a16:colId xmlns:a16="http://schemas.microsoft.com/office/drawing/2014/main" val="277443866"/>
                    </a:ext>
                  </a:extLst>
                </a:gridCol>
                <a:gridCol w="2034433">
                  <a:extLst>
                    <a:ext uri="{9D8B030D-6E8A-4147-A177-3AD203B41FA5}">
                      <a16:colId xmlns:a16="http://schemas.microsoft.com/office/drawing/2014/main" val="790896557"/>
                    </a:ext>
                  </a:extLst>
                </a:gridCol>
                <a:gridCol w="1697063">
                  <a:extLst>
                    <a:ext uri="{9D8B030D-6E8A-4147-A177-3AD203B41FA5}">
                      <a16:colId xmlns:a16="http://schemas.microsoft.com/office/drawing/2014/main" val="3667981493"/>
                    </a:ext>
                  </a:extLst>
                </a:gridCol>
                <a:gridCol w="1605054">
                  <a:extLst>
                    <a:ext uri="{9D8B030D-6E8A-4147-A177-3AD203B41FA5}">
                      <a16:colId xmlns:a16="http://schemas.microsoft.com/office/drawing/2014/main" val="2996299436"/>
                    </a:ext>
                  </a:extLst>
                </a:gridCol>
              </a:tblGrid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Fuente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Solicitado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Recibido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K</a:t>
                      </a:r>
                      <a:r>
                        <a:rPr lang="es-CO" sz="1800" b="1" i="0" u="none" strike="noStrike" baseline="-2500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9974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Deuda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2,53%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19086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Equity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4,75%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90700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O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$ 150.000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201235"/>
                  </a:ext>
                </a:extLst>
              </a:tr>
            </a:tbl>
          </a:graphicData>
        </a:graphic>
      </p:graphicFrame>
      <p:sp>
        <p:nvSpPr>
          <p:cNvPr id="5" name="Rectángulo 1">
            <a:extLst>
              <a:ext uri="{FF2B5EF4-FFF2-40B4-BE49-F238E27FC236}">
                <a16:creationId xmlns:a16="http://schemas.microsoft.com/office/drawing/2014/main" id="{280AC46B-4711-CF9B-5AFE-03E483F8BC2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D038D3E5-7EE7-30B6-05F6-4CCA3501B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4">
            <a:extLst>
              <a:ext uri="{FF2B5EF4-FFF2-40B4-BE49-F238E27FC236}">
                <a16:creationId xmlns:a16="http://schemas.microsoft.com/office/drawing/2014/main" id="{46DEB575-AA93-B640-3A87-6D2A8A56044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013D0-D5B7-C670-7E7A-DCB8DC4514D4}"/>
              </a:ext>
            </a:extLst>
          </p:cNvPr>
          <p:cNvSpPr txBox="1"/>
          <p:nvPr/>
        </p:nvSpPr>
        <p:spPr>
          <a:xfrm>
            <a:off x="1148342" y="4904589"/>
            <a:ext cx="8592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Sería necesaria establecer un pequeño problema de optimización.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724899-04A7-A893-29B6-D3F75D4D87E2}"/>
              </a:ext>
            </a:extLst>
          </p:cNvPr>
          <p:cNvSpPr txBox="1"/>
          <p:nvPr/>
        </p:nvSpPr>
        <p:spPr>
          <a:xfrm>
            <a:off x="3875060" y="5492368"/>
            <a:ext cx="6099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¿Cuál sería la función objetivo?</a:t>
            </a:r>
          </a:p>
          <a:p>
            <a:pPr marL="0" indent="0" algn="ctr">
              <a:buNone/>
            </a:pPr>
            <a:endParaRPr lang="es-ES" sz="18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¿Cuáles serían las restricciones?</a:t>
            </a:r>
          </a:p>
        </p:txBody>
      </p:sp>
    </p:spTree>
    <p:extLst>
      <p:ext uri="{BB962C8B-B14F-4D97-AF65-F5344CB8AC3E}">
        <p14:creationId xmlns:p14="http://schemas.microsoft.com/office/powerpoint/2010/main" val="2239292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4D51-F81F-1D99-1BA0-CE44C116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0AE4-7EA4-33A0-B5C8-3F2AC6FA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 – ESCENARIO 2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9F96A-86E2-1BC0-D20A-C9FAEB102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614550"/>
            <a:ext cx="11029616" cy="354129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s-ES" sz="11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Función objetivo</a:t>
            </a:r>
            <a:r>
              <a:rPr lang="es-ES" dirty="0">
                <a:solidFill>
                  <a:srgbClr val="D7A700"/>
                </a:solidFill>
                <a:latin typeface="Century Gothic" panose="020B0502020202020204" pitchFamily="34" charset="0"/>
              </a:rPr>
              <a:t>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minimizar el WACC</a:t>
            </a:r>
          </a:p>
          <a:p>
            <a:pPr marL="0" indent="0" algn="just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Variables</a:t>
            </a:r>
            <a:r>
              <a:rPr lang="es-ES" dirty="0">
                <a:solidFill>
                  <a:srgbClr val="D7A700"/>
                </a:solidFill>
                <a:latin typeface="Century Gothic" panose="020B0502020202020204" pitchFamily="34" charset="0"/>
              </a:rPr>
              <a:t>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montos solicitados de cada una de las fuentes de financiación</a:t>
            </a:r>
          </a:p>
          <a:p>
            <a:pPr marL="0" indent="0" algn="just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Restricciones:</a:t>
            </a:r>
          </a:p>
          <a:p>
            <a:pPr marL="971550" lvl="1" indent="-514350" algn="just">
              <a:buClr>
                <a:schemeClr val="accent3">
                  <a:lumMod val="75000"/>
                </a:schemeClr>
              </a:buClr>
              <a:buFont typeface="+mj-lt"/>
              <a:buAutoNum type="arabicParenR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Que la suma de los montos recibidos sea igual a la inversión requerida por el proyecto.</a:t>
            </a:r>
          </a:p>
          <a:p>
            <a:pPr marL="971550" lvl="1" indent="-514350" algn="just">
              <a:buClr>
                <a:schemeClr val="accent3">
                  <a:lumMod val="75000"/>
                </a:schemeClr>
              </a:buClr>
              <a:buFont typeface="+mj-lt"/>
              <a:buAutoNum type="arabicParenR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Que los montos solicitados de cada fuente de financiación no sean mayores al monto máximo de la misma.</a:t>
            </a:r>
          </a:p>
          <a:p>
            <a:pPr marL="971550" lvl="1" indent="-514350" algn="just">
              <a:buClr>
                <a:schemeClr val="accent3">
                  <a:lumMod val="75000"/>
                </a:schemeClr>
              </a:buClr>
              <a:buFont typeface="+mj-lt"/>
              <a:buAutoNum type="arabicParenR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Que la relación Deuda – Equity de los montos solicitados sea igual a la </a:t>
            </a: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restricción D/E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. </a:t>
            </a:r>
          </a:p>
          <a:p>
            <a:pPr marL="971550" lvl="1" indent="-514350" algn="just">
              <a:buClr>
                <a:schemeClr val="accent3">
                  <a:lumMod val="75000"/>
                </a:schemeClr>
              </a:buClr>
              <a:buFont typeface="+mj-lt"/>
              <a:buAutoNum type="arabicParenR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Que los montos solicitados sean positivos, es decir, mayores a cero.</a:t>
            </a:r>
          </a:p>
          <a:p>
            <a:pPr marL="0" indent="0" algn="just">
              <a:buNone/>
            </a:pPr>
            <a:endParaRPr lang="es-ES_tradnl" sz="11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C47D0-9E91-2FA1-D6E1-25F8685F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26803-F672-6EC2-F692-1E38179F12F4}"/>
              </a:ext>
            </a:extLst>
          </p:cNvPr>
          <p:cNvSpPr txBox="1"/>
          <p:nvPr/>
        </p:nvSpPr>
        <p:spPr>
          <a:xfrm>
            <a:off x="2175135" y="1980587"/>
            <a:ext cx="7841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¿Cuáles son las restricciones?</a:t>
            </a:r>
          </a:p>
        </p:txBody>
      </p:sp>
      <p:sp>
        <p:nvSpPr>
          <p:cNvPr id="5" name="Rectángulo 1">
            <a:extLst>
              <a:ext uri="{FF2B5EF4-FFF2-40B4-BE49-F238E27FC236}">
                <a16:creationId xmlns:a16="http://schemas.microsoft.com/office/drawing/2014/main" id="{913DBED2-BD85-6E16-CD83-6553B92575D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F99D667-0BC1-6BEE-FA14-D096D57B9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4">
            <a:extLst>
              <a:ext uri="{FF2B5EF4-FFF2-40B4-BE49-F238E27FC236}">
                <a16:creationId xmlns:a16="http://schemas.microsoft.com/office/drawing/2014/main" id="{6677C1D7-DCDB-59EF-3828-E1902762A93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 descr="Personaje de dibujos animados gráfico de vector de ilustración del objetivo  empresarial | Vector Premium">
            <a:extLst>
              <a:ext uri="{FF2B5EF4-FFF2-40B4-BE49-F238E27FC236}">
                <a16:creationId xmlns:a16="http://schemas.microsoft.com/office/drawing/2014/main" id="{55C7783F-535B-8FE1-7268-D7BE096382D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15556" y="1963530"/>
            <a:ext cx="1890732" cy="189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2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DE7F-0B69-EC86-5E39-69896A0E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ACB1-1737-C67B-8AAD-575FD263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 – ESCENARIO 2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65E82-D89C-4D71-D701-197E24D17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200044"/>
            <a:ext cx="11029615" cy="12289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¿Qué pasa si hay una restricción D/E?</a:t>
            </a:r>
          </a:p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Por ejemplo, de 1,50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6F7BC-B773-B3C5-F66A-5054FBDD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23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1">
            <a:extLst>
              <a:ext uri="{FF2B5EF4-FFF2-40B4-BE49-F238E27FC236}">
                <a16:creationId xmlns:a16="http://schemas.microsoft.com/office/drawing/2014/main" id="{3864068E-497E-DC6D-7725-7ED1F718A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274647"/>
              </p:ext>
            </p:extLst>
          </p:nvPr>
        </p:nvGraphicFramePr>
        <p:xfrm>
          <a:off x="1198978" y="3347058"/>
          <a:ext cx="9794035" cy="1206968"/>
        </p:xfrm>
        <a:graphic>
          <a:graphicData uri="http://schemas.openxmlformats.org/drawingml/2006/table">
            <a:tbl>
              <a:tblPr firstRow="1" bandRow="1"/>
              <a:tblGrid>
                <a:gridCol w="1836981">
                  <a:extLst>
                    <a:ext uri="{9D8B030D-6E8A-4147-A177-3AD203B41FA5}">
                      <a16:colId xmlns:a16="http://schemas.microsoft.com/office/drawing/2014/main" val="753450657"/>
                    </a:ext>
                  </a:extLst>
                </a:gridCol>
                <a:gridCol w="2620504">
                  <a:extLst>
                    <a:ext uri="{9D8B030D-6E8A-4147-A177-3AD203B41FA5}">
                      <a16:colId xmlns:a16="http://schemas.microsoft.com/office/drawing/2014/main" val="277443866"/>
                    </a:ext>
                  </a:extLst>
                </a:gridCol>
                <a:gridCol w="2034433">
                  <a:extLst>
                    <a:ext uri="{9D8B030D-6E8A-4147-A177-3AD203B41FA5}">
                      <a16:colId xmlns:a16="http://schemas.microsoft.com/office/drawing/2014/main" val="790896557"/>
                    </a:ext>
                  </a:extLst>
                </a:gridCol>
                <a:gridCol w="1697063">
                  <a:extLst>
                    <a:ext uri="{9D8B030D-6E8A-4147-A177-3AD203B41FA5}">
                      <a16:colId xmlns:a16="http://schemas.microsoft.com/office/drawing/2014/main" val="3667981493"/>
                    </a:ext>
                  </a:extLst>
                </a:gridCol>
                <a:gridCol w="1605054">
                  <a:extLst>
                    <a:ext uri="{9D8B030D-6E8A-4147-A177-3AD203B41FA5}">
                      <a16:colId xmlns:a16="http://schemas.microsoft.com/office/drawing/2014/main" val="2996299436"/>
                    </a:ext>
                  </a:extLst>
                </a:gridCol>
              </a:tblGrid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Fuente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Solicitado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Monto Recibido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baseline="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K</a:t>
                      </a:r>
                      <a:r>
                        <a:rPr lang="es-CO" sz="1800" b="1" i="0" u="none" strike="noStrike" baseline="-25000" dirty="0">
                          <a:solidFill>
                            <a:srgbClr val="FFFFFF"/>
                          </a:solidFill>
                          <a:effectLst/>
                          <a:highlight>
                            <a:srgbClr val="003300"/>
                          </a:highlight>
                          <a:latin typeface="Century Gothic" panose="020B0502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9974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Deuda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$ 93.555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$ 88.877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2,53%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19086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6E0B4"/>
                          </a:highlight>
                          <a:latin typeface="Century Gothic" panose="020B0502020202020204" pitchFamily="34" charset="0"/>
                        </a:rPr>
                        <a:t>Equity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$ 62.370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$ 61.123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4,75%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90700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$ 155.925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$ 150.000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201235"/>
                  </a:ext>
                </a:extLst>
              </a:tr>
            </a:tbl>
          </a:graphicData>
        </a:graphic>
      </p:graphicFrame>
      <p:sp>
        <p:nvSpPr>
          <p:cNvPr id="5" name="Rectángulo 1">
            <a:extLst>
              <a:ext uri="{FF2B5EF4-FFF2-40B4-BE49-F238E27FC236}">
                <a16:creationId xmlns:a16="http://schemas.microsoft.com/office/drawing/2014/main" id="{7027AF2B-9750-AA28-EC47-46A0B8D2E38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FD52B472-CC97-4B6A-92D4-1941B9D99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4">
            <a:extLst>
              <a:ext uri="{FF2B5EF4-FFF2-40B4-BE49-F238E27FC236}">
                <a16:creationId xmlns:a16="http://schemas.microsoft.com/office/drawing/2014/main" id="{0298C255-8E7F-B7A8-87E2-DAD8F370250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49227594-F4A1-324F-CCB5-69FDD30FC807}"/>
              </a:ext>
            </a:extLst>
          </p:cNvPr>
          <p:cNvSpPr txBox="1">
            <a:spLocks/>
          </p:cNvSpPr>
          <p:nvPr/>
        </p:nvSpPr>
        <p:spPr>
          <a:xfrm>
            <a:off x="4526918" y="5034549"/>
            <a:ext cx="3656066" cy="4410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D7A70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24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WACC = 3,42% TV </a:t>
            </a:r>
            <a:endParaRPr lang="es-ES" sz="24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				</a:t>
            </a:r>
          </a:p>
        </p:txBody>
      </p:sp>
      <p:pic>
        <p:nvPicPr>
          <p:cNvPr id="11" name="Picture 10" descr="Iconos animados de Solución | Iconos animados de gratis">
            <a:extLst>
              <a:ext uri="{FF2B5EF4-FFF2-40B4-BE49-F238E27FC236}">
                <a16:creationId xmlns:a16="http://schemas.microsoft.com/office/drawing/2014/main" id="{59306B08-7485-40A5-F80C-E4846208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040" y="4739939"/>
            <a:ext cx="1699657" cy="169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6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8ACC-1748-1B26-5733-9A4AAE67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A191C9-2DCD-1F8A-713F-B525E367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03108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24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C884F7-E85D-A6D1-C6BA-06D4F83459D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8A247A7-CBC4-DFBF-7D0A-AD383E8CD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912B802-D5F9-9802-8159-1751C396B77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D063565-FECA-A662-1045-80E299C4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 – ESCENARIO 3</a:t>
            </a:r>
            <a:endParaRPr lang="es-ES_tradnl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B6088A05-E675-0EEC-2AF9-78F7D89B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57" y="1715956"/>
            <a:ext cx="11337135" cy="26484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2</a:t>
            </a:r>
            <a:r>
              <a:rPr lang="es-ES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tiene un proyecto de eficiencia geo-térmica. En los próximos dos años, usted espera el flujo de caja libre trimestral que se muestra a continuación.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endParaRPr lang="es-ES" sz="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cuenta con las siguientes fuentes de financiación.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04B9B238-9945-C4A0-F086-BEBA85F28AF0}"/>
              </a:ext>
            </a:extLst>
          </p:cNvPr>
          <p:cNvSpPr txBox="1">
            <a:spLocks/>
          </p:cNvSpPr>
          <p:nvPr/>
        </p:nvSpPr>
        <p:spPr>
          <a:xfrm>
            <a:off x="455408" y="3891538"/>
            <a:ext cx="11155400" cy="21395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Las condiciones de la deuda son las siguientes: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Tasa de interés: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10,50% NA/TV                         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Tasa impositiva: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33% 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Comisión: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5.625 del monto solicitado al momento del desembolso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Plazo:</a:t>
            </a:r>
            <a:r>
              <a:rPr lang="es-ES" sz="1600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2 años               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Monto máximo: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112.500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Font typeface="Wingdings 2" panose="05020102010507070707" pitchFamily="18" charset="2"/>
              <a:buNone/>
            </a:pPr>
            <a:r>
              <a:rPr lang="es-E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	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Forma de pago: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Amortización Constante Semestral</a:t>
            </a:r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 emisión de acciones se hará de la siguiente manera: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Precio de emisión: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50</a:t>
            </a:r>
            <a:r>
              <a:rPr lang="es-ES" sz="1600" dirty="0">
                <a:solidFill>
                  <a:srgbClr val="800000"/>
                </a:solidFill>
                <a:latin typeface="Century Gothic" panose="020B0502020202020204" pitchFamily="34" charset="0"/>
              </a:rPr>
              <a:t>	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Crecimiento anual: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4,5%     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Dividendo anual hoy: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7,5</a:t>
            </a:r>
            <a:r>
              <a:rPr lang="es-ES" sz="1600" dirty="0">
                <a:solidFill>
                  <a:srgbClr val="800000"/>
                </a:solidFill>
                <a:latin typeface="Century Gothic" panose="020B0502020202020204" pitchFamily="34" charset="0"/>
              </a:rPr>
              <a:t>	</a:t>
            </a:r>
            <a:r>
              <a:rPr lang="es-ES" sz="1600" b="1" dirty="0">
                <a:solidFill>
                  <a:srgbClr val="800000"/>
                </a:solidFill>
                <a:latin typeface="Century Gothic" panose="020B0502020202020204" pitchFamily="34" charset="0"/>
              </a:rPr>
              <a:t>   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Costo de emisión: </a:t>
            </a:r>
            <a:r>
              <a:rPr lang="es-ES" sz="16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2%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6B9CFA6-69CF-4CF5-F8E2-4AB76C2BF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328105"/>
              </p:ext>
            </p:extLst>
          </p:nvPr>
        </p:nvGraphicFramePr>
        <p:xfrm>
          <a:off x="1212542" y="2753101"/>
          <a:ext cx="9552347" cy="391160"/>
        </p:xfrm>
        <a:graphic>
          <a:graphicData uri="http://schemas.openxmlformats.org/drawingml/2006/table">
            <a:tbl>
              <a:tblPr/>
              <a:tblGrid>
                <a:gridCol w="218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FCL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(150.000)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9FD3D51-D8F6-B438-0F80-92C615BFA0FF}"/>
              </a:ext>
            </a:extLst>
          </p:cNvPr>
          <p:cNvSpPr txBox="1"/>
          <p:nvPr/>
        </p:nvSpPr>
        <p:spPr>
          <a:xfrm>
            <a:off x="1602284" y="6363015"/>
            <a:ext cx="877286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17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Calcule el WACC del proyecto sin restricción y con restricción </a:t>
            </a:r>
            <a:r>
              <a:rPr lang="es-ES" sz="16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D/E de 1,5</a:t>
            </a:r>
            <a:r>
              <a:rPr lang="es-MX" sz="17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0</a:t>
            </a:r>
            <a:endParaRPr lang="es-ES" sz="17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59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798E-393A-F8DC-5DD9-EEB7F412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707539-0608-F5E9-1B84-2CA9052F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03108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25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8ACAC2-F57E-C786-F966-1F0507294BD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383E8C7-9483-04BB-63D4-2E05465B0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89AABAF-B0B6-D80B-534E-2A65C3404D1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6802741-08AE-62FA-9FB0-6D7B696B8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EJERCICIO DE CONSTRUCCIÓN DEL WACC – ESCENARIO 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8BB0EC-DE56-03DB-6B65-EE17A8098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58" y="5561157"/>
            <a:ext cx="10685096" cy="1023123"/>
          </a:xfrm>
        </p:spPr>
        <p:txBody>
          <a:bodyPr anchor="t">
            <a:normAutofit/>
          </a:bodyPr>
          <a:lstStyle/>
          <a:p>
            <a:pPr marL="0" indent="0">
              <a:buClr>
                <a:schemeClr val="accent3">
                  <a:lumMod val="75000"/>
                </a:schemeClr>
              </a:buClr>
              <a:buNone/>
            </a:pPr>
            <a:r>
              <a:rPr lang="en-US" sz="17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Usted</a:t>
            </a:r>
            <a:r>
              <a:rPr lang="en-US" sz="17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n-US" sz="17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considera</a:t>
            </a:r>
            <a:r>
              <a:rPr lang="en-US" sz="1700" dirty="0">
                <a:solidFill>
                  <a:schemeClr val="accent1"/>
                </a:solidFill>
                <a:latin typeface="Century Gothic" panose="020B0502020202020204" pitchFamily="34" charset="0"/>
              </a:rPr>
              <a:t> que la </a:t>
            </a:r>
            <a:r>
              <a:rPr lang="en-US" sz="17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relación</a:t>
            </a:r>
            <a:r>
              <a:rPr lang="en-US" sz="17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n-US" sz="17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Deuda</a:t>
            </a:r>
            <a:r>
              <a:rPr lang="en-US" sz="1700" dirty="0">
                <a:solidFill>
                  <a:schemeClr val="accent1"/>
                </a:solidFill>
                <a:latin typeface="Century Gothic" panose="020B0502020202020204" pitchFamily="34" charset="0"/>
              </a:rPr>
              <a:t> – Equity </a:t>
            </a:r>
            <a:r>
              <a:rPr lang="en-US" sz="17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más</a:t>
            </a:r>
            <a:r>
              <a:rPr lang="en-US" sz="17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n-US" sz="17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adecuada</a:t>
            </a:r>
            <a:r>
              <a:rPr lang="en-US" sz="1700" dirty="0">
                <a:solidFill>
                  <a:schemeClr val="accent1"/>
                </a:solidFill>
                <a:latin typeface="Century Gothic" panose="020B0502020202020204" pitchFamily="34" charset="0"/>
              </a:rPr>
              <a:t> para el </a:t>
            </a:r>
            <a:r>
              <a:rPr lang="en-US" sz="17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proyecto</a:t>
            </a:r>
            <a:r>
              <a:rPr lang="en-US" sz="1700" dirty="0">
                <a:solidFill>
                  <a:schemeClr val="accent1"/>
                </a:solidFill>
                <a:latin typeface="Century Gothic" panose="020B0502020202020204" pitchFamily="34" charset="0"/>
              </a:rPr>
              <a:t> es de 2.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EF7218A-4472-CE9E-0FA7-C9BB9DEBC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168878"/>
              </p:ext>
            </p:extLst>
          </p:nvPr>
        </p:nvGraphicFramePr>
        <p:xfrm>
          <a:off x="455408" y="3713740"/>
          <a:ext cx="11155399" cy="1773555"/>
        </p:xfrm>
        <a:graphic>
          <a:graphicData uri="http://schemas.openxmlformats.org/drawingml/2006/table">
            <a:tbl>
              <a:tblPr firstRow="1" firstCol="1">
                <a:tableStyleId>{6E25E649-3F16-4E02-A733-19D2CDBF48F0}</a:tableStyleId>
              </a:tblPr>
              <a:tblGrid>
                <a:gridCol w="3044560">
                  <a:extLst>
                    <a:ext uri="{9D8B030D-6E8A-4147-A177-3AD203B41FA5}">
                      <a16:colId xmlns:a16="http://schemas.microsoft.com/office/drawing/2014/main" val="2123288154"/>
                    </a:ext>
                  </a:extLst>
                </a:gridCol>
                <a:gridCol w="1118736">
                  <a:extLst>
                    <a:ext uri="{9D8B030D-6E8A-4147-A177-3AD203B41FA5}">
                      <a16:colId xmlns:a16="http://schemas.microsoft.com/office/drawing/2014/main" val="1392153464"/>
                    </a:ext>
                  </a:extLst>
                </a:gridCol>
                <a:gridCol w="1118736">
                  <a:extLst>
                    <a:ext uri="{9D8B030D-6E8A-4147-A177-3AD203B41FA5}">
                      <a16:colId xmlns:a16="http://schemas.microsoft.com/office/drawing/2014/main" val="2547003191"/>
                    </a:ext>
                  </a:extLst>
                </a:gridCol>
                <a:gridCol w="5873367">
                  <a:extLst>
                    <a:ext uri="{9D8B030D-6E8A-4147-A177-3AD203B41FA5}">
                      <a16:colId xmlns:a16="http://schemas.microsoft.com/office/drawing/2014/main" val="82815536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Fuente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Monto Máximo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k(i) (E.A)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Datos Adicionales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59847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Crédito de </a:t>
                      </a:r>
                      <a:r>
                        <a:rPr lang="en-US" sz="1400" u="none" strike="noStrike" dirty="0" err="1">
                          <a:effectLst/>
                          <a:latin typeface="Century Gothic" panose="020B0502020202020204" pitchFamily="34" charset="0"/>
                        </a:rPr>
                        <a:t>proveedor</a:t>
                      </a:r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 CP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15.000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8%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7995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Banco 1 LP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30.000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10%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14773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Banco 2 LP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50.000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11%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 2% del Valor </a:t>
                      </a:r>
                      <a:r>
                        <a:rPr lang="en-US" sz="1400" u="none" strike="noStrike" dirty="0" err="1">
                          <a:effectLst/>
                          <a:latin typeface="Century Gothic" panose="020B0502020202020204" pitchFamily="34" charset="0"/>
                        </a:rPr>
                        <a:t>desembolsado</a:t>
                      </a:r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 al </a:t>
                      </a:r>
                      <a:r>
                        <a:rPr lang="en-US" sz="1400" u="none" strike="noStrike" dirty="0" err="1">
                          <a:effectLst/>
                          <a:latin typeface="Century Gothic" panose="020B0502020202020204" pitchFamily="34" charset="0"/>
                        </a:rPr>
                        <a:t>momento</a:t>
                      </a:r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 del </a:t>
                      </a:r>
                      <a:r>
                        <a:rPr lang="en-US" sz="1400" u="none" strike="noStrike" dirty="0" err="1">
                          <a:effectLst/>
                          <a:latin typeface="Century Gothic" panose="020B0502020202020204" pitchFamily="34" charset="0"/>
                        </a:rPr>
                        <a:t>desembolso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77805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Banco 3 LP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70.000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12%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Tasa de </a:t>
                      </a:r>
                      <a:r>
                        <a:rPr lang="en-US" sz="1400" u="none" strike="noStrike" dirty="0" err="1"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 = 10% A.A.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1922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Utilidades Retenidas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Ilimitado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15%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u="none" strike="noStrike" dirty="0"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8188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Emisión Acciones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>
                          <a:effectLst/>
                          <a:latin typeface="Century Gothic" panose="020B0502020202020204" pitchFamily="34" charset="0"/>
                        </a:rPr>
                        <a:t>Ilimitado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CO" sz="1400" u="none" strike="noStrike">
                          <a:effectLst/>
                          <a:latin typeface="Century Gothic" panose="020B0502020202020204" pitchFamily="34" charset="0"/>
                        </a:rPr>
                        <a:t>16%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  <a:latin typeface="Century Gothic" panose="020B0502020202020204" pitchFamily="34" charset="0"/>
                        </a:rPr>
                        <a:t>Costo</a:t>
                      </a:r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 de </a:t>
                      </a:r>
                      <a:r>
                        <a:rPr lang="en-US" sz="1400" u="none" strike="noStrike" dirty="0" err="1"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  <a:r>
                        <a:rPr lang="en-US" sz="1400" u="none" strike="noStrike" dirty="0">
                          <a:effectLst/>
                          <a:latin typeface="Century Gothic" panose="020B0502020202020204" pitchFamily="34" charset="0"/>
                        </a:rPr>
                        <a:t> del 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99797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0CD2996-ABF2-B90D-DD66-7369CB5FD139}"/>
              </a:ext>
            </a:extLst>
          </p:cNvPr>
          <p:cNvSpPr txBox="1"/>
          <p:nvPr/>
        </p:nvSpPr>
        <p:spPr>
          <a:xfrm>
            <a:off x="2940091" y="5934547"/>
            <a:ext cx="609724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3">
                  <a:lumMod val="75000"/>
                </a:schemeClr>
              </a:buClr>
              <a:buNone/>
            </a:pPr>
            <a:r>
              <a:rPr lang="es-MX" sz="18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Calcule el WACC del proyecto. </a:t>
            </a:r>
          </a:p>
          <a:p>
            <a:pPr marL="0" indent="0" algn="ctr">
              <a:buClr>
                <a:schemeClr val="accent3">
                  <a:lumMod val="75000"/>
                </a:schemeClr>
              </a:buClr>
              <a:buNone/>
            </a:pPr>
            <a:endParaRPr lang="es-MX" sz="1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Clr>
                <a:schemeClr val="accent3">
                  <a:lumMod val="75000"/>
                </a:schemeClr>
              </a:buClr>
              <a:buNone/>
            </a:pPr>
            <a:r>
              <a:rPr lang="es-MX" sz="1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¿El proyecto es económicamente viable?</a:t>
            </a:r>
            <a:endParaRPr lang="es-ES" sz="18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C864B55-D747-DD07-81A6-A3CECA743169}"/>
              </a:ext>
            </a:extLst>
          </p:cNvPr>
          <p:cNvSpPr txBox="1">
            <a:spLocks/>
          </p:cNvSpPr>
          <p:nvPr/>
        </p:nvSpPr>
        <p:spPr>
          <a:xfrm>
            <a:off x="399457" y="1866323"/>
            <a:ext cx="11337135" cy="177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3</a:t>
            </a:r>
            <a:r>
              <a:rPr lang="es-ES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tiene un proyecto de eficiencia geo-térmica. En los próximos dos años, usted espera el flujo de caja libre trimestral que se muestra a continuación.</a:t>
            </a:r>
          </a:p>
          <a:p>
            <a:pPr marL="0" indent="0" algn="just">
              <a:buFont typeface="Wingdings 2" panose="05020102010507070707" pitchFamily="18" charset="2"/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Font typeface="Wingdings 2" panose="05020102010507070707" pitchFamily="18" charset="2"/>
              <a:buNone/>
            </a:pPr>
            <a:endParaRPr lang="es-ES" sz="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Font typeface="Wingdings 2" panose="05020102010507070707" pitchFamily="18" charset="2"/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cuenta con las siguientes fuentes de financiación.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FD6E21-C518-8C94-25B8-E55A17DA4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825476"/>
              </p:ext>
            </p:extLst>
          </p:nvPr>
        </p:nvGraphicFramePr>
        <p:xfrm>
          <a:off x="1212542" y="2753101"/>
          <a:ext cx="9552347" cy="391160"/>
        </p:xfrm>
        <a:graphic>
          <a:graphicData uri="http://schemas.openxmlformats.org/drawingml/2006/table">
            <a:tbl>
              <a:tblPr/>
              <a:tblGrid>
                <a:gridCol w="218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4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FCL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(150.000)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35.000 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39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5C86-7D81-E3F8-B77C-646EDEC4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8DBD8A4-0E49-6A02-BF65-4EC44638DEA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4D263FB5-5803-B1E6-FFED-CBD1A4792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E3EE4C3-A48F-02CC-F33E-E193A35FEC1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E8D42A7C-7E47-1BC5-0C78-C91ABDA233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D332B51-338D-AAB5-6C70-424ABB6FE9DE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DA01807-3AB3-4235-E8C3-68DF748E9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08" y="1527048"/>
            <a:ext cx="11218212" cy="1122137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promedio ponderado de capital (</a:t>
            </a:r>
            <a:r>
              <a:rPr lang="es-ES" sz="3200" dirty="0">
                <a:solidFill>
                  <a:srgbClr val="D7A700"/>
                </a:solidFill>
                <a:latin typeface="Century Gothic"/>
              </a:rPr>
              <a:t>WACC</a:t>
            </a:r>
            <a:r>
              <a:rPr lang="es-ES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67461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4856</TotalTime>
  <Words>2367</Words>
  <Application>Microsoft Macintosh PowerPoint</Application>
  <PresentationFormat>Widescreen</PresentationFormat>
  <Paragraphs>408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Cambria Math</vt:lpstr>
      <vt:lpstr>Century Gothic</vt:lpstr>
      <vt:lpstr>Gill Sans MT</vt:lpstr>
      <vt:lpstr>Wingdings</vt:lpstr>
      <vt:lpstr>Wingdings 2</vt:lpstr>
      <vt:lpstr>Dividendo</vt:lpstr>
      <vt:lpstr>Costo promedio ponderado de capital (WACC)</vt:lpstr>
      <vt:lpstr>AGENDA PROPUESTA</vt:lpstr>
      <vt:lpstr>EXCEL REPASO</vt:lpstr>
      <vt:lpstr>AGENDA PROPUESTA</vt:lpstr>
      <vt:lpstr>COSTO PROMEDIO PONDERADO DE CAPITAL (WACC)</vt:lpstr>
      <vt:lpstr>COSTO PROMEDIO PONDERADO DE CAPITAL (WACC)</vt:lpstr>
      <vt:lpstr>COSTO PROMEDIO PONDERADO DE CAPITAL (WACC)</vt:lpstr>
      <vt:lpstr>COSTO PROMEDIO PONDERADO DE CAPITAL (WACC)</vt:lpstr>
      <vt:lpstr>COSTO PROMEDIO PONDERADO DE CAPITAL (WACC)</vt:lpstr>
      <vt:lpstr>COSTO PROMEDIO PONDERADO DE CAPITAL (WACC)</vt:lpstr>
      <vt:lpstr>COSTO PROMEDIO PONDERADO DE CAPITAL (WACC)</vt:lpstr>
      <vt:lpstr>AGENDA PROPUESTA</vt:lpstr>
      <vt:lpstr>RESTRICCIONES deuda – equity (d/e)</vt:lpstr>
      <vt:lpstr>RESTRICCIONES deuda/equity (d/e)</vt:lpstr>
      <vt:lpstr>AGENDA PROPUESTA</vt:lpstr>
      <vt:lpstr>EJERCICIO DE CONSTRUCCIÓN DEL WACC</vt:lpstr>
      <vt:lpstr>EJERCICIO DE CONSTRUCCIÓN DEL WACC</vt:lpstr>
      <vt:lpstr>EJERCICIO DE CONSTRUCCIÓN DEL WACC – ESCENARIO 1</vt:lpstr>
      <vt:lpstr>EJERCICIO DE CONSTRUCCIÓN DEL WACC – ESCENARIO 1</vt:lpstr>
      <vt:lpstr>EJERCICIO DE CONSTRUCCIÓN DEL WACC – ESCENARIO 1</vt:lpstr>
      <vt:lpstr>EJERCICIO DE CONSTRUCCIÓN DEL WACC – ESCENARIO 2</vt:lpstr>
      <vt:lpstr>EJERCICIO DE CONSTRUCCIÓN DEL WACC – ESCENARIO 2</vt:lpstr>
      <vt:lpstr>EJERCICIO DE CONSTRUCCIÓN DEL WACC – ESCENARIO 2</vt:lpstr>
      <vt:lpstr>EJERCICIO DE CONSTRUCCIÓN DEL WACC – ESCENARIO 3</vt:lpstr>
      <vt:lpstr>EJERCICIO DE CONSTRUCCIÓN DEL WACC – ESCENARIO 4</vt:lpstr>
      <vt:lpstr>Costo promedio ponderado de capital (WACC)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200</cp:revision>
  <dcterms:created xsi:type="dcterms:W3CDTF">2019-06-20T04:25:04Z</dcterms:created>
  <dcterms:modified xsi:type="dcterms:W3CDTF">2026-10-20T17:38:39Z</dcterms:modified>
</cp:coreProperties>
</file>